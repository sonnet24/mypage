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lsx" ContentType="application/vnd.openxmlformats-officedocument.spreadsheetml.sheet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theme/theme2.xml" ContentType="application/vnd.openxmlformats-officedocument.theme+xml"/>
  <Override PartName="/ppt/charts/chart1.xml" ContentType="application/vnd.openxmlformats-officedocument.drawingml.char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notesMasterIdLst>
    <p:notesMasterId r:id="rId17"/>
  </p:notesMasterIdLst>
  <p:sldIdLst>
    <p:sldId id="385" r:id="rId2"/>
    <p:sldId id="425" r:id="rId3"/>
    <p:sldId id="426" r:id="rId4"/>
    <p:sldId id="427" r:id="rId5"/>
    <p:sldId id="428" r:id="rId6"/>
    <p:sldId id="429" r:id="rId7"/>
    <p:sldId id="430" r:id="rId8"/>
    <p:sldId id="432" r:id="rId9"/>
    <p:sldId id="441" r:id="rId10"/>
    <p:sldId id="435" r:id="rId11"/>
    <p:sldId id="436" r:id="rId12"/>
    <p:sldId id="437" r:id="rId13"/>
    <p:sldId id="438" r:id="rId14"/>
    <p:sldId id="439" r:id="rId15"/>
    <p:sldId id="440" r:id="rId16"/>
  </p:sldIdLst>
  <p:sldSz cx="12192000" cy="6858000"/>
  <p:notesSz cx="6858000" cy="9144000"/>
  <p:defaultTextStyle>
    <a:defPPr>
      <a:defRPr lang="ko-KR"/>
    </a:defPPr>
    <a:lvl1pPr marL="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4995" autoAdjust="0"/>
    <p:restoredTop sz="94660"/>
  </p:normalViewPr>
  <p:slideViewPr>
    <p:cSldViewPr snapToGrid="0">
      <p:cViewPr varScale="1">
        <p:scale>
          <a:sx n="78" d="100"/>
          <a:sy n="78" d="100"/>
        </p:scale>
        <p:origin x="878" y="6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presProps" Target="presProps.xml"/><Relationship Id="rId3" Type="http://schemas.openxmlformats.org/officeDocument/2006/relationships/slide" Target="slides/slide2.xml"/><Relationship Id="rId21" Type="http://schemas.openxmlformats.org/officeDocument/2006/relationships/tableStyles" Target="tableStyles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notesMaster" Target="notesMasters/notesMaster1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theme" Target="theme/them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10" Type="http://schemas.openxmlformats.org/officeDocument/2006/relationships/slide" Target="slides/slide9.xml"/><Relationship Id="rId19" Type="http://schemas.openxmlformats.org/officeDocument/2006/relationships/viewProps" Target="viewProp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/Relationships>
</file>

<file path=ppt/charts/_rels/chart1.xml.rels><?xml version="1.0" encoding="UTF-8" standalone="yes"?>
<Relationships xmlns="http://schemas.openxmlformats.org/package/2006/relationships"><Relationship Id="rId1" Type="http://schemas.openxmlformats.org/officeDocument/2006/relationships/package" Target="../embeddings/Microsoft_Excel_Worksheet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ko-KR"/>
  <c:roundedCorners val="1"/>
  <c:style val="2"/>
  <c:chart>
    <c:autoTitleDeleted val="1"/>
    <c:plotArea>
      <c:layout/>
      <c:barChart>
        <c:barDir val="bar"/>
        <c:grouping val="clustered"/>
        <c:varyColors val="1"/>
        <c:ser>
          <c:idx val="0"/>
          <c:order val="0"/>
          <c:tx>
            <c:strRef>
              <c:f>Sheet1!$B$1</c:f>
              <c:strCache>
                <c:ptCount val="1"/>
                <c:pt idx="0">
                  <c:v>광고비</c:v>
                </c:pt>
              </c:strCache>
            </c:strRef>
          </c:tx>
          <c:invertIfNegative val="1"/>
          <c:dPt>
            <c:idx val="0"/>
            <c:invertIfNegative val="1"/>
            <c:bubble3D val="0"/>
            <c:spPr>
              <a:solidFill>
                <a:srgbClr val="C9DAEE"/>
              </a:solidFill>
            </c:spPr>
            <c:extLst>
              <c:ext xmlns:c16="http://schemas.microsoft.com/office/drawing/2014/chart" uri="{C3380CC4-5D6E-409C-BE32-E72D297353CC}">
                <c16:uniqueId val="{00000001-8C06-4E72-9953-E814D500A8E3}"/>
              </c:ext>
            </c:extLst>
          </c:dPt>
          <c:dPt>
            <c:idx val="1"/>
            <c:invertIfNegative val="1"/>
            <c:bubble3D val="0"/>
            <c:spPr>
              <a:solidFill>
                <a:srgbClr val="C9DAEE"/>
              </a:solidFill>
            </c:spPr>
            <c:extLst>
              <c:ext xmlns:c16="http://schemas.microsoft.com/office/drawing/2014/chart" uri="{C3380CC4-5D6E-409C-BE32-E72D297353CC}">
                <c16:uniqueId val="{00000003-8C06-4E72-9953-E814D500A8E3}"/>
              </c:ext>
            </c:extLst>
          </c:dPt>
          <c:dPt>
            <c:idx val="2"/>
            <c:invertIfNegative val="1"/>
            <c:bubble3D val="0"/>
            <c:spPr>
              <a:solidFill>
                <a:srgbClr val="C9DAEE"/>
              </a:solidFill>
            </c:spPr>
            <c:extLst>
              <c:ext xmlns:c16="http://schemas.microsoft.com/office/drawing/2014/chart" uri="{C3380CC4-5D6E-409C-BE32-E72D297353CC}">
                <c16:uniqueId val="{00000005-8C06-4E72-9953-E814D500A8E3}"/>
              </c:ext>
            </c:extLst>
          </c:dPt>
          <c:dPt>
            <c:idx val="3"/>
            <c:invertIfNegative val="1"/>
            <c:bubble3D val="0"/>
            <c:spPr>
              <a:solidFill>
                <a:srgbClr val="004F9F"/>
              </a:solidFill>
            </c:spPr>
            <c:extLst>
              <c:ext xmlns:c16="http://schemas.microsoft.com/office/drawing/2014/chart" uri="{C3380CC4-5D6E-409C-BE32-E72D297353CC}">
                <c16:uniqueId val="{00000007-8C06-4E72-9953-E814D500A8E3}"/>
              </c:ext>
            </c:extLst>
          </c:dPt>
          <c:dLbls>
            <c:numFmt formatCode="#,##0&quot;원&quot;" sourceLinked="0"/>
            <c:spPr>
              <a:noFill/>
              <a:ln>
                <a:noFill/>
              </a:ln>
              <a:effectLst/>
            </c:spPr>
            <c:txPr>
              <a:bodyPr/>
              <a:lstStyle/>
              <a:p>
                <a:pPr>
                  <a:defRPr sz="1200" b="0">
                    <a:solidFill>
                      <a:srgbClr val="222222"/>
                    </a:solidFill>
                  </a:defRPr>
                </a:pPr>
                <a:endParaRPr lang="ko-KR"/>
              </a:p>
            </c:txPr>
            <c:dLblPos val="outEnd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Sheet1!$A$2:$A$5</c:f>
              <c:strCache>
                <c:ptCount val="4"/>
                <c:pt idx="0">
                  <c:v>카무트 효소</c:v>
                </c:pt>
                <c:pt idx="1">
                  <c:v>츄어블 철분</c:v>
                </c:pt>
                <c:pt idx="2">
                  <c:v>멀티비타민</c:v>
                </c:pt>
                <c:pt idx="3">
                  <c:v>키성장 FGO</c:v>
                </c:pt>
              </c:strCache>
            </c:strRef>
          </c:cat>
          <c:val>
            <c:numRef>
              <c:f>Sheet1!$B$2:$B$5</c:f>
              <c:numCache>
                <c:formatCode>General</c:formatCode>
                <c:ptCount val="4"/>
                <c:pt idx="0">
                  <c:v>3885</c:v>
                </c:pt>
                <c:pt idx="1">
                  <c:v>4500</c:v>
                </c:pt>
                <c:pt idx="2">
                  <c:v>4718</c:v>
                </c:pt>
                <c:pt idx="3">
                  <c:v>33525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8-8C06-4E72-9953-E814D500A8E3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gapWidth val="45"/>
        <c:axId val="-2068027336"/>
        <c:axId val="-2113994440"/>
      </c:barChart>
      <c:catAx>
        <c:axId val="-2068027336"/>
        <c:scaling>
          <c:orientation val="minMax"/>
        </c:scaling>
        <c:delete val="0"/>
        <c:axPos val="l"/>
        <c:numFmt formatCode="General" sourceLinked="0"/>
        <c:majorTickMark val="out"/>
        <c:minorTickMark val="none"/>
        <c:tickLblPos val="nextTo"/>
        <c:spPr>
          <a:ln>
            <a:solidFill>
              <a:srgbClr val="DDDDDD"/>
            </a:solidFill>
          </a:ln>
        </c:spPr>
        <c:txPr>
          <a:bodyPr/>
          <a:lstStyle/>
          <a:p>
            <a:pPr>
              <a:defRPr sz="1200">
                <a:solidFill>
                  <a:srgbClr val="222222"/>
                </a:solidFill>
              </a:defRPr>
            </a:pPr>
            <a:endParaRPr lang="ko-KR"/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>
          <c:orientation val="minMax"/>
          <c:max val="42000"/>
          <c:min val="0"/>
        </c:scaling>
        <c:delete val="1"/>
        <c:axPos val="b"/>
        <c:numFmt formatCode="General" sourceLinked="1"/>
        <c:majorTickMark val="out"/>
        <c:minorTickMark val="none"/>
        <c:tickLblPos val="nextTo"/>
        <c:crossAx val="-2068027336"/>
        <c:crosses val="autoZero"/>
        <c:crossBetween val="between"/>
      </c:valAx>
    </c:plotArea>
    <c:plotVisOnly val="1"/>
    <c:dispBlanksAs val="gap"/>
    <c:showDLblsOverMax val="1"/>
  </c:chart>
  <c:txPr>
    <a:bodyPr/>
    <a:lstStyle/>
    <a:p>
      <a:pPr>
        <a:defRPr sz="1100">
          <a:latin typeface="에이투지체 5 Medium"/>
          <a:ea typeface="에이투지체 5 Medium"/>
          <a:cs typeface="에이투지체 5 Medium"/>
        </a:defRPr>
      </a:pPr>
      <a:endParaRPr lang="en-US"/>
    </a:p>
  </c:tx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머리글 개체 틀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ko-KR" altLang="en-US"/>
          </a:p>
        </p:txBody>
      </p:sp>
      <p:sp>
        <p:nvSpPr>
          <p:cNvPr id="3" name="날짜 개체 틀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FE1D339B-5518-4220-A5EC-C17406771880}" type="datetimeFigureOut">
              <a:rPr lang="ko-KR" altLang="en-US" smtClean="0"/>
              <a:t>2026-10-13</a:t>
            </a:fld>
            <a:endParaRPr lang="ko-KR" altLang="en-US"/>
          </a:p>
        </p:txBody>
      </p:sp>
      <p:sp>
        <p:nvSpPr>
          <p:cNvPr id="4" name="슬라이드 이미지 개체 틀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ko-KR" altLang="en-US"/>
          </a:p>
        </p:txBody>
      </p:sp>
      <p:sp>
        <p:nvSpPr>
          <p:cNvPr id="5" name="슬라이드 노트 개체 틀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6" name="바닥글 개체 틀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ko-KR" altLang="en-US"/>
          </a:p>
        </p:txBody>
      </p:sp>
      <p:sp>
        <p:nvSpPr>
          <p:cNvPr id="7" name="슬라이드 번호 개체 틀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9E7A4A0D-F971-42FA-B832-151C9EA105EB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374392884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제목 슬라이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D90A5EFE-3F8F-5D68-421B-2B06070934D5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부제목 2">
            <a:extLst>
              <a:ext uri="{FF2B5EF4-FFF2-40B4-BE49-F238E27FC236}">
                <a16:creationId xmlns:a16="http://schemas.microsoft.com/office/drawing/2014/main" id="{428E661E-CD00-4DCF-7002-CFCED59D19D5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ko-KR" altLang="en-US"/>
              <a:t>클릭하여 마스터 부제목 스타일 편집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AAF3A802-5BBC-5B90-3AB2-E6478A7279F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D794271-44E2-4150-918C-2DB7E193BA46}" type="datetimeFigureOut">
              <a:rPr lang="ko-KR" altLang="en-US" smtClean="0"/>
              <a:t>2026-10-13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1E208076-D652-25C5-C539-88C1DFBB733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DD369F45-D33D-07B4-C996-3F604A95E78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D44FD09-E3BE-48D3-9F5C-96E2B2905802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835359786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제목 및 내용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467DEF00-6B72-4A0F-09C7-EC3CBCEC30D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9684DF9E-96D1-0CB8-35E3-92FA2B2ECC87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5E9F49C4-98E1-73F9-ACFF-86BBA9A6735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D794271-44E2-4150-918C-2DB7E193BA46}" type="datetimeFigureOut">
              <a:rPr lang="ko-KR" altLang="en-US" smtClean="0"/>
              <a:t>2026-10-13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FCBD3B17-B855-5178-9CD4-D5DA5615E1F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8AD87DE5-4E9C-EB3C-4FA3-60700312C87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D44FD09-E3BE-48D3-9F5C-96E2B2905802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805833024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구역 머리글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0DBA7E04-47FE-99AA-58FB-864D11AAF37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텍스트 개체 틀 2">
            <a:extLst>
              <a:ext uri="{FF2B5EF4-FFF2-40B4-BE49-F238E27FC236}">
                <a16:creationId xmlns:a16="http://schemas.microsoft.com/office/drawing/2014/main" id="{90363215-B775-1A9E-6307-CE09126375F0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2DB17DAF-E9D3-4C34-A80A-0A6A9202FC5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D794271-44E2-4150-918C-2DB7E193BA46}" type="datetimeFigureOut">
              <a:rPr lang="ko-KR" altLang="en-US" smtClean="0"/>
              <a:t>2026-10-13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24F7F450-589C-3D96-6319-AD11F924B9D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17F2ED9E-CDCA-7DFC-93E9-9F452493282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D44FD09-E3BE-48D3-9F5C-96E2B2905802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638061634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콘텐츠 2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063F4531-B35F-412B-B5E5-BB5D7551AA6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1D2E0DA9-4EB0-3129-2479-2E93410D0A7C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내용 개체 틀 3">
            <a:extLst>
              <a:ext uri="{FF2B5EF4-FFF2-40B4-BE49-F238E27FC236}">
                <a16:creationId xmlns:a16="http://schemas.microsoft.com/office/drawing/2014/main" id="{9FED597F-FCE4-72CE-6A53-BBE99F721A57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5" name="날짜 개체 틀 4">
            <a:extLst>
              <a:ext uri="{FF2B5EF4-FFF2-40B4-BE49-F238E27FC236}">
                <a16:creationId xmlns:a16="http://schemas.microsoft.com/office/drawing/2014/main" id="{E728F1CA-AD0F-642D-2F6B-16E295AD81B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D794271-44E2-4150-918C-2DB7E193BA46}" type="datetimeFigureOut">
              <a:rPr lang="ko-KR" altLang="en-US" smtClean="0"/>
              <a:t>2026-10-13</a:t>
            </a:fld>
            <a:endParaRPr lang="ko-KR" altLang="en-US"/>
          </a:p>
        </p:txBody>
      </p:sp>
      <p:sp>
        <p:nvSpPr>
          <p:cNvPr id="6" name="바닥글 개체 틀 5">
            <a:extLst>
              <a:ext uri="{FF2B5EF4-FFF2-40B4-BE49-F238E27FC236}">
                <a16:creationId xmlns:a16="http://schemas.microsoft.com/office/drawing/2014/main" id="{9A0DCBF0-5AD5-6BF4-BCA2-C05C59F9A4A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슬라이드 번호 개체 틀 6">
            <a:extLst>
              <a:ext uri="{FF2B5EF4-FFF2-40B4-BE49-F238E27FC236}">
                <a16:creationId xmlns:a16="http://schemas.microsoft.com/office/drawing/2014/main" id="{A3FE4C43-3412-5FA5-B20E-57131C06427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D44FD09-E3BE-48D3-9F5C-96E2B2905802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800215598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비교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84296258-4569-42D5-DE1E-01095535824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텍스트 개체 틀 2">
            <a:extLst>
              <a:ext uri="{FF2B5EF4-FFF2-40B4-BE49-F238E27FC236}">
                <a16:creationId xmlns:a16="http://schemas.microsoft.com/office/drawing/2014/main" id="{F97BDDCE-E7A8-D9AC-1155-4FB437CF5E7F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4" name="내용 개체 틀 3">
            <a:extLst>
              <a:ext uri="{FF2B5EF4-FFF2-40B4-BE49-F238E27FC236}">
                <a16:creationId xmlns:a16="http://schemas.microsoft.com/office/drawing/2014/main" id="{2EC3DF4C-5096-CAEE-206A-14EA3A57AD97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5" name="텍스트 개체 틀 4">
            <a:extLst>
              <a:ext uri="{FF2B5EF4-FFF2-40B4-BE49-F238E27FC236}">
                <a16:creationId xmlns:a16="http://schemas.microsoft.com/office/drawing/2014/main" id="{5AFE454C-FFD7-BC23-D574-8262B007CE79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6" name="내용 개체 틀 5">
            <a:extLst>
              <a:ext uri="{FF2B5EF4-FFF2-40B4-BE49-F238E27FC236}">
                <a16:creationId xmlns:a16="http://schemas.microsoft.com/office/drawing/2014/main" id="{EF2C5E07-40DD-DE09-29C5-FECBA7EFCF28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7" name="날짜 개체 틀 6">
            <a:extLst>
              <a:ext uri="{FF2B5EF4-FFF2-40B4-BE49-F238E27FC236}">
                <a16:creationId xmlns:a16="http://schemas.microsoft.com/office/drawing/2014/main" id="{7A247EDB-776D-AFEF-65B6-DD0BC300050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D794271-44E2-4150-918C-2DB7E193BA46}" type="datetimeFigureOut">
              <a:rPr lang="ko-KR" altLang="en-US" smtClean="0"/>
              <a:t>2026-10-13</a:t>
            </a:fld>
            <a:endParaRPr lang="ko-KR" altLang="en-US"/>
          </a:p>
        </p:txBody>
      </p:sp>
      <p:sp>
        <p:nvSpPr>
          <p:cNvPr id="8" name="바닥글 개체 틀 7">
            <a:extLst>
              <a:ext uri="{FF2B5EF4-FFF2-40B4-BE49-F238E27FC236}">
                <a16:creationId xmlns:a16="http://schemas.microsoft.com/office/drawing/2014/main" id="{1868CAF9-F212-C742-0E9C-859552DD391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9" name="슬라이드 번호 개체 틀 8">
            <a:extLst>
              <a:ext uri="{FF2B5EF4-FFF2-40B4-BE49-F238E27FC236}">
                <a16:creationId xmlns:a16="http://schemas.microsoft.com/office/drawing/2014/main" id="{FF057D1E-2086-9332-A4CD-55FBF1605E1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D44FD09-E3BE-48D3-9F5C-96E2B2905802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180145559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제목만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4F9BD9A2-8CE7-1085-F5CD-2ADB3C536A2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날짜 개체 틀 2">
            <a:extLst>
              <a:ext uri="{FF2B5EF4-FFF2-40B4-BE49-F238E27FC236}">
                <a16:creationId xmlns:a16="http://schemas.microsoft.com/office/drawing/2014/main" id="{04A99087-D8E5-BBB1-006B-9E6E2EA50C9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D794271-44E2-4150-918C-2DB7E193BA46}" type="datetimeFigureOut">
              <a:rPr lang="ko-KR" altLang="en-US" smtClean="0"/>
              <a:t>2026-10-13</a:t>
            </a:fld>
            <a:endParaRPr lang="ko-KR" altLang="en-US"/>
          </a:p>
        </p:txBody>
      </p:sp>
      <p:sp>
        <p:nvSpPr>
          <p:cNvPr id="4" name="바닥글 개체 틀 3">
            <a:extLst>
              <a:ext uri="{FF2B5EF4-FFF2-40B4-BE49-F238E27FC236}">
                <a16:creationId xmlns:a16="http://schemas.microsoft.com/office/drawing/2014/main" id="{EF48BEF3-FC78-F512-5E03-63EACD5BEBD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5" name="슬라이드 번호 개체 틀 4">
            <a:extLst>
              <a:ext uri="{FF2B5EF4-FFF2-40B4-BE49-F238E27FC236}">
                <a16:creationId xmlns:a16="http://schemas.microsoft.com/office/drawing/2014/main" id="{9C7A1DF5-4CC6-80E3-791B-B351578364B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D44FD09-E3BE-48D3-9F5C-96E2B2905802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599072072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빈 화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날짜 개체 틀 1">
            <a:extLst>
              <a:ext uri="{FF2B5EF4-FFF2-40B4-BE49-F238E27FC236}">
                <a16:creationId xmlns:a16="http://schemas.microsoft.com/office/drawing/2014/main" id="{F4F18778-9F04-DEB0-044D-3EFF10F0976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D794271-44E2-4150-918C-2DB7E193BA46}" type="datetimeFigureOut">
              <a:rPr lang="ko-KR" altLang="en-US" smtClean="0"/>
              <a:t>2026-10-13</a:t>
            </a:fld>
            <a:endParaRPr lang="ko-KR" altLang="en-US"/>
          </a:p>
        </p:txBody>
      </p:sp>
      <p:sp>
        <p:nvSpPr>
          <p:cNvPr id="3" name="바닥글 개체 틀 2">
            <a:extLst>
              <a:ext uri="{FF2B5EF4-FFF2-40B4-BE49-F238E27FC236}">
                <a16:creationId xmlns:a16="http://schemas.microsoft.com/office/drawing/2014/main" id="{6F72C68B-5AB2-0AA5-51ED-E6D4C426E16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6AE56A87-1EBA-BB3B-6652-14B5D84BC56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D44FD09-E3BE-48D3-9F5C-96E2B2905802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603851596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캡션 있는 콘텐츠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0D4A2155-7D27-56EC-BB31-BD780C2EED4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3F318B50-F0F1-B222-1CD8-AB5C274CE34B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텍스트 개체 틀 3">
            <a:extLst>
              <a:ext uri="{FF2B5EF4-FFF2-40B4-BE49-F238E27FC236}">
                <a16:creationId xmlns:a16="http://schemas.microsoft.com/office/drawing/2014/main" id="{E6E1CBB0-8268-E44C-5777-E0F181291BE1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5" name="날짜 개체 틀 4">
            <a:extLst>
              <a:ext uri="{FF2B5EF4-FFF2-40B4-BE49-F238E27FC236}">
                <a16:creationId xmlns:a16="http://schemas.microsoft.com/office/drawing/2014/main" id="{5848C5A7-69B2-CDC0-C166-511D2113BE5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D794271-44E2-4150-918C-2DB7E193BA46}" type="datetimeFigureOut">
              <a:rPr lang="ko-KR" altLang="en-US" smtClean="0"/>
              <a:t>2026-10-13</a:t>
            </a:fld>
            <a:endParaRPr lang="ko-KR" altLang="en-US"/>
          </a:p>
        </p:txBody>
      </p:sp>
      <p:sp>
        <p:nvSpPr>
          <p:cNvPr id="6" name="바닥글 개체 틀 5">
            <a:extLst>
              <a:ext uri="{FF2B5EF4-FFF2-40B4-BE49-F238E27FC236}">
                <a16:creationId xmlns:a16="http://schemas.microsoft.com/office/drawing/2014/main" id="{9BBF4C09-A9DD-D394-30CB-36A45903B25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슬라이드 번호 개체 틀 6">
            <a:extLst>
              <a:ext uri="{FF2B5EF4-FFF2-40B4-BE49-F238E27FC236}">
                <a16:creationId xmlns:a16="http://schemas.microsoft.com/office/drawing/2014/main" id="{CD70D902-143A-D73D-5032-C10485B997F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D44FD09-E3BE-48D3-9F5C-96E2B2905802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085285633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캡션 있는 그림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AC2216E7-1915-D845-56D4-0F1856F4B27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그림 개체 틀 2">
            <a:extLst>
              <a:ext uri="{FF2B5EF4-FFF2-40B4-BE49-F238E27FC236}">
                <a16:creationId xmlns:a16="http://schemas.microsoft.com/office/drawing/2014/main" id="{BFD51BDD-B3B3-C866-3865-10C7C89C874A}"/>
              </a:ext>
            </a:extLst>
          </p:cNvPr>
          <p:cNvSpPr>
            <a:spLocks noGrp="1" noChangeAspect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ko-KR" altLang="en-US"/>
          </a:p>
        </p:txBody>
      </p:sp>
      <p:sp>
        <p:nvSpPr>
          <p:cNvPr id="4" name="텍스트 개체 틀 3">
            <a:extLst>
              <a:ext uri="{FF2B5EF4-FFF2-40B4-BE49-F238E27FC236}">
                <a16:creationId xmlns:a16="http://schemas.microsoft.com/office/drawing/2014/main" id="{78FCBB3B-7BFE-454E-E8C1-31116E89B98F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5" name="날짜 개체 틀 4">
            <a:extLst>
              <a:ext uri="{FF2B5EF4-FFF2-40B4-BE49-F238E27FC236}">
                <a16:creationId xmlns:a16="http://schemas.microsoft.com/office/drawing/2014/main" id="{7F2B9CB9-E5DC-C162-97A0-7A5D7420F6F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D794271-44E2-4150-918C-2DB7E193BA46}" type="datetimeFigureOut">
              <a:rPr lang="ko-KR" altLang="en-US" smtClean="0"/>
              <a:t>2026-10-13</a:t>
            </a:fld>
            <a:endParaRPr lang="ko-KR" altLang="en-US"/>
          </a:p>
        </p:txBody>
      </p:sp>
      <p:sp>
        <p:nvSpPr>
          <p:cNvPr id="6" name="바닥글 개체 틀 5">
            <a:extLst>
              <a:ext uri="{FF2B5EF4-FFF2-40B4-BE49-F238E27FC236}">
                <a16:creationId xmlns:a16="http://schemas.microsoft.com/office/drawing/2014/main" id="{51B588F0-4E7A-C2C7-743C-9C955D634B5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슬라이드 번호 개체 틀 6">
            <a:extLst>
              <a:ext uri="{FF2B5EF4-FFF2-40B4-BE49-F238E27FC236}">
                <a16:creationId xmlns:a16="http://schemas.microsoft.com/office/drawing/2014/main" id="{9272DE62-085C-2BA9-C649-64D1EA806E8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D44FD09-E3BE-48D3-9F5C-96E2B2905802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81316729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제목 및 세로 텍스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BB3BC024-2FC8-8551-CB26-783A123438C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세로 텍스트 개체 틀 2">
            <a:extLst>
              <a:ext uri="{FF2B5EF4-FFF2-40B4-BE49-F238E27FC236}">
                <a16:creationId xmlns:a16="http://schemas.microsoft.com/office/drawing/2014/main" id="{5A88B235-76CB-DE9A-262E-CFF90476B11C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5569E48F-D785-5CAC-6A05-9AAC9308182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D794271-44E2-4150-918C-2DB7E193BA46}" type="datetimeFigureOut">
              <a:rPr lang="ko-KR" altLang="en-US" smtClean="0"/>
              <a:t>2026-10-13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790BF1AC-7DC3-92CE-6FE5-B3406E7F1BC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6DADF5BC-7F34-599A-36D2-83C86753F95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D44FD09-E3BE-48D3-9F5C-96E2B2905802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926176296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세로 제목 및 텍스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세로 제목 1">
            <a:extLst>
              <a:ext uri="{FF2B5EF4-FFF2-40B4-BE49-F238E27FC236}">
                <a16:creationId xmlns:a16="http://schemas.microsoft.com/office/drawing/2014/main" id="{A5BCE91C-E350-62FA-4E73-0307AEB05BDD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세로 텍스트 개체 틀 2">
            <a:extLst>
              <a:ext uri="{FF2B5EF4-FFF2-40B4-BE49-F238E27FC236}">
                <a16:creationId xmlns:a16="http://schemas.microsoft.com/office/drawing/2014/main" id="{2AC05D91-D80F-D64F-C551-1A3426FB1CBF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49AEB09B-6BEB-EC97-48DB-F09423EB08C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D794271-44E2-4150-918C-2DB7E193BA46}" type="datetimeFigureOut">
              <a:rPr lang="ko-KR" altLang="en-US" smtClean="0"/>
              <a:t>2026-10-13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C42F20EC-7BAD-F719-7083-B0FF1BF45D8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25320B36-A953-3331-3EF5-88A9C35DD69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D44FD09-E3BE-48D3-9F5C-96E2B2905802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321114304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424467955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theme" Target="../theme/theme1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개체 틀 1">
            <a:extLst>
              <a:ext uri="{FF2B5EF4-FFF2-40B4-BE49-F238E27FC236}">
                <a16:creationId xmlns:a16="http://schemas.microsoft.com/office/drawing/2014/main" id="{B03231B9-3232-E59C-ED7F-FB99F6D402C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텍스트 개체 틀 2">
            <a:extLst>
              <a:ext uri="{FF2B5EF4-FFF2-40B4-BE49-F238E27FC236}">
                <a16:creationId xmlns:a16="http://schemas.microsoft.com/office/drawing/2014/main" id="{5D010D45-F53A-5258-1134-4023D0C99834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7F0096B4-7752-8B1E-BB67-E34D89EC7FE8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DD794271-44E2-4150-918C-2DB7E193BA46}" type="datetimeFigureOut">
              <a:rPr lang="ko-KR" altLang="en-US" smtClean="0"/>
              <a:t>2026-10-13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54FDBED7-30BC-C28B-7C48-3287B6D98484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23213279-39E8-34AA-0F1A-477609874B60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AD44FD09-E3BE-48D3-9F5C-96E2B2905802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796822084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  <p:sldLayoutId id="2147483660" r:id="rId12"/>
  </p:sldLayoutIdLst>
  <p:txStyles>
    <p:titleStyle>
      <a:lvl1pPr algn="l" defTabSz="914400" rtl="0" eaLnBrk="1" latinLnBrk="1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1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ko-KR"/>
      </a:defPPr>
      <a:lvl1pPr marL="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2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2.xml"/><Relationship Id="rId4" Type="http://schemas.openxmlformats.org/officeDocument/2006/relationships/image" Target="../media/image3.png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12.xml"/><Relationship Id="rId4" Type="http://schemas.openxmlformats.org/officeDocument/2006/relationships/image" Target="../media/image6.png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2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chart" Target="../charts/chart1.xml"/><Relationship Id="rId1" Type="http://schemas.openxmlformats.org/officeDocument/2006/relationships/slideLayout" Target="../slideLayouts/slideLayout12.xml"/></Relationships>
</file>

<file path=ppt/slides/_rels/slide6.xml.rels><?xml version="1.0" encoding="UTF-8" standalone="yes"?>
<Relationships xmlns="http://schemas.openxmlformats.org/package/2006/relationships"><Relationship Id="rId8" Type="http://schemas.openxmlformats.org/officeDocument/2006/relationships/image" Target="../media/image12.png"/><Relationship Id="rId3" Type="http://schemas.openxmlformats.org/officeDocument/2006/relationships/image" Target="../media/image7.png"/><Relationship Id="rId7" Type="http://schemas.openxmlformats.org/officeDocument/2006/relationships/image" Target="../media/image11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2.xml"/><Relationship Id="rId6" Type="http://schemas.openxmlformats.org/officeDocument/2006/relationships/image" Target="../media/image10.png"/><Relationship Id="rId5" Type="http://schemas.openxmlformats.org/officeDocument/2006/relationships/image" Target="../media/image9.png"/><Relationship Id="rId4" Type="http://schemas.openxmlformats.org/officeDocument/2006/relationships/image" Target="../media/image8.png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2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2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4.png"/><Relationship Id="rId2" Type="http://schemas.openxmlformats.org/officeDocument/2006/relationships/image" Target="../media/image13.png"/><Relationship Id="rId1" Type="http://schemas.openxmlformats.org/officeDocument/2006/relationships/slideLayout" Target="../slideLayouts/slideLayout12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6.png"/><Relationship Id="rId2" Type="http://schemas.openxmlformats.org/officeDocument/2006/relationships/image" Target="../media/image15.png"/><Relationship Id="rId1" Type="http://schemas.openxmlformats.org/officeDocument/2006/relationships/slideLayout" Target="../slideLayouts/slideLayout12.xml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8.png"/><Relationship Id="rId2" Type="http://schemas.openxmlformats.org/officeDocument/2006/relationships/image" Target="../media/image17.png"/><Relationship Id="rId1" Type="http://schemas.openxmlformats.org/officeDocument/2006/relationships/slideLayout" Target="../slideLayouts/slideLayout12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2.xml"/></Relationships>
</file>

<file path=ppt/slides/_rels/slide14.xml.rels><?xml version="1.0" encoding="UTF-8" standalone="yes"?>
<Relationships xmlns="http://schemas.openxmlformats.org/package/2006/relationships"><Relationship Id="rId8" Type="http://schemas.openxmlformats.org/officeDocument/2006/relationships/image" Target="../media/image23.png"/><Relationship Id="rId3" Type="http://schemas.openxmlformats.org/officeDocument/2006/relationships/image" Target="../media/image19.png"/><Relationship Id="rId7" Type="http://schemas.openxmlformats.org/officeDocument/2006/relationships/image" Target="../media/image11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2.xml"/><Relationship Id="rId6" Type="http://schemas.openxmlformats.org/officeDocument/2006/relationships/image" Target="../media/image22.png"/><Relationship Id="rId5" Type="http://schemas.openxmlformats.org/officeDocument/2006/relationships/image" Target="../media/image21.png"/><Relationship Id="rId4" Type="http://schemas.openxmlformats.org/officeDocument/2006/relationships/image" Target="../media/image20.png"/><Relationship Id="rId9" Type="http://schemas.openxmlformats.org/officeDocument/2006/relationships/image" Target="../media/image24.png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image" Target="../media/image25.png"/><Relationship Id="rId1" Type="http://schemas.openxmlformats.org/officeDocument/2006/relationships/slideLayout" Target="../slideLayouts/slideLayout1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48640" y="347472"/>
            <a:ext cx="8229600" cy="27432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900" b="0" spc="100">
                <a:solidFill>
                  <a:srgbClr val="004F9F"/>
                </a:solidFill>
                <a:latin typeface="에이투지체 6 SemiBold"/>
                <a:ea typeface="에이투지체 6 SemiBold"/>
                <a:cs typeface="에이투지체 6 SemiBold"/>
              </a:rPr>
              <a:t>PART 2 · 11월 마케팅 전략 · 미디어믹스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658368"/>
            <a:ext cx="11064240" cy="86868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>
              <a:lnSpc>
                <a:spcPts val="2600"/>
              </a:lnSpc>
            </a:pPr>
            <a:r>
              <a:rPr lang="ko-KR" altLang="ko-KR" sz="1900" dirty="0" err="1">
                <a:solidFill>
                  <a:srgbClr val="FFFFFF"/>
                </a:solidFill>
                <a:highlight>
                  <a:srgbClr val="0000FF"/>
                </a:highlight>
                <a:latin typeface="에이투지체 8 ExtraBold"/>
                <a:ea typeface="에이투지체 8 ExtraBold"/>
              </a:rPr>
              <a:t>쿠팡</a:t>
            </a:r>
            <a:r>
              <a:rPr lang="ko-KR" altLang="ko-KR" sz="1900" dirty="0">
                <a:solidFill>
                  <a:srgbClr val="FFFFFF"/>
                </a:solidFill>
                <a:highlight>
                  <a:srgbClr val="0000FF"/>
                </a:highlight>
                <a:latin typeface="에이투지체 8 ExtraBold"/>
                <a:ea typeface="에이투지체 8 ExtraBold"/>
              </a:rPr>
              <a:t> 주력 상품이 메인 키워드 검색 결과 첫 화면에 없습니다</a:t>
            </a:r>
          </a:p>
          <a:p>
            <a:pPr>
              <a:lnSpc>
                <a:spcPts val="2600"/>
              </a:lnSpc>
            </a:pPr>
            <a:r>
              <a:rPr lang="ko-KR" altLang="ko-KR" sz="1900" dirty="0">
                <a:solidFill>
                  <a:srgbClr val="222222"/>
                </a:solidFill>
                <a:latin typeface="에이투지체 8 ExtraBold"/>
                <a:ea typeface="에이투지체 8 ExtraBold"/>
              </a:rPr>
              <a:t>로켓배송과 리뷰는 이미 갖춘 상태입니다</a:t>
            </a:r>
            <a:endParaRPr sz="1900" b="0" dirty="0">
              <a:solidFill>
                <a:srgbClr val="222222"/>
              </a:solidFill>
              <a:latin typeface="에이투지체 8 ExtraBold"/>
              <a:ea typeface="에이투지체 8 ExtraBold"/>
              <a:cs typeface="에이투지체 8 ExtraBold"/>
            </a:endParaRPr>
          </a:p>
        </p:txBody>
      </p:sp>
      <p:sp>
        <p:nvSpPr>
          <p:cNvPr id="4" name="TextBox 3"/>
          <p:cNvSpPr txBox="1"/>
          <p:nvPr/>
        </p:nvSpPr>
        <p:spPr>
          <a:xfrm>
            <a:off x="548640" y="1517904"/>
            <a:ext cx="11064240" cy="36576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100" b="0">
                <a:solidFill>
                  <a:srgbClr val="5C5C5C"/>
                </a:solidFill>
                <a:latin typeface="에이투지체 5 Medium"/>
                <a:ea typeface="에이투지체 5 Medium"/>
                <a:cs typeface="에이투지체 5 Medium"/>
              </a:rPr>
              <a:t>쿠팡 현황 진단 ①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48640" y="5577840"/>
            <a:ext cx="11064240" cy="438912"/>
          </a:xfrm>
          <a:prstGeom prst="roundRect">
            <a:avLst>
              <a:gd name="adj" fmla="val 16666"/>
            </a:avLst>
          </a:prstGeom>
          <a:solidFill>
            <a:srgbClr val="EAF2FB"/>
          </a:solidFill>
          <a:ln w="9525">
            <a:solidFill>
              <a:srgbClr val="004F9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740664" y="5702565"/>
            <a:ext cx="10671048" cy="207749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1350" b="0" dirty="0" err="1">
                <a:solidFill>
                  <a:srgbClr val="004F9F"/>
                </a:solidFill>
                <a:latin typeface="에이투지체 6 SemiBold"/>
                <a:ea typeface="에이투지체 6 SemiBold"/>
                <a:cs typeface="에이투지체 6 SemiBold"/>
              </a:rPr>
              <a:t>로켓 배송 상품이 대표 검색어에서도 보이게 하는 것이 쿠팡의 과제입니다</a:t>
            </a:r>
            <a:endParaRPr sz="1350" b="0" dirty="0">
              <a:solidFill>
                <a:srgbClr val="004F9F"/>
              </a:solidFill>
              <a:latin typeface="에이투지체 6 SemiBold"/>
              <a:ea typeface="에이투지체 6 SemiBold"/>
              <a:cs typeface="에이투지체 6 SemiBold"/>
            </a:endParaRPr>
          </a:p>
        </p:txBody>
      </p:sp>
      <p:sp>
        <p:nvSpPr>
          <p:cNvPr id="7" name="TextBox 6"/>
          <p:cNvSpPr txBox="1"/>
          <p:nvPr/>
        </p:nvSpPr>
        <p:spPr>
          <a:xfrm>
            <a:off x="548640" y="6089904"/>
            <a:ext cx="1106424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850" b="0">
                <a:solidFill>
                  <a:srgbClr val="919191"/>
                </a:solidFill>
                <a:latin typeface="에이투지체 3 Light"/>
                <a:ea typeface="에이투지체 3 Light"/>
                <a:cs typeface="에이투지체 3 Light"/>
              </a:rPr>
              <a:t>상품: 2026.10.12 (주)두드림비엔비 쿠팡 브랜드샵 / 검색: 2026.10.13 쿠팡 PC 검색 화면 기준 (비로그인). 검색 결과는 새로고침, 사용자별로 달라짐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6473952"/>
            <a:ext cx="420624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800" b="0">
                <a:solidFill>
                  <a:srgbClr val="919191"/>
                </a:solidFill>
                <a:latin typeface="에이투지체 3 Light"/>
                <a:ea typeface="에이투지체 3 Light"/>
                <a:cs typeface="에이투지체 3 Light"/>
              </a:rPr>
              <a:t>DODREAM B&amp;B AD PROPOSAL · 2026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138160" y="6473952"/>
            <a:ext cx="301752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/>
            <a:r>
              <a:rPr sz="800" b="0">
                <a:solidFill>
                  <a:srgbClr val="919191"/>
                </a:solidFill>
                <a:latin typeface="에이투지체 3 Light"/>
                <a:ea typeface="에이투지체 3 Light"/>
                <a:cs typeface="에이투지체 3 Light"/>
              </a:rPr>
              <a:t>LINKPRICE · BRAND AD CENTER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292840" y="6473952"/>
            <a:ext cx="36576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/>
            <a:r>
              <a:rPr sz="800" b="0">
                <a:solidFill>
                  <a:srgbClr val="222222"/>
                </a:solidFill>
                <a:latin typeface="에이투지체 6 SemiBold"/>
                <a:ea typeface="에이투지체 6 SemiBold"/>
                <a:cs typeface="에이투지체 6 SemiBold"/>
              </a:rPr>
              <a:t>33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48640" y="2103120"/>
            <a:ext cx="3447288" cy="1051560"/>
          </a:xfrm>
          <a:prstGeom prst="roundRect">
            <a:avLst>
              <a:gd name="adj" fmla="val 6956"/>
            </a:avLst>
          </a:prstGeom>
          <a:solidFill>
            <a:srgbClr val="EAF2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777240" y="2157984"/>
            <a:ext cx="3017520" cy="53035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2800" b="0">
                <a:solidFill>
                  <a:srgbClr val="004F9F"/>
                </a:solidFill>
                <a:latin typeface="에이투지체 8 ExtraBold"/>
                <a:ea typeface="에이투지체 8 ExtraBold"/>
                <a:cs typeface="에이투지체 8 ExtraBold"/>
              </a:rPr>
              <a:t>리뷰 827 · 968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77240" y="2724912"/>
            <a:ext cx="3017520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150" b="0">
                <a:solidFill>
                  <a:srgbClr val="5C5C5C"/>
                </a:solidFill>
                <a:latin typeface="에이투지체 6 SemiBold"/>
                <a:ea typeface="에이투지체 6 SemiBold"/>
                <a:cs typeface="에이투지체 6 SemiBold"/>
              </a:rPr>
              <a:t>FGO · 카무트 로켓 상품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48640" y="3337560"/>
            <a:ext cx="3447288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575" b="0">
                <a:solidFill>
                  <a:srgbClr val="222222"/>
                </a:solidFill>
                <a:latin typeface="에이투지체 6 SemiBold"/>
                <a:ea typeface="에이투지체 6 SemiBold"/>
                <a:cs typeface="에이투지체 6 SemiBold"/>
              </a:rPr>
              <a:t>구매 조건은 갖춰진 상태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38808" y="3794760"/>
            <a:ext cx="3447288" cy="40011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300" b="0" dirty="0" err="1">
                <a:solidFill>
                  <a:srgbClr val="5C5C5C"/>
                </a:solidFill>
                <a:latin typeface="에이투지체 4 Regular"/>
                <a:ea typeface="에이투지체 4 Regular"/>
                <a:cs typeface="에이투지체 4 Regular"/>
              </a:rPr>
              <a:t>주력</a:t>
            </a:r>
            <a:r>
              <a:rPr sz="1300" b="0" dirty="0">
                <a:solidFill>
                  <a:srgbClr val="5C5C5C"/>
                </a:solidFill>
                <a:latin typeface="에이투지체 4 Regular"/>
                <a:ea typeface="에이투지체 4 Regular"/>
                <a:cs typeface="에이투지체 4 Regular"/>
              </a:rPr>
              <a:t> </a:t>
            </a:r>
            <a:r>
              <a:rPr sz="1300" b="0" dirty="0" err="1">
                <a:solidFill>
                  <a:srgbClr val="5C5C5C"/>
                </a:solidFill>
                <a:latin typeface="에이투지체 4 Regular"/>
                <a:ea typeface="에이투지체 4 Regular"/>
                <a:cs typeface="에이투지체 4 Regular"/>
              </a:rPr>
              <a:t>상품</a:t>
            </a:r>
            <a:r>
              <a:rPr sz="1300" b="0" dirty="0">
                <a:solidFill>
                  <a:srgbClr val="5C5C5C"/>
                </a:solidFill>
                <a:latin typeface="에이투지체 4 Regular"/>
                <a:ea typeface="에이투지체 4 Regular"/>
                <a:cs typeface="에이투지체 4 Regular"/>
              </a:rPr>
              <a:t> </a:t>
            </a:r>
            <a:r>
              <a:rPr sz="1300" b="0" dirty="0" err="1">
                <a:solidFill>
                  <a:srgbClr val="5C5C5C"/>
                </a:solidFill>
                <a:latin typeface="에이투지체 4 Regular"/>
                <a:ea typeface="에이투지체 4 Regular"/>
                <a:cs typeface="에이투지체 4 Regular"/>
              </a:rPr>
              <a:t>모두</a:t>
            </a:r>
            <a:r>
              <a:rPr sz="1300" b="0" dirty="0">
                <a:solidFill>
                  <a:srgbClr val="5C5C5C"/>
                </a:solidFill>
                <a:latin typeface="에이투지체 4 Regular"/>
                <a:ea typeface="에이투지체 4 Regular"/>
                <a:cs typeface="에이투지체 4 Regular"/>
              </a:rPr>
              <a:t> </a:t>
            </a:r>
            <a:r>
              <a:rPr sz="1300" b="0" dirty="0" err="1">
                <a:solidFill>
                  <a:srgbClr val="5C5C5C"/>
                </a:solidFill>
                <a:latin typeface="에이투지체 4 Regular"/>
                <a:ea typeface="에이투지체 4 Regular"/>
                <a:cs typeface="에이투지체 4 Regular"/>
              </a:rPr>
              <a:t>로켓</a:t>
            </a:r>
            <a:r>
              <a:rPr sz="1300" b="0" dirty="0">
                <a:solidFill>
                  <a:srgbClr val="5C5C5C"/>
                </a:solidFill>
                <a:latin typeface="에이투지체 4 Regular"/>
                <a:ea typeface="에이투지체 4 Regular"/>
                <a:cs typeface="에이투지체 4 Regular"/>
              </a:rPr>
              <a:t> </a:t>
            </a:r>
            <a:r>
              <a:rPr lang="ko-KR" altLang="en-US" sz="1300" b="0" dirty="0">
                <a:solidFill>
                  <a:srgbClr val="5C5C5C"/>
                </a:solidFill>
                <a:latin typeface="에이투지체 4 Regular"/>
                <a:ea typeface="에이투지체 4 Regular"/>
                <a:cs typeface="에이투지체 4 Regular"/>
              </a:rPr>
              <a:t>배송 등록</a:t>
            </a:r>
            <a:endParaRPr sz="1300" b="0" dirty="0">
              <a:solidFill>
                <a:srgbClr val="5C5C5C"/>
              </a:solidFill>
              <a:latin typeface="에이투지체 4 Regular"/>
              <a:ea typeface="에이투지체 4 Regular"/>
              <a:cs typeface="에이투지체 4 Regular"/>
            </a:endParaRPr>
          </a:p>
          <a:p>
            <a:pPr algn="l"/>
            <a:r>
              <a:rPr sz="1300" b="0" dirty="0" err="1">
                <a:solidFill>
                  <a:srgbClr val="5C5C5C"/>
                </a:solidFill>
                <a:latin typeface="에이투지체 4 Regular"/>
                <a:ea typeface="에이투지체 4 Regular"/>
                <a:cs typeface="에이투지체 4 Regular"/>
              </a:rPr>
              <a:t>철분</a:t>
            </a:r>
            <a:r>
              <a:rPr sz="1300" b="0" dirty="0">
                <a:solidFill>
                  <a:srgbClr val="5C5C5C"/>
                </a:solidFill>
                <a:latin typeface="에이투지체 4 Regular"/>
                <a:ea typeface="에이투지체 4 Regular"/>
                <a:cs typeface="에이투지체 4 Regular"/>
              </a:rPr>
              <a:t> · </a:t>
            </a:r>
            <a:r>
              <a:rPr sz="1300" b="0" dirty="0" err="1">
                <a:solidFill>
                  <a:srgbClr val="5C5C5C"/>
                </a:solidFill>
                <a:latin typeface="에이투지체 4 Regular"/>
                <a:ea typeface="에이투지체 4 Regular"/>
                <a:cs typeface="에이투지체 4 Regular"/>
              </a:rPr>
              <a:t>유산균</a:t>
            </a:r>
            <a:r>
              <a:rPr sz="1300" b="0" dirty="0">
                <a:solidFill>
                  <a:srgbClr val="5C5C5C"/>
                </a:solidFill>
                <a:latin typeface="에이투지체 4 Regular"/>
                <a:ea typeface="에이투지체 4 Regular"/>
                <a:cs typeface="에이투지체 4 Regular"/>
              </a:rPr>
              <a:t> </a:t>
            </a:r>
            <a:r>
              <a:rPr sz="1300" b="0" dirty="0" err="1">
                <a:solidFill>
                  <a:srgbClr val="5C5C5C"/>
                </a:solidFill>
                <a:latin typeface="에이투지체 4 Regular"/>
                <a:ea typeface="에이투지체 4 Regular"/>
                <a:cs typeface="에이투지체 4 Regular"/>
              </a:rPr>
              <a:t>등도</a:t>
            </a:r>
            <a:r>
              <a:rPr sz="1300" b="0" dirty="0">
                <a:solidFill>
                  <a:srgbClr val="5C5C5C"/>
                </a:solidFill>
                <a:latin typeface="에이투지체 4 Regular"/>
                <a:ea typeface="에이투지체 4 Regular"/>
                <a:cs typeface="에이투지체 4 Regular"/>
              </a:rPr>
              <a:t> </a:t>
            </a:r>
            <a:r>
              <a:rPr sz="1300" b="0" dirty="0" err="1">
                <a:solidFill>
                  <a:srgbClr val="5C5C5C"/>
                </a:solidFill>
                <a:latin typeface="에이투지체 4 Regular"/>
                <a:ea typeface="에이투지체 4 Regular"/>
                <a:cs typeface="에이투지체 4 Regular"/>
              </a:rPr>
              <a:t>리뷰</a:t>
            </a:r>
            <a:r>
              <a:rPr sz="1300" b="0" dirty="0">
                <a:solidFill>
                  <a:srgbClr val="5C5C5C"/>
                </a:solidFill>
                <a:latin typeface="에이투지체 4 Regular"/>
                <a:ea typeface="에이투지체 4 Regular"/>
                <a:cs typeface="에이투지체 4 Regular"/>
              </a:rPr>
              <a:t> 65~588</a:t>
            </a:r>
          </a:p>
        </p:txBody>
      </p:sp>
      <p:cxnSp>
        <p:nvCxnSpPr>
          <p:cNvPr id="16" name="Connector 15"/>
          <p:cNvCxnSpPr/>
          <p:nvPr/>
        </p:nvCxnSpPr>
        <p:spPr>
          <a:xfrm>
            <a:off x="548640" y="4873752"/>
            <a:ext cx="3447288" cy="0"/>
          </a:xfrm>
          <a:prstGeom prst="line">
            <a:avLst/>
          </a:prstGeom>
          <a:ln w="12700">
            <a:solidFill>
              <a:srgbClr val="D0D0D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7" name="TextBox 16"/>
          <p:cNvSpPr txBox="1"/>
          <p:nvPr/>
        </p:nvSpPr>
        <p:spPr>
          <a:xfrm>
            <a:off x="548640" y="4983480"/>
            <a:ext cx="3447288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300" b="0">
                <a:solidFill>
                  <a:srgbClr val="004F9F"/>
                </a:solidFill>
                <a:latin typeface="에이투지체 6 SemiBold"/>
                <a:ea typeface="에이투지체 6 SemiBold"/>
                <a:cs typeface="에이투지체 6 SemiBold"/>
              </a:rPr>
              <a:t>광고할 상품은 준비된 상태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4361688" y="2103120"/>
            <a:ext cx="3447288" cy="1051560"/>
          </a:xfrm>
          <a:prstGeom prst="roundRect">
            <a:avLst>
              <a:gd name="adj" fmla="val 6956"/>
            </a:avLst>
          </a:prstGeom>
          <a:solidFill>
            <a:srgbClr val="EAF2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" name="TextBox 18"/>
          <p:cNvSpPr txBox="1"/>
          <p:nvPr/>
        </p:nvSpPr>
        <p:spPr>
          <a:xfrm>
            <a:off x="4590288" y="2157984"/>
            <a:ext cx="3017520" cy="53035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2800" b="0">
                <a:solidFill>
                  <a:srgbClr val="004F9F"/>
                </a:solidFill>
                <a:latin typeface="에이투지체 8 ExtraBold"/>
                <a:ea typeface="에이투지체 8 ExtraBold"/>
                <a:cs typeface="에이투지체 8 ExtraBold"/>
              </a:rPr>
              <a:t>3개 중 0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590288" y="2724912"/>
            <a:ext cx="3017520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150" b="0">
                <a:solidFill>
                  <a:srgbClr val="5C5C5C"/>
                </a:solidFill>
                <a:latin typeface="에이투지체 6 SemiBold"/>
                <a:ea typeface="에이투지체 6 SemiBold"/>
                <a:cs typeface="에이투지체 6 SemiBold"/>
              </a:rPr>
              <a:t>대표 검색어 첫 화면 노출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361688" y="3337560"/>
            <a:ext cx="3447288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575" b="0">
                <a:solidFill>
                  <a:srgbClr val="222222"/>
                </a:solidFill>
                <a:latin typeface="에이투지체 6 SemiBold"/>
                <a:ea typeface="에이투지체 6 SemiBold"/>
                <a:cs typeface="에이투지체 6 SemiBold"/>
              </a:rPr>
              <a:t>대표 검색어에서 보이지 않음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361688" y="3794760"/>
            <a:ext cx="3447288" cy="800219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r>
              <a:rPr lang="ko-KR" altLang="ko-KR" sz="1300" dirty="0">
                <a:solidFill>
                  <a:srgbClr val="5C5C5C"/>
                </a:solidFill>
                <a:latin typeface="에이투지체 4 Regular"/>
                <a:ea typeface="에이투지체 4 Regular"/>
              </a:rPr>
              <a:t>키성장영양제, </a:t>
            </a:r>
            <a:r>
              <a:rPr lang="ko-KR" altLang="ko-KR" sz="1300" dirty="0" err="1">
                <a:solidFill>
                  <a:srgbClr val="5C5C5C"/>
                </a:solidFill>
                <a:latin typeface="에이투지체 4 Regular"/>
                <a:ea typeface="에이투지체 4 Regular"/>
              </a:rPr>
              <a:t>키크는영양제</a:t>
            </a:r>
            <a:r>
              <a:rPr lang="ko-KR" altLang="ko-KR" sz="1300" dirty="0">
                <a:solidFill>
                  <a:srgbClr val="5C5C5C"/>
                </a:solidFill>
                <a:latin typeface="에이투지체 4 Regular"/>
                <a:ea typeface="에이투지체 4 Regular"/>
              </a:rPr>
              <a:t>, </a:t>
            </a:r>
            <a:r>
              <a:rPr lang="ko-KR" altLang="ko-KR" sz="1300" dirty="0" err="1">
                <a:solidFill>
                  <a:srgbClr val="5C5C5C"/>
                </a:solidFill>
                <a:latin typeface="에이투지체 4 Regular"/>
                <a:ea typeface="에이투지체 4 Regular"/>
              </a:rPr>
              <a:t>카무트효소</a:t>
            </a:r>
            <a:endParaRPr lang="ko-KR" altLang="ko-KR" sz="1300" dirty="0">
              <a:solidFill>
                <a:srgbClr val="5C5C5C"/>
              </a:solidFill>
              <a:latin typeface="에이투지체 4 Regular"/>
              <a:ea typeface="에이투지체 4 Regular"/>
            </a:endParaRPr>
          </a:p>
          <a:p>
            <a:r>
              <a:rPr lang="ko-KR" altLang="ko-KR" sz="1300" dirty="0">
                <a:solidFill>
                  <a:srgbClr val="5C5C5C"/>
                </a:solidFill>
                <a:latin typeface="에이투지체 4 Regular"/>
                <a:ea typeface="에이투지체 4 Regular"/>
              </a:rPr>
              <a:t>첫 화면에 두드림 상품 없음</a:t>
            </a:r>
          </a:p>
          <a:p>
            <a:r>
              <a:rPr lang="ko-KR" altLang="ko-KR" sz="1300" dirty="0" err="1">
                <a:solidFill>
                  <a:srgbClr val="5C5C5C"/>
                </a:solidFill>
                <a:latin typeface="에이투지체 4 Regular"/>
                <a:ea typeface="에이투지체 4 Regular"/>
              </a:rPr>
              <a:t>키움정</a:t>
            </a:r>
            <a:r>
              <a:rPr lang="ko-KR" altLang="ko-KR" sz="1300" dirty="0">
                <a:solidFill>
                  <a:srgbClr val="5C5C5C"/>
                </a:solidFill>
                <a:latin typeface="에이투지체 4 Regular"/>
                <a:ea typeface="에이투지체 4 Regular"/>
              </a:rPr>
              <a:t>, </a:t>
            </a:r>
            <a:r>
              <a:rPr lang="ko-KR" altLang="ko-KR" sz="1300" dirty="0" err="1">
                <a:solidFill>
                  <a:srgbClr val="5C5C5C"/>
                </a:solidFill>
                <a:latin typeface="에이투지체 4 Regular"/>
                <a:ea typeface="에이투지체 4 Regular"/>
              </a:rPr>
              <a:t>키앤이거</a:t>
            </a:r>
            <a:r>
              <a:rPr lang="ko-KR" altLang="ko-KR" sz="1300" dirty="0">
                <a:solidFill>
                  <a:srgbClr val="5C5C5C"/>
                </a:solidFill>
                <a:latin typeface="에이투지체 4 Regular"/>
                <a:ea typeface="에이투지체 4 Regular"/>
              </a:rPr>
              <a:t>, </a:t>
            </a:r>
            <a:r>
              <a:rPr lang="ko-KR" altLang="ko-KR" sz="1300" dirty="0" err="1">
                <a:solidFill>
                  <a:srgbClr val="5C5C5C"/>
                </a:solidFill>
                <a:latin typeface="에이투지체 4 Regular"/>
                <a:ea typeface="에이투지체 4 Regular"/>
              </a:rPr>
              <a:t>그레인온</a:t>
            </a:r>
            <a:r>
              <a:rPr lang="ko-KR" altLang="ko-KR" sz="1300" dirty="0">
                <a:solidFill>
                  <a:srgbClr val="5C5C5C"/>
                </a:solidFill>
                <a:latin typeface="에이투지체 4 Regular"/>
                <a:ea typeface="에이투지체 4 Regular"/>
              </a:rPr>
              <a:t> 등 경쟁사 광고 노출</a:t>
            </a:r>
            <a:br>
              <a:rPr lang="ko-KR" altLang="ko-KR" sz="1300" dirty="0">
                <a:solidFill>
                  <a:srgbClr val="5C5C5C"/>
                </a:solidFill>
                <a:latin typeface="에이투지체 4 Regular"/>
                <a:ea typeface="에이투지체 4 Regular"/>
              </a:rPr>
            </a:br>
            <a:endParaRPr sz="1300" dirty="0">
              <a:solidFill>
                <a:srgbClr val="5C5C5C"/>
              </a:solidFill>
              <a:latin typeface="에이투지체 4 Regular"/>
              <a:ea typeface="에이투지체 4 Regular"/>
            </a:endParaRPr>
          </a:p>
        </p:txBody>
      </p:sp>
      <p:cxnSp>
        <p:nvCxnSpPr>
          <p:cNvPr id="23" name="Connector 22"/>
          <p:cNvCxnSpPr/>
          <p:nvPr/>
        </p:nvCxnSpPr>
        <p:spPr>
          <a:xfrm>
            <a:off x="4361688" y="4873752"/>
            <a:ext cx="3447287" cy="0"/>
          </a:xfrm>
          <a:prstGeom prst="line">
            <a:avLst/>
          </a:prstGeom>
          <a:ln w="12700">
            <a:solidFill>
              <a:srgbClr val="D0D0D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4" name="TextBox 23"/>
          <p:cNvSpPr txBox="1"/>
          <p:nvPr/>
        </p:nvSpPr>
        <p:spPr>
          <a:xfrm>
            <a:off x="4361688" y="4983480"/>
            <a:ext cx="3447288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300" b="0">
                <a:solidFill>
                  <a:srgbClr val="004F9F"/>
                </a:solidFill>
                <a:latin typeface="에이투지체 6 SemiBold"/>
                <a:ea typeface="에이투지체 6 SemiBold"/>
                <a:cs typeface="에이투지체 6 SemiBold"/>
              </a:rPr>
              <a:t>카테고리 검색 수요가 경쟁 상품에 집중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8174736" y="2103120"/>
            <a:ext cx="3447288" cy="1051560"/>
          </a:xfrm>
          <a:prstGeom prst="roundRect">
            <a:avLst>
              <a:gd name="adj" fmla="val 6956"/>
            </a:avLst>
          </a:prstGeom>
          <a:solidFill>
            <a:srgbClr val="0E3A7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6" name="TextBox 25"/>
          <p:cNvSpPr txBox="1"/>
          <p:nvPr/>
        </p:nvSpPr>
        <p:spPr>
          <a:xfrm>
            <a:off x="8403336" y="2157984"/>
            <a:ext cx="3017520" cy="53035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2800" b="0">
                <a:solidFill>
                  <a:srgbClr val="FFFFFF"/>
                </a:solidFill>
                <a:latin typeface="에이투지체 8 ExtraBold"/>
                <a:ea typeface="에이투지체 8 ExtraBold"/>
                <a:cs typeface="에이투지체 8 ExtraBold"/>
              </a:rPr>
              <a:t>경쟁사 광고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8403336" y="2724912"/>
            <a:ext cx="3017520" cy="17697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150" b="0" dirty="0" err="1">
                <a:solidFill>
                  <a:srgbClr val="C9DAEE"/>
                </a:solidFill>
                <a:latin typeface="에이투지체 6 SemiBold"/>
                <a:ea typeface="에이투지체 6 SemiBold"/>
                <a:cs typeface="에이투지체 6 SemiBold"/>
              </a:rPr>
              <a:t>자사</a:t>
            </a:r>
            <a:r>
              <a:rPr sz="1150" b="0" dirty="0">
                <a:solidFill>
                  <a:srgbClr val="C9DAEE"/>
                </a:solidFill>
                <a:latin typeface="에이투지체 6 SemiBold"/>
                <a:ea typeface="에이투지체 6 SemiBold"/>
                <a:cs typeface="에이투지체 6 SemiBold"/>
              </a:rPr>
              <a:t> </a:t>
            </a:r>
            <a:r>
              <a:rPr sz="1150" b="0" dirty="0" err="1">
                <a:solidFill>
                  <a:srgbClr val="C9DAEE"/>
                </a:solidFill>
                <a:latin typeface="에이투지체 6 SemiBold"/>
                <a:ea typeface="에이투지체 6 SemiBold"/>
                <a:cs typeface="에이투지체 6 SemiBold"/>
              </a:rPr>
              <a:t>브랜드</a:t>
            </a:r>
            <a:r>
              <a:rPr sz="1150" b="0" dirty="0">
                <a:solidFill>
                  <a:srgbClr val="C9DAEE"/>
                </a:solidFill>
                <a:latin typeface="에이투지체 6 SemiBold"/>
                <a:ea typeface="에이투지체 6 SemiBold"/>
                <a:cs typeface="에이투지체 6 SemiBold"/>
              </a:rPr>
              <a:t> </a:t>
            </a:r>
            <a:r>
              <a:rPr lang="ko-KR" altLang="en-US" sz="1150" dirty="0">
                <a:solidFill>
                  <a:srgbClr val="C9DAEE"/>
                </a:solidFill>
                <a:latin typeface="에이투지체 6 SemiBold"/>
                <a:ea typeface="에이투지체 6 SemiBold"/>
                <a:cs typeface="에이투지체 6 SemiBold"/>
              </a:rPr>
              <a:t>키워드</a:t>
            </a:r>
            <a:r>
              <a:rPr sz="1150" b="0" dirty="0">
                <a:solidFill>
                  <a:srgbClr val="C9DAEE"/>
                </a:solidFill>
                <a:latin typeface="에이투지체 6 SemiBold"/>
                <a:ea typeface="에이투지체 6 SemiBold"/>
                <a:cs typeface="에이투지체 6 SemiBold"/>
              </a:rPr>
              <a:t> </a:t>
            </a:r>
            <a:r>
              <a:rPr lang="ko-KR" altLang="en-US" sz="1150" b="0" dirty="0">
                <a:solidFill>
                  <a:srgbClr val="C9DAEE"/>
                </a:solidFill>
                <a:latin typeface="에이투지체 6 SemiBold"/>
                <a:ea typeface="에이투지체 6 SemiBold"/>
                <a:cs typeface="에이투지체 6 SemiBold"/>
              </a:rPr>
              <a:t>검색 결과</a:t>
            </a:r>
            <a:endParaRPr sz="1150" b="0" dirty="0">
              <a:solidFill>
                <a:srgbClr val="C9DAEE"/>
              </a:solidFill>
              <a:latin typeface="에이투지체 6 SemiBold"/>
              <a:ea typeface="에이투지체 6 SemiBold"/>
              <a:cs typeface="에이투지체 6 SemiBold"/>
            </a:endParaRPr>
          </a:p>
        </p:txBody>
      </p:sp>
      <p:sp>
        <p:nvSpPr>
          <p:cNvPr id="28" name="TextBox 27"/>
          <p:cNvSpPr txBox="1"/>
          <p:nvPr/>
        </p:nvSpPr>
        <p:spPr>
          <a:xfrm>
            <a:off x="8174736" y="3337560"/>
            <a:ext cx="3447288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575" b="0" dirty="0" err="1">
                <a:solidFill>
                  <a:srgbClr val="222222"/>
                </a:solidFill>
                <a:latin typeface="에이투지체 6 SemiBold"/>
                <a:ea typeface="에이투지체 6 SemiBold"/>
                <a:cs typeface="에이투지체 6 SemiBold"/>
              </a:rPr>
              <a:t>브랜드</a:t>
            </a:r>
            <a:r>
              <a:rPr sz="1575" b="0" dirty="0">
                <a:solidFill>
                  <a:srgbClr val="222222"/>
                </a:solidFill>
                <a:latin typeface="에이투지체 6 SemiBold"/>
                <a:ea typeface="에이투지체 6 SemiBold"/>
                <a:cs typeface="에이투지체 6 SemiBold"/>
              </a:rPr>
              <a:t> </a:t>
            </a:r>
            <a:r>
              <a:rPr sz="1575" b="0" dirty="0" err="1">
                <a:solidFill>
                  <a:srgbClr val="222222"/>
                </a:solidFill>
                <a:latin typeface="에이투지체 6 SemiBold"/>
                <a:ea typeface="에이투지체 6 SemiBold"/>
                <a:cs typeface="에이투지체 6 SemiBold"/>
              </a:rPr>
              <a:t>검색어에</a:t>
            </a:r>
            <a:r>
              <a:rPr sz="1575" b="0" dirty="0">
                <a:solidFill>
                  <a:srgbClr val="222222"/>
                </a:solidFill>
                <a:latin typeface="에이투지체 6 SemiBold"/>
                <a:ea typeface="에이투지체 6 SemiBold"/>
                <a:cs typeface="에이투지체 6 SemiBold"/>
              </a:rPr>
              <a:t> </a:t>
            </a:r>
            <a:r>
              <a:rPr sz="1575" b="0" dirty="0" err="1">
                <a:solidFill>
                  <a:srgbClr val="222222"/>
                </a:solidFill>
                <a:latin typeface="에이투지체 6 SemiBold"/>
                <a:ea typeface="에이투지체 6 SemiBold"/>
                <a:cs typeface="에이투지체 6 SemiBold"/>
              </a:rPr>
              <a:t>경쟁사</a:t>
            </a:r>
            <a:r>
              <a:rPr sz="1575" b="0" dirty="0">
                <a:solidFill>
                  <a:srgbClr val="222222"/>
                </a:solidFill>
                <a:latin typeface="에이투지체 6 SemiBold"/>
                <a:ea typeface="에이투지체 6 SemiBold"/>
                <a:cs typeface="에이투지체 6 SemiBold"/>
              </a:rPr>
              <a:t> </a:t>
            </a:r>
            <a:r>
              <a:rPr sz="1575" b="0" dirty="0" err="1">
                <a:solidFill>
                  <a:srgbClr val="222222"/>
                </a:solidFill>
                <a:latin typeface="에이투지체 6 SemiBold"/>
                <a:ea typeface="에이투지체 6 SemiBold"/>
                <a:cs typeface="에이투지체 6 SemiBold"/>
              </a:rPr>
              <a:t>광고</a:t>
            </a:r>
            <a:r>
              <a:rPr sz="1575" b="0" dirty="0">
                <a:solidFill>
                  <a:srgbClr val="222222"/>
                </a:solidFill>
                <a:latin typeface="에이투지체 6 SemiBold"/>
                <a:ea typeface="에이투지체 6 SemiBold"/>
                <a:cs typeface="에이투지체 6 SemiBold"/>
              </a:rPr>
              <a:t> </a:t>
            </a:r>
            <a:r>
              <a:rPr sz="1575" b="0" dirty="0" err="1">
                <a:solidFill>
                  <a:srgbClr val="222222"/>
                </a:solidFill>
                <a:latin typeface="에이투지체 6 SemiBold"/>
                <a:ea typeface="에이투지체 6 SemiBold"/>
                <a:cs typeface="에이투지체 6 SemiBold"/>
              </a:rPr>
              <a:t>노출</a:t>
            </a:r>
            <a:endParaRPr sz="1575" b="0" dirty="0">
              <a:solidFill>
                <a:srgbClr val="222222"/>
              </a:solidFill>
              <a:latin typeface="에이투지체 6 SemiBold"/>
              <a:ea typeface="에이투지체 6 SemiBold"/>
              <a:cs typeface="에이투지체 6 SemiBold"/>
            </a:endParaRPr>
          </a:p>
        </p:txBody>
      </p:sp>
      <p:sp>
        <p:nvSpPr>
          <p:cNvPr id="29" name="TextBox 28"/>
          <p:cNvSpPr txBox="1"/>
          <p:nvPr/>
        </p:nvSpPr>
        <p:spPr>
          <a:xfrm>
            <a:off x="8174736" y="3794760"/>
            <a:ext cx="3447288" cy="800219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r>
              <a:rPr lang="ko-KR" altLang="ko-KR" sz="1300" dirty="0" err="1">
                <a:solidFill>
                  <a:srgbClr val="5C5C5C"/>
                </a:solidFill>
                <a:latin typeface="에이투지체 4 Regular"/>
                <a:ea typeface="에이투지체 4 Regular"/>
              </a:rPr>
              <a:t>아이클타임</a:t>
            </a:r>
            <a:r>
              <a:rPr lang="ko-KR" altLang="ko-KR" sz="1300" dirty="0">
                <a:solidFill>
                  <a:srgbClr val="5C5C5C"/>
                </a:solidFill>
                <a:latin typeface="에이투지체 4 Regular"/>
                <a:ea typeface="에이투지체 4 Regular"/>
              </a:rPr>
              <a:t> 검색 첫 줄에 경쟁사가 광고</a:t>
            </a:r>
          </a:p>
          <a:p>
            <a:r>
              <a:rPr lang="ko-KR" altLang="ko-KR" sz="1300" dirty="0">
                <a:solidFill>
                  <a:srgbClr val="5C5C5C"/>
                </a:solidFill>
                <a:latin typeface="에이투지체 4 Regular"/>
                <a:ea typeface="에이투지체 4 Regular"/>
              </a:rPr>
              <a:t>반대로 경쟁사 브랜드 검색 결과에는</a:t>
            </a:r>
          </a:p>
          <a:p>
            <a:r>
              <a:rPr lang="ko-KR" altLang="ko-KR" sz="1300" dirty="0">
                <a:solidFill>
                  <a:srgbClr val="5C5C5C"/>
                </a:solidFill>
                <a:latin typeface="에이투지체 4 Regular"/>
                <a:ea typeface="에이투지체 4 Regular"/>
              </a:rPr>
              <a:t>두드림 노출 없음</a:t>
            </a:r>
            <a:br>
              <a:rPr lang="ko-KR" altLang="ko-KR" sz="1300" dirty="0">
                <a:solidFill>
                  <a:srgbClr val="5C5C5C"/>
                </a:solidFill>
                <a:latin typeface="에이투지체 4 Regular"/>
                <a:ea typeface="에이투지체 4 Regular"/>
              </a:rPr>
            </a:br>
            <a:endParaRPr sz="1300" dirty="0">
              <a:solidFill>
                <a:srgbClr val="5C5C5C"/>
              </a:solidFill>
              <a:latin typeface="에이투지체 4 Regular"/>
              <a:ea typeface="에이투지체 4 Regular"/>
            </a:endParaRPr>
          </a:p>
        </p:txBody>
      </p:sp>
      <p:cxnSp>
        <p:nvCxnSpPr>
          <p:cNvPr id="30" name="Connector 29"/>
          <p:cNvCxnSpPr/>
          <p:nvPr/>
        </p:nvCxnSpPr>
        <p:spPr>
          <a:xfrm>
            <a:off x="8174736" y="4873752"/>
            <a:ext cx="3447288" cy="0"/>
          </a:xfrm>
          <a:prstGeom prst="line">
            <a:avLst/>
          </a:prstGeom>
          <a:ln w="12700">
            <a:solidFill>
              <a:srgbClr val="D0D0D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1" name="TextBox 30"/>
          <p:cNvSpPr txBox="1"/>
          <p:nvPr/>
        </p:nvSpPr>
        <p:spPr>
          <a:xfrm>
            <a:off x="8174736" y="4983480"/>
            <a:ext cx="3447288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300" b="0">
                <a:solidFill>
                  <a:srgbClr val="004F9F"/>
                </a:solidFill>
                <a:latin typeface="에이투지체 6 SemiBold"/>
                <a:ea typeface="에이투지체 6 SemiBold"/>
                <a:cs typeface="에이투지체 6 SemiBold"/>
              </a:rPr>
              <a:t>검색어별 운영 구조 정리 필요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48640" y="347472"/>
            <a:ext cx="8229600" cy="27432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900" b="0" spc="100">
                <a:solidFill>
                  <a:srgbClr val="004F9F"/>
                </a:solidFill>
                <a:latin typeface="에이투지체 6 SemiBold"/>
                <a:ea typeface="에이투지체 6 SemiBold"/>
                <a:cs typeface="에이투지체 6 SemiBold"/>
              </a:rPr>
              <a:t>PART 2 · 11월 마케팅 전략 · 미디어믹스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658368"/>
            <a:ext cx="11064240" cy="86868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>
              <a:lnSpc>
                <a:spcPts val="2600"/>
              </a:lnSpc>
            </a:pPr>
            <a:r>
              <a:rPr sz="1900" b="0" dirty="0" err="1">
                <a:solidFill>
                  <a:srgbClr val="FFFFFF"/>
                </a:solidFill>
                <a:highlight>
                  <a:srgbClr val="0000FF"/>
                </a:highlight>
                <a:latin typeface="에이투지체 8 ExtraBold"/>
                <a:ea typeface="에이투지체 8 ExtraBold"/>
                <a:cs typeface="에이투지체 8 ExtraBold"/>
              </a:rPr>
              <a:t>아이클타임</a:t>
            </a:r>
            <a:r>
              <a:rPr sz="1900" b="0" dirty="0">
                <a:solidFill>
                  <a:srgbClr val="FFFFFF"/>
                </a:solidFill>
                <a:highlight>
                  <a:srgbClr val="0000FF"/>
                </a:highlight>
                <a:latin typeface="에이투지체 8 ExtraBold"/>
                <a:ea typeface="에이투지체 8 ExtraBold"/>
                <a:cs typeface="에이투지체 8 ExtraBold"/>
              </a:rPr>
              <a:t> </a:t>
            </a:r>
            <a:r>
              <a:rPr sz="1900" b="0" dirty="0" err="1">
                <a:solidFill>
                  <a:srgbClr val="FFFFFF"/>
                </a:solidFill>
                <a:highlight>
                  <a:srgbClr val="0000FF"/>
                </a:highlight>
                <a:latin typeface="에이투지체 8 ExtraBold"/>
                <a:ea typeface="에이투지체 8 ExtraBold"/>
                <a:cs typeface="에이투지체 8 ExtraBold"/>
              </a:rPr>
              <a:t>검색</a:t>
            </a:r>
            <a:r>
              <a:rPr sz="1900" b="0" dirty="0">
                <a:solidFill>
                  <a:srgbClr val="FFFFFF"/>
                </a:solidFill>
                <a:highlight>
                  <a:srgbClr val="0000FF"/>
                </a:highlight>
                <a:latin typeface="에이투지체 8 ExtraBold"/>
                <a:ea typeface="에이투지체 8 ExtraBold"/>
                <a:cs typeface="에이투지체 8 ExtraBold"/>
              </a:rPr>
              <a:t> </a:t>
            </a:r>
            <a:r>
              <a:rPr sz="1900" b="0" dirty="0" err="1">
                <a:solidFill>
                  <a:srgbClr val="FFFFFF"/>
                </a:solidFill>
                <a:highlight>
                  <a:srgbClr val="0000FF"/>
                </a:highlight>
                <a:latin typeface="에이투지체 8 ExtraBold"/>
                <a:ea typeface="에이투지체 8 ExtraBold"/>
                <a:cs typeface="에이투지체 8 ExtraBold"/>
              </a:rPr>
              <a:t>결과에</a:t>
            </a:r>
            <a:r>
              <a:rPr sz="1900" b="0" dirty="0">
                <a:solidFill>
                  <a:srgbClr val="FFFFFF"/>
                </a:solidFill>
                <a:highlight>
                  <a:srgbClr val="0000FF"/>
                </a:highlight>
                <a:latin typeface="에이투지체 8 ExtraBold"/>
                <a:ea typeface="에이투지체 8 ExtraBold"/>
                <a:cs typeface="에이투지체 8 ExtraBold"/>
              </a:rPr>
              <a:t> </a:t>
            </a:r>
            <a:r>
              <a:rPr sz="1900" b="0" dirty="0" err="1">
                <a:solidFill>
                  <a:srgbClr val="FFFFFF"/>
                </a:solidFill>
                <a:highlight>
                  <a:srgbClr val="0000FF"/>
                </a:highlight>
                <a:latin typeface="에이투지체 8 ExtraBold"/>
                <a:ea typeface="에이투지체 8 ExtraBold"/>
                <a:cs typeface="에이투지체 8 ExtraBold"/>
              </a:rPr>
              <a:t>경쟁사</a:t>
            </a:r>
            <a:r>
              <a:rPr sz="1900" b="0" dirty="0">
                <a:solidFill>
                  <a:srgbClr val="FFFFFF"/>
                </a:solidFill>
                <a:highlight>
                  <a:srgbClr val="0000FF"/>
                </a:highlight>
                <a:latin typeface="에이투지체 8 ExtraBold"/>
                <a:ea typeface="에이투지체 8 ExtraBold"/>
                <a:cs typeface="에이투지체 8 ExtraBold"/>
              </a:rPr>
              <a:t> </a:t>
            </a:r>
            <a:r>
              <a:rPr sz="1900" b="0" dirty="0" err="1">
                <a:solidFill>
                  <a:srgbClr val="FFFFFF"/>
                </a:solidFill>
                <a:highlight>
                  <a:srgbClr val="0000FF"/>
                </a:highlight>
                <a:latin typeface="에이투지체 8 ExtraBold"/>
                <a:ea typeface="에이투지체 8 ExtraBold"/>
                <a:cs typeface="에이투지체 8 ExtraBold"/>
              </a:rPr>
              <a:t>광고가</a:t>
            </a:r>
            <a:r>
              <a:rPr sz="1900" b="0" dirty="0">
                <a:solidFill>
                  <a:srgbClr val="FFFFFF"/>
                </a:solidFill>
                <a:highlight>
                  <a:srgbClr val="0000FF"/>
                </a:highlight>
                <a:latin typeface="에이투지체 8 ExtraBold"/>
                <a:ea typeface="에이투지체 8 ExtraBold"/>
                <a:cs typeface="에이투지체 8 ExtraBold"/>
              </a:rPr>
              <a:t> </a:t>
            </a:r>
            <a:r>
              <a:rPr sz="1900" b="0" dirty="0" err="1">
                <a:solidFill>
                  <a:srgbClr val="FFFFFF"/>
                </a:solidFill>
                <a:highlight>
                  <a:srgbClr val="0000FF"/>
                </a:highlight>
                <a:latin typeface="에이투지체 8 ExtraBold"/>
                <a:ea typeface="에이투지체 8 ExtraBold"/>
                <a:cs typeface="에이투지체 8 ExtraBold"/>
              </a:rPr>
              <a:t>나오고</a:t>
            </a:r>
            <a:endParaRPr sz="1900" b="0" dirty="0">
              <a:solidFill>
                <a:srgbClr val="FFFFFF"/>
              </a:solidFill>
              <a:highlight>
                <a:srgbClr val="0000FF"/>
              </a:highlight>
              <a:latin typeface="에이투지체 8 ExtraBold"/>
              <a:ea typeface="에이투지체 8 ExtraBold"/>
              <a:cs typeface="에이투지체 8 ExtraBold"/>
            </a:endParaRPr>
          </a:p>
          <a:p>
            <a:pPr>
              <a:lnSpc>
                <a:spcPts val="2600"/>
              </a:lnSpc>
            </a:pPr>
            <a:r>
              <a:rPr sz="1900" b="0" dirty="0" err="1">
                <a:solidFill>
                  <a:srgbClr val="222222"/>
                </a:solidFill>
                <a:latin typeface="에이투지체 8 ExtraBold"/>
                <a:ea typeface="에이투지체 8 ExtraBold"/>
                <a:cs typeface="에이투지체 8 ExtraBold"/>
              </a:rPr>
              <a:t>경쟁사</a:t>
            </a:r>
            <a:r>
              <a:rPr sz="1900" b="0" dirty="0">
                <a:solidFill>
                  <a:srgbClr val="222222"/>
                </a:solidFill>
                <a:latin typeface="에이투지체 8 ExtraBold"/>
                <a:ea typeface="에이투지체 8 ExtraBold"/>
                <a:cs typeface="에이투지체 8 ExtraBold"/>
              </a:rPr>
              <a:t> </a:t>
            </a:r>
            <a:r>
              <a:rPr sz="1900" b="0" dirty="0" err="1">
                <a:solidFill>
                  <a:srgbClr val="222222"/>
                </a:solidFill>
                <a:latin typeface="에이투지체 8 ExtraBold"/>
                <a:ea typeface="에이투지체 8 ExtraBold"/>
                <a:cs typeface="에이투지체 8 ExtraBold"/>
              </a:rPr>
              <a:t>브랜드</a:t>
            </a:r>
            <a:r>
              <a:rPr sz="1900" b="0" dirty="0">
                <a:solidFill>
                  <a:srgbClr val="222222"/>
                </a:solidFill>
                <a:latin typeface="에이투지체 8 ExtraBold"/>
                <a:ea typeface="에이투지체 8 ExtraBold"/>
                <a:cs typeface="에이투지체 8 ExtraBold"/>
              </a:rPr>
              <a:t> </a:t>
            </a:r>
            <a:r>
              <a:rPr sz="1900" b="0" dirty="0" err="1">
                <a:solidFill>
                  <a:srgbClr val="222222"/>
                </a:solidFill>
                <a:latin typeface="에이투지체 8 ExtraBold"/>
                <a:ea typeface="에이투지체 8 ExtraBold"/>
                <a:cs typeface="에이투지체 8 ExtraBold"/>
              </a:rPr>
              <a:t>검색</a:t>
            </a:r>
            <a:r>
              <a:rPr sz="1900" b="0" dirty="0">
                <a:solidFill>
                  <a:srgbClr val="222222"/>
                </a:solidFill>
                <a:latin typeface="에이투지체 8 ExtraBold"/>
                <a:ea typeface="에이투지체 8 ExtraBold"/>
                <a:cs typeface="에이투지체 8 ExtraBold"/>
              </a:rPr>
              <a:t> </a:t>
            </a:r>
            <a:r>
              <a:rPr sz="1900" b="0" dirty="0" err="1">
                <a:solidFill>
                  <a:srgbClr val="222222"/>
                </a:solidFill>
                <a:latin typeface="에이투지체 8 ExtraBold"/>
                <a:ea typeface="에이투지체 8 ExtraBold"/>
                <a:cs typeface="에이투지체 8 ExtraBold"/>
              </a:rPr>
              <a:t>결과에는</a:t>
            </a:r>
            <a:r>
              <a:rPr sz="1900" b="0" dirty="0">
                <a:solidFill>
                  <a:srgbClr val="222222"/>
                </a:solidFill>
                <a:latin typeface="에이투지체 8 ExtraBold"/>
                <a:ea typeface="에이투지체 8 ExtraBold"/>
                <a:cs typeface="에이투지체 8 ExtraBold"/>
              </a:rPr>
              <a:t> </a:t>
            </a:r>
            <a:r>
              <a:rPr sz="1900" b="0" dirty="0" err="1">
                <a:solidFill>
                  <a:srgbClr val="222222"/>
                </a:solidFill>
                <a:latin typeface="에이투지체 8 ExtraBold"/>
                <a:ea typeface="에이투지체 8 ExtraBold"/>
                <a:cs typeface="에이투지체 8 ExtraBold"/>
              </a:rPr>
              <a:t>두드림</a:t>
            </a:r>
            <a:r>
              <a:rPr sz="1900" b="0" dirty="0">
                <a:solidFill>
                  <a:srgbClr val="222222"/>
                </a:solidFill>
                <a:latin typeface="에이투지체 8 ExtraBold"/>
                <a:ea typeface="에이투지체 8 ExtraBold"/>
                <a:cs typeface="에이투지체 8 ExtraBold"/>
              </a:rPr>
              <a:t> </a:t>
            </a:r>
            <a:r>
              <a:rPr sz="1900" b="0" dirty="0" err="1">
                <a:solidFill>
                  <a:srgbClr val="222222"/>
                </a:solidFill>
                <a:latin typeface="에이투지체 8 ExtraBold"/>
                <a:ea typeface="에이투지체 8 ExtraBold"/>
                <a:cs typeface="에이투지체 8 ExtraBold"/>
              </a:rPr>
              <a:t>상품이</a:t>
            </a:r>
            <a:r>
              <a:rPr sz="1900" b="0" dirty="0">
                <a:solidFill>
                  <a:srgbClr val="222222"/>
                </a:solidFill>
                <a:latin typeface="에이투지체 8 ExtraBold"/>
                <a:ea typeface="에이투지체 8 ExtraBold"/>
                <a:cs typeface="에이투지체 8 ExtraBold"/>
              </a:rPr>
              <a:t> </a:t>
            </a:r>
            <a:r>
              <a:rPr sz="1900" b="0" dirty="0" err="1">
                <a:solidFill>
                  <a:srgbClr val="222222"/>
                </a:solidFill>
                <a:latin typeface="에이투지체 8 ExtraBold"/>
                <a:ea typeface="에이투지체 8 ExtraBold"/>
                <a:cs typeface="에이투지체 8 ExtraBold"/>
              </a:rPr>
              <a:t>없습니다</a:t>
            </a:r>
            <a:endParaRPr sz="1900" b="0" dirty="0">
              <a:solidFill>
                <a:srgbClr val="222222"/>
              </a:solidFill>
              <a:latin typeface="에이투지체 8 ExtraBold"/>
              <a:ea typeface="에이투지체 8 ExtraBold"/>
              <a:cs typeface="에이투지체 8 ExtraBold"/>
            </a:endParaRPr>
          </a:p>
        </p:txBody>
      </p:sp>
      <p:sp>
        <p:nvSpPr>
          <p:cNvPr id="4" name="TextBox 3"/>
          <p:cNvSpPr txBox="1"/>
          <p:nvPr/>
        </p:nvSpPr>
        <p:spPr>
          <a:xfrm>
            <a:off x="548640" y="1517904"/>
            <a:ext cx="11064240" cy="36576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100" b="0" dirty="0" err="1">
                <a:solidFill>
                  <a:srgbClr val="5C5C5C"/>
                </a:solidFill>
                <a:latin typeface="에이투지체 5 Medium"/>
                <a:ea typeface="에이투지체 5 Medium"/>
                <a:cs typeface="에이투지체 5 Medium"/>
              </a:rPr>
              <a:t>쿠팡</a:t>
            </a:r>
            <a:r>
              <a:rPr sz="1100" b="0" dirty="0">
                <a:solidFill>
                  <a:srgbClr val="5C5C5C"/>
                </a:solidFill>
                <a:latin typeface="에이투지체 5 Medium"/>
                <a:ea typeface="에이투지체 5 Medium"/>
                <a:cs typeface="에이투지체 5 Medium"/>
              </a:rPr>
              <a:t> </a:t>
            </a:r>
            <a:r>
              <a:rPr sz="1100" b="0" dirty="0" err="1">
                <a:solidFill>
                  <a:srgbClr val="5C5C5C"/>
                </a:solidFill>
                <a:latin typeface="에이투지체 5 Medium"/>
                <a:ea typeface="에이투지체 5 Medium"/>
                <a:cs typeface="에이투지체 5 Medium"/>
              </a:rPr>
              <a:t>현황</a:t>
            </a:r>
            <a:r>
              <a:rPr sz="1100" b="0" dirty="0">
                <a:solidFill>
                  <a:srgbClr val="5C5C5C"/>
                </a:solidFill>
                <a:latin typeface="에이투지체 5 Medium"/>
                <a:ea typeface="에이투지체 5 Medium"/>
                <a:cs typeface="에이투지체 5 Medium"/>
              </a:rPr>
              <a:t> </a:t>
            </a:r>
            <a:r>
              <a:rPr sz="1100" b="0" dirty="0" err="1">
                <a:solidFill>
                  <a:srgbClr val="5C5C5C"/>
                </a:solidFill>
                <a:latin typeface="에이투지체 5 Medium"/>
                <a:ea typeface="에이투지체 5 Medium"/>
                <a:cs typeface="에이투지체 5 Medium"/>
              </a:rPr>
              <a:t>진단</a:t>
            </a:r>
            <a:r>
              <a:rPr sz="1100" b="0" dirty="0">
                <a:solidFill>
                  <a:srgbClr val="5C5C5C"/>
                </a:solidFill>
                <a:latin typeface="에이투지체 5 Medium"/>
                <a:ea typeface="에이투지체 5 Medium"/>
                <a:cs typeface="에이투지체 5 Medium"/>
              </a:rPr>
              <a:t> ②  </a:t>
            </a:r>
            <a:r>
              <a:rPr sz="1100" b="0" dirty="0" err="1">
                <a:solidFill>
                  <a:srgbClr val="5C5C5C"/>
                </a:solidFill>
                <a:latin typeface="에이투지체 5 Medium"/>
                <a:ea typeface="에이투지체 5 Medium"/>
                <a:cs typeface="에이투지체 5 Medium"/>
              </a:rPr>
              <a:t>브랜드</a:t>
            </a:r>
            <a:r>
              <a:rPr sz="1100" b="0" dirty="0">
                <a:solidFill>
                  <a:srgbClr val="5C5C5C"/>
                </a:solidFill>
                <a:latin typeface="에이투지체 5 Medium"/>
                <a:ea typeface="에이투지체 5 Medium"/>
                <a:cs typeface="에이투지체 5 Medium"/>
              </a:rPr>
              <a:t> </a:t>
            </a:r>
            <a:r>
              <a:rPr sz="1100" b="0" dirty="0" err="1">
                <a:solidFill>
                  <a:srgbClr val="5C5C5C"/>
                </a:solidFill>
                <a:latin typeface="에이투지체 5 Medium"/>
                <a:ea typeface="에이투지체 5 Medium"/>
                <a:cs typeface="에이투지체 5 Medium"/>
              </a:rPr>
              <a:t>검색어</a:t>
            </a:r>
            <a:endParaRPr sz="1100" b="0" dirty="0">
              <a:solidFill>
                <a:srgbClr val="5C5C5C"/>
              </a:solidFill>
              <a:latin typeface="에이투지체 5 Medium"/>
              <a:ea typeface="에이투지체 5 Medium"/>
              <a:cs typeface="에이투지체 5 Medium"/>
            </a:endParaRPr>
          </a:p>
        </p:txBody>
      </p:sp>
      <p:sp>
        <p:nvSpPr>
          <p:cNvPr id="5" name="Rounded Rectangle 4"/>
          <p:cNvSpPr/>
          <p:nvPr/>
        </p:nvSpPr>
        <p:spPr>
          <a:xfrm>
            <a:off x="548640" y="5577840"/>
            <a:ext cx="11064240" cy="438912"/>
          </a:xfrm>
          <a:prstGeom prst="roundRect">
            <a:avLst>
              <a:gd name="adj" fmla="val 16666"/>
            </a:avLst>
          </a:prstGeom>
          <a:solidFill>
            <a:srgbClr val="EAF2FB"/>
          </a:solidFill>
          <a:ln w="9525">
            <a:solidFill>
              <a:srgbClr val="004F9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740664" y="5632704"/>
            <a:ext cx="10671048" cy="347472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1350" b="0">
                <a:solidFill>
                  <a:srgbClr val="004F9F"/>
                </a:solidFill>
                <a:latin typeface="에이투지체 6 SemiBold"/>
                <a:ea typeface="에이투지체 6 SemiBold"/>
                <a:cs typeface="에이투지체 6 SemiBold"/>
              </a:rPr>
              <a:t>브랜드 검색어 광고를 유지하면서, 경쟁사 브랜드 검색어도 제외하지 않고 성과를 보겠습니다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6089904"/>
            <a:ext cx="1106424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850" b="0">
                <a:solidFill>
                  <a:srgbClr val="919191"/>
                </a:solidFill>
                <a:latin typeface="에이투지체 3 Light"/>
                <a:ea typeface="에이투지체 3 Light"/>
                <a:cs typeface="에이투지체 3 Light"/>
              </a:rPr>
              <a:t>2026.10.13 쿠팡 PC 검색 화면 기준 (비로그인). 검색 결과는 새로고침, 사용자별로 달라짐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6473952"/>
            <a:ext cx="420624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800" b="0">
                <a:solidFill>
                  <a:srgbClr val="919191"/>
                </a:solidFill>
                <a:latin typeface="에이투지체 3 Light"/>
                <a:ea typeface="에이투지체 3 Light"/>
                <a:cs typeface="에이투지체 3 Light"/>
              </a:rPr>
              <a:t>DODREAM B&amp;B AD PROPOSAL · 2026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138160" y="6473952"/>
            <a:ext cx="301752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/>
            <a:r>
              <a:rPr sz="800" b="0">
                <a:solidFill>
                  <a:srgbClr val="919191"/>
                </a:solidFill>
                <a:latin typeface="에이투지체 3 Light"/>
                <a:ea typeface="에이투지체 3 Light"/>
                <a:cs typeface="에이투지체 3 Light"/>
              </a:rPr>
              <a:t>LINKPRICE · BRAND AD CENTER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292840" y="6473952"/>
            <a:ext cx="36576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/>
            <a:r>
              <a:rPr sz="800" b="0">
                <a:solidFill>
                  <a:srgbClr val="222222"/>
                </a:solidFill>
                <a:latin typeface="에이투지체 6 SemiBold"/>
                <a:ea typeface="에이투지체 6 SemiBold"/>
                <a:cs typeface="에이투지체 6 SemiBold"/>
              </a:rPr>
              <a:t>34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48640" y="1993392"/>
            <a:ext cx="5760720" cy="29260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250" b="0">
                <a:solidFill>
                  <a:srgbClr val="004F9F"/>
                </a:solidFill>
                <a:latin typeface="에이투지체 8 ExtraBold"/>
                <a:ea typeface="에이투지체 8 ExtraBold"/>
                <a:cs typeface="에이투지체 8 ExtraBold"/>
              </a:rPr>
              <a:t>자사 브랜드  </a:t>
            </a:r>
            <a:r>
              <a:rPr sz="1250" b="0">
                <a:solidFill>
                  <a:srgbClr val="222222"/>
                </a:solidFill>
                <a:latin typeface="에이투지체 6 SemiBold"/>
                <a:ea typeface="에이투지체 6 SemiBold"/>
                <a:cs typeface="에이투지체 6 SemiBold"/>
              </a:rPr>
              <a:t>"아이클타임" 검색 결과, 첫 줄에 키움정 광고</a:t>
            </a:r>
          </a:p>
        </p:txBody>
      </p:sp>
      <p:pic>
        <p:nvPicPr>
          <p:cNvPr id="12" name="Picture 11" descr="aicl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2331720"/>
            <a:ext cx="5760720" cy="3174136"/>
          </a:xfrm>
          <a:prstGeom prst="rect">
            <a:avLst/>
          </a:prstGeom>
          <a:ln w="9525">
            <a:solidFill>
              <a:srgbClr val="DDDDDD"/>
            </a:solidFill>
          </a:ln>
        </p:spPr>
      </p:pic>
      <p:sp>
        <p:nvSpPr>
          <p:cNvPr id="13" name="TextBox 12"/>
          <p:cNvSpPr txBox="1"/>
          <p:nvPr/>
        </p:nvSpPr>
        <p:spPr>
          <a:xfrm>
            <a:off x="6583680" y="1993392"/>
            <a:ext cx="5029200" cy="29260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250" b="0">
                <a:solidFill>
                  <a:srgbClr val="004F9F"/>
                </a:solidFill>
                <a:latin typeface="에이투지체 8 ExtraBold"/>
                <a:ea typeface="에이투지체 8 ExtraBold"/>
                <a:cs typeface="에이투지체 8 ExtraBold"/>
              </a:rPr>
              <a:t>경쟁사 브랜드  </a:t>
            </a:r>
            <a:r>
              <a:rPr sz="1250" b="0">
                <a:solidFill>
                  <a:srgbClr val="222222"/>
                </a:solidFill>
                <a:latin typeface="에이투지체 6 SemiBold"/>
                <a:ea typeface="에이투지체 6 SemiBold"/>
                <a:cs typeface="에이투지체 6 SemiBold"/>
              </a:rPr>
              <a:t>두드림 노출 없음</a:t>
            </a:r>
          </a:p>
        </p:txBody>
      </p:sp>
      <p:pic>
        <p:nvPicPr>
          <p:cNvPr id="14" name="Picture 13" descr="kium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583680" y="2331720"/>
            <a:ext cx="2697480" cy="1503566"/>
          </a:xfrm>
          <a:prstGeom prst="rect">
            <a:avLst/>
          </a:prstGeom>
          <a:ln w="9525">
            <a:solidFill>
              <a:srgbClr val="DDDDDD"/>
            </a:solidFill>
          </a:ln>
        </p:spPr>
      </p:pic>
      <p:sp>
        <p:nvSpPr>
          <p:cNvPr id="15" name="TextBox 14"/>
          <p:cNvSpPr txBox="1"/>
          <p:nvPr/>
        </p:nvSpPr>
        <p:spPr>
          <a:xfrm>
            <a:off x="9464040" y="2606039"/>
            <a:ext cx="2148840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250" b="0">
                <a:solidFill>
                  <a:srgbClr val="222222"/>
                </a:solidFill>
                <a:latin typeface="에이투지체 8 ExtraBold"/>
                <a:ea typeface="에이투지체 8 ExtraBold"/>
                <a:cs typeface="에이투지체 8 ExtraBold"/>
              </a:rPr>
              <a:t>"키움정" 검색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9464040" y="2953512"/>
            <a:ext cx="2148840" cy="5486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150" b="0">
                <a:solidFill>
                  <a:srgbClr val="5C5C5C"/>
                </a:solidFill>
                <a:latin typeface="에이투지체 4 Regular"/>
                <a:ea typeface="에이투지체 4 Regular"/>
                <a:cs typeface="에이투지체 4 Regular"/>
              </a:rPr>
              <a:t>첫 화면 전부 키움정</a:t>
            </a:r>
          </a:p>
        </p:txBody>
      </p:sp>
      <p:pic>
        <p:nvPicPr>
          <p:cNvPr id="17" name="Picture 16" descr="howtoki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583680" y="3931920"/>
            <a:ext cx="2697480" cy="1490971"/>
          </a:xfrm>
          <a:prstGeom prst="rect">
            <a:avLst/>
          </a:prstGeom>
          <a:ln w="9525">
            <a:solidFill>
              <a:srgbClr val="DDDDDD"/>
            </a:solidFill>
          </a:ln>
        </p:spPr>
      </p:pic>
      <p:sp>
        <p:nvSpPr>
          <p:cNvPr id="18" name="TextBox 17"/>
          <p:cNvSpPr txBox="1"/>
          <p:nvPr/>
        </p:nvSpPr>
        <p:spPr>
          <a:xfrm>
            <a:off x="9464040" y="4206240"/>
            <a:ext cx="2148840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250" b="0">
                <a:solidFill>
                  <a:srgbClr val="222222"/>
                </a:solidFill>
                <a:latin typeface="에이투지체 8 ExtraBold"/>
                <a:ea typeface="에이투지체 8 ExtraBold"/>
                <a:cs typeface="에이투지체 8 ExtraBold"/>
              </a:rPr>
              <a:t>"하우투키" 검색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9464040" y="4553712"/>
            <a:ext cx="2148840" cy="5486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150" b="0">
                <a:solidFill>
                  <a:srgbClr val="5C5C5C"/>
                </a:solidFill>
                <a:latin typeface="에이투지체 4 Regular"/>
                <a:ea typeface="에이투지체 4 Regular"/>
                <a:cs typeface="에이투지체 4 Regular"/>
              </a:rPr>
              <a:t>젬, 키앤이거 광고 노출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48640" y="347472"/>
            <a:ext cx="8229600" cy="27432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900" b="0" spc="100">
                <a:solidFill>
                  <a:srgbClr val="004F9F"/>
                </a:solidFill>
                <a:latin typeface="에이투지체 6 SemiBold"/>
                <a:ea typeface="에이투지체 6 SemiBold"/>
                <a:cs typeface="에이투지체 6 SemiBold"/>
              </a:rPr>
              <a:t>PART 2 · 11월 마케팅 전략 · 미디어믹스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658368"/>
            <a:ext cx="11064240" cy="86868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>
              <a:lnSpc>
                <a:spcPts val="2600"/>
              </a:lnSpc>
            </a:pPr>
            <a:r>
              <a:rPr sz="1900" b="0" dirty="0" err="1">
                <a:solidFill>
                  <a:srgbClr val="FFFFFF"/>
                </a:solidFill>
                <a:highlight>
                  <a:srgbClr val="0000FF"/>
                </a:highlight>
                <a:latin typeface="에이투지체 8 ExtraBold"/>
                <a:ea typeface="에이투지체 8 ExtraBold"/>
                <a:cs typeface="에이투지체 8 ExtraBold"/>
              </a:rPr>
              <a:t>대표</a:t>
            </a:r>
            <a:r>
              <a:rPr sz="1900" b="0" dirty="0">
                <a:solidFill>
                  <a:srgbClr val="FFFFFF"/>
                </a:solidFill>
                <a:highlight>
                  <a:srgbClr val="0000FF"/>
                </a:highlight>
                <a:latin typeface="에이투지체 8 ExtraBold"/>
                <a:ea typeface="에이투지체 8 ExtraBold"/>
                <a:cs typeface="에이투지체 8 ExtraBold"/>
              </a:rPr>
              <a:t> </a:t>
            </a:r>
            <a:r>
              <a:rPr sz="1900" b="0" dirty="0" err="1">
                <a:solidFill>
                  <a:srgbClr val="FFFFFF"/>
                </a:solidFill>
                <a:highlight>
                  <a:srgbClr val="0000FF"/>
                </a:highlight>
                <a:latin typeface="에이투지체 8 ExtraBold"/>
                <a:ea typeface="에이투지체 8 ExtraBold"/>
                <a:cs typeface="에이투지체 8 ExtraBold"/>
              </a:rPr>
              <a:t>검색어</a:t>
            </a:r>
            <a:r>
              <a:rPr sz="1900" b="0" dirty="0">
                <a:solidFill>
                  <a:srgbClr val="FFFFFF"/>
                </a:solidFill>
                <a:highlight>
                  <a:srgbClr val="0000FF"/>
                </a:highlight>
                <a:latin typeface="에이투지체 8 ExtraBold"/>
                <a:ea typeface="에이투지체 8 ExtraBold"/>
                <a:cs typeface="에이투지체 8 ExtraBold"/>
              </a:rPr>
              <a:t> 3개</a:t>
            </a:r>
            <a:r>
              <a:rPr sz="1900" b="0" dirty="0">
                <a:solidFill>
                  <a:srgbClr val="222222"/>
                </a:solidFill>
                <a:latin typeface="에이투지체 8 ExtraBold"/>
                <a:ea typeface="에이투지체 8 ExtraBold"/>
                <a:cs typeface="에이투지체 8 ExtraBold"/>
              </a:rPr>
              <a:t> </a:t>
            </a:r>
            <a:r>
              <a:rPr sz="1900" b="0" dirty="0" err="1">
                <a:solidFill>
                  <a:srgbClr val="222222"/>
                </a:solidFill>
                <a:latin typeface="에이투지체 8 ExtraBold"/>
                <a:ea typeface="에이투지체 8 ExtraBold"/>
                <a:cs typeface="에이투지체 8 ExtraBold"/>
              </a:rPr>
              <a:t>모두</a:t>
            </a:r>
            <a:endParaRPr sz="1900" b="0" dirty="0">
              <a:solidFill>
                <a:srgbClr val="222222"/>
              </a:solidFill>
              <a:latin typeface="에이투지체 8 ExtraBold"/>
              <a:ea typeface="에이투지체 8 ExtraBold"/>
              <a:cs typeface="에이투지체 8 ExtraBold"/>
            </a:endParaRPr>
          </a:p>
          <a:p>
            <a:pPr>
              <a:lnSpc>
                <a:spcPts val="2600"/>
              </a:lnSpc>
            </a:pPr>
            <a:r>
              <a:rPr lang="ko-KR" altLang="en-US" sz="1900" b="0" dirty="0">
                <a:solidFill>
                  <a:srgbClr val="222222"/>
                </a:solidFill>
                <a:latin typeface="에이투지체 8 ExtraBold"/>
                <a:ea typeface="에이투지체 8 ExtraBold"/>
                <a:cs typeface="에이투지체 8 ExtraBold"/>
              </a:rPr>
              <a:t>검색 결과 </a:t>
            </a:r>
            <a:r>
              <a:rPr sz="1900" b="0" dirty="0">
                <a:solidFill>
                  <a:srgbClr val="222222"/>
                </a:solidFill>
                <a:latin typeface="에이투지체 8 ExtraBold"/>
                <a:ea typeface="에이투지체 8 ExtraBold"/>
                <a:cs typeface="에이투지체 8 ExtraBold"/>
              </a:rPr>
              <a:t>첫 </a:t>
            </a:r>
            <a:r>
              <a:rPr lang="ko-KR" altLang="en-US" sz="1900" b="0" dirty="0">
                <a:solidFill>
                  <a:srgbClr val="222222"/>
                </a:solidFill>
                <a:latin typeface="에이투지체 8 ExtraBold"/>
                <a:ea typeface="에이투지체 8 ExtraBold"/>
                <a:cs typeface="에이투지체 8 ExtraBold"/>
              </a:rPr>
              <a:t>페이지</a:t>
            </a:r>
            <a:r>
              <a:rPr sz="1900" b="0" dirty="0">
                <a:solidFill>
                  <a:srgbClr val="222222"/>
                </a:solidFill>
                <a:latin typeface="에이투지체 8 ExtraBold"/>
                <a:ea typeface="에이투지체 8 ExtraBold"/>
                <a:cs typeface="에이투지체 8 ExtraBold"/>
              </a:rPr>
              <a:t>에 </a:t>
            </a:r>
            <a:r>
              <a:rPr sz="1900" b="0" dirty="0" err="1">
                <a:solidFill>
                  <a:srgbClr val="222222"/>
                </a:solidFill>
                <a:latin typeface="에이투지체 8 ExtraBold"/>
                <a:ea typeface="에이투지체 8 ExtraBold"/>
                <a:cs typeface="에이투지체 8 ExtraBold"/>
              </a:rPr>
              <a:t>두드림</a:t>
            </a:r>
            <a:r>
              <a:rPr sz="1900" b="0" dirty="0">
                <a:solidFill>
                  <a:srgbClr val="222222"/>
                </a:solidFill>
                <a:latin typeface="에이투지체 8 ExtraBold"/>
                <a:ea typeface="에이투지체 8 ExtraBold"/>
                <a:cs typeface="에이투지체 8 ExtraBold"/>
              </a:rPr>
              <a:t> </a:t>
            </a:r>
            <a:r>
              <a:rPr sz="1900" b="0" dirty="0" err="1">
                <a:solidFill>
                  <a:srgbClr val="222222"/>
                </a:solidFill>
                <a:latin typeface="에이투지체 8 ExtraBold"/>
                <a:ea typeface="에이투지체 8 ExtraBold"/>
                <a:cs typeface="에이투지체 8 ExtraBold"/>
              </a:rPr>
              <a:t>상품이</a:t>
            </a:r>
            <a:r>
              <a:rPr sz="1900" b="0" dirty="0">
                <a:solidFill>
                  <a:srgbClr val="222222"/>
                </a:solidFill>
                <a:latin typeface="에이투지체 8 ExtraBold"/>
                <a:ea typeface="에이투지체 8 ExtraBold"/>
                <a:cs typeface="에이투지체 8 ExtraBold"/>
              </a:rPr>
              <a:t> </a:t>
            </a:r>
            <a:r>
              <a:rPr sz="1900" b="0" dirty="0" err="1">
                <a:solidFill>
                  <a:srgbClr val="222222"/>
                </a:solidFill>
                <a:latin typeface="에이투지체 8 ExtraBold"/>
                <a:ea typeface="에이투지체 8 ExtraBold"/>
                <a:cs typeface="에이투지체 8 ExtraBold"/>
              </a:rPr>
              <a:t>없습니다</a:t>
            </a:r>
            <a:endParaRPr sz="1900" b="0" dirty="0">
              <a:solidFill>
                <a:srgbClr val="222222"/>
              </a:solidFill>
              <a:latin typeface="에이투지체 8 ExtraBold"/>
              <a:ea typeface="에이투지체 8 ExtraBold"/>
              <a:cs typeface="에이투지체 8 ExtraBold"/>
            </a:endParaRPr>
          </a:p>
        </p:txBody>
      </p:sp>
      <p:sp>
        <p:nvSpPr>
          <p:cNvPr id="4" name="TextBox 3"/>
          <p:cNvSpPr txBox="1"/>
          <p:nvPr/>
        </p:nvSpPr>
        <p:spPr>
          <a:xfrm>
            <a:off x="548640" y="1517904"/>
            <a:ext cx="11064240" cy="36576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100" b="0" dirty="0" err="1">
                <a:solidFill>
                  <a:srgbClr val="5C5C5C"/>
                </a:solidFill>
                <a:latin typeface="에이투지체 5 Medium"/>
                <a:ea typeface="에이투지체 5 Medium"/>
                <a:cs typeface="에이투지체 5 Medium"/>
              </a:rPr>
              <a:t>쿠팡</a:t>
            </a:r>
            <a:r>
              <a:rPr sz="1100" b="0" dirty="0">
                <a:solidFill>
                  <a:srgbClr val="5C5C5C"/>
                </a:solidFill>
                <a:latin typeface="에이투지체 5 Medium"/>
                <a:ea typeface="에이투지체 5 Medium"/>
                <a:cs typeface="에이투지체 5 Medium"/>
              </a:rPr>
              <a:t> </a:t>
            </a:r>
            <a:r>
              <a:rPr sz="1100" b="0" dirty="0" err="1">
                <a:solidFill>
                  <a:srgbClr val="5C5C5C"/>
                </a:solidFill>
                <a:latin typeface="에이투지체 5 Medium"/>
                <a:ea typeface="에이투지체 5 Medium"/>
                <a:cs typeface="에이투지체 5 Medium"/>
              </a:rPr>
              <a:t>현황</a:t>
            </a:r>
            <a:r>
              <a:rPr sz="1100" b="0" dirty="0">
                <a:solidFill>
                  <a:srgbClr val="5C5C5C"/>
                </a:solidFill>
                <a:latin typeface="에이투지체 5 Medium"/>
                <a:ea typeface="에이투지체 5 Medium"/>
                <a:cs typeface="에이투지체 5 Medium"/>
              </a:rPr>
              <a:t> </a:t>
            </a:r>
            <a:r>
              <a:rPr sz="1100" b="0" err="1">
                <a:solidFill>
                  <a:srgbClr val="5C5C5C"/>
                </a:solidFill>
                <a:latin typeface="에이투지체 5 Medium"/>
                <a:ea typeface="에이투지체 5 Medium"/>
                <a:cs typeface="에이투지체 5 Medium"/>
              </a:rPr>
              <a:t>진단</a:t>
            </a:r>
            <a:r>
              <a:rPr sz="1100" b="0">
                <a:solidFill>
                  <a:srgbClr val="5C5C5C"/>
                </a:solidFill>
                <a:latin typeface="에이투지체 5 Medium"/>
                <a:ea typeface="에이투지체 5 Medium"/>
                <a:cs typeface="에이투지체 5 Medium"/>
              </a:rPr>
              <a:t> ③  </a:t>
            </a:r>
            <a:r>
              <a:rPr sz="1100" b="0" dirty="0" err="1">
                <a:solidFill>
                  <a:srgbClr val="5C5C5C"/>
                </a:solidFill>
                <a:latin typeface="에이투지체 5 Medium"/>
                <a:ea typeface="에이투지체 5 Medium"/>
                <a:cs typeface="에이투지체 5 Medium"/>
              </a:rPr>
              <a:t>대표</a:t>
            </a:r>
            <a:r>
              <a:rPr sz="1100" b="0" dirty="0">
                <a:solidFill>
                  <a:srgbClr val="5C5C5C"/>
                </a:solidFill>
                <a:latin typeface="에이투지체 5 Medium"/>
                <a:ea typeface="에이투지체 5 Medium"/>
                <a:cs typeface="에이투지체 5 Medium"/>
              </a:rPr>
              <a:t> </a:t>
            </a:r>
            <a:r>
              <a:rPr sz="1100" b="0" dirty="0" err="1">
                <a:solidFill>
                  <a:srgbClr val="5C5C5C"/>
                </a:solidFill>
                <a:latin typeface="에이투지체 5 Medium"/>
                <a:ea typeface="에이투지체 5 Medium"/>
                <a:cs typeface="에이투지체 5 Medium"/>
              </a:rPr>
              <a:t>검색어</a:t>
            </a:r>
            <a:endParaRPr sz="1100" b="0" dirty="0">
              <a:solidFill>
                <a:srgbClr val="5C5C5C"/>
              </a:solidFill>
              <a:latin typeface="에이투지체 5 Medium"/>
              <a:ea typeface="에이투지체 5 Medium"/>
              <a:cs typeface="에이투지체 5 Medium"/>
            </a:endParaRPr>
          </a:p>
        </p:txBody>
      </p:sp>
      <p:sp>
        <p:nvSpPr>
          <p:cNvPr id="5" name="Rounded Rectangle 4"/>
          <p:cNvSpPr/>
          <p:nvPr/>
        </p:nvSpPr>
        <p:spPr>
          <a:xfrm>
            <a:off x="548640" y="5577840"/>
            <a:ext cx="11064240" cy="438912"/>
          </a:xfrm>
          <a:prstGeom prst="roundRect">
            <a:avLst>
              <a:gd name="adj" fmla="val 16666"/>
            </a:avLst>
          </a:prstGeom>
          <a:solidFill>
            <a:srgbClr val="EAF2FB"/>
          </a:solidFill>
          <a:ln w="9525">
            <a:solidFill>
              <a:srgbClr val="004F9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740664" y="5632704"/>
            <a:ext cx="10671048" cy="347472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1350" b="0">
                <a:solidFill>
                  <a:srgbClr val="004F9F"/>
                </a:solidFill>
                <a:latin typeface="에이투지체 6 SemiBold"/>
                <a:ea typeface="에이투지체 6 SemiBold"/>
                <a:cs typeface="에이투지체 6 SemiBold"/>
              </a:rPr>
              <a:t>대표 검색어는 리뷰가 많은 FGO·카무트 위주로 광고하고, 목표 ROAS와 예산을 조정해 노출을 늘리겠습니다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6089904"/>
            <a:ext cx="1106424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850" b="0">
                <a:solidFill>
                  <a:srgbClr val="919191"/>
                </a:solidFill>
                <a:latin typeface="에이투지체 3 Light"/>
                <a:ea typeface="에이투지체 3 Light"/>
                <a:cs typeface="에이투지체 3 Light"/>
              </a:rPr>
              <a:t>2026.10.13 쿠팡 PC 검색 화면 기준 (비로그인). 검색 결과는 새로고침, 사용자별로 달라짐 / 괄호는 리뷰 수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6473952"/>
            <a:ext cx="420624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800" b="0">
                <a:solidFill>
                  <a:srgbClr val="919191"/>
                </a:solidFill>
                <a:latin typeface="에이투지체 3 Light"/>
                <a:ea typeface="에이투지체 3 Light"/>
                <a:cs typeface="에이투지체 3 Light"/>
              </a:rPr>
              <a:t>DODREAM B&amp;B AD PROPOSAL · 2026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138160" y="6473952"/>
            <a:ext cx="301752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/>
            <a:r>
              <a:rPr sz="800" b="0">
                <a:solidFill>
                  <a:srgbClr val="919191"/>
                </a:solidFill>
                <a:latin typeface="에이투지체 3 Light"/>
                <a:ea typeface="에이투지체 3 Light"/>
                <a:cs typeface="에이투지체 3 Light"/>
              </a:rPr>
              <a:t>LINKPRICE · BRAND AD CENTER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292840" y="6473952"/>
            <a:ext cx="36576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/>
            <a:r>
              <a:rPr sz="800" b="0">
                <a:solidFill>
                  <a:srgbClr val="222222"/>
                </a:solidFill>
                <a:latin typeface="에이투지체 6 SemiBold"/>
                <a:ea typeface="에이투지체 6 SemiBold"/>
                <a:cs typeface="에이투지체 6 SemiBold"/>
              </a:rPr>
              <a:t>35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48640" y="1993392"/>
            <a:ext cx="3566160" cy="29260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250" b="0">
                <a:solidFill>
                  <a:srgbClr val="004F9F"/>
                </a:solidFill>
                <a:latin typeface="에이투지체 8 ExtraBold"/>
                <a:ea typeface="에이투지체 8 ExtraBold"/>
                <a:cs typeface="에이투지체 8 ExtraBold"/>
              </a:rPr>
              <a:t>"키성장영양제"  </a:t>
            </a:r>
            <a:r>
              <a:rPr sz="1250" b="0">
                <a:solidFill>
                  <a:srgbClr val="222222"/>
                </a:solidFill>
                <a:latin typeface="에이투지체 6 SemiBold"/>
                <a:ea typeface="에이투지체 6 SemiBold"/>
                <a:cs typeface="에이투지체 6 SemiBold"/>
              </a:rPr>
              <a:t>두드림 미노출</a:t>
            </a:r>
          </a:p>
        </p:txBody>
      </p:sp>
      <p:pic>
        <p:nvPicPr>
          <p:cNvPr id="12" name="Picture 11" descr="kisj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2331720"/>
            <a:ext cx="3566160" cy="1912531"/>
          </a:xfrm>
          <a:prstGeom prst="rect">
            <a:avLst/>
          </a:prstGeom>
          <a:ln w="9525">
            <a:solidFill>
              <a:srgbClr val="DDDDDD"/>
            </a:solidFill>
          </a:ln>
        </p:spPr>
      </p:pic>
      <p:sp>
        <p:nvSpPr>
          <p:cNvPr id="13" name="TextBox 12"/>
          <p:cNvSpPr txBox="1"/>
          <p:nvPr/>
        </p:nvSpPr>
        <p:spPr>
          <a:xfrm>
            <a:off x="548640" y="4434840"/>
            <a:ext cx="3566160" cy="10515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000" b="0">
                <a:solidFill>
                  <a:srgbClr val="004F9F"/>
                </a:solidFill>
                <a:latin typeface="에이투지체 6 SemiBold"/>
                <a:ea typeface="에이투지체 6 SemiBold"/>
                <a:cs typeface="에이투지체 6 SemiBold"/>
              </a:rPr>
              <a:t>광고  </a:t>
            </a:r>
            <a:r>
              <a:rPr sz="1000" b="0">
                <a:solidFill>
                  <a:srgbClr val="222222"/>
                </a:solidFill>
                <a:latin typeface="에이투지체 4 Regular"/>
                <a:ea typeface="에이투지체 4 Regular"/>
                <a:cs typeface="에이투지체 4 Regular"/>
              </a:rPr>
              <a:t>키움정, 키앤이거, 드림톨, 센치엘, 하이크니</a:t>
            </a:r>
          </a:p>
          <a:p>
            <a:pPr algn="l">
              <a:spcAft>
                <a:spcPts val="400"/>
              </a:spcAft>
            </a:pPr>
            <a:r>
              <a:rPr sz="1000" b="0">
                <a:solidFill>
                  <a:srgbClr val="004F9F"/>
                </a:solidFill>
                <a:latin typeface="에이투지체 6 SemiBold"/>
                <a:ea typeface="에이투지체 6 SemiBold"/>
                <a:cs typeface="에이투지체 6 SemiBold"/>
              </a:rPr>
              <a:t>랭킹  </a:t>
            </a:r>
            <a:r>
              <a:rPr sz="1000" b="0">
                <a:solidFill>
                  <a:srgbClr val="222222"/>
                </a:solidFill>
                <a:latin typeface="에이투지체 4 Regular"/>
                <a:ea typeface="에이투지체 4 Regular"/>
                <a:cs typeface="에이투지체 4 Regular"/>
              </a:rPr>
              <a:t>키앤이거 (2,750), 골밀도 강화 (60), 키클레오 (100)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297679" y="1993392"/>
            <a:ext cx="3566160" cy="29260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250" b="0">
                <a:solidFill>
                  <a:srgbClr val="004F9F"/>
                </a:solidFill>
                <a:latin typeface="에이투지체 8 ExtraBold"/>
                <a:ea typeface="에이투지체 8 ExtraBold"/>
                <a:cs typeface="에이투지체 8 ExtraBold"/>
              </a:rPr>
              <a:t>"키크는영양제"  </a:t>
            </a:r>
            <a:r>
              <a:rPr sz="1250" b="0">
                <a:solidFill>
                  <a:srgbClr val="222222"/>
                </a:solidFill>
                <a:latin typeface="에이투지체 6 SemiBold"/>
                <a:ea typeface="에이투지체 6 SemiBold"/>
                <a:cs typeface="에이투지체 6 SemiBold"/>
              </a:rPr>
              <a:t>두드림 미노출</a:t>
            </a:r>
          </a:p>
        </p:txBody>
      </p:sp>
      <p:pic>
        <p:nvPicPr>
          <p:cNvPr id="15" name="Picture 14" descr="kikeun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297679" y="2331720"/>
            <a:ext cx="3566160" cy="1990193"/>
          </a:xfrm>
          <a:prstGeom prst="rect">
            <a:avLst/>
          </a:prstGeom>
          <a:ln w="9525">
            <a:solidFill>
              <a:srgbClr val="DDDDDD"/>
            </a:solidFill>
          </a:ln>
        </p:spPr>
      </p:pic>
      <p:sp>
        <p:nvSpPr>
          <p:cNvPr id="16" name="TextBox 15"/>
          <p:cNvSpPr txBox="1"/>
          <p:nvPr/>
        </p:nvSpPr>
        <p:spPr>
          <a:xfrm>
            <a:off x="4297679" y="4434840"/>
            <a:ext cx="3566160" cy="10515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000" b="0">
                <a:solidFill>
                  <a:srgbClr val="004F9F"/>
                </a:solidFill>
                <a:latin typeface="에이투지체 6 SemiBold"/>
                <a:ea typeface="에이투지체 6 SemiBold"/>
                <a:cs typeface="에이투지체 6 SemiBold"/>
              </a:rPr>
              <a:t>광고  </a:t>
            </a:r>
            <a:r>
              <a:rPr sz="1000" b="0">
                <a:solidFill>
                  <a:srgbClr val="222222"/>
                </a:solidFill>
                <a:latin typeface="에이투지체 4 Regular"/>
                <a:ea typeface="에이투지체 4 Regular"/>
                <a:cs typeface="에이투지체 4 Regular"/>
              </a:rPr>
              <a:t>키앤이거, 키움정, 드림톨, 펜트로반</a:t>
            </a:r>
          </a:p>
          <a:p>
            <a:pPr algn="l">
              <a:spcAft>
                <a:spcPts val="400"/>
              </a:spcAft>
            </a:pPr>
            <a:r>
              <a:rPr sz="1000" b="0">
                <a:solidFill>
                  <a:srgbClr val="004F9F"/>
                </a:solidFill>
                <a:latin typeface="에이투지체 6 SemiBold"/>
                <a:ea typeface="에이투지체 6 SemiBold"/>
                <a:cs typeface="에이투지체 6 SemiBold"/>
              </a:rPr>
              <a:t>랭킹  </a:t>
            </a:r>
            <a:r>
              <a:rPr sz="1000" b="0">
                <a:solidFill>
                  <a:srgbClr val="222222"/>
                </a:solidFill>
                <a:latin typeface="에이투지체 4 Regular"/>
                <a:ea typeface="에이투지체 4 Regular"/>
                <a:cs typeface="에이투지체 4 Regular"/>
              </a:rPr>
              <a:t>키클레오 (100), 알파이 (1,251), 키초스틱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046719" y="1993392"/>
            <a:ext cx="3566160" cy="29260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250" b="0">
                <a:solidFill>
                  <a:srgbClr val="004F9F"/>
                </a:solidFill>
                <a:latin typeface="에이투지체 8 ExtraBold"/>
                <a:ea typeface="에이투지체 8 ExtraBold"/>
                <a:cs typeface="에이투지체 8 ExtraBold"/>
              </a:rPr>
              <a:t>"카무트효소"  </a:t>
            </a:r>
            <a:r>
              <a:rPr sz="1250" b="0">
                <a:solidFill>
                  <a:srgbClr val="222222"/>
                </a:solidFill>
                <a:latin typeface="에이투지체 6 SemiBold"/>
                <a:ea typeface="에이투지체 6 SemiBold"/>
                <a:cs typeface="에이투지체 6 SemiBold"/>
              </a:rPr>
              <a:t>두드림 미노출</a:t>
            </a:r>
          </a:p>
        </p:txBody>
      </p:sp>
      <p:pic>
        <p:nvPicPr>
          <p:cNvPr id="18" name="Picture 17" descr="kamut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046719" y="2331720"/>
            <a:ext cx="3566160" cy="1988404"/>
          </a:xfrm>
          <a:prstGeom prst="rect">
            <a:avLst/>
          </a:prstGeom>
          <a:ln w="9525">
            <a:solidFill>
              <a:srgbClr val="DDDDDD"/>
            </a:solidFill>
          </a:ln>
        </p:spPr>
      </p:pic>
      <p:sp>
        <p:nvSpPr>
          <p:cNvPr id="19" name="TextBox 18"/>
          <p:cNvSpPr txBox="1"/>
          <p:nvPr/>
        </p:nvSpPr>
        <p:spPr>
          <a:xfrm>
            <a:off x="8046719" y="4434840"/>
            <a:ext cx="3566160" cy="10515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000" b="0">
                <a:solidFill>
                  <a:srgbClr val="004F9F"/>
                </a:solidFill>
                <a:latin typeface="에이투지체 6 SemiBold"/>
                <a:ea typeface="에이투지체 6 SemiBold"/>
                <a:cs typeface="에이투지체 6 SemiBold"/>
              </a:rPr>
              <a:t>광고  </a:t>
            </a:r>
            <a:r>
              <a:rPr sz="1000" b="0">
                <a:solidFill>
                  <a:srgbClr val="222222"/>
                </a:solidFill>
                <a:latin typeface="에이투지체 4 Regular"/>
                <a:ea typeface="에이투지체 4 Regular"/>
                <a:cs typeface="에이투지체 4 Regular"/>
              </a:rPr>
              <a:t>여에스더, 비타민마을, 정품 골든, 동국제약, SSF</a:t>
            </a:r>
          </a:p>
          <a:p>
            <a:pPr algn="l">
              <a:spcAft>
                <a:spcPts val="400"/>
              </a:spcAft>
            </a:pPr>
            <a:r>
              <a:rPr sz="1000" b="0">
                <a:solidFill>
                  <a:srgbClr val="004F9F"/>
                </a:solidFill>
                <a:latin typeface="에이투지체 6 SemiBold"/>
                <a:ea typeface="에이투지체 6 SemiBold"/>
                <a:cs typeface="에이투지체 6 SemiBold"/>
              </a:rPr>
              <a:t>랭킹  </a:t>
            </a:r>
            <a:r>
              <a:rPr sz="1000" b="0">
                <a:solidFill>
                  <a:srgbClr val="222222"/>
                </a:solidFill>
                <a:latin typeface="에이투지체 4 Regular"/>
                <a:ea typeface="에이투지체 4 Regular"/>
                <a:cs typeface="에이투지체 4 Regular"/>
              </a:rPr>
              <a:t>골드 카무트 MAX (1,226), 카무트 골드G (14,664), 그레인온 (3,644)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48640" y="347472"/>
            <a:ext cx="8229600" cy="27432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900" b="0" spc="100">
                <a:solidFill>
                  <a:srgbClr val="004F9F"/>
                </a:solidFill>
                <a:latin typeface="에이투지체 6 SemiBold"/>
                <a:ea typeface="에이투지체 6 SemiBold"/>
                <a:cs typeface="에이투지체 6 SemiBold"/>
              </a:rPr>
              <a:t>PART 2 · 11월 마케팅 전략 · 미디어믹스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658368"/>
            <a:ext cx="11064240" cy="86868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>
              <a:lnSpc>
                <a:spcPts val="2600"/>
              </a:lnSpc>
            </a:pPr>
            <a:r>
              <a:rPr sz="1900" b="0">
                <a:solidFill>
                  <a:srgbClr val="FFFFFF"/>
                </a:solidFill>
                <a:highlight>
                  <a:srgbClr val="0000FF"/>
                </a:highlight>
                <a:latin typeface="에이투지체 8 ExtraBold"/>
                <a:ea typeface="에이투지체 8 ExtraBold"/>
                <a:cs typeface="에이투지체 8 ExtraBold"/>
              </a:rPr>
              <a:t>쿠팡 핵심 과제</a:t>
            </a:r>
            <a:r>
              <a:rPr sz="1900" b="0">
                <a:solidFill>
                  <a:srgbClr val="222222"/>
                </a:solidFill>
                <a:latin typeface="에이투지체 8 ExtraBold"/>
                <a:ea typeface="에이투지체 8 ExtraBold"/>
                <a:cs typeface="에이투지체 8 ExtraBold"/>
              </a:rPr>
              <a:t>는 두 가지로 나누어</a:t>
            </a:r>
          </a:p>
          <a:p>
            <a:pPr>
              <a:lnSpc>
                <a:spcPts val="2600"/>
              </a:lnSpc>
            </a:pPr>
            <a:r>
              <a:rPr sz="1900" b="0">
                <a:solidFill>
                  <a:srgbClr val="222222"/>
                </a:solidFill>
                <a:latin typeface="에이투지체 8 ExtraBold"/>
                <a:ea typeface="에이투지체 8 ExtraBold"/>
                <a:cs typeface="에이투지체 8 ExtraBold"/>
              </a:rPr>
              <a:t>매출 최적화 캠페인 안에서 운영하겠습니다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517904"/>
            <a:ext cx="11064240" cy="36576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100" b="0">
                <a:solidFill>
                  <a:srgbClr val="5C5C5C"/>
                </a:solidFill>
                <a:latin typeface="에이투지체 5 Medium"/>
                <a:ea typeface="에이투지체 5 Medium"/>
                <a:cs typeface="에이투지체 5 Medium"/>
              </a:rPr>
              <a:t>쿠팡 핵심 과제 정리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48640" y="5577840"/>
            <a:ext cx="11064240" cy="438912"/>
          </a:xfrm>
          <a:prstGeom prst="roundRect">
            <a:avLst>
              <a:gd name="adj" fmla="val 16666"/>
            </a:avLst>
          </a:prstGeom>
          <a:solidFill>
            <a:srgbClr val="EAF2FB"/>
          </a:solidFill>
          <a:ln w="9525">
            <a:solidFill>
              <a:srgbClr val="004F9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740664" y="5632704"/>
            <a:ext cx="10671048" cy="347472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1350" b="0" dirty="0" err="1">
                <a:solidFill>
                  <a:srgbClr val="004F9F"/>
                </a:solidFill>
                <a:latin typeface="에이투지체 6 SemiBold"/>
                <a:ea typeface="에이투지체 6 SemiBold"/>
                <a:cs typeface="에이투지체 6 SemiBold"/>
              </a:rPr>
              <a:t>쿠팡에서는 리뷰가 쌓인 로켓 상품 위주로 광고해 FGO와 다음 히어로 상품의 판매를 늘리겠습니다</a:t>
            </a:r>
            <a:endParaRPr sz="1350" b="0" dirty="0">
              <a:solidFill>
                <a:srgbClr val="004F9F"/>
              </a:solidFill>
              <a:latin typeface="에이투지체 6 SemiBold"/>
              <a:ea typeface="에이투지체 6 SemiBold"/>
              <a:cs typeface="에이투지체 6 SemiBold"/>
            </a:endParaRPr>
          </a:p>
        </p:txBody>
      </p:sp>
      <p:sp>
        <p:nvSpPr>
          <p:cNvPr id="7" name="TextBox 6"/>
          <p:cNvSpPr txBox="1"/>
          <p:nvPr/>
        </p:nvSpPr>
        <p:spPr>
          <a:xfrm>
            <a:off x="548640" y="6473952"/>
            <a:ext cx="420624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800" b="0">
                <a:solidFill>
                  <a:srgbClr val="919191"/>
                </a:solidFill>
                <a:latin typeface="에이투지체 3 Light"/>
                <a:ea typeface="에이투지체 3 Light"/>
                <a:cs typeface="에이투지체 3 Light"/>
              </a:rPr>
              <a:t>DODREAM B&amp;B AD PROPOSAL · 2026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138160" y="6473952"/>
            <a:ext cx="301752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/>
            <a:r>
              <a:rPr sz="800" b="0">
                <a:solidFill>
                  <a:srgbClr val="919191"/>
                </a:solidFill>
                <a:latin typeface="에이투지체 3 Light"/>
                <a:ea typeface="에이투지체 3 Light"/>
                <a:cs typeface="에이투지체 3 Light"/>
              </a:rPr>
              <a:t>LINKPRICE · BRAND AD CENTER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292840" y="6473952"/>
            <a:ext cx="36576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/>
            <a:r>
              <a:rPr sz="800" b="0">
                <a:solidFill>
                  <a:srgbClr val="222222"/>
                </a:solidFill>
                <a:latin typeface="에이투지체 6 SemiBold"/>
                <a:ea typeface="에이투지체 6 SemiBold"/>
                <a:cs typeface="에이투지체 6 SemiBold"/>
              </a:rPr>
              <a:t>36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48640" y="2084831"/>
            <a:ext cx="2423160" cy="23774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950" b="0">
                <a:solidFill>
                  <a:srgbClr val="919191"/>
                </a:solidFill>
                <a:latin typeface="에이투지체 6 SemiBold"/>
                <a:ea typeface="에이투지체 6 SemiBold"/>
                <a:cs typeface="에이투지체 6 SemiBold"/>
              </a:rPr>
              <a:t>핵심 과제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291840" y="2084831"/>
            <a:ext cx="3931920" cy="23774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950" b="0">
                <a:solidFill>
                  <a:srgbClr val="919191"/>
                </a:solidFill>
                <a:latin typeface="에이투지체 6 SemiBold"/>
                <a:ea typeface="에이투지체 6 SemiBold"/>
                <a:cs typeface="에이투지체 6 SemiBold"/>
              </a:rPr>
              <a:t>쿠팡 실행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543800" y="2084831"/>
            <a:ext cx="2103120" cy="23774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950" b="0">
                <a:solidFill>
                  <a:srgbClr val="919191"/>
                </a:solidFill>
                <a:latin typeface="에이투지체 6 SemiBold"/>
                <a:ea typeface="에이투지체 6 SemiBold"/>
                <a:cs typeface="에이투지체 6 SemiBold"/>
              </a:rPr>
              <a:t>운영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966960" y="2084831"/>
            <a:ext cx="1645920" cy="23774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950" b="0">
                <a:solidFill>
                  <a:srgbClr val="919191"/>
                </a:solidFill>
                <a:latin typeface="에이투지체 6 SemiBold"/>
                <a:ea typeface="에이투지체 6 SemiBold"/>
                <a:cs typeface="에이투지체 6 SemiBold"/>
              </a:rPr>
              <a:t>관리 지표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548640" y="2395728"/>
            <a:ext cx="2423160" cy="1097280"/>
          </a:xfrm>
          <a:prstGeom prst="roundRect">
            <a:avLst>
              <a:gd name="adj" fmla="val 11428"/>
            </a:avLst>
          </a:prstGeom>
          <a:solidFill>
            <a:srgbClr val="004F9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TextBox 14"/>
          <p:cNvSpPr txBox="1"/>
          <p:nvPr/>
        </p:nvSpPr>
        <p:spPr>
          <a:xfrm>
            <a:off x="731520" y="2395728"/>
            <a:ext cx="2148840" cy="109728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1050" b="0">
                <a:solidFill>
                  <a:srgbClr val="FFFFFF"/>
                </a:solidFill>
                <a:latin typeface="에이투지체 6 SemiBold"/>
                <a:ea typeface="에이투지체 6 SemiBold"/>
                <a:cs typeface="에이투지체 6 SemiBold"/>
              </a:rPr>
              <a:t>01</a:t>
            </a:r>
          </a:p>
          <a:p>
            <a:pPr algn="l"/>
            <a:r>
              <a:rPr sz="1300" b="0">
                <a:solidFill>
                  <a:srgbClr val="FFFFFF"/>
                </a:solidFill>
                <a:latin typeface="에이투지체 6 SemiBold"/>
                <a:ea typeface="에이투지체 6 SemiBold"/>
                <a:cs typeface="에이투지체 6 SemiBold"/>
              </a:rPr>
              <a:t>캠페인 구조 정리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3291840" y="2395728"/>
            <a:ext cx="3931920" cy="1097280"/>
          </a:xfrm>
          <a:prstGeom prst="roundRect">
            <a:avLst>
              <a:gd name="adj" fmla="val 11428"/>
            </a:avLst>
          </a:prstGeom>
          <a:solidFill>
            <a:srgbClr val="F5F5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TextBox 16"/>
          <p:cNvSpPr txBox="1"/>
          <p:nvPr/>
        </p:nvSpPr>
        <p:spPr>
          <a:xfrm>
            <a:off x="3493008" y="2395728"/>
            <a:ext cx="3611880" cy="109728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1100" b="0">
                <a:solidFill>
                  <a:srgbClr val="222222"/>
                </a:solidFill>
                <a:latin typeface="에이투지체 5 Medium"/>
                <a:ea typeface="에이투지체 5 Medium"/>
                <a:cs typeface="에이투지체 5 Medium"/>
              </a:rPr>
              <a:t>목표 ROAS 기준 학습이라 객단가로 나누고</a:t>
            </a:r>
          </a:p>
          <a:p>
            <a:pPr algn="l"/>
            <a:r>
              <a:rPr sz="1100" b="0">
                <a:solidFill>
                  <a:srgbClr val="222222"/>
                </a:solidFill>
                <a:latin typeface="에이투지체 5 Medium"/>
                <a:ea typeface="에이투지체 5 Medium"/>
                <a:cs typeface="에이투지체 5 Medium"/>
              </a:rPr>
              <a:t>리뷰가 쌓인 로켓 상품부터 운영합니다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7543800" y="2697480"/>
            <a:ext cx="2103120" cy="493775"/>
          </a:xfrm>
          <a:prstGeom prst="roundRect">
            <a:avLst>
              <a:gd name="adj" fmla="val 14814"/>
            </a:avLst>
          </a:prstGeom>
          <a:solidFill>
            <a:srgbClr val="FFFFFF"/>
          </a:solidFill>
          <a:ln w="9525">
            <a:solidFill>
              <a:srgbClr val="004F9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" name="TextBox 18"/>
          <p:cNvSpPr txBox="1"/>
          <p:nvPr/>
        </p:nvSpPr>
        <p:spPr>
          <a:xfrm>
            <a:off x="7635240" y="2697480"/>
            <a:ext cx="1920240" cy="493775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1050" b="0">
                <a:solidFill>
                  <a:srgbClr val="004F9F"/>
                </a:solidFill>
                <a:latin typeface="에이투지체 6 SemiBold"/>
                <a:ea typeface="에이투지체 6 SemiBold"/>
                <a:cs typeface="에이투지체 6 SemiBold"/>
              </a:rPr>
              <a:t>매출 최적화 A, B, C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9966960" y="2395728"/>
            <a:ext cx="1645920" cy="109728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1100" b="0">
                <a:solidFill>
                  <a:srgbClr val="222222"/>
                </a:solidFill>
                <a:latin typeface="에이투지체 6 SemiBold"/>
                <a:ea typeface="에이투지체 6 SemiBold"/>
                <a:cs typeface="에이투지체 6 SemiBold"/>
              </a:rPr>
              <a:t>캠페인별 ROAS</a:t>
            </a:r>
          </a:p>
        </p:txBody>
      </p:sp>
      <p:sp>
        <p:nvSpPr>
          <p:cNvPr id="21" name="Isosceles Triangle 20"/>
          <p:cNvSpPr/>
          <p:nvPr/>
        </p:nvSpPr>
        <p:spPr>
          <a:xfrm rot="5400000">
            <a:off x="2990088" y="2871216"/>
            <a:ext cx="201168" cy="146304"/>
          </a:xfrm>
          <a:prstGeom prst="triangle">
            <a:avLst/>
          </a:prstGeom>
          <a:solidFill>
            <a:srgbClr val="004F9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2" name="Isosceles Triangle 21"/>
          <p:cNvSpPr/>
          <p:nvPr/>
        </p:nvSpPr>
        <p:spPr>
          <a:xfrm rot="5400000">
            <a:off x="7242048" y="2871216"/>
            <a:ext cx="201168" cy="146304"/>
          </a:xfrm>
          <a:prstGeom prst="triangle">
            <a:avLst/>
          </a:prstGeom>
          <a:solidFill>
            <a:srgbClr val="004F9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3" name="Isosceles Triangle 22"/>
          <p:cNvSpPr/>
          <p:nvPr/>
        </p:nvSpPr>
        <p:spPr>
          <a:xfrm rot="5400000">
            <a:off x="9665208" y="2871216"/>
            <a:ext cx="201168" cy="146304"/>
          </a:xfrm>
          <a:prstGeom prst="triangle">
            <a:avLst/>
          </a:prstGeom>
          <a:solidFill>
            <a:srgbClr val="004F9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4" name="Rounded Rectangle 23"/>
          <p:cNvSpPr/>
          <p:nvPr/>
        </p:nvSpPr>
        <p:spPr>
          <a:xfrm>
            <a:off x="548640" y="3721608"/>
            <a:ext cx="2423160" cy="1097280"/>
          </a:xfrm>
          <a:prstGeom prst="roundRect">
            <a:avLst>
              <a:gd name="adj" fmla="val 11428"/>
            </a:avLst>
          </a:prstGeom>
          <a:solidFill>
            <a:srgbClr val="EAF2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5" name="TextBox 24"/>
          <p:cNvSpPr txBox="1"/>
          <p:nvPr/>
        </p:nvSpPr>
        <p:spPr>
          <a:xfrm>
            <a:off x="731520" y="3721608"/>
            <a:ext cx="2148840" cy="109728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1050" b="0">
                <a:solidFill>
                  <a:srgbClr val="004F9F"/>
                </a:solidFill>
                <a:latin typeface="에이투지체 6 SemiBold"/>
                <a:ea typeface="에이투지체 6 SemiBold"/>
                <a:cs typeface="에이투지체 6 SemiBold"/>
              </a:rPr>
              <a:t>02</a:t>
            </a:r>
          </a:p>
          <a:p>
            <a:pPr algn="l"/>
            <a:r>
              <a:rPr sz="1300" b="0">
                <a:solidFill>
                  <a:srgbClr val="222222"/>
                </a:solidFill>
                <a:latin typeface="에이투지체 6 SemiBold"/>
                <a:ea typeface="에이투지체 6 SemiBold"/>
                <a:cs typeface="에이투지체 6 SemiBold"/>
              </a:rPr>
              <a:t>검색어 노출 확대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3291840" y="3721608"/>
            <a:ext cx="3931920" cy="1097280"/>
          </a:xfrm>
          <a:prstGeom prst="roundRect">
            <a:avLst>
              <a:gd name="adj" fmla="val 11428"/>
            </a:avLst>
          </a:prstGeom>
          <a:solidFill>
            <a:srgbClr val="F5F5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7" name="TextBox 26"/>
          <p:cNvSpPr txBox="1"/>
          <p:nvPr/>
        </p:nvSpPr>
        <p:spPr>
          <a:xfrm>
            <a:off x="3493008" y="3721608"/>
            <a:ext cx="3611880" cy="109728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1100" b="0">
                <a:solidFill>
                  <a:srgbClr val="222222"/>
                </a:solidFill>
                <a:latin typeface="에이투지체 5 Medium"/>
                <a:ea typeface="에이투지체 5 Medium"/>
                <a:cs typeface="에이투지체 5 Medium"/>
              </a:rPr>
              <a:t>브랜드 검색어는 상시 노출하고</a:t>
            </a:r>
          </a:p>
          <a:p>
            <a:pPr algn="l"/>
            <a:r>
              <a:rPr sz="1100" b="0">
                <a:solidFill>
                  <a:srgbClr val="222222"/>
                </a:solidFill>
                <a:latin typeface="에이투지체 5 Medium"/>
                <a:ea typeface="에이투지체 5 Medium"/>
                <a:cs typeface="에이투지체 5 Medium"/>
              </a:rPr>
              <a:t>대표·경쟁사 검색어는 제외 없이 성과를 봅니다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7543800" y="4023360"/>
            <a:ext cx="2103120" cy="493775"/>
          </a:xfrm>
          <a:prstGeom prst="roundRect">
            <a:avLst>
              <a:gd name="adj" fmla="val 14814"/>
            </a:avLst>
          </a:prstGeom>
          <a:solidFill>
            <a:srgbClr val="FFFFFF"/>
          </a:solidFill>
          <a:ln w="9525">
            <a:solidFill>
              <a:srgbClr val="004F9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9" name="TextBox 28"/>
          <p:cNvSpPr txBox="1"/>
          <p:nvPr/>
        </p:nvSpPr>
        <p:spPr>
          <a:xfrm>
            <a:off x="7635240" y="4023360"/>
            <a:ext cx="1920240" cy="493775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1050" b="0">
                <a:solidFill>
                  <a:srgbClr val="004F9F"/>
                </a:solidFill>
                <a:latin typeface="에이투지체 6 SemiBold"/>
                <a:ea typeface="에이투지체 6 SemiBold"/>
                <a:cs typeface="에이투지체 6 SemiBold"/>
              </a:rPr>
              <a:t>매출 최적화</a:t>
            </a:r>
          </a:p>
          <a:p>
            <a:pPr algn="ctr"/>
            <a:r>
              <a:rPr sz="1050" b="0">
                <a:solidFill>
                  <a:srgbClr val="004F9F"/>
                </a:solidFill>
                <a:latin typeface="에이투지체 6 SemiBold"/>
                <a:ea typeface="에이투지체 6 SemiBold"/>
                <a:cs typeface="에이투지체 6 SemiBold"/>
              </a:rPr>
              <a:t>검색어 리포트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9966960" y="3721608"/>
            <a:ext cx="1645920" cy="109728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1100" b="0">
                <a:solidFill>
                  <a:srgbClr val="222222"/>
                </a:solidFill>
                <a:latin typeface="에이투지체 6 SemiBold"/>
                <a:ea typeface="에이투지체 6 SemiBold"/>
                <a:cs typeface="에이투지체 6 SemiBold"/>
              </a:rPr>
              <a:t>검색어별 전환</a:t>
            </a:r>
          </a:p>
          <a:p>
            <a:pPr algn="ctr"/>
            <a:r>
              <a:rPr sz="1100" b="0">
                <a:solidFill>
                  <a:srgbClr val="222222"/>
                </a:solidFill>
                <a:latin typeface="에이투지체 6 SemiBold"/>
                <a:ea typeface="에이투지체 6 SemiBold"/>
                <a:cs typeface="에이투지체 6 SemiBold"/>
              </a:rPr>
              <a:t>무전환 비용</a:t>
            </a:r>
          </a:p>
        </p:txBody>
      </p:sp>
      <p:sp>
        <p:nvSpPr>
          <p:cNvPr id="31" name="Isosceles Triangle 30"/>
          <p:cNvSpPr/>
          <p:nvPr/>
        </p:nvSpPr>
        <p:spPr>
          <a:xfrm rot="5400000">
            <a:off x="2990088" y="4197096"/>
            <a:ext cx="201168" cy="146304"/>
          </a:xfrm>
          <a:prstGeom prst="triangle">
            <a:avLst/>
          </a:prstGeom>
          <a:solidFill>
            <a:srgbClr val="004F9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2" name="Isosceles Triangle 31"/>
          <p:cNvSpPr/>
          <p:nvPr/>
        </p:nvSpPr>
        <p:spPr>
          <a:xfrm rot="5400000">
            <a:off x="7242048" y="4197096"/>
            <a:ext cx="201168" cy="146304"/>
          </a:xfrm>
          <a:prstGeom prst="triangle">
            <a:avLst/>
          </a:prstGeom>
          <a:solidFill>
            <a:srgbClr val="004F9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3" name="Isosceles Triangle 32"/>
          <p:cNvSpPr/>
          <p:nvPr/>
        </p:nvSpPr>
        <p:spPr>
          <a:xfrm rot="5400000">
            <a:off x="9665208" y="4197096"/>
            <a:ext cx="201168" cy="146304"/>
          </a:xfrm>
          <a:prstGeom prst="triangle">
            <a:avLst/>
          </a:prstGeom>
          <a:solidFill>
            <a:srgbClr val="004F9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4" name="Event Note Bar"/>
          <p:cNvSpPr/>
          <p:nvPr/>
        </p:nvSpPr>
        <p:spPr>
          <a:xfrm>
            <a:off x="548640" y="5102352"/>
            <a:ext cx="11064240" cy="365760"/>
          </a:xfrm>
          <a:prstGeom prst="roundRect">
            <a:avLst>
              <a:gd name="adj" fmla="val 20000"/>
            </a:avLst>
          </a:prstGeom>
          <a:solidFill>
            <a:srgbClr val="F5F5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5" name="Event Note Text"/>
          <p:cNvSpPr txBox="1"/>
          <p:nvPr/>
        </p:nvSpPr>
        <p:spPr>
          <a:xfrm>
            <a:off x="731520" y="5102352"/>
            <a:ext cx="10698480" cy="36576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1150" b="0">
                <a:solidFill>
                  <a:srgbClr val="004F9F"/>
                </a:solidFill>
                <a:latin typeface="에이투지체 6 SemiBold"/>
                <a:ea typeface="에이투지체 6 SemiBold"/>
                <a:cs typeface="에이투지체 6 SemiBold"/>
              </a:rPr>
              <a:t>행사 기간  </a:t>
            </a:r>
            <a:r>
              <a:rPr sz="1150" b="0">
                <a:solidFill>
                  <a:srgbClr val="222222"/>
                </a:solidFill>
                <a:latin typeface="에이투지체 5 Medium"/>
                <a:ea typeface="에이투지체 5 Medium"/>
                <a:cs typeface="에이투지체 5 Medium"/>
              </a:rPr>
              <a:t>상시 캠페인을 그대로 두고 블프 기간 예산과 목표 ROAS만 조정합니다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48640" y="347472"/>
            <a:ext cx="8229600" cy="27432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900" b="0" spc="100">
                <a:solidFill>
                  <a:srgbClr val="004F9F"/>
                </a:solidFill>
                <a:latin typeface="에이투지체 6 SemiBold"/>
                <a:ea typeface="에이투지체 6 SemiBold"/>
                <a:cs typeface="에이투지체 6 SemiBold"/>
              </a:rPr>
              <a:t>PART 2 · 11월 마케팅 전략 · 미디어믹스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658368"/>
            <a:ext cx="11064240" cy="86868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>
              <a:lnSpc>
                <a:spcPts val="2600"/>
              </a:lnSpc>
            </a:pPr>
            <a:r>
              <a:rPr sz="1900" b="0">
                <a:solidFill>
                  <a:srgbClr val="FFFFFF"/>
                </a:solidFill>
                <a:highlight>
                  <a:srgbClr val="0000FF"/>
                </a:highlight>
                <a:latin typeface="에이투지체 8 ExtraBold"/>
                <a:ea typeface="에이투지체 8 ExtraBold"/>
                <a:cs typeface="에이투지체 8 ExtraBold"/>
              </a:rPr>
              <a:t>객단가가 다른 상품을 섞으면</a:t>
            </a:r>
            <a:r>
              <a:rPr sz="1900" b="0">
                <a:solidFill>
                  <a:srgbClr val="222222"/>
                </a:solidFill>
                <a:latin typeface="에이투지체 8 ExtraBold"/>
                <a:ea typeface="에이투지체 8 ExtraBold"/>
                <a:cs typeface="에이투지체 8 ExtraBold"/>
              </a:rPr>
              <a:t> 저가 상품이 밀립니다</a:t>
            </a:r>
          </a:p>
          <a:p>
            <a:pPr>
              <a:lnSpc>
                <a:spcPts val="2600"/>
              </a:lnSpc>
            </a:pPr>
            <a:r>
              <a:rPr sz="1900" b="0">
                <a:solidFill>
                  <a:srgbClr val="222222"/>
                </a:solidFill>
                <a:latin typeface="에이투지체 8 ExtraBold"/>
                <a:ea typeface="에이투지체 8 ExtraBold"/>
                <a:cs typeface="에이투지체 8 ExtraBold"/>
              </a:rPr>
              <a:t>목표 ROAS 기준으로 입찰하는 구조이기 때문입니다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517904"/>
            <a:ext cx="11064240" cy="36576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100" b="0">
                <a:solidFill>
                  <a:srgbClr val="5C5C5C"/>
                </a:solidFill>
                <a:latin typeface="에이투지체 5 Medium"/>
                <a:ea typeface="에이투지체 5 Medium"/>
                <a:cs typeface="에이투지체 5 Medium"/>
              </a:rPr>
              <a:t>쿠팡 핵심과제 1  매출 최적화 캠페인의 입찰 방식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48640" y="5577840"/>
            <a:ext cx="11064240" cy="438912"/>
          </a:xfrm>
          <a:prstGeom prst="roundRect">
            <a:avLst>
              <a:gd name="adj" fmla="val 16666"/>
            </a:avLst>
          </a:prstGeom>
          <a:solidFill>
            <a:srgbClr val="EAF2FB"/>
          </a:solidFill>
          <a:ln w="9525">
            <a:solidFill>
              <a:srgbClr val="004F9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740664" y="5632704"/>
            <a:ext cx="10671048" cy="347472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1350" b="0">
                <a:solidFill>
                  <a:srgbClr val="004F9F"/>
                </a:solidFill>
                <a:latin typeface="에이투지체 6 SemiBold"/>
                <a:ea typeface="에이투지체 6 SemiBold"/>
                <a:cs typeface="에이투지체 6 SemiBold"/>
              </a:rPr>
              <a:t>고가인 키성장은 단독 캠페인으로 두고, 나머지는 객단가가 비슷한 상품끼리 묶습니다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6089904"/>
            <a:ext cx="1106424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850" b="0">
                <a:solidFill>
                  <a:srgbClr val="919191"/>
                </a:solidFill>
                <a:latin typeface="에이투지체 3 Light"/>
                <a:ea typeface="에이투지체 3 Light"/>
                <a:cs typeface="에이투지체 3 Light"/>
              </a:rPr>
              <a:t>목표 ROAS 400%는 계산 예시 / 판매가: 2026.10.12 (주)두드림비엔비 쿠팡 브랜드샵 1개 구성 기준 / 판매 1건당 광고비 = 판매가 ÷ 목표 ROAS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6473952"/>
            <a:ext cx="420624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800" b="0">
                <a:solidFill>
                  <a:srgbClr val="919191"/>
                </a:solidFill>
                <a:latin typeface="에이투지체 3 Light"/>
                <a:ea typeface="에이투지체 3 Light"/>
                <a:cs typeface="에이투지체 3 Light"/>
              </a:rPr>
              <a:t>DODREAM B&amp;B AD PROPOSAL · 2026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138160" y="6473952"/>
            <a:ext cx="301752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/>
            <a:r>
              <a:rPr sz="800" b="0">
                <a:solidFill>
                  <a:srgbClr val="919191"/>
                </a:solidFill>
                <a:latin typeface="에이투지체 3 Light"/>
                <a:ea typeface="에이투지체 3 Light"/>
                <a:cs typeface="에이투지체 3 Light"/>
              </a:rPr>
              <a:t>LINKPRICE · BRAND AD CENTER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292840" y="6473952"/>
            <a:ext cx="36576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/>
            <a:r>
              <a:rPr sz="800" b="0">
                <a:solidFill>
                  <a:srgbClr val="222222"/>
                </a:solidFill>
                <a:latin typeface="에이투지체 6 SemiBold"/>
                <a:ea typeface="에이투지체 6 SemiBold"/>
                <a:cs typeface="에이투지체 6 SemiBold"/>
              </a:rPr>
              <a:t>37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48640" y="2103120"/>
            <a:ext cx="6492240" cy="3291840"/>
          </a:xfrm>
          <a:prstGeom prst="roundRect">
            <a:avLst>
              <a:gd name="adj" fmla="val 2222"/>
            </a:avLst>
          </a:prstGeom>
          <a:solidFill>
            <a:srgbClr val="F5F5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777240" y="2240280"/>
            <a:ext cx="6035040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400" b="0">
                <a:solidFill>
                  <a:srgbClr val="222222"/>
                </a:solidFill>
                <a:latin typeface="에이투지체 8 ExtraBold"/>
                <a:ea typeface="에이투지체 8 ExtraBold"/>
                <a:cs typeface="에이투지체 8 ExtraBold"/>
              </a:rPr>
              <a:t>목표 ROAS 400%일 때, 판매 1건에 쓸 수 있는 광고비</a:t>
            </a:r>
          </a:p>
        </p:txBody>
      </p:sp>
      <p:graphicFrame>
        <p:nvGraphicFramePr>
          <p:cNvPr id="13" name="Chart 12"/>
          <p:cNvGraphicFramePr>
            <a:graphicFrameLocks noGrp="1"/>
          </p:cNvGraphicFramePr>
          <p:nvPr/>
        </p:nvGraphicFramePr>
        <p:xfrm>
          <a:off x="685800" y="2606040"/>
          <a:ext cx="6263640" cy="228600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2"/>
          </a:graphicData>
        </a:graphic>
      </p:graphicFrame>
      <p:sp>
        <p:nvSpPr>
          <p:cNvPr id="14" name="TextBox 13"/>
          <p:cNvSpPr txBox="1"/>
          <p:nvPr/>
        </p:nvSpPr>
        <p:spPr>
          <a:xfrm>
            <a:off x="777240" y="4983480"/>
            <a:ext cx="6035040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400" b="0">
                <a:solidFill>
                  <a:srgbClr val="004F9F"/>
                </a:solidFill>
                <a:latin typeface="에이투지체 8 ExtraBold"/>
                <a:ea typeface="에이투지체 8 ExtraBold"/>
                <a:cs typeface="에이투지체 8 ExtraBold"/>
              </a:rPr>
              <a:t>약 8.6배  </a:t>
            </a:r>
            <a:r>
              <a:rPr sz="1150" b="0">
                <a:solidFill>
                  <a:srgbClr val="222222"/>
                </a:solidFill>
                <a:latin typeface="에이투지체 6 SemiBold"/>
                <a:ea typeface="에이투지체 6 SemiBold"/>
                <a:cs typeface="에이투지체 6 SemiBold"/>
              </a:rPr>
              <a:t>FGO와 카무트 1개의 판매 1건당 광고비 차이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269480" y="2103120"/>
            <a:ext cx="4343400" cy="1572768"/>
          </a:xfrm>
          <a:prstGeom prst="roundRect">
            <a:avLst>
              <a:gd name="adj" fmla="val 4651"/>
            </a:avLst>
          </a:prstGeom>
          <a:solidFill>
            <a:srgbClr val="FFFFFF"/>
          </a:solidFill>
          <a:ln w="9525">
            <a:solidFill>
              <a:srgbClr val="D0D0D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TextBox 15"/>
          <p:cNvSpPr txBox="1"/>
          <p:nvPr/>
        </p:nvSpPr>
        <p:spPr>
          <a:xfrm>
            <a:off x="7498079" y="2212848"/>
            <a:ext cx="3931920" cy="29260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350" b="0">
                <a:solidFill>
                  <a:srgbClr val="222222"/>
                </a:solidFill>
                <a:latin typeface="에이투지체 8 ExtraBold"/>
                <a:ea typeface="에이투지체 8 ExtraBold"/>
                <a:cs typeface="에이투지체 8 ExtraBold"/>
              </a:rPr>
              <a:t>한 캠페인에 섞으면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498079" y="2578608"/>
            <a:ext cx="3931920" cy="10515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1150" b="0">
                <a:solidFill>
                  <a:srgbClr val="5C5C5C"/>
                </a:solidFill>
                <a:latin typeface="에이투지체 4 Regular"/>
                <a:ea typeface="에이투지체 4 Regular"/>
                <a:cs typeface="에이투지체 4 Regular"/>
              </a:rPr>
              <a:t>저가 상품은 쓸 수 있는 광고비가 적어</a:t>
            </a:r>
          </a:p>
          <a:p>
            <a:pPr algn="l">
              <a:spcAft>
                <a:spcPts val="200"/>
              </a:spcAft>
            </a:pPr>
            <a:r>
              <a:rPr sz="1150" b="0">
                <a:solidFill>
                  <a:srgbClr val="5C5C5C"/>
                </a:solidFill>
                <a:latin typeface="에이투지체 4 Regular"/>
                <a:ea typeface="에이투지체 4 Regular"/>
                <a:cs typeface="에이투지체 4 Regular"/>
              </a:rPr>
              <a:t>입찰에서 밀리고 노출이 줄어듭니다</a:t>
            </a:r>
          </a:p>
          <a:p>
            <a:pPr algn="l">
              <a:spcAft>
                <a:spcPts val="200"/>
              </a:spcAft>
            </a:pPr>
            <a:r>
              <a:rPr sz="1150" b="0">
                <a:solidFill>
                  <a:srgbClr val="5C5C5C"/>
                </a:solidFill>
                <a:latin typeface="에이투지체 4 Regular"/>
                <a:ea typeface="에이투지체 4 Regular"/>
                <a:cs typeface="에이투지체 4 Regular"/>
              </a:rPr>
              <a:t>캠페인 ROAS는 고가 상품 성과에 가려집니다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7269480" y="3822191"/>
            <a:ext cx="4343400" cy="1572768"/>
          </a:xfrm>
          <a:prstGeom prst="roundRect">
            <a:avLst>
              <a:gd name="adj" fmla="val 4651"/>
            </a:avLst>
          </a:prstGeom>
          <a:solidFill>
            <a:srgbClr val="EAF2FB"/>
          </a:solidFill>
          <a:ln w="9525">
            <a:solidFill>
              <a:srgbClr val="004F9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" name="TextBox 18"/>
          <p:cNvSpPr txBox="1"/>
          <p:nvPr/>
        </p:nvSpPr>
        <p:spPr>
          <a:xfrm>
            <a:off x="7498079" y="3931920"/>
            <a:ext cx="3931920" cy="29260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350" b="0">
                <a:solidFill>
                  <a:srgbClr val="004F9F"/>
                </a:solidFill>
                <a:latin typeface="에이투지체 8 ExtraBold"/>
                <a:ea typeface="에이투지체 8 ExtraBold"/>
                <a:cs typeface="에이투지체 8 ExtraBold"/>
              </a:rPr>
              <a:t>객단가별로 나누면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498079" y="4297680"/>
            <a:ext cx="3931920" cy="10515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1150" b="0">
                <a:solidFill>
                  <a:srgbClr val="222222"/>
                </a:solidFill>
                <a:latin typeface="에이투지체 4 Regular"/>
                <a:ea typeface="에이투지체 4 Regular"/>
                <a:cs typeface="에이투지체 4 Regular"/>
              </a:rPr>
              <a:t>캠페인마다 객단가에 맞는 목표 ROAS 설정</a:t>
            </a:r>
          </a:p>
          <a:p>
            <a:pPr algn="l">
              <a:spcAft>
                <a:spcPts val="200"/>
              </a:spcAft>
            </a:pPr>
            <a:r>
              <a:rPr sz="1150" b="0">
                <a:solidFill>
                  <a:srgbClr val="222222"/>
                </a:solidFill>
                <a:latin typeface="에이투지체 4 Regular"/>
                <a:ea typeface="에이투지체 4 Regular"/>
                <a:cs typeface="에이투지체 4 Regular"/>
              </a:rPr>
              <a:t>저가 상품도 학습과 노출이 유지됩니다</a:t>
            </a:r>
          </a:p>
          <a:p>
            <a:pPr algn="l">
              <a:spcAft>
                <a:spcPts val="200"/>
              </a:spcAft>
            </a:pPr>
            <a:r>
              <a:rPr sz="1150" b="0">
                <a:solidFill>
                  <a:srgbClr val="222222"/>
                </a:solidFill>
                <a:latin typeface="에이투지체 4 Regular"/>
                <a:ea typeface="에이투지체 4 Regular"/>
                <a:cs typeface="에이투지체 4 Regular"/>
              </a:rPr>
              <a:t>상품군별 성과를 따로 판단할 수 있습니다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TextBox 1"/>
          <p:cNvSpPr txBox="1"/>
          <p:nvPr/>
        </p:nvSpPr>
        <p:spPr>
          <a:xfrm>
            <a:off x="548640" y="347472"/>
            <a:ext cx="8229600" cy="27432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>
              <a:buNone/>
            </a:pPr>
            <a:r>
              <a:rPr lang="ko-KR" sz="900" spc="100" dirty="0">
                <a:solidFill>
                  <a:srgbClr val="004F9F"/>
                </a:solidFill>
                <a:latin typeface="에이투지체 6 SemiBold"/>
                <a:ea typeface="에이투지체 6 SemiBold"/>
                <a:cs typeface="에이투지체 6 SemiBold"/>
              </a:rPr>
              <a:t>PART 2 · 11월 마케팅 전략 · 미디어믹스</a:t>
            </a:r>
            <a:endParaRPr lang="ko-KR" sz="900" dirty="0"/>
          </a:p>
        </p:txBody>
      </p:sp>
      <p:sp>
        <p:nvSpPr>
          <p:cNvPr id="12" name="TextBox 7"/>
          <p:cNvSpPr txBox="1"/>
          <p:nvPr/>
        </p:nvSpPr>
        <p:spPr>
          <a:xfrm>
            <a:off x="548640" y="6473952"/>
            <a:ext cx="420624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800">
                <a:solidFill>
                  <a:srgbClr val="919191"/>
                </a:solidFill>
                <a:latin typeface="에이투지체 3 Light"/>
              </a:rPr>
              <a:t>DODREAM B&amp;B AD PROPOSAL · 2026</a:t>
            </a:r>
          </a:p>
        </p:txBody>
      </p:sp>
      <p:sp>
        <p:nvSpPr>
          <p:cNvPr id="13" name="TextBox 8"/>
          <p:cNvSpPr txBox="1"/>
          <p:nvPr/>
        </p:nvSpPr>
        <p:spPr>
          <a:xfrm>
            <a:off x="8138160" y="6473952"/>
            <a:ext cx="301752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/>
            <a:r>
              <a:rPr sz="800">
                <a:solidFill>
                  <a:srgbClr val="919191"/>
                </a:solidFill>
                <a:latin typeface="에이투지체 3 Light"/>
              </a:rPr>
              <a:t>LINKPRICE · BRAND AD CENTER</a:t>
            </a:r>
          </a:p>
        </p:txBody>
      </p:sp>
      <p:sp>
        <p:nvSpPr>
          <p:cNvPr id="14" name="PGNO"/>
          <p:cNvSpPr txBox="1"/>
          <p:nvPr/>
        </p:nvSpPr>
        <p:spPr>
          <a:xfrm>
            <a:off x="11292840" y="6473952"/>
            <a:ext cx="36576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/>
            <a:r>
              <a:rPr sz="800">
                <a:solidFill>
                  <a:srgbClr val="222222"/>
                </a:solidFill>
                <a:latin typeface="에이투지체 6 SemiBold"/>
              </a:rPr>
              <a:t>38</a:t>
            </a:r>
          </a:p>
        </p:txBody>
      </p:sp>
      <p:sp>
        <p:nvSpPr>
          <p:cNvPr id="2" name="text-316">
            <a:extLst>
              <a:ext uri="{FF2B5EF4-FFF2-40B4-BE49-F238E27FC236}">
                <a16:creationId xmlns:a16="http://schemas.microsoft.com/office/drawing/2014/main" id="{843E8BB5-650C-4AE5-976F-1108B65F67AD}"/>
              </a:ext>
            </a:extLst>
          </p:cNvPr>
          <p:cNvSpPr>
            <a:spLocks noGrp="1"/>
          </p:cNvSpPr>
          <p:nvPr/>
        </p:nvSpPr>
        <p:spPr>
          <a:xfrm>
            <a:off x="548640" y="658368"/>
            <a:ext cx="11064240" cy="86868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ctr"/>
          <a:lstStyle>
            <a:defPPr algn="l">
              <a:defRPr sz="2000">
                <a:solidFill>
                  <a:srgbClr val="2E6BD5"/>
                </a:solidFill>
                <a:latin typeface="에이투지체 8 ExtraBold"/>
                <a:ea typeface="에이투지체 8 ExtraBold"/>
                <a:cs typeface="에이투지체 8 ExtraBold"/>
              </a:defRPr>
            </a:defPPr>
          </a:lstStyle>
          <a:p>
            <a:pPr marL="0" indent="0">
              <a:lnSpc>
                <a:spcPts val="2600"/>
              </a:lnSpc>
              <a:buNone/>
            </a:pPr>
            <a:r>
              <a:rPr lang="ko-KR" sz="1900" dirty="0">
                <a:solidFill>
                  <a:schemeClr val="bg1"/>
                </a:solidFill>
                <a:highlight>
                  <a:srgbClr val="0000FF"/>
                </a:highlight>
                <a:latin typeface="에이투지체 8 ExtraBold"/>
                <a:ea typeface="에이투지체 8 ExtraBold"/>
                <a:cs typeface="에이투지체 8 ExtraBold"/>
              </a:rPr>
              <a:t>고가인 키성장만 따로</a:t>
            </a:r>
            <a:r>
              <a:rPr lang="ko-KR" sz="1900" dirty="0">
                <a:solidFill>
                  <a:srgbClr val="222222"/>
                </a:solidFill>
                <a:latin typeface="에이투지체 8 ExtraBold"/>
                <a:ea typeface="에이투지체 8 ExtraBold"/>
                <a:cs typeface="에이투지체 8 ExtraBold"/>
              </a:rPr>
              <a:t> 운영하고</a:t>
            </a:r>
            <a:endParaRPr lang="ko-KR" sz="1900" dirty="0"/>
          </a:p>
          <a:p>
            <a:pPr marL="0" indent="0">
              <a:lnSpc>
                <a:spcPts val="2600"/>
              </a:lnSpc>
              <a:buNone/>
            </a:pPr>
            <a:r>
              <a:rPr lang="ko-KR" sz="1900" dirty="0">
                <a:solidFill>
                  <a:srgbClr val="222222"/>
                </a:solidFill>
                <a:latin typeface="에이투지체 8 ExtraBold"/>
                <a:ea typeface="에이투지체 8 ExtraBold"/>
                <a:cs typeface="에이투지체 8 ExtraBold"/>
              </a:rPr>
              <a:t>나머지는 상품군별로 묶어 제외 키워드를 관리합니다</a:t>
            </a:r>
            <a:endParaRPr lang="ko-KR" sz="1900" dirty="0"/>
          </a:p>
        </p:txBody>
      </p:sp>
      <p:sp>
        <p:nvSpPr>
          <p:cNvPr id="3" name="text-317">
            <a:extLst>
              <a:ext uri="{FF2B5EF4-FFF2-40B4-BE49-F238E27FC236}">
                <a16:creationId xmlns:a16="http://schemas.microsoft.com/office/drawing/2014/main" id="{B8E4258E-54B5-4DFC-8333-DCFD9F526E74}"/>
              </a:ext>
            </a:extLst>
          </p:cNvPr>
          <p:cNvSpPr>
            <a:spLocks noGrp="1"/>
          </p:cNvSpPr>
          <p:nvPr/>
        </p:nvSpPr>
        <p:spPr>
          <a:xfrm>
            <a:off x="548640" y="1517904"/>
            <a:ext cx="11064240" cy="36576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ctr"/>
          <a:lstStyle>
            <a:defPPr algn="l">
              <a:defRPr sz="1400">
                <a:solidFill>
                  <a:srgbClr val="5C5C5C"/>
                </a:solidFill>
                <a:latin typeface="에이투지체 4 Regular"/>
                <a:ea typeface="에이투지체 4 Regular"/>
                <a:cs typeface="에이투지체 4 Regular"/>
              </a:defRPr>
            </a:defPPr>
          </a:lstStyle>
          <a:p>
            <a:pPr marL="0" indent="0">
              <a:buNone/>
            </a:pPr>
            <a:r>
              <a:rPr lang="ko-KR" sz="1100" dirty="0">
                <a:solidFill>
                  <a:srgbClr val="5C5C5C"/>
                </a:solidFill>
                <a:latin typeface="에이투지체 5 Medium"/>
                <a:ea typeface="에이투지체 5 Medium"/>
                <a:cs typeface="에이투지체 5 Medium"/>
              </a:rPr>
              <a:t>쿠팡 핵심과제 1  객단가 기준 캠페인 구성</a:t>
            </a:r>
            <a:endParaRPr lang="ko-KR" sz="1100" dirty="0"/>
          </a:p>
        </p:txBody>
      </p:sp>
      <p:sp>
        <p:nvSpPr>
          <p:cNvPr id="8" name="node-321">
            <a:extLst>
              <a:ext uri="{FF2B5EF4-FFF2-40B4-BE49-F238E27FC236}">
                <a16:creationId xmlns:a16="http://schemas.microsoft.com/office/drawing/2014/main" id="{6F8A91DE-2907-4FB2-BEDF-5F39371F9BF8}"/>
              </a:ext>
            </a:extLst>
          </p:cNvPr>
          <p:cNvSpPr>
            <a:spLocks noGrp="1"/>
          </p:cNvSpPr>
          <p:nvPr/>
        </p:nvSpPr>
        <p:spPr>
          <a:xfrm>
            <a:off x="548640" y="5581650"/>
            <a:ext cx="11064240" cy="438150"/>
          </a:xfrm>
          <a:prstGeom prst="roundRect">
            <a:avLst>
              <a:gd name="adj" fmla="val 16695"/>
            </a:avLst>
          </a:prstGeom>
          <a:solidFill>
            <a:srgbClr val="EAF2FB"/>
          </a:solidFill>
          <a:ln w="9525">
            <a:solidFill>
              <a:srgbClr val="004F9F"/>
            </a:solidFill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9" name="text-322">
            <a:extLst>
              <a:ext uri="{FF2B5EF4-FFF2-40B4-BE49-F238E27FC236}">
                <a16:creationId xmlns:a16="http://schemas.microsoft.com/office/drawing/2014/main" id="{47EDEF8F-615E-460E-9002-B4E740153410}"/>
              </a:ext>
            </a:extLst>
          </p:cNvPr>
          <p:cNvSpPr>
            <a:spLocks noGrp="1"/>
          </p:cNvSpPr>
          <p:nvPr/>
        </p:nvSpPr>
        <p:spPr>
          <a:xfrm>
            <a:off x="742950" y="5629275"/>
            <a:ext cx="10668000" cy="3429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ctr">
            <a:noAutofit/>
          </a:bodyPr>
          <a:lstStyle>
            <a:defPPr algn="l">
              <a:defRPr sz="1358">
                <a:solidFill>
                  <a:srgbClr val="FFFFFF"/>
                </a:solidFill>
                <a:latin typeface="에이투지체 6 SemiBold"/>
                <a:ea typeface="에이투지체 6 SemiBold"/>
                <a:cs typeface="에이투지체 6 SemiBold"/>
              </a:defRPr>
            </a:defPPr>
          </a:lstStyle>
          <a:p>
            <a:pPr algn="l">
              <a:defRPr sz="1358">
                <a:solidFill>
                  <a:srgbClr val="FFFFFF"/>
                </a:solidFill>
                <a:latin typeface="에이투지체 6 SemiBold"/>
                <a:ea typeface="에이투지체 6 SemiBold"/>
                <a:cs typeface="에이투지체 6 SemiBold"/>
              </a:defRPr>
            </a:pPr>
            <a:r>
              <a:rPr sz="1358" dirty="0">
                <a:solidFill>
                  <a:srgbClr val="004F9F"/>
                </a:solidFill>
                <a:latin typeface="에이투지체 6 SemiBold"/>
                <a:ea typeface="에이투지체 6 SemiBold"/>
                <a:cs typeface="에이투지체 6 SemiBold"/>
              </a:rPr>
              <a:t>캠페인마다 객단가에 맞는 목표 ROAS를 두고, 리뷰가 쌓인 로켓 상품부터 주 단위로 성과를 확인합니다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48640" y="2103120"/>
            <a:ext cx="3447288" cy="2487168"/>
          </a:xfrm>
          <a:prstGeom prst="roundRect">
            <a:avLst>
              <a:gd name="adj" fmla="val 2941"/>
            </a:avLst>
          </a:prstGeom>
          <a:solidFill>
            <a:srgbClr val="EAF2FB"/>
          </a:solidFill>
          <a:ln w="9525">
            <a:solidFill>
              <a:srgbClr val="004F9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Oval 15"/>
          <p:cNvSpPr/>
          <p:nvPr/>
        </p:nvSpPr>
        <p:spPr>
          <a:xfrm>
            <a:off x="822959" y="2359152"/>
            <a:ext cx="512064" cy="512064"/>
          </a:xfrm>
          <a:prstGeom prst="ellipse">
            <a:avLst/>
          </a:prstGeom>
          <a:solidFill>
            <a:srgbClr val="004F9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17" name="Picture 16" descr="ruler_FFFFFF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56096" y="2492288"/>
            <a:ext cx="245790" cy="245790"/>
          </a:xfrm>
          <a:prstGeom prst="rect">
            <a:avLst/>
          </a:prstGeom>
        </p:spPr>
      </p:pic>
      <p:sp>
        <p:nvSpPr>
          <p:cNvPr id="18" name="TextBox 17"/>
          <p:cNvSpPr txBox="1"/>
          <p:nvPr/>
        </p:nvSpPr>
        <p:spPr>
          <a:xfrm>
            <a:off x="1481328" y="2340863"/>
            <a:ext cx="2350008" cy="23774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950">
                <a:solidFill>
                  <a:srgbClr val="004F9F"/>
                </a:solidFill>
                <a:latin typeface="에이투지체 6 SemiBold"/>
                <a:ea typeface="에이투지체 6 SemiBold"/>
              </a:rPr>
              <a:t>캠페인 A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481328" y="2560320"/>
            <a:ext cx="2350008" cy="34747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400">
                <a:solidFill>
                  <a:srgbClr val="222222"/>
                </a:solidFill>
                <a:latin typeface="에이투지체 6 SemiBold"/>
                <a:ea typeface="에이투지체 6 SemiBold"/>
              </a:rPr>
              <a:t>키성장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22959" y="3090672"/>
            <a:ext cx="1097280" cy="23774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950">
                <a:solidFill>
                  <a:srgbClr val="5C5C5C"/>
                </a:solidFill>
                <a:latin typeface="에이투지체 5 Medium"/>
                <a:ea typeface="에이투지체 5 Medium"/>
              </a:rPr>
              <a:t>객단가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22959" y="3291839"/>
            <a:ext cx="2898648" cy="38404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900">
                <a:solidFill>
                  <a:srgbClr val="004F9F"/>
                </a:solidFill>
                <a:latin typeface="에이투지체 8 ExtraBold"/>
                <a:ea typeface="에이투지체 8 ExtraBold"/>
              </a:rPr>
              <a:t>13.4만 원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22959" y="3694176"/>
            <a:ext cx="2898648" cy="23774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000">
                <a:solidFill>
                  <a:srgbClr val="5C5C5C"/>
                </a:solidFill>
                <a:latin typeface="에이투지체 4 Regular"/>
                <a:ea typeface="에이투지체 4 Regular"/>
              </a:rPr>
              <a:t>키성장 FGO 1박스</a:t>
            </a:r>
          </a:p>
        </p:txBody>
      </p:sp>
      <p:cxnSp>
        <p:nvCxnSpPr>
          <p:cNvPr id="23" name="Connector 22"/>
          <p:cNvCxnSpPr/>
          <p:nvPr/>
        </p:nvCxnSpPr>
        <p:spPr>
          <a:xfrm>
            <a:off x="822959" y="3995927"/>
            <a:ext cx="2898649" cy="0"/>
          </a:xfrm>
          <a:prstGeom prst="line">
            <a:avLst/>
          </a:prstGeom>
          <a:ln w="9525">
            <a:solidFill>
              <a:srgbClr val="D0D0D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4" name="TextBox 23"/>
          <p:cNvSpPr txBox="1"/>
          <p:nvPr/>
        </p:nvSpPr>
        <p:spPr>
          <a:xfrm>
            <a:off x="822959" y="4059935"/>
            <a:ext cx="2898648" cy="45720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spcAft>
                <a:spcPts val="100"/>
              </a:spcAft>
            </a:pPr>
            <a:r>
              <a:rPr sz="1150">
                <a:solidFill>
                  <a:srgbClr val="222222"/>
                </a:solidFill>
                <a:latin typeface="에이투지체 6 SemiBold"/>
                <a:ea typeface="에이투지체 6 SemiBold"/>
              </a:rPr>
              <a:t>단독 캠페인 · 목표 ROAS 별도</a:t>
            </a:r>
          </a:p>
          <a:p>
            <a:pPr algn="l">
              <a:spcAft>
                <a:spcPts val="100"/>
              </a:spcAft>
            </a:pPr>
            <a:r>
              <a:rPr sz="950">
                <a:solidFill>
                  <a:srgbClr val="919191"/>
                </a:solidFill>
                <a:latin typeface="에이투지체 4 Regular"/>
                <a:ea typeface="에이투지체 4 Regular"/>
              </a:rPr>
              <a:t>로켓 · 리뷰 827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4361688" y="2103120"/>
            <a:ext cx="3447288" cy="2487168"/>
          </a:xfrm>
          <a:prstGeom prst="roundRect">
            <a:avLst>
              <a:gd name="adj" fmla="val 2941"/>
            </a:avLst>
          </a:prstGeom>
          <a:solidFill>
            <a:srgbClr val="F5F5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6" name="Oval 25"/>
          <p:cNvSpPr/>
          <p:nvPr/>
        </p:nvSpPr>
        <p:spPr>
          <a:xfrm>
            <a:off x="4636007" y="2359152"/>
            <a:ext cx="512064" cy="512064"/>
          </a:xfrm>
          <a:prstGeom prst="ellipse">
            <a:avLst/>
          </a:prstGeom>
          <a:solidFill>
            <a:srgbClr val="004F9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27" name="Picture 26" descr="wheat_FFFFFF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769144" y="2492288"/>
            <a:ext cx="245790" cy="245790"/>
          </a:xfrm>
          <a:prstGeom prst="rect">
            <a:avLst/>
          </a:prstGeom>
        </p:spPr>
      </p:pic>
      <p:sp>
        <p:nvSpPr>
          <p:cNvPr id="28" name="TextBox 27"/>
          <p:cNvSpPr txBox="1"/>
          <p:nvPr/>
        </p:nvSpPr>
        <p:spPr>
          <a:xfrm>
            <a:off x="5294375" y="2340863"/>
            <a:ext cx="2350008" cy="23774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950">
                <a:solidFill>
                  <a:srgbClr val="004F9F"/>
                </a:solidFill>
                <a:latin typeface="에이투지체 6 SemiBold"/>
                <a:ea typeface="에이투지체 6 SemiBold"/>
              </a:rPr>
              <a:t>캠페인 B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5294375" y="2560320"/>
            <a:ext cx="2350008" cy="34747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400">
                <a:solidFill>
                  <a:srgbClr val="222222"/>
                </a:solidFill>
                <a:latin typeface="에이투지체 6 SemiBold"/>
                <a:ea typeface="에이투지체 6 SemiBold"/>
              </a:rPr>
              <a:t>카무트 · 슬림웨이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4636007" y="3090672"/>
            <a:ext cx="1097280" cy="23774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950">
                <a:solidFill>
                  <a:srgbClr val="5C5C5C"/>
                </a:solidFill>
                <a:latin typeface="에이투지체 5 Medium"/>
                <a:ea typeface="에이투지체 5 Medium"/>
              </a:rPr>
              <a:t>객단가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636007" y="3291839"/>
            <a:ext cx="2898648" cy="38404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900">
                <a:solidFill>
                  <a:srgbClr val="222222"/>
                </a:solidFill>
                <a:latin typeface="에이투지체 8 ExtraBold"/>
                <a:ea typeface="에이투지체 8 ExtraBold"/>
              </a:rPr>
              <a:t>1.5~6.4만 원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4636007" y="3694176"/>
            <a:ext cx="2898648" cy="23774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000">
                <a:solidFill>
                  <a:srgbClr val="5C5C5C"/>
                </a:solidFill>
                <a:latin typeface="에이투지체 4 Regular"/>
                <a:ea typeface="에이투지체 4 Regular"/>
              </a:rPr>
              <a:t>카무트 효소 1~6개</a:t>
            </a:r>
          </a:p>
        </p:txBody>
      </p:sp>
      <p:cxnSp>
        <p:nvCxnSpPr>
          <p:cNvPr id="33" name="Connector 32"/>
          <p:cNvCxnSpPr/>
          <p:nvPr/>
        </p:nvCxnSpPr>
        <p:spPr>
          <a:xfrm>
            <a:off x="4636007" y="3995927"/>
            <a:ext cx="2898648" cy="0"/>
          </a:xfrm>
          <a:prstGeom prst="line">
            <a:avLst/>
          </a:prstGeom>
          <a:ln w="9525">
            <a:solidFill>
              <a:srgbClr val="D0D0D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4" name="TextBox 33"/>
          <p:cNvSpPr txBox="1"/>
          <p:nvPr/>
        </p:nvSpPr>
        <p:spPr>
          <a:xfrm>
            <a:off x="4636007" y="4059935"/>
            <a:ext cx="2898648" cy="45720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spcAft>
                <a:spcPts val="100"/>
              </a:spcAft>
            </a:pPr>
            <a:r>
              <a:rPr sz="1150">
                <a:solidFill>
                  <a:srgbClr val="222222"/>
                </a:solidFill>
                <a:latin typeface="에이투지체 6 SemiBold"/>
                <a:ea typeface="에이투지체 6 SemiBold"/>
              </a:rPr>
              <a:t>리뷰 많은 카무트 중심으로 효율 확보</a:t>
            </a:r>
          </a:p>
          <a:p>
            <a:pPr algn="l">
              <a:spcAft>
                <a:spcPts val="100"/>
              </a:spcAft>
            </a:pPr>
            <a:r>
              <a:rPr sz="950">
                <a:solidFill>
                  <a:srgbClr val="919191"/>
                </a:solidFill>
                <a:latin typeface="에이투지체 4 Regular"/>
                <a:ea typeface="에이투지체 4 Regular"/>
              </a:rPr>
              <a:t>로켓 · 리뷰 968</a:t>
            </a:r>
          </a:p>
        </p:txBody>
      </p:sp>
      <p:sp>
        <p:nvSpPr>
          <p:cNvPr id="35" name="Rounded Rectangle 34"/>
          <p:cNvSpPr/>
          <p:nvPr/>
        </p:nvSpPr>
        <p:spPr>
          <a:xfrm>
            <a:off x="8174736" y="2103120"/>
            <a:ext cx="3447288" cy="2487168"/>
          </a:xfrm>
          <a:prstGeom prst="roundRect">
            <a:avLst>
              <a:gd name="adj" fmla="val 2941"/>
            </a:avLst>
          </a:prstGeom>
          <a:solidFill>
            <a:srgbClr val="F5F5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6" name="Oval 35"/>
          <p:cNvSpPr/>
          <p:nvPr/>
        </p:nvSpPr>
        <p:spPr>
          <a:xfrm>
            <a:off x="8449056" y="2359152"/>
            <a:ext cx="512064" cy="512064"/>
          </a:xfrm>
          <a:prstGeom prst="ellipse">
            <a:avLst/>
          </a:prstGeom>
          <a:solidFill>
            <a:srgbClr val="004F9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37" name="Picture 36" descr="pill_FFFFFF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582192" y="2492288"/>
            <a:ext cx="245790" cy="245790"/>
          </a:xfrm>
          <a:prstGeom prst="rect">
            <a:avLst/>
          </a:prstGeom>
        </p:spPr>
      </p:pic>
      <p:sp>
        <p:nvSpPr>
          <p:cNvPr id="38" name="TextBox 37"/>
          <p:cNvSpPr txBox="1"/>
          <p:nvPr/>
        </p:nvSpPr>
        <p:spPr>
          <a:xfrm>
            <a:off x="9107424" y="2340863"/>
            <a:ext cx="2350008" cy="23774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950">
                <a:solidFill>
                  <a:srgbClr val="004F9F"/>
                </a:solidFill>
                <a:latin typeface="에이투지체 6 SemiBold"/>
                <a:ea typeface="에이투지체 6 SemiBold"/>
              </a:rPr>
              <a:t>캠페인 C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9107424" y="2560320"/>
            <a:ext cx="2350008" cy="34747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400">
                <a:solidFill>
                  <a:srgbClr val="222222"/>
                </a:solidFill>
                <a:latin typeface="에이투지체 6 SemiBold"/>
                <a:ea typeface="에이투지체 6 SemiBold"/>
              </a:rPr>
              <a:t>아이클타임 데일리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8449056" y="3090672"/>
            <a:ext cx="1097280" cy="23774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950">
                <a:solidFill>
                  <a:srgbClr val="5C5C5C"/>
                </a:solidFill>
                <a:latin typeface="에이투지체 5 Medium"/>
                <a:ea typeface="에이투지체 5 Medium"/>
              </a:rPr>
              <a:t>객단가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8449056" y="3291839"/>
            <a:ext cx="2898648" cy="38404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900">
                <a:solidFill>
                  <a:srgbClr val="222222"/>
                </a:solidFill>
                <a:latin typeface="에이투지체 8 ExtraBold"/>
                <a:ea typeface="에이투지체 8 ExtraBold"/>
              </a:rPr>
              <a:t>1.8~4.3만 원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8449056" y="3694176"/>
            <a:ext cx="2898648" cy="23774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000">
                <a:solidFill>
                  <a:srgbClr val="5C5C5C"/>
                </a:solidFill>
                <a:latin typeface="에이투지체 4 Regular"/>
                <a:ea typeface="에이투지체 4 Regular"/>
              </a:rPr>
              <a:t>철분 · 유산균 · 칼마디 · 멀티비타민</a:t>
            </a:r>
          </a:p>
        </p:txBody>
      </p:sp>
      <p:cxnSp>
        <p:nvCxnSpPr>
          <p:cNvPr id="43" name="Connector 42"/>
          <p:cNvCxnSpPr/>
          <p:nvPr/>
        </p:nvCxnSpPr>
        <p:spPr>
          <a:xfrm>
            <a:off x="8449056" y="3995927"/>
            <a:ext cx="2898648" cy="0"/>
          </a:xfrm>
          <a:prstGeom prst="line">
            <a:avLst/>
          </a:prstGeom>
          <a:ln w="9525">
            <a:solidFill>
              <a:srgbClr val="D0D0D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4" name="TextBox 43"/>
          <p:cNvSpPr txBox="1"/>
          <p:nvPr/>
        </p:nvSpPr>
        <p:spPr>
          <a:xfrm>
            <a:off x="8449056" y="4059935"/>
            <a:ext cx="2898648" cy="45720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spcAft>
                <a:spcPts val="100"/>
              </a:spcAft>
            </a:pPr>
            <a:r>
              <a:rPr sz="1150">
                <a:solidFill>
                  <a:srgbClr val="222222"/>
                </a:solidFill>
                <a:latin typeface="에이투지체 6 SemiBold"/>
                <a:ea typeface="에이투지체 6 SemiBold"/>
              </a:rPr>
              <a:t>리뷰 많은 철분 · 유산균부터 추가</a:t>
            </a:r>
          </a:p>
          <a:p>
            <a:pPr algn="l">
              <a:spcAft>
                <a:spcPts val="100"/>
              </a:spcAft>
            </a:pPr>
            <a:r>
              <a:rPr sz="950">
                <a:solidFill>
                  <a:srgbClr val="919191"/>
                </a:solidFill>
                <a:latin typeface="에이투지체 4 Regular"/>
                <a:ea typeface="에이투지체 4 Regular"/>
              </a:rPr>
              <a:t>로켓 · 리뷰 65~588</a:t>
            </a:r>
          </a:p>
        </p:txBody>
      </p:sp>
      <p:sp>
        <p:nvSpPr>
          <p:cNvPr id="45" name="Rounded Rectangle 44"/>
          <p:cNvSpPr/>
          <p:nvPr/>
        </p:nvSpPr>
        <p:spPr>
          <a:xfrm>
            <a:off x="548640" y="4754880"/>
            <a:ext cx="3566160" cy="457200"/>
          </a:xfrm>
          <a:prstGeom prst="roundRect">
            <a:avLst>
              <a:gd name="adj" fmla="val 16000"/>
            </a:avLst>
          </a:prstGeom>
          <a:solidFill>
            <a:srgbClr val="F5F5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46" name="Picture 45" descr="package_004F9F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85800" y="4837176"/>
            <a:ext cx="292608" cy="292608"/>
          </a:xfrm>
          <a:prstGeom prst="rect">
            <a:avLst/>
          </a:prstGeom>
        </p:spPr>
      </p:pic>
      <p:sp>
        <p:nvSpPr>
          <p:cNvPr id="47" name="TextBox 46"/>
          <p:cNvSpPr txBox="1"/>
          <p:nvPr/>
        </p:nvSpPr>
        <p:spPr>
          <a:xfrm>
            <a:off x="1097280" y="4754880"/>
            <a:ext cx="2926080" cy="45720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150">
                <a:solidFill>
                  <a:srgbClr val="222222"/>
                </a:solidFill>
                <a:latin typeface="에이투지체 5 Medium"/>
                <a:ea typeface="에이투지체 5 Medium"/>
              </a:rPr>
              <a:t>캠페인당 상품 10개 이하</a:t>
            </a:r>
          </a:p>
        </p:txBody>
      </p:sp>
      <p:sp>
        <p:nvSpPr>
          <p:cNvPr id="48" name="Rounded Rectangle 47"/>
          <p:cNvSpPr/>
          <p:nvPr/>
        </p:nvSpPr>
        <p:spPr>
          <a:xfrm>
            <a:off x="4297679" y="4754880"/>
            <a:ext cx="3566160" cy="457200"/>
          </a:xfrm>
          <a:prstGeom prst="roundRect">
            <a:avLst>
              <a:gd name="adj" fmla="val 16000"/>
            </a:avLst>
          </a:prstGeom>
          <a:solidFill>
            <a:srgbClr val="F5F5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49" name="Picture 48" descr="copy-x_004F9F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4434840" y="4837176"/>
            <a:ext cx="292608" cy="292608"/>
          </a:xfrm>
          <a:prstGeom prst="rect">
            <a:avLst/>
          </a:prstGeom>
        </p:spPr>
      </p:pic>
      <p:sp>
        <p:nvSpPr>
          <p:cNvPr id="50" name="TextBox 49"/>
          <p:cNvSpPr txBox="1"/>
          <p:nvPr/>
        </p:nvSpPr>
        <p:spPr>
          <a:xfrm>
            <a:off x="4846319" y="4754880"/>
            <a:ext cx="2926080" cy="45720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150">
                <a:solidFill>
                  <a:srgbClr val="222222"/>
                </a:solidFill>
                <a:latin typeface="에이투지체 5 Medium"/>
                <a:ea typeface="에이투지체 5 Medium"/>
              </a:rPr>
              <a:t>캠페인 간 상품 중복 없이 운영</a:t>
            </a:r>
          </a:p>
        </p:txBody>
      </p:sp>
      <p:sp>
        <p:nvSpPr>
          <p:cNvPr id="51" name="Rounded Rectangle 50"/>
          <p:cNvSpPr/>
          <p:nvPr/>
        </p:nvSpPr>
        <p:spPr>
          <a:xfrm>
            <a:off x="8046719" y="4754880"/>
            <a:ext cx="3566160" cy="457200"/>
          </a:xfrm>
          <a:prstGeom prst="roundRect">
            <a:avLst>
              <a:gd name="adj" fmla="val 16000"/>
            </a:avLst>
          </a:prstGeom>
          <a:solidFill>
            <a:srgbClr val="F5F5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52" name="Picture 51" descr="calendar-check_004F9F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8183879" y="4837176"/>
            <a:ext cx="292608" cy="292608"/>
          </a:xfrm>
          <a:prstGeom prst="rect">
            <a:avLst/>
          </a:prstGeom>
        </p:spPr>
      </p:pic>
      <p:sp>
        <p:nvSpPr>
          <p:cNvPr id="53" name="TextBox 52"/>
          <p:cNvSpPr txBox="1"/>
          <p:nvPr/>
        </p:nvSpPr>
        <p:spPr>
          <a:xfrm>
            <a:off x="8595359" y="4754880"/>
            <a:ext cx="2926080" cy="45720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150">
                <a:solidFill>
                  <a:srgbClr val="222222"/>
                </a:solidFill>
                <a:latin typeface="에이투지체 5 Medium"/>
                <a:ea typeface="에이투지체 5 Medium"/>
              </a:rPr>
              <a:t>검색어 · 상품 성과 주간 점검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48640" y="347472"/>
            <a:ext cx="8229600" cy="27432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900" b="0" spc="100">
                <a:solidFill>
                  <a:srgbClr val="004F9F"/>
                </a:solidFill>
                <a:latin typeface="에이투지체 6 SemiBold"/>
                <a:ea typeface="에이투지체 6 SemiBold"/>
                <a:cs typeface="에이투지체 6 SemiBold"/>
              </a:rPr>
              <a:t>PART 2 · 11월 마케팅 전략 · 미디어믹스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658368"/>
            <a:ext cx="11064240" cy="86868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>
              <a:lnSpc>
                <a:spcPts val="2600"/>
              </a:lnSpc>
            </a:pPr>
            <a:r>
              <a:rPr sz="1900" b="0">
                <a:solidFill>
                  <a:srgbClr val="FFFFFF"/>
                </a:solidFill>
                <a:highlight>
                  <a:srgbClr val="0000FF"/>
                </a:highlight>
                <a:latin typeface="에이투지체 8 ExtraBold"/>
                <a:ea typeface="에이투지체 8 ExtraBold"/>
                <a:cs typeface="에이투지체 8 ExtraBold"/>
              </a:rPr>
              <a:t>검색어를 브랜드·대표·경쟁사로 나눠</a:t>
            </a:r>
          </a:p>
          <a:p>
            <a:pPr>
              <a:lnSpc>
                <a:spcPts val="2600"/>
              </a:lnSpc>
            </a:pPr>
            <a:r>
              <a:rPr sz="1900" b="0">
                <a:solidFill>
                  <a:srgbClr val="222222"/>
                </a:solidFill>
                <a:latin typeface="에이투지체 8 ExtraBold"/>
                <a:ea typeface="에이투지체 8 ExtraBold"/>
                <a:cs typeface="에이투지체 8 ExtraBold"/>
              </a:rPr>
              <a:t>유형마다 제외 기준과 운영 방식을 다르게 가져갑니다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517904"/>
            <a:ext cx="11064240" cy="36576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100" b="0">
                <a:solidFill>
                  <a:srgbClr val="5C5C5C"/>
                </a:solidFill>
                <a:latin typeface="에이투지체 5 Medium"/>
                <a:ea typeface="에이투지체 5 Medium"/>
                <a:cs typeface="에이투지체 5 Medium"/>
              </a:rPr>
              <a:t>쿠팡 핵심과제 2  검색어 노출 확대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48640" y="5577840"/>
            <a:ext cx="11064240" cy="438912"/>
          </a:xfrm>
          <a:prstGeom prst="roundRect">
            <a:avLst>
              <a:gd name="adj" fmla="val 16666"/>
            </a:avLst>
          </a:prstGeom>
          <a:solidFill>
            <a:srgbClr val="EAF2FB"/>
          </a:solidFill>
          <a:ln w="9525">
            <a:solidFill>
              <a:srgbClr val="004F9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740664" y="5632704"/>
            <a:ext cx="10671048" cy="347472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1350" b="0" dirty="0" err="1">
                <a:solidFill>
                  <a:srgbClr val="004F9F"/>
                </a:solidFill>
                <a:latin typeface="에이투지체 6 SemiBold"/>
                <a:ea typeface="에이투지체 6 SemiBold"/>
                <a:cs typeface="에이투지체 6 SemiBold"/>
              </a:rPr>
              <a:t>검색어는 매출 최적화 캠페인의 제외 설정으로 관리하고, 전환이 확인된 캠페인부터 예산을 늘립니다</a:t>
            </a:r>
            <a:endParaRPr sz="1350" b="0" dirty="0">
              <a:solidFill>
                <a:srgbClr val="004F9F"/>
              </a:solidFill>
              <a:latin typeface="에이투지체 6 SemiBold"/>
              <a:ea typeface="에이투지체 6 SemiBold"/>
              <a:cs typeface="에이투지체 6 SemiBold"/>
            </a:endParaRPr>
          </a:p>
        </p:txBody>
      </p:sp>
      <p:sp>
        <p:nvSpPr>
          <p:cNvPr id="7" name="TextBox 6"/>
          <p:cNvSpPr txBox="1"/>
          <p:nvPr/>
        </p:nvSpPr>
        <p:spPr>
          <a:xfrm>
            <a:off x="548640" y="6089904"/>
            <a:ext cx="1106424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850" b="0">
                <a:solidFill>
                  <a:srgbClr val="919191"/>
                </a:solidFill>
                <a:latin typeface="에이투지체 3 Light"/>
                <a:ea typeface="에이투지체 3 Light"/>
                <a:cs typeface="에이투지체 3 Light"/>
              </a:rPr>
              <a:t>경쟁사명은 검색어로만 활용하고 상품명과 소재에는 사용하지 않습니다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6473952"/>
            <a:ext cx="420624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800" b="0">
                <a:solidFill>
                  <a:srgbClr val="919191"/>
                </a:solidFill>
                <a:latin typeface="에이투지체 3 Light"/>
                <a:ea typeface="에이투지체 3 Light"/>
                <a:cs typeface="에이투지체 3 Light"/>
              </a:rPr>
              <a:t>DODREAM B&amp;B AD PROPOSAL · 2026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138160" y="6473952"/>
            <a:ext cx="301752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/>
            <a:r>
              <a:rPr sz="800" b="0">
                <a:solidFill>
                  <a:srgbClr val="919191"/>
                </a:solidFill>
                <a:latin typeface="에이투지체 3 Light"/>
                <a:ea typeface="에이투지체 3 Light"/>
                <a:cs typeface="에이투지체 3 Light"/>
              </a:rPr>
              <a:t>LINKPRICE · BRAND AD CENTER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292840" y="6473952"/>
            <a:ext cx="36576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/>
            <a:r>
              <a:rPr sz="800" b="0">
                <a:solidFill>
                  <a:srgbClr val="222222"/>
                </a:solidFill>
                <a:latin typeface="에이투지체 6 SemiBold"/>
                <a:ea typeface="에이투지체 6 SemiBold"/>
                <a:cs typeface="에이투지체 6 SemiBold"/>
              </a:rPr>
              <a:t>39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48640" y="2103120"/>
            <a:ext cx="3447288" cy="868680"/>
          </a:xfrm>
          <a:prstGeom prst="roundRect">
            <a:avLst>
              <a:gd name="adj" fmla="val 8421"/>
            </a:avLst>
          </a:prstGeom>
          <a:solidFill>
            <a:srgbClr val="EAF2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777240" y="2103120"/>
            <a:ext cx="3017520" cy="86868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1500" b="0">
                <a:solidFill>
                  <a:srgbClr val="004F9F"/>
                </a:solidFill>
                <a:latin typeface="에이투지체 8 ExtraBold"/>
                <a:ea typeface="에이투지체 8 ExtraBold"/>
                <a:cs typeface="에이투지체 8 ExtraBold"/>
              </a:rPr>
              <a:t>자사 브랜드 검색어</a:t>
            </a:r>
          </a:p>
          <a:p>
            <a:pPr algn="l"/>
            <a:r>
              <a:rPr sz="1200" b="0">
                <a:solidFill>
                  <a:srgbClr val="5C5C5C"/>
                </a:solidFill>
                <a:latin typeface="에이투지체 6 SemiBold"/>
                <a:ea typeface="에이투지체 6 SemiBold"/>
                <a:cs typeface="에이투지체 6 SemiBold"/>
              </a:rPr>
              <a:t>아이클타임을 찾는 고객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48640" y="3090672"/>
            <a:ext cx="3447288" cy="5029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200" b="0">
                <a:solidFill>
                  <a:srgbClr val="222222"/>
                </a:solidFill>
                <a:latin typeface="에이투지체 6 SemiBold"/>
                <a:ea typeface="에이투지체 6 SemiBold"/>
                <a:cs typeface="에이투지체 6 SemiBold"/>
              </a:rPr>
              <a:t>아이클타임, 두드림, 아이클타임 키성장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48640" y="3566160"/>
            <a:ext cx="3447288" cy="29260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150" b="0">
                <a:solidFill>
                  <a:srgbClr val="004F9F"/>
                </a:solidFill>
                <a:latin typeface="에이투지체 6 SemiBold"/>
                <a:ea typeface="에이투지체 6 SemiBold"/>
                <a:cs typeface="에이투지체 6 SemiBold"/>
              </a:rPr>
              <a:t>현재  </a:t>
            </a:r>
            <a:r>
              <a:rPr sz="1150" b="0">
                <a:solidFill>
                  <a:srgbClr val="5C5C5C"/>
                </a:solidFill>
                <a:latin typeface="에이투지체 4 Regular"/>
                <a:ea typeface="에이투지체 4 Regular"/>
                <a:cs typeface="에이투지체 4 Regular"/>
              </a:rPr>
              <a:t>아이클타임 첫 줄에 키움정 광고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48640" y="3931920"/>
            <a:ext cx="3447288" cy="6858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1150" b="0">
                <a:solidFill>
                  <a:srgbClr val="004F9F"/>
                </a:solidFill>
                <a:latin typeface="에이투지체 6 SemiBold"/>
                <a:ea typeface="에이투지체 6 SemiBold"/>
                <a:cs typeface="에이투지체 6 SemiBold"/>
              </a:rPr>
              <a:t>운영  </a:t>
            </a:r>
            <a:r>
              <a:rPr sz="1150" b="0">
                <a:solidFill>
                  <a:srgbClr val="222222"/>
                </a:solidFill>
                <a:latin typeface="에이투지체 4 Regular"/>
                <a:ea typeface="에이투지체 4 Regular"/>
                <a:cs typeface="에이투지체 4 Regular"/>
              </a:rPr>
              <a:t>제외 없이 상시 노출</a:t>
            </a:r>
          </a:p>
          <a:p>
            <a:pPr algn="l">
              <a:spcAft>
                <a:spcPts val="200"/>
              </a:spcAft>
            </a:pPr>
            <a:r>
              <a:rPr sz="1150" b="0">
                <a:solidFill>
                  <a:srgbClr val="222222"/>
                </a:solidFill>
                <a:latin typeface="에이투지체 4 Regular"/>
                <a:ea typeface="에이투지체 4 Regular"/>
                <a:cs typeface="에이투지체 4 Regular"/>
              </a:rPr>
              <a:t>          브랜드 검색 결과의 광고 노출 주간 확인</a:t>
            </a:r>
          </a:p>
        </p:txBody>
      </p:sp>
      <p:cxnSp>
        <p:nvCxnSpPr>
          <p:cNvPr id="16" name="Connector 15"/>
          <p:cNvCxnSpPr/>
          <p:nvPr/>
        </p:nvCxnSpPr>
        <p:spPr>
          <a:xfrm>
            <a:off x="548640" y="4663440"/>
            <a:ext cx="3447288" cy="0"/>
          </a:xfrm>
          <a:prstGeom prst="line">
            <a:avLst/>
          </a:prstGeom>
          <a:ln w="12700">
            <a:solidFill>
              <a:srgbClr val="D0D0D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7" name="TextBox 16"/>
          <p:cNvSpPr txBox="1"/>
          <p:nvPr/>
        </p:nvSpPr>
        <p:spPr>
          <a:xfrm>
            <a:off x="548640" y="4736592"/>
            <a:ext cx="3447288" cy="29260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150" b="0">
                <a:solidFill>
                  <a:srgbClr val="004F9F"/>
                </a:solidFill>
                <a:latin typeface="에이투지체 6 SemiBold"/>
                <a:ea typeface="에이투지체 6 SemiBold"/>
                <a:cs typeface="에이투지체 6 SemiBold"/>
              </a:rPr>
              <a:t>지표  브랜드 검색어 전환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4361688" y="2103120"/>
            <a:ext cx="3447288" cy="868680"/>
          </a:xfrm>
          <a:prstGeom prst="roundRect">
            <a:avLst>
              <a:gd name="adj" fmla="val 8421"/>
            </a:avLst>
          </a:prstGeom>
          <a:solidFill>
            <a:srgbClr val="EAF2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" name="TextBox 18"/>
          <p:cNvSpPr txBox="1"/>
          <p:nvPr/>
        </p:nvSpPr>
        <p:spPr>
          <a:xfrm>
            <a:off x="4590288" y="2103120"/>
            <a:ext cx="3017520" cy="86868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1500" b="0">
                <a:solidFill>
                  <a:srgbClr val="004F9F"/>
                </a:solidFill>
                <a:latin typeface="에이투지체 8 ExtraBold"/>
                <a:ea typeface="에이투지체 8 ExtraBold"/>
                <a:cs typeface="에이투지체 8 ExtraBold"/>
              </a:rPr>
              <a:t>대표 검색어</a:t>
            </a:r>
          </a:p>
          <a:p>
            <a:pPr algn="l"/>
            <a:r>
              <a:rPr sz="1200" b="0">
                <a:solidFill>
                  <a:srgbClr val="5C5C5C"/>
                </a:solidFill>
                <a:latin typeface="에이투지체 6 SemiBold"/>
                <a:ea typeface="에이투지체 6 SemiBold"/>
                <a:cs typeface="에이투지체 6 SemiBold"/>
              </a:rPr>
              <a:t>카테고리를 탐색하는 고객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361688" y="3090672"/>
            <a:ext cx="3447288" cy="5029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200" b="0">
                <a:solidFill>
                  <a:srgbClr val="222222"/>
                </a:solidFill>
                <a:latin typeface="에이투지체 6 SemiBold"/>
                <a:ea typeface="에이투지체 6 SemiBold"/>
                <a:cs typeface="에이투지체 6 SemiBold"/>
              </a:rPr>
              <a:t>키성장영양제, 키크는영양제, 카무트효소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361688" y="3566160"/>
            <a:ext cx="3447288" cy="29260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150" b="0">
                <a:solidFill>
                  <a:srgbClr val="004F9F"/>
                </a:solidFill>
                <a:latin typeface="에이투지체 6 SemiBold"/>
                <a:ea typeface="에이투지체 6 SemiBold"/>
                <a:cs typeface="에이투지체 6 SemiBold"/>
              </a:rPr>
              <a:t>현재  </a:t>
            </a:r>
            <a:r>
              <a:rPr sz="1150" b="0">
                <a:solidFill>
                  <a:srgbClr val="5C5C5C"/>
                </a:solidFill>
                <a:latin typeface="에이투지체 4 Regular"/>
                <a:ea typeface="에이투지체 4 Regular"/>
                <a:cs typeface="에이투지체 4 Regular"/>
              </a:rPr>
              <a:t>첫 화면 미노출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361688" y="3931920"/>
            <a:ext cx="3447288" cy="6858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1150" b="0">
                <a:solidFill>
                  <a:srgbClr val="004F9F"/>
                </a:solidFill>
                <a:latin typeface="에이투지체 6 SemiBold"/>
                <a:ea typeface="에이투지체 6 SemiBold"/>
                <a:cs typeface="에이투지체 6 SemiBold"/>
              </a:rPr>
              <a:t>운영  </a:t>
            </a:r>
            <a:r>
              <a:rPr sz="1150" b="0">
                <a:solidFill>
                  <a:srgbClr val="222222"/>
                </a:solidFill>
                <a:latin typeface="에이투지체 4 Regular"/>
                <a:ea typeface="에이투지체 4 Regular"/>
                <a:cs typeface="에이투지체 4 Regular"/>
              </a:rPr>
              <a:t>리뷰 많은 FGO, 카무트 중심 노출</a:t>
            </a:r>
          </a:p>
          <a:p>
            <a:pPr algn="l">
              <a:spcAft>
                <a:spcPts val="200"/>
              </a:spcAft>
            </a:pPr>
            <a:r>
              <a:rPr sz="1150" b="0">
                <a:solidFill>
                  <a:srgbClr val="222222"/>
                </a:solidFill>
                <a:latin typeface="에이투지체 4 Regular"/>
                <a:ea typeface="에이투지체 4 Regular"/>
                <a:cs typeface="에이투지체 4 Regular"/>
              </a:rPr>
              <a:t>          예산과 목표 ROAS로 노출량 조정</a:t>
            </a:r>
          </a:p>
        </p:txBody>
      </p:sp>
      <p:cxnSp>
        <p:nvCxnSpPr>
          <p:cNvPr id="23" name="Connector 22"/>
          <p:cNvCxnSpPr/>
          <p:nvPr/>
        </p:nvCxnSpPr>
        <p:spPr>
          <a:xfrm>
            <a:off x="4361688" y="4663440"/>
            <a:ext cx="3447287" cy="0"/>
          </a:xfrm>
          <a:prstGeom prst="line">
            <a:avLst/>
          </a:prstGeom>
          <a:ln w="12700">
            <a:solidFill>
              <a:srgbClr val="D0D0D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4" name="TextBox 23"/>
          <p:cNvSpPr txBox="1"/>
          <p:nvPr/>
        </p:nvSpPr>
        <p:spPr>
          <a:xfrm>
            <a:off x="4361688" y="4736592"/>
            <a:ext cx="3447288" cy="29260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150" b="0">
                <a:solidFill>
                  <a:srgbClr val="004F9F"/>
                </a:solidFill>
                <a:latin typeface="에이투지체 6 SemiBold"/>
                <a:ea typeface="에이투지체 6 SemiBold"/>
                <a:cs typeface="에이투지체 6 SemiBold"/>
              </a:rPr>
              <a:t>지표  대표 검색어 노출, 전환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8174736" y="2103120"/>
            <a:ext cx="3447288" cy="868680"/>
          </a:xfrm>
          <a:prstGeom prst="roundRect">
            <a:avLst>
              <a:gd name="adj" fmla="val 8421"/>
            </a:avLst>
          </a:prstGeom>
          <a:solidFill>
            <a:srgbClr val="0E3A7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6" name="TextBox 25"/>
          <p:cNvSpPr txBox="1"/>
          <p:nvPr/>
        </p:nvSpPr>
        <p:spPr>
          <a:xfrm>
            <a:off x="8403336" y="2103120"/>
            <a:ext cx="3017520" cy="86868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1500" b="0">
                <a:solidFill>
                  <a:srgbClr val="FFFFFF"/>
                </a:solidFill>
                <a:latin typeface="에이투지체 8 ExtraBold"/>
                <a:ea typeface="에이투지체 8 ExtraBold"/>
                <a:cs typeface="에이투지체 8 ExtraBold"/>
              </a:rPr>
              <a:t>경쟁사 브랜드 검색어</a:t>
            </a:r>
          </a:p>
          <a:p>
            <a:pPr algn="l"/>
            <a:r>
              <a:rPr sz="1200" b="0">
                <a:solidFill>
                  <a:srgbClr val="C9DAEE"/>
                </a:solidFill>
                <a:latin typeface="에이투지체 6 SemiBold"/>
                <a:ea typeface="에이투지체 6 SemiBold"/>
                <a:cs typeface="에이투지체 6 SemiBold"/>
              </a:rPr>
              <a:t>경쟁 상품을 찾는 고객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8174736" y="3090672"/>
            <a:ext cx="3447288" cy="5029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200" b="0">
                <a:solidFill>
                  <a:srgbClr val="222222"/>
                </a:solidFill>
                <a:latin typeface="에이투지체 6 SemiBold"/>
                <a:ea typeface="에이투지체 6 SemiBold"/>
                <a:cs typeface="에이투지체 6 SemiBold"/>
              </a:rPr>
              <a:t>키움정, 하우투키, 키앤이거, 키클레오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8174736" y="3566160"/>
            <a:ext cx="3447288" cy="29260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150" b="0">
                <a:solidFill>
                  <a:srgbClr val="004F9F"/>
                </a:solidFill>
                <a:latin typeface="에이투지체 6 SemiBold"/>
                <a:ea typeface="에이투지체 6 SemiBold"/>
                <a:cs typeface="에이투지체 6 SemiBold"/>
              </a:rPr>
              <a:t>현재  </a:t>
            </a:r>
            <a:r>
              <a:rPr sz="1150" b="0">
                <a:solidFill>
                  <a:srgbClr val="5C5C5C"/>
                </a:solidFill>
                <a:latin typeface="에이투지체 4 Regular"/>
                <a:ea typeface="에이투지체 4 Regular"/>
                <a:cs typeface="에이투지체 4 Regular"/>
              </a:rPr>
              <a:t>두드림 노출 없음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8174736" y="3931920"/>
            <a:ext cx="3447288" cy="6858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1150" b="0">
                <a:solidFill>
                  <a:srgbClr val="004F9F"/>
                </a:solidFill>
                <a:latin typeface="에이투지체 6 SemiBold"/>
                <a:ea typeface="에이투지체 6 SemiBold"/>
                <a:cs typeface="에이투지체 6 SemiBold"/>
              </a:rPr>
              <a:t>운영  </a:t>
            </a:r>
            <a:r>
              <a:rPr sz="1150" b="0">
                <a:solidFill>
                  <a:srgbClr val="222222"/>
                </a:solidFill>
                <a:latin typeface="에이투지체 4 Regular"/>
                <a:ea typeface="에이투지체 4 Regular"/>
                <a:cs typeface="에이투지체 4 Regular"/>
              </a:rPr>
              <a:t>제외 키워드로 막지 않고 성과 확인</a:t>
            </a:r>
          </a:p>
          <a:p>
            <a:pPr algn="l">
              <a:spcAft>
                <a:spcPts val="200"/>
              </a:spcAft>
            </a:pPr>
            <a:r>
              <a:rPr sz="1150" b="0">
                <a:solidFill>
                  <a:srgbClr val="222222"/>
                </a:solidFill>
                <a:latin typeface="에이투지체 4 Regular"/>
                <a:ea typeface="에이투지체 4 Regular"/>
                <a:cs typeface="에이투지체 4 Regular"/>
              </a:rPr>
              <a:t>          5클릭 이상 무전환 검색어만 제외</a:t>
            </a:r>
          </a:p>
        </p:txBody>
      </p:sp>
      <p:cxnSp>
        <p:nvCxnSpPr>
          <p:cNvPr id="30" name="Connector 29"/>
          <p:cNvCxnSpPr/>
          <p:nvPr/>
        </p:nvCxnSpPr>
        <p:spPr>
          <a:xfrm>
            <a:off x="8174736" y="4663440"/>
            <a:ext cx="3447288" cy="0"/>
          </a:xfrm>
          <a:prstGeom prst="line">
            <a:avLst/>
          </a:prstGeom>
          <a:ln w="12700">
            <a:solidFill>
              <a:srgbClr val="D0D0D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1" name="TextBox 30"/>
          <p:cNvSpPr txBox="1"/>
          <p:nvPr/>
        </p:nvSpPr>
        <p:spPr>
          <a:xfrm>
            <a:off x="8174736" y="4736592"/>
            <a:ext cx="3447288" cy="29260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150" b="0">
                <a:solidFill>
                  <a:srgbClr val="004F9F"/>
                </a:solidFill>
                <a:latin typeface="에이투지체 6 SemiBold"/>
                <a:ea typeface="에이투지체 6 SemiBold"/>
                <a:cs typeface="에이투지체 6 SemiBold"/>
              </a:rPr>
              <a:t>지표  경쟁사 검색어 전환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548640" y="5102352"/>
            <a:ext cx="11064240" cy="365760"/>
          </a:xfrm>
          <a:prstGeom prst="roundRect">
            <a:avLst>
              <a:gd name="adj" fmla="val 20000"/>
            </a:avLst>
          </a:prstGeom>
          <a:solidFill>
            <a:srgbClr val="F5F5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3" name="TextBox 32"/>
          <p:cNvSpPr txBox="1"/>
          <p:nvPr/>
        </p:nvSpPr>
        <p:spPr>
          <a:xfrm>
            <a:off x="731520" y="5102352"/>
            <a:ext cx="10698480" cy="36576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1150" b="0">
                <a:solidFill>
                  <a:srgbClr val="004F9F"/>
                </a:solidFill>
                <a:latin typeface="에이투지체 6 SemiBold"/>
                <a:ea typeface="에이투지체 6 SemiBold"/>
                <a:cs typeface="에이투지체 6 SemiBold"/>
              </a:rPr>
              <a:t>확장 방식  </a:t>
            </a:r>
            <a:r>
              <a:rPr sz="1150" b="0">
                <a:solidFill>
                  <a:srgbClr val="222222"/>
                </a:solidFill>
                <a:latin typeface="에이투지체 5 Medium"/>
                <a:ea typeface="에이투지체 5 Medium"/>
                <a:cs typeface="에이투지체 5 Medium"/>
              </a:rPr>
              <a:t>세부 검색어는 매출 최적화가 찾고, 검색어 리포트로 무전환 검색어만 제외합니다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48640" y="347472"/>
            <a:ext cx="8229600" cy="27432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900" b="0" spc="100">
                <a:solidFill>
                  <a:srgbClr val="004F9F"/>
                </a:solidFill>
                <a:latin typeface="에이투지체 6 SemiBold"/>
                <a:ea typeface="에이투지체 6 SemiBold"/>
                <a:cs typeface="에이투지체 6 SemiBold"/>
              </a:rPr>
              <a:t>PART 2 · 11월 마케팅 전략 · 미디어믹스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658368"/>
            <a:ext cx="11064240" cy="86868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>
              <a:lnSpc>
                <a:spcPts val="2600"/>
              </a:lnSpc>
            </a:pPr>
            <a:r>
              <a:rPr sz="1900" b="0">
                <a:solidFill>
                  <a:srgbClr val="FFFFFF"/>
                </a:solidFill>
                <a:highlight>
                  <a:srgbClr val="0000FF"/>
                </a:highlight>
                <a:latin typeface="에이투지체 8 ExtraBold"/>
                <a:ea typeface="에이투지체 8 ExtraBold"/>
                <a:cs typeface="에이투지체 8 ExtraBold"/>
              </a:rPr>
              <a:t>지마켓은 광고 상품이 일부에 그치고</a:t>
            </a:r>
          </a:p>
          <a:p>
            <a:pPr>
              <a:lnSpc>
                <a:spcPts val="2600"/>
              </a:lnSpc>
            </a:pPr>
            <a:r>
              <a:rPr sz="1900" b="0">
                <a:solidFill>
                  <a:srgbClr val="222222"/>
                </a:solidFill>
                <a:latin typeface="에이투지체 8 ExtraBold"/>
                <a:ea typeface="에이투지체 8 ExtraBold"/>
                <a:cs typeface="에이투지체 8 ExtraBold"/>
              </a:rPr>
              <a:t>11번가는 아직 광고 시작 전입니다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517904"/>
            <a:ext cx="11064240" cy="36576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100" b="0" dirty="0">
                <a:solidFill>
                  <a:srgbClr val="5C5C5C"/>
                </a:solidFill>
                <a:latin typeface="에이투지체 5 Medium"/>
                <a:ea typeface="에이투지체 5 Medium"/>
                <a:cs typeface="에이투지체 5 Medium"/>
              </a:rPr>
              <a:t>지마켓·11번가 </a:t>
            </a:r>
            <a:r>
              <a:rPr sz="1100" b="0" dirty="0" err="1">
                <a:solidFill>
                  <a:srgbClr val="5C5C5C"/>
                </a:solidFill>
                <a:latin typeface="에이투지체 5 Medium"/>
                <a:ea typeface="에이투지체 5 Medium"/>
                <a:cs typeface="에이투지체 5 Medium"/>
              </a:rPr>
              <a:t>현황</a:t>
            </a:r>
            <a:r>
              <a:rPr sz="1100" b="0" dirty="0">
                <a:solidFill>
                  <a:srgbClr val="5C5C5C"/>
                </a:solidFill>
                <a:latin typeface="에이투지체 5 Medium"/>
                <a:ea typeface="에이투지체 5 Medium"/>
                <a:cs typeface="에이투지체 5 Medium"/>
              </a:rPr>
              <a:t> </a:t>
            </a:r>
            <a:r>
              <a:rPr sz="1100" b="0" dirty="0" err="1">
                <a:solidFill>
                  <a:srgbClr val="5C5C5C"/>
                </a:solidFill>
                <a:latin typeface="에이투지체 5 Medium"/>
                <a:ea typeface="에이투지체 5 Medium"/>
                <a:cs typeface="에이투지체 5 Medium"/>
              </a:rPr>
              <a:t>진단</a:t>
            </a:r>
            <a:r>
              <a:rPr sz="1100" b="0" dirty="0">
                <a:solidFill>
                  <a:srgbClr val="5C5C5C"/>
                </a:solidFill>
                <a:latin typeface="에이투지체 5 Medium"/>
                <a:ea typeface="에이투지체 5 Medium"/>
                <a:cs typeface="에이투지체 5 Medium"/>
              </a:rPr>
              <a:t> ①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48640" y="5577840"/>
            <a:ext cx="11064240" cy="438912"/>
          </a:xfrm>
          <a:prstGeom prst="roundRect">
            <a:avLst>
              <a:gd name="adj" fmla="val 16666"/>
            </a:avLst>
          </a:prstGeom>
          <a:solidFill>
            <a:srgbClr val="EAF2FB"/>
          </a:solidFill>
          <a:ln w="9525">
            <a:solidFill>
              <a:srgbClr val="004F9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740664" y="5702565"/>
            <a:ext cx="10671048" cy="207749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r>
              <a:rPr lang="ko-KR" altLang="ko-KR" sz="1350" dirty="0">
                <a:solidFill>
                  <a:srgbClr val="004F9F"/>
                </a:solidFill>
                <a:latin typeface="에이투지체 6 SemiBold"/>
                <a:ea typeface="에이투지체 6 SemiBold"/>
              </a:rPr>
              <a:t>지마켓과 11번가 모두 광고 영역을 채우는 것이 시작 과제입니</a:t>
            </a:r>
            <a:r>
              <a:rPr lang="ko-KR" altLang="en-US" sz="1350" dirty="0">
                <a:solidFill>
                  <a:srgbClr val="004F9F"/>
                </a:solidFill>
                <a:latin typeface="에이투지체 6 SemiBold"/>
                <a:ea typeface="에이투지체 6 SemiBold"/>
              </a:rPr>
              <a:t>다</a:t>
            </a:r>
            <a:endParaRPr sz="1350" dirty="0">
              <a:solidFill>
                <a:srgbClr val="004F9F"/>
              </a:solidFill>
              <a:latin typeface="에이투지체 6 SemiBold"/>
              <a:ea typeface="에이투지체 6 SemiBold"/>
            </a:endParaRPr>
          </a:p>
        </p:txBody>
      </p:sp>
      <p:sp>
        <p:nvSpPr>
          <p:cNvPr id="7" name="TextBox 6"/>
          <p:cNvSpPr txBox="1"/>
          <p:nvPr/>
        </p:nvSpPr>
        <p:spPr>
          <a:xfrm>
            <a:off x="548640" y="6089904"/>
            <a:ext cx="1106424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850" b="0">
                <a:solidFill>
                  <a:srgbClr val="919191"/>
                </a:solidFill>
                <a:latin typeface="에이투지체 3 Light"/>
                <a:ea typeface="에이투지체 3 Light"/>
                <a:cs typeface="에이투지체 3 Light"/>
              </a:rPr>
              <a:t>광고비: 11월 미디어믹스 제안안 / 지마켓: 2026.10.13 지마켓 PC 검색 화면 기준. 검색 결과는 새로고침, 사용자별로 달라짐 / 괄호는 리뷰 수 / 11번가: 2026.10.13 11번가 PC 검색 화면 기준. 검색 결과는 새로고침, 사용자별로 달라짐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6473952"/>
            <a:ext cx="420624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800" b="0">
                <a:solidFill>
                  <a:srgbClr val="919191"/>
                </a:solidFill>
                <a:latin typeface="에이투지체 3 Light"/>
                <a:ea typeface="에이투지체 3 Light"/>
                <a:cs typeface="에이투지체 3 Light"/>
              </a:rPr>
              <a:t>DODREAM B&amp;B AD PROPOSAL · 2026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138160" y="6473952"/>
            <a:ext cx="301752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/>
            <a:r>
              <a:rPr sz="800" b="0">
                <a:solidFill>
                  <a:srgbClr val="919191"/>
                </a:solidFill>
                <a:latin typeface="에이투지체 3 Light"/>
                <a:ea typeface="에이투지체 3 Light"/>
                <a:cs typeface="에이투지체 3 Light"/>
              </a:rPr>
              <a:t>LINKPRICE · BRAND AD CENTER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292840" y="6473952"/>
            <a:ext cx="36576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/>
            <a:r>
              <a:rPr sz="800" b="0">
                <a:solidFill>
                  <a:srgbClr val="222222"/>
                </a:solidFill>
                <a:latin typeface="에이투지체 6 SemiBold"/>
                <a:ea typeface="에이투지체 6 SemiBold"/>
                <a:cs typeface="에이투지체 6 SemiBold"/>
              </a:rPr>
              <a:t>41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48640" y="2103120"/>
            <a:ext cx="3447288" cy="1051560"/>
          </a:xfrm>
          <a:prstGeom prst="roundRect">
            <a:avLst>
              <a:gd name="adj" fmla="val 6956"/>
            </a:avLst>
          </a:prstGeom>
          <a:solidFill>
            <a:srgbClr val="EAF2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777240" y="2157984"/>
            <a:ext cx="3017520" cy="53035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2800" b="0">
                <a:solidFill>
                  <a:srgbClr val="004F9F"/>
                </a:solidFill>
                <a:latin typeface="에이투지체 8 ExtraBold"/>
                <a:ea typeface="에이투지체 8 ExtraBold"/>
                <a:cs typeface="에이투지체 8 ExtraBold"/>
              </a:rPr>
              <a:t>광고 운영 중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77240" y="2724912"/>
            <a:ext cx="3017520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150" b="0">
                <a:solidFill>
                  <a:srgbClr val="5C5C5C"/>
                </a:solidFill>
                <a:latin typeface="에이투지체 6 SemiBold"/>
                <a:ea typeface="에이투지체 6 SemiBold"/>
                <a:cs typeface="에이투지체 6 SemiBold"/>
              </a:rPr>
              <a:t>지마켓 먼저 둘러보세요 (파워클릭)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48640" y="3337560"/>
            <a:ext cx="3447288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575" b="0">
                <a:solidFill>
                  <a:srgbClr val="222222"/>
                </a:solidFill>
                <a:latin typeface="에이투지체 6 SemiBold"/>
                <a:ea typeface="에이투지체 6 SemiBold"/>
                <a:cs typeface="에이투지체 6 SemiBold"/>
              </a:rPr>
              <a:t>광고 상품은 일부만 노출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48640" y="3794760"/>
            <a:ext cx="3447288" cy="10515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300" b="0" dirty="0" err="1">
                <a:solidFill>
                  <a:srgbClr val="5C5C5C"/>
                </a:solidFill>
                <a:latin typeface="에이투지체 4 Regular"/>
                <a:ea typeface="에이투지체 4 Regular"/>
                <a:cs typeface="에이투지체 4 Regular"/>
              </a:rPr>
              <a:t>미니샵에는</a:t>
            </a:r>
            <a:r>
              <a:rPr sz="1300" b="0" dirty="0">
                <a:solidFill>
                  <a:srgbClr val="5C5C5C"/>
                </a:solidFill>
                <a:latin typeface="에이투지체 4 Regular"/>
                <a:ea typeface="에이투지체 4 Regular"/>
                <a:cs typeface="에이투지체 4 Regular"/>
              </a:rPr>
              <a:t> </a:t>
            </a:r>
            <a:r>
              <a:rPr sz="1300" b="0" dirty="0" err="1">
                <a:solidFill>
                  <a:srgbClr val="5C5C5C"/>
                </a:solidFill>
                <a:latin typeface="에이투지체 4 Regular"/>
                <a:ea typeface="에이투지체 4 Regular"/>
                <a:cs typeface="에이투지체 4 Regular"/>
              </a:rPr>
              <a:t>아이클타임</a:t>
            </a:r>
            <a:r>
              <a:rPr sz="1300" b="0" dirty="0">
                <a:solidFill>
                  <a:srgbClr val="5C5C5C"/>
                </a:solidFill>
                <a:latin typeface="에이투지체 4 Regular"/>
                <a:ea typeface="에이투지체 4 Regular"/>
                <a:cs typeface="에이투지체 4 Regular"/>
              </a:rPr>
              <a:t> </a:t>
            </a:r>
            <a:r>
              <a:rPr sz="1300" b="0" dirty="0" err="1">
                <a:solidFill>
                  <a:srgbClr val="5C5C5C"/>
                </a:solidFill>
                <a:latin typeface="에이투지체 4 Regular"/>
                <a:ea typeface="에이투지체 4 Regular"/>
                <a:cs typeface="에이투지체 4 Regular"/>
              </a:rPr>
              <a:t>상품</a:t>
            </a:r>
            <a:r>
              <a:rPr sz="1300" b="0" dirty="0">
                <a:solidFill>
                  <a:srgbClr val="5C5C5C"/>
                </a:solidFill>
                <a:latin typeface="에이투지체 4 Regular"/>
                <a:ea typeface="에이투지체 4 Regular"/>
                <a:cs typeface="에이투지체 4 Regular"/>
              </a:rPr>
              <a:t> </a:t>
            </a:r>
            <a:r>
              <a:rPr sz="1300" b="0" dirty="0" err="1">
                <a:solidFill>
                  <a:srgbClr val="5C5C5C"/>
                </a:solidFill>
                <a:latin typeface="에이투지체 4 Regular"/>
                <a:ea typeface="에이투지체 4 Regular"/>
                <a:cs typeface="에이투지체 4 Regular"/>
              </a:rPr>
              <a:t>다수</a:t>
            </a:r>
            <a:endParaRPr sz="1300" b="0" dirty="0">
              <a:solidFill>
                <a:srgbClr val="5C5C5C"/>
              </a:solidFill>
              <a:latin typeface="에이투지체 4 Regular"/>
              <a:ea typeface="에이투지체 4 Regular"/>
              <a:cs typeface="에이투지체 4 Regular"/>
            </a:endParaRPr>
          </a:p>
          <a:p>
            <a:pPr algn="l"/>
            <a:r>
              <a:rPr sz="1300" b="0" dirty="0" err="1">
                <a:solidFill>
                  <a:srgbClr val="5C5C5C"/>
                </a:solidFill>
                <a:latin typeface="에이투지체 4 Regular"/>
                <a:ea typeface="에이투지체 4 Regular"/>
                <a:cs typeface="에이투지체 4 Regular"/>
              </a:rPr>
              <a:t>광고</a:t>
            </a:r>
            <a:r>
              <a:rPr sz="1300" b="0" dirty="0">
                <a:solidFill>
                  <a:srgbClr val="5C5C5C"/>
                </a:solidFill>
                <a:latin typeface="에이투지체 4 Regular"/>
                <a:ea typeface="에이투지체 4 Regular"/>
                <a:cs typeface="에이투지체 4 Regular"/>
              </a:rPr>
              <a:t> </a:t>
            </a:r>
            <a:r>
              <a:rPr sz="1300" b="0" dirty="0" err="1">
                <a:solidFill>
                  <a:srgbClr val="5C5C5C"/>
                </a:solidFill>
                <a:latin typeface="에이투지체 4 Regular"/>
                <a:ea typeface="에이투지체 4 Regular"/>
                <a:cs typeface="에이투지체 4 Regular"/>
              </a:rPr>
              <a:t>영역은</a:t>
            </a:r>
            <a:r>
              <a:rPr sz="1300" b="0" dirty="0">
                <a:solidFill>
                  <a:srgbClr val="5C5C5C"/>
                </a:solidFill>
                <a:latin typeface="에이투지체 4 Regular"/>
                <a:ea typeface="에이투지체 4 Regular"/>
                <a:cs typeface="에이투지체 4 Regular"/>
              </a:rPr>
              <a:t> FGO, </a:t>
            </a:r>
            <a:r>
              <a:rPr sz="1300" b="0" dirty="0" err="1">
                <a:solidFill>
                  <a:srgbClr val="5C5C5C"/>
                </a:solidFill>
                <a:latin typeface="에이투지체 4 Regular"/>
                <a:ea typeface="에이투지체 4 Regular"/>
                <a:cs typeface="에이투지체 4 Regular"/>
              </a:rPr>
              <a:t>프로바이오키드</a:t>
            </a:r>
            <a:r>
              <a:rPr sz="1300" b="0" dirty="0">
                <a:solidFill>
                  <a:srgbClr val="5C5C5C"/>
                </a:solidFill>
                <a:latin typeface="에이투지체 4 Regular"/>
                <a:ea typeface="에이투지체 4 Regular"/>
                <a:cs typeface="에이투지체 4 Regular"/>
              </a:rPr>
              <a:t> </a:t>
            </a:r>
            <a:r>
              <a:rPr sz="1300" b="0" dirty="0" err="1">
                <a:solidFill>
                  <a:srgbClr val="5C5C5C"/>
                </a:solidFill>
                <a:latin typeface="에이투지체 4 Regular"/>
                <a:ea typeface="에이투지체 4 Regular"/>
                <a:cs typeface="에이투지체 4 Regular"/>
              </a:rPr>
              <a:t>위주</a:t>
            </a:r>
            <a:endParaRPr sz="1300" b="0" dirty="0">
              <a:solidFill>
                <a:srgbClr val="5C5C5C"/>
              </a:solidFill>
              <a:latin typeface="에이투지체 4 Regular"/>
              <a:ea typeface="에이투지체 4 Regular"/>
              <a:cs typeface="에이투지체 4 Regular"/>
            </a:endParaRPr>
          </a:p>
          <a:p>
            <a:pPr algn="l"/>
            <a:r>
              <a:rPr sz="1300" b="0" dirty="0" err="1">
                <a:solidFill>
                  <a:srgbClr val="5C5C5C"/>
                </a:solidFill>
                <a:latin typeface="에이투지체 4 Regular"/>
                <a:ea typeface="에이투지체 4 Regular"/>
                <a:cs typeface="에이투지체 4 Regular"/>
              </a:rPr>
              <a:t>브랜드</a:t>
            </a:r>
            <a:r>
              <a:rPr sz="1300" b="0" dirty="0">
                <a:solidFill>
                  <a:srgbClr val="5C5C5C"/>
                </a:solidFill>
                <a:latin typeface="에이투지체 4 Regular"/>
                <a:ea typeface="에이투지체 4 Regular"/>
                <a:cs typeface="에이투지체 4 Regular"/>
              </a:rPr>
              <a:t> </a:t>
            </a:r>
            <a:r>
              <a:rPr sz="1300" b="0" dirty="0" err="1">
                <a:solidFill>
                  <a:srgbClr val="5C5C5C"/>
                </a:solidFill>
                <a:latin typeface="에이투지체 4 Regular"/>
                <a:ea typeface="에이투지체 4 Regular"/>
                <a:cs typeface="에이투지체 4 Regular"/>
              </a:rPr>
              <a:t>검색</a:t>
            </a:r>
            <a:r>
              <a:rPr sz="1300" b="0" dirty="0">
                <a:solidFill>
                  <a:srgbClr val="5C5C5C"/>
                </a:solidFill>
                <a:latin typeface="에이투지체 4 Regular"/>
                <a:ea typeface="에이투지체 4 Regular"/>
                <a:cs typeface="에이투지체 4 Regular"/>
              </a:rPr>
              <a:t> </a:t>
            </a:r>
            <a:r>
              <a:rPr sz="1300" b="0" dirty="0" err="1">
                <a:solidFill>
                  <a:srgbClr val="5C5C5C"/>
                </a:solidFill>
                <a:latin typeface="에이투지체 4 Regular"/>
                <a:ea typeface="에이투지체 4 Regular"/>
                <a:cs typeface="에이투지체 4 Regular"/>
              </a:rPr>
              <a:t>결과에</a:t>
            </a:r>
            <a:r>
              <a:rPr sz="1300" b="0" dirty="0">
                <a:solidFill>
                  <a:srgbClr val="5C5C5C"/>
                </a:solidFill>
                <a:latin typeface="에이투지체 4 Regular"/>
                <a:ea typeface="에이투지체 4 Regular"/>
                <a:cs typeface="에이투지체 4 Regular"/>
              </a:rPr>
              <a:t> </a:t>
            </a:r>
            <a:r>
              <a:rPr sz="1300" b="0" dirty="0" err="1">
                <a:solidFill>
                  <a:srgbClr val="5C5C5C"/>
                </a:solidFill>
                <a:latin typeface="에이투지체 4 Regular"/>
                <a:ea typeface="에이투지체 4 Regular"/>
                <a:cs typeface="에이투지체 4 Regular"/>
              </a:rPr>
              <a:t>경쟁사</a:t>
            </a:r>
            <a:r>
              <a:rPr sz="1300" b="0" dirty="0">
                <a:solidFill>
                  <a:srgbClr val="5C5C5C"/>
                </a:solidFill>
                <a:latin typeface="에이투지체 4 Regular"/>
                <a:ea typeface="에이투지체 4 Regular"/>
                <a:cs typeface="에이투지체 4 Regular"/>
              </a:rPr>
              <a:t> </a:t>
            </a:r>
            <a:r>
              <a:rPr sz="1300" b="0" dirty="0" err="1">
                <a:solidFill>
                  <a:srgbClr val="5C5C5C"/>
                </a:solidFill>
                <a:latin typeface="에이투지체 4 Regular"/>
                <a:ea typeface="에이투지체 4 Regular"/>
                <a:cs typeface="에이투지체 4 Regular"/>
              </a:rPr>
              <a:t>광고</a:t>
            </a:r>
            <a:r>
              <a:rPr sz="1300" b="0" dirty="0">
                <a:solidFill>
                  <a:srgbClr val="5C5C5C"/>
                </a:solidFill>
                <a:latin typeface="에이투지체 4 Regular"/>
                <a:ea typeface="에이투지체 4 Regular"/>
                <a:cs typeface="에이투지체 4 Regular"/>
              </a:rPr>
              <a:t> </a:t>
            </a:r>
            <a:r>
              <a:rPr sz="1300" b="0" dirty="0" err="1">
                <a:solidFill>
                  <a:srgbClr val="5C5C5C"/>
                </a:solidFill>
                <a:latin typeface="에이투지체 4 Regular"/>
                <a:ea typeface="에이투지체 4 Regular"/>
                <a:cs typeface="에이투지체 4 Regular"/>
              </a:rPr>
              <a:t>노출</a:t>
            </a:r>
            <a:endParaRPr sz="1300" b="0" dirty="0">
              <a:solidFill>
                <a:srgbClr val="5C5C5C"/>
              </a:solidFill>
              <a:latin typeface="에이투지체 4 Regular"/>
              <a:ea typeface="에이투지체 4 Regular"/>
              <a:cs typeface="에이투지체 4 Regular"/>
            </a:endParaRPr>
          </a:p>
        </p:txBody>
      </p:sp>
      <p:cxnSp>
        <p:nvCxnSpPr>
          <p:cNvPr id="16" name="Connector 15"/>
          <p:cNvCxnSpPr/>
          <p:nvPr/>
        </p:nvCxnSpPr>
        <p:spPr>
          <a:xfrm>
            <a:off x="548640" y="4873752"/>
            <a:ext cx="3447288" cy="0"/>
          </a:xfrm>
          <a:prstGeom prst="line">
            <a:avLst/>
          </a:prstGeom>
          <a:ln w="12700">
            <a:solidFill>
              <a:srgbClr val="D0D0D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7" name="TextBox 16"/>
          <p:cNvSpPr txBox="1"/>
          <p:nvPr/>
        </p:nvSpPr>
        <p:spPr>
          <a:xfrm>
            <a:off x="548640" y="4983480"/>
            <a:ext cx="3447288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300" b="0">
                <a:solidFill>
                  <a:srgbClr val="004F9F"/>
                </a:solidFill>
                <a:latin typeface="에이투지체 6 SemiBold"/>
                <a:ea typeface="에이투지체 6 SemiBold"/>
                <a:cs typeface="에이투지체 6 SemiBold"/>
              </a:rPr>
              <a:t>브랜드 검색어부터 채우기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4361688" y="2103120"/>
            <a:ext cx="3447288" cy="1051560"/>
          </a:xfrm>
          <a:prstGeom prst="roundRect">
            <a:avLst>
              <a:gd name="adj" fmla="val 6956"/>
            </a:avLst>
          </a:prstGeom>
          <a:solidFill>
            <a:srgbClr val="EAF2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" name="TextBox 18"/>
          <p:cNvSpPr txBox="1"/>
          <p:nvPr/>
        </p:nvSpPr>
        <p:spPr>
          <a:xfrm>
            <a:off x="4590288" y="2157984"/>
            <a:ext cx="3017520" cy="53035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2800" b="0">
                <a:solidFill>
                  <a:srgbClr val="004F9F"/>
                </a:solidFill>
                <a:latin typeface="에이투지체 8 ExtraBold"/>
                <a:ea typeface="에이투지체 8 ExtraBold"/>
                <a:cs typeface="에이투지체 8 ExtraBold"/>
              </a:rPr>
              <a:t>리뷰 7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590288" y="2724912"/>
            <a:ext cx="3017520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150" b="0">
                <a:solidFill>
                  <a:srgbClr val="5C5C5C"/>
                </a:solidFill>
                <a:latin typeface="에이투지체 6 SemiBold"/>
                <a:ea typeface="에이투지체 6 SemiBold"/>
                <a:cs typeface="에이투지체 6 SemiBold"/>
              </a:rPr>
              <a:t>지마켓 FGO 1박스 리뷰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361688" y="3337560"/>
            <a:ext cx="3447288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575" b="0">
                <a:solidFill>
                  <a:srgbClr val="222222"/>
                </a:solidFill>
                <a:latin typeface="에이투지체 6 SemiBold"/>
                <a:ea typeface="에이투지체 6 SemiBold"/>
                <a:cs typeface="에이투지체 6 SemiBold"/>
              </a:rPr>
              <a:t>경쟁 상품과 리뷰 격차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361688" y="3794760"/>
            <a:ext cx="3447288" cy="10515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300" b="0" dirty="0" err="1">
                <a:solidFill>
                  <a:srgbClr val="5C5C5C"/>
                </a:solidFill>
                <a:latin typeface="에이투지체 4 Regular"/>
                <a:ea typeface="에이투지체 4 Regular"/>
                <a:cs typeface="에이투지체 4 Regular"/>
              </a:rPr>
              <a:t>키움정</a:t>
            </a:r>
            <a:r>
              <a:rPr sz="1300" b="0" dirty="0">
                <a:solidFill>
                  <a:srgbClr val="5C5C5C"/>
                </a:solidFill>
                <a:latin typeface="에이투지체 4 Regular"/>
                <a:ea typeface="에이투지체 4 Regular"/>
                <a:cs typeface="에이투지체 4 Regular"/>
              </a:rPr>
              <a:t> 1개월 </a:t>
            </a:r>
            <a:r>
              <a:rPr sz="1300" b="0" dirty="0" err="1">
                <a:solidFill>
                  <a:srgbClr val="5C5C5C"/>
                </a:solidFill>
                <a:latin typeface="에이투지체 4 Regular"/>
                <a:ea typeface="에이투지체 4 Regular"/>
                <a:cs typeface="에이투지체 4 Regular"/>
              </a:rPr>
              <a:t>리뷰</a:t>
            </a:r>
            <a:r>
              <a:rPr sz="1300" b="0" dirty="0">
                <a:solidFill>
                  <a:srgbClr val="5C5C5C"/>
                </a:solidFill>
                <a:latin typeface="에이투지체 4 Regular"/>
                <a:ea typeface="에이투지체 4 Regular"/>
                <a:cs typeface="에이투지체 4 Regular"/>
              </a:rPr>
              <a:t> 102, </a:t>
            </a:r>
            <a:r>
              <a:rPr sz="1300" b="0" dirty="0" err="1">
                <a:solidFill>
                  <a:srgbClr val="5C5C5C"/>
                </a:solidFill>
                <a:latin typeface="에이투지체 4 Regular"/>
                <a:ea typeface="에이투지체 4 Regular"/>
                <a:cs typeface="에이투지체 4 Regular"/>
              </a:rPr>
              <a:t>구매</a:t>
            </a:r>
            <a:r>
              <a:rPr sz="1300" b="0" dirty="0">
                <a:solidFill>
                  <a:srgbClr val="5C5C5C"/>
                </a:solidFill>
                <a:latin typeface="에이투지체 4 Regular"/>
                <a:ea typeface="에이투지체 4 Regular"/>
                <a:cs typeface="에이투지체 4 Regular"/>
              </a:rPr>
              <a:t> 5,161</a:t>
            </a:r>
          </a:p>
          <a:p>
            <a:pPr algn="l"/>
            <a:r>
              <a:rPr sz="1300" b="0" dirty="0" err="1">
                <a:solidFill>
                  <a:srgbClr val="5C5C5C"/>
                </a:solidFill>
                <a:latin typeface="에이투지체 4 Regular"/>
                <a:ea typeface="에이투지체 4 Regular"/>
                <a:cs typeface="에이투지체 4 Regular"/>
              </a:rPr>
              <a:t>그레인온</a:t>
            </a:r>
            <a:r>
              <a:rPr sz="1300" b="0" dirty="0">
                <a:solidFill>
                  <a:srgbClr val="5C5C5C"/>
                </a:solidFill>
                <a:latin typeface="에이투지체 4 Regular"/>
                <a:ea typeface="에이투지체 4 Regular"/>
                <a:cs typeface="에이투지체 4 Regular"/>
              </a:rPr>
              <a:t> </a:t>
            </a:r>
            <a:r>
              <a:rPr sz="1300" b="0" dirty="0" err="1">
                <a:solidFill>
                  <a:srgbClr val="5C5C5C"/>
                </a:solidFill>
                <a:latin typeface="에이투지체 4 Regular"/>
                <a:ea typeface="에이투지체 4 Regular"/>
                <a:cs typeface="에이투지체 4 Regular"/>
              </a:rPr>
              <a:t>카무트</a:t>
            </a:r>
            <a:r>
              <a:rPr sz="1300" b="0" dirty="0">
                <a:solidFill>
                  <a:srgbClr val="5C5C5C"/>
                </a:solidFill>
                <a:latin typeface="에이투지체 4 Regular"/>
                <a:ea typeface="에이투지체 4 Regular"/>
                <a:cs typeface="에이투지체 4 Regular"/>
              </a:rPr>
              <a:t> </a:t>
            </a:r>
            <a:r>
              <a:rPr sz="1300" b="0" dirty="0" err="1">
                <a:solidFill>
                  <a:srgbClr val="5C5C5C"/>
                </a:solidFill>
                <a:latin typeface="에이투지체 4 Regular"/>
                <a:ea typeface="에이투지체 4 Regular"/>
                <a:cs typeface="에이투지체 4 Regular"/>
              </a:rPr>
              <a:t>리뷰</a:t>
            </a:r>
            <a:r>
              <a:rPr sz="1300" b="0" dirty="0">
                <a:solidFill>
                  <a:srgbClr val="5C5C5C"/>
                </a:solidFill>
                <a:latin typeface="에이투지체 4 Regular"/>
                <a:ea typeface="에이투지체 4 Regular"/>
                <a:cs typeface="에이투지체 4 Regular"/>
              </a:rPr>
              <a:t> 14,274</a:t>
            </a:r>
          </a:p>
          <a:p>
            <a:pPr algn="l"/>
            <a:r>
              <a:rPr sz="1300" b="0" dirty="0" err="1">
                <a:solidFill>
                  <a:srgbClr val="5C5C5C"/>
                </a:solidFill>
                <a:latin typeface="에이투지체 4 Regular"/>
                <a:ea typeface="에이투지체 4 Regular"/>
                <a:cs typeface="에이투지체 4 Regular"/>
              </a:rPr>
              <a:t>슬림웨이는</a:t>
            </a:r>
            <a:r>
              <a:rPr sz="1300" b="0" dirty="0">
                <a:solidFill>
                  <a:srgbClr val="5C5C5C"/>
                </a:solidFill>
                <a:latin typeface="에이투지체 4 Regular"/>
                <a:ea typeface="에이투지체 4 Regular"/>
                <a:cs typeface="에이투지체 4 Regular"/>
              </a:rPr>
              <a:t> </a:t>
            </a:r>
            <a:r>
              <a:rPr sz="1300" b="0" dirty="0" err="1">
                <a:solidFill>
                  <a:srgbClr val="5C5C5C"/>
                </a:solidFill>
                <a:latin typeface="에이투지체 4 Regular"/>
                <a:ea typeface="에이투지체 4 Regular"/>
                <a:cs typeface="에이투지체 4 Regular"/>
              </a:rPr>
              <a:t>리뷰</a:t>
            </a:r>
            <a:r>
              <a:rPr sz="1300" b="0" dirty="0">
                <a:solidFill>
                  <a:srgbClr val="5C5C5C"/>
                </a:solidFill>
                <a:latin typeface="에이투지체 4 Regular"/>
                <a:ea typeface="에이투지체 4 Regular"/>
                <a:cs typeface="에이투지체 4 Regular"/>
              </a:rPr>
              <a:t> </a:t>
            </a:r>
            <a:r>
              <a:rPr sz="1300" b="0" dirty="0" err="1">
                <a:solidFill>
                  <a:srgbClr val="5C5C5C"/>
                </a:solidFill>
                <a:latin typeface="에이투지체 4 Regular"/>
                <a:ea typeface="에이투지체 4 Regular"/>
                <a:cs typeface="에이투지체 4 Regular"/>
              </a:rPr>
              <a:t>없이</a:t>
            </a:r>
            <a:r>
              <a:rPr sz="1300" b="0" dirty="0">
                <a:solidFill>
                  <a:srgbClr val="5C5C5C"/>
                </a:solidFill>
                <a:latin typeface="에이투지체 4 Regular"/>
                <a:ea typeface="에이투지체 4 Regular"/>
                <a:cs typeface="에이투지체 4 Regular"/>
              </a:rPr>
              <a:t> </a:t>
            </a:r>
            <a:r>
              <a:rPr sz="1300" b="0" dirty="0" err="1">
                <a:solidFill>
                  <a:srgbClr val="5C5C5C"/>
                </a:solidFill>
                <a:latin typeface="에이투지체 4 Regular"/>
                <a:ea typeface="에이투지체 4 Regular"/>
                <a:cs typeface="에이투지체 4 Regular"/>
              </a:rPr>
              <a:t>구매</a:t>
            </a:r>
            <a:r>
              <a:rPr sz="1300" b="0" dirty="0">
                <a:solidFill>
                  <a:srgbClr val="5C5C5C"/>
                </a:solidFill>
                <a:latin typeface="에이투지체 4 Regular"/>
                <a:ea typeface="에이투지체 4 Regular"/>
                <a:cs typeface="에이투지체 4 Regular"/>
              </a:rPr>
              <a:t> 8</a:t>
            </a:r>
          </a:p>
        </p:txBody>
      </p:sp>
      <p:cxnSp>
        <p:nvCxnSpPr>
          <p:cNvPr id="23" name="Connector 22"/>
          <p:cNvCxnSpPr/>
          <p:nvPr/>
        </p:nvCxnSpPr>
        <p:spPr>
          <a:xfrm>
            <a:off x="4361688" y="4873752"/>
            <a:ext cx="3447287" cy="0"/>
          </a:xfrm>
          <a:prstGeom prst="line">
            <a:avLst/>
          </a:prstGeom>
          <a:ln w="12700">
            <a:solidFill>
              <a:srgbClr val="D0D0D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4" name="TextBox 23"/>
          <p:cNvSpPr txBox="1"/>
          <p:nvPr/>
        </p:nvSpPr>
        <p:spPr>
          <a:xfrm>
            <a:off x="4361688" y="4983480"/>
            <a:ext cx="3447288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300" b="0">
                <a:solidFill>
                  <a:srgbClr val="004F9F"/>
                </a:solidFill>
                <a:latin typeface="에이투지체 6 SemiBold"/>
                <a:ea typeface="에이투지체 6 SemiBold"/>
                <a:cs typeface="에이투지체 6 SemiBold"/>
              </a:rPr>
              <a:t>경쟁 상품과 리뷰 수 차이가 큼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8174736" y="2103120"/>
            <a:ext cx="3447288" cy="1051560"/>
          </a:xfrm>
          <a:prstGeom prst="roundRect">
            <a:avLst>
              <a:gd name="adj" fmla="val 6956"/>
            </a:avLst>
          </a:prstGeom>
          <a:solidFill>
            <a:srgbClr val="0E3A7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6" name="TextBox 25"/>
          <p:cNvSpPr txBox="1"/>
          <p:nvPr/>
        </p:nvSpPr>
        <p:spPr>
          <a:xfrm>
            <a:off x="8403336" y="2157984"/>
            <a:ext cx="3017520" cy="53035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2800" b="0">
                <a:solidFill>
                  <a:srgbClr val="FFFFFF"/>
                </a:solidFill>
                <a:latin typeface="에이투지체 8 ExtraBold"/>
                <a:ea typeface="에이투지체 8 ExtraBold"/>
                <a:cs typeface="에이투지체 8 ExtraBold"/>
              </a:rPr>
              <a:t>시작 전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8403336" y="2724912"/>
            <a:ext cx="3017520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150" b="0">
                <a:solidFill>
                  <a:srgbClr val="C9DAEE"/>
                </a:solidFill>
                <a:latin typeface="에이투지체 6 SemiBold"/>
                <a:ea typeface="에이투지체 6 SemiBold"/>
                <a:cs typeface="에이투지체 6 SemiBold"/>
              </a:rPr>
              <a:t>11번가 광고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8174736" y="3337560"/>
            <a:ext cx="3447288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575" b="0">
                <a:solidFill>
                  <a:srgbClr val="222222"/>
                </a:solidFill>
                <a:latin typeface="에이투지체 6 SemiBold"/>
                <a:ea typeface="에이투지체 6 SemiBold"/>
                <a:cs typeface="에이투지체 6 SemiBold"/>
              </a:rPr>
              <a:t>공식 스토어만 등록된 상태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8174736" y="3794760"/>
            <a:ext cx="3447288" cy="10515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300" b="0" dirty="0" err="1">
                <a:solidFill>
                  <a:srgbClr val="5C5C5C"/>
                </a:solidFill>
                <a:latin typeface="에이투지체 4 Regular"/>
                <a:ea typeface="에이투지체 4 Regular"/>
                <a:cs typeface="에이투지체 4 Regular"/>
              </a:rPr>
              <a:t>키성장영양제</a:t>
            </a:r>
            <a:r>
              <a:rPr sz="1300" b="0" dirty="0">
                <a:solidFill>
                  <a:srgbClr val="5C5C5C"/>
                </a:solidFill>
                <a:latin typeface="에이투지체 4 Regular"/>
                <a:ea typeface="에이투지체 4 Regular"/>
                <a:cs typeface="에이투지체 4 Regular"/>
              </a:rPr>
              <a:t>, </a:t>
            </a:r>
            <a:r>
              <a:rPr sz="1300" b="0" dirty="0" err="1">
                <a:solidFill>
                  <a:srgbClr val="5C5C5C"/>
                </a:solidFill>
                <a:latin typeface="에이투지체 4 Regular"/>
                <a:ea typeface="에이투지체 4 Regular"/>
                <a:cs typeface="에이투지체 4 Regular"/>
              </a:rPr>
              <a:t>카무트효소</a:t>
            </a:r>
            <a:r>
              <a:rPr sz="1300" b="0" dirty="0">
                <a:solidFill>
                  <a:srgbClr val="5C5C5C"/>
                </a:solidFill>
                <a:latin typeface="에이투지체 4 Regular"/>
                <a:ea typeface="에이투지체 4 Regular"/>
                <a:cs typeface="에이투지체 4 Regular"/>
              </a:rPr>
              <a:t> </a:t>
            </a:r>
            <a:r>
              <a:rPr sz="1300" b="0" dirty="0" err="1">
                <a:solidFill>
                  <a:srgbClr val="5C5C5C"/>
                </a:solidFill>
                <a:latin typeface="에이투지체 4 Regular"/>
                <a:ea typeface="에이투지체 4 Regular"/>
                <a:cs typeface="에이투지체 4 Regular"/>
              </a:rPr>
              <a:t>광고</a:t>
            </a:r>
            <a:r>
              <a:rPr sz="1300" b="0" dirty="0">
                <a:solidFill>
                  <a:srgbClr val="5C5C5C"/>
                </a:solidFill>
                <a:latin typeface="에이투지체 4 Regular"/>
                <a:ea typeface="에이투지체 4 Regular"/>
                <a:cs typeface="에이투지체 4 Regular"/>
              </a:rPr>
              <a:t> </a:t>
            </a:r>
            <a:r>
              <a:rPr sz="1300" b="0" dirty="0" err="1">
                <a:solidFill>
                  <a:srgbClr val="5C5C5C"/>
                </a:solidFill>
                <a:latin typeface="에이투지체 4 Regular"/>
                <a:ea typeface="에이투지체 4 Regular"/>
                <a:cs typeface="에이투지체 4 Regular"/>
              </a:rPr>
              <a:t>전부</a:t>
            </a:r>
            <a:r>
              <a:rPr sz="1300" b="0" dirty="0">
                <a:solidFill>
                  <a:srgbClr val="5C5C5C"/>
                </a:solidFill>
                <a:latin typeface="에이투지체 4 Regular"/>
                <a:ea typeface="에이투지체 4 Regular"/>
                <a:cs typeface="에이투지체 4 Regular"/>
              </a:rPr>
              <a:t> </a:t>
            </a:r>
            <a:r>
              <a:rPr sz="1300" b="0" dirty="0" err="1">
                <a:solidFill>
                  <a:srgbClr val="5C5C5C"/>
                </a:solidFill>
                <a:latin typeface="에이투지체 4 Regular"/>
                <a:ea typeface="에이투지체 4 Regular"/>
                <a:cs typeface="에이투지체 4 Regular"/>
              </a:rPr>
              <a:t>경쟁사</a:t>
            </a:r>
            <a:endParaRPr sz="1300" b="0" dirty="0">
              <a:solidFill>
                <a:srgbClr val="5C5C5C"/>
              </a:solidFill>
              <a:latin typeface="에이투지체 4 Regular"/>
              <a:ea typeface="에이투지체 4 Regular"/>
              <a:cs typeface="에이투지체 4 Regular"/>
            </a:endParaRPr>
          </a:p>
          <a:p>
            <a:pPr algn="l"/>
            <a:r>
              <a:rPr sz="1300" b="0" dirty="0" err="1">
                <a:solidFill>
                  <a:srgbClr val="5C5C5C"/>
                </a:solidFill>
                <a:latin typeface="에이투지체 4 Regular"/>
                <a:ea typeface="에이투지체 4 Regular"/>
                <a:cs typeface="에이투지체 4 Regular"/>
              </a:rPr>
              <a:t>아이클타임 검색 결과 광고는 다른 판매처</a:t>
            </a:r>
            <a:endParaRPr sz="1300" b="0" dirty="0">
              <a:solidFill>
                <a:srgbClr val="5C5C5C"/>
              </a:solidFill>
              <a:latin typeface="에이투지체 4 Regular"/>
              <a:ea typeface="에이투지체 4 Regular"/>
              <a:cs typeface="에이투지체 4 Regular"/>
            </a:endParaRPr>
          </a:p>
          <a:p>
            <a:pPr algn="l"/>
            <a:r>
              <a:rPr sz="1300" b="0" dirty="0" err="1">
                <a:solidFill>
                  <a:srgbClr val="5C5C5C"/>
                </a:solidFill>
                <a:latin typeface="에이투지체 4 Regular"/>
                <a:ea typeface="에이투지체 4 Regular"/>
                <a:cs typeface="에이투지체 4 Regular"/>
              </a:rPr>
              <a:t>공식</a:t>
            </a:r>
            <a:r>
              <a:rPr sz="1300" b="0" dirty="0">
                <a:solidFill>
                  <a:srgbClr val="5C5C5C"/>
                </a:solidFill>
                <a:latin typeface="에이투지체 4 Regular"/>
                <a:ea typeface="에이투지체 4 Regular"/>
                <a:cs typeface="에이투지체 4 Regular"/>
              </a:rPr>
              <a:t> </a:t>
            </a:r>
            <a:r>
              <a:rPr sz="1300" b="0" dirty="0" err="1">
                <a:solidFill>
                  <a:srgbClr val="5C5C5C"/>
                </a:solidFill>
                <a:latin typeface="에이투지체 4 Regular"/>
                <a:ea typeface="에이투지체 4 Regular"/>
                <a:cs typeface="에이투지체 4 Regular"/>
              </a:rPr>
              <a:t>스토어는</a:t>
            </a:r>
            <a:r>
              <a:rPr sz="1300" b="0" dirty="0">
                <a:solidFill>
                  <a:srgbClr val="5C5C5C"/>
                </a:solidFill>
                <a:latin typeface="에이투지체 4 Regular"/>
                <a:ea typeface="에이투지체 4 Regular"/>
                <a:cs typeface="에이투지체 4 Regular"/>
              </a:rPr>
              <a:t> </a:t>
            </a:r>
            <a:r>
              <a:rPr sz="1300" b="0" dirty="0" err="1">
                <a:solidFill>
                  <a:srgbClr val="5C5C5C"/>
                </a:solidFill>
                <a:latin typeface="에이투지체 4 Regular"/>
                <a:ea typeface="에이투지체 4 Regular"/>
                <a:cs typeface="에이투지체 4 Regular"/>
              </a:rPr>
              <a:t>신규</a:t>
            </a:r>
            <a:r>
              <a:rPr sz="1300" b="0" dirty="0">
                <a:solidFill>
                  <a:srgbClr val="5C5C5C"/>
                </a:solidFill>
                <a:latin typeface="에이투지체 4 Regular"/>
                <a:ea typeface="에이투지체 4 Regular"/>
                <a:cs typeface="에이투지체 4 Regular"/>
              </a:rPr>
              <a:t>, </a:t>
            </a:r>
            <a:r>
              <a:rPr sz="1300" b="0" dirty="0" err="1">
                <a:solidFill>
                  <a:srgbClr val="5C5C5C"/>
                </a:solidFill>
                <a:latin typeface="에이투지체 4 Regular"/>
                <a:ea typeface="에이투지체 4 Regular"/>
                <a:cs typeface="에이투지체 4 Regular"/>
              </a:rPr>
              <a:t>리뷰</a:t>
            </a:r>
            <a:r>
              <a:rPr sz="1300" b="0" dirty="0">
                <a:solidFill>
                  <a:srgbClr val="5C5C5C"/>
                </a:solidFill>
                <a:latin typeface="에이투지체 4 Regular"/>
                <a:ea typeface="에이투지체 4 Regular"/>
                <a:cs typeface="에이투지체 4 Regular"/>
              </a:rPr>
              <a:t> </a:t>
            </a:r>
            <a:r>
              <a:rPr sz="1300" b="0" dirty="0" err="1">
                <a:solidFill>
                  <a:srgbClr val="5C5C5C"/>
                </a:solidFill>
                <a:latin typeface="에이투지체 4 Regular"/>
                <a:ea typeface="에이투지체 4 Regular"/>
                <a:cs typeface="에이투지체 4 Regular"/>
              </a:rPr>
              <a:t>없음</a:t>
            </a:r>
            <a:endParaRPr sz="1300" b="0" dirty="0">
              <a:solidFill>
                <a:srgbClr val="5C5C5C"/>
              </a:solidFill>
              <a:latin typeface="에이투지체 4 Regular"/>
              <a:ea typeface="에이투지체 4 Regular"/>
              <a:cs typeface="에이투지체 4 Regular"/>
            </a:endParaRPr>
          </a:p>
        </p:txBody>
      </p:sp>
      <p:cxnSp>
        <p:nvCxnSpPr>
          <p:cNvPr id="30" name="Connector 29"/>
          <p:cNvCxnSpPr/>
          <p:nvPr/>
        </p:nvCxnSpPr>
        <p:spPr>
          <a:xfrm>
            <a:off x="8174736" y="4873752"/>
            <a:ext cx="3447288" cy="0"/>
          </a:xfrm>
          <a:prstGeom prst="line">
            <a:avLst/>
          </a:prstGeom>
          <a:ln w="12700">
            <a:solidFill>
              <a:srgbClr val="D0D0D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1" name="TextBox 30"/>
          <p:cNvSpPr txBox="1"/>
          <p:nvPr/>
        </p:nvSpPr>
        <p:spPr>
          <a:xfrm>
            <a:off x="8174736" y="4983480"/>
            <a:ext cx="3447288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300" b="0">
                <a:solidFill>
                  <a:srgbClr val="004F9F"/>
                </a:solidFill>
                <a:latin typeface="에이투지체 6 SemiBold"/>
                <a:ea typeface="에이투지체 6 SemiBold"/>
                <a:cs typeface="에이투지체 6 SemiBold"/>
              </a:rPr>
              <a:t>공식 스토어 기반부터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48640" y="347472"/>
            <a:ext cx="8229600" cy="27432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900" b="0" spc="100">
                <a:solidFill>
                  <a:srgbClr val="004F9F"/>
                </a:solidFill>
                <a:latin typeface="에이투지체 6 SemiBold"/>
                <a:ea typeface="에이투지체 6 SemiBold"/>
                <a:cs typeface="에이투지체 6 SemiBold"/>
              </a:rPr>
              <a:t>PART 2 · 11월 마케팅 전략 · 미디어믹스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658368"/>
            <a:ext cx="11064240" cy="86868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>
              <a:lnSpc>
                <a:spcPts val="2600"/>
              </a:lnSpc>
            </a:pPr>
            <a:r>
              <a:rPr sz="1900" b="0">
                <a:solidFill>
                  <a:srgbClr val="FFFFFF"/>
                </a:solidFill>
                <a:highlight>
                  <a:srgbClr val="0000FF"/>
                </a:highlight>
                <a:latin typeface="에이투지체 8 ExtraBold"/>
                <a:ea typeface="에이투지체 8 ExtraBold"/>
                <a:cs typeface="에이투지체 8 ExtraBold"/>
              </a:rPr>
              <a:t>광고 영역에는 FGO와 프로바이오키드 위주로 노출되고</a:t>
            </a:r>
          </a:p>
          <a:p>
            <a:pPr>
              <a:lnSpc>
                <a:spcPts val="2600"/>
              </a:lnSpc>
            </a:pPr>
            <a:r>
              <a:rPr sz="1900" b="0">
                <a:solidFill>
                  <a:srgbClr val="222222"/>
                </a:solidFill>
                <a:latin typeface="에이투지체 8 ExtraBold"/>
                <a:ea typeface="에이투지체 8 ExtraBold"/>
                <a:cs typeface="에이투지체 8 ExtraBold"/>
              </a:rPr>
              <a:t>미니샵의 다른 아이클타임 상품은 대부분 빠져 있습니다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517904"/>
            <a:ext cx="11064240" cy="36576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100" b="0">
                <a:solidFill>
                  <a:srgbClr val="5C5C5C"/>
                </a:solidFill>
                <a:latin typeface="에이투지체 5 Medium"/>
                <a:ea typeface="에이투지체 5 Medium"/>
                <a:cs typeface="에이투지체 5 Medium"/>
              </a:rPr>
              <a:t>지마켓 현황 진단 ②  판매 상품과 광고 상품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48640" y="5577840"/>
            <a:ext cx="11064240" cy="438912"/>
          </a:xfrm>
          <a:prstGeom prst="roundRect">
            <a:avLst>
              <a:gd name="adj" fmla="val 16666"/>
            </a:avLst>
          </a:prstGeom>
          <a:solidFill>
            <a:srgbClr val="EAF2FB"/>
          </a:solidFill>
          <a:ln w="9525">
            <a:solidFill>
              <a:srgbClr val="004F9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740664" y="5632704"/>
            <a:ext cx="10671048" cy="347472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1350" b="0">
                <a:solidFill>
                  <a:srgbClr val="004F9F"/>
                </a:solidFill>
                <a:latin typeface="에이투지체 6 SemiBold"/>
                <a:ea typeface="에이투지체 6 SemiBold"/>
                <a:cs typeface="에이투지체 6 SemiBold"/>
              </a:rPr>
              <a:t>판매 상품을 브랜드 검색어 그룹에 모두 등록해 광고 노출을 늘리고, 낮은 입찰가로 ROAS를 높이겠습니다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6089904"/>
            <a:ext cx="1106424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850" b="0">
                <a:solidFill>
                  <a:srgbClr val="919191"/>
                </a:solidFill>
                <a:latin typeface="에이투지체 3 Light"/>
                <a:ea typeface="에이투지체 3 Light"/>
                <a:cs typeface="에이투지체 3 Light"/>
              </a:rPr>
              <a:t>2026.10.13 지마켓 (주)두드림 미니샵 내 "아이클타임" 검색 결과, 지마켓 "아이클타임" 검색 결과 기준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6473952"/>
            <a:ext cx="420624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800" b="0">
                <a:solidFill>
                  <a:srgbClr val="919191"/>
                </a:solidFill>
                <a:latin typeface="에이투지체 3 Light"/>
                <a:ea typeface="에이투지체 3 Light"/>
                <a:cs typeface="에이투지체 3 Light"/>
              </a:rPr>
              <a:t>DODREAM B&amp;B AD PROPOSAL · 2026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138160" y="6473952"/>
            <a:ext cx="301752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/>
            <a:r>
              <a:rPr sz="800" b="0">
                <a:solidFill>
                  <a:srgbClr val="919191"/>
                </a:solidFill>
                <a:latin typeface="에이투지체 3 Light"/>
                <a:ea typeface="에이투지체 3 Light"/>
                <a:cs typeface="에이투지체 3 Light"/>
              </a:rPr>
              <a:t>LINKPRICE · BRAND AD CENTER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292840" y="6473952"/>
            <a:ext cx="36576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/>
            <a:r>
              <a:rPr sz="800" b="0">
                <a:solidFill>
                  <a:srgbClr val="222222"/>
                </a:solidFill>
                <a:latin typeface="에이투지체 6 SemiBold"/>
                <a:ea typeface="에이투지체 6 SemiBold"/>
                <a:cs typeface="에이투지체 6 SemiBold"/>
              </a:rPr>
              <a:t>43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48640" y="1993392"/>
            <a:ext cx="4841607" cy="29260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250" b="0">
                <a:solidFill>
                  <a:srgbClr val="004F9F"/>
                </a:solidFill>
                <a:latin typeface="에이투지체 8 ExtraBold"/>
                <a:ea typeface="에이투지체 8 ExtraBold"/>
                <a:cs typeface="에이투지체 8 ExtraBold"/>
              </a:rPr>
              <a:t>지마켓 미니샵  </a:t>
            </a:r>
            <a:r>
              <a:rPr sz="1250" b="0">
                <a:solidFill>
                  <a:srgbClr val="222222"/>
                </a:solidFill>
                <a:latin typeface="에이투지체 6 SemiBold"/>
                <a:ea typeface="에이투지체 6 SemiBold"/>
                <a:cs typeface="에이투지체 6 SemiBold"/>
              </a:rPr>
              <a:t>(주)두드림 "아이클타임" 검색</a:t>
            </a:r>
          </a:p>
        </p:txBody>
      </p:sp>
      <p:pic>
        <p:nvPicPr>
          <p:cNvPr id="12" name="Picture 11" descr="g_mini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2331720"/>
            <a:ext cx="4841607" cy="2194560"/>
          </a:xfrm>
          <a:prstGeom prst="rect">
            <a:avLst/>
          </a:prstGeom>
          <a:ln w="9525">
            <a:solidFill>
              <a:srgbClr val="DDDDDD"/>
            </a:solidFill>
          </a:ln>
        </p:spPr>
      </p:pic>
      <p:sp>
        <p:nvSpPr>
          <p:cNvPr id="15" name="TextBox 14"/>
          <p:cNvSpPr txBox="1"/>
          <p:nvPr/>
        </p:nvSpPr>
        <p:spPr>
          <a:xfrm>
            <a:off x="548640" y="4663440"/>
            <a:ext cx="4841607" cy="6400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800"/>
              </a:spcAft>
            </a:pPr>
            <a:r>
              <a:rPr sz="1100" b="0">
                <a:solidFill>
                  <a:srgbClr val="004F9F"/>
                </a:solidFill>
                <a:latin typeface="에이투지체 6 SemiBold"/>
                <a:ea typeface="에이투지체 6 SemiBold"/>
                <a:cs typeface="에이투지체 6 SemiBold"/>
              </a:rPr>
              <a:t>광고 노출  </a:t>
            </a:r>
            <a:r>
              <a:rPr sz="1100" b="0">
                <a:solidFill>
                  <a:srgbClr val="222222"/>
                </a:solidFill>
                <a:latin typeface="에이투지체 4 Regular"/>
                <a:ea typeface="에이투지체 4 Regular"/>
                <a:cs typeface="에이투지체 4 Regular"/>
              </a:rPr>
              <a:t>FGO 5박스·4박스, 프로바이오키드 위주</a:t>
            </a:r>
          </a:p>
          <a:p>
            <a:pPr algn="l">
              <a:spcAft>
                <a:spcPts val="800"/>
              </a:spcAft>
            </a:pPr>
            <a:r>
              <a:rPr sz="1100" b="0">
                <a:solidFill>
                  <a:srgbClr val="004F9F"/>
                </a:solidFill>
                <a:latin typeface="에이투지체 6 SemiBold"/>
                <a:ea typeface="에이투지체 6 SemiBold"/>
                <a:cs typeface="에이투지체 6 SemiBold"/>
              </a:rPr>
              <a:t>그 외  </a:t>
            </a:r>
            <a:r>
              <a:rPr sz="1100" b="0">
                <a:solidFill>
                  <a:srgbClr val="222222"/>
                </a:solidFill>
                <a:latin typeface="에이투지체 4 Regular"/>
                <a:ea typeface="에이투지체 4 Regular"/>
                <a:cs typeface="에이투지체 4 Regular"/>
              </a:rPr>
              <a:t>남은 광고는 뉴트리원, 녹십초</a:t>
            </a:r>
          </a:p>
        </p:txBody>
      </p:sp>
      <p:sp>
        <p:nvSpPr>
          <p:cNvPr id="16" name="TextBox 13"/>
          <p:cNvSpPr txBox="1"/>
          <p:nvPr/>
        </p:nvSpPr>
        <p:spPr>
          <a:xfrm>
            <a:off x="5943600" y="1993392"/>
            <a:ext cx="5669280" cy="29260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250" b="0">
                <a:solidFill>
                  <a:srgbClr val="004F9F"/>
                </a:solidFill>
                <a:latin typeface="에이투지체 8 ExtraBold"/>
                <a:ea typeface="에이투지체 8 ExtraBold"/>
                <a:cs typeface="에이투지체 8 ExtraBold"/>
              </a:rPr>
              <a:t>"키움정"  </a:t>
            </a:r>
            <a:r>
              <a:rPr sz="1250" b="0">
                <a:solidFill>
                  <a:srgbClr val="222222"/>
                </a:solidFill>
                <a:latin typeface="에이투지체 6 SemiBold"/>
                <a:ea typeface="에이투지체 6 SemiBold"/>
                <a:cs typeface="에이투지체 6 SemiBold"/>
              </a:rPr>
              <a:t>경쟁사 브랜드 검색어</a:t>
            </a:r>
          </a:p>
        </p:txBody>
      </p:sp>
      <p:pic>
        <p:nvPicPr>
          <p:cNvPr id="17" name="Picture 14" descr="g_kium.png"/>
          <p:cNvPicPr>
            <a:picLocks noChangeAspect="1"/>
          </p:cNvPicPr>
          <p:nvPr/>
        </p:nvPicPr>
        <p:blipFill>
          <a:blip r:embed="rId3"/>
          <a:srcRect r="5832"/>
          <a:stretch>
            <a:fillRect/>
          </a:stretch>
        </p:blipFill>
        <p:spPr>
          <a:xfrm>
            <a:off x="5943600" y="2331720"/>
            <a:ext cx="3968468" cy="2971800"/>
          </a:xfrm>
          <a:prstGeom prst="rect">
            <a:avLst/>
          </a:prstGeom>
          <a:ln w="9525">
            <a:solidFill>
              <a:srgbClr val="DDDDDD"/>
            </a:solidFill>
          </a:ln>
        </p:spPr>
      </p:pic>
      <p:sp>
        <p:nvSpPr>
          <p:cNvPr id="18" name="TextBox 15"/>
          <p:cNvSpPr txBox="1"/>
          <p:nvPr/>
        </p:nvSpPr>
        <p:spPr>
          <a:xfrm>
            <a:off x="10049228" y="2331720"/>
            <a:ext cx="1563652" cy="12801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700"/>
              </a:spcAft>
            </a:pPr>
            <a:r>
              <a:rPr sz="1050" b="0">
                <a:solidFill>
                  <a:srgbClr val="004F9F"/>
                </a:solidFill>
                <a:latin typeface="에이투지체 6 SemiBold"/>
                <a:ea typeface="에이투지체 6 SemiBold"/>
                <a:cs typeface="에이투지체 6 SemiBold"/>
              </a:rPr>
              <a:t>광고  </a:t>
            </a:r>
            <a:r>
              <a:rPr sz="1050" b="0">
                <a:solidFill>
                  <a:srgbClr val="222222"/>
                </a:solidFill>
                <a:latin typeface="에이투지체 4 Regular"/>
                <a:ea typeface="에이투지체 4 Regular"/>
                <a:cs typeface="에이투지체 4 Regular"/>
              </a:rPr>
              <a:t>전부 키움정</a:t>
            </a:r>
          </a:p>
          <a:p>
            <a:pPr algn="l">
              <a:spcAft>
                <a:spcPts val="700"/>
              </a:spcAft>
            </a:pPr>
            <a:r>
              <a:rPr sz="1050" b="0">
                <a:solidFill>
                  <a:srgbClr val="004F9F"/>
                </a:solidFill>
                <a:latin typeface="에이투지체 6 SemiBold"/>
                <a:ea typeface="에이투지체 6 SemiBold"/>
                <a:cs typeface="에이투지체 6 SemiBold"/>
              </a:rPr>
              <a:t>두드림  </a:t>
            </a:r>
            <a:r>
              <a:rPr sz="1050" b="0">
                <a:solidFill>
                  <a:srgbClr val="222222"/>
                </a:solidFill>
                <a:latin typeface="에이투지체 4 Regular"/>
                <a:ea typeface="에이투지체 4 Regular"/>
                <a:cs typeface="에이투지체 4 Regular"/>
              </a:rPr>
              <a:t>노출 없음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48640" y="347472"/>
            <a:ext cx="8229600" cy="27432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900" b="0" spc="100">
                <a:solidFill>
                  <a:srgbClr val="004F9F"/>
                </a:solidFill>
                <a:latin typeface="에이투지체 6 SemiBold"/>
                <a:ea typeface="에이투지체 6 SemiBold"/>
                <a:cs typeface="에이투지체 6 SemiBold"/>
              </a:rPr>
              <a:t>PART 2 · 11월 마케팅 전략 · 미디어믹스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658368"/>
            <a:ext cx="11064240" cy="86868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>
              <a:lnSpc>
                <a:spcPts val="2600"/>
              </a:lnSpc>
            </a:pPr>
            <a:r>
              <a:rPr sz="1900" b="0" dirty="0" err="1">
                <a:solidFill>
                  <a:srgbClr val="FFFFFF"/>
                </a:solidFill>
                <a:highlight>
                  <a:srgbClr val="0000FF"/>
                </a:highlight>
                <a:latin typeface="에이투지체 8 ExtraBold"/>
                <a:ea typeface="에이투지체 8 ExtraBold"/>
                <a:cs typeface="에이투지체 8 ExtraBold"/>
              </a:rPr>
              <a:t>대표</a:t>
            </a:r>
            <a:r>
              <a:rPr sz="1900" b="0" dirty="0">
                <a:solidFill>
                  <a:srgbClr val="FFFFFF"/>
                </a:solidFill>
                <a:highlight>
                  <a:srgbClr val="0000FF"/>
                </a:highlight>
                <a:latin typeface="에이투지체 8 ExtraBold"/>
                <a:ea typeface="에이투지체 8 ExtraBold"/>
                <a:cs typeface="에이투지체 8 ExtraBold"/>
              </a:rPr>
              <a:t> </a:t>
            </a:r>
            <a:r>
              <a:rPr sz="1900" b="0" dirty="0" err="1">
                <a:solidFill>
                  <a:srgbClr val="FFFFFF"/>
                </a:solidFill>
                <a:highlight>
                  <a:srgbClr val="0000FF"/>
                </a:highlight>
                <a:latin typeface="에이투지체 8 ExtraBold"/>
                <a:ea typeface="에이투지체 8 ExtraBold"/>
                <a:cs typeface="에이투지체 8 ExtraBold"/>
              </a:rPr>
              <a:t>검색어에</a:t>
            </a:r>
            <a:r>
              <a:rPr sz="1900" b="0" dirty="0">
                <a:solidFill>
                  <a:srgbClr val="FFFFFF"/>
                </a:solidFill>
                <a:highlight>
                  <a:srgbClr val="0000FF"/>
                </a:highlight>
                <a:latin typeface="에이투지체 8 ExtraBold"/>
                <a:ea typeface="에이투지체 8 ExtraBold"/>
                <a:cs typeface="에이투지체 8 ExtraBold"/>
              </a:rPr>
              <a:t> </a:t>
            </a:r>
            <a:r>
              <a:rPr sz="1900" b="0" dirty="0" err="1">
                <a:solidFill>
                  <a:srgbClr val="FFFFFF"/>
                </a:solidFill>
                <a:highlight>
                  <a:srgbClr val="0000FF"/>
                </a:highlight>
                <a:latin typeface="에이투지체 8 ExtraBold"/>
                <a:ea typeface="에이투지체 8 ExtraBold"/>
                <a:cs typeface="에이투지체 8 ExtraBold"/>
              </a:rPr>
              <a:t>두드림</a:t>
            </a:r>
            <a:r>
              <a:rPr sz="1900" b="0" dirty="0">
                <a:solidFill>
                  <a:srgbClr val="FFFFFF"/>
                </a:solidFill>
                <a:highlight>
                  <a:srgbClr val="0000FF"/>
                </a:highlight>
                <a:latin typeface="에이투지체 8 ExtraBold"/>
                <a:ea typeface="에이투지체 8 ExtraBold"/>
                <a:cs typeface="에이투지체 8 ExtraBold"/>
              </a:rPr>
              <a:t> </a:t>
            </a:r>
            <a:r>
              <a:rPr sz="1900" b="0" dirty="0" err="1">
                <a:solidFill>
                  <a:srgbClr val="FFFFFF"/>
                </a:solidFill>
                <a:highlight>
                  <a:srgbClr val="0000FF"/>
                </a:highlight>
                <a:latin typeface="에이투지체 8 ExtraBold"/>
                <a:ea typeface="에이투지체 8 ExtraBold"/>
                <a:cs typeface="에이투지체 8 ExtraBold"/>
              </a:rPr>
              <a:t>상품이</a:t>
            </a:r>
            <a:r>
              <a:rPr sz="1900" b="0" dirty="0">
                <a:solidFill>
                  <a:srgbClr val="FFFFFF"/>
                </a:solidFill>
                <a:highlight>
                  <a:srgbClr val="0000FF"/>
                </a:highlight>
                <a:latin typeface="에이투지체 8 ExtraBold"/>
                <a:ea typeface="에이투지체 8 ExtraBold"/>
                <a:cs typeface="에이투지체 8 ExtraBold"/>
              </a:rPr>
              <a:t> </a:t>
            </a:r>
            <a:r>
              <a:rPr sz="1900" b="0" dirty="0" err="1">
                <a:solidFill>
                  <a:srgbClr val="FFFFFF"/>
                </a:solidFill>
                <a:highlight>
                  <a:srgbClr val="0000FF"/>
                </a:highlight>
                <a:latin typeface="에이투지체 8 ExtraBold"/>
                <a:ea typeface="에이투지체 8 ExtraBold"/>
                <a:cs typeface="에이투지체 8 ExtraBold"/>
              </a:rPr>
              <a:t>노출되고</a:t>
            </a:r>
            <a:r>
              <a:rPr sz="1900" b="0" dirty="0">
                <a:solidFill>
                  <a:srgbClr val="FFFFFF"/>
                </a:solidFill>
                <a:highlight>
                  <a:srgbClr val="0000FF"/>
                </a:highlight>
                <a:latin typeface="에이투지체 8 ExtraBold"/>
                <a:ea typeface="에이투지체 8 ExtraBold"/>
                <a:cs typeface="에이투지체 8 ExtraBold"/>
              </a:rPr>
              <a:t> </a:t>
            </a:r>
            <a:r>
              <a:rPr sz="1900" b="0" dirty="0" err="1">
                <a:solidFill>
                  <a:srgbClr val="FFFFFF"/>
                </a:solidFill>
                <a:highlight>
                  <a:srgbClr val="0000FF"/>
                </a:highlight>
                <a:latin typeface="에이투지체 8 ExtraBold"/>
                <a:ea typeface="에이투지체 8 ExtraBold"/>
                <a:cs typeface="에이투지체 8 ExtraBold"/>
              </a:rPr>
              <a:t>있고</a:t>
            </a:r>
            <a:endParaRPr sz="1900" b="0" dirty="0">
              <a:solidFill>
                <a:srgbClr val="FFFFFF"/>
              </a:solidFill>
              <a:highlight>
                <a:srgbClr val="0000FF"/>
              </a:highlight>
              <a:latin typeface="에이투지체 8 ExtraBold"/>
              <a:ea typeface="에이투지체 8 ExtraBold"/>
              <a:cs typeface="에이투지체 8 ExtraBold"/>
            </a:endParaRPr>
          </a:p>
          <a:p>
            <a:pPr>
              <a:lnSpc>
                <a:spcPts val="2600"/>
              </a:lnSpc>
            </a:pPr>
            <a:r>
              <a:rPr sz="1900" b="0" dirty="0" err="1">
                <a:solidFill>
                  <a:srgbClr val="222222"/>
                </a:solidFill>
                <a:latin typeface="에이투지체 8 ExtraBold"/>
                <a:ea typeface="에이투지체 8 ExtraBold"/>
                <a:cs typeface="에이투지체 8 ExtraBold"/>
              </a:rPr>
              <a:t>경쟁</a:t>
            </a:r>
            <a:r>
              <a:rPr sz="1900" b="0" dirty="0">
                <a:solidFill>
                  <a:srgbClr val="222222"/>
                </a:solidFill>
                <a:latin typeface="에이투지체 8 ExtraBold"/>
                <a:ea typeface="에이투지체 8 ExtraBold"/>
                <a:cs typeface="에이투지체 8 ExtraBold"/>
              </a:rPr>
              <a:t> </a:t>
            </a:r>
            <a:r>
              <a:rPr sz="1900" b="0" dirty="0" err="1">
                <a:solidFill>
                  <a:srgbClr val="222222"/>
                </a:solidFill>
                <a:latin typeface="에이투지체 8 ExtraBold"/>
                <a:ea typeface="에이투지체 8 ExtraBold"/>
                <a:cs typeface="에이투지체 8 ExtraBold"/>
              </a:rPr>
              <a:t>상품과는</a:t>
            </a:r>
            <a:r>
              <a:rPr sz="1900" b="0" dirty="0">
                <a:solidFill>
                  <a:srgbClr val="222222"/>
                </a:solidFill>
                <a:latin typeface="에이투지체 8 ExtraBold"/>
                <a:ea typeface="에이투지체 8 ExtraBold"/>
                <a:cs typeface="에이투지체 8 ExtraBold"/>
              </a:rPr>
              <a:t> </a:t>
            </a:r>
            <a:r>
              <a:rPr sz="1900" b="0" dirty="0" err="1">
                <a:solidFill>
                  <a:srgbClr val="222222"/>
                </a:solidFill>
                <a:latin typeface="에이투지체 8 ExtraBold"/>
                <a:ea typeface="에이투지체 8 ExtraBold"/>
                <a:cs typeface="에이투지체 8 ExtraBold"/>
              </a:rPr>
              <a:t>리뷰</a:t>
            </a:r>
            <a:r>
              <a:rPr sz="1900" b="0" dirty="0">
                <a:solidFill>
                  <a:srgbClr val="222222"/>
                </a:solidFill>
                <a:latin typeface="에이투지체 8 ExtraBold"/>
                <a:ea typeface="에이투지체 8 ExtraBold"/>
                <a:cs typeface="에이투지체 8 ExtraBold"/>
              </a:rPr>
              <a:t> 수 </a:t>
            </a:r>
            <a:r>
              <a:rPr sz="1900" b="0" dirty="0" err="1">
                <a:solidFill>
                  <a:srgbClr val="222222"/>
                </a:solidFill>
                <a:latin typeface="에이투지체 8 ExtraBold"/>
                <a:ea typeface="에이투지체 8 ExtraBold"/>
                <a:cs typeface="에이투지체 8 ExtraBold"/>
              </a:rPr>
              <a:t>차이가</a:t>
            </a:r>
            <a:r>
              <a:rPr sz="1900" b="0" dirty="0">
                <a:solidFill>
                  <a:srgbClr val="222222"/>
                </a:solidFill>
                <a:latin typeface="에이투지체 8 ExtraBold"/>
                <a:ea typeface="에이투지체 8 ExtraBold"/>
                <a:cs typeface="에이투지체 8 ExtraBold"/>
              </a:rPr>
              <a:t> </a:t>
            </a:r>
            <a:r>
              <a:rPr sz="1900" b="0" dirty="0" err="1">
                <a:solidFill>
                  <a:srgbClr val="222222"/>
                </a:solidFill>
                <a:latin typeface="에이투지체 8 ExtraBold"/>
                <a:ea typeface="에이투지체 8 ExtraBold"/>
                <a:cs typeface="에이투지체 8 ExtraBold"/>
              </a:rPr>
              <a:t>큽니다</a:t>
            </a:r>
            <a:endParaRPr sz="1900" b="0" dirty="0">
              <a:solidFill>
                <a:srgbClr val="222222"/>
              </a:solidFill>
              <a:latin typeface="에이투지체 8 ExtraBold"/>
              <a:ea typeface="에이투지체 8 ExtraBold"/>
              <a:cs typeface="에이투지체 8 ExtraBold"/>
            </a:endParaRPr>
          </a:p>
        </p:txBody>
      </p:sp>
      <p:sp>
        <p:nvSpPr>
          <p:cNvPr id="4" name="TextBox 3"/>
          <p:cNvSpPr txBox="1"/>
          <p:nvPr/>
        </p:nvSpPr>
        <p:spPr>
          <a:xfrm>
            <a:off x="548640" y="1517904"/>
            <a:ext cx="11064240" cy="36576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100" b="0">
                <a:solidFill>
                  <a:srgbClr val="5C5C5C"/>
                </a:solidFill>
                <a:latin typeface="에이투지체 5 Medium"/>
                <a:ea typeface="에이투지체 5 Medium"/>
                <a:cs typeface="에이투지체 5 Medium"/>
              </a:rPr>
              <a:t>지마켓 현황 진단 ③  대표 검색어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48640" y="5577840"/>
            <a:ext cx="11064240" cy="438912"/>
          </a:xfrm>
          <a:prstGeom prst="roundRect">
            <a:avLst>
              <a:gd name="adj" fmla="val 16666"/>
            </a:avLst>
          </a:prstGeom>
          <a:solidFill>
            <a:srgbClr val="EAF2FB"/>
          </a:solidFill>
          <a:ln w="9525">
            <a:solidFill>
              <a:srgbClr val="004F9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740664" y="5632704"/>
            <a:ext cx="10671048" cy="347472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1350" b="0">
                <a:solidFill>
                  <a:srgbClr val="004F9F"/>
                </a:solidFill>
                <a:latin typeface="에이투지체 6 SemiBold"/>
                <a:ea typeface="에이투지체 6 SemiBold"/>
                <a:cs typeface="에이투지체 6 SemiBold"/>
              </a:rPr>
              <a:t>리뷰 격차가 큰 대표 검색어는 CPC 상한을 낮게 두고, 전환이 확인된 검색어와 상품에 예산을 먼저 씁니다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6089904"/>
            <a:ext cx="1106424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850" b="0">
                <a:solidFill>
                  <a:srgbClr val="919191"/>
                </a:solidFill>
                <a:latin typeface="에이투지체 3 Light"/>
                <a:ea typeface="에이투지체 3 Light"/>
                <a:cs typeface="에이투지체 3 Light"/>
              </a:rPr>
              <a:t>2026.10.13 지마켓 PC 검색 화면 기준. 검색 결과는 새로고침, 사용자별로 달라짐 / 괄호는 리뷰 수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6473952"/>
            <a:ext cx="420624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800" b="0">
                <a:solidFill>
                  <a:srgbClr val="919191"/>
                </a:solidFill>
                <a:latin typeface="에이투지체 3 Light"/>
                <a:ea typeface="에이투지체 3 Light"/>
                <a:cs typeface="에이투지체 3 Light"/>
              </a:rPr>
              <a:t>DODREAM B&amp;B AD PROPOSAL · 2026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138160" y="6473952"/>
            <a:ext cx="301752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/>
            <a:r>
              <a:rPr sz="800" b="0">
                <a:solidFill>
                  <a:srgbClr val="919191"/>
                </a:solidFill>
                <a:latin typeface="에이투지체 3 Light"/>
                <a:ea typeface="에이투지체 3 Light"/>
                <a:cs typeface="에이투지체 3 Light"/>
              </a:rPr>
              <a:t>LINKPRICE · BRAND AD CENTER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292840" y="6473952"/>
            <a:ext cx="36576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/>
            <a:r>
              <a:rPr sz="800" b="0">
                <a:solidFill>
                  <a:srgbClr val="222222"/>
                </a:solidFill>
                <a:latin typeface="에이투지체 6 SemiBold"/>
                <a:ea typeface="에이투지체 6 SemiBold"/>
                <a:cs typeface="에이투지체 6 SemiBold"/>
              </a:rPr>
              <a:t>44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48640" y="1993392"/>
            <a:ext cx="5394960" cy="29260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250" b="0">
                <a:solidFill>
                  <a:srgbClr val="004F9F"/>
                </a:solidFill>
                <a:latin typeface="에이투지체 8 ExtraBold"/>
                <a:ea typeface="에이투지체 8 ExtraBold"/>
                <a:cs typeface="에이투지체 8 ExtraBold"/>
              </a:rPr>
              <a:t>"키성장영양제"  </a:t>
            </a:r>
            <a:r>
              <a:rPr sz="1250" b="0">
                <a:solidFill>
                  <a:srgbClr val="222222"/>
                </a:solidFill>
                <a:latin typeface="에이투지체 6 SemiBold"/>
                <a:ea typeface="에이투지체 6 SemiBold"/>
                <a:cs typeface="에이투지체 6 SemiBold"/>
              </a:rPr>
              <a:t>두드림 2번째</a:t>
            </a:r>
          </a:p>
        </p:txBody>
      </p:sp>
      <p:pic>
        <p:nvPicPr>
          <p:cNvPr id="12" name="Picture 11" descr="g_kisj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2331720"/>
            <a:ext cx="3246120" cy="2429844"/>
          </a:xfrm>
          <a:prstGeom prst="rect">
            <a:avLst/>
          </a:prstGeom>
          <a:ln w="9525">
            <a:solidFill>
              <a:srgbClr val="DDDDDD"/>
            </a:solidFill>
          </a:ln>
        </p:spPr>
      </p:pic>
      <p:sp>
        <p:nvSpPr>
          <p:cNvPr id="13" name="TextBox 12"/>
          <p:cNvSpPr txBox="1"/>
          <p:nvPr/>
        </p:nvSpPr>
        <p:spPr>
          <a:xfrm>
            <a:off x="3959352" y="2377440"/>
            <a:ext cx="1965960" cy="30175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700"/>
              </a:spcAft>
            </a:pPr>
            <a:r>
              <a:rPr sz="1050" b="0">
                <a:solidFill>
                  <a:srgbClr val="004F9F"/>
                </a:solidFill>
                <a:latin typeface="에이투지체 6 SemiBold"/>
                <a:ea typeface="에이투지체 6 SemiBold"/>
                <a:cs typeface="에이투지체 6 SemiBold"/>
              </a:rPr>
              <a:t>상단  </a:t>
            </a:r>
            <a:r>
              <a:rPr sz="1050" b="0">
                <a:solidFill>
                  <a:srgbClr val="222222"/>
                </a:solidFill>
                <a:latin typeface="에이투지체 4 Regular"/>
                <a:ea typeface="에이투지체 4 Regular"/>
                <a:cs typeface="에이투지체 4 Regular"/>
              </a:rPr>
              <a:t>오늘의 상품이에요 광고 5개 모두 경쟁사</a:t>
            </a:r>
          </a:p>
          <a:p>
            <a:pPr algn="l">
              <a:spcAft>
                <a:spcPts val="700"/>
              </a:spcAft>
            </a:pPr>
            <a:r>
              <a:rPr sz="1050" b="0">
                <a:solidFill>
                  <a:srgbClr val="222222"/>
                </a:solidFill>
                <a:latin typeface="에이투지체 4 Regular"/>
                <a:ea typeface="에이투지체 4 Regular"/>
                <a:cs typeface="에이투지체 4 Regular"/>
              </a:rPr>
              <a:t>김소형원방, PH365, 키엔탄, 키클레오</a:t>
            </a:r>
          </a:p>
          <a:p>
            <a:pPr algn="l">
              <a:spcAft>
                <a:spcPts val="700"/>
              </a:spcAft>
            </a:pPr>
            <a:r>
              <a:rPr sz="1050" b="0">
                <a:solidFill>
                  <a:srgbClr val="004F9F"/>
                </a:solidFill>
                <a:latin typeface="에이투지체 6 SemiBold"/>
                <a:ea typeface="에이투지체 6 SemiBold"/>
                <a:cs typeface="에이투지체 6 SemiBold"/>
              </a:rPr>
              <a:t>위아래  </a:t>
            </a:r>
            <a:r>
              <a:rPr sz="1050" b="0">
                <a:solidFill>
                  <a:srgbClr val="222222"/>
                </a:solidFill>
                <a:latin typeface="에이투지체 4 Regular"/>
                <a:ea typeface="에이투지체 4 Regular"/>
                <a:cs typeface="에이투지체 4 Regular"/>
              </a:rPr>
              <a:t>순수식품 칼마디 (7,426), 고려은단 칼마디 (186)</a:t>
            </a:r>
          </a:p>
          <a:p>
            <a:pPr algn="l">
              <a:spcAft>
                <a:spcPts val="700"/>
              </a:spcAft>
            </a:pPr>
            <a:r>
              <a:rPr sz="1050" b="0">
                <a:solidFill>
                  <a:srgbClr val="004F9F"/>
                </a:solidFill>
                <a:latin typeface="에이투지체 6 SemiBold"/>
                <a:ea typeface="에이투지체 6 SemiBold"/>
                <a:cs typeface="에이투지체 6 SemiBold"/>
              </a:rPr>
              <a:t>두드림  </a:t>
            </a:r>
            <a:r>
              <a:rPr sz="1050" b="0">
                <a:solidFill>
                  <a:srgbClr val="222222"/>
                </a:solidFill>
                <a:latin typeface="에이투지체 4 Regular"/>
                <a:ea typeface="에이투지체 4 Regular"/>
                <a:cs typeface="에이투지체 4 Regular"/>
              </a:rPr>
              <a:t>FGO 1박스 (7), 구매 35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172200" y="1993392"/>
            <a:ext cx="5394960" cy="29260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250" b="0">
                <a:solidFill>
                  <a:srgbClr val="004F9F"/>
                </a:solidFill>
                <a:latin typeface="에이투지체 8 ExtraBold"/>
                <a:ea typeface="에이투지체 8 ExtraBold"/>
                <a:cs typeface="에이투지체 8 ExtraBold"/>
              </a:rPr>
              <a:t>"카무트효소"  </a:t>
            </a:r>
            <a:r>
              <a:rPr sz="1250" b="0">
                <a:solidFill>
                  <a:srgbClr val="222222"/>
                </a:solidFill>
                <a:latin typeface="에이투지체 6 SemiBold"/>
                <a:ea typeface="에이투지체 6 SemiBold"/>
                <a:cs typeface="에이투지체 6 SemiBold"/>
              </a:rPr>
              <a:t>두드림 5번째</a:t>
            </a:r>
          </a:p>
        </p:txBody>
      </p:sp>
      <p:pic>
        <p:nvPicPr>
          <p:cNvPr id="15" name="Picture 14" descr="g_kamut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172200" y="2331720"/>
            <a:ext cx="2926080" cy="2700734"/>
          </a:xfrm>
          <a:prstGeom prst="rect">
            <a:avLst/>
          </a:prstGeom>
          <a:ln w="9525">
            <a:solidFill>
              <a:srgbClr val="DDDDDD"/>
            </a:solidFill>
          </a:ln>
        </p:spPr>
      </p:pic>
      <p:sp>
        <p:nvSpPr>
          <p:cNvPr id="16" name="TextBox 15"/>
          <p:cNvSpPr txBox="1"/>
          <p:nvPr/>
        </p:nvSpPr>
        <p:spPr>
          <a:xfrm>
            <a:off x="9262872" y="2377440"/>
            <a:ext cx="2350008" cy="30175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700"/>
              </a:spcAft>
            </a:pPr>
            <a:r>
              <a:rPr sz="1050" b="0">
                <a:solidFill>
                  <a:srgbClr val="004F9F"/>
                </a:solidFill>
                <a:latin typeface="에이투지체 6 SemiBold"/>
                <a:ea typeface="에이투지체 6 SemiBold"/>
                <a:cs typeface="에이투지체 6 SemiBold"/>
              </a:rPr>
              <a:t>경쟁사  </a:t>
            </a:r>
            <a:r>
              <a:rPr sz="1050" b="0">
                <a:solidFill>
                  <a:srgbClr val="222222"/>
                </a:solidFill>
                <a:latin typeface="에이투지체 4 Regular"/>
                <a:ea typeface="에이투지체 4 Regular"/>
                <a:cs typeface="에이투지체 4 Regular"/>
              </a:rPr>
              <a:t>1~4번째 중 그레인온 3개</a:t>
            </a:r>
          </a:p>
          <a:p>
            <a:pPr algn="l">
              <a:spcAft>
                <a:spcPts val="700"/>
              </a:spcAft>
            </a:pPr>
            <a:r>
              <a:rPr sz="1050" b="0">
                <a:solidFill>
                  <a:srgbClr val="222222"/>
                </a:solidFill>
                <a:latin typeface="에이투지체 4 Regular"/>
                <a:ea typeface="에이투지체 4 Regular"/>
                <a:cs typeface="에이투지체 4 Regular"/>
              </a:rPr>
              <a:t>리뷰 14,274, 9,889, 3,474</a:t>
            </a:r>
          </a:p>
          <a:p>
            <a:pPr algn="l">
              <a:spcAft>
                <a:spcPts val="700"/>
              </a:spcAft>
            </a:pPr>
            <a:r>
              <a:rPr sz="1050" b="0">
                <a:solidFill>
                  <a:srgbClr val="222222"/>
                </a:solidFill>
                <a:latin typeface="에이투지체 4 Regular"/>
                <a:ea typeface="에이투지체 4 Regular"/>
                <a:cs typeface="에이투지체 4 Regular"/>
              </a:rPr>
              <a:t>리얼메디 2+1 (502)</a:t>
            </a:r>
          </a:p>
          <a:p>
            <a:pPr algn="l">
              <a:spcAft>
                <a:spcPts val="700"/>
              </a:spcAft>
            </a:pPr>
            <a:r>
              <a:rPr sz="1050" b="0">
                <a:solidFill>
                  <a:srgbClr val="004F9F"/>
                </a:solidFill>
                <a:latin typeface="에이투지체 6 SemiBold"/>
                <a:ea typeface="에이투지체 6 SemiBold"/>
                <a:cs typeface="에이투지체 6 SemiBold"/>
              </a:rPr>
              <a:t>두드림  </a:t>
            </a:r>
            <a:r>
              <a:rPr sz="1050" b="0">
                <a:solidFill>
                  <a:srgbClr val="222222"/>
                </a:solidFill>
                <a:latin typeface="에이투지체 4 Regular"/>
                <a:ea typeface="에이투지체 4 Regular"/>
                <a:cs typeface="에이투지체 4 Regular"/>
              </a:rPr>
              <a:t>슬림웨이 1박스, 리뷰 없이 구매 8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48640" y="347472"/>
            <a:ext cx="8229600" cy="27432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900" b="0" spc="100">
                <a:solidFill>
                  <a:srgbClr val="004F9F"/>
                </a:solidFill>
                <a:latin typeface="에이투지체 6 SemiBold"/>
                <a:ea typeface="에이투지체 6 SemiBold"/>
                <a:cs typeface="에이투지체 6 SemiBold"/>
              </a:rPr>
              <a:t>PART 2 · 11월 마케팅 전략 · 미디어믹스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658368"/>
            <a:ext cx="11064240" cy="86868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>
              <a:lnSpc>
                <a:spcPts val="2600"/>
              </a:lnSpc>
            </a:pPr>
            <a:r>
              <a:rPr lang="ko-KR" altLang="ko-KR" sz="1900" dirty="0">
                <a:solidFill>
                  <a:srgbClr val="FFFFFF"/>
                </a:solidFill>
                <a:highlight>
                  <a:srgbClr val="0000FF"/>
                </a:highlight>
                <a:latin typeface="에이투지체 8 ExtraBold"/>
                <a:ea typeface="에이투지체 8 ExtraBold"/>
              </a:rPr>
              <a:t>광고로 들어온 고객이 다른 상품도 볼 수 있도록 </a:t>
            </a:r>
          </a:p>
          <a:p>
            <a:pPr>
              <a:lnSpc>
                <a:spcPts val="2600"/>
              </a:lnSpc>
            </a:pPr>
            <a:r>
              <a:rPr lang="ko-KR" altLang="ko-KR" sz="1900" dirty="0">
                <a:solidFill>
                  <a:srgbClr val="222222"/>
                </a:solidFill>
                <a:latin typeface="에이투지체 8 ExtraBold"/>
                <a:ea typeface="에이투지체 8 ExtraBold"/>
              </a:rPr>
              <a:t>추가구성 순서 변경을 제안합니다</a:t>
            </a:r>
            <a:endParaRPr sz="1900" dirty="0">
              <a:solidFill>
                <a:srgbClr val="222222"/>
              </a:solidFill>
              <a:latin typeface="에이투지체 8 ExtraBold"/>
              <a:ea typeface="에이투지체 8 ExtraBold"/>
            </a:endParaRPr>
          </a:p>
        </p:txBody>
      </p:sp>
      <p:sp>
        <p:nvSpPr>
          <p:cNvPr id="4" name="TextBox 3"/>
          <p:cNvSpPr txBox="1"/>
          <p:nvPr/>
        </p:nvSpPr>
        <p:spPr>
          <a:xfrm>
            <a:off x="548640" y="1517904"/>
            <a:ext cx="11064240" cy="36576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100" b="0" dirty="0" err="1">
                <a:solidFill>
                  <a:srgbClr val="5C5C5C"/>
                </a:solidFill>
                <a:latin typeface="에이투지체 5 Medium"/>
                <a:ea typeface="에이투지체 5 Medium"/>
                <a:cs typeface="에이투지체 5 Medium"/>
              </a:rPr>
              <a:t>지마켓</a:t>
            </a:r>
            <a:r>
              <a:rPr sz="1100" b="0" dirty="0">
                <a:solidFill>
                  <a:srgbClr val="5C5C5C"/>
                </a:solidFill>
                <a:latin typeface="에이투지체 5 Medium"/>
                <a:ea typeface="에이투지체 5 Medium"/>
                <a:cs typeface="에이투지체 5 Medium"/>
              </a:rPr>
              <a:t> </a:t>
            </a:r>
            <a:r>
              <a:rPr sz="1100" b="0" dirty="0" err="1">
                <a:solidFill>
                  <a:srgbClr val="5C5C5C"/>
                </a:solidFill>
                <a:latin typeface="에이투지체 5 Medium"/>
                <a:ea typeface="에이투지체 5 Medium"/>
                <a:cs typeface="에이투지체 5 Medium"/>
              </a:rPr>
              <a:t>현황</a:t>
            </a:r>
            <a:r>
              <a:rPr sz="1100" b="0" dirty="0">
                <a:solidFill>
                  <a:srgbClr val="5C5C5C"/>
                </a:solidFill>
                <a:latin typeface="에이투지체 5 Medium"/>
                <a:ea typeface="에이투지체 5 Medium"/>
                <a:cs typeface="에이투지체 5 Medium"/>
              </a:rPr>
              <a:t> </a:t>
            </a:r>
            <a:r>
              <a:rPr sz="1100" b="0" dirty="0" err="1">
                <a:solidFill>
                  <a:srgbClr val="5C5C5C"/>
                </a:solidFill>
                <a:latin typeface="에이투지체 5 Medium"/>
                <a:ea typeface="에이투지체 5 Medium"/>
                <a:cs typeface="에이투지체 5 Medium"/>
              </a:rPr>
              <a:t>진단</a:t>
            </a:r>
            <a:r>
              <a:rPr sz="1100" b="0" dirty="0">
                <a:solidFill>
                  <a:srgbClr val="5C5C5C"/>
                </a:solidFill>
                <a:latin typeface="에이투지체 5 Medium"/>
                <a:ea typeface="에이투지체 5 Medium"/>
                <a:cs typeface="에이투지체 5 Medium"/>
              </a:rPr>
              <a:t> ④  </a:t>
            </a:r>
            <a:r>
              <a:rPr sz="1100" b="0" dirty="0" err="1">
                <a:solidFill>
                  <a:srgbClr val="5C5C5C"/>
                </a:solidFill>
                <a:latin typeface="에이투지체 5 Medium"/>
                <a:ea typeface="에이투지체 5 Medium"/>
                <a:cs typeface="에이투지체 5 Medium"/>
              </a:rPr>
              <a:t>상세</a:t>
            </a:r>
            <a:r>
              <a:rPr sz="1100" b="0" dirty="0">
                <a:solidFill>
                  <a:srgbClr val="5C5C5C"/>
                </a:solidFill>
                <a:latin typeface="에이투지체 5 Medium"/>
                <a:ea typeface="에이투지체 5 Medium"/>
                <a:cs typeface="에이투지체 5 Medium"/>
              </a:rPr>
              <a:t> </a:t>
            </a:r>
            <a:r>
              <a:rPr sz="1100" b="0" dirty="0" err="1">
                <a:solidFill>
                  <a:srgbClr val="5C5C5C"/>
                </a:solidFill>
                <a:latin typeface="에이투지체 5 Medium"/>
                <a:ea typeface="에이투지체 5 Medium"/>
                <a:cs typeface="에이투지체 5 Medium"/>
              </a:rPr>
              <a:t>페이지</a:t>
            </a:r>
            <a:r>
              <a:rPr sz="1100" b="0" dirty="0">
                <a:solidFill>
                  <a:srgbClr val="5C5C5C"/>
                </a:solidFill>
                <a:latin typeface="에이투지체 5 Medium"/>
                <a:ea typeface="에이투지체 5 Medium"/>
                <a:cs typeface="에이투지체 5 Medium"/>
              </a:rPr>
              <a:t> </a:t>
            </a:r>
            <a:r>
              <a:rPr sz="1100" b="0" dirty="0" err="1">
                <a:solidFill>
                  <a:srgbClr val="5C5C5C"/>
                </a:solidFill>
                <a:latin typeface="에이투지체 5 Medium"/>
                <a:ea typeface="에이투지체 5 Medium"/>
                <a:cs typeface="에이투지체 5 Medium"/>
              </a:rPr>
              <a:t>추가구성</a:t>
            </a:r>
            <a:r>
              <a:rPr sz="1100" b="0" dirty="0">
                <a:solidFill>
                  <a:srgbClr val="5C5C5C"/>
                </a:solidFill>
                <a:latin typeface="에이투지체 5 Medium"/>
                <a:ea typeface="에이투지체 5 Medium"/>
                <a:cs typeface="에이투지체 5 Medium"/>
              </a:rPr>
              <a:t> 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48640" y="5577840"/>
            <a:ext cx="11064240" cy="438912"/>
          </a:xfrm>
          <a:prstGeom prst="roundRect">
            <a:avLst>
              <a:gd name="adj" fmla="val 16666"/>
            </a:avLst>
          </a:prstGeom>
          <a:solidFill>
            <a:srgbClr val="EAF2FB"/>
          </a:solidFill>
          <a:ln w="9525">
            <a:solidFill>
              <a:srgbClr val="004F9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740664" y="5702565"/>
            <a:ext cx="10671048" cy="207749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r>
              <a:rPr lang="ko-KR" altLang="ko-KR" sz="1350" dirty="0">
                <a:solidFill>
                  <a:srgbClr val="004F9F"/>
                </a:solidFill>
                <a:latin typeface="에이투지체 6 SemiBold"/>
                <a:ea typeface="에이투지체 6 SemiBold"/>
              </a:rPr>
              <a:t>추가구성 변경 전 후, 광고 유입 고객의 구매 전환율과 객단가를 비교하여 상품별</a:t>
            </a:r>
            <a:r>
              <a:rPr lang="ko-KR" altLang="en-US" sz="1350" dirty="0">
                <a:solidFill>
                  <a:srgbClr val="004F9F"/>
                </a:solidFill>
                <a:latin typeface="에이투지체 6 SemiBold"/>
                <a:ea typeface="에이투지체 6 SemiBold"/>
              </a:rPr>
              <a:t>로</a:t>
            </a:r>
            <a:r>
              <a:rPr lang="ko-KR" altLang="ko-KR" sz="1350" dirty="0">
                <a:solidFill>
                  <a:srgbClr val="004F9F"/>
                </a:solidFill>
                <a:latin typeface="에이투지체 6 SemiBold"/>
                <a:ea typeface="에이투지체 6 SemiBold"/>
              </a:rPr>
              <a:t> 최적화된 옵션을 설정합니다</a:t>
            </a:r>
            <a:endParaRPr sz="1350" b="0" dirty="0">
              <a:solidFill>
                <a:srgbClr val="004F9F"/>
              </a:solidFill>
              <a:latin typeface="에이투지체 6 SemiBold"/>
              <a:ea typeface="에이투지체 6 SemiBold"/>
              <a:cs typeface="에이투지체 6 SemiBold"/>
            </a:endParaRPr>
          </a:p>
        </p:txBody>
      </p:sp>
      <p:sp>
        <p:nvSpPr>
          <p:cNvPr id="7" name="TextBox 6"/>
          <p:cNvSpPr txBox="1"/>
          <p:nvPr/>
        </p:nvSpPr>
        <p:spPr>
          <a:xfrm>
            <a:off x="548640" y="6089904"/>
            <a:ext cx="1106424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850" b="0">
                <a:solidFill>
                  <a:srgbClr val="919191"/>
                </a:solidFill>
                <a:latin typeface="에이투지체 3 Light"/>
                <a:ea typeface="에이투지체 3 Light"/>
                <a:cs typeface="에이투지체 3 Light"/>
              </a:rPr>
              <a:t>2026.10.13 지마켓 키움정 3박스, 두드림 아이클타임 키성장 FGO 1박스 상품 페이지 기준 / 추가구성 변경은 판매 채널 담당과 협의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6473952"/>
            <a:ext cx="420624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800" b="0">
                <a:solidFill>
                  <a:srgbClr val="919191"/>
                </a:solidFill>
                <a:latin typeface="에이투지체 3 Light"/>
                <a:ea typeface="에이투지체 3 Light"/>
                <a:cs typeface="에이투지체 3 Light"/>
              </a:rPr>
              <a:t>DODREAM B&amp;B AD PROPOSAL · 2026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138160" y="6473952"/>
            <a:ext cx="301752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/>
            <a:r>
              <a:rPr sz="800" b="0">
                <a:solidFill>
                  <a:srgbClr val="919191"/>
                </a:solidFill>
                <a:latin typeface="에이투지체 3 Light"/>
                <a:ea typeface="에이투지체 3 Light"/>
                <a:cs typeface="에이투지체 3 Light"/>
              </a:rPr>
              <a:t>LINKPRICE · BRAND AD CENTER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292840" y="6473952"/>
            <a:ext cx="36576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/>
            <a:r>
              <a:rPr sz="800" b="0">
                <a:solidFill>
                  <a:srgbClr val="222222"/>
                </a:solidFill>
                <a:latin typeface="에이투지체 6 SemiBold"/>
                <a:ea typeface="에이투지체 6 SemiBold"/>
                <a:cs typeface="에이투지체 6 SemiBold"/>
              </a:rPr>
              <a:t>45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48640" y="1993392"/>
            <a:ext cx="2651760" cy="29260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250" b="0">
                <a:solidFill>
                  <a:srgbClr val="004F9F"/>
                </a:solidFill>
                <a:latin typeface="에이투지체 8 ExtraBold"/>
                <a:ea typeface="에이투지체 8 ExtraBold"/>
                <a:cs typeface="에이투지체 8 ExtraBold"/>
              </a:rPr>
              <a:t>경쟁사  </a:t>
            </a:r>
            <a:r>
              <a:rPr sz="1250" b="0">
                <a:solidFill>
                  <a:srgbClr val="222222"/>
                </a:solidFill>
                <a:latin typeface="에이투지체 6 SemiBold"/>
                <a:ea typeface="에이투지체 6 SemiBold"/>
                <a:cs typeface="에이투지체 6 SemiBold"/>
              </a:rPr>
              <a:t>키움정 3박스</a:t>
            </a:r>
          </a:p>
        </p:txBody>
      </p:sp>
      <p:pic>
        <p:nvPicPr>
          <p:cNvPr id="12" name="Picture 11" descr="g_kium_op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2331720"/>
            <a:ext cx="2514600" cy="3054319"/>
          </a:xfrm>
          <a:prstGeom prst="rect">
            <a:avLst/>
          </a:prstGeom>
          <a:ln w="9525">
            <a:solidFill>
              <a:srgbClr val="DDDDDD"/>
            </a:solidFill>
          </a:ln>
        </p:spPr>
      </p:pic>
      <p:sp>
        <p:nvSpPr>
          <p:cNvPr id="13" name="TextBox 12"/>
          <p:cNvSpPr txBox="1"/>
          <p:nvPr/>
        </p:nvSpPr>
        <p:spPr>
          <a:xfrm>
            <a:off x="3291840" y="1993392"/>
            <a:ext cx="3200400" cy="29260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250" b="0">
                <a:solidFill>
                  <a:srgbClr val="004F9F"/>
                </a:solidFill>
                <a:latin typeface="에이투지체 8 ExtraBold"/>
                <a:ea typeface="에이투지체 8 ExtraBold"/>
                <a:cs typeface="에이투지체 8 ExtraBold"/>
              </a:rPr>
              <a:t>두드림  </a:t>
            </a:r>
            <a:r>
              <a:rPr sz="1250" b="0">
                <a:solidFill>
                  <a:srgbClr val="222222"/>
                </a:solidFill>
                <a:latin typeface="에이투지체 6 SemiBold"/>
                <a:ea typeface="에이투지체 6 SemiBold"/>
                <a:cs typeface="에이투지체 6 SemiBold"/>
              </a:rPr>
              <a:t>키성장 FGO 1박스</a:t>
            </a:r>
          </a:p>
        </p:txBody>
      </p:sp>
      <p:pic>
        <p:nvPicPr>
          <p:cNvPr id="14" name="Picture 13" descr="dd_opt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291840" y="2331720"/>
            <a:ext cx="3108960" cy="2366264"/>
          </a:xfrm>
          <a:prstGeom prst="rect">
            <a:avLst/>
          </a:prstGeom>
          <a:ln w="9525">
            <a:solidFill>
              <a:srgbClr val="DDDDDD"/>
            </a:solidFill>
          </a:ln>
        </p:spPr>
      </p:pic>
      <p:sp>
        <p:nvSpPr>
          <p:cNvPr id="15" name="TextBox 14"/>
          <p:cNvSpPr txBox="1"/>
          <p:nvPr/>
        </p:nvSpPr>
        <p:spPr>
          <a:xfrm>
            <a:off x="3291840" y="4800600"/>
            <a:ext cx="3154680" cy="5486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950" b="0">
                <a:solidFill>
                  <a:srgbClr val="5C5C5C"/>
                </a:solidFill>
                <a:latin typeface="에이투지체 4 Regular"/>
                <a:ea typeface="에이투지체 4 Regular"/>
                <a:cs typeface="에이투지체 4 Regular"/>
              </a:rPr>
              <a:t>같은 상품의 박스 수 구성이 이어지는 형태</a:t>
            </a:r>
          </a:p>
          <a:p>
            <a:pPr algn="l">
              <a:spcAft>
                <a:spcPts val="200"/>
              </a:spcAft>
            </a:pPr>
            <a:r>
              <a:rPr sz="950" b="0">
                <a:solidFill>
                  <a:srgbClr val="5C5C5C"/>
                </a:solidFill>
                <a:latin typeface="에이투지체 4 Regular"/>
                <a:ea typeface="에이투지체 4 Regular"/>
                <a:cs typeface="에이투지체 4 Regular"/>
              </a:rPr>
              <a:t>(오메가3 젤리 4, 6박스 / 키즈 종합비타민 2, 3박스 등)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675120" y="2331720"/>
            <a:ext cx="4937760" cy="3017520"/>
          </a:xfrm>
          <a:prstGeom prst="roundRect">
            <a:avLst>
              <a:gd name="adj" fmla="val 2424"/>
            </a:avLst>
          </a:prstGeom>
          <a:solidFill>
            <a:srgbClr val="F5F5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TextBox 16"/>
          <p:cNvSpPr txBox="1"/>
          <p:nvPr/>
        </p:nvSpPr>
        <p:spPr>
          <a:xfrm>
            <a:off x="6903720" y="2450592"/>
            <a:ext cx="4480560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350" b="0">
                <a:solidFill>
                  <a:srgbClr val="222222"/>
                </a:solidFill>
                <a:latin typeface="에이투지체 8 ExtraBold"/>
                <a:ea typeface="에이투지체 8 ExtraBold"/>
                <a:cs typeface="에이투지체 8 ExtraBold"/>
              </a:rPr>
              <a:t>추가구성 제안 방향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903720" y="2880360"/>
            <a:ext cx="4526280" cy="23774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100" b="0">
                <a:solidFill>
                  <a:srgbClr val="004F9F"/>
                </a:solidFill>
                <a:latin typeface="에이투지체 6 SemiBold"/>
                <a:ea typeface="에이투지체 6 SemiBold"/>
                <a:cs typeface="에이투지체 6 SemiBold"/>
              </a:rPr>
              <a:t>키움정  </a:t>
            </a:r>
            <a:r>
              <a:rPr sz="1100" b="0">
                <a:solidFill>
                  <a:srgbClr val="222222"/>
                </a:solidFill>
                <a:latin typeface="에이투지체 4 Regular"/>
                <a:ea typeface="에이투지체 4 Regular"/>
                <a:cs typeface="에이투지체 4 Regular"/>
              </a:rPr>
              <a:t>유산균, 멀티비타민, 구미젤리 세트 등 옵션마다 다른 상품이 보여, 구경하며 함께 눌러보게 됨</a:t>
            </a:r>
          </a:p>
          <a:p>
            <a:pPr algn="l">
              <a:spcAft>
                <a:spcPts val="600"/>
              </a:spcAft>
            </a:pPr>
            <a:r>
              <a:rPr sz="1100" b="0">
                <a:solidFill>
                  <a:srgbClr val="004F9F"/>
                </a:solidFill>
                <a:latin typeface="에이투지체 6 SemiBold"/>
                <a:ea typeface="에이투지체 6 SemiBold"/>
                <a:cs typeface="에이투지체 6 SemiBold"/>
              </a:rPr>
              <a:t>두드림  </a:t>
            </a:r>
            <a:r>
              <a:rPr sz="1100" b="0">
                <a:solidFill>
                  <a:srgbClr val="222222"/>
                </a:solidFill>
                <a:latin typeface="에이투지체 4 Regular"/>
                <a:ea typeface="에이투지체 4 Regular"/>
                <a:cs typeface="에이투지체 4 Regular"/>
              </a:rPr>
              <a:t>같은 상품의 박스 수 구성이 연달아 이어져, 다른 상품이 눈에 덜 띔</a:t>
            </a:r>
          </a:p>
          <a:p>
            <a:pPr algn="l">
              <a:spcAft>
                <a:spcPts val="600"/>
              </a:spcAft>
            </a:pPr>
            <a:r>
              <a:rPr sz="1100" b="0">
                <a:solidFill>
                  <a:srgbClr val="004F9F"/>
                </a:solidFill>
                <a:latin typeface="에이투지체 6 SemiBold"/>
                <a:ea typeface="에이투지체 6 SemiBold"/>
                <a:cs typeface="에이투지체 6 SemiBold"/>
              </a:rPr>
              <a:t>제안  </a:t>
            </a:r>
            <a:r>
              <a:rPr sz="1100" b="0">
                <a:solidFill>
                  <a:srgbClr val="222222"/>
                </a:solidFill>
                <a:latin typeface="에이투지체 4 Regular"/>
                <a:ea typeface="에이투지체 4 Regular"/>
                <a:cs typeface="에이투지체 4 Regular"/>
              </a:rPr>
              <a:t>상품마다 대표 구성 1개씩, 다양한 상품이 보이게</a:t>
            </a:r>
          </a:p>
          <a:p>
            <a:pPr algn="l">
              <a:spcAft>
                <a:spcPts val="600"/>
              </a:spcAft>
            </a:pPr>
            <a:r>
              <a:rPr sz="1100" b="0">
                <a:solidFill>
                  <a:srgbClr val="222222"/>
                </a:solidFill>
                <a:latin typeface="에이투지체 4 Regular"/>
                <a:ea typeface="에이투지체 4 Regular"/>
                <a:cs typeface="에이투지체 4 Regular"/>
              </a:rPr>
              <a:t>      행사 기간 사은품 구성 검토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48640" y="347472"/>
            <a:ext cx="8229600" cy="27432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900" b="0" spc="100">
                <a:solidFill>
                  <a:srgbClr val="004F9F"/>
                </a:solidFill>
                <a:latin typeface="에이투지체 6 SemiBold"/>
                <a:ea typeface="에이투지체 6 SemiBold"/>
                <a:cs typeface="에이투지체 6 SemiBold"/>
              </a:rPr>
              <a:t>PART 2 · 11월 마케팅 전략 · 미디어믹스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658368"/>
            <a:ext cx="11064240" cy="86868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>
              <a:lnSpc>
                <a:spcPts val="2600"/>
              </a:lnSpc>
            </a:pPr>
            <a:r>
              <a:rPr sz="1900" b="0">
                <a:solidFill>
                  <a:srgbClr val="FFFFFF"/>
                </a:solidFill>
                <a:highlight>
                  <a:srgbClr val="0000FF"/>
                </a:highlight>
                <a:latin typeface="에이투지체 8 ExtraBold"/>
                <a:ea typeface="에이투지체 8 ExtraBold"/>
                <a:cs typeface="에이투지체 8 ExtraBold"/>
              </a:rPr>
              <a:t>11번가는 광고 시작 전 단계라</a:t>
            </a:r>
          </a:p>
          <a:p>
            <a:pPr>
              <a:lnSpc>
                <a:spcPts val="2600"/>
              </a:lnSpc>
            </a:pPr>
            <a:r>
              <a:rPr sz="1900" b="0">
                <a:solidFill>
                  <a:srgbClr val="222222"/>
                </a:solidFill>
                <a:latin typeface="에이투지체 8 ExtraBold"/>
                <a:ea typeface="에이투지체 8 ExtraBold"/>
                <a:cs typeface="에이투지체 8 ExtraBold"/>
              </a:rPr>
              <a:t>경쟁 상황을 보고 브랜드 검색어부터 시작합니다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517904"/>
            <a:ext cx="11064240" cy="36576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100" b="0">
                <a:solidFill>
                  <a:srgbClr val="5C5C5C"/>
                </a:solidFill>
                <a:latin typeface="에이투지체 5 Medium"/>
                <a:ea typeface="에이투지체 5 Medium"/>
                <a:cs typeface="에이투지체 5 Medium"/>
              </a:rPr>
              <a:t>11번가 시작 전 점검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48640" y="5577840"/>
            <a:ext cx="11064240" cy="438912"/>
          </a:xfrm>
          <a:prstGeom prst="roundRect">
            <a:avLst>
              <a:gd name="adj" fmla="val 16666"/>
            </a:avLst>
          </a:prstGeom>
          <a:solidFill>
            <a:srgbClr val="EAF2FB"/>
          </a:solidFill>
          <a:ln w="9525">
            <a:solidFill>
              <a:srgbClr val="004F9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740664" y="5632704"/>
            <a:ext cx="10671048" cy="347472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1350" b="0">
                <a:solidFill>
                  <a:srgbClr val="004F9F"/>
                </a:solidFill>
                <a:latin typeface="에이투지체 6 SemiBold"/>
                <a:ea typeface="에이투지체 6 SemiBold"/>
                <a:cs typeface="에이투지체 6 SemiBold"/>
              </a:rPr>
              <a:t>11번가는 브랜드 검색어와 대표 상품 1~2개로 광고를 시작하고, 성과를 보며 키워드를 늘리겠습니다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6089904"/>
            <a:ext cx="1106424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850" b="0">
                <a:solidFill>
                  <a:srgbClr val="919191"/>
                </a:solidFill>
                <a:latin typeface="에이투지체 3 Light"/>
                <a:ea typeface="에이투지체 3 Light"/>
                <a:cs typeface="에이투지체 3 Light"/>
              </a:rPr>
              <a:t>2026.10.13 11번가 PC 검색 화면 기준. 검색 결과는 새로고침, 사용자별로 달라짐 / 괄호는 리뷰 수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6473952"/>
            <a:ext cx="420624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800" b="0">
                <a:solidFill>
                  <a:srgbClr val="919191"/>
                </a:solidFill>
                <a:latin typeface="에이투지체 3 Light"/>
                <a:ea typeface="에이투지체 3 Light"/>
                <a:cs typeface="에이투지체 3 Light"/>
              </a:rPr>
              <a:t>DODREAM B&amp;B AD PROPOSAL · 2026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138160" y="6473952"/>
            <a:ext cx="301752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/>
            <a:r>
              <a:rPr sz="800" b="0">
                <a:solidFill>
                  <a:srgbClr val="919191"/>
                </a:solidFill>
                <a:latin typeface="에이투지체 3 Light"/>
                <a:ea typeface="에이투지체 3 Light"/>
                <a:cs typeface="에이투지체 3 Light"/>
              </a:rPr>
              <a:t>LINKPRICE · BRAND AD CENTER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292840" y="6473952"/>
            <a:ext cx="36576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/>
            <a:r>
              <a:rPr sz="800" b="0">
                <a:solidFill>
                  <a:srgbClr val="222222"/>
                </a:solidFill>
                <a:latin typeface="에이투지체 6 SemiBold"/>
                <a:ea typeface="에이투지체 6 SemiBold"/>
                <a:cs typeface="에이투지체 6 SemiBold"/>
              </a:rPr>
              <a:t>46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48640" y="2103120"/>
            <a:ext cx="3447288" cy="1051560"/>
          </a:xfrm>
          <a:prstGeom prst="roundRect">
            <a:avLst>
              <a:gd name="adj" fmla="val 6956"/>
            </a:avLst>
          </a:prstGeom>
          <a:solidFill>
            <a:srgbClr val="EAF2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777240" y="2157984"/>
            <a:ext cx="3017520" cy="53035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2800" b="0">
                <a:solidFill>
                  <a:srgbClr val="004F9F"/>
                </a:solidFill>
                <a:latin typeface="에이투지체 8 ExtraBold"/>
                <a:ea typeface="에이투지체 8 ExtraBold"/>
                <a:cs typeface="에이투지체 8 ExtraBold"/>
              </a:rPr>
              <a:t>광고 21개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77240" y="2724912"/>
            <a:ext cx="3017520" cy="17697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150" b="0" dirty="0" err="1">
                <a:solidFill>
                  <a:srgbClr val="5C5C5C"/>
                </a:solidFill>
                <a:latin typeface="에이투지체 6 SemiBold"/>
                <a:ea typeface="에이투지체 6 SemiBold"/>
                <a:cs typeface="에이투지체 6 SemiBold"/>
              </a:rPr>
              <a:t>키성장영양제 검색 결과</a:t>
            </a:r>
            <a:endParaRPr sz="1150" b="0" dirty="0">
              <a:solidFill>
                <a:srgbClr val="5C5C5C"/>
              </a:solidFill>
              <a:latin typeface="에이투지체 6 SemiBold"/>
              <a:ea typeface="에이투지체 6 SemiBold"/>
              <a:cs typeface="에이투지체 6 SemiBold"/>
            </a:endParaRPr>
          </a:p>
        </p:txBody>
      </p:sp>
      <p:sp>
        <p:nvSpPr>
          <p:cNvPr id="14" name="TextBox 13"/>
          <p:cNvSpPr txBox="1"/>
          <p:nvPr/>
        </p:nvSpPr>
        <p:spPr>
          <a:xfrm>
            <a:off x="548640" y="3337560"/>
            <a:ext cx="3447288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575" b="0">
                <a:solidFill>
                  <a:srgbClr val="222222"/>
                </a:solidFill>
                <a:latin typeface="에이투지체 6 SemiBold"/>
                <a:ea typeface="에이투지체 6 SemiBold"/>
                <a:cs typeface="에이투지체 6 SemiBold"/>
              </a:rPr>
              <a:t>대표 검색어는 경쟁사가 광고 중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48640" y="3794760"/>
            <a:ext cx="3447288" cy="10515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300" b="0">
                <a:solidFill>
                  <a:srgbClr val="5C5C5C"/>
                </a:solidFill>
                <a:latin typeface="에이투지체 4 Regular"/>
                <a:ea typeface="에이투지체 4 Regular"/>
                <a:cs typeface="에이투지체 4 Regular"/>
              </a:rPr>
              <a:t>고려은단 키즈하이 (36,858)</a:t>
            </a:r>
          </a:p>
          <a:p>
            <a:pPr algn="l"/>
            <a:r>
              <a:rPr sz="1300" b="0">
                <a:solidFill>
                  <a:srgbClr val="5C5C5C"/>
                </a:solidFill>
                <a:latin typeface="에이투지체 4 Regular"/>
                <a:ea typeface="에이투지체 4 Regular"/>
                <a:cs typeface="에이투지체 4 Regular"/>
              </a:rPr>
              <a:t>동국제약 키해피 FGO, 데일리플랜</a:t>
            </a:r>
          </a:p>
          <a:p>
            <a:pPr algn="l"/>
            <a:r>
              <a:rPr sz="1300" b="0">
                <a:solidFill>
                  <a:srgbClr val="5C5C5C"/>
                </a:solidFill>
                <a:latin typeface="에이투지체 4 Regular"/>
                <a:ea typeface="에이투지체 4 Regular"/>
                <a:cs typeface="에이투지체 4 Regular"/>
              </a:rPr>
              <a:t>키움정</a:t>
            </a:r>
          </a:p>
        </p:txBody>
      </p:sp>
      <p:cxnSp>
        <p:nvCxnSpPr>
          <p:cNvPr id="16" name="Connector 15"/>
          <p:cNvCxnSpPr/>
          <p:nvPr/>
        </p:nvCxnSpPr>
        <p:spPr>
          <a:xfrm>
            <a:off x="548640" y="4873752"/>
            <a:ext cx="3447288" cy="0"/>
          </a:xfrm>
          <a:prstGeom prst="line">
            <a:avLst/>
          </a:prstGeom>
          <a:ln w="12700">
            <a:solidFill>
              <a:srgbClr val="D0D0D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7" name="TextBox 16"/>
          <p:cNvSpPr txBox="1"/>
          <p:nvPr/>
        </p:nvSpPr>
        <p:spPr>
          <a:xfrm>
            <a:off x="548640" y="4983480"/>
            <a:ext cx="3447288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300" b="0">
                <a:solidFill>
                  <a:srgbClr val="004F9F"/>
                </a:solidFill>
                <a:latin typeface="에이투지체 6 SemiBold"/>
                <a:ea typeface="에이투지체 6 SemiBold"/>
                <a:cs typeface="에이투지체 6 SemiBold"/>
              </a:rPr>
              <a:t>대표 검색어는 롱테일부터 테스트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4361688" y="2103120"/>
            <a:ext cx="3447288" cy="1051560"/>
          </a:xfrm>
          <a:prstGeom prst="roundRect">
            <a:avLst>
              <a:gd name="adj" fmla="val 6956"/>
            </a:avLst>
          </a:prstGeom>
          <a:solidFill>
            <a:srgbClr val="EAF2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" name="TextBox 18"/>
          <p:cNvSpPr txBox="1"/>
          <p:nvPr/>
        </p:nvSpPr>
        <p:spPr>
          <a:xfrm>
            <a:off x="4590288" y="2157984"/>
            <a:ext cx="3017520" cy="53035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2800" b="0">
                <a:solidFill>
                  <a:srgbClr val="004F9F"/>
                </a:solidFill>
                <a:latin typeface="에이투지체 8 ExtraBold"/>
                <a:ea typeface="에이투지체 8 ExtraBold"/>
                <a:cs typeface="에이투지체 8 ExtraBold"/>
              </a:rPr>
              <a:t>판매처 상품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590288" y="2724912"/>
            <a:ext cx="3017520" cy="17697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150" b="0" dirty="0" err="1">
                <a:solidFill>
                  <a:srgbClr val="5C5C5C"/>
                </a:solidFill>
                <a:latin typeface="에이투지체 6 SemiBold"/>
                <a:ea typeface="에이투지체 6 SemiBold"/>
                <a:cs typeface="에이투지체 6 SemiBold"/>
              </a:rPr>
              <a:t>아이클타임 검색 결과</a:t>
            </a:r>
            <a:endParaRPr sz="1150" b="0" dirty="0">
              <a:solidFill>
                <a:srgbClr val="5C5C5C"/>
              </a:solidFill>
              <a:latin typeface="에이투지체 6 SemiBold"/>
              <a:ea typeface="에이투지체 6 SemiBold"/>
              <a:cs typeface="에이투지체 6 SemiBold"/>
            </a:endParaRPr>
          </a:p>
        </p:txBody>
      </p:sp>
      <p:sp>
        <p:nvSpPr>
          <p:cNvPr id="21" name="TextBox 20"/>
          <p:cNvSpPr txBox="1"/>
          <p:nvPr/>
        </p:nvSpPr>
        <p:spPr>
          <a:xfrm>
            <a:off x="4361688" y="3337560"/>
            <a:ext cx="3447288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575" b="0">
                <a:solidFill>
                  <a:srgbClr val="222222"/>
                </a:solidFill>
                <a:latin typeface="에이투지체 6 SemiBold"/>
                <a:ea typeface="에이투지체 6 SemiBold"/>
                <a:cs typeface="에이투지체 6 SemiBold"/>
              </a:rPr>
              <a:t>브랜드 검색 결과는 다른 판매처 중심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361688" y="3794760"/>
            <a:ext cx="3447288" cy="10515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300" b="0">
                <a:solidFill>
                  <a:srgbClr val="5C5C5C"/>
                </a:solidFill>
                <a:latin typeface="에이투지체 4 Regular"/>
                <a:ea typeface="에이투지체 4 Regular"/>
                <a:cs typeface="에이투지체 4 Regular"/>
              </a:rPr>
              <a:t>광고 5개: 고려은단 2, 다른 판매처 3</a:t>
            </a:r>
          </a:p>
          <a:p>
            <a:pPr algn="l"/>
            <a:r>
              <a:rPr sz="1300" b="0">
                <a:solidFill>
                  <a:srgbClr val="5C5C5C"/>
                </a:solidFill>
                <a:latin typeface="에이투지체 4 Regular"/>
                <a:ea typeface="에이투지체 4 Regular"/>
                <a:cs typeface="에이투지체 4 Regular"/>
              </a:rPr>
              <a:t>상위 30개에 공식 스토어 상품 없음</a:t>
            </a:r>
          </a:p>
          <a:p>
            <a:pPr algn="l"/>
            <a:r>
              <a:rPr sz="1300" b="0">
                <a:solidFill>
                  <a:srgbClr val="5C5C5C"/>
                </a:solidFill>
                <a:latin typeface="에이투지체 4 Regular"/>
                <a:ea typeface="에이투지체 4 Regular"/>
                <a:cs typeface="에이투지체 4 Regular"/>
              </a:rPr>
              <a:t>현대H몰, CJ, GS 등 판매처 노출</a:t>
            </a:r>
          </a:p>
        </p:txBody>
      </p:sp>
      <p:cxnSp>
        <p:nvCxnSpPr>
          <p:cNvPr id="23" name="Connector 22"/>
          <p:cNvCxnSpPr/>
          <p:nvPr/>
        </p:nvCxnSpPr>
        <p:spPr>
          <a:xfrm>
            <a:off x="4361688" y="4873752"/>
            <a:ext cx="3447287" cy="0"/>
          </a:xfrm>
          <a:prstGeom prst="line">
            <a:avLst/>
          </a:prstGeom>
          <a:ln w="12700">
            <a:solidFill>
              <a:srgbClr val="D0D0D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4" name="TextBox 23"/>
          <p:cNvSpPr txBox="1"/>
          <p:nvPr/>
        </p:nvSpPr>
        <p:spPr>
          <a:xfrm>
            <a:off x="4361688" y="4983480"/>
            <a:ext cx="3447288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300" b="0">
                <a:solidFill>
                  <a:srgbClr val="004F9F"/>
                </a:solidFill>
                <a:latin typeface="에이투지체 6 SemiBold"/>
                <a:ea typeface="에이투지체 6 SemiBold"/>
                <a:cs typeface="에이투지체 6 SemiBold"/>
              </a:rPr>
              <a:t>브랜드 검색어 광고부터 시작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8174736" y="2103120"/>
            <a:ext cx="3447288" cy="1051560"/>
          </a:xfrm>
          <a:prstGeom prst="roundRect">
            <a:avLst>
              <a:gd name="adj" fmla="val 6956"/>
            </a:avLst>
          </a:prstGeom>
          <a:solidFill>
            <a:srgbClr val="0E3A7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6" name="TextBox 25"/>
          <p:cNvSpPr txBox="1"/>
          <p:nvPr/>
        </p:nvSpPr>
        <p:spPr>
          <a:xfrm>
            <a:off x="8403336" y="2157984"/>
            <a:ext cx="3017520" cy="53035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2800" b="0">
                <a:solidFill>
                  <a:srgbClr val="FFFFFF"/>
                </a:solidFill>
                <a:latin typeface="에이투지체 8 ExtraBold"/>
                <a:ea typeface="에이투지체 8 ExtraBold"/>
                <a:cs typeface="에이투지체 8 ExtraBold"/>
              </a:rPr>
              <a:t>신규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8403336" y="2724912"/>
            <a:ext cx="3017520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150" b="0">
                <a:solidFill>
                  <a:srgbClr val="C9DAEE"/>
                </a:solidFill>
                <a:latin typeface="에이투지체 6 SemiBold"/>
                <a:ea typeface="에이투지체 6 SemiBold"/>
                <a:cs typeface="에이투지체 6 SemiBold"/>
              </a:rPr>
              <a:t>두드림 공식 스토어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8174736" y="3337560"/>
            <a:ext cx="3447288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575" b="0">
                <a:solidFill>
                  <a:srgbClr val="222222"/>
                </a:solidFill>
                <a:latin typeface="에이투지체 6 SemiBold"/>
                <a:ea typeface="에이투지체 6 SemiBold"/>
                <a:cs typeface="에이투지체 6 SemiBold"/>
              </a:rPr>
              <a:t>리뷰 없이 시작하는 단계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8174736" y="3794760"/>
            <a:ext cx="3447288" cy="10515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300" b="0">
                <a:solidFill>
                  <a:srgbClr val="5C5C5C"/>
                </a:solidFill>
                <a:latin typeface="에이투지체 4 Regular"/>
                <a:ea typeface="에이투지체 4 Regular"/>
                <a:cs typeface="에이투지체 4 Regular"/>
              </a:rPr>
              <a:t>찜 1, 리뷰 없음</a:t>
            </a:r>
          </a:p>
          <a:p>
            <a:pPr algn="l"/>
            <a:r>
              <a:rPr sz="1300" b="0">
                <a:solidFill>
                  <a:srgbClr val="5C5C5C"/>
                </a:solidFill>
                <a:latin typeface="에이투지체 4 Regular"/>
                <a:ea typeface="에이투지체 4 Regular"/>
                <a:cs typeface="에이투지체 4 Regular"/>
              </a:rPr>
              <a:t>카무트효소 광고도 전부 경쟁사</a:t>
            </a:r>
          </a:p>
          <a:p>
            <a:pPr algn="l"/>
            <a:r>
              <a:rPr sz="1300" b="0">
                <a:solidFill>
                  <a:srgbClr val="5C5C5C"/>
                </a:solidFill>
                <a:latin typeface="에이투지체 4 Regular"/>
                <a:ea typeface="에이투지체 4 Regular"/>
                <a:cs typeface="에이투지체 4 Regular"/>
              </a:rPr>
              <a:t>(뉴트리원, 그레인온, 동국제약)</a:t>
            </a:r>
          </a:p>
        </p:txBody>
      </p:sp>
      <p:cxnSp>
        <p:nvCxnSpPr>
          <p:cNvPr id="30" name="Connector 29"/>
          <p:cNvCxnSpPr/>
          <p:nvPr/>
        </p:nvCxnSpPr>
        <p:spPr>
          <a:xfrm>
            <a:off x="8174736" y="4873752"/>
            <a:ext cx="3447288" cy="0"/>
          </a:xfrm>
          <a:prstGeom prst="line">
            <a:avLst/>
          </a:prstGeom>
          <a:ln w="12700">
            <a:solidFill>
              <a:srgbClr val="D0D0D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1" name="TextBox 30"/>
          <p:cNvSpPr txBox="1"/>
          <p:nvPr/>
        </p:nvSpPr>
        <p:spPr>
          <a:xfrm>
            <a:off x="8174736" y="4983480"/>
            <a:ext cx="3447288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300" b="0">
                <a:solidFill>
                  <a:srgbClr val="004F9F"/>
                </a:solidFill>
                <a:latin typeface="에이투지체 6 SemiBold"/>
                <a:ea typeface="에이투지체 6 SemiBold"/>
                <a:cs typeface="에이투지체 6 SemiBold"/>
              </a:rPr>
              <a:t>대표 상품 1~2개에 집중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48640" y="347472"/>
            <a:ext cx="8229600" cy="27432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900" b="0" spc="100">
                <a:solidFill>
                  <a:srgbClr val="004F9F"/>
                </a:solidFill>
                <a:latin typeface="에이투지체 6 SemiBold"/>
                <a:ea typeface="에이투지체 6 SemiBold"/>
                <a:cs typeface="에이투지체 6 SemiBold"/>
              </a:rPr>
              <a:t>PART 2 · 11월 마케팅 전략 · 미디어믹스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658368"/>
            <a:ext cx="11064240" cy="86868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>
              <a:lnSpc>
                <a:spcPts val="2600"/>
              </a:lnSpc>
            </a:pPr>
            <a:r>
              <a:rPr sz="1900" b="0">
                <a:solidFill>
                  <a:srgbClr val="FFFFFF"/>
                </a:solidFill>
                <a:highlight>
                  <a:srgbClr val="0000FF"/>
                </a:highlight>
                <a:latin typeface="에이투지체 8 ExtraBold"/>
                <a:ea typeface="에이투지체 8 ExtraBold"/>
                <a:cs typeface="에이투지체 8 ExtraBold"/>
              </a:rPr>
              <a:t>지마켓·11번가 핵심 과제</a:t>
            </a:r>
            <a:r>
              <a:rPr sz="1900" b="0">
                <a:solidFill>
                  <a:srgbClr val="222222"/>
                </a:solidFill>
                <a:latin typeface="에이투지체 8 ExtraBold"/>
                <a:ea typeface="에이투지체 8 ExtraBold"/>
                <a:cs typeface="에이투지체 8 ExtraBold"/>
              </a:rPr>
              <a:t>는 네 가지로 나누어</a:t>
            </a:r>
          </a:p>
          <a:p>
            <a:pPr>
              <a:lnSpc>
                <a:spcPts val="2600"/>
              </a:lnSpc>
            </a:pPr>
            <a:r>
              <a:rPr sz="1900" b="0">
                <a:solidFill>
                  <a:srgbClr val="222222"/>
                </a:solidFill>
                <a:latin typeface="에이투지체 8 ExtraBold"/>
                <a:ea typeface="에이투지체 8 ExtraBold"/>
                <a:cs typeface="에이투지체 8 ExtraBold"/>
              </a:rPr>
              <a:t>지마켓 광고와 11번가 공식 스토어로 운영하겠습니다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517904"/>
            <a:ext cx="11064240" cy="36576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100" b="0">
                <a:solidFill>
                  <a:srgbClr val="5C5C5C"/>
                </a:solidFill>
                <a:latin typeface="에이투지체 5 Medium"/>
                <a:ea typeface="에이투지체 5 Medium"/>
                <a:cs typeface="에이투지체 5 Medium"/>
              </a:rPr>
              <a:t>지마켓·11번가 핵심 과제 정리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48640" y="5577840"/>
            <a:ext cx="11064240" cy="438912"/>
          </a:xfrm>
          <a:prstGeom prst="roundRect">
            <a:avLst>
              <a:gd name="adj" fmla="val 16666"/>
            </a:avLst>
          </a:prstGeom>
          <a:solidFill>
            <a:srgbClr val="EAF2FB"/>
          </a:solidFill>
          <a:ln w="9525">
            <a:solidFill>
              <a:srgbClr val="004F9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740664" y="5632704"/>
            <a:ext cx="10671048" cy="347472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1350" b="0" dirty="0">
                <a:solidFill>
                  <a:srgbClr val="004F9F"/>
                </a:solidFill>
                <a:latin typeface="에이투지체 6 SemiBold"/>
                <a:ea typeface="에이투지체 6 SemiBold"/>
                <a:cs typeface="에이투지체 6 SemiBold"/>
              </a:rPr>
              <a:t>지마켓·11번가는 </a:t>
            </a:r>
            <a:r>
              <a:rPr sz="1350" b="0" dirty="0" err="1">
                <a:solidFill>
                  <a:srgbClr val="004F9F"/>
                </a:solidFill>
                <a:latin typeface="에이투지체 6 SemiBold"/>
                <a:ea typeface="에이투지체 6 SemiBold"/>
                <a:cs typeface="에이투지체 6 SemiBold"/>
              </a:rPr>
              <a:t>쿠팡에서</a:t>
            </a:r>
            <a:r>
              <a:rPr sz="1350" b="0" dirty="0">
                <a:solidFill>
                  <a:srgbClr val="004F9F"/>
                </a:solidFill>
                <a:latin typeface="에이투지체 6 SemiBold"/>
                <a:ea typeface="에이투지체 6 SemiBold"/>
                <a:cs typeface="에이투지체 6 SemiBold"/>
              </a:rPr>
              <a:t> </a:t>
            </a:r>
            <a:r>
              <a:rPr sz="1350" b="0" dirty="0" err="1">
                <a:solidFill>
                  <a:srgbClr val="004F9F"/>
                </a:solidFill>
                <a:latin typeface="에이투지체 6 SemiBold"/>
                <a:ea typeface="에이투지체 6 SemiBold"/>
                <a:cs typeface="에이투지체 6 SemiBold"/>
              </a:rPr>
              <a:t>검증된</a:t>
            </a:r>
            <a:r>
              <a:rPr sz="1350" b="0" dirty="0">
                <a:solidFill>
                  <a:srgbClr val="004F9F"/>
                </a:solidFill>
                <a:latin typeface="에이투지체 6 SemiBold"/>
                <a:ea typeface="에이투지체 6 SemiBold"/>
                <a:cs typeface="에이투지체 6 SemiBold"/>
              </a:rPr>
              <a:t> </a:t>
            </a:r>
            <a:r>
              <a:rPr sz="1350" b="0" dirty="0" err="1">
                <a:solidFill>
                  <a:srgbClr val="004F9F"/>
                </a:solidFill>
                <a:latin typeface="에이투지체 6 SemiBold"/>
                <a:ea typeface="에이투지체 6 SemiBold"/>
                <a:cs typeface="에이투지체 6 SemiBold"/>
              </a:rPr>
              <a:t>상품과</a:t>
            </a:r>
            <a:r>
              <a:rPr sz="1350" b="0" dirty="0">
                <a:solidFill>
                  <a:srgbClr val="004F9F"/>
                </a:solidFill>
                <a:latin typeface="에이투지체 6 SemiBold"/>
                <a:ea typeface="에이투지체 6 SemiBold"/>
                <a:cs typeface="에이투지체 6 SemiBold"/>
              </a:rPr>
              <a:t> </a:t>
            </a:r>
            <a:r>
              <a:rPr sz="1350" b="0" dirty="0" err="1">
                <a:solidFill>
                  <a:srgbClr val="004F9F"/>
                </a:solidFill>
                <a:latin typeface="에이투지체 6 SemiBold"/>
                <a:ea typeface="에이투지체 6 SemiBold"/>
                <a:cs typeface="에이투지체 6 SemiBold"/>
              </a:rPr>
              <a:t>검색어를</a:t>
            </a:r>
            <a:r>
              <a:rPr sz="1350" b="0" dirty="0">
                <a:solidFill>
                  <a:srgbClr val="004F9F"/>
                </a:solidFill>
                <a:latin typeface="에이투지체 6 SemiBold"/>
                <a:ea typeface="에이투지체 6 SemiBold"/>
                <a:cs typeface="에이투지체 6 SemiBold"/>
              </a:rPr>
              <a:t> </a:t>
            </a:r>
            <a:r>
              <a:rPr sz="1350" b="0" dirty="0" err="1">
                <a:solidFill>
                  <a:srgbClr val="004F9F"/>
                </a:solidFill>
                <a:latin typeface="에이투지체 6 SemiBold"/>
                <a:ea typeface="에이투지체 6 SemiBold"/>
                <a:cs typeface="에이투지체 6 SemiBold"/>
              </a:rPr>
              <a:t>중심으로</a:t>
            </a:r>
            <a:r>
              <a:rPr sz="1350" b="0" dirty="0">
                <a:solidFill>
                  <a:srgbClr val="004F9F"/>
                </a:solidFill>
                <a:latin typeface="에이투지체 6 SemiBold"/>
                <a:ea typeface="에이투지체 6 SemiBold"/>
                <a:cs typeface="에이투지체 6 SemiBold"/>
              </a:rPr>
              <a:t> </a:t>
            </a:r>
            <a:r>
              <a:rPr sz="1350" b="0" dirty="0" err="1">
                <a:solidFill>
                  <a:srgbClr val="004F9F"/>
                </a:solidFill>
                <a:latin typeface="에이투지체 6 SemiBold"/>
                <a:ea typeface="에이투지체 6 SemiBold"/>
                <a:cs typeface="에이투지체 6 SemiBold"/>
              </a:rPr>
              <a:t>예산을</a:t>
            </a:r>
            <a:r>
              <a:rPr sz="1350" b="0" dirty="0">
                <a:solidFill>
                  <a:srgbClr val="004F9F"/>
                </a:solidFill>
                <a:latin typeface="에이투지체 6 SemiBold"/>
                <a:ea typeface="에이투지체 6 SemiBold"/>
                <a:cs typeface="에이투지체 6 SemiBold"/>
              </a:rPr>
              <a:t> </a:t>
            </a:r>
            <a:r>
              <a:rPr sz="1350" b="0" dirty="0" err="1">
                <a:solidFill>
                  <a:srgbClr val="004F9F"/>
                </a:solidFill>
                <a:latin typeface="에이투지체 6 SemiBold"/>
                <a:ea typeface="에이투지체 6 SemiBold"/>
                <a:cs typeface="에이투지체 6 SemiBold"/>
              </a:rPr>
              <a:t>늘립니다</a:t>
            </a:r>
            <a:endParaRPr sz="1350" b="0" dirty="0">
              <a:solidFill>
                <a:srgbClr val="004F9F"/>
              </a:solidFill>
              <a:latin typeface="에이투지체 6 SemiBold"/>
              <a:ea typeface="에이투지체 6 SemiBold"/>
              <a:cs typeface="에이투지체 6 SemiBold"/>
            </a:endParaRPr>
          </a:p>
        </p:txBody>
      </p:sp>
      <p:sp>
        <p:nvSpPr>
          <p:cNvPr id="7" name="TextBox 6"/>
          <p:cNvSpPr txBox="1"/>
          <p:nvPr/>
        </p:nvSpPr>
        <p:spPr>
          <a:xfrm>
            <a:off x="548640" y="6473952"/>
            <a:ext cx="420624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800" b="0">
                <a:solidFill>
                  <a:srgbClr val="919191"/>
                </a:solidFill>
                <a:latin typeface="에이투지체 3 Light"/>
                <a:ea typeface="에이투지체 3 Light"/>
                <a:cs typeface="에이투지체 3 Light"/>
              </a:rPr>
              <a:t>DODREAM B&amp;B AD PROPOSAL · 2026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138160" y="6473952"/>
            <a:ext cx="301752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/>
            <a:r>
              <a:rPr sz="800" b="0">
                <a:solidFill>
                  <a:srgbClr val="919191"/>
                </a:solidFill>
                <a:latin typeface="에이투지체 3 Light"/>
                <a:ea typeface="에이투지체 3 Light"/>
                <a:cs typeface="에이투지체 3 Light"/>
              </a:rPr>
              <a:t>LINKPRICE · BRAND AD CENTER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292840" y="6473952"/>
            <a:ext cx="36576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/>
            <a:r>
              <a:rPr sz="800" b="0">
                <a:solidFill>
                  <a:srgbClr val="222222"/>
                </a:solidFill>
                <a:latin typeface="에이투지체 6 SemiBold"/>
                <a:ea typeface="에이투지체 6 SemiBold"/>
                <a:cs typeface="에이투지체 6 SemiBold"/>
              </a:rPr>
              <a:t>47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48640" y="2084831"/>
            <a:ext cx="2423160" cy="23774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950" b="0">
                <a:solidFill>
                  <a:srgbClr val="919191"/>
                </a:solidFill>
                <a:latin typeface="에이투지체 6 SemiBold"/>
                <a:ea typeface="에이투지체 6 SemiBold"/>
                <a:cs typeface="에이투지체 6 SemiBold"/>
              </a:rPr>
              <a:t>핵심 과제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291840" y="2084831"/>
            <a:ext cx="3931920" cy="23774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950" b="0">
                <a:solidFill>
                  <a:srgbClr val="919191"/>
                </a:solidFill>
                <a:latin typeface="에이투지체 6 SemiBold"/>
                <a:ea typeface="에이투지체 6 SemiBold"/>
                <a:cs typeface="에이투지체 6 SemiBold"/>
              </a:rPr>
              <a:t>실행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543800" y="2084831"/>
            <a:ext cx="2103120" cy="23774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950" b="0">
                <a:solidFill>
                  <a:srgbClr val="919191"/>
                </a:solidFill>
                <a:latin typeface="에이투지체 6 SemiBold"/>
                <a:ea typeface="에이투지체 6 SemiBold"/>
                <a:cs typeface="에이투지체 6 SemiBold"/>
              </a:rPr>
              <a:t>운영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966960" y="2084831"/>
            <a:ext cx="1645920" cy="23774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950" b="0">
                <a:solidFill>
                  <a:srgbClr val="919191"/>
                </a:solidFill>
                <a:latin typeface="에이투지체 6 SemiBold"/>
                <a:ea typeface="에이투지체 6 SemiBold"/>
                <a:cs typeface="에이투지체 6 SemiBold"/>
              </a:rPr>
              <a:t>관리 지표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548640" y="2395728"/>
            <a:ext cx="2423160" cy="640080"/>
          </a:xfrm>
          <a:prstGeom prst="roundRect">
            <a:avLst>
              <a:gd name="adj" fmla="val 11428"/>
            </a:avLst>
          </a:prstGeom>
          <a:solidFill>
            <a:srgbClr val="004F9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TextBox 14"/>
          <p:cNvSpPr txBox="1"/>
          <p:nvPr/>
        </p:nvSpPr>
        <p:spPr>
          <a:xfrm>
            <a:off x="731520" y="2395728"/>
            <a:ext cx="2148840" cy="64008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1050" b="0">
                <a:solidFill>
                  <a:srgbClr val="FFFFFF"/>
                </a:solidFill>
                <a:latin typeface="에이투지체 6 SemiBold"/>
                <a:ea typeface="에이투지체 6 SemiBold"/>
                <a:cs typeface="에이투지체 6 SemiBold"/>
              </a:rPr>
              <a:t>01</a:t>
            </a:r>
          </a:p>
          <a:p>
            <a:pPr algn="l"/>
            <a:r>
              <a:rPr sz="1300" b="0">
                <a:solidFill>
                  <a:srgbClr val="FFFFFF"/>
                </a:solidFill>
                <a:latin typeface="에이투지체 6 SemiBold"/>
                <a:ea typeface="에이투지체 6 SemiBold"/>
                <a:cs typeface="에이투지체 6 SemiBold"/>
              </a:rPr>
              <a:t>브랜드 검색어 채우기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3291840" y="2395728"/>
            <a:ext cx="3931920" cy="640080"/>
          </a:xfrm>
          <a:prstGeom prst="roundRect">
            <a:avLst>
              <a:gd name="adj" fmla="val 11428"/>
            </a:avLst>
          </a:prstGeom>
          <a:solidFill>
            <a:srgbClr val="F5F5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TextBox 16"/>
          <p:cNvSpPr txBox="1"/>
          <p:nvPr/>
        </p:nvSpPr>
        <p:spPr>
          <a:xfrm>
            <a:off x="3493008" y="2395728"/>
            <a:ext cx="3611880" cy="64008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1100" b="0">
                <a:solidFill>
                  <a:srgbClr val="222222"/>
                </a:solidFill>
                <a:latin typeface="에이투지체 5 Medium"/>
                <a:ea typeface="에이투지체 5 Medium"/>
                <a:cs typeface="에이투지체 5 Medium"/>
              </a:rPr>
              <a:t>판매 상품을 브랜드 검색어 그룹에 모두 등록하고</a:t>
            </a:r>
          </a:p>
          <a:p>
            <a:pPr algn="l"/>
            <a:r>
              <a:rPr sz="1100" b="0">
                <a:solidFill>
                  <a:srgbClr val="222222"/>
                </a:solidFill>
                <a:latin typeface="에이투지체 5 Medium"/>
                <a:ea typeface="에이투지체 5 Medium"/>
                <a:cs typeface="에이투지체 5 Medium"/>
              </a:rPr>
              <a:t>입찰가는 낮게 설정해 ROAS를 높입니다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7543800" y="2468880"/>
            <a:ext cx="2103120" cy="493775"/>
          </a:xfrm>
          <a:prstGeom prst="roundRect">
            <a:avLst>
              <a:gd name="adj" fmla="val 14814"/>
            </a:avLst>
          </a:prstGeom>
          <a:solidFill>
            <a:srgbClr val="FFFFFF"/>
          </a:solidFill>
          <a:ln w="9525">
            <a:solidFill>
              <a:srgbClr val="004F9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" name="TextBox 18"/>
          <p:cNvSpPr txBox="1"/>
          <p:nvPr/>
        </p:nvSpPr>
        <p:spPr>
          <a:xfrm>
            <a:off x="7635240" y="2468880"/>
            <a:ext cx="1920240" cy="493775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1050" b="0">
                <a:solidFill>
                  <a:srgbClr val="004F9F"/>
                </a:solidFill>
                <a:latin typeface="에이투지체 6 SemiBold"/>
                <a:ea typeface="에이투지체 6 SemiBold"/>
                <a:cs typeface="에이투지체 6 SemiBold"/>
              </a:rPr>
              <a:t>직접 운영형</a:t>
            </a:r>
          </a:p>
          <a:p>
            <a:pPr algn="ctr"/>
            <a:r>
              <a:rPr sz="1050" b="0">
                <a:solidFill>
                  <a:srgbClr val="004F9F"/>
                </a:solidFill>
                <a:latin typeface="에이투지체 6 SemiBold"/>
                <a:ea typeface="에이투지체 6 SemiBold"/>
                <a:cs typeface="에이투지체 6 SemiBold"/>
              </a:rPr>
              <a:t>브랜드 검색어 그룹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9966960" y="2395728"/>
            <a:ext cx="1645920" cy="64008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1100" b="0">
                <a:solidFill>
                  <a:srgbClr val="222222"/>
                </a:solidFill>
                <a:latin typeface="에이투지체 6 SemiBold"/>
                <a:ea typeface="에이투지체 6 SemiBold"/>
                <a:cs typeface="에이투지체 6 SemiBold"/>
              </a:rPr>
              <a:t>브랜드 검색어 ROAS</a:t>
            </a:r>
          </a:p>
          <a:p>
            <a:pPr algn="ctr"/>
            <a:r>
              <a:rPr sz="1100" b="0">
                <a:solidFill>
                  <a:srgbClr val="222222"/>
                </a:solidFill>
                <a:latin typeface="에이투지체 6 SemiBold"/>
                <a:ea typeface="에이투지체 6 SemiBold"/>
                <a:cs typeface="에이투지체 6 SemiBold"/>
              </a:rPr>
              <a:t>광고 영역 점유</a:t>
            </a:r>
          </a:p>
        </p:txBody>
      </p:sp>
      <p:sp>
        <p:nvSpPr>
          <p:cNvPr id="21" name="Isosceles Triangle 20"/>
          <p:cNvSpPr/>
          <p:nvPr/>
        </p:nvSpPr>
        <p:spPr>
          <a:xfrm rot="5400000">
            <a:off x="2990088" y="2642616"/>
            <a:ext cx="201168" cy="146304"/>
          </a:xfrm>
          <a:prstGeom prst="triangle">
            <a:avLst/>
          </a:prstGeom>
          <a:solidFill>
            <a:srgbClr val="004F9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2" name="Isosceles Triangle 21"/>
          <p:cNvSpPr/>
          <p:nvPr/>
        </p:nvSpPr>
        <p:spPr>
          <a:xfrm rot="5400000">
            <a:off x="7242048" y="2642616"/>
            <a:ext cx="201168" cy="146304"/>
          </a:xfrm>
          <a:prstGeom prst="triangle">
            <a:avLst/>
          </a:prstGeom>
          <a:solidFill>
            <a:srgbClr val="004F9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3" name="Isosceles Triangle 22"/>
          <p:cNvSpPr/>
          <p:nvPr/>
        </p:nvSpPr>
        <p:spPr>
          <a:xfrm rot="5400000">
            <a:off x="9665208" y="2642616"/>
            <a:ext cx="201168" cy="146304"/>
          </a:xfrm>
          <a:prstGeom prst="triangle">
            <a:avLst/>
          </a:prstGeom>
          <a:solidFill>
            <a:srgbClr val="004F9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4" name="Rounded Rectangle 23"/>
          <p:cNvSpPr/>
          <p:nvPr/>
        </p:nvSpPr>
        <p:spPr>
          <a:xfrm>
            <a:off x="548640" y="3145536"/>
            <a:ext cx="2423160" cy="640080"/>
          </a:xfrm>
          <a:prstGeom prst="roundRect">
            <a:avLst>
              <a:gd name="adj" fmla="val 11428"/>
            </a:avLst>
          </a:prstGeom>
          <a:solidFill>
            <a:srgbClr val="EAF2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5" name="TextBox 24"/>
          <p:cNvSpPr txBox="1"/>
          <p:nvPr/>
        </p:nvSpPr>
        <p:spPr>
          <a:xfrm>
            <a:off x="731520" y="3145536"/>
            <a:ext cx="2148840" cy="64008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1050" b="0">
                <a:solidFill>
                  <a:srgbClr val="004F9F"/>
                </a:solidFill>
                <a:latin typeface="에이투지체 6 SemiBold"/>
                <a:ea typeface="에이투지체 6 SemiBold"/>
                <a:cs typeface="에이투지체 6 SemiBold"/>
              </a:rPr>
              <a:t>02</a:t>
            </a:r>
          </a:p>
          <a:p>
            <a:pPr algn="l"/>
            <a:r>
              <a:rPr sz="1300" b="0">
                <a:solidFill>
                  <a:srgbClr val="222222"/>
                </a:solidFill>
                <a:latin typeface="에이투지체 6 SemiBold"/>
                <a:ea typeface="에이투지체 6 SemiBold"/>
                <a:cs typeface="에이투지체 6 SemiBold"/>
              </a:rPr>
              <a:t>전환 효율 관리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3291840" y="3145536"/>
            <a:ext cx="3931920" cy="640080"/>
          </a:xfrm>
          <a:prstGeom prst="roundRect">
            <a:avLst>
              <a:gd name="adj" fmla="val 11428"/>
            </a:avLst>
          </a:prstGeom>
          <a:solidFill>
            <a:srgbClr val="F5F5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7" name="TextBox 26"/>
          <p:cNvSpPr txBox="1"/>
          <p:nvPr/>
        </p:nvSpPr>
        <p:spPr>
          <a:xfrm>
            <a:off x="3493008" y="3145536"/>
            <a:ext cx="3611880" cy="64008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1100" b="0">
                <a:solidFill>
                  <a:srgbClr val="222222"/>
                </a:solidFill>
                <a:latin typeface="에이투지체 5 Medium"/>
                <a:ea typeface="에이투지체 5 Medium"/>
                <a:cs typeface="에이투지체 5 Medium"/>
              </a:rPr>
              <a:t>리뷰 격차가 큰 검색어는 CPC 상한을 낮추고</a:t>
            </a:r>
          </a:p>
          <a:p>
            <a:pPr algn="l"/>
            <a:r>
              <a:rPr sz="1100" b="0">
                <a:solidFill>
                  <a:srgbClr val="222222"/>
                </a:solidFill>
                <a:latin typeface="에이투지체 5 Medium"/>
                <a:ea typeface="에이투지체 5 Medium"/>
                <a:cs typeface="에이투지체 5 Medium"/>
              </a:rPr>
              <a:t>추가구성 개선과 리뷰 이벤트는 두드림에 제안합니다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7543800" y="3218688"/>
            <a:ext cx="2103120" cy="493775"/>
          </a:xfrm>
          <a:prstGeom prst="roundRect">
            <a:avLst>
              <a:gd name="adj" fmla="val 14814"/>
            </a:avLst>
          </a:prstGeom>
          <a:solidFill>
            <a:srgbClr val="FFFFFF"/>
          </a:solidFill>
          <a:ln w="9525">
            <a:solidFill>
              <a:srgbClr val="004F9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9" name="TextBox 28"/>
          <p:cNvSpPr txBox="1"/>
          <p:nvPr/>
        </p:nvSpPr>
        <p:spPr>
          <a:xfrm>
            <a:off x="7635240" y="3218688"/>
            <a:ext cx="1920240" cy="493775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1050" b="0">
                <a:solidFill>
                  <a:srgbClr val="004F9F"/>
                </a:solidFill>
                <a:latin typeface="에이투지체 6 SemiBold"/>
                <a:ea typeface="에이투지체 6 SemiBold"/>
                <a:cs typeface="에이투지체 6 SemiBold"/>
              </a:rPr>
              <a:t>직접 운영형</a:t>
            </a:r>
          </a:p>
          <a:p>
            <a:pPr algn="ctr"/>
            <a:r>
              <a:rPr sz="1050" b="0">
                <a:solidFill>
                  <a:srgbClr val="004F9F"/>
                </a:solidFill>
                <a:latin typeface="에이투지체 6 SemiBold"/>
                <a:ea typeface="에이투지체 6 SemiBold"/>
                <a:cs typeface="에이투지체 6 SemiBold"/>
              </a:rPr>
              <a:t>두드림 협의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9966960" y="3145536"/>
            <a:ext cx="1645920" cy="64008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1100" b="0">
                <a:solidFill>
                  <a:srgbClr val="222222"/>
                </a:solidFill>
                <a:latin typeface="에이투지체 6 SemiBold"/>
                <a:ea typeface="에이투지체 6 SemiBold"/>
                <a:cs typeface="에이투지체 6 SemiBold"/>
              </a:rPr>
              <a:t>구매 전환율</a:t>
            </a:r>
          </a:p>
          <a:p>
            <a:pPr algn="ctr"/>
            <a:r>
              <a:rPr sz="1100" b="0">
                <a:solidFill>
                  <a:srgbClr val="222222"/>
                </a:solidFill>
                <a:latin typeface="에이투지체 6 SemiBold"/>
                <a:ea typeface="에이투지체 6 SemiBold"/>
                <a:cs typeface="에이투지체 6 SemiBold"/>
              </a:rPr>
              <a:t>객단가</a:t>
            </a:r>
          </a:p>
        </p:txBody>
      </p:sp>
      <p:sp>
        <p:nvSpPr>
          <p:cNvPr id="31" name="Isosceles Triangle 30"/>
          <p:cNvSpPr/>
          <p:nvPr/>
        </p:nvSpPr>
        <p:spPr>
          <a:xfrm rot="5400000">
            <a:off x="2990088" y="3392424"/>
            <a:ext cx="201168" cy="146304"/>
          </a:xfrm>
          <a:prstGeom prst="triangle">
            <a:avLst/>
          </a:prstGeom>
          <a:solidFill>
            <a:srgbClr val="004F9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2" name="Isosceles Triangle 31"/>
          <p:cNvSpPr/>
          <p:nvPr/>
        </p:nvSpPr>
        <p:spPr>
          <a:xfrm rot="5400000">
            <a:off x="7242048" y="3392424"/>
            <a:ext cx="201168" cy="146304"/>
          </a:xfrm>
          <a:prstGeom prst="triangle">
            <a:avLst/>
          </a:prstGeom>
          <a:solidFill>
            <a:srgbClr val="004F9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3" name="Isosceles Triangle 32"/>
          <p:cNvSpPr/>
          <p:nvPr/>
        </p:nvSpPr>
        <p:spPr>
          <a:xfrm rot="5400000">
            <a:off x="9665208" y="3392424"/>
            <a:ext cx="201168" cy="146304"/>
          </a:xfrm>
          <a:prstGeom prst="triangle">
            <a:avLst/>
          </a:prstGeom>
          <a:solidFill>
            <a:srgbClr val="004F9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4" name="Rounded Rectangle 33"/>
          <p:cNvSpPr/>
          <p:nvPr/>
        </p:nvSpPr>
        <p:spPr>
          <a:xfrm>
            <a:off x="548640" y="3895344"/>
            <a:ext cx="2423160" cy="640080"/>
          </a:xfrm>
          <a:prstGeom prst="roundRect">
            <a:avLst>
              <a:gd name="adj" fmla="val 11428"/>
            </a:avLst>
          </a:prstGeom>
          <a:solidFill>
            <a:srgbClr val="EAF2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5" name="TextBox 34"/>
          <p:cNvSpPr txBox="1"/>
          <p:nvPr/>
        </p:nvSpPr>
        <p:spPr>
          <a:xfrm>
            <a:off x="731520" y="3895344"/>
            <a:ext cx="2148840" cy="64008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1050" b="0">
                <a:solidFill>
                  <a:srgbClr val="004F9F"/>
                </a:solidFill>
                <a:latin typeface="에이투지체 6 SemiBold"/>
                <a:ea typeface="에이투지체 6 SemiBold"/>
                <a:cs typeface="에이투지체 6 SemiBold"/>
              </a:rPr>
              <a:t>03</a:t>
            </a:r>
          </a:p>
          <a:p>
            <a:pPr algn="l"/>
            <a:r>
              <a:rPr sz="1300" b="0">
                <a:solidFill>
                  <a:srgbClr val="222222"/>
                </a:solidFill>
                <a:latin typeface="에이투지체 6 SemiBold"/>
                <a:ea typeface="에이투지체 6 SemiBold"/>
                <a:cs typeface="에이투지체 6 SemiBold"/>
              </a:rPr>
              <a:t>검색어 노출 확대</a:t>
            </a:r>
          </a:p>
        </p:txBody>
      </p:sp>
      <p:sp>
        <p:nvSpPr>
          <p:cNvPr id="36" name="Rounded Rectangle 35"/>
          <p:cNvSpPr/>
          <p:nvPr/>
        </p:nvSpPr>
        <p:spPr>
          <a:xfrm>
            <a:off x="3291840" y="3895344"/>
            <a:ext cx="3931920" cy="640080"/>
          </a:xfrm>
          <a:prstGeom prst="roundRect">
            <a:avLst>
              <a:gd name="adj" fmla="val 11428"/>
            </a:avLst>
          </a:prstGeom>
          <a:solidFill>
            <a:srgbClr val="F5F5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7" name="TextBox 36"/>
          <p:cNvSpPr txBox="1"/>
          <p:nvPr/>
        </p:nvSpPr>
        <p:spPr>
          <a:xfrm>
            <a:off x="3493008" y="3895344"/>
            <a:ext cx="3611880" cy="64008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1100" b="0">
                <a:solidFill>
                  <a:srgbClr val="222222"/>
                </a:solidFill>
                <a:latin typeface="에이투지체 5 Medium"/>
                <a:ea typeface="에이투지체 5 Medium"/>
                <a:cs typeface="에이투지체 5 Medium"/>
              </a:rPr>
              <a:t>대표 검색어는 CPC 상한 안에서 순위 관리</a:t>
            </a:r>
          </a:p>
          <a:p>
            <a:pPr algn="l"/>
            <a:r>
              <a:rPr sz="1100" b="0">
                <a:solidFill>
                  <a:srgbClr val="222222"/>
                </a:solidFill>
                <a:latin typeface="에이투지체 5 Medium"/>
                <a:ea typeface="에이투지체 5 Medium"/>
                <a:cs typeface="에이투지체 5 Medium"/>
              </a:rPr>
              <a:t>경쟁사 검색어는 매체 정책 확인 후 테스트</a:t>
            </a:r>
          </a:p>
        </p:txBody>
      </p:sp>
      <p:sp>
        <p:nvSpPr>
          <p:cNvPr id="38" name="Rounded Rectangle 37"/>
          <p:cNvSpPr/>
          <p:nvPr/>
        </p:nvSpPr>
        <p:spPr>
          <a:xfrm>
            <a:off x="7543800" y="3968496"/>
            <a:ext cx="2103120" cy="493775"/>
          </a:xfrm>
          <a:prstGeom prst="roundRect">
            <a:avLst>
              <a:gd name="adj" fmla="val 14814"/>
            </a:avLst>
          </a:prstGeom>
          <a:solidFill>
            <a:srgbClr val="FFFFFF"/>
          </a:solidFill>
          <a:ln w="9525">
            <a:solidFill>
              <a:srgbClr val="004F9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9" name="TextBox 38"/>
          <p:cNvSpPr txBox="1"/>
          <p:nvPr/>
        </p:nvSpPr>
        <p:spPr>
          <a:xfrm>
            <a:off x="7635240" y="3968496"/>
            <a:ext cx="1920240" cy="493775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1050" b="0">
                <a:solidFill>
                  <a:srgbClr val="004F9F"/>
                </a:solidFill>
                <a:latin typeface="에이투지체 6 SemiBold"/>
                <a:ea typeface="에이투지체 6 SemiBold"/>
                <a:cs typeface="에이투지체 6 SemiBold"/>
              </a:rPr>
              <a:t>직접 운영형</a:t>
            </a:r>
          </a:p>
          <a:p>
            <a:pPr algn="ctr"/>
            <a:r>
              <a:rPr sz="1050" b="0">
                <a:solidFill>
                  <a:srgbClr val="004F9F"/>
                </a:solidFill>
                <a:latin typeface="에이투지체 6 SemiBold"/>
                <a:ea typeface="에이투지체 6 SemiBold"/>
                <a:cs typeface="에이투지체 6 SemiBold"/>
              </a:rPr>
              <a:t>집중 운영형 (카무트)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9966960" y="3895344"/>
            <a:ext cx="1645920" cy="64008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1100" b="0">
                <a:solidFill>
                  <a:srgbClr val="222222"/>
                </a:solidFill>
                <a:latin typeface="에이투지체 6 SemiBold"/>
                <a:ea typeface="에이투지체 6 SemiBold"/>
                <a:cs typeface="에이투지체 6 SemiBold"/>
              </a:rPr>
              <a:t>검색어별 전환</a:t>
            </a:r>
          </a:p>
          <a:p>
            <a:pPr algn="ctr"/>
            <a:r>
              <a:rPr sz="1100" b="0">
                <a:solidFill>
                  <a:srgbClr val="222222"/>
                </a:solidFill>
                <a:latin typeface="에이투지체 6 SemiBold"/>
                <a:ea typeface="에이투지체 6 SemiBold"/>
                <a:cs typeface="에이투지체 6 SemiBold"/>
              </a:rPr>
              <a:t>무전환 비용</a:t>
            </a:r>
          </a:p>
        </p:txBody>
      </p:sp>
      <p:sp>
        <p:nvSpPr>
          <p:cNvPr id="41" name="Isosceles Triangle 40"/>
          <p:cNvSpPr/>
          <p:nvPr/>
        </p:nvSpPr>
        <p:spPr>
          <a:xfrm rot="5400000">
            <a:off x="2990088" y="4142231"/>
            <a:ext cx="201168" cy="146304"/>
          </a:xfrm>
          <a:prstGeom prst="triangle">
            <a:avLst/>
          </a:prstGeom>
          <a:solidFill>
            <a:srgbClr val="004F9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2" name="Isosceles Triangle 41"/>
          <p:cNvSpPr/>
          <p:nvPr/>
        </p:nvSpPr>
        <p:spPr>
          <a:xfrm rot="5400000">
            <a:off x="7242048" y="4142231"/>
            <a:ext cx="201168" cy="146304"/>
          </a:xfrm>
          <a:prstGeom prst="triangle">
            <a:avLst/>
          </a:prstGeom>
          <a:solidFill>
            <a:srgbClr val="004F9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3" name="Isosceles Triangle 42"/>
          <p:cNvSpPr/>
          <p:nvPr/>
        </p:nvSpPr>
        <p:spPr>
          <a:xfrm rot="5400000">
            <a:off x="9665208" y="4142231"/>
            <a:ext cx="201168" cy="146304"/>
          </a:xfrm>
          <a:prstGeom prst="triangle">
            <a:avLst/>
          </a:prstGeom>
          <a:solidFill>
            <a:srgbClr val="004F9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4" name="Rounded Rectangle 43"/>
          <p:cNvSpPr/>
          <p:nvPr/>
        </p:nvSpPr>
        <p:spPr>
          <a:xfrm>
            <a:off x="548640" y="4645152"/>
            <a:ext cx="2423160" cy="640080"/>
          </a:xfrm>
          <a:prstGeom prst="roundRect">
            <a:avLst>
              <a:gd name="adj" fmla="val 11428"/>
            </a:avLst>
          </a:prstGeom>
          <a:solidFill>
            <a:srgbClr val="EAF2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5" name="TextBox 44"/>
          <p:cNvSpPr txBox="1"/>
          <p:nvPr/>
        </p:nvSpPr>
        <p:spPr>
          <a:xfrm>
            <a:off x="731520" y="4645152"/>
            <a:ext cx="2148840" cy="64008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1050" b="0">
                <a:solidFill>
                  <a:srgbClr val="004F9F"/>
                </a:solidFill>
                <a:latin typeface="에이투지체 6 SemiBold"/>
                <a:ea typeface="에이투지체 6 SemiBold"/>
                <a:cs typeface="에이투지체 6 SemiBold"/>
              </a:rPr>
              <a:t>04</a:t>
            </a:r>
          </a:p>
          <a:p>
            <a:pPr algn="l"/>
            <a:r>
              <a:rPr sz="1300" b="0">
                <a:solidFill>
                  <a:srgbClr val="222222"/>
                </a:solidFill>
                <a:latin typeface="에이투지체 6 SemiBold"/>
                <a:ea typeface="에이투지체 6 SemiBold"/>
                <a:cs typeface="에이투지체 6 SemiBold"/>
              </a:rPr>
              <a:t>11번가 기반 마련</a:t>
            </a:r>
          </a:p>
        </p:txBody>
      </p:sp>
      <p:sp>
        <p:nvSpPr>
          <p:cNvPr id="46" name="Rounded Rectangle 45"/>
          <p:cNvSpPr/>
          <p:nvPr/>
        </p:nvSpPr>
        <p:spPr>
          <a:xfrm>
            <a:off x="3291840" y="4645152"/>
            <a:ext cx="3931920" cy="640080"/>
          </a:xfrm>
          <a:prstGeom prst="roundRect">
            <a:avLst>
              <a:gd name="adj" fmla="val 11428"/>
            </a:avLst>
          </a:prstGeom>
          <a:solidFill>
            <a:srgbClr val="F5F5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7" name="TextBox 46"/>
          <p:cNvSpPr txBox="1"/>
          <p:nvPr/>
        </p:nvSpPr>
        <p:spPr>
          <a:xfrm>
            <a:off x="3493008" y="4645152"/>
            <a:ext cx="3611880" cy="64008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1100" b="0">
                <a:solidFill>
                  <a:srgbClr val="222222"/>
                </a:solidFill>
                <a:latin typeface="에이투지체 5 Medium"/>
                <a:ea typeface="에이투지체 5 Medium"/>
                <a:cs typeface="에이투지체 5 Medium"/>
              </a:rPr>
              <a:t>공식 스토어 대표 상품 1~2개에 집중해</a:t>
            </a:r>
          </a:p>
          <a:p>
            <a:pPr algn="l"/>
            <a:r>
              <a:rPr sz="1100" b="0">
                <a:solidFill>
                  <a:srgbClr val="222222"/>
                </a:solidFill>
                <a:latin typeface="에이투지체 5 Medium"/>
                <a:ea typeface="에이투지체 5 Medium"/>
                <a:cs typeface="에이투지체 5 Medium"/>
              </a:rPr>
              <a:t>브랜드 검색어에서 판매처보다 먼저 노출</a:t>
            </a:r>
          </a:p>
        </p:txBody>
      </p:sp>
      <p:sp>
        <p:nvSpPr>
          <p:cNvPr id="48" name="Rounded Rectangle 47"/>
          <p:cNvSpPr/>
          <p:nvPr/>
        </p:nvSpPr>
        <p:spPr>
          <a:xfrm>
            <a:off x="7543800" y="4718304"/>
            <a:ext cx="2103120" cy="493775"/>
          </a:xfrm>
          <a:prstGeom prst="roundRect">
            <a:avLst>
              <a:gd name="adj" fmla="val 14814"/>
            </a:avLst>
          </a:prstGeom>
          <a:solidFill>
            <a:srgbClr val="FFFFFF"/>
          </a:solidFill>
          <a:ln w="9525">
            <a:solidFill>
              <a:srgbClr val="004F9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9" name="TextBox 48"/>
          <p:cNvSpPr txBox="1"/>
          <p:nvPr/>
        </p:nvSpPr>
        <p:spPr>
          <a:xfrm>
            <a:off x="7635240" y="4718304"/>
            <a:ext cx="1920240" cy="493775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1050" b="0">
                <a:solidFill>
                  <a:srgbClr val="004F9F"/>
                </a:solidFill>
                <a:latin typeface="에이투지체 6 SemiBold"/>
                <a:ea typeface="에이투지체 6 SemiBold"/>
                <a:cs typeface="에이투지체 6 SemiBold"/>
              </a:rPr>
              <a:t>11번가</a:t>
            </a:r>
          </a:p>
          <a:p>
            <a:pPr algn="ctr"/>
            <a:r>
              <a:rPr sz="1050" b="0">
                <a:solidFill>
                  <a:srgbClr val="004F9F"/>
                </a:solidFill>
                <a:latin typeface="에이투지체 6 SemiBold"/>
                <a:ea typeface="에이투지체 6 SemiBold"/>
                <a:cs typeface="에이투지체 6 SemiBold"/>
              </a:rPr>
              <a:t>공식 스토어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9966960" y="4645152"/>
            <a:ext cx="1645920" cy="64008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1100" b="0">
                <a:solidFill>
                  <a:srgbClr val="222222"/>
                </a:solidFill>
                <a:latin typeface="에이투지체 6 SemiBold"/>
                <a:ea typeface="에이투지체 6 SemiBold"/>
                <a:cs typeface="에이투지체 6 SemiBold"/>
              </a:rPr>
              <a:t>브랜드 검색어 노출</a:t>
            </a:r>
          </a:p>
          <a:p>
            <a:pPr algn="ctr"/>
            <a:r>
              <a:rPr sz="1100" b="0">
                <a:solidFill>
                  <a:srgbClr val="222222"/>
                </a:solidFill>
                <a:latin typeface="에이투지체 6 SemiBold"/>
                <a:ea typeface="에이투지체 6 SemiBold"/>
                <a:cs typeface="에이투지체 6 SemiBold"/>
              </a:rPr>
              <a:t>광고 전환</a:t>
            </a:r>
          </a:p>
        </p:txBody>
      </p:sp>
      <p:sp>
        <p:nvSpPr>
          <p:cNvPr id="51" name="Isosceles Triangle 50"/>
          <p:cNvSpPr/>
          <p:nvPr/>
        </p:nvSpPr>
        <p:spPr>
          <a:xfrm rot="5400000">
            <a:off x="2990088" y="4892040"/>
            <a:ext cx="201168" cy="146304"/>
          </a:xfrm>
          <a:prstGeom prst="triangle">
            <a:avLst/>
          </a:prstGeom>
          <a:solidFill>
            <a:srgbClr val="004F9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2" name="Isosceles Triangle 51"/>
          <p:cNvSpPr/>
          <p:nvPr/>
        </p:nvSpPr>
        <p:spPr>
          <a:xfrm rot="5400000">
            <a:off x="7242048" y="4892040"/>
            <a:ext cx="201168" cy="146304"/>
          </a:xfrm>
          <a:prstGeom prst="triangle">
            <a:avLst/>
          </a:prstGeom>
          <a:solidFill>
            <a:srgbClr val="004F9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3" name="Isosceles Triangle 52"/>
          <p:cNvSpPr/>
          <p:nvPr/>
        </p:nvSpPr>
        <p:spPr>
          <a:xfrm rot="5400000">
            <a:off x="9665208" y="4892040"/>
            <a:ext cx="201168" cy="146304"/>
          </a:xfrm>
          <a:prstGeom prst="triangle">
            <a:avLst/>
          </a:prstGeom>
          <a:solidFill>
            <a:srgbClr val="004F9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" name="TextBox 1"/>
          <p:cNvSpPr txBox="1"/>
          <p:nvPr/>
        </p:nvSpPr>
        <p:spPr>
          <a:xfrm>
            <a:off x="548640" y="347472"/>
            <a:ext cx="8229600" cy="27432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>
              <a:buNone/>
            </a:pPr>
            <a:r>
              <a:rPr lang="ko-KR" sz="900" spc="100" dirty="0">
                <a:solidFill>
                  <a:srgbClr val="004F9F"/>
                </a:solidFill>
                <a:latin typeface="에이투지체 6 SemiBold"/>
                <a:ea typeface="에이투지체 6 SemiBold"/>
                <a:cs typeface="에이투지체 6 SemiBold"/>
              </a:rPr>
              <a:t>PART 2 · 11월 마케팅 전략 · 미디어믹스</a:t>
            </a:r>
            <a:endParaRPr lang="ko-KR" sz="900" dirty="0"/>
          </a:p>
        </p:txBody>
      </p:sp>
      <p:sp>
        <p:nvSpPr>
          <p:cNvPr id="14" name="TextBox 7"/>
          <p:cNvSpPr txBox="1"/>
          <p:nvPr/>
        </p:nvSpPr>
        <p:spPr>
          <a:xfrm>
            <a:off x="548640" y="6473952"/>
            <a:ext cx="420624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800">
                <a:solidFill>
                  <a:srgbClr val="919191"/>
                </a:solidFill>
                <a:latin typeface="에이투지체 3 Light"/>
              </a:rPr>
              <a:t>DODREAM B&amp;B AD PROPOSAL · 2026</a:t>
            </a:r>
          </a:p>
        </p:txBody>
      </p:sp>
      <p:sp>
        <p:nvSpPr>
          <p:cNvPr id="15" name="TextBox 8"/>
          <p:cNvSpPr txBox="1"/>
          <p:nvPr/>
        </p:nvSpPr>
        <p:spPr>
          <a:xfrm>
            <a:off x="8138160" y="6473952"/>
            <a:ext cx="301752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/>
            <a:r>
              <a:rPr sz="800">
                <a:solidFill>
                  <a:srgbClr val="919191"/>
                </a:solidFill>
                <a:latin typeface="에이투지체 3 Light"/>
              </a:rPr>
              <a:t>LINKPRICE · BRAND AD CENTER</a:t>
            </a:r>
          </a:p>
        </p:txBody>
      </p:sp>
      <p:sp>
        <p:nvSpPr>
          <p:cNvPr id="16" name="PGNO"/>
          <p:cNvSpPr txBox="1"/>
          <p:nvPr/>
        </p:nvSpPr>
        <p:spPr>
          <a:xfrm>
            <a:off x="11292840" y="6473952"/>
            <a:ext cx="36576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/>
            <a:r>
              <a:rPr sz="800">
                <a:solidFill>
                  <a:srgbClr val="222222"/>
                </a:solidFill>
                <a:latin typeface="에이투지체 6 SemiBold"/>
              </a:rPr>
              <a:t>48</a:t>
            </a:r>
          </a:p>
        </p:txBody>
      </p:sp>
      <p:sp>
        <p:nvSpPr>
          <p:cNvPr id="2" name="text-324">
            <a:extLst>
              <a:ext uri="{FF2B5EF4-FFF2-40B4-BE49-F238E27FC236}">
                <a16:creationId xmlns:a16="http://schemas.microsoft.com/office/drawing/2014/main" id="{07031293-D46C-4A6A-816C-0B86BB674167}"/>
              </a:ext>
            </a:extLst>
          </p:cNvPr>
          <p:cNvSpPr>
            <a:spLocks noGrp="1"/>
          </p:cNvSpPr>
          <p:nvPr/>
        </p:nvSpPr>
        <p:spPr>
          <a:xfrm>
            <a:off x="548640" y="658368"/>
            <a:ext cx="11064240" cy="86868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ctr"/>
          <a:lstStyle>
            <a:defPPr algn="l">
              <a:defRPr sz="2000">
                <a:solidFill>
                  <a:srgbClr val="2E6BD5"/>
                </a:solidFill>
                <a:latin typeface="에이투지체 8 ExtraBold"/>
                <a:ea typeface="에이투지체 8 ExtraBold"/>
                <a:cs typeface="에이투지체 8 ExtraBold"/>
              </a:defRPr>
            </a:defPPr>
          </a:lstStyle>
          <a:p>
            <a:pPr marL="0" indent="0">
              <a:lnSpc>
                <a:spcPts val="2600"/>
              </a:lnSpc>
              <a:buNone/>
            </a:pPr>
            <a:r>
              <a:rPr lang="ko-KR" sz="1900" dirty="0">
                <a:solidFill>
                  <a:schemeClr val="bg1"/>
                </a:solidFill>
                <a:highlight>
                  <a:srgbClr val="0000FF"/>
                </a:highlight>
                <a:latin typeface="에이투지체 8 ExtraBold"/>
                <a:ea typeface="에이투지체 8 ExtraBold"/>
                <a:cs typeface="에이투지체 8 ExtraBold"/>
              </a:rPr>
              <a:t>지마켓은 운영 중인 광고를 유형별로</a:t>
            </a:r>
            <a:r>
              <a:rPr lang="ko-KR" sz="1900" dirty="0">
                <a:solidFill>
                  <a:srgbClr val="222222"/>
                </a:solidFill>
                <a:latin typeface="에이투지체 8 ExtraBold"/>
                <a:ea typeface="에이투지체 8 ExtraBold"/>
                <a:cs typeface="에이투지체 8 ExtraBold"/>
              </a:rPr>
              <a:t> 나누고</a:t>
            </a:r>
            <a:endParaRPr lang="ko-KR" sz="1900" dirty="0"/>
          </a:p>
          <a:p>
            <a:pPr marL="0" indent="0">
              <a:lnSpc>
                <a:spcPts val="2600"/>
              </a:lnSpc>
              <a:buNone/>
            </a:pPr>
            <a:r>
              <a:rPr lang="ko-KR" sz="1900" dirty="0">
                <a:solidFill>
                  <a:srgbClr val="222222"/>
                </a:solidFill>
                <a:latin typeface="에이투지체 8 ExtraBold"/>
                <a:ea typeface="에이투지체 8 ExtraBold"/>
                <a:cs typeface="에이투지체 8 ExtraBold"/>
              </a:rPr>
              <a:t>11번가는 대표 상품부터 검증해 성과에 따라 예산을 재배분합니다</a:t>
            </a:r>
            <a:endParaRPr lang="ko-KR" sz="1900" dirty="0"/>
          </a:p>
        </p:txBody>
      </p:sp>
      <p:sp>
        <p:nvSpPr>
          <p:cNvPr id="3" name="text-325">
            <a:extLst>
              <a:ext uri="{FF2B5EF4-FFF2-40B4-BE49-F238E27FC236}">
                <a16:creationId xmlns:a16="http://schemas.microsoft.com/office/drawing/2014/main" id="{A948AE7F-2DF3-4E15-B2D2-2248EF809117}"/>
              </a:ext>
            </a:extLst>
          </p:cNvPr>
          <p:cNvSpPr>
            <a:spLocks noGrp="1"/>
          </p:cNvSpPr>
          <p:nvPr/>
        </p:nvSpPr>
        <p:spPr>
          <a:xfrm>
            <a:off x="548640" y="1517904"/>
            <a:ext cx="11064240" cy="36576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ctr"/>
          <a:lstStyle>
            <a:defPPr algn="l">
              <a:defRPr sz="1400">
                <a:solidFill>
                  <a:srgbClr val="5C5C5C"/>
                </a:solidFill>
                <a:latin typeface="에이투지체 4 Regular"/>
                <a:ea typeface="에이투지체 4 Regular"/>
                <a:cs typeface="에이투지체 4 Regular"/>
              </a:defRPr>
            </a:defPPr>
          </a:lstStyle>
          <a:p>
            <a:pPr marL="0" indent="0">
              <a:buNone/>
            </a:pPr>
            <a:r>
              <a:rPr lang="ko-KR" sz="1100" dirty="0">
                <a:solidFill>
                  <a:srgbClr val="5C5C5C"/>
                </a:solidFill>
                <a:latin typeface="에이투지체 5 Medium"/>
                <a:ea typeface="에이투지체 5 Medium"/>
                <a:cs typeface="에이투지체 5 Medium"/>
              </a:rPr>
              <a:t>지마켓·11번가 핵심과제  매체별 운영 구조</a:t>
            </a:r>
            <a:endParaRPr lang="ko-KR" sz="1100" dirty="0"/>
          </a:p>
        </p:txBody>
      </p:sp>
      <p:sp>
        <p:nvSpPr>
          <p:cNvPr id="4" name="text-326">
            <a:extLst>
              <a:ext uri="{FF2B5EF4-FFF2-40B4-BE49-F238E27FC236}">
                <a16:creationId xmlns:a16="http://schemas.microsoft.com/office/drawing/2014/main" id="{7C081767-5B60-41BA-8A2C-C146EC9B64B7}"/>
              </a:ext>
            </a:extLst>
          </p:cNvPr>
          <p:cNvSpPr>
            <a:spLocks noGrp="1"/>
          </p:cNvSpPr>
          <p:nvPr/>
        </p:nvSpPr>
        <p:spPr>
          <a:xfrm>
            <a:off x="552450" y="2057400"/>
            <a:ext cx="6534150" cy="3048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ctr">
            <a:noAutofit/>
          </a:bodyPr>
          <a:lstStyle>
            <a:defPPr algn="l">
              <a:defRPr sz="1500">
                <a:solidFill>
                  <a:srgbClr val="004F9F"/>
                </a:solidFill>
                <a:latin typeface="에이투지체 6 SemiBold"/>
                <a:ea typeface="에이투지체 6 SemiBold"/>
                <a:cs typeface="에이투지체 6 SemiBold"/>
              </a:defRPr>
            </a:defPPr>
          </a:lstStyle>
          <a:p>
            <a:pPr algn="l">
              <a:defRPr sz="1500">
                <a:solidFill>
                  <a:srgbClr val="004F9F"/>
                </a:solidFill>
                <a:latin typeface="에이투지체 6 SemiBold"/>
                <a:ea typeface="에이투지체 6 SemiBold"/>
                <a:cs typeface="에이투지체 6 SemiBold"/>
              </a:defRPr>
            </a:pPr>
            <a:r>
              <a:rPr sz="1500">
                <a:solidFill>
                  <a:srgbClr val="004F9F"/>
                </a:solidFill>
                <a:latin typeface="에이투지체 6 SemiBold"/>
                <a:ea typeface="에이투지체 6 SemiBold"/>
                <a:cs typeface="에이투지체 6 SemiBold"/>
              </a:rPr>
              <a:t>지마켓  AI Product Ads 유형별 역할</a:t>
            </a:r>
          </a:p>
        </p:txBody>
      </p:sp>
      <p:sp>
        <p:nvSpPr>
          <p:cNvPr id="6" name="text-327">
            <a:extLst>
              <a:ext uri="{FF2B5EF4-FFF2-40B4-BE49-F238E27FC236}">
                <a16:creationId xmlns:a16="http://schemas.microsoft.com/office/drawing/2014/main" id="{AC3D492C-1871-4ECD-A853-BECE383AB7F5}"/>
              </a:ext>
            </a:extLst>
          </p:cNvPr>
          <p:cNvSpPr>
            <a:spLocks noGrp="1"/>
          </p:cNvSpPr>
          <p:nvPr/>
        </p:nvSpPr>
        <p:spPr>
          <a:xfrm>
            <a:off x="8077199" y="2193798"/>
            <a:ext cx="3543300" cy="3048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ctr">
            <a:noAutofit/>
          </a:bodyPr>
          <a:lstStyle>
            <a:defPPr algn="l">
              <a:defRPr sz="1500">
                <a:solidFill>
                  <a:srgbClr val="004F9F"/>
                </a:solidFill>
                <a:latin typeface="에이투지체 6 SemiBold"/>
                <a:ea typeface="에이투지체 6 SemiBold"/>
                <a:cs typeface="에이투지체 6 SemiBold"/>
              </a:defRPr>
            </a:defPPr>
          </a:lstStyle>
          <a:p>
            <a:pPr algn="l">
              <a:defRPr sz="1500">
                <a:solidFill>
                  <a:srgbClr val="004F9F"/>
                </a:solidFill>
                <a:latin typeface="에이투지체 6 SemiBold"/>
                <a:ea typeface="에이투지체 6 SemiBold"/>
                <a:cs typeface="에이투지체 6 SemiBold"/>
              </a:defRPr>
            </a:pPr>
            <a:r>
              <a:rPr sz="1500" dirty="0">
                <a:solidFill>
                  <a:srgbClr val="004F9F"/>
                </a:solidFill>
                <a:latin typeface="에이투지체 6 SemiBold"/>
                <a:ea typeface="에이투지체 6 SemiBold"/>
                <a:cs typeface="에이투지체 6 SemiBold"/>
              </a:rPr>
              <a:t>11번가 </a:t>
            </a:r>
            <a:r>
              <a:rPr sz="1500" dirty="0" err="1">
                <a:solidFill>
                  <a:srgbClr val="004F9F"/>
                </a:solidFill>
                <a:latin typeface="에이투지체 6 SemiBold"/>
                <a:ea typeface="에이투지체 6 SemiBold"/>
                <a:cs typeface="에이투지체 6 SemiBold"/>
              </a:rPr>
              <a:t>초기</a:t>
            </a:r>
            <a:r>
              <a:rPr sz="1500" dirty="0">
                <a:solidFill>
                  <a:srgbClr val="004F9F"/>
                </a:solidFill>
                <a:latin typeface="에이투지체 6 SemiBold"/>
                <a:ea typeface="에이투지체 6 SemiBold"/>
                <a:cs typeface="에이투지체 6 SemiBold"/>
              </a:rPr>
              <a:t> </a:t>
            </a:r>
            <a:r>
              <a:rPr sz="1500" dirty="0" err="1">
                <a:solidFill>
                  <a:srgbClr val="004F9F"/>
                </a:solidFill>
                <a:latin typeface="에이투지체 6 SemiBold"/>
                <a:ea typeface="에이투지체 6 SemiBold"/>
                <a:cs typeface="에이투지체 6 SemiBold"/>
              </a:rPr>
              <a:t>운영</a:t>
            </a:r>
            <a:endParaRPr sz="1500" dirty="0">
              <a:solidFill>
                <a:srgbClr val="004F9F"/>
              </a:solidFill>
              <a:latin typeface="에이투지체 6 SemiBold"/>
              <a:ea typeface="에이투지체 6 SemiBold"/>
              <a:cs typeface="에이투지체 6 SemiBold"/>
            </a:endParaRPr>
          </a:p>
        </p:txBody>
      </p:sp>
      <p:sp>
        <p:nvSpPr>
          <p:cNvPr id="10" name="node-330">
            <a:extLst>
              <a:ext uri="{FF2B5EF4-FFF2-40B4-BE49-F238E27FC236}">
                <a16:creationId xmlns:a16="http://schemas.microsoft.com/office/drawing/2014/main" id="{B3C8D8D8-92C3-4EFA-A5D9-8AA0A256B207}"/>
              </a:ext>
            </a:extLst>
          </p:cNvPr>
          <p:cNvSpPr>
            <a:spLocks noGrp="1"/>
          </p:cNvSpPr>
          <p:nvPr/>
        </p:nvSpPr>
        <p:spPr>
          <a:xfrm>
            <a:off x="548640" y="5581650"/>
            <a:ext cx="11064240" cy="438150"/>
          </a:xfrm>
          <a:prstGeom prst="roundRect">
            <a:avLst>
              <a:gd name="adj" fmla="val 16695"/>
            </a:avLst>
          </a:prstGeom>
          <a:solidFill>
            <a:srgbClr val="EAF2FB"/>
          </a:solidFill>
          <a:ln w="9525">
            <a:solidFill>
              <a:srgbClr val="004F9F"/>
            </a:solidFill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11" name="text-331">
            <a:extLst>
              <a:ext uri="{FF2B5EF4-FFF2-40B4-BE49-F238E27FC236}">
                <a16:creationId xmlns:a16="http://schemas.microsoft.com/office/drawing/2014/main" id="{1FC95A3F-12DD-464E-815E-860671D9DFF4}"/>
              </a:ext>
            </a:extLst>
          </p:cNvPr>
          <p:cNvSpPr>
            <a:spLocks noGrp="1"/>
          </p:cNvSpPr>
          <p:nvPr/>
        </p:nvSpPr>
        <p:spPr>
          <a:xfrm>
            <a:off x="742950" y="5629275"/>
            <a:ext cx="10668000" cy="3429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ctr">
            <a:noAutofit/>
          </a:bodyPr>
          <a:lstStyle>
            <a:defPPr algn="l">
              <a:defRPr sz="1358">
                <a:solidFill>
                  <a:srgbClr val="FFFFFF"/>
                </a:solidFill>
                <a:latin typeface="에이투지체 6 SemiBold"/>
                <a:ea typeface="에이투지체 6 SemiBold"/>
                <a:cs typeface="에이투지체 6 SemiBold"/>
              </a:defRPr>
            </a:defPPr>
          </a:lstStyle>
          <a:p>
            <a:pPr algn="l">
              <a:defRPr sz="1358">
                <a:solidFill>
                  <a:srgbClr val="FFFFFF"/>
                </a:solidFill>
                <a:latin typeface="에이투지체 6 SemiBold"/>
                <a:ea typeface="에이투지체 6 SemiBold"/>
                <a:cs typeface="에이투지체 6 SemiBold"/>
              </a:defRPr>
            </a:pPr>
            <a:r>
              <a:rPr sz="1358">
                <a:solidFill>
                  <a:srgbClr val="004F9F"/>
                </a:solidFill>
                <a:latin typeface="에이투지체 6 SemiBold"/>
                <a:ea typeface="에이투지체 6 SemiBold"/>
                <a:cs typeface="에이투지체 6 SemiBold"/>
              </a:rPr>
              <a:t>지마켓의 CPC는 상한선으로 관리하고, 매체별 상품 ROAS가 확인된 곳에 예산을 확대합니다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48640" y="2432304"/>
            <a:ext cx="1828800" cy="2286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950">
                <a:solidFill>
                  <a:srgbClr val="004F9F"/>
                </a:solidFill>
                <a:latin typeface="에이투지체 6 SemiBold"/>
                <a:ea typeface="에이투지체 6 SemiBold"/>
              </a:rPr>
              <a:t>AI 자동 운영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806440" y="2432304"/>
            <a:ext cx="1463040" cy="2286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950">
                <a:solidFill>
                  <a:srgbClr val="004F9F"/>
                </a:solidFill>
                <a:latin typeface="에이투지체 6 SemiBold"/>
                <a:ea typeface="에이투지체 6 SemiBold"/>
              </a:rPr>
              <a:t>직접 관리</a:t>
            </a:r>
          </a:p>
        </p:txBody>
      </p:sp>
      <p:cxnSp>
        <p:nvCxnSpPr>
          <p:cNvPr id="19" name="Connector 18"/>
          <p:cNvCxnSpPr/>
          <p:nvPr/>
        </p:nvCxnSpPr>
        <p:spPr>
          <a:xfrm>
            <a:off x="1600200" y="2546604"/>
            <a:ext cx="4160520" cy="0"/>
          </a:xfrm>
          <a:prstGeom prst="line">
            <a:avLst/>
          </a:prstGeom>
          <a:ln w="9525">
            <a:solidFill>
              <a:srgbClr val="004F9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0" name="Isosceles Triangle 19"/>
          <p:cNvSpPr/>
          <p:nvPr/>
        </p:nvSpPr>
        <p:spPr>
          <a:xfrm rot="5400000">
            <a:off x="5596128" y="2455164"/>
            <a:ext cx="128016" cy="182880"/>
          </a:xfrm>
          <a:prstGeom prst="triangle">
            <a:avLst/>
          </a:prstGeom>
          <a:solidFill>
            <a:srgbClr val="004F9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1" name="Rounded Rectangle 20"/>
          <p:cNvSpPr/>
          <p:nvPr/>
        </p:nvSpPr>
        <p:spPr>
          <a:xfrm>
            <a:off x="548640" y="2788920"/>
            <a:ext cx="2194560" cy="1965960"/>
          </a:xfrm>
          <a:prstGeom prst="roundRect">
            <a:avLst>
              <a:gd name="adj" fmla="val 3720"/>
            </a:avLst>
          </a:prstGeom>
          <a:solidFill>
            <a:srgbClr val="F5F5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2" name="Oval 21"/>
          <p:cNvSpPr/>
          <p:nvPr/>
        </p:nvSpPr>
        <p:spPr>
          <a:xfrm>
            <a:off x="749808" y="2990088"/>
            <a:ext cx="420624" cy="420624"/>
          </a:xfrm>
          <a:prstGeom prst="ellipse">
            <a:avLst/>
          </a:prstGeom>
          <a:solidFill>
            <a:srgbClr val="004F9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23" name="Picture 22" descr="bot_FFFFFF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59170" y="3099450"/>
            <a:ext cx="201899" cy="201899"/>
          </a:xfrm>
          <a:prstGeom prst="rect">
            <a:avLst/>
          </a:prstGeom>
        </p:spPr>
      </p:pic>
      <p:sp>
        <p:nvSpPr>
          <p:cNvPr id="24" name="TextBox 23"/>
          <p:cNvSpPr txBox="1"/>
          <p:nvPr/>
        </p:nvSpPr>
        <p:spPr>
          <a:xfrm>
            <a:off x="749808" y="3502152"/>
            <a:ext cx="1828800" cy="29260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300">
                <a:solidFill>
                  <a:srgbClr val="222222"/>
                </a:solidFill>
                <a:latin typeface="에이투지체 6 SemiBold"/>
                <a:ea typeface="에이투지체 6 SemiBold"/>
              </a:rPr>
              <a:t>통합 운영형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749808" y="3776472"/>
            <a:ext cx="1828800" cy="23774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000">
                <a:solidFill>
                  <a:srgbClr val="5C5C5C"/>
                </a:solidFill>
                <a:latin typeface="에이투지체 4 Regular"/>
                <a:ea typeface="에이투지체 4 Regular"/>
              </a:rPr>
              <a:t>상품 · 입찰 모두 AI</a:t>
            </a:r>
          </a:p>
        </p:txBody>
      </p:sp>
      <p:cxnSp>
        <p:nvCxnSpPr>
          <p:cNvPr id="26" name="Connector 25"/>
          <p:cNvCxnSpPr/>
          <p:nvPr/>
        </p:nvCxnSpPr>
        <p:spPr>
          <a:xfrm>
            <a:off x="749808" y="4087368"/>
            <a:ext cx="1792224" cy="0"/>
          </a:xfrm>
          <a:prstGeom prst="line">
            <a:avLst/>
          </a:prstGeom>
          <a:ln w="9525">
            <a:solidFill>
              <a:srgbClr val="D0D0D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7" name="TextBox 26"/>
          <p:cNvSpPr txBox="1"/>
          <p:nvPr/>
        </p:nvSpPr>
        <p:spPr>
          <a:xfrm>
            <a:off x="749808" y="4160520"/>
            <a:ext cx="1828800" cy="2286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900">
                <a:solidFill>
                  <a:srgbClr val="004F9F"/>
                </a:solidFill>
                <a:latin typeface="에이투지체 6 SemiBold"/>
                <a:ea typeface="에이투지체 6 SemiBold"/>
              </a:rPr>
              <a:t>두드림 적용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749808" y="4361688"/>
            <a:ext cx="1828800" cy="32918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050">
                <a:solidFill>
                  <a:srgbClr val="222222"/>
                </a:solidFill>
                <a:latin typeface="에이투지체 6 SemiBold"/>
                <a:ea typeface="에이투지체 6 SemiBold"/>
              </a:rPr>
              <a:t>그 외 상품 소액 탐색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2889504" y="2788920"/>
            <a:ext cx="2194560" cy="1965960"/>
          </a:xfrm>
          <a:prstGeom prst="roundRect">
            <a:avLst>
              <a:gd name="adj" fmla="val 3720"/>
            </a:avLst>
          </a:prstGeom>
          <a:solidFill>
            <a:srgbClr val="F5F5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0" name="Oval 29"/>
          <p:cNvSpPr/>
          <p:nvPr/>
        </p:nvSpPr>
        <p:spPr>
          <a:xfrm>
            <a:off x="3090672" y="2990088"/>
            <a:ext cx="420624" cy="420624"/>
          </a:xfrm>
          <a:prstGeom prst="ellipse">
            <a:avLst/>
          </a:prstGeom>
          <a:solidFill>
            <a:srgbClr val="004F9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31" name="Picture 30" descr="sliders-horizontal_FFFFFF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200034" y="3099450"/>
            <a:ext cx="201899" cy="201899"/>
          </a:xfrm>
          <a:prstGeom prst="rect">
            <a:avLst/>
          </a:prstGeom>
        </p:spPr>
      </p:pic>
      <p:sp>
        <p:nvSpPr>
          <p:cNvPr id="32" name="TextBox 31"/>
          <p:cNvSpPr txBox="1"/>
          <p:nvPr/>
        </p:nvSpPr>
        <p:spPr>
          <a:xfrm>
            <a:off x="3090672" y="3502152"/>
            <a:ext cx="1828800" cy="29260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300">
                <a:solidFill>
                  <a:srgbClr val="222222"/>
                </a:solidFill>
                <a:latin typeface="에이투지체 6 SemiBold"/>
                <a:ea typeface="에이투지체 6 SemiBold"/>
              </a:rPr>
              <a:t>집중 운영형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3090672" y="3776472"/>
            <a:ext cx="1828800" cy="23774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000">
                <a:solidFill>
                  <a:srgbClr val="5C5C5C"/>
                </a:solidFill>
                <a:latin typeface="에이투지체 4 Regular"/>
                <a:ea typeface="에이투지체 4 Regular"/>
              </a:rPr>
              <a:t>상품은 선택, 입찰은 AI</a:t>
            </a:r>
          </a:p>
        </p:txBody>
      </p:sp>
      <p:cxnSp>
        <p:nvCxnSpPr>
          <p:cNvPr id="34" name="Connector 33"/>
          <p:cNvCxnSpPr/>
          <p:nvPr/>
        </p:nvCxnSpPr>
        <p:spPr>
          <a:xfrm>
            <a:off x="3090672" y="4087368"/>
            <a:ext cx="1792224" cy="0"/>
          </a:xfrm>
          <a:prstGeom prst="line">
            <a:avLst/>
          </a:prstGeom>
          <a:ln w="9525">
            <a:solidFill>
              <a:srgbClr val="D0D0D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5" name="TextBox 34"/>
          <p:cNvSpPr txBox="1"/>
          <p:nvPr/>
        </p:nvSpPr>
        <p:spPr>
          <a:xfrm>
            <a:off x="3090672" y="4160520"/>
            <a:ext cx="1828800" cy="2286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900">
                <a:solidFill>
                  <a:srgbClr val="004F9F"/>
                </a:solidFill>
                <a:latin typeface="에이투지체 6 SemiBold"/>
                <a:ea typeface="에이투지체 6 SemiBold"/>
              </a:rPr>
              <a:t>두드림 적용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3090672" y="4361688"/>
            <a:ext cx="1828800" cy="32918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050">
                <a:solidFill>
                  <a:srgbClr val="222222"/>
                </a:solidFill>
                <a:latin typeface="에이투지체 6 SemiBold"/>
                <a:ea typeface="에이투지체 6 SemiBold"/>
              </a:rPr>
              <a:t>카무트 효소 성과 검증</a:t>
            </a:r>
          </a:p>
        </p:txBody>
      </p:sp>
      <p:sp>
        <p:nvSpPr>
          <p:cNvPr id="37" name="Rounded Rectangle 36"/>
          <p:cNvSpPr/>
          <p:nvPr/>
        </p:nvSpPr>
        <p:spPr>
          <a:xfrm>
            <a:off x="5230368" y="2788920"/>
            <a:ext cx="2194560" cy="1965960"/>
          </a:xfrm>
          <a:prstGeom prst="roundRect">
            <a:avLst>
              <a:gd name="adj" fmla="val 3720"/>
            </a:avLst>
          </a:prstGeom>
          <a:solidFill>
            <a:srgbClr val="EAF2FB"/>
          </a:solidFill>
          <a:ln w="9525">
            <a:solidFill>
              <a:srgbClr val="004F9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8" name="Oval 37"/>
          <p:cNvSpPr/>
          <p:nvPr/>
        </p:nvSpPr>
        <p:spPr>
          <a:xfrm>
            <a:off x="5431536" y="2990088"/>
            <a:ext cx="420624" cy="420624"/>
          </a:xfrm>
          <a:prstGeom prst="ellipse">
            <a:avLst/>
          </a:prstGeom>
          <a:solidFill>
            <a:srgbClr val="004F9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39" name="Picture 38" descr="target_FFFFFF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540898" y="3099450"/>
            <a:ext cx="201899" cy="201899"/>
          </a:xfrm>
          <a:prstGeom prst="rect">
            <a:avLst/>
          </a:prstGeom>
        </p:spPr>
      </p:pic>
      <p:sp>
        <p:nvSpPr>
          <p:cNvPr id="40" name="TextBox 39"/>
          <p:cNvSpPr txBox="1"/>
          <p:nvPr/>
        </p:nvSpPr>
        <p:spPr>
          <a:xfrm>
            <a:off x="5431536" y="3502152"/>
            <a:ext cx="1828800" cy="29260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300">
                <a:solidFill>
                  <a:srgbClr val="222222"/>
                </a:solidFill>
                <a:latin typeface="에이투지체 6 SemiBold"/>
                <a:ea typeface="에이투지체 6 SemiBold"/>
              </a:rPr>
              <a:t>직접 운영형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5431536" y="3776472"/>
            <a:ext cx="1828800" cy="23774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000">
                <a:solidFill>
                  <a:srgbClr val="5C5C5C"/>
                </a:solidFill>
                <a:latin typeface="에이투지체 4 Regular"/>
                <a:ea typeface="에이투지체 4 Regular"/>
              </a:rPr>
              <a:t>상품 · 키워드 · 입찰가 직접</a:t>
            </a:r>
          </a:p>
        </p:txBody>
      </p:sp>
      <p:cxnSp>
        <p:nvCxnSpPr>
          <p:cNvPr id="42" name="Connector 41"/>
          <p:cNvCxnSpPr/>
          <p:nvPr/>
        </p:nvCxnSpPr>
        <p:spPr>
          <a:xfrm>
            <a:off x="5431536" y="4087368"/>
            <a:ext cx="1792223" cy="0"/>
          </a:xfrm>
          <a:prstGeom prst="line">
            <a:avLst/>
          </a:prstGeom>
          <a:ln w="9525">
            <a:solidFill>
              <a:srgbClr val="D0D0D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3" name="TextBox 42"/>
          <p:cNvSpPr txBox="1"/>
          <p:nvPr/>
        </p:nvSpPr>
        <p:spPr>
          <a:xfrm>
            <a:off x="5431536" y="4160520"/>
            <a:ext cx="1828800" cy="2286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900">
                <a:solidFill>
                  <a:srgbClr val="004F9F"/>
                </a:solidFill>
                <a:latin typeface="에이투지체 6 SemiBold"/>
                <a:ea typeface="에이투지체 6 SemiBold"/>
              </a:rPr>
              <a:t>두드림 적용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5431536" y="4361688"/>
            <a:ext cx="1828800" cy="32918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050">
                <a:solidFill>
                  <a:srgbClr val="222222"/>
                </a:solidFill>
                <a:latin typeface="에이투지체 6 SemiBold"/>
                <a:ea typeface="에이투지체 6 SemiBold"/>
              </a:rPr>
              <a:t>브랜드 검색어 상시 노출, FGO CPC 상한</a:t>
            </a:r>
          </a:p>
        </p:txBody>
      </p:sp>
      <p:sp>
        <p:nvSpPr>
          <p:cNvPr id="45" name="Rounded Rectangle 44"/>
          <p:cNvSpPr/>
          <p:nvPr/>
        </p:nvSpPr>
        <p:spPr>
          <a:xfrm>
            <a:off x="8074151" y="2623566"/>
            <a:ext cx="3538728" cy="475488"/>
          </a:xfrm>
          <a:prstGeom prst="roundRect">
            <a:avLst>
              <a:gd name="adj" fmla="val 15384"/>
            </a:avLst>
          </a:prstGeom>
          <a:solidFill>
            <a:srgbClr val="F5F5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6" name="Oval 45"/>
          <p:cNvSpPr/>
          <p:nvPr/>
        </p:nvSpPr>
        <p:spPr>
          <a:xfrm>
            <a:off x="8229599" y="2715006"/>
            <a:ext cx="292608" cy="292608"/>
          </a:xfrm>
          <a:prstGeom prst="ellipse">
            <a:avLst/>
          </a:prstGeom>
          <a:solidFill>
            <a:srgbClr val="004F9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47" name="Picture 46" descr="check_FFFFFF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8305677" y="2791084"/>
            <a:ext cx="140451" cy="140451"/>
          </a:xfrm>
          <a:prstGeom prst="rect">
            <a:avLst/>
          </a:prstGeom>
        </p:spPr>
      </p:pic>
      <p:sp>
        <p:nvSpPr>
          <p:cNvPr id="48" name="TextBox 47"/>
          <p:cNvSpPr txBox="1"/>
          <p:nvPr/>
        </p:nvSpPr>
        <p:spPr>
          <a:xfrm>
            <a:off x="8641079" y="2623566"/>
            <a:ext cx="2880360" cy="47548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200">
                <a:solidFill>
                  <a:srgbClr val="222222"/>
                </a:solidFill>
                <a:latin typeface="에이투지체 5 Medium"/>
                <a:ea typeface="에이투지체 5 Medium"/>
              </a:rPr>
              <a:t>브랜드 키워드 우선</a:t>
            </a:r>
          </a:p>
        </p:txBody>
      </p:sp>
      <p:sp>
        <p:nvSpPr>
          <p:cNvPr id="49" name="Rounded Rectangle 48"/>
          <p:cNvSpPr/>
          <p:nvPr/>
        </p:nvSpPr>
        <p:spPr>
          <a:xfrm>
            <a:off x="8074151" y="3199638"/>
            <a:ext cx="3538728" cy="475488"/>
          </a:xfrm>
          <a:prstGeom prst="roundRect">
            <a:avLst>
              <a:gd name="adj" fmla="val 15384"/>
            </a:avLst>
          </a:prstGeom>
          <a:solidFill>
            <a:srgbClr val="F5F5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0" name="Oval 49"/>
          <p:cNvSpPr/>
          <p:nvPr/>
        </p:nvSpPr>
        <p:spPr>
          <a:xfrm>
            <a:off x="8229599" y="3291078"/>
            <a:ext cx="292608" cy="292608"/>
          </a:xfrm>
          <a:prstGeom prst="ellipse">
            <a:avLst/>
          </a:prstGeom>
          <a:solidFill>
            <a:srgbClr val="004F9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51" name="Picture 50" descr="check_FFFFFF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8305677" y="3367156"/>
            <a:ext cx="140451" cy="140451"/>
          </a:xfrm>
          <a:prstGeom prst="rect">
            <a:avLst/>
          </a:prstGeom>
        </p:spPr>
      </p:pic>
      <p:sp>
        <p:nvSpPr>
          <p:cNvPr id="52" name="TextBox 51"/>
          <p:cNvSpPr txBox="1"/>
          <p:nvPr/>
        </p:nvSpPr>
        <p:spPr>
          <a:xfrm>
            <a:off x="8641079" y="3199638"/>
            <a:ext cx="2880360" cy="47548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200">
                <a:solidFill>
                  <a:srgbClr val="222222"/>
                </a:solidFill>
                <a:latin typeface="에이투지체 5 Medium"/>
                <a:ea typeface="에이투지체 5 Medium"/>
              </a:rPr>
              <a:t>키성장 롱테일 테스트</a:t>
            </a:r>
          </a:p>
        </p:txBody>
      </p:sp>
      <p:sp>
        <p:nvSpPr>
          <p:cNvPr id="53" name="Rounded Rectangle 52"/>
          <p:cNvSpPr/>
          <p:nvPr/>
        </p:nvSpPr>
        <p:spPr>
          <a:xfrm>
            <a:off x="8074151" y="3775710"/>
            <a:ext cx="3538728" cy="475488"/>
          </a:xfrm>
          <a:prstGeom prst="roundRect">
            <a:avLst>
              <a:gd name="adj" fmla="val 15384"/>
            </a:avLst>
          </a:prstGeom>
          <a:solidFill>
            <a:srgbClr val="F5F5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4" name="Oval 53"/>
          <p:cNvSpPr/>
          <p:nvPr/>
        </p:nvSpPr>
        <p:spPr>
          <a:xfrm>
            <a:off x="8229599" y="3867150"/>
            <a:ext cx="292608" cy="292608"/>
          </a:xfrm>
          <a:prstGeom prst="ellipse">
            <a:avLst/>
          </a:prstGeom>
          <a:solidFill>
            <a:srgbClr val="004F9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55" name="Picture 54" descr="check_FFFFFF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8305677" y="3943228"/>
            <a:ext cx="140451" cy="140451"/>
          </a:xfrm>
          <a:prstGeom prst="rect">
            <a:avLst/>
          </a:prstGeom>
        </p:spPr>
      </p:pic>
      <p:sp>
        <p:nvSpPr>
          <p:cNvPr id="56" name="TextBox 55"/>
          <p:cNvSpPr txBox="1"/>
          <p:nvPr/>
        </p:nvSpPr>
        <p:spPr>
          <a:xfrm>
            <a:off x="8641079" y="3775710"/>
            <a:ext cx="2880360" cy="47548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200">
                <a:solidFill>
                  <a:srgbClr val="222222"/>
                </a:solidFill>
                <a:latin typeface="에이투지체 5 Medium"/>
                <a:ea typeface="에이투지체 5 Medium"/>
              </a:rPr>
              <a:t>대표 상품 1~2개에 집중</a:t>
            </a:r>
          </a:p>
        </p:txBody>
      </p:sp>
      <p:sp>
        <p:nvSpPr>
          <p:cNvPr id="61" name="Rounded Rectangle 60"/>
          <p:cNvSpPr/>
          <p:nvPr/>
        </p:nvSpPr>
        <p:spPr>
          <a:xfrm>
            <a:off x="548640" y="4956048"/>
            <a:ext cx="3566160" cy="438912"/>
          </a:xfrm>
          <a:prstGeom prst="roundRect">
            <a:avLst>
              <a:gd name="adj" fmla="val 16666"/>
            </a:avLst>
          </a:prstGeom>
          <a:solidFill>
            <a:srgbClr val="F5F5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62" name="Picture 61" descr="copy-x_004F9F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685800" y="5029200"/>
            <a:ext cx="292608" cy="292608"/>
          </a:xfrm>
          <a:prstGeom prst="rect">
            <a:avLst/>
          </a:prstGeom>
        </p:spPr>
      </p:pic>
      <p:sp>
        <p:nvSpPr>
          <p:cNvPr id="63" name="TextBox 62"/>
          <p:cNvSpPr txBox="1"/>
          <p:nvPr/>
        </p:nvSpPr>
        <p:spPr>
          <a:xfrm>
            <a:off x="1097280" y="5087018"/>
            <a:ext cx="2926080" cy="176972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lang="ko-KR" altLang="en-US" sz="1150" dirty="0">
                <a:solidFill>
                  <a:srgbClr val="222222"/>
                </a:solidFill>
                <a:latin typeface="에이투지체 5 Medium"/>
                <a:ea typeface="에이투지체 5 Medium"/>
              </a:rPr>
              <a:t>동일</a:t>
            </a:r>
            <a:r>
              <a:rPr sz="1150" dirty="0">
                <a:solidFill>
                  <a:srgbClr val="222222"/>
                </a:solidFill>
                <a:latin typeface="에이투지체 5 Medium"/>
                <a:ea typeface="에이투지체 5 Medium"/>
              </a:rPr>
              <a:t> </a:t>
            </a:r>
            <a:r>
              <a:rPr sz="1150" dirty="0" err="1">
                <a:solidFill>
                  <a:srgbClr val="222222"/>
                </a:solidFill>
                <a:latin typeface="에이투지체 5 Medium"/>
                <a:ea typeface="에이투지체 5 Medium"/>
              </a:rPr>
              <a:t>키워드</a:t>
            </a:r>
            <a:r>
              <a:rPr sz="1150" dirty="0">
                <a:solidFill>
                  <a:srgbClr val="222222"/>
                </a:solidFill>
                <a:latin typeface="에이투지체 5 Medium"/>
                <a:ea typeface="에이투지체 5 Medium"/>
              </a:rPr>
              <a:t> </a:t>
            </a:r>
            <a:r>
              <a:rPr sz="1150" dirty="0" err="1">
                <a:solidFill>
                  <a:srgbClr val="222222"/>
                </a:solidFill>
                <a:latin typeface="에이투지체 5 Medium"/>
                <a:ea typeface="에이투지체 5 Medium"/>
              </a:rPr>
              <a:t>중복</a:t>
            </a:r>
            <a:r>
              <a:rPr sz="1150" dirty="0">
                <a:solidFill>
                  <a:srgbClr val="222222"/>
                </a:solidFill>
                <a:latin typeface="에이투지체 5 Medium"/>
                <a:ea typeface="에이투지체 5 Medium"/>
              </a:rPr>
              <a:t> </a:t>
            </a:r>
            <a:r>
              <a:rPr sz="1150" dirty="0" err="1">
                <a:solidFill>
                  <a:srgbClr val="222222"/>
                </a:solidFill>
                <a:latin typeface="에이투지체 5 Medium"/>
                <a:ea typeface="에이투지체 5 Medium"/>
              </a:rPr>
              <a:t>입찰</a:t>
            </a:r>
            <a:r>
              <a:rPr sz="1150" dirty="0">
                <a:solidFill>
                  <a:srgbClr val="222222"/>
                </a:solidFill>
                <a:latin typeface="에이투지체 5 Medium"/>
                <a:ea typeface="에이투지체 5 Medium"/>
              </a:rPr>
              <a:t> </a:t>
            </a:r>
            <a:r>
              <a:rPr sz="1150" dirty="0" err="1">
                <a:solidFill>
                  <a:srgbClr val="222222"/>
                </a:solidFill>
                <a:latin typeface="에이투지체 5 Medium"/>
                <a:ea typeface="에이투지체 5 Medium"/>
              </a:rPr>
              <a:t>없이</a:t>
            </a:r>
            <a:r>
              <a:rPr sz="1150" dirty="0">
                <a:solidFill>
                  <a:srgbClr val="222222"/>
                </a:solidFill>
                <a:latin typeface="에이투지체 5 Medium"/>
                <a:ea typeface="에이투지체 5 Medium"/>
              </a:rPr>
              <a:t> </a:t>
            </a:r>
            <a:r>
              <a:rPr sz="1150" dirty="0" err="1">
                <a:solidFill>
                  <a:srgbClr val="222222"/>
                </a:solidFill>
                <a:latin typeface="에이투지체 5 Medium"/>
                <a:ea typeface="에이투지체 5 Medium"/>
              </a:rPr>
              <a:t>운영</a:t>
            </a:r>
            <a:endParaRPr sz="1150" dirty="0">
              <a:solidFill>
                <a:srgbClr val="222222"/>
              </a:solidFill>
              <a:latin typeface="에이투지체 5 Medium"/>
              <a:ea typeface="에이투지체 5 Medium"/>
            </a:endParaRPr>
          </a:p>
        </p:txBody>
      </p:sp>
      <p:sp>
        <p:nvSpPr>
          <p:cNvPr id="64" name="Rounded Rectangle 63"/>
          <p:cNvSpPr/>
          <p:nvPr/>
        </p:nvSpPr>
        <p:spPr>
          <a:xfrm>
            <a:off x="4297679" y="4956048"/>
            <a:ext cx="3566160" cy="438912"/>
          </a:xfrm>
          <a:prstGeom prst="roundRect">
            <a:avLst>
              <a:gd name="adj" fmla="val 16666"/>
            </a:avLst>
          </a:prstGeom>
          <a:solidFill>
            <a:srgbClr val="F5F5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65" name="Picture 64" descr="search_004F9F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4434840" y="5029200"/>
            <a:ext cx="292608" cy="292608"/>
          </a:xfrm>
          <a:prstGeom prst="rect">
            <a:avLst/>
          </a:prstGeom>
        </p:spPr>
      </p:pic>
      <p:sp>
        <p:nvSpPr>
          <p:cNvPr id="66" name="TextBox 65"/>
          <p:cNvSpPr txBox="1"/>
          <p:nvPr/>
        </p:nvSpPr>
        <p:spPr>
          <a:xfrm>
            <a:off x="4846319" y="4956048"/>
            <a:ext cx="2926080" cy="438912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150">
                <a:solidFill>
                  <a:srgbClr val="222222"/>
                </a:solidFill>
                <a:latin typeface="에이투지체 5 Medium"/>
                <a:ea typeface="에이투지체 5 Medium"/>
              </a:rPr>
              <a:t>주간 검색어 · 상품 성과 확인</a:t>
            </a:r>
          </a:p>
        </p:txBody>
      </p:sp>
      <p:sp>
        <p:nvSpPr>
          <p:cNvPr id="67" name="Rounded Rectangle 66"/>
          <p:cNvSpPr/>
          <p:nvPr/>
        </p:nvSpPr>
        <p:spPr>
          <a:xfrm>
            <a:off x="8046719" y="4956048"/>
            <a:ext cx="3566160" cy="438912"/>
          </a:xfrm>
          <a:prstGeom prst="roundRect">
            <a:avLst>
              <a:gd name="adj" fmla="val 16666"/>
            </a:avLst>
          </a:prstGeom>
          <a:solidFill>
            <a:srgbClr val="F5F5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68" name="Picture 67" descr="trending-up_004F9F.pn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8183879" y="5029200"/>
            <a:ext cx="292608" cy="292608"/>
          </a:xfrm>
          <a:prstGeom prst="rect">
            <a:avLst/>
          </a:prstGeom>
        </p:spPr>
      </p:pic>
      <p:sp>
        <p:nvSpPr>
          <p:cNvPr id="69" name="TextBox 68"/>
          <p:cNvSpPr txBox="1"/>
          <p:nvPr/>
        </p:nvSpPr>
        <p:spPr>
          <a:xfrm>
            <a:off x="8595359" y="5087018"/>
            <a:ext cx="2926080" cy="176972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lang="ko-KR" altLang="en-US" sz="1150" dirty="0">
                <a:solidFill>
                  <a:srgbClr val="222222"/>
                </a:solidFill>
                <a:latin typeface="에이투지체 5 Medium"/>
                <a:ea typeface="에이투지체 5 Medium"/>
              </a:rPr>
              <a:t>주간 오픈마켓 </a:t>
            </a:r>
            <a:r>
              <a:rPr sz="1150" dirty="0" err="1">
                <a:solidFill>
                  <a:srgbClr val="222222"/>
                </a:solidFill>
                <a:latin typeface="에이투지체 5 Medium"/>
                <a:ea typeface="에이투지체 5 Medium"/>
              </a:rPr>
              <a:t>매체별</a:t>
            </a:r>
            <a:r>
              <a:rPr sz="1150" dirty="0">
                <a:solidFill>
                  <a:srgbClr val="222222"/>
                </a:solidFill>
                <a:latin typeface="에이투지체 5 Medium"/>
                <a:ea typeface="에이투지체 5 Medium"/>
              </a:rPr>
              <a:t> ROAS </a:t>
            </a:r>
            <a:r>
              <a:rPr sz="1150" dirty="0" err="1">
                <a:solidFill>
                  <a:srgbClr val="222222"/>
                </a:solidFill>
                <a:latin typeface="에이투지체 5 Medium"/>
                <a:ea typeface="에이투지체 5 Medium"/>
              </a:rPr>
              <a:t>비교</a:t>
            </a:r>
            <a:endParaRPr sz="1150" dirty="0">
              <a:solidFill>
                <a:srgbClr val="222222"/>
              </a:solidFill>
              <a:latin typeface="에이투지체 5 Medium"/>
              <a:ea typeface="에이투지체 5 Medium"/>
            </a:endParaRP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48640" y="347472"/>
            <a:ext cx="8229600" cy="27432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900" b="0" spc="100">
                <a:solidFill>
                  <a:srgbClr val="004F9F"/>
                </a:solidFill>
                <a:latin typeface="에이투지체 6 SemiBold"/>
                <a:ea typeface="에이투지체 6 SemiBold"/>
                <a:cs typeface="에이투지체 6 SemiBold"/>
              </a:rPr>
              <a:t>PART 2 · 11월 마케팅 전략 · 미디어믹스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658368"/>
            <a:ext cx="11064240" cy="86868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>
              <a:lnSpc>
                <a:spcPts val="2600"/>
              </a:lnSpc>
            </a:pPr>
            <a:r>
              <a:rPr sz="1900" b="0" dirty="0" err="1">
                <a:solidFill>
                  <a:srgbClr val="FFFFFF"/>
                </a:solidFill>
                <a:highlight>
                  <a:srgbClr val="0000FF"/>
                </a:highlight>
                <a:latin typeface="에이투지체 8 ExtraBold"/>
                <a:ea typeface="에이투지체 8 ExtraBold"/>
                <a:cs typeface="에이투지체 8 ExtraBold"/>
              </a:rPr>
              <a:t>같은</a:t>
            </a:r>
            <a:r>
              <a:rPr sz="1900" b="0" dirty="0">
                <a:solidFill>
                  <a:srgbClr val="FFFFFF"/>
                </a:solidFill>
                <a:highlight>
                  <a:srgbClr val="0000FF"/>
                </a:highlight>
                <a:latin typeface="에이투지체 8 ExtraBold"/>
                <a:ea typeface="에이투지체 8 ExtraBold"/>
                <a:cs typeface="에이투지체 8 ExtraBold"/>
              </a:rPr>
              <a:t> </a:t>
            </a:r>
            <a:r>
              <a:rPr sz="1900" b="0" dirty="0" err="1">
                <a:solidFill>
                  <a:srgbClr val="FFFFFF"/>
                </a:solidFill>
                <a:highlight>
                  <a:srgbClr val="0000FF"/>
                </a:highlight>
                <a:latin typeface="에이투지체 8 ExtraBold"/>
                <a:ea typeface="에이투지체 8 ExtraBold"/>
                <a:cs typeface="에이투지체 8 ExtraBold"/>
              </a:rPr>
              <a:t>매체</a:t>
            </a:r>
            <a:r>
              <a:rPr sz="1900" b="0" dirty="0">
                <a:solidFill>
                  <a:srgbClr val="FFFFFF"/>
                </a:solidFill>
                <a:highlight>
                  <a:srgbClr val="0000FF"/>
                </a:highlight>
                <a:latin typeface="에이투지체 8 ExtraBold"/>
                <a:ea typeface="에이투지체 8 ExtraBold"/>
                <a:cs typeface="에이투지체 8 ExtraBold"/>
              </a:rPr>
              <a:t> </a:t>
            </a:r>
            <a:r>
              <a:rPr sz="1900" b="0" dirty="0" err="1">
                <a:solidFill>
                  <a:srgbClr val="FFFFFF"/>
                </a:solidFill>
                <a:highlight>
                  <a:srgbClr val="0000FF"/>
                </a:highlight>
                <a:latin typeface="에이투지체 8 ExtraBold"/>
                <a:ea typeface="에이투지체 8 ExtraBold"/>
                <a:cs typeface="에이투지체 8 ExtraBold"/>
              </a:rPr>
              <a:t>안에서도</a:t>
            </a:r>
            <a:r>
              <a:rPr sz="1900" b="0" dirty="0">
                <a:solidFill>
                  <a:srgbClr val="FFFFFF"/>
                </a:solidFill>
                <a:highlight>
                  <a:srgbClr val="0000FF"/>
                </a:highlight>
                <a:latin typeface="에이투지체 8 ExtraBold"/>
                <a:ea typeface="에이투지체 8 ExtraBold"/>
                <a:cs typeface="에이투지체 8 ExtraBold"/>
              </a:rPr>
              <a:t> </a:t>
            </a:r>
            <a:r>
              <a:rPr sz="1900" b="0" dirty="0" err="1">
                <a:solidFill>
                  <a:srgbClr val="FFFFFF"/>
                </a:solidFill>
                <a:highlight>
                  <a:srgbClr val="0000FF"/>
                </a:highlight>
                <a:latin typeface="에이투지체 8 ExtraBold"/>
                <a:ea typeface="에이투지체 8 ExtraBold"/>
                <a:cs typeface="에이투지체 8 ExtraBold"/>
              </a:rPr>
              <a:t>운영형별</a:t>
            </a:r>
            <a:r>
              <a:rPr sz="1900" b="0" dirty="0">
                <a:solidFill>
                  <a:srgbClr val="FFFFFF"/>
                </a:solidFill>
                <a:highlight>
                  <a:srgbClr val="0000FF"/>
                </a:highlight>
                <a:latin typeface="에이투지체 8 ExtraBold"/>
                <a:ea typeface="에이투지체 8 ExtraBold"/>
                <a:cs typeface="에이투지체 8 ExtraBold"/>
              </a:rPr>
              <a:t> </a:t>
            </a:r>
            <a:r>
              <a:rPr sz="1900" b="0" dirty="0" err="1">
                <a:solidFill>
                  <a:srgbClr val="FFFFFF"/>
                </a:solidFill>
                <a:highlight>
                  <a:srgbClr val="0000FF"/>
                </a:highlight>
                <a:latin typeface="에이투지체 8 ExtraBold"/>
                <a:ea typeface="에이투지체 8 ExtraBold"/>
                <a:cs typeface="에이투지체 8 ExtraBold"/>
              </a:rPr>
              <a:t>ROAS가</a:t>
            </a:r>
            <a:r>
              <a:rPr sz="1900" b="0" dirty="0">
                <a:solidFill>
                  <a:srgbClr val="FFFFFF"/>
                </a:solidFill>
                <a:highlight>
                  <a:srgbClr val="0000FF"/>
                </a:highlight>
                <a:latin typeface="에이투지체 8 ExtraBold"/>
                <a:ea typeface="에이투지체 8 ExtraBold"/>
                <a:cs typeface="에이투지체 8 ExtraBold"/>
              </a:rPr>
              <a:t> </a:t>
            </a:r>
            <a:r>
              <a:rPr sz="1900" b="0" dirty="0" err="1">
                <a:solidFill>
                  <a:srgbClr val="FFFFFF"/>
                </a:solidFill>
                <a:highlight>
                  <a:srgbClr val="0000FF"/>
                </a:highlight>
                <a:latin typeface="에이투지체 8 ExtraBold"/>
                <a:ea typeface="에이투지체 8 ExtraBold"/>
                <a:cs typeface="에이투지체 8 ExtraBold"/>
              </a:rPr>
              <a:t>차이</a:t>
            </a:r>
            <a:r>
              <a:rPr sz="1900" b="0" dirty="0" err="1">
                <a:solidFill>
                  <a:srgbClr val="222222"/>
                </a:solidFill>
                <a:latin typeface="에이투지체 8 ExtraBold"/>
                <a:ea typeface="에이투지체 8 ExtraBold"/>
                <a:cs typeface="에이투지체 8 ExtraBold"/>
              </a:rPr>
              <a:t>나기</a:t>
            </a:r>
            <a:r>
              <a:rPr sz="1900" b="0" dirty="0">
                <a:solidFill>
                  <a:srgbClr val="222222"/>
                </a:solidFill>
                <a:latin typeface="에이투지체 8 ExtraBold"/>
                <a:ea typeface="에이투지체 8 ExtraBold"/>
                <a:cs typeface="에이투지체 8 ExtraBold"/>
              </a:rPr>
              <a:t> </a:t>
            </a:r>
            <a:r>
              <a:rPr sz="1900" b="0" dirty="0" err="1">
                <a:solidFill>
                  <a:srgbClr val="222222"/>
                </a:solidFill>
                <a:latin typeface="에이투지체 8 ExtraBold"/>
                <a:ea typeface="에이투지체 8 ExtraBold"/>
                <a:cs typeface="에이투지체 8 ExtraBold"/>
              </a:rPr>
              <a:t>때문에</a:t>
            </a:r>
            <a:endParaRPr sz="1900" b="0" dirty="0">
              <a:solidFill>
                <a:srgbClr val="222222"/>
              </a:solidFill>
              <a:latin typeface="에이투지체 8 ExtraBold"/>
              <a:ea typeface="에이투지체 8 ExtraBold"/>
              <a:cs typeface="에이투지체 8 ExtraBold"/>
            </a:endParaRPr>
          </a:p>
          <a:p>
            <a:pPr>
              <a:lnSpc>
                <a:spcPts val="2600"/>
              </a:lnSpc>
            </a:pPr>
            <a:r>
              <a:rPr lang="ko-KR" altLang="en-US" sz="1900" dirty="0" err="1">
                <a:solidFill>
                  <a:srgbClr val="222222"/>
                </a:solidFill>
                <a:latin typeface="에이투지체 8 ExtraBold"/>
                <a:ea typeface="에이투지체 8 ExtraBold"/>
                <a:cs typeface="에이투지체 8 ExtraBold"/>
              </a:rPr>
              <a:t>링크프라이스</a:t>
            </a:r>
            <a:r>
              <a:rPr lang="ko-KR" altLang="en-US" sz="1900" dirty="0">
                <a:solidFill>
                  <a:srgbClr val="222222"/>
                </a:solidFill>
                <a:latin typeface="에이투지체 8 ExtraBold"/>
                <a:ea typeface="에이투지체 8 ExtraBold"/>
                <a:cs typeface="에이투지체 8 ExtraBold"/>
              </a:rPr>
              <a:t> 자체 </a:t>
            </a:r>
            <a:r>
              <a:rPr sz="1900" b="0" dirty="0" err="1">
                <a:solidFill>
                  <a:srgbClr val="222222"/>
                </a:solidFill>
                <a:latin typeface="에이투지체 8 ExtraBold"/>
                <a:ea typeface="에이투지체 8 ExtraBold"/>
                <a:cs typeface="에이투지체 8 ExtraBold"/>
              </a:rPr>
              <a:t>리포트로</a:t>
            </a:r>
            <a:r>
              <a:rPr sz="1900" b="0" dirty="0">
                <a:solidFill>
                  <a:srgbClr val="222222"/>
                </a:solidFill>
                <a:latin typeface="에이투지체 8 ExtraBold"/>
                <a:ea typeface="에이투지체 8 ExtraBold"/>
                <a:cs typeface="에이투지체 8 ExtraBold"/>
              </a:rPr>
              <a:t> </a:t>
            </a:r>
            <a:r>
              <a:rPr sz="1900" b="0" dirty="0" err="1">
                <a:solidFill>
                  <a:srgbClr val="222222"/>
                </a:solidFill>
                <a:latin typeface="에이투지체 8 ExtraBold"/>
                <a:ea typeface="에이투지체 8 ExtraBold"/>
                <a:cs typeface="에이투지체 8 ExtraBold"/>
              </a:rPr>
              <a:t>예산과</a:t>
            </a:r>
            <a:r>
              <a:rPr sz="1900" b="0" dirty="0">
                <a:solidFill>
                  <a:srgbClr val="222222"/>
                </a:solidFill>
                <a:latin typeface="에이투지체 8 ExtraBold"/>
                <a:ea typeface="에이투지체 8 ExtraBold"/>
                <a:cs typeface="에이투지체 8 ExtraBold"/>
              </a:rPr>
              <a:t> CPC </a:t>
            </a:r>
            <a:r>
              <a:rPr sz="1900" b="0" dirty="0" err="1">
                <a:solidFill>
                  <a:srgbClr val="222222"/>
                </a:solidFill>
                <a:latin typeface="에이투지체 8 ExtraBold"/>
                <a:ea typeface="에이투지체 8 ExtraBold"/>
                <a:cs typeface="에이투지체 8 ExtraBold"/>
              </a:rPr>
              <a:t>상한을</a:t>
            </a:r>
            <a:r>
              <a:rPr sz="1900" b="0" dirty="0">
                <a:solidFill>
                  <a:srgbClr val="222222"/>
                </a:solidFill>
                <a:latin typeface="에이투지체 8 ExtraBold"/>
                <a:ea typeface="에이투지체 8 ExtraBold"/>
                <a:cs typeface="에이투지체 8 ExtraBold"/>
              </a:rPr>
              <a:t> </a:t>
            </a:r>
            <a:r>
              <a:rPr sz="1900" b="0" dirty="0" err="1">
                <a:solidFill>
                  <a:srgbClr val="222222"/>
                </a:solidFill>
                <a:latin typeface="에이투지체 8 ExtraBold"/>
                <a:ea typeface="에이투지체 8 ExtraBold"/>
                <a:cs typeface="에이투지체 8 ExtraBold"/>
              </a:rPr>
              <a:t>조정합니다</a:t>
            </a:r>
            <a:endParaRPr sz="1900" b="0" dirty="0">
              <a:solidFill>
                <a:srgbClr val="222222"/>
              </a:solidFill>
              <a:latin typeface="에이투지체 8 ExtraBold"/>
              <a:ea typeface="에이투지체 8 ExtraBold"/>
              <a:cs typeface="에이투지체 8 ExtraBold"/>
            </a:endParaRPr>
          </a:p>
        </p:txBody>
      </p:sp>
      <p:sp>
        <p:nvSpPr>
          <p:cNvPr id="4" name="TextBox 3"/>
          <p:cNvSpPr txBox="1"/>
          <p:nvPr/>
        </p:nvSpPr>
        <p:spPr>
          <a:xfrm>
            <a:off x="548640" y="1517904"/>
            <a:ext cx="11064240" cy="36576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100" b="0">
                <a:solidFill>
                  <a:srgbClr val="5C5C5C"/>
                </a:solidFill>
                <a:latin typeface="에이투지체 5 Medium"/>
                <a:ea typeface="에이투지체 5 Medium"/>
                <a:cs typeface="에이투지체 5 Medium"/>
              </a:rPr>
              <a:t>지마켓 운영 관리  사내 리포트 (동종 건기식 사례)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48640" y="5577840"/>
            <a:ext cx="11064240" cy="438912"/>
          </a:xfrm>
          <a:prstGeom prst="roundRect">
            <a:avLst>
              <a:gd name="adj" fmla="val 16666"/>
            </a:avLst>
          </a:prstGeom>
          <a:solidFill>
            <a:srgbClr val="EAF2FB"/>
          </a:solidFill>
          <a:ln w="9525">
            <a:solidFill>
              <a:srgbClr val="004F9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740664" y="5702565"/>
            <a:ext cx="10671048" cy="207749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1350" b="0" dirty="0" err="1">
                <a:solidFill>
                  <a:srgbClr val="004F9F"/>
                </a:solidFill>
                <a:latin typeface="에이투지체 6 SemiBold"/>
                <a:ea typeface="에이투지체 6 SemiBold"/>
                <a:cs typeface="에이투지체 6 SemiBold"/>
              </a:rPr>
              <a:t>같은</a:t>
            </a:r>
            <a:r>
              <a:rPr sz="1350" b="0" dirty="0">
                <a:solidFill>
                  <a:srgbClr val="004F9F"/>
                </a:solidFill>
                <a:latin typeface="에이투지체 6 SemiBold"/>
                <a:ea typeface="에이투지체 6 SemiBold"/>
                <a:cs typeface="에이투지체 6 SemiBold"/>
              </a:rPr>
              <a:t> </a:t>
            </a:r>
            <a:r>
              <a:rPr sz="1350" b="0" dirty="0" err="1">
                <a:solidFill>
                  <a:srgbClr val="004F9F"/>
                </a:solidFill>
                <a:latin typeface="에이투지체 6 SemiBold"/>
                <a:ea typeface="에이투지체 6 SemiBold"/>
                <a:cs typeface="에이투지체 6 SemiBold"/>
              </a:rPr>
              <a:t>기준의</a:t>
            </a:r>
            <a:r>
              <a:rPr sz="1350" b="0" dirty="0">
                <a:solidFill>
                  <a:srgbClr val="004F9F"/>
                </a:solidFill>
                <a:latin typeface="에이투지체 6 SemiBold"/>
                <a:ea typeface="에이투지체 6 SemiBold"/>
                <a:cs typeface="에이투지체 6 SemiBold"/>
              </a:rPr>
              <a:t> </a:t>
            </a:r>
            <a:r>
              <a:rPr sz="1350" b="0" dirty="0" err="1">
                <a:solidFill>
                  <a:srgbClr val="004F9F"/>
                </a:solidFill>
                <a:latin typeface="에이투지체 6 SemiBold"/>
                <a:ea typeface="에이투지체 6 SemiBold"/>
                <a:cs typeface="에이투지체 6 SemiBold"/>
              </a:rPr>
              <a:t>리포트로</a:t>
            </a:r>
            <a:r>
              <a:rPr sz="1350" b="0" dirty="0">
                <a:solidFill>
                  <a:srgbClr val="004F9F"/>
                </a:solidFill>
                <a:latin typeface="에이투지체 6 SemiBold"/>
                <a:ea typeface="에이투지체 6 SemiBold"/>
                <a:cs typeface="에이투지체 6 SemiBold"/>
              </a:rPr>
              <a:t> </a:t>
            </a:r>
            <a:r>
              <a:rPr sz="1350" b="0" dirty="0" err="1">
                <a:solidFill>
                  <a:srgbClr val="004F9F"/>
                </a:solidFill>
                <a:latin typeface="에이투지체 6 SemiBold"/>
                <a:ea typeface="에이투지체 6 SemiBold"/>
                <a:cs typeface="에이투지체 6 SemiBold"/>
              </a:rPr>
              <a:t>운영형별</a:t>
            </a:r>
            <a:r>
              <a:rPr sz="1350" b="0" dirty="0">
                <a:solidFill>
                  <a:srgbClr val="004F9F"/>
                </a:solidFill>
                <a:latin typeface="에이투지체 6 SemiBold"/>
                <a:ea typeface="에이투지체 6 SemiBold"/>
                <a:cs typeface="에이투지체 6 SemiBold"/>
              </a:rPr>
              <a:t> </a:t>
            </a:r>
            <a:r>
              <a:rPr sz="1350" b="0" dirty="0" err="1">
                <a:solidFill>
                  <a:srgbClr val="004F9F"/>
                </a:solidFill>
                <a:latin typeface="에이투지체 6 SemiBold"/>
                <a:ea typeface="에이투지체 6 SemiBold"/>
                <a:cs typeface="에이투지체 6 SemiBold"/>
              </a:rPr>
              <a:t>성과를</a:t>
            </a:r>
            <a:r>
              <a:rPr sz="1350" b="0" dirty="0">
                <a:solidFill>
                  <a:srgbClr val="004F9F"/>
                </a:solidFill>
                <a:latin typeface="에이투지체 6 SemiBold"/>
                <a:ea typeface="에이투지체 6 SemiBold"/>
                <a:cs typeface="에이투지체 6 SemiBold"/>
              </a:rPr>
              <a:t> </a:t>
            </a:r>
            <a:r>
              <a:rPr sz="1350" b="0" dirty="0" err="1">
                <a:solidFill>
                  <a:srgbClr val="004F9F"/>
                </a:solidFill>
                <a:latin typeface="에이투지체 6 SemiBold"/>
                <a:ea typeface="에이투지체 6 SemiBold"/>
                <a:cs typeface="에이투지체 6 SemiBold"/>
              </a:rPr>
              <a:t>비교하고</a:t>
            </a:r>
            <a:r>
              <a:rPr sz="1350" b="0" dirty="0">
                <a:solidFill>
                  <a:srgbClr val="004F9F"/>
                </a:solidFill>
                <a:latin typeface="에이투지체 6 SemiBold"/>
                <a:ea typeface="에이투지체 6 SemiBold"/>
                <a:cs typeface="에이투지체 6 SemiBold"/>
              </a:rPr>
              <a:t>, </a:t>
            </a:r>
            <a:r>
              <a:rPr sz="1350" b="0" dirty="0" err="1">
                <a:solidFill>
                  <a:srgbClr val="004F9F"/>
                </a:solidFill>
                <a:latin typeface="에이투지체 6 SemiBold"/>
                <a:ea typeface="에이투지체 6 SemiBold"/>
                <a:cs typeface="에이투지체 6 SemiBold"/>
              </a:rPr>
              <a:t>성과가</a:t>
            </a:r>
            <a:r>
              <a:rPr sz="1350" b="0" dirty="0">
                <a:solidFill>
                  <a:srgbClr val="004F9F"/>
                </a:solidFill>
                <a:latin typeface="에이투지체 6 SemiBold"/>
                <a:ea typeface="에이투지체 6 SemiBold"/>
                <a:cs typeface="에이투지체 6 SemiBold"/>
              </a:rPr>
              <a:t> </a:t>
            </a:r>
            <a:r>
              <a:rPr sz="1350" b="0" dirty="0" err="1">
                <a:solidFill>
                  <a:srgbClr val="004F9F"/>
                </a:solidFill>
                <a:latin typeface="에이투지체 6 SemiBold"/>
                <a:ea typeface="에이투지체 6 SemiBold"/>
                <a:cs typeface="에이투지체 6 SemiBold"/>
              </a:rPr>
              <a:t>확인된</a:t>
            </a:r>
            <a:r>
              <a:rPr sz="1350" b="0" dirty="0">
                <a:solidFill>
                  <a:srgbClr val="004F9F"/>
                </a:solidFill>
                <a:latin typeface="에이투지체 6 SemiBold"/>
                <a:ea typeface="에이투지체 6 SemiBold"/>
                <a:cs typeface="에이투지체 6 SemiBold"/>
              </a:rPr>
              <a:t> </a:t>
            </a:r>
            <a:r>
              <a:rPr sz="1350" b="0" dirty="0" err="1">
                <a:solidFill>
                  <a:srgbClr val="004F9F"/>
                </a:solidFill>
                <a:latin typeface="에이투지체 6 SemiBold"/>
                <a:ea typeface="에이투지체 6 SemiBold"/>
                <a:cs typeface="에이투지체 6 SemiBold"/>
              </a:rPr>
              <a:t>곳에</a:t>
            </a:r>
            <a:r>
              <a:rPr sz="1350" b="0" dirty="0">
                <a:solidFill>
                  <a:srgbClr val="004F9F"/>
                </a:solidFill>
                <a:latin typeface="에이투지체 6 SemiBold"/>
                <a:ea typeface="에이투지체 6 SemiBold"/>
                <a:cs typeface="에이투지체 6 SemiBold"/>
              </a:rPr>
              <a:t> </a:t>
            </a:r>
            <a:r>
              <a:rPr sz="1350" b="0" dirty="0" err="1">
                <a:solidFill>
                  <a:srgbClr val="004F9F"/>
                </a:solidFill>
                <a:latin typeface="에이투지체 6 SemiBold"/>
                <a:ea typeface="에이투지체 6 SemiBold"/>
                <a:cs typeface="에이투지체 6 SemiBold"/>
              </a:rPr>
              <a:t>예산을</a:t>
            </a:r>
            <a:r>
              <a:rPr sz="1350" b="0" dirty="0">
                <a:solidFill>
                  <a:srgbClr val="004F9F"/>
                </a:solidFill>
                <a:latin typeface="에이투지체 6 SemiBold"/>
                <a:ea typeface="에이투지체 6 SemiBold"/>
                <a:cs typeface="에이투지체 6 SemiBold"/>
              </a:rPr>
              <a:t> </a:t>
            </a:r>
            <a:r>
              <a:rPr sz="1350" b="0" dirty="0" err="1">
                <a:solidFill>
                  <a:srgbClr val="004F9F"/>
                </a:solidFill>
                <a:latin typeface="에이투지체 6 SemiBold"/>
                <a:ea typeface="에이투지체 6 SemiBold"/>
                <a:cs typeface="에이투지체 6 SemiBold"/>
              </a:rPr>
              <a:t>옮기겠습니다</a:t>
            </a:r>
            <a:endParaRPr sz="1350" b="0" dirty="0">
              <a:solidFill>
                <a:srgbClr val="004F9F"/>
              </a:solidFill>
              <a:latin typeface="에이투지체 6 SemiBold"/>
              <a:ea typeface="에이투지체 6 SemiBold"/>
              <a:cs typeface="에이투지체 6 SemiBold"/>
            </a:endParaRPr>
          </a:p>
        </p:txBody>
      </p:sp>
      <p:sp>
        <p:nvSpPr>
          <p:cNvPr id="7" name="TextBox 6"/>
          <p:cNvSpPr txBox="1"/>
          <p:nvPr/>
        </p:nvSpPr>
        <p:spPr>
          <a:xfrm>
            <a:off x="548640" y="6089904"/>
            <a:ext cx="1106424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850" b="0">
                <a:solidFill>
                  <a:srgbClr val="919191"/>
                </a:solidFill>
                <a:latin typeface="에이투지체 3 Light"/>
                <a:ea typeface="에이투지체 3 Light"/>
                <a:cs typeface="에이투지체 3 Light"/>
              </a:rPr>
              <a:t>동종 건기식 광고주 지마켓 실제 운영 데이터 (월 광고비 약 1,000만 원, 링크프라이스 사내 월간 리포트) / 광고수익률 외 수치는 가림 처리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6473952"/>
            <a:ext cx="420624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800" b="0">
                <a:solidFill>
                  <a:srgbClr val="919191"/>
                </a:solidFill>
                <a:latin typeface="에이투지체 3 Light"/>
                <a:ea typeface="에이투지체 3 Light"/>
                <a:cs typeface="에이투지체 3 Light"/>
              </a:rPr>
              <a:t>DODREAM B&amp;B AD PROPOSAL · 2026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138160" y="6473952"/>
            <a:ext cx="301752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/>
            <a:r>
              <a:rPr sz="800" b="0">
                <a:solidFill>
                  <a:srgbClr val="919191"/>
                </a:solidFill>
                <a:latin typeface="에이투지체 3 Light"/>
                <a:ea typeface="에이투지체 3 Light"/>
                <a:cs typeface="에이투지체 3 Light"/>
              </a:rPr>
              <a:t>LINKPRICE · BRAND AD CENTER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292840" y="6473952"/>
            <a:ext cx="36576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/>
            <a:r>
              <a:rPr sz="800" b="0">
                <a:solidFill>
                  <a:srgbClr val="222222"/>
                </a:solidFill>
                <a:latin typeface="에이투지체 6 SemiBold"/>
                <a:ea typeface="에이투지체 6 SemiBold"/>
                <a:cs typeface="에이투지체 6 SemiBold"/>
              </a:rPr>
              <a:t>49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48640" y="1993392"/>
            <a:ext cx="7223760" cy="29260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250" b="0">
                <a:solidFill>
                  <a:srgbClr val="004F9F"/>
                </a:solidFill>
                <a:latin typeface="에이투지체 8 ExtraBold"/>
                <a:ea typeface="에이투지체 8 ExtraBold"/>
                <a:cs typeface="에이투지체 8 ExtraBold"/>
              </a:rPr>
              <a:t>동종 건기식 사례  </a:t>
            </a:r>
            <a:r>
              <a:rPr sz="1250" b="0">
                <a:solidFill>
                  <a:srgbClr val="222222"/>
                </a:solidFill>
                <a:latin typeface="에이투지체 6 SemiBold"/>
                <a:ea typeface="에이투지체 6 SemiBold"/>
                <a:cs typeface="에이투지체 6 SemiBold"/>
              </a:rPr>
              <a:t>월 광고비 약 1,000만 원, 캠페인 유형별 데이터</a:t>
            </a:r>
          </a:p>
        </p:txBody>
      </p:sp>
      <p:pic>
        <p:nvPicPr>
          <p:cNvPr id="12" name="Picture 11" descr="repor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2331720"/>
            <a:ext cx="7223760" cy="2414981"/>
          </a:xfrm>
          <a:prstGeom prst="rect">
            <a:avLst/>
          </a:prstGeom>
          <a:ln w="9525">
            <a:solidFill>
              <a:srgbClr val="DDDDDD"/>
            </a:solidFill>
          </a:ln>
        </p:spPr>
      </p:pic>
      <p:sp>
        <p:nvSpPr>
          <p:cNvPr id="13" name="Rounded Rectangle 12"/>
          <p:cNvSpPr/>
          <p:nvPr/>
        </p:nvSpPr>
        <p:spPr>
          <a:xfrm>
            <a:off x="548640" y="4846320"/>
            <a:ext cx="7223760" cy="502920"/>
          </a:xfrm>
          <a:prstGeom prst="roundRect">
            <a:avLst>
              <a:gd name="adj" fmla="val 14545"/>
            </a:avLst>
          </a:prstGeom>
          <a:solidFill>
            <a:srgbClr val="F5F5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TextBox 13"/>
          <p:cNvSpPr txBox="1"/>
          <p:nvPr/>
        </p:nvSpPr>
        <p:spPr>
          <a:xfrm>
            <a:off x="731520" y="4846320"/>
            <a:ext cx="6949440" cy="50292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1150" b="0">
                <a:solidFill>
                  <a:srgbClr val="004F9F"/>
                </a:solidFill>
                <a:latin typeface="에이투지체 6 SemiBold"/>
                <a:ea typeface="에이투지체 6 SemiBold"/>
                <a:cs typeface="에이투지체 6 SemiBold"/>
              </a:rPr>
              <a:t>광고수익률  </a:t>
            </a:r>
            <a:r>
              <a:rPr sz="1150" b="0">
                <a:solidFill>
                  <a:srgbClr val="222222"/>
                </a:solidFill>
                <a:latin typeface="에이투지체 6 SemiBold"/>
                <a:ea typeface="에이투지체 6 SemiBold"/>
                <a:cs typeface="에이투지체 6 SemiBold"/>
              </a:rPr>
              <a:t>통합 운영형 420%, 집중 운영형 383%, 직접 운영형 211%, 전체 291%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092440" y="1993392"/>
            <a:ext cx="3520440" cy="29260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250" b="0">
                <a:solidFill>
                  <a:srgbClr val="004F9F"/>
                </a:solidFill>
                <a:latin typeface="에이투지체 8 ExtraBold"/>
                <a:ea typeface="에이투지체 8 ExtraBold"/>
                <a:cs typeface="에이투지체 8 ExtraBold"/>
              </a:rPr>
              <a:t>관리에 쓰는 방식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092440" y="2331720"/>
            <a:ext cx="3520440" cy="658368"/>
          </a:xfrm>
          <a:prstGeom prst="roundRect">
            <a:avLst>
              <a:gd name="adj" fmla="val 11111"/>
            </a:avLst>
          </a:prstGeom>
          <a:solidFill>
            <a:srgbClr val="004F9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TextBox 16"/>
          <p:cNvSpPr txBox="1"/>
          <p:nvPr/>
        </p:nvSpPr>
        <p:spPr>
          <a:xfrm>
            <a:off x="8257031" y="2331720"/>
            <a:ext cx="411480" cy="65836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1100" b="0">
                <a:solidFill>
                  <a:srgbClr val="FFFFFF"/>
                </a:solidFill>
                <a:latin typeface="에이투지체 6 SemiBold"/>
                <a:ea typeface="에이투지체 6 SemiBold"/>
                <a:cs typeface="에이투지체 6 SemiBold"/>
              </a:rPr>
              <a:t>01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686800" y="2331720"/>
            <a:ext cx="2880360" cy="65836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1200" b="0">
                <a:solidFill>
                  <a:srgbClr val="FFFFFF"/>
                </a:solidFill>
                <a:latin typeface="에이투지체 6 SemiBold"/>
                <a:ea typeface="에이투지체 6 SemiBold"/>
                <a:cs typeface="에이투지체 6 SemiBold"/>
              </a:rPr>
              <a:t>운영형별 ROAS 비교</a:t>
            </a:r>
          </a:p>
          <a:p>
            <a:pPr algn="l"/>
            <a:r>
              <a:rPr sz="950" b="0">
                <a:solidFill>
                  <a:srgbClr val="C9DAEE"/>
                </a:solidFill>
                <a:latin typeface="에이투지체 4 Regular"/>
                <a:ea typeface="에이투지체 4 Regular"/>
                <a:cs typeface="에이투지체 4 Regular"/>
              </a:rPr>
              <a:t>통합, 집중, 직접 운영형을 같은 기준으로 비교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8092440" y="3099815"/>
            <a:ext cx="3520440" cy="658368"/>
          </a:xfrm>
          <a:prstGeom prst="roundRect">
            <a:avLst>
              <a:gd name="adj" fmla="val 11111"/>
            </a:avLst>
          </a:prstGeom>
          <a:solidFill>
            <a:srgbClr val="EAF2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0" name="TextBox 19"/>
          <p:cNvSpPr txBox="1"/>
          <p:nvPr/>
        </p:nvSpPr>
        <p:spPr>
          <a:xfrm>
            <a:off x="8257031" y="3099815"/>
            <a:ext cx="411480" cy="65836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1100" b="0">
                <a:solidFill>
                  <a:srgbClr val="004F9F"/>
                </a:solidFill>
                <a:latin typeface="에이투지체 6 SemiBold"/>
                <a:ea typeface="에이투지체 6 SemiBold"/>
                <a:cs typeface="에이투지체 6 SemiBold"/>
              </a:rPr>
              <a:t>02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686800" y="3099815"/>
            <a:ext cx="2880360" cy="65836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1200" b="0">
                <a:solidFill>
                  <a:srgbClr val="222222"/>
                </a:solidFill>
                <a:latin typeface="에이투지체 6 SemiBold"/>
                <a:ea typeface="에이투지체 6 SemiBold"/>
                <a:cs typeface="에이투지체 6 SemiBold"/>
              </a:rPr>
              <a:t>예산 재배분</a:t>
            </a:r>
          </a:p>
          <a:p>
            <a:pPr algn="l"/>
            <a:r>
              <a:rPr sz="950" b="0">
                <a:solidFill>
                  <a:srgbClr val="5C5C5C"/>
                </a:solidFill>
                <a:latin typeface="에이투지체 4 Regular"/>
                <a:ea typeface="에이투지체 4 Regular"/>
                <a:cs typeface="에이투지체 4 Regular"/>
              </a:rPr>
              <a:t>ROAS가 확인된 운영형으로 다음 주 예산 이동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8092440" y="3867911"/>
            <a:ext cx="3520440" cy="658368"/>
          </a:xfrm>
          <a:prstGeom prst="roundRect">
            <a:avLst>
              <a:gd name="adj" fmla="val 11111"/>
            </a:avLst>
          </a:prstGeom>
          <a:solidFill>
            <a:srgbClr val="EAF2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3" name="TextBox 22"/>
          <p:cNvSpPr txBox="1"/>
          <p:nvPr/>
        </p:nvSpPr>
        <p:spPr>
          <a:xfrm>
            <a:off x="8257031" y="3867911"/>
            <a:ext cx="411480" cy="65836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1100" b="0">
                <a:solidFill>
                  <a:srgbClr val="004F9F"/>
                </a:solidFill>
                <a:latin typeface="에이투지체 6 SemiBold"/>
                <a:ea typeface="에이투지체 6 SemiBold"/>
                <a:cs typeface="에이투지체 6 SemiBold"/>
              </a:rPr>
              <a:t>03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686800" y="3867911"/>
            <a:ext cx="2880360" cy="65836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1200" b="0">
                <a:solidFill>
                  <a:srgbClr val="222222"/>
                </a:solidFill>
                <a:latin typeface="에이투지체 6 SemiBold"/>
                <a:ea typeface="에이투지체 6 SemiBold"/>
                <a:cs typeface="에이투지체 6 SemiBold"/>
              </a:rPr>
              <a:t>CPC 상한 조정</a:t>
            </a:r>
          </a:p>
          <a:p>
            <a:pPr algn="l"/>
            <a:r>
              <a:rPr sz="950" b="0">
                <a:solidFill>
                  <a:srgbClr val="5C5C5C"/>
                </a:solidFill>
                <a:latin typeface="에이투지체 4 Regular"/>
                <a:ea typeface="에이투지체 4 Regular"/>
                <a:cs typeface="에이투지체 4 Regular"/>
              </a:rPr>
              <a:t>직접 운영형 키워드별 CPC 상한 재설정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8092440" y="4636008"/>
            <a:ext cx="3520440" cy="658368"/>
          </a:xfrm>
          <a:prstGeom prst="roundRect">
            <a:avLst>
              <a:gd name="adj" fmla="val 11111"/>
            </a:avLst>
          </a:prstGeom>
          <a:solidFill>
            <a:srgbClr val="EAF2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6" name="TextBox 25"/>
          <p:cNvSpPr txBox="1"/>
          <p:nvPr/>
        </p:nvSpPr>
        <p:spPr>
          <a:xfrm>
            <a:off x="8257031" y="4636008"/>
            <a:ext cx="411480" cy="65836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1100" b="0">
                <a:solidFill>
                  <a:srgbClr val="004F9F"/>
                </a:solidFill>
                <a:latin typeface="에이투지체 6 SemiBold"/>
                <a:ea typeface="에이투지체 6 SemiBold"/>
                <a:cs typeface="에이투지체 6 SemiBold"/>
              </a:rPr>
              <a:t>04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8686800" y="4636008"/>
            <a:ext cx="2880360" cy="65836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1200" b="0">
                <a:solidFill>
                  <a:srgbClr val="222222"/>
                </a:solidFill>
                <a:latin typeface="에이투지체 6 SemiBold"/>
                <a:ea typeface="에이투지체 6 SemiBold"/>
                <a:cs typeface="에이투지체 6 SemiBold"/>
              </a:rPr>
              <a:t>상품 구성 반영</a:t>
            </a:r>
          </a:p>
          <a:p>
            <a:pPr algn="l"/>
            <a:r>
              <a:rPr sz="950" b="0">
                <a:solidFill>
                  <a:srgbClr val="5C5C5C"/>
                </a:solidFill>
                <a:latin typeface="에이투지체 4 Regular"/>
                <a:ea typeface="에이투지체 4 Regular"/>
                <a:cs typeface="에이투지체 4 Regular"/>
              </a:rPr>
              <a:t>운영형별 상품을 성과 기준으로 교체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테마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맑은 고딕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맑은 고딕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2.xml><?xml version="1.0" encoding="utf-8"?>
<a:theme xmlns:a="http://schemas.openxmlformats.org/drawingml/2006/main" name="Office 테마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맑은 고딕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맑은 고딕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33</TotalTime>
  <Words>2310</Words>
  <Application>Microsoft Office PowerPoint</Application>
  <PresentationFormat>와이드스크린</PresentationFormat>
  <Paragraphs>381</Paragraphs>
  <Slides>15</Slides>
  <Notes>2</Notes>
  <HiddenSlides>0</HiddenSlides>
  <MMClips>0</MMClips>
  <ScaleCrop>false</ScaleCrop>
  <HeadingPairs>
    <vt:vector size="6" baseType="variant">
      <vt:variant>
        <vt:lpstr>사용한 글꼴</vt:lpstr>
      </vt:variant>
      <vt:variant>
        <vt:i4>7</vt:i4>
      </vt:variant>
      <vt:variant>
        <vt:lpstr>테마</vt:lpstr>
      </vt:variant>
      <vt:variant>
        <vt:i4>1</vt:i4>
      </vt:variant>
      <vt:variant>
        <vt:lpstr>슬라이드 제목</vt:lpstr>
      </vt:variant>
      <vt:variant>
        <vt:i4>15</vt:i4>
      </vt:variant>
    </vt:vector>
  </HeadingPairs>
  <TitlesOfParts>
    <vt:vector size="23" baseType="lpstr">
      <vt:lpstr>맑은 고딕</vt:lpstr>
      <vt:lpstr>에이투지체 3 Light</vt:lpstr>
      <vt:lpstr>에이투지체 4 Regular</vt:lpstr>
      <vt:lpstr>에이투지체 5 Medium</vt:lpstr>
      <vt:lpstr>에이투지체 6 SemiBold</vt:lpstr>
      <vt:lpstr>에이투지체 8 ExtraBold</vt:lpstr>
      <vt:lpstr>Arial</vt:lpstr>
      <vt:lpstr>Office 테마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LINKPRICE USER084</dc:creator>
  <cp:lastModifiedBy>LINKPRICE USER084</cp:lastModifiedBy>
  <cp:revision>13</cp:revision>
  <dcterms:created xsi:type="dcterms:W3CDTF">2026-10-13T10:08:00Z</dcterms:created>
  <dcterms:modified xsi:type="dcterms:W3CDTF">2026-10-13T11:09:39Z</dcterms:modified>
</cp:coreProperties>
</file>