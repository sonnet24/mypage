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385" r:id="rId2"/>
    <p:sldId id="425" r:id="rId3"/>
    <p:sldId id="426" r:id="rId4"/>
    <p:sldId id="427" r:id="rId5"/>
    <p:sldId id="428" r:id="rId6"/>
    <p:sldId id="429" r:id="rId7"/>
    <p:sldId id="430" r:id="rId8"/>
    <p:sldId id="431" r:id="rId9"/>
    <p:sldId id="432" r:id="rId10"/>
    <p:sldId id="433" r:id="rId11"/>
    <p:sldId id="434" r:id="rId12"/>
    <p:sldId id="435" r:id="rId13"/>
    <p:sldId id="436" r:id="rId14"/>
    <p:sldId id="437" r:id="rId15"/>
    <p:sldId id="438" r:id="rId16"/>
    <p:sldId id="439" r:id="rId17"/>
    <p:sldId id="440" r:id="rId18"/>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barChart>
        <c:barDir val="bar"/>
        <c:grouping val="clustered"/>
        <c:varyColors val="1"/>
        <c:ser>
          <c:idx val="0"/>
          <c:order val="0"/>
          <c:tx>
            <c:strRef>
              <c:f>Sheet1!$B$1</c:f>
              <c:strCache>
                <c:ptCount val="1"/>
                <c:pt idx="0">
                  <c:v>광고비</c:v>
                </c:pt>
              </c:strCache>
            </c:strRef>
          </c:tx>
          <c:invertIfNegative val="1"/>
          <c:dPt>
            <c:idx val="0"/>
            <c:invertIfNegative val="1"/>
            <c:bubble3D val="0"/>
            <c:spPr>
              <a:solidFill>
                <a:srgbClr val="C9DAEE"/>
              </a:solidFill>
            </c:spPr>
            <c:extLst>
              <c:ext xmlns:c16="http://schemas.microsoft.com/office/drawing/2014/chart" uri="{C3380CC4-5D6E-409C-BE32-E72D297353CC}">
                <c16:uniqueId val="{00000001-8C06-4E72-9953-E814D500A8E3}"/>
              </c:ext>
            </c:extLst>
          </c:dPt>
          <c:dPt>
            <c:idx val="1"/>
            <c:invertIfNegative val="1"/>
            <c:bubble3D val="0"/>
            <c:spPr>
              <a:solidFill>
                <a:srgbClr val="C9DAEE"/>
              </a:solidFill>
            </c:spPr>
            <c:extLst>
              <c:ext xmlns:c16="http://schemas.microsoft.com/office/drawing/2014/chart" uri="{C3380CC4-5D6E-409C-BE32-E72D297353CC}">
                <c16:uniqueId val="{00000003-8C06-4E72-9953-E814D500A8E3}"/>
              </c:ext>
            </c:extLst>
          </c:dPt>
          <c:dPt>
            <c:idx val="2"/>
            <c:invertIfNegative val="1"/>
            <c:bubble3D val="0"/>
            <c:spPr>
              <a:solidFill>
                <a:srgbClr val="C9DAEE"/>
              </a:solidFill>
            </c:spPr>
            <c:extLst>
              <c:ext xmlns:c16="http://schemas.microsoft.com/office/drawing/2014/chart" uri="{C3380CC4-5D6E-409C-BE32-E72D297353CC}">
                <c16:uniqueId val="{00000005-8C06-4E72-9953-E814D500A8E3}"/>
              </c:ext>
            </c:extLst>
          </c:dPt>
          <c:dPt>
            <c:idx val="3"/>
            <c:invertIfNegative val="1"/>
            <c:bubble3D val="0"/>
            <c:spPr>
              <a:solidFill>
                <a:srgbClr val="004F9F"/>
              </a:solidFill>
            </c:spPr>
            <c:extLst>
              <c:ext xmlns:c16="http://schemas.microsoft.com/office/drawing/2014/chart" uri="{C3380CC4-5D6E-409C-BE32-E72D297353CC}">
                <c16:uniqueId val="{00000007-8C06-4E72-9953-E814D500A8E3}"/>
              </c:ext>
            </c:extLst>
          </c:dPt>
          <c:dLbls>
            <c:numFmt formatCode="#,##0&quot;원&quot;" sourceLinked="0"/>
            <c:spPr>
              <a:noFill/>
              <a:ln>
                <a:noFill/>
              </a:ln>
              <a:effectLst/>
            </c:spPr>
            <c:txPr>
              <a:bodyPr/>
              <a:lstStyle/>
              <a:p>
                <a:pPr>
                  <a:defRPr sz="1200" b="0">
                    <a:solidFill>
                      <a:srgbClr val="222222"/>
                    </a:solidFill>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카무트 효소</c:v>
                </c:pt>
                <c:pt idx="1">
                  <c:v>츄어블 철분</c:v>
                </c:pt>
                <c:pt idx="2">
                  <c:v>멀티비타민</c:v>
                </c:pt>
                <c:pt idx="3">
                  <c:v>키성장 FGO</c:v>
                </c:pt>
              </c:strCache>
            </c:strRef>
          </c:cat>
          <c:val>
            <c:numRef>
              <c:f>Sheet1!$B$2:$B$5</c:f>
              <c:numCache>
                <c:formatCode>General</c:formatCode>
                <c:ptCount val="4"/>
                <c:pt idx="0">
                  <c:v>3885</c:v>
                </c:pt>
                <c:pt idx="1">
                  <c:v>4500</c:v>
                </c:pt>
                <c:pt idx="2">
                  <c:v>4718</c:v>
                </c:pt>
                <c:pt idx="3">
                  <c:v>33525</c:v>
                </c:pt>
              </c:numCache>
            </c:numRef>
          </c:val>
          <c:extLst>
            <c:ext xmlns:c16="http://schemas.microsoft.com/office/drawing/2014/chart" uri="{C3380CC4-5D6E-409C-BE32-E72D297353CC}">
              <c16:uniqueId val="{00000008-8C06-4E72-9953-E814D500A8E3}"/>
            </c:ext>
          </c:extLst>
        </c:ser>
        <c:dLbls>
          <c:showLegendKey val="0"/>
          <c:showVal val="0"/>
          <c:showCatName val="0"/>
          <c:showSerName val="0"/>
          <c:showPercent val="0"/>
          <c:showBubbleSize val="0"/>
        </c:dLbls>
        <c:gapWidth val="45"/>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DDDDDD"/>
            </a:solidFill>
          </a:ln>
        </c:spPr>
        <c:txPr>
          <a:bodyPr/>
          <a:lstStyle/>
          <a:p>
            <a:pPr>
              <a:defRPr sz="1200">
                <a:solidFill>
                  <a:srgbClr val="222222"/>
                </a:solidFill>
              </a:defRPr>
            </a:pPr>
            <a:endParaRPr lang="ko-KR"/>
          </a:p>
        </c:txPr>
        <c:crossAx val="-2113994440"/>
        <c:crosses val="autoZero"/>
        <c:auto val="1"/>
        <c:lblAlgn val="ctr"/>
        <c:lblOffset val="100"/>
        <c:noMultiLvlLbl val="0"/>
      </c:catAx>
      <c:valAx>
        <c:axId val="-2113994440"/>
        <c:scaling>
          <c:orientation val="minMax"/>
          <c:max val="42000"/>
          <c:min val="0"/>
        </c:scaling>
        <c:delete val="1"/>
        <c:axPos val="b"/>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100">
          <a:latin typeface="에이투지체 5 Medium"/>
          <a:ea typeface="에이투지체 5 Medium"/>
          <a:cs typeface="에이투지체 5 Medium"/>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1D339B-5518-4220-A5EC-C17406771880}" type="datetimeFigureOut">
              <a:rPr lang="ko-KR" altLang="en-US" smtClean="0"/>
              <a:t>2026-10-13</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7A4A0D-F971-42FA-B832-151C9EA105EB}" type="slidenum">
              <a:rPr lang="ko-KR" altLang="en-US" smtClean="0"/>
              <a:t>‹#›</a:t>
            </a:fld>
            <a:endParaRPr lang="ko-KR" altLang="en-US"/>
          </a:p>
        </p:txBody>
      </p:sp>
    </p:spTree>
    <p:extLst>
      <p:ext uri="{BB962C8B-B14F-4D97-AF65-F5344CB8AC3E}">
        <p14:creationId xmlns:p14="http://schemas.microsoft.com/office/powerpoint/2010/main" val="2374392884"/>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두드림_11월 운영전략_쿠팡, 오픈마켓_RFP_261012(2).pptx1·2페이지.쿠팡40%는두드림제공26년10월외부몰집행비중이며11월확정배분아님.상품가격·배송·리뷰는2026-10-12조회기준.10개이하·1상품1캠페인은제안운영원칙.5클릭무전환은원문예시를제외후보검토기준으로완화하고전환반영기간확인후적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두드림_11월 운영전략_쿠팡, 오픈마켓_RFP_261012(2).pptx3~5페이지.상품·광고운영현황2026-10-12조회.지마켓AI Product Ads유형은제공상품소개서ver1.4기준이며직접운영형CPC는순위보장아닌상한.운영유형이동과대표1~2개상품검증은제안.11번가·지마켓공식대행이력은사전검토자료27페이지.</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90A5EFE-3F8F-5D68-421B-2B06070934D5}"/>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428E661E-CD00-4DCF-7002-CFCED59D19D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AAF3A802-5BBC-5B90-3AB2-E6478A7279F6}"/>
              </a:ext>
            </a:extLst>
          </p:cNvPr>
          <p:cNvSpPr>
            <a:spLocks noGrp="1"/>
          </p:cNvSpPr>
          <p:nvPr>
            <p:ph type="dt" sz="half" idx="10"/>
          </p:nvPr>
        </p:nvSpPr>
        <p:spPr/>
        <p:txBody>
          <a:bodyPr/>
          <a:lstStyle/>
          <a:p>
            <a:fld id="{DD794271-44E2-4150-918C-2DB7E193BA46}" type="datetimeFigureOut">
              <a:rPr lang="ko-KR" altLang="en-US" smtClean="0"/>
              <a:t>2026-10-13</a:t>
            </a:fld>
            <a:endParaRPr lang="ko-KR" altLang="en-US"/>
          </a:p>
        </p:txBody>
      </p:sp>
      <p:sp>
        <p:nvSpPr>
          <p:cNvPr id="5" name="바닥글 개체 틀 4">
            <a:extLst>
              <a:ext uri="{FF2B5EF4-FFF2-40B4-BE49-F238E27FC236}">
                <a16:creationId xmlns:a16="http://schemas.microsoft.com/office/drawing/2014/main" id="{1E208076-D652-25C5-C539-88C1DFBB7339}"/>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D369F45-D33D-07B4-C996-3F604A95E78C}"/>
              </a:ext>
            </a:extLst>
          </p:cNvPr>
          <p:cNvSpPr>
            <a:spLocks noGrp="1"/>
          </p:cNvSpPr>
          <p:nvPr>
            <p:ph type="sldNum" sz="quarter" idx="12"/>
          </p:nvPr>
        </p:nvSpPr>
        <p:spPr/>
        <p:txBody>
          <a:bodyPr/>
          <a:lstStyle/>
          <a:p>
            <a:fld id="{AD44FD09-E3BE-48D3-9F5C-96E2B2905802}" type="slidenum">
              <a:rPr lang="ko-KR" altLang="en-US" smtClean="0"/>
              <a:t>‹#›</a:t>
            </a:fld>
            <a:endParaRPr lang="ko-KR" altLang="en-US"/>
          </a:p>
        </p:txBody>
      </p:sp>
    </p:spTree>
    <p:extLst>
      <p:ext uri="{BB962C8B-B14F-4D97-AF65-F5344CB8AC3E}">
        <p14:creationId xmlns:p14="http://schemas.microsoft.com/office/powerpoint/2010/main" val="38353597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67DEF00-6B72-4A0F-09C7-EC3CBCEC30D4}"/>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9684DF9E-96D1-0CB8-35E3-92FA2B2ECC87}"/>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5E9F49C4-98E1-73F9-ACFF-86BBA9A6735B}"/>
              </a:ext>
            </a:extLst>
          </p:cNvPr>
          <p:cNvSpPr>
            <a:spLocks noGrp="1"/>
          </p:cNvSpPr>
          <p:nvPr>
            <p:ph type="dt" sz="half" idx="10"/>
          </p:nvPr>
        </p:nvSpPr>
        <p:spPr/>
        <p:txBody>
          <a:bodyPr/>
          <a:lstStyle/>
          <a:p>
            <a:fld id="{DD794271-44E2-4150-918C-2DB7E193BA46}" type="datetimeFigureOut">
              <a:rPr lang="ko-KR" altLang="en-US" smtClean="0"/>
              <a:t>2026-10-13</a:t>
            </a:fld>
            <a:endParaRPr lang="ko-KR" altLang="en-US"/>
          </a:p>
        </p:txBody>
      </p:sp>
      <p:sp>
        <p:nvSpPr>
          <p:cNvPr id="5" name="바닥글 개체 틀 4">
            <a:extLst>
              <a:ext uri="{FF2B5EF4-FFF2-40B4-BE49-F238E27FC236}">
                <a16:creationId xmlns:a16="http://schemas.microsoft.com/office/drawing/2014/main" id="{FCBD3B17-B855-5178-9CD4-D5DA5615E1F9}"/>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8AD87DE5-4E9C-EB3C-4FA3-60700312C879}"/>
              </a:ext>
            </a:extLst>
          </p:cNvPr>
          <p:cNvSpPr>
            <a:spLocks noGrp="1"/>
          </p:cNvSpPr>
          <p:nvPr>
            <p:ph type="sldNum" sz="quarter" idx="12"/>
          </p:nvPr>
        </p:nvSpPr>
        <p:spPr/>
        <p:txBody>
          <a:bodyPr/>
          <a:lstStyle/>
          <a:p>
            <a:fld id="{AD44FD09-E3BE-48D3-9F5C-96E2B2905802}" type="slidenum">
              <a:rPr lang="ko-KR" altLang="en-US" smtClean="0"/>
              <a:t>‹#›</a:t>
            </a:fld>
            <a:endParaRPr lang="ko-KR" altLang="en-US"/>
          </a:p>
        </p:txBody>
      </p:sp>
    </p:spTree>
    <p:extLst>
      <p:ext uri="{BB962C8B-B14F-4D97-AF65-F5344CB8AC3E}">
        <p14:creationId xmlns:p14="http://schemas.microsoft.com/office/powerpoint/2010/main" val="8058330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DBA7E04-47FE-99AA-58FB-864D11AAF372}"/>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90363215-B775-1A9E-6307-CE09126375F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2DB17DAF-E9D3-4C34-A80A-0A6A9202FC5A}"/>
              </a:ext>
            </a:extLst>
          </p:cNvPr>
          <p:cNvSpPr>
            <a:spLocks noGrp="1"/>
          </p:cNvSpPr>
          <p:nvPr>
            <p:ph type="dt" sz="half" idx="10"/>
          </p:nvPr>
        </p:nvSpPr>
        <p:spPr/>
        <p:txBody>
          <a:bodyPr/>
          <a:lstStyle/>
          <a:p>
            <a:fld id="{DD794271-44E2-4150-918C-2DB7E193BA46}" type="datetimeFigureOut">
              <a:rPr lang="ko-KR" altLang="en-US" smtClean="0"/>
              <a:t>2026-10-13</a:t>
            </a:fld>
            <a:endParaRPr lang="ko-KR" altLang="en-US"/>
          </a:p>
        </p:txBody>
      </p:sp>
      <p:sp>
        <p:nvSpPr>
          <p:cNvPr id="5" name="바닥글 개체 틀 4">
            <a:extLst>
              <a:ext uri="{FF2B5EF4-FFF2-40B4-BE49-F238E27FC236}">
                <a16:creationId xmlns:a16="http://schemas.microsoft.com/office/drawing/2014/main" id="{24F7F450-589C-3D96-6319-AD11F924B9D9}"/>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17F2ED9E-CDCA-7DFC-93E9-9F4524932824}"/>
              </a:ext>
            </a:extLst>
          </p:cNvPr>
          <p:cNvSpPr>
            <a:spLocks noGrp="1"/>
          </p:cNvSpPr>
          <p:nvPr>
            <p:ph type="sldNum" sz="quarter" idx="12"/>
          </p:nvPr>
        </p:nvSpPr>
        <p:spPr/>
        <p:txBody>
          <a:bodyPr/>
          <a:lstStyle/>
          <a:p>
            <a:fld id="{AD44FD09-E3BE-48D3-9F5C-96E2B2905802}" type="slidenum">
              <a:rPr lang="ko-KR" altLang="en-US" smtClean="0"/>
              <a:t>‹#›</a:t>
            </a:fld>
            <a:endParaRPr lang="ko-KR" altLang="en-US"/>
          </a:p>
        </p:txBody>
      </p:sp>
    </p:spTree>
    <p:extLst>
      <p:ext uri="{BB962C8B-B14F-4D97-AF65-F5344CB8AC3E}">
        <p14:creationId xmlns:p14="http://schemas.microsoft.com/office/powerpoint/2010/main" val="26380616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63F4531-B35F-412B-B5E5-BB5D7551AA67}"/>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1D2E0DA9-4EB0-3129-2479-2E93410D0A7C}"/>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9FED597F-FCE4-72CE-6A53-BBE99F721A57}"/>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E728F1CA-AD0F-642D-2F6B-16E295AD81B7}"/>
              </a:ext>
            </a:extLst>
          </p:cNvPr>
          <p:cNvSpPr>
            <a:spLocks noGrp="1"/>
          </p:cNvSpPr>
          <p:nvPr>
            <p:ph type="dt" sz="half" idx="10"/>
          </p:nvPr>
        </p:nvSpPr>
        <p:spPr/>
        <p:txBody>
          <a:bodyPr/>
          <a:lstStyle/>
          <a:p>
            <a:fld id="{DD794271-44E2-4150-918C-2DB7E193BA46}" type="datetimeFigureOut">
              <a:rPr lang="ko-KR" altLang="en-US" smtClean="0"/>
              <a:t>2026-10-13</a:t>
            </a:fld>
            <a:endParaRPr lang="ko-KR" altLang="en-US"/>
          </a:p>
        </p:txBody>
      </p:sp>
      <p:sp>
        <p:nvSpPr>
          <p:cNvPr id="6" name="바닥글 개체 틀 5">
            <a:extLst>
              <a:ext uri="{FF2B5EF4-FFF2-40B4-BE49-F238E27FC236}">
                <a16:creationId xmlns:a16="http://schemas.microsoft.com/office/drawing/2014/main" id="{9A0DCBF0-5AD5-6BF4-BCA2-C05C59F9A4A9}"/>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A3FE4C43-3412-5FA5-B20E-57131C06427F}"/>
              </a:ext>
            </a:extLst>
          </p:cNvPr>
          <p:cNvSpPr>
            <a:spLocks noGrp="1"/>
          </p:cNvSpPr>
          <p:nvPr>
            <p:ph type="sldNum" sz="quarter" idx="12"/>
          </p:nvPr>
        </p:nvSpPr>
        <p:spPr/>
        <p:txBody>
          <a:bodyPr/>
          <a:lstStyle/>
          <a:p>
            <a:fld id="{AD44FD09-E3BE-48D3-9F5C-96E2B2905802}" type="slidenum">
              <a:rPr lang="ko-KR" altLang="en-US" smtClean="0"/>
              <a:t>‹#›</a:t>
            </a:fld>
            <a:endParaRPr lang="ko-KR" altLang="en-US"/>
          </a:p>
        </p:txBody>
      </p:sp>
    </p:spTree>
    <p:extLst>
      <p:ext uri="{BB962C8B-B14F-4D97-AF65-F5344CB8AC3E}">
        <p14:creationId xmlns:p14="http://schemas.microsoft.com/office/powerpoint/2010/main" val="28002155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4296258-4569-42D5-DE1E-01095535824D}"/>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F97BDDCE-E7A8-D9AC-1155-4FB437CF5E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2EC3DF4C-5096-CAEE-206A-14EA3A57AD97}"/>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5AFE454C-FFD7-BC23-D574-8262B007CE7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EF2C5E07-40DD-DE09-29C5-FECBA7EFCF28}"/>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7A247EDB-776D-AFEF-65B6-DD0BC3000506}"/>
              </a:ext>
            </a:extLst>
          </p:cNvPr>
          <p:cNvSpPr>
            <a:spLocks noGrp="1"/>
          </p:cNvSpPr>
          <p:nvPr>
            <p:ph type="dt" sz="half" idx="10"/>
          </p:nvPr>
        </p:nvSpPr>
        <p:spPr/>
        <p:txBody>
          <a:bodyPr/>
          <a:lstStyle/>
          <a:p>
            <a:fld id="{DD794271-44E2-4150-918C-2DB7E193BA46}" type="datetimeFigureOut">
              <a:rPr lang="ko-KR" altLang="en-US" smtClean="0"/>
              <a:t>2026-10-13</a:t>
            </a:fld>
            <a:endParaRPr lang="ko-KR" altLang="en-US"/>
          </a:p>
        </p:txBody>
      </p:sp>
      <p:sp>
        <p:nvSpPr>
          <p:cNvPr id="8" name="바닥글 개체 틀 7">
            <a:extLst>
              <a:ext uri="{FF2B5EF4-FFF2-40B4-BE49-F238E27FC236}">
                <a16:creationId xmlns:a16="http://schemas.microsoft.com/office/drawing/2014/main" id="{1868CAF9-F212-C742-0E9C-859552DD3918}"/>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FF057D1E-2086-9332-A4CD-55FBF1605E13}"/>
              </a:ext>
            </a:extLst>
          </p:cNvPr>
          <p:cNvSpPr>
            <a:spLocks noGrp="1"/>
          </p:cNvSpPr>
          <p:nvPr>
            <p:ph type="sldNum" sz="quarter" idx="12"/>
          </p:nvPr>
        </p:nvSpPr>
        <p:spPr/>
        <p:txBody>
          <a:bodyPr/>
          <a:lstStyle/>
          <a:p>
            <a:fld id="{AD44FD09-E3BE-48D3-9F5C-96E2B2905802}" type="slidenum">
              <a:rPr lang="ko-KR" altLang="en-US" smtClean="0"/>
              <a:t>‹#›</a:t>
            </a:fld>
            <a:endParaRPr lang="ko-KR" altLang="en-US"/>
          </a:p>
        </p:txBody>
      </p:sp>
    </p:spTree>
    <p:extLst>
      <p:ext uri="{BB962C8B-B14F-4D97-AF65-F5344CB8AC3E}">
        <p14:creationId xmlns:p14="http://schemas.microsoft.com/office/powerpoint/2010/main" val="11801455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F9BD9A2-8CE7-1085-F5CD-2ADB3C536A26}"/>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04A99087-D8E5-BBB1-006B-9E6E2EA50C9B}"/>
              </a:ext>
            </a:extLst>
          </p:cNvPr>
          <p:cNvSpPr>
            <a:spLocks noGrp="1"/>
          </p:cNvSpPr>
          <p:nvPr>
            <p:ph type="dt" sz="half" idx="10"/>
          </p:nvPr>
        </p:nvSpPr>
        <p:spPr/>
        <p:txBody>
          <a:bodyPr/>
          <a:lstStyle/>
          <a:p>
            <a:fld id="{DD794271-44E2-4150-918C-2DB7E193BA46}" type="datetimeFigureOut">
              <a:rPr lang="ko-KR" altLang="en-US" smtClean="0"/>
              <a:t>2026-10-13</a:t>
            </a:fld>
            <a:endParaRPr lang="ko-KR" altLang="en-US"/>
          </a:p>
        </p:txBody>
      </p:sp>
      <p:sp>
        <p:nvSpPr>
          <p:cNvPr id="4" name="바닥글 개체 틀 3">
            <a:extLst>
              <a:ext uri="{FF2B5EF4-FFF2-40B4-BE49-F238E27FC236}">
                <a16:creationId xmlns:a16="http://schemas.microsoft.com/office/drawing/2014/main" id="{EF48BEF3-FC78-F512-5E03-63EACD5BEBDE}"/>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9C7A1DF5-4CC6-80E3-791B-B351578364BA}"/>
              </a:ext>
            </a:extLst>
          </p:cNvPr>
          <p:cNvSpPr>
            <a:spLocks noGrp="1"/>
          </p:cNvSpPr>
          <p:nvPr>
            <p:ph type="sldNum" sz="quarter" idx="12"/>
          </p:nvPr>
        </p:nvSpPr>
        <p:spPr/>
        <p:txBody>
          <a:bodyPr/>
          <a:lstStyle/>
          <a:p>
            <a:fld id="{AD44FD09-E3BE-48D3-9F5C-96E2B2905802}" type="slidenum">
              <a:rPr lang="ko-KR" altLang="en-US" smtClean="0"/>
              <a:t>‹#›</a:t>
            </a:fld>
            <a:endParaRPr lang="ko-KR" altLang="en-US"/>
          </a:p>
        </p:txBody>
      </p:sp>
    </p:spTree>
    <p:extLst>
      <p:ext uri="{BB962C8B-B14F-4D97-AF65-F5344CB8AC3E}">
        <p14:creationId xmlns:p14="http://schemas.microsoft.com/office/powerpoint/2010/main" val="25990720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F4F18778-9F04-DEB0-044D-3EFF10F09760}"/>
              </a:ext>
            </a:extLst>
          </p:cNvPr>
          <p:cNvSpPr>
            <a:spLocks noGrp="1"/>
          </p:cNvSpPr>
          <p:nvPr>
            <p:ph type="dt" sz="half" idx="10"/>
          </p:nvPr>
        </p:nvSpPr>
        <p:spPr/>
        <p:txBody>
          <a:bodyPr/>
          <a:lstStyle/>
          <a:p>
            <a:fld id="{DD794271-44E2-4150-918C-2DB7E193BA46}" type="datetimeFigureOut">
              <a:rPr lang="ko-KR" altLang="en-US" smtClean="0"/>
              <a:t>2026-10-13</a:t>
            </a:fld>
            <a:endParaRPr lang="ko-KR" altLang="en-US"/>
          </a:p>
        </p:txBody>
      </p:sp>
      <p:sp>
        <p:nvSpPr>
          <p:cNvPr id="3" name="바닥글 개체 틀 2">
            <a:extLst>
              <a:ext uri="{FF2B5EF4-FFF2-40B4-BE49-F238E27FC236}">
                <a16:creationId xmlns:a16="http://schemas.microsoft.com/office/drawing/2014/main" id="{6F72C68B-5AB2-0AA5-51ED-E6D4C426E16B}"/>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6AE56A87-1EBA-BB3B-6652-14B5D84BC564}"/>
              </a:ext>
            </a:extLst>
          </p:cNvPr>
          <p:cNvSpPr>
            <a:spLocks noGrp="1"/>
          </p:cNvSpPr>
          <p:nvPr>
            <p:ph type="sldNum" sz="quarter" idx="12"/>
          </p:nvPr>
        </p:nvSpPr>
        <p:spPr/>
        <p:txBody>
          <a:bodyPr/>
          <a:lstStyle/>
          <a:p>
            <a:fld id="{AD44FD09-E3BE-48D3-9F5C-96E2B2905802}" type="slidenum">
              <a:rPr lang="ko-KR" altLang="en-US" smtClean="0"/>
              <a:t>‹#›</a:t>
            </a:fld>
            <a:endParaRPr lang="ko-KR" altLang="en-US"/>
          </a:p>
        </p:txBody>
      </p:sp>
    </p:spTree>
    <p:extLst>
      <p:ext uri="{BB962C8B-B14F-4D97-AF65-F5344CB8AC3E}">
        <p14:creationId xmlns:p14="http://schemas.microsoft.com/office/powerpoint/2010/main" val="36038515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D4A2155-7D27-56EC-BB31-BD780C2EED43}"/>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3F318B50-F0F1-B222-1CD8-AB5C274CE34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E6E1CBB0-8268-E44C-5777-E0F181291B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5848C5A7-69B2-CDC0-C166-511D2113BE58}"/>
              </a:ext>
            </a:extLst>
          </p:cNvPr>
          <p:cNvSpPr>
            <a:spLocks noGrp="1"/>
          </p:cNvSpPr>
          <p:nvPr>
            <p:ph type="dt" sz="half" idx="10"/>
          </p:nvPr>
        </p:nvSpPr>
        <p:spPr/>
        <p:txBody>
          <a:bodyPr/>
          <a:lstStyle/>
          <a:p>
            <a:fld id="{DD794271-44E2-4150-918C-2DB7E193BA46}" type="datetimeFigureOut">
              <a:rPr lang="ko-KR" altLang="en-US" smtClean="0"/>
              <a:t>2026-10-13</a:t>
            </a:fld>
            <a:endParaRPr lang="ko-KR" altLang="en-US"/>
          </a:p>
        </p:txBody>
      </p:sp>
      <p:sp>
        <p:nvSpPr>
          <p:cNvPr id="6" name="바닥글 개체 틀 5">
            <a:extLst>
              <a:ext uri="{FF2B5EF4-FFF2-40B4-BE49-F238E27FC236}">
                <a16:creationId xmlns:a16="http://schemas.microsoft.com/office/drawing/2014/main" id="{9BBF4C09-A9DD-D394-30CB-36A45903B25D}"/>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CD70D902-143A-D73D-5032-C10485B997FA}"/>
              </a:ext>
            </a:extLst>
          </p:cNvPr>
          <p:cNvSpPr>
            <a:spLocks noGrp="1"/>
          </p:cNvSpPr>
          <p:nvPr>
            <p:ph type="sldNum" sz="quarter" idx="12"/>
          </p:nvPr>
        </p:nvSpPr>
        <p:spPr/>
        <p:txBody>
          <a:bodyPr/>
          <a:lstStyle/>
          <a:p>
            <a:fld id="{AD44FD09-E3BE-48D3-9F5C-96E2B2905802}" type="slidenum">
              <a:rPr lang="ko-KR" altLang="en-US" smtClean="0"/>
              <a:t>‹#›</a:t>
            </a:fld>
            <a:endParaRPr lang="ko-KR" altLang="en-US"/>
          </a:p>
        </p:txBody>
      </p:sp>
    </p:spTree>
    <p:extLst>
      <p:ext uri="{BB962C8B-B14F-4D97-AF65-F5344CB8AC3E}">
        <p14:creationId xmlns:p14="http://schemas.microsoft.com/office/powerpoint/2010/main" val="10852856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C2216E7-1915-D845-56D4-0F1856F4B273}"/>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BFD51BDD-B3B3-C866-3865-10C7C89C874A}"/>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78FCBB3B-7BFE-454E-E8C1-31116E89B9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7F2B9CB9-E5DC-C162-97A0-7A5D7420F6F6}"/>
              </a:ext>
            </a:extLst>
          </p:cNvPr>
          <p:cNvSpPr>
            <a:spLocks noGrp="1"/>
          </p:cNvSpPr>
          <p:nvPr>
            <p:ph type="dt" sz="half" idx="10"/>
          </p:nvPr>
        </p:nvSpPr>
        <p:spPr/>
        <p:txBody>
          <a:bodyPr/>
          <a:lstStyle/>
          <a:p>
            <a:fld id="{DD794271-44E2-4150-918C-2DB7E193BA46}" type="datetimeFigureOut">
              <a:rPr lang="ko-KR" altLang="en-US" smtClean="0"/>
              <a:t>2026-10-13</a:t>
            </a:fld>
            <a:endParaRPr lang="ko-KR" altLang="en-US"/>
          </a:p>
        </p:txBody>
      </p:sp>
      <p:sp>
        <p:nvSpPr>
          <p:cNvPr id="6" name="바닥글 개체 틀 5">
            <a:extLst>
              <a:ext uri="{FF2B5EF4-FFF2-40B4-BE49-F238E27FC236}">
                <a16:creationId xmlns:a16="http://schemas.microsoft.com/office/drawing/2014/main" id="{51B588F0-4E7A-C2C7-743C-9C955D634B56}"/>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9272DE62-085C-2BA9-C649-64D1EA806E85}"/>
              </a:ext>
            </a:extLst>
          </p:cNvPr>
          <p:cNvSpPr>
            <a:spLocks noGrp="1"/>
          </p:cNvSpPr>
          <p:nvPr>
            <p:ph type="sldNum" sz="quarter" idx="12"/>
          </p:nvPr>
        </p:nvSpPr>
        <p:spPr/>
        <p:txBody>
          <a:bodyPr/>
          <a:lstStyle/>
          <a:p>
            <a:fld id="{AD44FD09-E3BE-48D3-9F5C-96E2B2905802}" type="slidenum">
              <a:rPr lang="ko-KR" altLang="en-US" smtClean="0"/>
              <a:t>‹#›</a:t>
            </a:fld>
            <a:endParaRPr lang="ko-KR" altLang="en-US"/>
          </a:p>
        </p:txBody>
      </p:sp>
    </p:spTree>
    <p:extLst>
      <p:ext uri="{BB962C8B-B14F-4D97-AF65-F5344CB8AC3E}">
        <p14:creationId xmlns:p14="http://schemas.microsoft.com/office/powerpoint/2010/main" val="38131672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B3BC024-2FC8-8551-CB26-783A123438C2}"/>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5A88B235-76CB-DE9A-262E-CFF90476B11C}"/>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5569E48F-D785-5CAC-6A05-9AAC93081827}"/>
              </a:ext>
            </a:extLst>
          </p:cNvPr>
          <p:cNvSpPr>
            <a:spLocks noGrp="1"/>
          </p:cNvSpPr>
          <p:nvPr>
            <p:ph type="dt" sz="half" idx="10"/>
          </p:nvPr>
        </p:nvSpPr>
        <p:spPr/>
        <p:txBody>
          <a:bodyPr/>
          <a:lstStyle/>
          <a:p>
            <a:fld id="{DD794271-44E2-4150-918C-2DB7E193BA46}" type="datetimeFigureOut">
              <a:rPr lang="ko-KR" altLang="en-US" smtClean="0"/>
              <a:t>2026-10-13</a:t>
            </a:fld>
            <a:endParaRPr lang="ko-KR" altLang="en-US"/>
          </a:p>
        </p:txBody>
      </p:sp>
      <p:sp>
        <p:nvSpPr>
          <p:cNvPr id="5" name="바닥글 개체 틀 4">
            <a:extLst>
              <a:ext uri="{FF2B5EF4-FFF2-40B4-BE49-F238E27FC236}">
                <a16:creationId xmlns:a16="http://schemas.microsoft.com/office/drawing/2014/main" id="{790BF1AC-7DC3-92CE-6FE5-B3406E7F1BCE}"/>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6DADF5BC-7F34-599A-36D2-83C86753F956}"/>
              </a:ext>
            </a:extLst>
          </p:cNvPr>
          <p:cNvSpPr>
            <a:spLocks noGrp="1"/>
          </p:cNvSpPr>
          <p:nvPr>
            <p:ph type="sldNum" sz="quarter" idx="12"/>
          </p:nvPr>
        </p:nvSpPr>
        <p:spPr/>
        <p:txBody>
          <a:bodyPr/>
          <a:lstStyle/>
          <a:p>
            <a:fld id="{AD44FD09-E3BE-48D3-9F5C-96E2B2905802}" type="slidenum">
              <a:rPr lang="ko-KR" altLang="en-US" smtClean="0"/>
              <a:t>‹#›</a:t>
            </a:fld>
            <a:endParaRPr lang="ko-KR" altLang="en-US"/>
          </a:p>
        </p:txBody>
      </p:sp>
    </p:spTree>
    <p:extLst>
      <p:ext uri="{BB962C8B-B14F-4D97-AF65-F5344CB8AC3E}">
        <p14:creationId xmlns:p14="http://schemas.microsoft.com/office/powerpoint/2010/main" val="29261762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A5BCE91C-E350-62FA-4E73-0307AEB05BDD}"/>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2AC05D91-D80F-D64F-C551-1A3426FB1CBF}"/>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49AEB09B-6BEB-EC97-48DB-F09423EB08C6}"/>
              </a:ext>
            </a:extLst>
          </p:cNvPr>
          <p:cNvSpPr>
            <a:spLocks noGrp="1"/>
          </p:cNvSpPr>
          <p:nvPr>
            <p:ph type="dt" sz="half" idx="10"/>
          </p:nvPr>
        </p:nvSpPr>
        <p:spPr/>
        <p:txBody>
          <a:bodyPr/>
          <a:lstStyle/>
          <a:p>
            <a:fld id="{DD794271-44E2-4150-918C-2DB7E193BA46}" type="datetimeFigureOut">
              <a:rPr lang="ko-KR" altLang="en-US" smtClean="0"/>
              <a:t>2026-10-13</a:t>
            </a:fld>
            <a:endParaRPr lang="ko-KR" altLang="en-US"/>
          </a:p>
        </p:txBody>
      </p:sp>
      <p:sp>
        <p:nvSpPr>
          <p:cNvPr id="5" name="바닥글 개체 틀 4">
            <a:extLst>
              <a:ext uri="{FF2B5EF4-FFF2-40B4-BE49-F238E27FC236}">
                <a16:creationId xmlns:a16="http://schemas.microsoft.com/office/drawing/2014/main" id="{C42F20EC-7BAD-F719-7083-B0FF1BF45D80}"/>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25320B36-A953-3331-3EF5-88A9C35DD69A}"/>
              </a:ext>
            </a:extLst>
          </p:cNvPr>
          <p:cNvSpPr>
            <a:spLocks noGrp="1"/>
          </p:cNvSpPr>
          <p:nvPr>
            <p:ph type="sldNum" sz="quarter" idx="12"/>
          </p:nvPr>
        </p:nvSpPr>
        <p:spPr/>
        <p:txBody>
          <a:bodyPr/>
          <a:lstStyle/>
          <a:p>
            <a:fld id="{AD44FD09-E3BE-48D3-9F5C-96E2B2905802}" type="slidenum">
              <a:rPr lang="ko-KR" altLang="en-US" smtClean="0"/>
              <a:t>‹#›</a:t>
            </a:fld>
            <a:endParaRPr lang="ko-KR" altLang="en-US"/>
          </a:p>
        </p:txBody>
      </p:sp>
    </p:spTree>
    <p:extLst>
      <p:ext uri="{BB962C8B-B14F-4D97-AF65-F5344CB8AC3E}">
        <p14:creationId xmlns:p14="http://schemas.microsoft.com/office/powerpoint/2010/main" val="13211143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4679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B03231B9-3232-E59C-ED7F-FB99F6D402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5D010D45-F53A-5258-1134-4023D0C9983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7F0096B4-7752-8B1E-BB67-E34D89EC7FE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D794271-44E2-4150-918C-2DB7E193BA46}" type="datetimeFigureOut">
              <a:rPr lang="ko-KR" altLang="en-US" smtClean="0"/>
              <a:t>2026-10-13</a:t>
            </a:fld>
            <a:endParaRPr lang="ko-KR" altLang="en-US"/>
          </a:p>
        </p:txBody>
      </p:sp>
      <p:sp>
        <p:nvSpPr>
          <p:cNvPr id="5" name="바닥글 개체 틀 4">
            <a:extLst>
              <a:ext uri="{FF2B5EF4-FFF2-40B4-BE49-F238E27FC236}">
                <a16:creationId xmlns:a16="http://schemas.microsoft.com/office/drawing/2014/main" id="{54FDBED7-30BC-C28B-7C48-3287B6D984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23213279-39E8-34AA-0F1A-477609874B6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D44FD09-E3BE-48D3-9F5C-96E2B2905802}" type="slidenum">
              <a:rPr lang="ko-KR" altLang="en-US" smtClean="0"/>
              <a:t>‹#›</a:t>
            </a:fld>
            <a:endParaRPr lang="ko-KR" altLang="en-US"/>
          </a:p>
        </p:txBody>
      </p:sp>
    </p:spTree>
    <p:extLst>
      <p:ext uri="{BB962C8B-B14F-4D97-AF65-F5344CB8AC3E}">
        <p14:creationId xmlns:p14="http://schemas.microsoft.com/office/powerpoint/2010/main" val="17968220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2.png"/><Relationship Id="rId7"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 Id="rId9" Type="http://schemas.openxmlformats.org/officeDocument/2006/relationships/image" Target="../media/image27.png"/></Relationships>
</file>

<file path=ppt/slides/_rels/slide1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ctr"/>
          <a:lstStyle/>
          <a:p>
            <a:pPr algn="l"/>
            <a:r>
              <a:rPr sz="900" b="0" spc="100">
                <a:solidFill>
                  <a:srgbClr val="004F9F"/>
                </a:solidFill>
                <a:latin typeface="에이투지체 6 SemiBold"/>
                <a:ea typeface="에이투지체 6 SemiBold"/>
                <a:cs typeface="에이투지체 6 SemiBold"/>
              </a:rPr>
              <a:t>PART 2 · 11월 마케팅 전략 · 미디어믹스</a:t>
            </a:r>
          </a:p>
        </p:txBody>
      </p:sp>
      <p:sp>
        <p:nvSpPr>
          <p:cNvPr id="3" name="TextBox 2"/>
          <p:cNvSpPr txBox="1"/>
          <p:nvPr/>
        </p:nvSpPr>
        <p:spPr>
          <a:xfrm>
            <a:off x="548640" y="658368"/>
            <a:ext cx="11064240" cy="868680"/>
          </a:xfrm>
          <a:prstGeom prst="rect">
            <a:avLst/>
          </a:prstGeom>
          <a:noFill/>
        </p:spPr>
        <p:txBody>
          <a:bodyPr wrap="square" lIns="0" tIns="0" rIns="0" bIns="0" anchor="ctr"/>
          <a:lstStyle/>
          <a:p>
            <a:pPr>
              <a:lnSpc>
                <a:spcPts val="2600"/>
              </a:lnSpc>
            </a:pPr>
            <a:r>
              <a:rPr lang="ko-KR" altLang="ko-KR" sz="1900" dirty="0" err="1">
                <a:solidFill>
                  <a:srgbClr val="FFFFFF"/>
                </a:solidFill>
                <a:highlight>
                  <a:srgbClr val="0000FF"/>
                </a:highlight>
                <a:latin typeface="에이투지체 8 ExtraBold"/>
                <a:ea typeface="에이투지체 8 ExtraBold"/>
              </a:rPr>
              <a:t>쿠팡</a:t>
            </a:r>
            <a:r>
              <a:rPr lang="ko-KR" altLang="ko-KR" sz="1900" dirty="0">
                <a:solidFill>
                  <a:srgbClr val="FFFFFF"/>
                </a:solidFill>
                <a:highlight>
                  <a:srgbClr val="0000FF"/>
                </a:highlight>
                <a:latin typeface="에이투지체 8 ExtraBold"/>
                <a:ea typeface="에이투지체 8 ExtraBold"/>
              </a:rPr>
              <a:t> 주력 상품이 메인 키워드 검색 결과 첫 화면에 없습니다</a:t>
            </a:r>
          </a:p>
          <a:p>
            <a:pPr>
              <a:lnSpc>
                <a:spcPts val="2600"/>
              </a:lnSpc>
            </a:pPr>
            <a:r>
              <a:rPr lang="ko-KR" altLang="ko-KR" sz="1900" dirty="0">
                <a:solidFill>
                  <a:srgbClr val="222222"/>
                </a:solidFill>
                <a:latin typeface="에이투지체 8 ExtraBold"/>
                <a:ea typeface="에이투지체 8 ExtraBold"/>
              </a:rPr>
              <a:t>로켓배송과 리뷰는 이미 갖춘 상태입니다</a:t>
            </a:r>
            <a:endParaRPr sz="1900" b="0" dirty="0">
              <a:solidFill>
                <a:srgbClr val="222222"/>
              </a:solidFill>
              <a:latin typeface="에이투지체 8 ExtraBold"/>
              <a:ea typeface="에이투지체 8 ExtraBold"/>
              <a:cs typeface="에이투지체 8 ExtraBold"/>
            </a:endParaRPr>
          </a:p>
        </p:txBody>
      </p:sp>
      <p:sp>
        <p:nvSpPr>
          <p:cNvPr id="4" name="TextBox 3"/>
          <p:cNvSpPr txBox="1"/>
          <p:nvPr/>
        </p:nvSpPr>
        <p:spPr>
          <a:xfrm>
            <a:off x="548640" y="1517904"/>
            <a:ext cx="11064240" cy="365760"/>
          </a:xfrm>
          <a:prstGeom prst="rect">
            <a:avLst/>
          </a:prstGeom>
          <a:noFill/>
        </p:spPr>
        <p:txBody>
          <a:bodyPr wrap="square" lIns="0" tIns="0" rIns="0" bIns="0" anchor="ctr"/>
          <a:lstStyle/>
          <a:p>
            <a:pPr algn="l"/>
            <a:r>
              <a:rPr sz="1100" b="0">
                <a:solidFill>
                  <a:srgbClr val="5C5C5C"/>
                </a:solidFill>
                <a:latin typeface="에이투지체 5 Medium"/>
                <a:ea typeface="에이투지체 5 Medium"/>
                <a:cs typeface="에이투지체 5 Medium"/>
              </a:rPr>
              <a:t>쿠팡 현황 진단 ①</a:t>
            </a:r>
          </a:p>
        </p:txBody>
      </p:sp>
      <p:sp>
        <p:nvSpPr>
          <p:cNvPr id="5" name="Rounded Rectangle 4"/>
          <p:cNvSpPr/>
          <p:nvPr/>
        </p:nvSpPr>
        <p:spPr>
          <a:xfrm>
            <a:off x="548640" y="5577840"/>
            <a:ext cx="11064240" cy="438912"/>
          </a:xfrm>
          <a:prstGeom prst="roundRect">
            <a:avLst>
              <a:gd name="adj" fmla="val 16666"/>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 y="5702565"/>
            <a:ext cx="10671048" cy="207749"/>
          </a:xfrm>
          <a:prstGeom prst="rect">
            <a:avLst/>
          </a:prstGeom>
          <a:noFill/>
        </p:spPr>
        <p:txBody>
          <a:bodyPr wrap="square" lIns="0" tIns="0" rIns="0" bIns="0" anchor="ctr">
            <a:spAutoFit/>
          </a:bodyPr>
          <a:lstStyle/>
          <a:p>
            <a:pPr algn="l"/>
            <a:r>
              <a:rPr sz="1350" b="0" dirty="0" err="1">
                <a:solidFill>
                  <a:srgbClr val="004F9F"/>
                </a:solidFill>
                <a:latin typeface="에이투지체 6 SemiBold"/>
                <a:ea typeface="에이투지체 6 SemiBold"/>
                <a:cs typeface="에이투지체 6 SemiBold"/>
              </a:rPr>
              <a:t>로켓</a:t>
            </a:r>
            <a:r>
              <a:rPr sz="1350" b="0" dirty="0">
                <a:solidFill>
                  <a:srgbClr val="004F9F"/>
                </a:solidFill>
                <a:latin typeface="에이투지체 6 SemiBold"/>
                <a:ea typeface="에이투지체 6 SemiBold"/>
                <a:cs typeface="에이투지체 6 SemiBold"/>
              </a:rPr>
              <a:t> </a:t>
            </a:r>
            <a:r>
              <a:rPr lang="ko-KR" altLang="en-US" sz="1350" b="0" dirty="0">
                <a:solidFill>
                  <a:srgbClr val="004F9F"/>
                </a:solidFill>
                <a:latin typeface="에이투지체 6 SemiBold"/>
                <a:ea typeface="에이투지체 6 SemiBold"/>
                <a:cs typeface="에이투지체 6 SemiBold"/>
              </a:rPr>
              <a:t>배송 </a:t>
            </a:r>
            <a:r>
              <a:rPr sz="1350" b="0" dirty="0" err="1">
                <a:solidFill>
                  <a:srgbClr val="004F9F"/>
                </a:solidFill>
                <a:latin typeface="에이투지체 6 SemiBold"/>
                <a:ea typeface="에이투지체 6 SemiBold"/>
                <a:cs typeface="에이투지체 6 SemiBold"/>
              </a:rPr>
              <a:t>상품을</a:t>
            </a:r>
            <a:r>
              <a:rPr sz="1350" b="0" dirty="0">
                <a:solidFill>
                  <a:srgbClr val="004F9F"/>
                </a:solidFill>
                <a:latin typeface="에이투지체 6 SemiBold"/>
                <a:ea typeface="에이투지체 6 SemiBold"/>
                <a:cs typeface="에이투지체 6 SemiBold"/>
              </a:rPr>
              <a:t> </a:t>
            </a:r>
            <a:r>
              <a:rPr lang="ko-KR" altLang="en-US" sz="1350" dirty="0">
                <a:solidFill>
                  <a:srgbClr val="004F9F"/>
                </a:solidFill>
                <a:latin typeface="에이투지체 6 SemiBold"/>
                <a:ea typeface="에이투지체 6 SemiBold"/>
                <a:cs typeface="에이투지체 6 SemiBold"/>
              </a:rPr>
              <a:t>검색 결과에서 원활하게 </a:t>
            </a:r>
            <a:r>
              <a:rPr sz="1350" b="0" dirty="0" err="1">
                <a:solidFill>
                  <a:srgbClr val="004F9F"/>
                </a:solidFill>
                <a:latin typeface="에이투지체 6 SemiBold"/>
                <a:ea typeface="에이투지체 6 SemiBold"/>
                <a:cs typeface="에이투지체 6 SemiBold"/>
              </a:rPr>
              <a:t>보이</a:t>
            </a:r>
            <a:r>
              <a:rPr lang="ko-KR" altLang="en-US" sz="1350" b="0" dirty="0">
                <a:solidFill>
                  <a:srgbClr val="004F9F"/>
                </a:solidFill>
                <a:latin typeface="에이투지체 6 SemiBold"/>
                <a:ea typeface="에이투지체 6 SemiBold"/>
                <a:cs typeface="에이투지체 6 SemiBold"/>
              </a:rPr>
              <a:t>게 하</a:t>
            </a:r>
            <a:r>
              <a:rPr sz="1350" b="0" dirty="0">
                <a:solidFill>
                  <a:srgbClr val="004F9F"/>
                </a:solidFill>
                <a:latin typeface="에이투지체 6 SemiBold"/>
                <a:ea typeface="에이투지체 6 SemiBold"/>
                <a:cs typeface="에이투지체 6 SemiBold"/>
              </a:rPr>
              <a:t>는 </a:t>
            </a:r>
            <a:r>
              <a:rPr sz="1350" b="0" dirty="0" err="1">
                <a:solidFill>
                  <a:srgbClr val="004F9F"/>
                </a:solidFill>
                <a:latin typeface="에이투지체 6 SemiBold"/>
                <a:ea typeface="에이투지체 6 SemiBold"/>
                <a:cs typeface="에이투지체 6 SemiBold"/>
              </a:rPr>
              <a:t>것이</a:t>
            </a:r>
            <a:r>
              <a:rPr sz="1350" b="0" dirty="0">
                <a:solidFill>
                  <a:srgbClr val="004F9F"/>
                </a:solidFill>
                <a:latin typeface="에이투지체 6 SemiBold"/>
                <a:ea typeface="에이투지체 6 SemiBold"/>
                <a:cs typeface="에이투지체 6 SemiBold"/>
              </a:rPr>
              <a:t> </a:t>
            </a:r>
            <a:r>
              <a:rPr sz="1350" b="0" dirty="0" err="1">
                <a:solidFill>
                  <a:srgbClr val="004F9F"/>
                </a:solidFill>
                <a:latin typeface="에이투지체 6 SemiBold"/>
                <a:ea typeface="에이투지체 6 SemiBold"/>
                <a:cs typeface="에이투지체 6 SemiBold"/>
              </a:rPr>
              <a:t>쿠팡의</a:t>
            </a:r>
            <a:r>
              <a:rPr sz="1350" b="0" dirty="0">
                <a:solidFill>
                  <a:srgbClr val="004F9F"/>
                </a:solidFill>
                <a:latin typeface="에이투지체 6 SemiBold"/>
                <a:ea typeface="에이투지체 6 SemiBold"/>
                <a:cs typeface="에이투지체 6 SemiBold"/>
              </a:rPr>
              <a:t> </a:t>
            </a:r>
            <a:r>
              <a:rPr sz="1350" b="0" dirty="0" err="1">
                <a:solidFill>
                  <a:srgbClr val="004F9F"/>
                </a:solidFill>
                <a:latin typeface="에이투지체 6 SemiBold"/>
                <a:ea typeface="에이투지체 6 SemiBold"/>
                <a:cs typeface="에이투지체 6 SemiBold"/>
              </a:rPr>
              <a:t>과제입니다</a:t>
            </a:r>
            <a:endParaRPr sz="1350" b="0" dirty="0">
              <a:solidFill>
                <a:srgbClr val="004F9F"/>
              </a:solidFill>
              <a:latin typeface="에이투지체 6 SemiBold"/>
              <a:ea typeface="에이투지체 6 SemiBold"/>
              <a:cs typeface="에이투지체 6 SemiBold"/>
            </a:endParaRPr>
          </a:p>
        </p:txBody>
      </p:sp>
      <p:sp>
        <p:nvSpPr>
          <p:cNvPr id="7" name="TextBox 6"/>
          <p:cNvSpPr txBox="1"/>
          <p:nvPr/>
        </p:nvSpPr>
        <p:spPr>
          <a:xfrm>
            <a:off x="548640" y="6089904"/>
            <a:ext cx="11064240" cy="274320"/>
          </a:xfrm>
          <a:prstGeom prst="rect">
            <a:avLst/>
          </a:prstGeom>
          <a:noFill/>
        </p:spPr>
        <p:txBody>
          <a:bodyPr wrap="square" lIns="0" tIns="0" rIns="0" bIns="0" anchor="t">
            <a:spAutoFit/>
          </a:bodyPr>
          <a:lstStyle/>
          <a:p>
            <a:pPr algn="l"/>
            <a:r>
              <a:rPr sz="850" b="0">
                <a:solidFill>
                  <a:srgbClr val="919191"/>
                </a:solidFill>
                <a:latin typeface="에이투지체 3 Light"/>
                <a:ea typeface="에이투지체 3 Light"/>
                <a:cs typeface="에이투지체 3 Light"/>
              </a:rPr>
              <a:t>상품: 2026.10.12 (주)두드림비엔비 쿠팡 브랜드샵 / 검색: 2026.10.13 쿠팡 PC 검색 화면 기준 (비로그인). 검색 결과는 새로고침, 사용자별로 달라짐</a:t>
            </a:r>
          </a:p>
        </p:txBody>
      </p:sp>
      <p:sp>
        <p:nvSpPr>
          <p:cNvPr id="8" name="TextBox 7"/>
          <p:cNvSpPr txBox="1"/>
          <p:nvPr/>
        </p:nvSpPr>
        <p:spPr>
          <a:xfrm>
            <a:off x="548640" y="6473952"/>
            <a:ext cx="4206240" cy="274320"/>
          </a:xfrm>
          <a:prstGeom prst="rect">
            <a:avLst/>
          </a:prstGeom>
          <a:noFill/>
        </p:spPr>
        <p:txBody>
          <a:bodyPr wrap="square" lIns="0" tIns="0" rIns="0" bIns="0" anchor="t">
            <a:spAutoFit/>
          </a:bodyPr>
          <a:lstStyle/>
          <a:p>
            <a:pPr algn="l"/>
            <a:r>
              <a:rPr sz="800" b="0">
                <a:solidFill>
                  <a:srgbClr val="919191"/>
                </a:solidFill>
                <a:latin typeface="에이투지체 3 Light"/>
                <a:ea typeface="에이투지체 3 Light"/>
                <a:cs typeface="에이투지체 3 Light"/>
              </a:rPr>
              <a:t>DODREAM B&amp;B AD PROPOSAL · 2026</a:t>
            </a:r>
          </a:p>
        </p:txBody>
      </p:sp>
      <p:sp>
        <p:nvSpPr>
          <p:cNvPr id="9" name="TextBox 8"/>
          <p:cNvSpPr txBox="1"/>
          <p:nvPr/>
        </p:nvSpPr>
        <p:spPr>
          <a:xfrm>
            <a:off x="8138160" y="6473952"/>
            <a:ext cx="3017520" cy="274320"/>
          </a:xfrm>
          <a:prstGeom prst="rect">
            <a:avLst/>
          </a:prstGeom>
          <a:noFill/>
        </p:spPr>
        <p:txBody>
          <a:bodyPr wrap="square" lIns="0" tIns="0" rIns="0" bIns="0" anchor="t">
            <a:spAutoFit/>
          </a:bodyPr>
          <a:lstStyle/>
          <a:p>
            <a:pPr algn="r"/>
            <a:r>
              <a:rPr sz="800" b="0">
                <a:solidFill>
                  <a:srgbClr val="919191"/>
                </a:solidFill>
                <a:latin typeface="에이투지체 3 Light"/>
                <a:ea typeface="에이투지체 3 Light"/>
                <a:cs typeface="에이투지체 3 Light"/>
              </a:rPr>
              <a:t>LINKPRICE · BRAND AD CENTER</a:t>
            </a:r>
          </a:p>
        </p:txBody>
      </p:sp>
      <p:sp>
        <p:nvSpPr>
          <p:cNvPr id="10" name="TextBox 9"/>
          <p:cNvSpPr txBox="1"/>
          <p:nvPr/>
        </p:nvSpPr>
        <p:spPr>
          <a:xfrm>
            <a:off x="11292840" y="6473952"/>
            <a:ext cx="365760" cy="274320"/>
          </a:xfrm>
          <a:prstGeom prst="rect">
            <a:avLst/>
          </a:prstGeom>
          <a:noFill/>
        </p:spPr>
        <p:txBody>
          <a:bodyPr wrap="square" lIns="0" tIns="0" rIns="0" bIns="0" anchor="t">
            <a:spAutoFit/>
          </a:bodyPr>
          <a:lstStyle/>
          <a:p>
            <a:pPr algn="r"/>
            <a:r>
              <a:rPr sz="800" b="0">
                <a:solidFill>
                  <a:srgbClr val="222222"/>
                </a:solidFill>
                <a:latin typeface="에이투지체 6 SemiBold"/>
                <a:ea typeface="에이투지체 6 SemiBold"/>
                <a:cs typeface="에이투지체 6 SemiBold"/>
              </a:rPr>
              <a:t>33</a:t>
            </a:r>
          </a:p>
        </p:txBody>
      </p:sp>
      <p:sp>
        <p:nvSpPr>
          <p:cNvPr id="11" name="Rounded Rectangle 10"/>
          <p:cNvSpPr/>
          <p:nvPr/>
        </p:nvSpPr>
        <p:spPr>
          <a:xfrm>
            <a:off x="548640" y="2103120"/>
            <a:ext cx="3447288" cy="1051560"/>
          </a:xfrm>
          <a:prstGeom prst="roundRect">
            <a:avLst>
              <a:gd name="adj" fmla="val 6956"/>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2157984"/>
            <a:ext cx="3017520" cy="530352"/>
          </a:xfrm>
          <a:prstGeom prst="rect">
            <a:avLst/>
          </a:prstGeom>
          <a:noFill/>
        </p:spPr>
        <p:txBody>
          <a:bodyPr wrap="square" lIns="0" tIns="0" rIns="0" bIns="0" anchor="t">
            <a:spAutoFit/>
          </a:bodyPr>
          <a:lstStyle/>
          <a:p>
            <a:pPr algn="l"/>
            <a:r>
              <a:rPr sz="2800" b="0">
                <a:solidFill>
                  <a:srgbClr val="004F9F"/>
                </a:solidFill>
                <a:latin typeface="에이투지체 8 ExtraBold"/>
                <a:ea typeface="에이투지체 8 ExtraBold"/>
                <a:cs typeface="에이투지체 8 ExtraBold"/>
              </a:rPr>
              <a:t>리뷰 827 · 968</a:t>
            </a:r>
          </a:p>
        </p:txBody>
      </p:sp>
      <p:sp>
        <p:nvSpPr>
          <p:cNvPr id="13" name="TextBox 12"/>
          <p:cNvSpPr txBox="1"/>
          <p:nvPr/>
        </p:nvSpPr>
        <p:spPr>
          <a:xfrm>
            <a:off x="777240" y="2724912"/>
            <a:ext cx="3017520" cy="320040"/>
          </a:xfrm>
          <a:prstGeom prst="rect">
            <a:avLst/>
          </a:prstGeom>
          <a:noFill/>
        </p:spPr>
        <p:txBody>
          <a:bodyPr wrap="square" lIns="0" tIns="0" rIns="0" bIns="0" anchor="t">
            <a:spAutoFit/>
          </a:bodyPr>
          <a:lstStyle/>
          <a:p>
            <a:pPr algn="l"/>
            <a:r>
              <a:rPr sz="1150" b="0">
                <a:solidFill>
                  <a:srgbClr val="5C5C5C"/>
                </a:solidFill>
                <a:latin typeface="에이투지체 6 SemiBold"/>
                <a:ea typeface="에이투지체 6 SemiBold"/>
                <a:cs typeface="에이투지체 6 SemiBold"/>
              </a:rPr>
              <a:t>FGO · 카무트 로켓 상품</a:t>
            </a:r>
          </a:p>
        </p:txBody>
      </p:sp>
      <p:sp>
        <p:nvSpPr>
          <p:cNvPr id="14" name="TextBox 13"/>
          <p:cNvSpPr txBox="1"/>
          <p:nvPr/>
        </p:nvSpPr>
        <p:spPr>
          <a:xfrm>
            <a:off x="548640" y="3337560"/>
            <a:ext cx="3447288" cy="365760"/>
          </a:xfrm>
          <a:prstGeom prst="rect">
            <a:avLst/>
          </a:prstGeom>
          <a:noFill/>
        </p:spPr>
        <p:txBody>
          <a:bodyPr wrap="square" lIns="0" tIns="0" rIns="0" bIns="0" anchor="t">
            <a:spAutoFit/>
          </a:bodyPr>
          <a:lstStyle/>
          <a:p>
            <a:pPr algn="l"/>
            <a:r>
              <a:rPr sz="1575" b="0">
                <a:solidFill>
                  <a:srgbClr val="222222"/>
                </a:solidFill>
                <a:latin typeface="에이투지체 6 SemiBold"/>
                <a:ea typeface="에이투지체 6 SemiBold"/>
                <a:cs typeface="에이투지체 6 SemiBold"/>
              </a:rPr>
              <a:t>구매 조건은 갖춰진 상태</a:t>
            </a:r>
          </a:p>
        </p:txBody>
      </p:sp>
      <p:sp>
        <p:nvSpPr>
          <p:cNvPr id="15" name="TextBox 14"/>
          <p:cNvSpPr txBox="1"/>
          <p:nvPr/>
        </p:nvSpPr>
        <p:spPr>
          <a:xfrm>
            <a:off x="538808" y="3794760"/>
            <a:ext cx="3447288" cy="400110"/>
          </a:xfrm>
          <a:prstGeom prst="rect">
            <a:avLst/>
          </a:prstGeom>
          <a:noFill/>
        </p:spPr>
        <p:txBody>
          <a:bodyPr wrap="square" lIns="0" tIns="0" rIns="0" bIns="0" anchor="t">
            <a:spAutoFit/>
          </a:bodyPr>
          <a:lstStyle/>
          <a:p>
            <a:pPr algn="l"/>
            <a:r>
              <a:rPr sz="1300" b="0" dirty="0" err="1">
                <a:solidFill>
                  <a:srgbClr val="5C5C5C"/>
                </a:solidFill>
                <a:latin typeface="에이투지체 4 Regular"/>
                <a:ea typeface="에이투지체 4 Regular"/>
                <a:cs typeface="에이투지체 4 Regular"/>
              </a:rPr>
              <a:t>주력</a:t>
            </a:r>
            <a:r>
              <a:rPr sz="1300" b="0" dirty="0">
                <a:solidFill>
                  <a:srgbClr val="5C5C5C"/>
                </a:solidFill>
                <a:latin typeface="에이투지체 4 Regular"/>
                <a:ea typeface="에이투지체 4 Regular"/>
                <a:cs typeface="에이투지체 4 Regular"/>
              </a:rPr>
              <a:t> </a:t>
            </a:r>
            <a:r>
              <a:rPr sz="1300" b="0" dirty="0" err="1">
                <a:solidFill>
                  <a:srgbClr val="5C5C5C"/>
                </a:solidFill>
                <a:latin typeface="에이투지체 4 Regular"/>
                <a:ea typeface="에이투지체 4 Regular"/>
                <a:cs typeface="에이투지체 4 Regular"/>
              </a:rPr>
              <a:t>상품</a:t>
            </a:r>
            <a:r>
              <a:rPr sz="1300" b="0" dirty="0">
                <a:solidFill>
                  <a:srgbClr val="5C5C5C"/>
                </a:solidFill>
                <a:latin typeface="에이투지체 4 Regular"/>
                <a:ea typeface="에이투지체 4 Regular"/>
                <a:cs typeface="에이투지체 4 Regular"/>
              </a:rPr>
              <a:t> </a:t>
            </a:r>
            <a:r>
              <a:rPr sz="1300" b="0" dirty="0" err="1">
                <a:solidFill>
                  <a:srgbClr val="5C5C5C"/>
                </a:solidFill>
                <a:latin typeface="에이투지체 4 Regular"/>
                <a:ea typeface="에이투지체 4 Regular"/>
                <a:cs typeface="에이투지체 4 Regular"/>
              </a:rPr>
              <a:t>모두</a:t>
            </a:r>
            <a:r>
              <a:rPr sz="1300" b="0" dirty="0">
                <a:solidFill>
                  <a:srgbClr val="5C5C5C"/>
                </a:solidFill>
                <a:latin typeface="에이투지체 4 Regular"/>
                <a:ea typeface="에이투지체 4 Regular"/>
                <a:cs typeface="에이투지체 4 Regular"/>
              </a:rPr>
              <a:t> </a:t>
            </a:r>
            <a:r>
              <a:rPr sz="1300" b="0" dirty="0" err="1">
                <a:solidFill>
                  <a:srgbClr val="5C5C5C"/>
                </a:solidFill>
                <a:latin typeface="에이투지체 4 Regular"/>
                <a:ea typeface="에이투지체 4 Regular"/>
                <a:cs typeface="에이투지체 4 Regular"/>
              </a:rPr>
              <a:t>로켓</a:t>
            </a:r>
            <a:r>
              <a:rPr sz="1300" b="0" dirty="0">
                <a:solidFill>
                  <a:srgbClr val="5C5C5C"/>
                </a:solidFill>
                <a:latin typeface="에이투지체 4 Regular"/>
                <a:ea typeface="에이투지체 4 Regular"/>
                <a:cs typeface="에이투지체 4 Regular"/>
              </a:rPr>
              <a:t> </a:t>
            </a:r>
            <a:r>
              <a:rPr lang="ko-KR" altLang="en-US" sz="1300" b="0" dirty="0">
                <a:solidFill>
                  <a:srgbClr val="5C5C5C"/>
                </a:solidFill>
                <a:latin typeface="에이투지체 4 Regular"/>
                <a:ea typeface="에이투지체 4 Regular"/>
                <a:cs typeface="에이투지체 4 Regular"/>
              </a:rPr>
              <a:t>배송 등록</a:t>
            </a:r>
            <a:endParaRPr sz="1300" b="0" dirty="0">
              <a:solidFill>
                <a:srgbClr val="5C5C5C"/>
              </a:solidFill>
              <a:latin typeface="에이투지체 4 Regular"/>
              <a:ea typeface="에이투지체 4 Regular"/>
              <a:cs typeface="에이투지체 4 Regular"/>
            </a:endParaRPr>
          </a:p>
          <a:p>
            <a:pPr algn="l"/>
            <a:r>
              <a:rPr sz="1300" b="0" dirty="0" err="1">
                <a:solidFill>
                  <a:srgbClr val="5C5C5C"/>
                </a:solidFill>
                <a:latin typeface="에이투지체 4 Regular"/>
                <a:ea typeface="에이투지체 4 Regular"/>
                <a:cs typeface="에이투지체 4 Regular"/>
              </a:rPr>
              <a:t>철분</a:t>
            </a:r>
            <a:r>
              <a:rPr sz="1300" b="0" dirty="0">
                <a:solidFill>
                  <a:srgbClr val="5C5C5C"/>
                </a:solidFill>
                <a:latin typeface="에이투지체 4 Regular"/>
                <a:ea typeface="에이투지체 4 Regular"/>
                <a:cs typeface="에이투지체 4 Regular"/>
              </a:rPr>
              <a:t> · </a:t>
            </a:r>
            <a:r>
              <a:rPr sz="1300" b="0" dirty="0" err="1">
                <a:solidFill>
                  <a:srgbClr val="5C5C5C"/>
                </a:solidFill>
                <a:latin typeface="에이투지체 4 Regular"/>
                <a:ea typeface="에이투지체 4 Regular"/>
                <a:cs typeface="에이투지체 4 Regular"/>
              </a:rPr>
              <a:t>유산균</a:t>
            </a:r>
            <a:r>
              <a:rPr sz="1300" b="0" dirty="0">
                <a:solidFill>
                  <a:srgbClr val="5C5C5C"/>
                </a:solidFill>
                <a:latin typeface="에이투지체 4 Regular"/>
                <a:ea typeface="에이투지체 4 Regular"/>
                <a:cs typeface="에이투지체 4 Regular"/>
              </a:rPr>
              <a:t> </a:t>
            </a:r>
            <a:r>
              <a:rPr sz="1300" b="0" dirty="0" err="1">
                <a:solidFill>
                  <a:srgbClr val="5C5C5C"/>
                </a:solidFill>
                <a:latin typeface="에이투지체 4 Regular"/>
                <a:ea typeface="에이투지체 4 Regular"/>
                <a:cs typeface="에이투지체 4 Regular"/>
              </a:rPr>
              <a:t>등도</a:t>
            </a:r>
            <a:r>
              <a:rPr sz="1300" b="0" dirty="0">
                <a:solidFill>
                  <a:srgbClr val="5C5C5C"/>
                </a:solidFill>
                <a:latin typeface="에이투지체 4 Regular"/>
                <a:ea typeface="에이투지체 4 Regular"/>
                <a:cs typeface="에이투지체 4 Regular"/>
              </a:rPr>
              <a:t> </a:t>
            </a:r>
            <a:r>
              <a:rPr sz="1300" b="0" dirty="0" err="1">
                <a:solidFill>
                  <a:srgbClr val="5C5C5C"/>
                </a:solidFill>
                <a:latin typeface="에이투지체 4 Regular"/>
                <a:ea typeface="에이투지체 4 Regular"/>
                <a:cs typeface="에이투지체 4 Regular"/>
              </a:rPr>
              <a:t>리뷰</a:t>
            </a:r>
            <a:r>
              <a:rPr sz="1300" b="0" dirty="0">
                <a:solidFill>
                  <a:srgbClr val="5C5C5C"/>
                </a:solidFill>
                <a:latin typeface="에이투지체 4 Regular"/>
                <a:ea typeface="에이투지체 4 Regular"/>
                <a:cs typeface="에이투지체 4 Regular"/>
              </a:rPr>
              <a:t> 65~588</a:t>
            </a:r>
          </a:p>
        </p:txBody>
      </p:sp>
      <p:cxnSp>
        <p:nvCxnSpPr>
          <p:cNvPr id="16" name="Connector 15"/>
          <p:cNvCxnSpPr/>
          <p:nvPr/>
        </p:nvCxnSpPr>
        <p:spPr>
          <a:xfrm>
            <a:off x="548640" y="4873752"/>
            <a:ext cx="3447288" cy="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48640" y="4983480"/>
            <a:ext cx="3447288" cy="365760"/>
          </a:xfrm>
          <a:prstGeom prst="rect">
            <a:avLst/>
          </a:prstGeom>
          <a:noFill/>
        </p:spPr>
        <p:txBody>
          <a:bodyPr wrap="square" lIns="0" tIns="0" rIns="0" bIns="0" anchor="t">
            <a:spAutoFit/>
          </a:bodyPr>
          <a:lstStyle/>
          <a:p>
            <a:pPr algn="l"/>
            <a:r>
              <a:rPr sz="1300" b="0">
                <a:solidFill>
                  <a:srgbClr val="004F9F"/>
                </a:solidFill>
                <a:latin typeface="에이투지체 6 SemiBold"/>
                <a:ea typeface="에이투지체 6 SemiBold"/>
                <a:cs typeface="에이투지체 6 SemiBold"/>
              </a:rPr>
              <a:t>광고로 넓힐 기반은 확보</a:t>
            </a:r>
          </a:p>
        </p:txBody>
      </p:sp>
      <p:sp>
        <p:nvSpPr>
          <p:cNvPr id="18" name="Rounded Rectangle 17"/>
          <p:cNvSpPr/>
          <p:nvPr/>
        </p:nvSpPr>
        <p:spPr>
          <a:xfrm>
            <a:off x="4361688" y="2103120"/>
            <a:ext cx="3447288" cy="1051560"/>
          </a:xfrm>
          <a:prstGeom prst="roundRect">
            <a:avLst>
              <a:gd name="adj" fmla="val 6956"/>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90288" y="2157984"/>
            <a:ext cx="3017520" cy="530352"/>
          </a:xfrm>
          <a:prstGeom prst="rect">
            <a:avLst/>
          </a:prstGeom>
          <a:noFill/>
        </p:spPr>
        <p:txBody>
          <a:bodyPr wrap="square" lIns="0" tIns="0" rIns="0" bIns="0" anchor="t">
            <a:spAutoFit/>
          </a:bodyPr>
          <a:lstStyle/>
          <a:p>
            <a:pPr algn="l"/>
            <a:r>
              <a:rPr sz="2800" b="0">
                <a:solidFill>
                  <a:srgbClr val="004F9F"/>
                </a:solidFill>
                <a:latin typeface="에이투지체 8 ExtraBold"/>
                <a:ea typeface="에이투지체 8 ExtraBold"/>
                <a:cs typeface="에이투지체 8 ExtraBold"/>
              </a:rPr>
              <a:t>3개 중 0</a:t>
            </a:r>
          </a:p>
        </p:txBody>
      </p:sp>
      <p:sp>
        <p:nvSpPr>
          <p:cNvPr id="20" name="TextBox 19"/>
          <p:cNvSpPr txBox="1"/>
          <p:nvPr/>
        </p:nvSpPr>
        <p:spPr>
          <a:xfrm>
            <a:off x="4590288" y="2724912"/>
            <a:ext cx="3017520" cy="320040"/>
          </a:xfrm>
          <a:prstGeom prst="rect">
            <a:avLst/>
          </a:prstGeom>
          <a:noFill/>
        </p:spPr>
        <p:txBody>
          <a:bodyPr wrap="square" lIns="0" tIns="0" rIns="0" bIns="0" anchor="t">
            <a:spAutoFit/>
          </a:bodyPr>
          <a:lstStyle/>
          <a:p>
            <a:pPr algn="l"/>
            <a:r>
              <a:rPr sz="1150" b="0">
                <a:solidFill>
                  <a:srgbClr val="5C5C5C"/>
                </a:solidFill>
                <a:latin typeface="에이투지체 6 SemiBold"/>
                <a:ea typeface="에이투지체 6 SemiBold"/>
                <a:cs typeface="에이투지체 6 SemiBold"/>
              </a:rPr>
              <a:t>대표 검색어 첫 화면 노출</a:t>
            </a:r>
          </a:p>
        </p:txBody>
      </p:sp>
      <p:sp>
        <p:nvSpPr>
          <p:cNvPr id="21" name="TextBox 20"/>
          <p:cNvSpPr txBox="1"/>
          <p:nvPr/>
        </p:nvSpPr>
        <p:spPr>
          <a:xfrm>
            <a:off x="4361688" y="3337560"/>
            <a:ext cx="3447288" cy="365760"/>
          </a:xfrm>
          <a:prstGeom prst="rect">
            <a:avLst/>
          </a:prstGeom>
          <a:noFill/>
        </p:spPr>
        <p:txBody>
          <a:bodyPr wrap="square" lIns="0" tIns="0" rIns="0" bIns="0" anchor="t">
            <a:spAutoFit/>
          </a:bodyPr>
          <a:lstStyle/>
          <a:p>
            <a:pPr algn="l"/>
            <a:r>
              <a:rPr sz="1575" b="0">
                <a:solidFill>
                  <a:srgbClr val="222222"/>
                </a:solidFill>
                <a:latin typeface="에이투지체 6 SemiBold"/>
                <a:ea typeface="에이투지체 6 SemiBold"/>
                <a:cs typeface="에이투지체 6 SemiBold"/>
              </a:rPr>
              <a:t>대표 검색어에서 보이지 않음</a:t>
            </a:r>
          </a:p>
        </p:txBody>
      </p:sp>
      <p:sp>
        <p:nvSpPr>
          <p:cNvPr id="22" name="TextBox 21"/>
          <p:cNvSpPr txBox="1"/>
          <p:nvPr/>
        </p:nvSpPr>
        <p:spPr>
          <a:xfrm>
            <a:off x="4361688" y="3794760"/>
            <a:ext cx="3447288" cy="800219"/>
          </a:xfrm>
          <a:prstGeom prst="rect">
            <a:avLst/>
          </a:prstGeom>
          <a:noFill/>
        </p:spPr>
        <p:txBody>
          <a:bodyPr wrap="square" lIns="0" tIns="0" rIns="0" bIns="0" anchor="t">
            <a:spAutoFit/>
          </a:bodyPr>
          <a:lstStyle/>
          <a:p>
            <a:r>
              <a:rPr lang="ko-KR" altLang="ko-KR" sz="1300" dirty="0">
                <a:solidFill>
                  <a:srgbClr val="5C5C5C"/>
                </a:solidFill>
                <a:latin typeface="에이투지체 4 Regular"/>
                <a:ea typeface="에이투지체 4 Regular"/>
              </a:rPr>
              <a:t>키성장영양제, </a:t>
            </a:r>
            <a:r>
              <a:rPr lang="ko-KR" altLang="ko-KR" sz="1300" dirty="0" err="1">
                <a:solidFill>
                  <a:srgbClr val="5C5C5C"/>
                </a:solidFill>
                <a:latin typeface="에이투지체 4 Regular"/>
                <a:ea typeface="에이투지체 4 Regular"/>
              </a:rPr>
              <a:t>키크는영양제</a:t>
            </a:r>
            <a:r>
              <a:rPr lang="ko-KR" altLang="ko-KR" sz="1300" dirty="0">
                <a:solidFill>
                  <a:srgbClr val="5C5C5C"/>
                </a:solidFill>
                <a:latin typeface="에이투지체 4 Regular"/>
                <a:ea typeface="에이투지체 4 Regular"/>
              </a:rPr>
              <a:t>, </a:t>
            </a:r>
            <a:r>
              <a:rPr lang="ko-KR" altLang="ko-KR" sz="1300" dirty="0" err="1">
                <a:solidFill>
                  <a:srgbClr val="5C5C5C"/>
                </a:solidFill>
                <a:latin typeface="에이투지체 4 Regular"/>
                <a:ea typeface="에이투지체 4 Regular"/>
              </a:rPr>
              <a:t>카무트효소</a:t>
            </a:r>
            <a:endParaRPr lang="ko-KR" altLang="ko-KR" sz="1300" dirty="0">
              <a:solidFill>
                <a:srgbClr val="5C5C5C"/>
              </a:solidFill>
              <a:latin typeface="에이투지체 4 Regular"/>
              <a:ea typeface="에이투지체 4 Regular"/>
            </a:endParaRPr>
          </a:p>
          <a:p>
            <a:r>
              <a:rPr lang="ko-KR" altLang="ko-KR" sz="1300" dirty="0">
                <a:solidFill>
                  <a:srgbClr val="5C5C5C"/>
                </a:solidFill>
                <a:latin typeface="에이투지체 4 Regular"/>
                <a:ea typeface="에이투지체 4 Regular"/>
              </a:rPr>
              <a:t>첫 화면에 두드림 상품 없음</a:t>
            </a:r>
          </a:p>
          <a:p>
            <a:r>
              <a:rPr lang="ko-KR" altLang="ko-KR" sz="1300" dirty="0" err="1">
                <a:solidFill>
                  <a:srgbClr val="5C5C5C"/>
                </a:solidFill>
                <a:latin typeface="에이투지체 4 Regular"/>
                <a:ea typeface="에이투지체 4 Regular"/>
              </a:rPr>
              <a:t>키움정</a:t>
            </a:r>
            <a:r>
              <a:rPr lang="ko-KR" altLang="ko-KR" sz="1300" dirty="0">
                <a:solidFill>
                  <a:srgbClr val="5C5C5C"/>
                </a:solidFill>
                <a:latin typeface="에이투지체 4 Regular"/>
                <a:ea typeface="에이투지체 4 Regular"/>
              </a:rPr>
              <a:t>, </a:t>
            </a:r>
            <a:r>
              <a:rPr lang="ko-KR" altLang="ko-KR" sz="1300" dirty="0" err="1">
                <a:solidFill>
                  <a:srgbClr val="5C5C5C"/>
                </a:solidFill>
                <a:latin typeface="에이투지체 4 Regular"/>
                <a:ea typeface="에이투지체 4 Regular"/>
              </a:rPr>
              <a:t>키앤이거</a:t>
            </a:r>
            <a:r>
              <a:rPr lang="ko-KR" altLang="ko-KR" sz="1300" dirty="0">
                <a:solidFill>
                  <a:srgbClr val="5C5C5C"/>
                </a:solidFill>
                <a:latin typeface="에이투지체 4 Regular"/>
                <a:ea typeface="에이투지체 4 Regular"/>
              </a:rPr>
              <a:t>, </a:t>
            </a:r>
            <a:r>
              <a:rPr lang="ko-KR" altLang="ko-KR" sz="1300" dirty="0" err="1">
                <a:solidFill>
                  <a:srgbClr val="5C5C5C"/>
                </a:solidFill>
                <a:latin typeface="에이투지체 4 Regular"/>
                <a:ea typeface="에이투지체 4 Regular"/>
              </a:rPr>
              <a:t>그레인온</a:t>
            </a:r>
            <a:r>
              <a:rPr lang="ko-KR" altLang="ko-KR" sz="1300" dirty="0">
                <a:solidFill>
                  <a:srgbClr val="5C5C5C"/>
                </a:solidFill>
                <a:latin typeface="에이투지체 4 Regular"/>
                <a:ea typeface="에이투지체 4 Regular"/>
              </a:rPr>
              <a:t> 등 경쟁사 광고 노출</a:t>
            </a:r>
            <a:br>
              <a:rPr lang="ko-KR" altLang="ko-KR" sz="1300" dirty="0">
                <a:solidFill>
                  <a:srgbClr val="5C5C5C"/>
                </a:solidFill>
                <a:latin typeface="에이투지체 4 Regular"/>
                <a:ea typeface="에이투지체 4 Regular"/>
              </a:rPr>
            </a:br>
            <a:endParaRPr sz="1300" dirty="0">
              <a:solidFill>
                <a:srgbClr val="5C5C5C"/>
              </a:solidFill>
              <a:latin typeface="에이투지체 4 Regular"/>
              <a:ea typeface="에이투지체 4 Regular"/>
            </a:endParaRPr>
          </a:p>
        </p:txBody>
      </p:sp>
      <p:cxnSp>
        <p:nvCxnSpPr>
          <p:cNvPr id="23" name="Connector 22"/>
          <p:cNvCxnSpPr/>
          <p:nvPr/>
        </p:nvCxnSpPr>
        <p:spPr>
          <a:xfrm>
            <a:off x="4361688" y="4873752"/>
            <a:ext cx="3447287" cy="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361688" y="4983480"/>
            <a:ext cx="3447288" cy="365760"/>
          </a:xfrm>
          <a:prstGeom prst="rect">
            <a:avLst/>
          </a:prstGeom>
          <a:noFill/>
        </p:spPr>
        <p:txBody>
          <a:bodyPr wrap="square" lIns="0" tIns="0" rIns="0" bIns="0" anchor="t">
            <a:spAutoFit/>
          </a:bodyPr>
          <a:lstStyle/>
          <a:p>
            <a:pPr algn="l"/>
            <a:r>
              <a:rPr sz="1300" b="0">
                <a:solidFill>
                  <a:srgbClr val="004F9F"/>
                </a:solidFill>
                <a:latin typeface="에이투지체 6 SemiBold"/>
                <a:ea typeface="에이투지체 6 SemiBold"/>
                <a:cs typeface="에이투지체 6 SemiBold"/>
              </a:rPr>
              <a:t>카테고리 검색 수요가 경쟁 상품에 집중</a:t>
            </a:r>
          </a:p>
        </p:txBody>
      </p:sp>
      <p:sp>
        <p:nvSpPr>
          <p:cNvPr id="25" name="Rounded Rectangle 24"/>
          <p:cNvSpPr/>
          <p:nvPr/>
        </p:nvSpPr>
        <p:spPr>
          <a:xfrm>
            <a:off x="8174736" y="2103120"/>
            <a:ext cx="3447288" cy="1051560"/>
          </a:xfrm>
          <a:prstGeom prst="roundRect">
            <a:avLst>
              <a:gd name="adj" fmla="val 6956"/>
            </a:avLst>
          </a:prstGeom>
          <a:solidFill>
            <a:srgbClr val="0E3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403336" y="2157984"/>
            <a:ext cx="3017520" cy="530352"/>
          </a:xfrm>
          <a:prstGeom prst="rect">
            <a:avLst/>
          </a:prstGeom>
          <a:noFill/>
        </p:spPr>
        <p:txBody>
          <a:bodyPr wrap="square" lIns="0" tIns="0" rIns="0" bIns="0" anchor="t">
            <a:spAutoFit/>
          </a:bodyPr>
          <a:lstStyle/>
          <a:p>
            <a:pPr algn="l"/>
            <a:r>
              <a:rPr sz="2800" b="0">
                <a:solidFill>
                  <a:srgbClr val="FFFFFF"/>
                </a:solidFill>
                <a:latin typeface="에이투지체 8 ExtraBold"/>
                <a:ea typeface="에이투지체 8 ExtraBold"/>
                <a:cs typeface="에이투지체 8 ExtraBold"/>
              </a:rPr>
              <a:t>경쟁사 광고</a:t>
            </a:r>
          </a:p>
        </p:txBody>
      </p:sp>
      <p:sp>
        <p:nvSpPr>
          <p:cNvPr id="27" name="TextBox 26"/>
          <p:cNvSpPr txBox="1"/>
          <p:nvPr/>
        </p:nvSpPr>
        <p:spPr>
          <a:xfrm>
            <a:off x="8403336" y="2724912"/>
            <a:ext cx="3017520" cy="176972"/>
          </a:xfrm>
          <a:prstGeom prst="rect">
            <a:avLst/>
          </a:prstGeom>
          <a:noFill/>
        </p:spPr>
        <p:txBody>
          <a:bodyPr wrap="square" lIns="0" tIns="0" rIns="0" bIns="0" anchor="t">
            <a:spAutoFit/>
          </a:bodyPr>
          <a:lstStyle/>
          <a:p>
            <a:pPr algn="l"/>
            <a:r>
              <a:rPr sz="1150" b="0" dirty="0" err="1">
                <a:solidFill>
                  <a:srgbClr val="C9DAEE"/>
                </a:solidFill>
                <a:latin typeface="에이투지체 6 SemiBold"/>
                <a:ea typeface="에이투지체 6 SemiBold"/>
                <a:cs typeface="에이투지체 6 SemiBold"/>
              </a:rPr>
              <a:t>자사</a:t>
            </a:r>
            <a:r>
              <a:rPr sz="1150" b="0" dirty="0">
                <a:solidFill>
                  <a:srgbClr val="C9DAEE"/>
                </a:solidFill>
                <a:latin typeface="에이투지체 6 SemiBold"/>
                <a:ea typeface="에이투지체 6 SemiBold"/>
                <a:cs typeface="에이투지체 6 SemiBold"/>
              </a:rPr>
              <a:t> </a:t>
            </a:r>
            <a:r>
              <a:rPr sz="1150" b="0" dirty="0" err="1">
                <a:solidFill>
                  <a:srgbClr val="C9DAEE"/>
                </a:solidFill>
                <a:latin typeface="에이투지체 6 SemiBold"/>
                <a:ea typeface="에이투지체 6 SemiBold"/>
                <a:cs typeface="에이투지체 6 SemiBold"/>
              </a:rPr>
              <a:t>브랜드</a:t>
            </a:r>
            <a:r>
              <a:rPr sz="1150" b="0" dirty="0">
                <a:solidFill>
                  <a:srgbClr val="C9DAEE"/>
                </a:solidFill>
                <a:latin typeface="에이투지체 6 SemiBold"/>
                <a:ea typeface="에이투지체 6 SemiBold"/>
                <a:cs typeface="에이투지체 6 SemiBold"/>
              </a:rPr>
              <a:t> </a:t>
            </a:r>
            <a:r>
              <a:rPr lang="ko-KR" altLang="en-US" sz="1150" dirty="0">
                <a:solidFill>
                  <a:srgbClr val="C9DAEE"/>
                </a:solidFill>
                <a:latin typeface="에이투지체 6 SemiBold"/>
                <a:ea typeface="에이투지체 6 SemiBold"/>
                <a:cs typeface="에이투지체 6 SemiBold"/>
              </a:rPr>
              <a:t>키워드</a:t>
            </a:r>
            <a:r>
              <a:rPr sz="1150" b="0" dirty="0">
                <a:solidFill>
                  <a:srgbClr val="C9DAEE"/>
                </a:solidFill>
                <a:latin typeface="에이투지체 6 SemiBold"/>
                <a:ea typeface="에이투지체 6 SemiBold"/>
                <a:cs typeface="에이투지체 6 SemiBold"/>
              </a:rPr>
              <a:t> </a:t>
            </a:r>
            <a:r>
              <a:rPr lang="ko-KR" altLang="en-US" sz="1150" b="0" dirty="0">
                <a:solidFill>
                  <a:srgbClr val="C9DAEE"/>
                </a:solidFill>
                <a:latin typeface="에이투지체 6 SemiBold"/>
                <a:ea typeface="에이투지체 6 SemiBold"/>
                <a:cs typeface="에이투지체 6 SemiBold"/>
              </a:rPr>
              <a:t>검색 결과</a:t>
            </a:r>
            <a:endParaRPr sz="1150" b="0" dirty="0">
              <a:solidFill>
                <a:srgbClr val="C9DAEE"/>
              </a:solidFill>
              <a:latin typeface="에이투지체 6 SemiBold"/>
              <a:ea typeface="에이투지체 6 SemiBold"/>
              <a:cs typeface="에이투지체 6 SemiBold"/>
            </a:endParaRPr>
          </a:p>
        </p:txBody>
      </p:sp>
      <p:sp>
        <p:nvSpPr>
          <p:cNvPr id="28" name="TextBox 27"/>
          <p:cNvSpPr txBox="1"/>
          <p:nvPr/>
        </p:nvSpPr>
        <p:spPr>
          <a:xfrm>
            <a:off x="8174736" y="3337560"/>
            <a:ext cx="3447288" cy="365760"/>
          </a:xfrm>
          <a:prstGeom prst="rect">
            <a:avLst/>
          </a:prstGeom>
          <a:noFill/>
        </p:spPr>
        <p:txBody>
          <a:bodyPr wrap="square" lIns="0" tIns="0" rIns="0" bIns="0" anchor="t">
            <a:spAutoFit/>
          </a:bodyPr>
          <a:lstStyle/>
          <a:p>
            <a:pPr algn="l"/>
            <a:r>
              <a:rPr sz="1575" b="0" dirty="0" err="1">
                <a:solidFill>
                  <a:srgbClr val="222222"/>
                </a:solidFill>
                <a:latin typeface="에이투지체 6 SemiBold"/>
                <a:ea typeface="에이투지체 6 SemiBold"/>
                <a:cs typeface="에이투지체 6 SemiBold"/>
              </a:rPr>
              <a:t>브랜드</a:t>
            </a:r>
            <a:r>
              <a:rPr sz="1575" b="0" dirty="0">
                <a:solidFill>
                  <a:srgbClr val="222222"/>
                </a:solidFill>
                <a:latin typeface="에이투지체 6 SemiBold"/>
                <a:ea typeface="에이투지체 6 SemiBold"/>
                <a:cs typeface="에이투지체 6 SemiBold"/>
              </a:rPr>
              <a:t> </a:t>
            </a:r>
            <a:r>
              <a:rPr sz="1575" b="0" dirty="0" err="1">
                <a:solidFill>
                  <a:srgbClr val="222222"/>
                </a:solidFill>
                <a:latin typeface="에이투지체 6 SemiBold"/>
                <a:ea typeface="에이투지체 6 SemiBold"/>
                <a:cs typeface="에이투지체 6 SemiBold"/>
              </a:rPr>
              <a:t>검색어에</a:t>
            </a:r>
            <a:r>
              <a:rPr sz="1575" b="0" dirty="0">
                <a:solidFill>
                  <a:srgbClr val="222222"/>
                </a:solidFill>
                <a:latin typeface="에이투지체 6 SemiBold"/>
                <a:ea typeface="에이투지체 6 SemiBold"/>
                <a:cs typeface="에이투지체 6 SemiBold"/>
              </a:rPr>
              <a:t> </a:t>
            </a:r>
            <a:r>
              <a:rPr sz="1575" b="0" dirty="0" err="1">
                <a:solidFill>
                  <a:srgbClr val="222222"/>
                </a:solidFill>
                <a:latin typeface="에이투지체 6 SemiBold"/>
                <a:ea typeface="에이투지체 6 SemiBold"/>
                <a:cs typeface="에이투지체 6 SemiBold"/>
              </a:rPr>
              <a:t>경쟁사</a:t>
            </a:r>
            <a:r>
              <a:rPr sz="1575" b="0" dirty="0">
                <a:solidFill>
                  <a:srgbClr val="222222"/>
                </a:solidFill>
                <a:latin typeface="에이투지체 6 SemiBold"/>
                <a:ea typeface="에이투지체 6 SemiBold"/>
                <a:cs typeface="에이투지체 6 SemiBold"/>
              </a:rPr>
              <a:t> </a:t>
            </a:r>
            <a:r>
              <a:rPr sz="1575" b="0" dirty="0" err="1">
                <a:solidFill>
                  <a:srgbClr val="222222"/>
                </a:solidFill>
                <a:latin typeface="에이투지체 6 SemiBold"/>
                <a:ea typeface="에이투지체 6 SemiBold"/>
                <a:cs typeface="에이투지체 6 SemiBold"/>
              </a:rPr>
              <a:t>광고</a:t>
            </a:r>
            <a:r>
              <a:rPr sz="1575" b="0" dirty="0">
                <a:solidFill>
                  <a:srgbClr val="222222"/>
                </a:solidFill>
                <a:latin typeface="에이투지체 6 SemiBold"/>
                <a:ea typeface="에이투지체 6 SemiBold"/>
                <a:cs typeface="에이투지체 6 SemiBold"/>
              </a:rPr>
              <a:t> </a:t>
            </a:r>
            <a:r>
              <a:rPr sz="1575" b="0" dirty="0" err="1">
                <a:solidFill>
                  <a:srgbClr val="222222"/>
                </a:solidFill>
                <a:latin typeface="에이투지체 6 SemiBold"/>
                <a:ea typeface="에이투지체 6 SemiBold"/>
                <a:cs typeface="에이투지체 6 SemiBold"/>
              </a:rPr>
              <a:t>노출</a:t>
            </a:r>
            <a:endParaRPr sz="1575" b="0" dirty="0">
              <a:solidFill>
                <a:srgbClr val="222222"/>
              </a:solidFill>
              <a:latin typeface="에이투지체 6 SemiBold"/>
              <a:ea typeface="에이투지체 6 SemiBold"/>
              <a:cs typeface="에이투지체 6 SemiBold"/>
            </a:endParaRPr>
          </a:p>
        </p:txBody>
      </p:sp>
      <p:sp>
        <p:nvSpPr>
          <p:cNvPr id="29" name="TextBox 28"/>
          <p:cNvSpPr txBox="1"/>
          <p:nvPr/>
        </p:nvSpPr>
        <p:spPr>
          <a:xfrm>
            <a:off x="8174736" y="3794760"/>
            <a:ext cx="3447288" cy="800219"/>
          </a:xfrm>
          <a:prstGeom prst="rect">
            <a:avLst/>
          </a:prstGeom>
          <a:noFill/>
        </p:spPr>
        <p:txBody>
          <a:bodyPr wrap="square" lIns="0" tIns="0" rIns="0" bIns="0" anchor="t">
            <a:spAutoFit/>
          </a:bodyPr>
          <a:lstStyle/>
          <a:p>
            <a:r>
              <a:rPr lang="ko-KR" altLang="ko-KR" sz="1300" dirty="0" err="1">
                <a:solidFill>
                  <a:srgbClr val="5C5C5C"/>
                </a:solidFill>
                <a:latin typeface="에이투지체 4 Regular"/>
                <a:ea typeface="에이투지체 4 Regular"/>
              </a:rPr>
              <a:t>아이클타임</a:t>
            </a:r>
            <a:r>
              <a:rPr lang="ko-KR" altLang="ko-KR" sz="1300" dirty="0">
                <a:solidFill>
                  <a:srgbClr val="5C5C5C"/>
                </a:solidFill>
                <a:latin typeface="에이투지체 4 Regular"/>
                <a:ea typeface="에이투지체 4 Regular"/>
              </a:rPr>
              <a:t> 검색 첫 줄에 경쟁사가 광고</a:t>
            </a:r>
          </a:p>
          <a:p>
            <a:r>
              <a:rPr lang="ko-KR" altLang="ko-KR" sz="1300" dirty="0">
                <a:solidFill>
                  <a:srgbClr val="5C5C5C"/>
                </a:solidFill>
                <a:latin typeface="에이투지체 4 Regular"/>
                <a:ea typeface="에이투지체 4 Regular"/>
              </a:rPr>
              <a:t>반대로 경쟁사 브랜드 검색 결과에는</a:t>
            </a:r>
          </a:p>
          <a:p>
            <a:r>
              <a:rPr lang="ko-KR" altLang="ko-KR" sz="1300" dirty="0">
                <a:solidFill>
                  <a:srgbClr val="5C5C5C"/>
                </a:solidFill>
                <a:latin typeface="에이투지체 4 Regular"/>
                <a:ea typeface="에이투지체 4 Regular"/>
              </a:rPr>
              <a:t>두드림 노출 없음</a:t>
            </a:r>
            <a:br>
              <a:rPr lang="ko-KR" altLang="ko-KR" sz="1300" dirty="0">
                <a:solidFill>
                  <a:srgbClr val="5C5C5C"/>
                </a:solidFill>
                <a:latin typeface="에이투지체 4 Regular"/>
                <a:ea typeface="에이투지체 4 Regular"/>
              </a:rPr>
            </a:br>
            <a:endParaRPr sz="1300" dirty="0">
              <a:solidFill>
                <a:srgbClr val="5C5C5C"/>
              </a:solidFill>
              <a:latin typeface="에이투지체 4 Regular"/>
              <a:ea typeface="에이투지체 4 Regular"/>
            </a:endParaRPr>
          </a:p>
        </p:txBody>
      </p:sp>
      <p:cxnSp>
        <p:nvCxnSpPr>
          <p:cNvPr id="30" name="Connector 29"/>
          <p:cNvCxnSpPr/>
          <p:nvPr/>
        </p:nvCxnSpPr>
        <p:spPr>
          <a:xfrm>
            <a:off x="8174736" y="4873752"/>
            <a:ext cx="3447288" cy="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174736" y="4983480"/>
            <a:ext cx="3447288" cy="365760"/>
          </a:xfrm>
          <a:prstGeom prst="rect">
            <a:avLst/>
          </a:prstGeom>
          <a:noFill/>
        </p:spPr>
        <p:txBody>
          <a:bodyPr wrap="square" lIns="0" tIns="0" rIns="0" bIns="0" anchor="t">
            <a:spAutoFit/>
          </a:bodyPr>
          <a:lstStyle/>
          <a:p>
            <a:pPr algn="l"/>
            <a:r>
              <a:rPr sz="1300" b="0">
                <a:solidFill>
                  <a:srgbClr val="004F9F"/>
                </a:solidFill>
                <a:latin typeface="에이투지체 6 SemiBold"/>
                <a:ea typeface="에이투지체 6 SemiBold"/>
                <a:cs typeface="에이투지체 6 SemiBold"/>
              </a:rPr>
              <a:t>검색어별 운영 구조 정리 필요</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ctr"/>
          <a:lstStyle/>
          <a:p>
            <a:pPr algn="l"/>
            <a:r>
              <a:rPr sz="900" b="0" spc="100">
                <a:solidFill>
                  <a:srgbClr val="004F9F"/>
                </a:solidFill>
                <a:latin typeface="에이투지체 6 SemiBold"/>
                <a:ea typeface="에이투지체 6 SemiBold"/>
                <a:cs typeface="에이투지체 6 SemiBold"/>
              </a:rPr>
              <a:t>PART 2 · 11월 마케팅 전략 · 미디어믹스</a:t>
            </a:r>
          </a:p>
        </p:txBody>
      </p:sp>
      <p:sp>
        <p:nvSpPr>
          <p:cNvPr id="3" name="TextBox 2"/>
          <p:cNvSpPr txBox="1"/>
          <p:nvPr/>
        </p:nvSpPr>
        <p:spPr>
          <a:xfrm>
            <a:off x="548640" y="658368"/>
            <a:ext cx="11064240" cy="868680"/>
          </a:xfrm>
          <a:prstGeom prst="rect">
            <a:avLst/>
          </a:prstGeom>
          <a:noFill/>
        </p:spPr>
        <p:txBody>
          <a:bodyPr wrap="square" lIns="0" tIns="0" rIns="0" bIns="0" anchor="ctr"/>
          <a:lstStyle/>
          <a:p>
            <a:pPr>
              <a:lnSpc>
                <a:spcPts val="2600"/>
              </a:lnSpc>
            </a:pPr>
            <a:r>
              <a:rPr sz="1900" b="0" dirty="0" err="1">
                <a:solidFill>
                  <a:srgbClr val="FFFFFF"/>
                </a:solidFill>
                <a:highlight>
                  <a:srgbClr val="0000FF"/>
                </a:highlight>
                <a:latin typeface="에이투지체 8 ExtraBold"/>
                <a:ea typeface="에이투지체 8 ExtraBold"/>
                <a:cs typeface="에이투지체 8 ExtraBold"/>
              </a:rPr>
              <a:t>아이클타임</a:t>
            </a:r>
            <a:r>
              <a:rPr sz="1900" b="0" dirty="0">
                <a:solidFill>
                  <a:srgbClr val="FFFFFF"/>
                </a:solidFill>
                <a:highlight>
                  <a:srgbClr val="0000FF"/>
                </a:highlight>
                <a:latin typeface="에이투지체 8 ExtraBold"/>
                <a:ea typeface="에이투지체 8 ExtraBold"/>
                <a:cs typeface="에이투지체 8 ExtraBold"/>
              </a:rPr>
              <a:t> </a:t>
            </a:r>
            <a:r>
              <a:rPr sz="1900" b="0" dirty="0" err="1">
                <a:solidFill>
                  <a:srgbClr val="FFFFFF"/>
                </a:solidFill>
                <a:highlight>
                  <a:srgbClr val="0000FF"/>
                </a:highlight>
                <a:latin typeface="에이투지체 8 ExtraBold"/>
                <a:ea typeface="에이투지체 8 ExtraBold"/>
                <a:cs typeface="에이투지체 8 ExtraBold"/>
              </a:rPr>
              <a:t>검색</a:t>
            </a:r>
            <a:r>
              <a:rPr sz="1900" b="0" dirty="0">
                <a:solidFill>
                  <a:srgbClr val="FFFFFF"/>
                </a:solidFill>
                <a:highlight>
                  <a:srgbClr val="0000FF"/>
                </a:highlight>
                <a:latin typeface="에이투지체 8 ExtraBold"/>
                <a:ea typeface="에이투지체 8 ExtraBold"/>
                <a:cs typeface="에이투지체 8 ExtraBold"/>
              </a:rPr>
              <a:t> </a:t>
            </a:r>
            <a:r>
              <a:rPr sz="1900" b="0" dirty="0" err="1">
                <a:solidFill>
                  <a:srgbClr val="FFFFFF"/>
                </a:solidFill>
                <a:highlight>
                  <a:srgbClr val="0000FF"/>
                </a:highlight>
                <a:latin typeface="에이투지체 8 ExtraBold"/>
                <a:ea typeface="에이투지체 8 ExtraBold"/>
                <a:cs typeface="에이투지체 8 ExtraBold"/>
              </a:rPr>
              <a:t>결과에</a:t>
            </a:r>
            <a:r>
              <a:rPr sz="1900" b="0" dirty="0">
                <a:solidFill>
                  <a:srgbClr val="FFFFFF"/>
                </a:solidFill>
                <a:highlight>
                  <a:srgbClr val="0000FF"/>
                </a:highlight>
                <a:latin typeface="에이투지체 8 ExtraBold"/>
                <a:ea typeface="에이투지체 8 ExtraBold"/>
                <a:cs typeface="에이투지체 8 ExtraBold"/>
              </a:rPr>
              <a:t> </a:t>
            </a:r>
            <a:r>
              <a:rPr sz="1900" b="0" dirty="0" err="1">
                <a:solidFill>
                  <a:srgbClr val="FFFFFF"/>
                </a:solidFill>
                <a:highlight>
                  <a:srgbClr val="0000FF"/>
                </a:highlight>
                <a:latin typeface="에이투지체 8 ExtraBold"/>
                <a:ea typeface="에이투지체 8 ExtraBold"/>
                <a:cs typeface="에이투지체 8 ExtraBold"/>
              </a:rPr>
              <a:t>경쟁사</a:t>
            </a:r>
            <a:r>
              <a:rPr sz="1900" b="0" dirty="0">
                <a:solidFill>
                  <a:srgbClr val="FFFFFF"/>
                </a:solidFill>
                <a:highlight>
                  <a:srgbClr val="0000FF"/>
                </a:highlight>
                <a:latin typeface="에이투지체 8 ExtraBold"/>
                <a:ea typeface="에이투지체 8 ExtraBold"/>
                <a:cs typeface="에이투지체 8 ExtraBold"/>
              </a:rPr>
              <a:t> </a:t>
            </a:r>
            <a:r>
              <a:rPr sz="1900" b="0" dirty="0" err="1">
                <a:solidFill>
                  <a:srgbClr val="FFFFFF"/>
                </a:solidFill>
                <a:highlight>
                  <a:srgbClr val="0000FF"/>
                </a:highlight>
                <a:latin typeface="에이투지체 8 ExtraBold"/>
                <a:ea typeface="에이투지체 8 ExtraBold"/>
                <a:cs typeface="에이투지체 8 ExtraBold"/>
              </a:rPr>
              <a:t>광고가</a:t>
            </a:r>
            <a:r>
              <a:rPr sz="1900" b="0" dirty="0">
                <a:solidFill>
                  <a:srgbClr val="FFFFFF"/>
                </a:solidFill>
                <a:highlight>
                  <a:srgbClr val="0000FF"/>
                </a:highlight>
                <a:latin typeface="에이투지체 8 ExtraBold"/>
                <a:ea typeface="에이투지체 8 ExtraBold"/>
                <a:cs typeface="에이투지체 8 ExtraBold"/>
              </a:rPr>
              <a:t> </a:t>
            </a:r>
            <a:r>
              <a:rPr sz="1900" b="0" dirty="0" err="1">
                <a:solidFill>
                  <a:srgbClr val="FFFFFF"/>
                </a:solidFill>
                <a:highlight>
                  <a:srgbClr val="0000FF"/>
                </a:highlight>
                <a:latin typeface="에이투지체 8 ExtraBold"/>
                <a:ea typeface="에이투지체 8 ExtraBold"/>
                <a:cs typeface="에이투지체 8 ExtraBold"/>
              </a:rPr>
              <a:t>나오고</a:t>
            </a:r>
            <a:endParaRPr sz="1900" b="0" dirty="0">
              <a:solidFill>
                <a:srgbClr val="FFFFFF"/>
              </a:solidFill>
              <a:highlight>
                <a:srgbClr val="0000FF"/>
              </a:highlight>
              <a:latin typeface="에이투지체 8 ExtraBold"/>
              <a:ea typeface="에이투지체 8 ExtraBold"/>
              <a:cs typeface="에이투지체 8 ExtraBold"/>
            </a:endParaRPr>
          </a:p>
          <a:p>
            <a:pPr>
              <a:lnSpc>
                <a:spcPts val="2600"/>
              </a:lnSpc>
            </a:pPr>
            <a:r>
              <a:rPr sz="1900" b="0" dirty="0" err="1">
                <a:solidFill>
                  <a:srgbClr val="222222"/>
                </a:solidFill>
                <a:latin typeface="에이투지체 8 ExtraBold"/>
                <a:ea typeface="에이투지체 8 ExtraBold"/>
                <a:cs typeface="에이투지체 8 ExtraBold"/>
              </a:rPr>
              <a:t>경쟁사</a:t>
            </a:r>
            <a:r>
              <a:rPr sz="1900" b="0" dirty="0">
                <a:solidFill>
                  <a:srgbClr val="222222"/>
                </a:solidFill>
                <a:latin typeface="에이투지체 8 ExtraBold"/>
                <a:ea typeface="에이투지체 8 ExtraBold"/>
                <a:cs typeface="에이투지체 8 ExtraBold"/>
              </a:rPr>
              <a:t> </a:t>
            </a:r>
            <a:r>
              <a:rPr sz="1900" b="0" dirty="0" err="1">
                <a:solidFill>
                  <a:srgbClr val="222222"/>
                </a:solidFill>
                <a:latin typeface="에이투지체 8 ExtraBold"/>
                <a:ea typeface="에이투지체 8 ExtraBold"/>
                <a:cs typeface="에이투지체 8 ExtraBold"/>
              </a:rPr>
              <a:t>브랜드</a:t>
            </a:r>
            <a:r>
              <a:rPr sz="1900" b="0" dirty="0">
                <a:solidFill>
                  <a:srgbClr val="222222"/>
                </a:solidFill>
                <a:latin typeface="에이투지체 8 ExtraBold"/>
                <a:ea typeface="에이투지체 8 ExtraBold"/>
                <a:cs typeface="에이투지체 8 ExtraBold"/>
              </a:rPr>
              <a:t> </a:t>
            </a:r>
            <a:r>
              <a:rPr sz="1900" b="0" dirty="0" err="1">
                <a:solidFill>
                  <a:srgbClr val="222222"/>
                </a:solidFill>
                <a:latin typeface="에이투지체 8 ExtraBold"/>
                <a:ea typeface="에이투지체 8 ExtraBold"/>
                <a:cs typeface="에이투지체 8 ExtraBold"/>
              </a:rPr>
              <a:t>검색</a:t>
            </a:r>
            <a:r>
              <a:rPr sz="1900" b="0" dirty="0">
                <a:solidFill>
                  <a:srgbClr val="222222"/>
                </a:solidFill>
                <a:latin typeface="에이투지체 8 ExtraBold"/>
                <a:ea typeface="에이투지체 8 ExtraBold"/>
                <a:cs typeface="에이투지체 8 ExtraBold"/>
              </a:rPr>
              <a:t> </a:t>
            </a:r>
            <a:r>
              <a:rPr sz="1900" b="0" dirty="0" err="1">
                <a:solidFill>
                  <a:srgbClr val="222222"/>
                </a:solidFill>
                <a:latin typeface="에이투지체 8 ExtraBold"/>
                <a:ea typeface="에이투지체 8 ExtraBold"/>
                <a:cs typeface="에이투지체 8 ExtraBold"/>
              </a:rPr>
              <a:t>결과에는</a:t>
            </a:r>
            <a:r>
              <a:rPr sz="1900" b="0" dirty="0">
                <a:solidFill>
                  <a:srgbClr val="222222"/>
                </a:solidFill>
                <a:latin typeface="에이투지체 8 ExtraBold"/>
                <a:ea typeface="에이투지체 8 ExtraBold"/>
                <a:cs typeface="에이투지체 8 ExtraBold"/>
              </a:rPr>
              <a:t> </a:t>
            </a:r>
            <a:r>
              <a:rPr sz="1900" b="0" dirty="0" err="1">
                <a:solidFill>
                  <a:srgbClr val="222222"/>
                </a:solidFill>
                <a:latin typeface="에이투지체 8 ExtraBold"/>
                <a:ea typeface="에이투지체 8 ExtraBold"/>
                <a:cs typeface="에이투지체 8 ExtraBold"/>
              </a:rPr>
              <a:t>두드림</a:t>
            </a:r>
            <a:r>
              <a:rPr sz="1900" b="0" dirty="0">
                <a:solidFill>
                  <a:srgbClr val="222222"/>
                </a:solidFill>
                <a:latin typeface="에이투지체 8 ExtraBold"/>
                <a:ea typeface="에이투지체 8 ExtraBold"/>
                <a:cs typeface="에이투지체 8 ExtraBold"/>
              </a:rPr>
              <a:t> </a:t>
            </a:r>
            <a:r>
              <a:rPr sz="1900" b="0" dirty="0" err="1">
                <a:solidFill>
                  <a:srgbClr val="222222"/>
                </a:solidFill>
                <a:latin typeface="에이투지체 8 ExtraBold"/>
                <a:ea typeface="에이투지체 8 ExtraBold"/>
                <a:cs typeface="에이투지체 8 ExtraBold"/>
              </a:rPr>
              <a:t>상품이</a:t>
            </a:r>
            <a:r>
              <a:rPr sz="1900" b="0" dirty="0">
                <a:solidFill>
                  <a:srgbClr val="222222"/>
                </a:solidFill>
                <a:latin typeface="에이투지체 8 ExtraBold"/>
                <a:ea typeface="에이투지체 8 ExtraBold"/>
                <a:cs typeface="에이투지체 8 ExtraBold"/>
              </a:rPr>
              <a:t> </a:t>
            </a:r>
            <a:r>
              <a:rPr sz="1900" b="0" dirty="0" err="1">
                <a:solidFill>
                  <a:srgbClr val="222222"/>
                </a:solidFill>
                <a:latin typeface="에이투지체 8 ExtraBold"/>
                <a:ea typeface="에이투지체 8 ExtraBold"/>
                <a:cs typeface="에이투지체 8 ExtraBold"/>
              </a:rPr>
              <a:t>없습니다</a:t>
            </a:r>
            <a:endParaRPr sz="1900" b="0" dirty="0">
              <a:solidFill>
                <a:srgbClr val="222222"/>
              </a:solidFill>
              <a:latin typeface="에이투지체 8 ExtraBold"/>
              <a:ea typeface="에이투지체 8 ExtraBold"/>
              <a:cs typeface="에이투지체 8 ExtraBold"/>
            </a:endParaRPr>
          </a:p>
        </p:txBody>
      </p:sp>
      <p:sp>
        <p:nvSpPr>
          <p:cNvPr id="4" name="TextBox 3"/>
          <p:cNvSpPr txBox="1"/>
          <p:nvPr/>
        </p:nvSpPr>
        <p:spPr>
          <a:xfrm>
            <a:off x="548640" y="1517904"/>
            <a:ext cx="11064240" cy="365760"/>
          </a:xfrm>
          <a:prstGeom prst="rect">
            <a:avLst/>
          </a:prstGeom>
          <a:noFill/>
        </p:spPr>
        <p:txBody>
          <a:bodyPr wrap="square" lIns="0" tIns="0" rIns="0" bIns="0" anchor="ctr"/>
          <a:lstStyle/>
          <a:p>
            <a:pPr algn="l"/>
            <a:r>
              <a:rPr sz="1100" b="0" dirty="0" err="1">
                <a:solidFill>
                  <a:srgbClr val="5C5C5C"/>
                </a:solidFill>
                <a:latin typeface="에이투지체 5 Medium"/>
                <a:ea typeface="에이투지체 5 Medium"/>
                <a:cs typeface="에이투지체 5 Medium"/>
              </a:rPr>
              <a:t>쿠팡</a:t>
            </a:r>
            <a:r>
              <a:rPr sz="1100" b="0" dirty="0">
                <a:solidFill>
                  <a:srgbClr val="5C5C5C"/>
                </a:solidFill>
                <a:latin typeface="에이투지체 5 Medium"/>
                <a:ea typeface="에이투지체 5 Medium"/>
                <a:cs typeface="에이투지체 5 Medium"/>
              </a:rPr>
              <a:t> </a:t>
            </a:r>
            <a:r>
              <a:rPr sz="1100" b="0" dirty="0" err="1">
                <a:solidFill>
                  <a:srgbClr val="5C5C5C"/>
                </a:solidFill>
                <a:latin typeface="에이투지체 5 Medium"/>
                <a:ea typeface="에이투지체 5 Medium"/>
                <a:cs typeface="에이투지체 5 Medium"/>
              </a:rPr>
              <a:t>현황</a:t>
            </a:r>
            <a:r>
              <a:rPr sz="1100" b="0" dirty="0">
                <a:solidFill>
                  <a:srgbClr val="5C5C5C"/>
                </a:solidFill>
                <a:latin typeface="에이투지체 5 Medium"/>
                <a:ea typeface="에이투지체 5 Medium"/>
                <a:cs typeface="에이투지체 5 Medium"/>
              </a:rPr>
              <a:t> </a:t>
            </a:r>
            <a:r>
              <a:rPr sz="1100" b="0" dirty="0" err="1">
                <a:solidFill>
                  <a:srgbClr val="5C5C5C"/>
                </a:solidFill>
                <a:latin typeface="에이투지체 5 Medium"/>
                <a:ea typeface="에이투지체 5 Medium"/>
                <a:cs typeface="에이투지체 5 Medium"/>
              </a:rPr>
              <a:t>진단</a:t>
            </a:r>
            <a:r>
              <a:rPr sz="1100" b="0" dirty="0">
                <a:solidFill>
                  <a:srgbClr val="5C5C5C"/>
                </a:solidFill>
                <a:latin typeface="에이투지체 5 Medium"/>
                <a:ea typeface="에이투지체 5 Medium"/>
                <a:cs typeface="에이투지체 5 Medium"/>
              </a:rPr>
              <a:t> ②  </a:t>
            </a:r>
            <a:r>
              <a:rPr sz="1100" b="0" dirty="0" err="1">
                <a:solidFill>
                  <a:srgbClr val="5C5C5C"/>
                </a:solidFill>
                <a:latin typeface="에이투지체 5 Medium"/>
                <a:ea typeface="에이투지체 5 Medium"/>
                <a:cs typeface="에이투지체 5 Medium"/>
              </a:rPr>
              <a:t>브랜드</a:t>
            </a:r>
            <a:r>
              <a:rPr sz="1100" b="0" dirty="0">
                <a:solidFill>
                  <a:srgbClr val="5C5C5C"/>
                </a:solidFill>
                <a:latin typeface="에이투지체 5 Medium"/>
                <a:ea typeface="에이투지체 5 Medium"/>
                <a:cs typeface="에이투지체 5 Medium"/>
              </a:rPr>
              <a:t> </a:t>
            </a:r>
            <a:r>
              <a:rPr sz="1100" b="0" dirty="0" err="1">
                <a:solidFill>
                  <a:srgbClr val="5C5C5C"/>
                </a:solidFill>
                <a:latin typeface="에이투지체 5 Medium"/>
                <a:ea typeface="에이투지체 5 Medium"/>
                <a:cs typeface="에이투지체 5 Medium"/>
              </a:rPr>
              <a:t>검색어</a:t>
            </a:r>
            <a:endParaRPr sz="1100" b="0" dirty="0">
              <a:solidFill>
                <a:srgbClr val="5C5C5C"/>
              </a:solidFill>
              <a:latin typeface="에이투지체 5 Medium"/>
              <a:ea typeface="에이투지체 5 Medium"/>
              <a:cs typeface="에이투지체 5 Medium"/>
            </a:endParaRPr>
          </a:p>
        </p:txBody>
      </p:sp>
      <p:sp>
        <p:nvSpPr>
          <p:cNvPr id="5" name="Rounded Rectangle 4"/>
          <p:cNvSpPr/>
          <p:nvPr/>
        </p:nvSpPr>
        <p:spPr>
          <a:xfrm>
            <a:off x="548640" y="5577840"/>
            <a:ext cx="11064240" cy="438912"/>
          </a:xfrm>
          <a:prstGeom prst="roundRect">
            <a:avLst>
              <a:gd name="adj" fmla="val 16666"/>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 y="5632704"/>
            <a:ext cx="10671048" cy="347472"/>
          </a:xfrm>
          <a:prstGeom prst="rect">
            <a:avLst/>
          </a:prstGeom>
          <a:noFill/>
        </p:spPr>
        <p:txBody>
          <a:bodyPr wrap="square" lIns="0" tIns="0" rIns="0" bIns="0" anchor="ctr">
            <a:spAutoFit/>
          </a:bodyPr>
          <a:lstStyle/>
          <a:p>
            <a:pPr algn="l"/>
            <a:r>
              <a:rPr sz="1350" b="0">
                <a:solidFill>
                  <a:srgbClr val="004F9F"/>
                </a:solidFill>
                <a:latin typeface="에이투지체 6 SemiBold"/>
                <a:ea typeface="에이투지체 6 SemiBold"/>
                <a:cs typeface="에이투지체 6 SemiBold"/>
              </a:rPr>
              <a:t>브랜드 검색어 광고를 유지하면서, 경쟁사 브랜드 검색어도 제외하지 않고 성과를 보겠습니다</a:t>
            </a:r>
          </a:p>
        </p:txBody>
      </p:sp>
      <p:sp>
        <p:nvSpPr>
          <p:cNvPr id="7" name="TextBox 6"/>
          <p:cNvSpPr txBox="1"/>
          <p:nvPr/>
        </p:nvSpPr>
        <p:spPr>
          <a:xfrm>
            <a:off x="548640" y="6089904"/>
            <a:ext cx="11064240" cy="274320"/>
          </a:xfrm>
          <a:prstGeom prst="rect">
            <a:avLst/>
          </a:prstGeom>
          <a:noFill/>
        </p:spPr>
        <p:txBody>
          <a:bodyPr wrap="square" lIns="0" tIns="0" rIns="0" bIns="0" anchor="t">
            <a:spAutoFit/>
          </a:bodyPr>
          <a:lstStyle/>
          <a:p>
            <a:pPr algn="l"/>
            <a:r>
              <a:rPr sz="850" b="0">
                <a:solidFill>
                  <a:srgbClr val="919191"/>
                </a:solidFill>
                <a:latin typeface="에이투지체 3 Light"/>
                <a:ea typeface="에이투지체 3 Light"/>
                <a:cs typeface="에이투지체 3 Light"/>
              </a:rPr>
              <a:t>2026.10.13 쿠팡 PC 검색 화면 기준 (비로그인). 검색 결과는 새로고침, 사용자별로 달라짐</a:t>
            </a:r>
          </a:p>
        </p:txBody>
      </p:sp>
      <p:sp>
        <p:nvSpPr>
          <p:cNvPr id="8" name="TextBox 7"/>
          <p:cNvSpPr txBox="1"/>
          <p:nvPr/>
        </p:nvSpPr>
        <p:spPr>
          <a:xfrm>
            <a:off x="548640" y="6473952"/>
            <a:ext cx="4206240" cy="274320"/>
          </a:xfrm>
          <a:prstGeom prst="rect">
            <a:avLst/>
          </a:prstGeom>
          <a:noFill/>
        </p:spPr>
        <p:txBody>
          <a:bodyPr wrap="square" lIns="0" tIns="0" rIns="0" bIns="0" anchor="t">
            <a:spAutoFit/>
          </a:bodyPr>
          <a:lstStyle/>
          <a:p>
            <a:pPr algn="l"/>
            <a:r>
              <a:rPr sz="800" b="0">
                <a:solidFill>
                  <a:srgbClr val="919191"/>
                </a:solidFill>
                <a:latin typeface="에이투지체 3 Light"/>
                <a:ea typeface="에이투지체 3 Light"/>
                <a:cs typeface="에이투지체 3 Light"/>
              </a:rPr>
              <a:t>DODREAM B&amp;B AD PROPOSAL · 2026</a:t>
            </a:r>
          </a:p>
        </p:txBody>
      </p:sp>
      <p:sp>
        <p:nvSpPr>
          <p:cNvPr id="9" name="TextBox 8"/>
          <p:cNvSpPr txBox="1"/>
          <p:nvPr/>
        </p:nvSpPr>
        <p:spPr>
          <a:xfrm>
            <a:off x="8138160" y="6473952"/>
            <a:ext cx="3017520" cy="274320"/>
          </a:xfrm>
          <a:prstGeom prst="rect">
            <a:avLst/>
          </a:prstGeom>
          <a:noFill/>
        </p:spPr>
        <p:txBody>
          <a:bodyPr wrap="square" lIns="0" tIns="0" rIns="0" bIns="0" anchor="t">
            <a:spAutoFit/>
          </a:bodyPr>
          <a:lstStyle/>
          <a:p>
            <a:pPr algn="r"/>
            <a:r>
              <a:rPr sz="800" b="0">
                <a:solidFill>
                  <a:srgbClr val="919191"/>
                </a:solidFill>
                <a:latin typeface="에이투지체 3 Light"/>
                <a:ea typeface="에이투지체 3 Light"/>
                <a:cs typeface="에이투지체 3 Light"/>
              </a:rPr>
              <a:t>LINKPRICE · BRAND AD CENTER</a:t>
            </a:r>
          </a:p>
        </p:txBody>
      </p:sp>
      <p:sp>
        <p:nvSpPr>
          <p:cNvPr id="10" name="TextBox 9"/>
          <p:cNvSpPr txBox="1"/>
          <p:nvPr/>
        </p:nvSpPr>
        <p:spPr>
          <a:xfrm>
            <a:off x="11292840" y="6473952"/>
            <a:ext cx="365760" cy="274320"/>
          </a:xfrm>
          <a:prstGeom prst="rect">
            <a:avLst/>
          </a:prstGeom>
          <a:noFill/>
        </p:spPr>
        <p:txBody>
          <a:bodyPr wrap="square" lIns="0" tIns="0" rIns="0" bIns="0" anchor="t">
            <a:spAutoFit/>
          </a:bodyPr>
          <a:lstStyle/>
          <a:p>
            <a:pPr algn="r"/>
            <a:r>
              <a:rPr sz="800" b="0">
                <a:solidFill>
                  <a:srgbClr val="222222"/>
                </a:solidFill>
                <a:latin typeface="에이투지체 6 SemiBold"/>
                <a:ea typeface="에이투지체 6 SemiBold"/>
                <a:cs typeface="에이투지체 6 SemiBold"/>
              </a:rPr>
              <a:t>34</a:t>
            </a:r>
          </a:p>
        </p:txBody>
      </p:sp>
      <p:sp>
        <p:nvSpPr>
          <p:cNvPr id="11" name="TextBox 10"/>
          <p:cNvSpPr txBox="1"/>
          <p:nvPr/>
        </p:nvSpPr>
        <p:spPr>
          <a:xfrm>
            <a:off x="548640" y="1993392"/>
            <a:ext cx="5760720" cy="292608"/>
          </a:xfrm>
          <a:prstGeom prst="rect">
            <a:avLst/>
          </a:prstGeom>
          <a:noFill/>
        </p:spPr>
        <p:txBody>
          <a:bodyPr wrap="square" lIns="0" tIns="0" rIns="0" bIns="0" anchor="t">
            <a:spAutoFit/>
          </a:bodyPr>
          <a:lstStyle/>
          <a:p>
            <a:pPr algn="l"/>
            <a:r>
              <a:rPr sz="1250" b="0">
                <a:solidFill>
                  <a:srgbClr val="004F9F"/>
                </a:solidFill>
                <a:latin typeface="에이투지체 8 ExtraBold"/>
                <a:ea typeface="에이투지체 8 ExtraBold"/>
                <a:cs typeface="에이투지체 8 ExtraBold"/>
              </a:rPr>
              <a:t>자사 브랜드  </a:t>
            </a:r>
            <a:r>
              <a:rPr sz="1250" b="0">
                <a:solidFill>
                  <a:srgbClr val="222222"/>
                </a:solidFill>
                <a:latin typeface="에이투지체 6 SemiBold"/>
                <a:ea typeface="에이투지체 6 SemiBold"/>
                <a:cs typeface="에이투지체 6 SemiBold"/>
              </a:rPr>
              <a:t>"아이클타임" 검색 결과, 첫 줄에 키움정 광고</a:t>
            </a:r>
          </a:p>
        </p:txBody>
      </p:sp>
      <p:pic>
        <p:nvPicPr>
          <p:cNvPr id="12" name="Picture 11" descr="aicle.png"/>
          <p:cNvPicPr>
            <a:picLocks noChangeAspect="1"/>
          </p:cNvPicPr>
          <p:nvPr/>
        </p:nvPicPr>
        <p:blipFill>
          <a:blip r:embed="rId2"/>
          <a:stretch>
            <a:fillRect/>
          </a:stretch>
        </p:blipFill>
        <p:spPr>
          <a:xfrm>
            <a:off x="548640" y="2331720"/>
            <a:ext cx="5760720" cy="3174136"/>
          </a:xfrm>
          <a:prstGeom prst="rect">
            <a:avLst/>
          </a:prstGeom>
          <a:ln w="9525">
            <a:solidFill>
              <a:srgbClr val="DDDDDD"/>
            </a:solidFill>
          </a:ln>
        </p:spPr>
      </p:pic>
      <p:sp>
        <p:nvSpPr>
          <p:cNvPr id="13" name="TextBox 12"/>
          <p:cNvSpPr txBox="1"/>
          <p:nvPr/>
        </p:nvSpPr>
        <p:spPr>
          <a:xfrm>
            <a:off x="6583680" y="1993392"/>
            <a:ext cx="5029200" cy="292608"/>
          </a:xfrm>
          <a:prstGeom prst="rect">
            <a:avLst/>
          </a:prstGeom>
          <a:noFill/>
        </p:spPr>
        <p:txBody>
          <a:bodyPr wrap="square" lIns="0" tIns="0" rIns="0" bIns="0" anchor="t">
            <a:spAutoFit/>
          </a:bodyPr>
          <a:lstStyle/>
          <a:p>
            <a:pPr algn="l"/>
            <a:r>
              <a:rPr sz="1250" b="0">
                <a:solidFill>
                  <a:srgbClr val="004F9F"/>
                </a:solidFill>
                <a:latin typeface="에이투지체 8 ExtraBold"/>
                <a:ea typeface="에이투지체 8 ExtraBold"/>
                <a:cs typeface="에이투지체 8 ExtraBold"/>
              </a:rPr>
              <a:t>경쟁사 브랜드  </a:t>
            </a:r>
            <a:r>
              <a:rPr sz="1250" b="0">
                <a:solidFill>
                  <a:srgbClr val="222222"/>
                </a:solidFill>
                <a:latin typeface="에이투지체 6 SemiBold"/>
                <a:ea typeface="에이투지체 6 SemiBold"/>
                <a:cs typeface="에이투지체 6 SemiBold"/>
              </a:rPr>
              <a:t>두드림 노출 없음</a:t>
            </a:r>
          </a:p>
        </p:txBody>
      </p:sp>
      <p:pic>
        <p:nvPicPr>
          <p:cNvPr id="14" name="Picture 13" descr="kium.png"/>
          <p:cNvPicPr>
            <a:picLocks noChangeAspect="1"/>
          </p:cNvPicPr>
          <p:nvPr/>
        </p:nvPicPr>
        <p:blipFill>
          <a:blip r:embed="rId3"/>
          <a:stretch>
            <a:fillRect/>
          </a:stretch>
        </p:blipFill>
        <p:spPr>
          <a:xfrm>
            <a:off x="6583680" y="2331720"/>
            <a:ext cx="2697480" cy="1503566"/>
          </a:xfrm>
          <a:prstGeom prst="rect">
            <a:avLst/>
          </a:prstGeom>
          <a:ln w="9525">
            <a:solidFill>
              <a:srgbClr val="DDDDDD"/>
            </a:solidFill>
          </a:ln>
        </p:spPr>
      </p:pic>
      <p:sp>
        <p:nvSpPr>
          <p:cNvPr id="15" name="TextBox 14"/>
          <p:cNvSpPr txBox="1"/>
          <p:nvPr/>
        </p:nvSpPr>
        <p:spPr>
          <a:xfrm>
            <a:off x="9464040" y="2606039"/>
            <a:ext cx="2148840" cy="320040"/>
          </a:xfrm>
          <a:prstGeom prst="rect">
            <a:avLst/>
          </a:prstGeom>
          <a:noFill/>
        </p:spPr>
        <p:txBody>
          <a:bodyPr wrap="square" lIns="0" tIns="0" rIns="0" bIns="0" anchor="t">
            <a:spAutoFit/>
          </a:bodyPr>
          <a:lstStyle/>
          <a:p>
            <a:pPr algn="l"/>
            <a:r>
              <a:rPr sz="1250" b="0">
                <a:solidFill>
                  <a:srgbClr val="222222"/>
                </a:solidFill>
                <a:latin typeface="에이투지체 8 ExtraBold"/>
                <a:ea typeface="에이투지체 8 ExtraBold"/>
                <a:cs typeface="에이투지체 8 ExtraBold"/>
              </a:rPr>
              <a:t>"키움정" 검색</a:t>
            </a:r>
          </a:p>
        </p:txBody>
      </p:sp>
      <p:sp>
        <p:nvSpPr>
          <p:cNvPr id="16" name="TextBox 15"/>
          <p:cNvSpPr txBox="1"/>
          <p:nvPr/>
        </p:nvSpPr>
        <p:spPr>
          <a:xfrm>
            <a:off x="9464040" y="2953512"/>
            <a:ext cx="2148840" cy="548640"/>
          </a:xfrm>
          <a:prstGeom prst="rect">
            <a:avLst/>
          </a:prstGeom>
          <a:noFill/>
        </p:spPr>
        <p:txBody>
          <a:bodyPr wrap="square" lIns="0" tIns="0" rIns="0" bIns="0" anchor="t">
            <a:spAutoFit/>
          </a:bodyPr>
          <a:lstStyle/>
          <a:p>
            <a:pPr algn="l"/>
            <a:r>
              <a:rPr sz="1150" b="0">
                <a:solidFill>
                  <a:srgbClr val="5C5C5C"/>
                </a:solidFill>
                <a:latin typeface="에이투지체 4 Regular"/>
                <a:ea typeface="에이투지체 4 Regular"/>
                <a:cs typeface="에이투지체 4 Regular"/>
              </a:rPr>
              <a:t>첫 화면 전부 키움정</a:t>
            </a:r>
          </a:p>
        </p:txBody>
      </p:sp>
      <p:pic>
        <p:nvPicPr>
          <p:cNvPr id="17" name="Picture 16" descr="howtoki.png"/>
          <p:cNvPicPr>
            <a:picLocks noChangeAspect="1"/>
          </p:cNvPicPr>
          <p:nvPr/>
        </p:nvPicPr>
        <p:blipFill>
          <a:blip r:embed="rId4"/>
          <a:stretch>
            <a:fillRect/>
          </a:stretch>
        </p:blipFill>
        <p:spPr>
          <a:xfrm>
            <a:off x="6583680" y="3931920"/>
            <a:ext cx="2697480" cy="1490971"/>
          </a:xfrm>
          <a:prstGeom prst="rect">
            <a:avLst/>
          </a:prstGeom>
          <a:ln w="9525">
            <a:solidFill>
              <a:srgbClr val="DDDDDD"/>
            </a:solidFill>
          </a:ln>
        </p:spPr>
      </p:pic>
      <p:sp>
        <p:nvSpPr>
          <p:cNvPr id="18" name="TextBox 17"/>
          <p:cNvSpPr txBox="1"/>
          <p:nvPr/>
        </p:nvSpPr>
        <p:spPr>
          <a:xfrm>
            <a:off x="9464040" y="4206240"/>
            <a:ext cx="2148840" cy="320040"/>
          </a:xfrm>
          <a:prstGeom prst="rect">
            <a:avLst/>
          </a:prstGeom>
          <a:noFill/>
        </p:spPr>
        <p:txBody>
          <a:bodyPr wrap="square" lIns="0" tIns="0" rIns="0" bIns="0" anchor="t">
            <a:spAutoFit/>
          </a:bodyPr>
          <a:lstStyle/>
          <a:p>
            <a:pPr algn="l"/>
            <a:r>
              <a:rPr sz="1250" b="0">
                <a:solidFill>
                  <a:srgbClr val="222222"/>
                </a:solidFill>
                <a:latin typeface="에이투지체 8 ExtraBold"/>
                <a:ea typeface="에이투지체 8 ExtraBold"/>
                <a:cs typeface="에이투지체 8 ExtraBold"/>
              </a:rPr>
              <a:t>"하우투키" 검색</a:t>
            </a:r>
          </a:p>
        </p:txBody>
      </p:sp>
      <p:sp>
        <p:nvSpPr>
          <p:cNvPr id="19" name="TextBox 18"/>
          <p:cNvSpPr txBox="1"/>
          <p:nvPr/>
        </p:nvSpPr>
        <p:spPr>
          <a:xfrm>
            <a:off x="9464040" y="4553712"/>
            <a:ext cx="2148840" cy="548640"/>
          </a:xfrm>
          <a:prstGeom prst="rect">
            <a:avLst/>
          </a:prstGeom>
          <a:noFill/>
        </p:spPr>
        <p:txBody>
          <a:bodyPr wrap="square" lIns="0" tIns="0" rIns="0" bIns="0" anchor="t">
            <a:spAutoFit/>
          </a:bodyPr>
          <a:lstStyle/>
          <a:p>
            <a:pPr algn="l"/>
            <a:r>
              <a:rPr sz="1150" b="0">
                <a:solidFill>
                  <a:srgbClr val="5C5C5C"/>
                </a:solidFill>
                <a:latin typeface="에이투지체 4 Regular"/>
                <a:ea typeface="에이투지체 4 Regular"/>
                <a:cs typeface="에이투지체 4 Regular"/>
              </a:rPr>
              <a:t>젬, 키앤이거 광고 노출</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ctr"/>
          <a:lstStyle/>
          <a:p>
            <a:pPr algn="l"/>
            <a:r>
              <a:rPr sz="900" b="0" spc="100">
                <a:solidFill>
                  <a:srgbClr val="004F9F"/>
                </a:solidFill>
                <a:latin typeface="에이투지체 6 SemiBold"/>
                <a:ea typeface="에이투지체 6 SemiBold"/>
                <a:cs typeface="에이투지체 6 SemiBold"/>
              </a:rPr>
              <a:t>PART 2 · 11월 마케팅 전략 · 미디어믹스</a:t>
            </a:r>
          </a:p>
        </p:txBody>
      </p:sp>
      <p:sp>
        <p:nvSpPr>
          <p:cNvPr id="3" name="TextBox 2"/>
          <p:cNvSpPr txBox="1"/>
          <p:nvPr/>
        </p:nvSpPr>
        <p:spPr>
          <a:xfrm>
            <a:off x="548640" y="658368"/>
            <a:ext cx="11064240" cy="868680"/>
          </a:xfrm>
          <a:prstGeom prst="rect">
            <a:avLst/>
          </a:prstGeom>
          <a:noFill/>
        </p:spPr>
        <p:txBody>
          <a:bodyPr wrap="square" lIns="0" tIns="0" rIns="0" bIns="0" anchor="ctr"/>
          <a:lstStyle/>
          <a:p>
            <a:pPr>
              <a:lnSpc>
                <a:spcPts val="2600"/>
              </a:lnSpc>
            </a:pPr>
            <a:r>
              <a:rPr sz="1900" b="0">
                <a:solidFill>
                  <a:srgbClr val="FFFFFF"/>
                </a:solidFill>
                <a:highlight>
                  <a:srgbClr val="0000FF"/>
                </a:highlight>
                <a:latin typeface="에이투지체 8 ExtraBold"/>
                <a:ea typeface="에이투지체 8 ExtraBold"/>
                <a:cs typeface="에이투지체 8 ExtraBold"/>
              </a:rPr>
              <a:t>대표 검색어 3개</a:t>
            </a:r>
            <a:r>
              <a:rPr sz="1900" b="0">
                <a:solidFill>
                  <a:srgbClr val="222222"/>
                </a:solidFill>
                <a:latin typeface="에이투지체 8 ExtraBold"/>
                <a:ea typeface="에이투지체 8 ExtraBold"/>
                <a:cs typeface="에이투지체 8 ExtraBold"/>
              </a:rPr>
              <a:t> 모두</a:t>
            </a:r>
          </a:p>
          <a:p>
            <a:pPr>
              <a:lnSpc>
                <a:spcPts val="2600"/>
              </a:lnSpc>
            </a:pPr>
            <a:r>
              <a:rPr sz="1900" b="0">
                <a:solidFill>
                  <a:srgbClr val="222222"/>
                </a:solidFill>
                <a:latin typeface="에이투지체 8 ExtraBold"/>
                <a:ea typeface="에이투지체 8 ExtraBold"/>
                <a:cs typeface="에이투지체 8 ExtraBold"/>
              </a:rPr>
              <a:t>첫 화면에 두드림 상품이 없습니다</a:t>
            </a:r>
          </a:p>
        </p:txBody>
      </p:sp>
      <p:sp>
        <p:nvSpPr>
          <p:cNvPr id="4" name="TextBox 3"/>
          <p:cNvSpPr txBox="1"/>
          <p:nvPr/>
        </p:nvSpPr>
        <p:spPr>
          <a:xfrm>
            <a:off x="548640" y="1517904"/>
            <a:ext cx="11064240" cy="365760"/>
          </a:xfrm>
          <a:prstGeom prst="rect">
            <a:avLst/>
          </a:prstGeom>
          <a:noFill/>
        </p:spPr>
        <p:txBody>
          <a:bodyPr wrap="square" lIns="0" tIns="0" rIns="0" bIns="0" anchor="ctr"/>
          <a:lstStyle/>
          <a:p>
            <a:pPr algn="l"/>
            <a:r>
              <a:rPr sz="1100" b="0" dirty="0" err="1">
                <a:solidFill>
                  <a:srgbClr val="5C5C5C"/>
                </a:solidFill>
                <a:latin typeface="에이투지체 5 Medium"/>
                <a:ea typeface="에이투지체 5 Medium"/>
                <a:cs typeface="에이투지체 5 Medium"/>
              </a:rPr>
              <a:t>쿠팡</a:t>
            </a:r>
            <a:r>
              <a:rPr sz="1100" b="0" dirty="0">
                <a:solidFill>
                  <a:srgbClr val="5C5C5C"/>
                </a:solidFill>
                <a:latin typeface="에이투지체 5 Medium"/>
                <a:ea typeface="에이투지체 5 Medium"/>
                <a:cs typeface="에이투지체 5 Medium"/>
              </a:rPr>
              <a:t> </a:t>
            </a:r>
            <a:r>
              <a:rPr sz="1100" b="0" dirty="0" err="1">
                <a:solidFill>
                  <a:srgbClr val="5C5C5C"/>
                </a:solidFill>
                <a:latin typeface="에이투지체 5 Medium"/>
                <a:ea typeface="에이투지체 5 Medium"/>
                <a:cs typeface="에이투지체 5 Medium"/>
              </a:rPr>
              <a:t>현황</a:t>
            </a:r>
            <a:r>
              <a:rPr sz="1100" b="0" dirty="0">
                <a:solidFill>
                  <a:srgbClr val="5C5C5C"/>
                </a:solidFill>
                <a:latin typeface="에이투지체 5 Medium"/>
                <a:ea typeface="에이투지체 5 Medium"/>
                <a:cs typeface="에이투지체 5 Medium"/>
              </a:rPr>
              <a:t> </a:t>
            </a:r>
            <a:r>
              <a:rPr sz="1100" b="0" err="1">
                <a:solidFill>
                  <a:srgbClr val="5C5C5C"/>
                </a:solidFill>
                <a:latin typeface="에이투지체 5 Medium"/>
                <a:ea typeface="에이투지체 5 Medium"/>
                <a:cs typeface="에이투지체 5 Medium"/>
              </a:rPr>
              <a:t>진단</a:t>
            </a:r>
            <a:r>
              <a:rPr sz="1100" b="0">
                <a:solidFill>
                  <a:srgbClr val="5C5C5C"/>
                </a:solidFill>
                <a:latin typeface="에이투지체 5 Medium"/>
                <a:ea typeface="에이투지체 5 Medium"/>
                <a:cs typeface="에이투지체 5 Medium"/>
              </a:rPr>
              <a:t> ③  </a:t>
            </a:r>
            <a:r>
              <a:rPr sz="1100" b="0" dirty="0" err="1">
                <a:solidFill>
                  <a:srgbClr val="5C5C5C"/>
                </a:solidFill>
                <a:latin typeface="에이투지체 5 Medium"/>
                <a:ea typeface="에이투지체 5 Medium"/>
                <a:cs typeface="에이투지체 5 Medium"/>
              </a:rPr>
              <a:t>대표</a:t>
            </a:r>
            <a:r>
              <a:rPr sz="1100" b="0" dirty="0">
                <a:solidFill>
                  <a:srgbClr val="5C5C5C"/>
                </a:solidFill>
                <a:latin typeface="에이투지체 5 Medium"/>
                <a:ea typeface="에이투지체 5 Medium"/>
                <a:cs typeface="에이투지체 5 Medium"/>
              </a:rPr>
              <a:t> </a:t>
            </a:r>
            <a:r>
              <a:rPr sz="1100" b="0" dirty="0" err="1">
                <a:solidFill>
                  <a:srgbClr val="5C5C5C"/>
                </a:solidFill>
                <a:latin typeface="에이투지체 5 Medium"/>
                <a:ea typeface="에이투지체 5 Medium"/>
                <a:cs typeface="에이투지체 5 Medium"/>
              </a:rPr>
              <a:t>검색어</a:t>
            </a:r>
            <a:endParaRPr sz="1100" b="0" dirty="0">
              <a:solidFill>
                <a:srgbClr val="5C5C5C"/>
              </a:solidFill>
              <a:latin typeface="에이투지체 5 Medium"/>
              <a:ea typeface="에이투지체 5 Medium"/>
              <a:cs typeface="에이투지체 5 Medium"/>
            </a:endParaRPr>
          </a:p>
        </p:txBody>
      </p:sp>
      <p:sp>
        <p:nvSpPr>
          <p:cNvPr id="5" name="Rounded Rectangle 4"/>
          <p:cNvSpPr/>
          <p:nvPr/>
        </p:nvSpPr>
        <p:spPr>
          <a:xfrm>
            <a:off x="548640" y="5577840"/>
            <a:ext cx="11064240" cy="438912"/>
          </a:xfrm>
          <a:prstGeom prst="roundRect">
            <a:avLst>
              <a:gd name="adj" fmla="val 16666"/>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 y="5632704"/>
            <a:ext cx="10671048" cy="347472"/>
          </a:xfrm>
          <a:prstGeom prst="rect">
            <a:avLst/>
          </a:prstGeom>
          <a:noFill/>
        </p:spPr>
        <p:txBody>
          <a:bodyPr wrap="square" lIns="0" tIns="0" rIns="0" bIns="0" anchor="ctr">
            <a:spAutoFit/>
          </a:bodyPr>
          <a:lstStyle/>
          <a:p>
            <a:pPr algn="l"/>
            <a:r>
              <a:rPr sz="1350" b="0">
                <a:solidFill>
                  <a:srgbClr val="004F9F"/>
                </a:solidFill>
                <a:latin typeface="에이투지체 6 SemiBold"/>
                <a:ea typeface="에이투지체 6 SemiBold"/>
                <a:cs typeface="에이투지체 6 SemiBold"/>
              </a:rPr>
              <a:t>대표 검색어에서는 리뷰 수천~수만 개의 경쟁 상품이 광고와 랭킹 상위에 함께 노출되고 있습니다</a:t>
            </a:r>
          </a:p>
        </p:txBody>
      </p:sp>
      <p:sp>
        <p:nvSpPr>
          <p:cNvPr id="7" name="TextBox 6"/>
          <p:cNvSpPr txBox="1"/>
          <p:nvPr/>
        </p:nvSpPr>
        <p:spPr>
          <a:xfrm>
            <a:off x="548640" y="6089904"/>
            <a:ext cx="11064240" cy="274320"/>
          </a:xfrm>
          <a:prstGeom prst="rect">
            <a:avLst/>
          </a:prstGeom>
          <a:noFill/>
        </p:spPr>
        <p:txBody>
          <a:bodyPr wrap="square" lIns="0" tIns="0" rIns="0" bIns="0" anchor="t">
            <a:spAutoFit/>
          </a:bodyPr>
          <a:lstStyle/>
          <a:p>
            <a:pPr algn="l"/>
            <a:r>
              <a:rPr sz="850" b="0">
                <a:solidFill>
                  <a:srgbClr val="919191"/>
                </a:solidFill>
                <a:latin typeface="에이투지체 3 Light"/>
                <a:ea typeface="에이투지체 3 Light"/>
                <a:cs typeface="에이투지체 3 Light"/>
              </a:rPr>
              <a:t>2026.10.13 쿠팡 PC 검색 화면 기준 (비로그인). 검색 결과는 새로고침, 사용자별로 달라짐 / 괄호는 리뷰 수</a:t>
            </a:r>
          </a:p>
        </p:txBody>
      </p:sp>
      <p:sp>
        <p:nvSpPr>
          <p:cNvPr id="8" name="TextBox 7"/>
          <p:cNvSpPr txBox="1"/>
          <p:nvPr/>
        </p:nvSpPr>
        <p:spPr>
          <a:xfrm>
            <a:off x="548640" y="6473952"/>
            <a:ext cx="4206240" cy="274320"/>
          </a:xfrm>
          <a:prstGeom prst="rect">
            <a:avLst/>
          </a:prstGeom>
          <a:noFill/>
        </p:spPr>
        <p:txBody>
          <a:bodyPr wrap="square" lIns="0" tIns="0" rIns="0" bIns="0" anchor="t">
            <a:spAutoFit/>
          </a:bodyPr>
          <a:lstStyle/>
          <a:p>
            <a:pPr algn="l"/>
            <a:r>
              <a:rPr sz="800" b="0">
                <a:solidFill>
                  <a:srgbClr val="919191"/>
                </a:solidFill>
                <a:latin typeface="에이투지체 3 Light"/>
                <a:ea typeface="에이투지체 3 Light"/>
                <a:cs typeface="에이투지체 3 Light"/>
              </a:rPr>
              <a:t>DODREAM B&amp;B AD PROPOSAL · 2026</a:t>
            </a:r>
          </a:p>
        </p:txBody>
      </p:sp>
      <p:sp>
        <p:nvSpPr>
          <p:cNvPr id="9" name="TextBox 8"/>
          <p:cNvSpPr txBox="1"/>
          <p:nvPr/>
        </p:nvSpPr>
        <p:spPr>
          <a:xfrm>
            <a:off x="8138160" y="6473952"/>
            <a:ext cx="3017520" cy="274320"/>
          </a:xfrm>
          <a:prstGeom prst="rect">
            <a:avLst/>
          </a:prstGeom>
          <a:noFill/>
        </p:spPr>
        <p:txBody>
          <a:bodyPr wrap="square" lIns="0" tIns="0" rIns="0" bIns="0" anchor="t">
            <a:spAutoFit/>
          </a:bodyPr>
          <a:lstStyle/>
          <a:p>
            <a:pPr algn="r"/>
            <a:r>
              <a:rPr sz="800" b="0">
                <a:solidFill>
                  <a:srgbClr val="919191"/>
                </a:solidFill>
                <a:latin typeface="에이투지체 3 Light"/>
                <a:ea typeface="에이투지체 3 Light"/>
                <a:cs typeface="에이투지체 3 Light"/>
              </a:rPr>
              <a:t>LINKPRICE · BRAND AD CENTER</a:t>
            </a:r>
          </a:p>
        </p:txBody>
      </p:sp>
      <p:sp>
        <p:nvSpPr>
          <p:cNvPr id="10" name="TextBox 9"/>
          <p:cNvSpPr txBox="1"/>
          <p:nvPr/>
        </p:nvSpPr>
        <p:spPr>
          <a:xfrm>
            <a:off x="11292840" y="6473952"/>
            <a:ext cx="365760" cy="274320"/>
          </a:xfrm>
          <a:prstGeom prst="rect">
            <a:avLst/>
          </a:prstGeom>
          <a:noFill/>
        </p:spPr>
        <p:txBody>
          <a:bodyPr wrap="square" lIns="0" tIns="0" rIns="0" bIns="0" anchor="t">
            <a:spAutoFit/>
          </a:bodyPr>
          <a:lstStyle/>
          <a:p>
            <a:pPr algn="r"/>
            <a:r>
              <a:rPr sz="800" b="0">
                <a:solidFill>
                  <a:srgbClr val="222222"/>
                </a:solidFill>
                <a:latin typeface="에이투지체 6 SemiBold"/>
                <a:ea typeface="에이투지체 6 SemiBold"/>
                <a:cs typeface="에이투지체 6 SemiBold"/>
              </a:rPr>
              <a:t>35</a:t>
            </a:r>
          </a:p>
        </p:txBody>
      </p:sp>
      <p:sp>
        <p:nvSpPr>
          <p:cNvPr id="11" name="TextBox 10"/>
          <p:cNvSpPr txBox="1"/>
          <p:nvPr/>
        </p:nvSpPr>
        <p:spPr>
          <a:xfrm>
            <a:off x="548640" y="1993392"/>
            <a:ext cx="3566160" cy="292608"/>
          </a:xfrm>
          <a:prstGeom prst="rect">
            <a:avLst/>
          </a:prstGeom>
          <a:noFill/>
        </p:spPr>
        <p:txBody>
          <a:bodyPr wrap="square" lIns="0" tIns="0" rIns="0" bIns="0" anchor="t">
            <a:spAutoFit/>
          </a:bodyPr>
          <a:lstStyle/>
          <a:p>
            <a:pPr algn="l"/>
            <a:r>
              <a:rPr sz="1250" b="0">
                <a:solidFill>
                  <a:srgbClr val="004F9F"/>
                </a:solidFill>
                <a:latin typeface="에이투지체 8 ExtraBold"/>
                <a:ea typeface="에이투지체 8 ExtraBold"/>
                <a:cs typeface="에이투지체 8 ExtraBold"/>
              </a:rPr>
              <a:t>"키성장영양제"  </a:t>
            </a:r>
            <a:r>
              <a:rPr sz="1250" b="0">
                <a:solidFill>
                  <a:srgbClr val="222222"/>
                </a:solidFill>
                <a:latin typeface="에이투지체 6 SemiBold"/>
                <a:ea typeface="에이투지체 6 SemiBold"/>
                <a:cs typeface="에이투지체 6 SemiBold"/>
              </a:rPr>
              <a:t>두드림 미노출</a:t>
            </a:r>
          </a:p>
        </p:txBody>
      </p:sp>
      <p:pic>
        <p:nvPicPr>
          <p:cNvPr id="12" name="Picture 11" descr="kisj.png"/>
          <p:cNvPicPr>
            <a:picLocks noChangeAspect="1"/>
          </p:cNvPicPr>
          <p:nvPr/>
        </p:nvPicPr>
        <p:blipFill>
          <a:blip r:embed="rId2"/>
          <a:stretch>
            <a:fillRect/>
          </a:stretch>
        </p:blipFill>
        <p:spPr>
          <a:xfrm>
            <a:off x="548640" y="2331720"/>
            <a:ext cx="3566160" cy="1912531"/>
          </a:xfrm>
          <a:prstGeom prst="rect">
            <a:avLst/>
          </a:prstGeom>
          <a:ln w="9525">
            <a:solidFill>
              <a:srgbClr val="DDDDDD"/>
            </a:solidFill>
          </a:ln>
        </p:spPr>
      </p:pic>
      <p:sp>
        <p:nvSpPr>
          <p:cNvPr id="13" name="TextBox 12"/>
          <p:cNvSpPr txBox="1"/>
          <p:nvPr/>
        </p:nvSpPr>
        <p:spPr>
          <a:xfrm>
            <a:off x="548640" y="4434840"/>
            <a:ext cx="3566160" cy="1051560"/>
          </a:xfrm>
          <a:prstGeom prst="rect">
            <a:avLst/>
          </a:prstGeom>
          <a:noFill/>
        </p:spPr>
        <p:txBody>
          <a:bodyPr wrap="square" lIns="0" tIns="0" rIns="0" bIns="0" anchor="t">
            <a:spAutoFit/>
          </a:bodyPr>
          <a:lstStyle/>
          <a:p>
            <a:pPr algn="l">
              <a:spcAft>
                <a:spcPts val="400"/>
              </a:spcAft>
            </a:pPr>
            <a:r>
              <a:rPr sz="1000" b="0">
                <a:solidFill>
                  <a:srgbClr val="004F9F"/>
                </a:solidFill>
                <a:latin typeface="에이투지체 6 SemiBold"/>
                <a:ea typeface="에이투지체 6 SemiBold"/>
                <a:cs typeface="에이투지체 6 SemiBold"/>
              </a:rPr>
              <a:t>광고  </a:t>
            </a:r>
            <a:r>
              <a:rPr sz="1000" b="0">
                <a:solidFill>
                  <a:srgbClr val="222222"/>
                </a:solidFill>
                <a:latin typeface="에이투지체 4 Regular"/>
                <a:ea typeface="에이투지체 4 Regular"/>
                <a:cs typeface="에이투지체 4 Regular"/>
              </a:rPr>
              <a:t>키움정, 키앤이거, 드림톨, 센치엘, 하이크니</a:t>
            </a:r>
          </a:p>
          <a:p>
            <a:pPr algn="l">
              <a:spcAft>
                <a:spcPts val="400"/>
              </a:spcAft>
            </a:pPr>
            <a:r>
              <a:rPr sz="1000" b="0">
                <a:solidFill>
                  <a:srgbClr val="004F9F"/>
                </a:solidFill>
                <a:latin typeface="에이투지체 6 SemiBold"/>
                <a:ea typeface="에이투지체 6 SemiBold"/>
                <a:cs typeface="에이투지체 6 SemiBold"/>
              </a:rPr>
              <a:t>랭킹  </a:t>
            </a:r>
            <a:r>
              <a:rPr sz="1000" b="0">
                <a:solidFill>
                  <a:srgbClr val="222222"/>
                </a:solidFill>
                <a:latin typeface="에이투지체 4 Regular"/>
                <a:ea typeface="에이투지체 4 Regular"/>
                <a:cs typeface="에이투지체 4 Regular"/>
              </a:rPr>
              <a:t>키앤이거 (2,750), 골밀도 강화 (60), 키클레오 (100)</a:t>
            </a:r>
          </a:p>
        </p:txBody>
      </p:sp>
      <p:sp>
        <p:nvSpPr>
          <p:cNvPr id="14" name="TextBox 13"/>
          <p:cNvSpPr txBox="1"/>
          <p:nvPr/>
        </p:nvSpPr>
        <p:spPr>
          <a:xfrm>
            <a:off x="4297679" y="1993392"/>
            <a:ext cx="3566160" cy="292608"/>
          </a:xfrm>
          <a:prstGeom prst="rect">
            <a:avLst/>
          </a:prstGeom>
          <a:noFill/>
        </p:spPr>
        <p:txBody>
          <a:bodyPr wrap="square" lIns="0" tIns="0" rIns="0" bIns="0" anchor="t">
            <a:spAutoFit/>
          </a:bodyPr>
          <a:lstStyle/>
          <a:p>
            <a:pPr algn="l"/>
            <a:r>
              <a:rPr sz="1250" b="0">
                <a:solidFill>
                  <a:srgbClr val="004F9F"/>
                </a:solidFill>
                <a:latin typeface="에이투지체 8 ExtraBold"/>
                <a:ea typeface="에이투지체 8 ExtraBold"/>
                <a:cs typeface="에이투지체 8 ExtraBold"/>
              </a:rPr>
              <a:t>"키크는영양제"  </a:t>
            </a:r>
            <a:r>
              <a:rPr sz="1250" b="0">
                <a:solidFill>
                  <a:srgbClr val="222222"/>
                </a:solidFill>
                <a:latin typeface="에이투지체 6 SemiBold"/>
                <a:ea typeface="에이투지체 6 SemiBold"/>
                <a:cs typeface="에이투지체 6 SemiBold"/>
              </a:rPr>
              <a:t>두드림 미노출</a:t>
            </a:r>
          </a:p>
        </p:txBody>
      </p:sp>
      <p:pic>
        <p:nvPicPr>
          <p:cNvPr id="15" name="Picture 14" descr="kikeun.png"/>
          <p:cNvPicPr>
            <a:picLocks noChangeAspect="1"/>
          </p:cNvPicPr>
          <p:nvPr/>
        </p:nvPicPr>
        <p:blipFill>
          <a:blip r:embed="rId3"/>
          <a:stretch>
            <a:fillRect/>
          </a:stretch>
        </p:blipFill>
        <p:spPr>
          <a:xfrm>
            <a:off x="4297679" y="2331720"/>
            <a:ext cx="3566160" cy="1990193"/>
          </a:xfrm>
          <a:prstGeom prst="rect">
            <a:avLst/>
          </a:prstGeom>
          <a:ln w="9525">
            <a:solidFill>
              <a:srgbClr val="DDDDDD"/>
            </a:solidFill>
          </a:ln>
        </p:spPr>
      </p:pic>
      <p:sp>
        <p:nvSpPr>
          <p:cNvPr id="16" name="TextBox 15"/>
          <p:cNvSpPr txBox="1"/>
          <p:nvPr/>
        </p:nvSpPr>
        <p:spPr>
          <a:xfrm>
            <a:off x="4297679" y="4434840"/>
            <a:ext cx="3566160" cy="1051560"/>
          </a:xfrm>
          <a:prstGeom prst="rect">
            <a:avLst/>
          </a:prstGeom>
          <a:noFill/>
        </p:spPr>
        <p:txBody>
          <a:bodyPr wrap="square" lIns="0" tIns="0" rIns="0" bIns="0" anchor="t">
            <a:spAutoFit/>
          </a:bodyPr>
          <a:lstStyle/>
          <a:p>
            <a:pPr algn="l">
              <a:spcAft>
                <a:spcPts val="400"/>
              </a:spcAft>
            </a:pPr>
            <a:r>
              <a:rPr sz="1000" b="0">
                <a:solidFill>
                  <a:srgbClr val="004F9F"/>
                </a:solidFill>
                <a:latin typeface="에이투지체 6 SemiBold"/>
                <a:ea typeface="에이투지체 6 SemiBold"/>
                <a:cs typeface="에이투지체 6 SemiBold"/>
              </a:rPr>
              <a:t>광고  </a:t>
            </a:r>
            <a:r>
              <a:rPr sz="1000" b="0">
                <a:solidFill>
                  <a:srgbClr val="222222"/>
                </a:solidFill>
                <a:latin typeface="에이투지체 4 Regular"/>
                <a:ea typeface="에이투지체 4 Regular"/>
                <a:cs typeface="에이투지체 4 Regular"/>
              </a:rPr>
              <a:t>키앤이거, 키움정, 드림톨, 펜트로반</a:t>
            </a:r>
          </a:p>
          <a:p>
            <a:pPr algn="l">
              <a:spcAft>
                <a:spcPts val="400"/>
              </a:spcAft>
            </a:pPr>
            <a:r>
              <a:rPr sz="1000" b="0">
                <a:solidFill>
                  <a:srgbClr val="004F9F"/>
                </a:solidFill>
                <a:latin typeface="에이투지체 6 SemiBold"/>
                <a:ea typeface="에이투지체 6 SemiBold"/>
                <a:cs typeface="에이투지체 6 SemiBold"/>
              </a:rPr>
              <a:t>랭킹  </a:t>
            </a:r>
            <a:r>
              <a:rPr sz="1000" b="0">
                <a:solidFill>
                  <a:srgbClr val="222222"/>
                </a:solidFill>
                <a:latin typeface="에이투지체 4 Regular"/>
                <a:ea typeface="에이투지체 4 Regular"/>
                <a:cs typeface="에이투지체 4 Regular"/>
              </a:rPr>
              <a:t>키클레오 (100), 알파이 (1,251), 키초스틱</a:t>
            </a:r>
          </a:p>
        </p:txBody>
      </p:sp>
      <p:sp>
        <p:nvSpPr>
          <p:cNvPr id="17" name="TextBox 16"/>
          <p:cNvSpPr txBox="1"/>
          <p:nvPr/>
        </p:nvSpPr>
        <p:spPr>
          <a:xfrm>
            <a:off x="8046719" y="1993392"/>
            <a:ext cx="3566160" cy="292608"/>
          </a:xfrm>
          <a:prstGeom prst="rect">
            <a:avLst/>
          </a:prstGeom>
          <a:noFill/>
        </p:spPr>
        <p:txBody>
          <a:bodyPr wrap="square" lIns="0" tIns="0" rIns="0" bIns="0" anchor="t">
            <a:spAutoFit/>
          </a:bodyPr>
          <a:lstStyle/>
          <a:p>
            <a:pPr algn="l"/>
            <a:r>
              <a:rPr sz="1250" b="0">
                <a:solidFill>
                  <a:srgbClr val="004F9F"/>
                </a:solidFill>
                <a:latin typeface="에이투지체 8 ExtraBold"/>
                <a:ea typeface="에이투지체 8 ExtraBold"/>
                <a:cs typeface="에이투지체 8 ExtraBold"/>
              </a:rPr>
              <a:t>"카무트효소"  </a:t>
            </a:r>
            <a:r>
              <a:rPr sz="1250" b="0">
                <a:solidFill>
                  <a:srgbClr val="222222"/>
                </a:solidFill>
                <a:latin typeface="에이투지체 6 SemiBold"/>
                <a:ea typeface="에이투지체 6 SemiBold"/>
                <a:cs typeface="에이투지체 6 SemiBold"/>
              </a:rPr>
              <a:t>두드림 미노출</a:t>
            </a:r>
          </a:p>
        </p:txBody>
      </p:sp>
      <p:pic>
        <p:nvPicPr>
          <p:cNvPr id="18" name="Picture 17" descr="kamut.png"/>
          <p:cNvPicPr>
            <a:picLocks noChangeAspect="1"/>
          </p:cNvPicPr>
          <p:nvPr/>
        </p:nvPicPr>
        <p:blipFill>
          <a:blip r:embed="rId4"/>
          <a:stretch>
            <a:fillRect/>
          </a:stretch>
        </p:blipFill>
        <p:spPr>
          <a:xfrm>
            <a:off x="8046719" y="2331720"/>
            <a:ext cx="3566160" cy="1988404"/>
          </a:xfrm>
          <a:prstGeom prst="rect">
            <a:avLst/>
          </a:prstGeom>
          <a:ln w="9525">
            <a:solidFill>
              <a:srgbClr val="DDDDDD"/>
            </a:solidFill>
          </a:ln>
        </p:spPr>
      </p:pic>
      <p:sp>
        <p:nvSpPr>
          <p:cNvPr id="19" name="TextBox 18"/>
          <p:cNvSpPr txBox="1"/>
          <p:nvPr/>
        </p:nvSpPr>
        <p:spPr>
          <a:xfrm>
            <a:off x="8046719" y="4434840"/>
            <a:ext cx="3566160" cy="1051560"/>
          </a:xfrm>
          <a:prstGeom prst="rect">
            <a:avLst/>
          </a:prstGeom>
          <a:noFill/>
        </p:spPr>
        <p:txBody>
          <a:bodyPr wrap="square" lIns="0" tIns="0" rIns="0" bIns="0" anchor="t">
            <a:spAutoFit/>
          </a:bodyPr>
          <a:lstStyle/>
          <a:p>
            <a:pPr algn="l">
              <a:spcAft>
                <a:spcPts val="400"/>
              </a:spcAft>
            </a:pPr>
            <a:r>
              <a:rPr sz="1000" b="0">
                <a:solidFill>
                  <a:srgbClr val="004F9F"/>
                </a:solidFill>
                <a:latin typeface="에이투지체 6 SemiBold"/>
                <a:ea typeface="에이투지체 6 SemiBold"/>
                <a:cs typeface="에이투지체 6 SemiBold"/>
              </a:rPr>
              <a:t>광고  </a:t>
            </a:r>
            <a:r>
              <a:rPr sz="1000" b="0">
                <a:solidFill>
                  <a:srgbClr val="222222"/>
                </a:solidFill>
                <a:latin typeface="에이투지체 4 Regular"/>
                <a:ea typeface="에이투지체 4 Regular"/>
                <a:cs typeface="에이투지체 4 Regular"/>
              </a:rPr>
              <a:t>여에스더, 비타민마을, 정품 골든, 동국제약, SSF</a:t>
            </a:r>
          </a:p>
          <a:p>
            <a:pPr algn="l">
              <a:spcAft>
                <a:spcPts val="400"/>
              </a:spcAft>
            </a:pPr>
            <a:r>
              <a:rPr sz="1000" b="0">
                <a:solidFill>
                  <a:srgbClr val="004F9F"/>
                </a:solidFill>
                <a:latin typeface="에이투지체 6 SemiBold"/>
                <a:ea typeface="에이투지체 6 SemiBold"/>
                <a:cs typeface="에이투지체 6 SemiBold"/>
              </a:rPr>
              <a:t>랭킹  </a:t>
            </a:r>
            <a:r>
              <a:rPr sz="1000" b="0">
                <a:solidFill>
                  <a:srgbClr val="222222"/>
                </a:solidFill>
                <a:latin typeface="에이투지체 4 Regular"/>
                <a:ea typeface="에이투지체 4 Regular"/>
                <a:cs typeface="에이투지체 4 Regular"/>
              </a:rPr>
              <a:t>골드 카무트 MAX (1,226), 카무트 골드G (14,664), 그레인온 (3,644)</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ctr"/>
          <a:lstStyle/>
          <a:p>
            <a:pPr algn="l"/>
            <a:r>
              <a:rPr sz="900" b="0" spc="100">
                <a:solidFill>
                  <a:srgbClr val="004F9F"/>
                </a:solidFill>
                <a:latin typeface="에이투지체 6 SemiBold"/>
                <a:ea typeface="에이투지체 6 SemiBold"/>
                <a:cs typeface="에이투지체 6 SemiBold"/>
              </a:rPr>
              <a:t>PART 2 · 11월 마케팅 전략 · 미디어믹스</a:t>
            </a:r>
          </a:p>
        </p:txBody>
      </p:sp>
      <p:sp>
        <p:nvSpPr>
          <p:cNvPr id="3" name="TextBox 2"/>
          <p:cNvSpPr txBox="1"/>
          <p:nvPr/>
        </p:nvSpPr>
        <p:spPr>
          <a:xfrm>
            <a:off x="548640" y="658368"/>
            <a:ext cx="11064240" cy="868680"/>
          </a:xfrm>
          <a:prstGeom prst="rect">
            <a:avLst/>
          </a:prstGeom>
          <a:noFill/>
        </p:spPr>
        <p:txBody>
          <a:bodyPr wrap="square" lIns="0" tIns="0" rIns="0" bIns="0" anchor="ctr"/>
          <a:lstStyle/>
          <a:p>
            <a:pPr>
              <a:lnSpc>
                <a:spcPts val="2600"/>
              </a:lnSpc>
            </a:pPr>
            <a:r>
              <a:rPr sz="1900" b="0">
                <a:solidFill>
                  <a:srgbClr val="FFFFFF"/>
                </a:solidFill>
                <a:highlight>
                  <a:srgbClr val="0000FF"/>
                </a:highlight>
                <a:latin typeface="에이투지체 8 ExtraBold"/>
                <a:ea typeface="에이투지체 8 ExtraBold"/>
                <a:cs typeface="에이투지체 8 ExtraBold"/>
              </a:rPr>
              <a:t>쿠팡 핵심 과제</a:t>
            </a:r>
            <a:r>
              <a:rPr sz="1900" b="0">
                <a:solidFill>
                  <a:srgbClr val="222222"/>
                </a:solidFill>
                <a:latin typeface="에이투지체 8 ExtraBold"/>
                <a:ea typeface="에이투지체 8 ExtraBold"/>
                <a:cs typeface="에이투지체 8 ExtraBold"/>
              </a:rPr>
              <a:t>는 네 가지로 나누어</a:t>
            </a:r>
          </a:p>
          <a:p>
            <a:pPr>
              <a:lnSpc>
                <a:spcPts val="2600"/>
              </a:lnSpc>
            </a:pPr>
            <a:r>
              <a:rPr sz="1900" b="0">
                <a:solidFill>
                  <a:srgbClr val="222222"/>
                </a:solidFill>
                <a:latin typeface="에이투지체 8 ExtraBold"/>
                <a:ea typeface="에이투지체 8 ExtraBold"/>
                <a:cs typeface="에이투지체 8 ExtraBold"/>
              </a:rPr>
              <a:t>매출 최적화 캠페인 안에서 운영하겠습니다</a:t>
            </a:r>
          </a:p>
        </p:txBody>
      </p:sp>
      <p:sp>
        <p:nvSpPr>
          <p:cNvPr id="4" name="TextBox 3"/>
          <p:cNvSpPr txBox="1"/>
          <p:nvPr/>
        </p:nvSpPr>
        <p:spPr>
          <a:xfrm>
            <a:off x="548640" y="1517904"/>
            <a:ext cx="11064240" cy="365760"/>
          </a:xfrm>
          <a:prstGeom prst="rect">
            <a:avLst/>
          </a:prstGeom>
          <a:noFill/>
        </p:spPr>
        <p:txBody>
          <a:bodyPr wrap="square" lIns="0" tIns="0" rIns="0" bIns="0" anchor="ctr"/>
          <a:lstStyle/>
          <a:p>
            <a:pPr algn="l"/>
            <a:r>
              <a:rPr sz="1100" b="0">
                <a:solidFill>
                  <a:srgbClr val="5C5C5C"/>
                </a:solidFill>
                <a:latin typeface="에이투지체 5 Medium"/>
                <a:ea typeface="에이투지체 5 Medium"/>
                <a:cs typeface="에이투지체 5 Medium"/>
              </a:rPr>
              <a:t>쿠팡 핵심 과제 정리</a:t>
            </a:r>
          </a:p>
        </p:txBody>
      </p:sp>
      <p:sp>
        <p:nvSpPr>
          <p:cNvPr id="5" name="Rounded Rectangle 4"/>
          <p:cNvSpPr/>
          <p:nvPr/>
        </p:nvSpPr>
        <p:spPr>
          <a:xfrm>
            <a:off x="548640" y="5577840"/>
            <a:ext cx="11064240" cy="438912"/>
          </a:xfrm>
          <a:prstGeom prst="roundRect">
            <a:avLst>
              <a:gd name="adj" fmla="val 16666"/>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 y="5632704"/>
            <a:ext cx="10671048" cy="347472"/>
          </a:xfrm>
          <a:prstGeom prst="rect">
            <a:avLst/>
          </a:prstGeom>
          <a:noFill/>
        </p:spPr>
        <p:txBody>
          <a:bodyPr wrap="square" lIns="0" tIns="0" rIns="0" bIns="0" anchor="ctr">
            <a:spAutoFit/>
          </a:bodyPr>
          <a:lstStyle/>
          <a:p>
            <a:pPr algn="l"/>
            <a:r>
              <a:rPr sz="1350" b="0">
                <a:solidFill>
                  <a:srgbClr val="004F9F"/>
                </a:solidFill>
                <a:latin typeface="에이투지체 6 SemiBold"/>
                <a:ea typeface="에이투지체 6 SemiBold"/>
                <a:cs typeface="에이투지체 6 SemiBold"/>
              </a:rPr>
              <a:t>쿠팡에서는 리뷰가 쌓인 로켓 상품을 앞세워 FGO와 다음 히어로 상품의 검색 수요를 넓혀 가겠습니다</a:t>
            </a:r>
          </a:p>
        </p:txBody>
      </p:sp>
      <p:sp>
        <p:nvSpPr>
          <p:cNvPr id="7" name="TextBox 6"/>
          <p:cNvSpPr txBox="1"/>
          <p:nvPr/>
        </p:nvSpPr>
        <p:spPr>
          <a:xfrm>
            <a:off x="548640" y="6473952"/>
            <a:ext cx="4206240" cy="274320"/>
          </a:xfrm>
          <a:prstGeom prst="rect">
            <a:avLst/>
          </a:prstGeom>
          <a:noFill/>
        </p:spPr>
        <p:txBody>
          <a:bodyPr wrap="square" lIns="0" tIns="0" rIns="0" bIns="0" anchor="t">
            <a:spAutoFit/>
          </a:bodyPr>
          <a:lstStyle/>
          <a:p>
            <a:pPr algn="l"/>
            <a:r>
              <a:rPr sz="800" b="0">
                <a:solidFill>
                  <a:srgbClr val="919191"/>
                </a:solidFill>
                <a:latin typeface="에이투지체 3 Light"/>
                <a:ea typeface="에이투지체 3 Light"/>
                <a:cs typeface="에이투지체 3 Light"/>
              </a:rPr>
              <a:t>DODREAM B&amp;B AD PROPOSAL · 2026</a:t>
            </a:r>
          </a:p>
        </p:txBody>
      </p:sp>
      <p:sp>
        <p:nvSpPr>
          <p:cNvPr id="8" name="TextBox 7"/>
          <p:cNvSpPr txBox="1"/>
          <p:nvPr/>
        </p:nvSpPr>
        <p:spPr>
          <a:xfrm>
            <a:off x="8138160" y="6473952"/>
            <a:ext cx="3017520" cy="274320"/>
          </a:xfrm>
          <a:prstGeom prst="rect">
            <a:avLst/>
          </a:prstGeom>
          <a:noFill/>
        </p:spPr>
        <p:txBody>
          <a:bodyPr wrap="square" lIns="0" tIns="0" rIns="0" bIns="0" anchor="t">
            <a:spAutoFit/>
          </a:bodyPr>
          <a:lstStyle/>
          <a:p>
            <a:pPr algn="r"/>
            <a:r>
              <a:rPr sz="800" b="0">
                <a:solidFill>
                  <a:srgbClr val="919191"/>
                </a:solidFill>
                <a:latin typeface="에이투지체 3 Light"/>
                <a:ea typeface="에이투지체 3 Light"/>
                <a:cs typeface="에이투지체 3 Light"/>
              </a:rPr>
              <a:t>LINKPRICE · BRAND AD CENTER</a:t>
            </a:r>
          </a:p>
        </p:txBody>
      </p:sp>
      <p:sp>
        <p:nvSpPr>
          <p:cNvPr id="9" name="TextBox 8"/>
          <p:cNvSpPr txBox="1"/>
          <p:nvPr/>
        </p:nvSpPr>
        <p:spPr>
          <a:xfrm>
            <a:off x="11292840" y="6473952"/>
            <a:ext cx="365760" cy="274320"/>
          </a:xfrm>
          <a:prstGeom prst="rect">
            <a:avLst/>
          </a:prstGeom>
          <a:noFill/>
        </p:spPr>
        <p:txBody>
          <a:bodyPr wrap="square" lIns="0" tIns="0" rIns="0" bIns="0" anchor="t">
            <a:spAutoFit/>
          </a:bodyPr>
          <a:lstStyle/>
          <a:p>
            <a:pPr algn="r"/>
            <a:r>
              <a:rPr sz="800" b="0">
                <a:solidFill>
                  <a:srgbClr val="222222"/>
                </a:solidFill>
                <a:latin typeface="에이투지체 6 SemiBold"/>
                <a:ea typeface="에이투지체 6 SemiBold"/>
                <a:cs typeface="에이투지체 6 SemiBold"/>
              </a:rPr>
              <a:t>36</a:t>
            </a:r>
          </a:p>
        </p:txBody>
      </p:sp>
      <p:sp>
        <p:nvSpPr>
          <p:cNvPr id="10" name="TextBox 9"/>
          <p:cNvSpPr txBox="1"/>
          <p:nvPr/>
        </p:nvSpPr>
        <p:spPr>
          <a:xfrm>
            <a:off x="548640" y="2084831"/>
            <a:ext cx="2423160" cy="237744"/>
          </a:xfrm>
          <a:prstGeom prst="rect">
            <a:avLst/>
          </a:prstGeom>
          <a:noFill/>
        </p:spPr>
        <p:txBody>
          <a:bodyPr wrap="square" lIns="0" tIns="0" rIns="0" bIns="0" anchor="t">
            <a:spAutoFit/>
          </a:bodyPr>
          <a:lstStyle/>
          <a:p>
            <a:pPr algn="l"/>
            <a:r>
              <a:rPr sz="950" b="0">
                <a:solidFill>
                  <a:srgbClr val="919191"/>
                </a:solidFill>
                <a:latin typeface="에이투지체 6 SemiBold"/>
                <a:ea typeface="에이투지체 6 SemiBold"/>
                <a:cs typeface="에이투지체 6 SemiBold"/>
              </a:rPr>
              <a:t>핵심 과제</a:t>
            </a:r>
          </a:p>
        </p:txBody>
      </p:sp>
      <p:sp>
        <p:nvSpPr>
          <p:cNvPr id="11" name="TextBox 10"/>
          <p:cNvSpPr txBox="1"/>
          <p:nvPr/>
        </p:nvSpPr>
        <p:spPr>
          <a:xfrm>
            <a:off x="3291840" y="2084831"/>
            <a:ext cx="3931920" cy="237744"/>
          </a:xfrm>
          <a:prstGeom prst="rect">
            <a:avLst/>
          </a:prstGeom>
          <a:noFill/>
        </p:spPr>
        <p:txBody>
          <a:bodyPr wrap="square" lIns="0" tIns="0" rIns="0" bIns="0" anchor="t">
            <a:spAutoFit/>
          </a:bodyPr>
          <a:lstStyle/>
          <a:p>
            <a:pPr algn="l"/>
            <a:r>
              <a:rPr sz="950" b="0">
                <a:solidFill>
                  <a:srgbClr val="919191"/>
                </a:solidFill>
                <a:latin typeface="에이투지체 6 SemiBold"/>
                <a:ea typeface="에이투지체 6 SemiBold"/>
                <a:cs typeface="에이투지체 6 SemiBold"/>
              </a:rPr>
              <a:t>쿠팡 실행</a:t>
            </a:r>
          </a:p>
        </p:txBody>
      </p:sp>
      <p:sp>
        <p:nvSpPr>
          <p:cNvPr id="12" name="TextBox 11"/>
          <p:cNvSpPr txBox="1"/>
          <p:nvPr/>
        </p:nvSpPr>
        <p:spPr>
          <a:xfrm>
            <a:off x="7543800" y="2084831"/>
            <a:ext cx="2103120" cy="237744"/>
          </a:xfrm>
          <a:prstGeom prst="rect">
            <a:avLst/>
          </a:prstGeom>
          <a:noFill/>
        </p:spPr>
        <p:txBody>
          <a:bodyPr wrap="square" lIns="0" tIns="0" rIns="0" bIns="0" anchor="t">
            <a:spAutoFit/>
          </a:bodyPr>
          <a:lstStyle/>
          <a:p>
            <a:pPr algn="l"/>
            <a:r>
              <a:rPr sz="950" b="0">
                <a:solidFill>
                  <a:srgbClr val="919191"/>
                </a:solidFill>
                <a:latin typeface="에이투지체 6 SemiBold"/>
                <a:ea typeface="에이투지체 6 SemiBold"/>
                <a:cs typeface="에이투지체 6 SemiBold"/>
              </a:rPr>
              <a:t>운영</a:t>
            </a:r>
          </a:p>
        </p:txBody>
      </p:sp>
      <p:sp>
        <p:nvSpPr>
          <p:cNvPr id="13" name="TextBox 12"/>
          <p:cNvSpPr txBox="1"/>
          <p:nvPr/>
        </p:nvSpPr>
        <p:spPr>
          <a:xfrm>
            <a:off x="9966960" y="2084831"/>
            <a:ext cx="1645920" cy="237744"/>
          </a:xfrm>
          <a:prstGeom prst="rect">
            <a:avLst/>
          </a:prstGeom>
          <a:noFill/>
        </p:spPr>
        <p:txBody>
          <a:bodyPr wrap="square" lIns="0" tIns="0" rIns="0" bIns="0" anchor="t">
            <a:spAutoFit/>
          </a:bodyPr>
          <a:lstStyle/>
          <a:p>
            <a:pPr algn="l"/>
            <a:r>
              <a:rPr sz="950" b="0">
                <a:solidFill>
                  <a:srgbClr val="919191"/>
                </a:solidFill>
                <a:latin typeface="에이투지체 6 SemiBold"/>
                <a:ea typeface="에이투지체 6 SemiBold"/>
                <a:cs typeface="에이투지체 6 SemiBold"/>
              </a:rPr>
              <a:t>관리 지표</a:t>
            </a:r>
          </a:p>
        </p:txBody>
      </p:sp>
      <p:sp>
        <p:nvSpPr>
          <p:cNvPr id="14" name="Rounded Rectangle 13"/>
          <p:cNvSpPr/>
          <p:nvPr/>
        </p:nvSpPr>
        <p:spPr>
          <a:xfrm>
            <a:off x="548640" y="2395728"/>
            <a:ext cx="2423160" cy="640080"/>
          </a:xfrm>
          <a:prstGeom prst="roundRect">
            <a:avLst>
              <a:gd name="adj" fmla="val 11428"/>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2395728"/>
            <a:ext cx="2148840" cy="640080"/>
          </a:xfrm>
          <a:prstGeom prst="rect">
            <a:avLst/>
          </a:prstGeom>
          <a:noFill/>
        </p:spPr>
        <p:txBody>
          <a:bodyPr wrap="square" lIns="0" tIns="0" rIns="0" bIns="0" anchor="ctr">
            <a:spAutoFit/>
          </a:bodyPr>
          <a:lstStyle/>
          <a:p>
            <a:pPr algn="l"/>
            <a:r>
              <a:rPr sz="1050" b="0">
                <a:solidFill>
                  <a:srgbClr val="FFFFFF"/>
                </a:solidFill>
                <a:latin typeface="에이투지체 6 SemiBold"/>
                <a:ea typeface="에이투지체 6 SemiBold"/>
                <a:cs typeface="에이투지체 6 SemiBold"/>
              </a:rPr>
              <a:t>01</a:t>
            </a:r>
          </a:p>
          <a:p>
            <a:pPr algn="l"/>
            <a:r>
              <a:rPr sz="1300" b="0">
                <a:solidFill>
                  <a:srgbClr val="FFFFFF"/>
                </a:solidFill>
                <a:latin typeface="에이투지체 6 SemiBold"/>
                <a:ea typeface="에이투지체 6 SemiBold"/>
                <a:cs typeface="에이투지체 6 SemiBold"/>
              </a:rPr>
              <a:t>캠페인 구조 정리</a:t>
            </a:r>
          </a:p>
        </p:txBody>
      </p:sp>
      <p:sp>
        <p:nvSpPr>
          <p:cNvPr id="16" name="Rounded Rectangle 15"/>
          <p:cNvSpPr/>
          <p:nvPr/>
        </p:nvSpPr>
        <p:spPr>
          <a:xfrm>
            <a:off x="3291840" y="2395728"/>
            <a:ext cx="3931920" cy="640080"/>
          </a:xfrm>
          <a:prstGeom prst="roundRect">
            <a:avLst>
              <a:gd name="adj" fmla="val 11428"/>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493008" y="2395728"/>
            <a:ext cx="3611880" cy="640080"/>
          </a:xfrm>
          <a:prstGeom prst="rect">
            <a:avLst/>
          </a:prstGeom>
          <a:noFill/>
        </p:spPr>
        <p:txBody>
          <a:bodyPr wrap="square" lIns="0" tIns="0" rIns="0" bIns="0" anchor="ctr">
            <a:spAutoFit/>
          </a:bodyPr>
          <a:lstStyle/>
          <a:p>
            <a:pPr algn="l"/>
            <a:r>
              <a:rPr sz="1100" b="0">
                <a:solidFill>
                  <a:srgbClr val="222222"/>
                </a:solidFill>
                <a:latin typeface="에이투지체 5 Medium"/>
                <a:ea typeface="에이투지체 5 Medium"/>
                <a:cs typeface="에이투지체 5 Medium"/>
              </a:rPr>
              <a:t>목표 ROAS 기준 학습이라 객단가로 나누고</a:t>
            </a:r>
          </a:p>
          <a:p>
            <a:pPr algn="l"/>
            <a:r>
              <a:rPr sz="1100" b="0">
                <a:solidFill>
                  <a:srgbClr val="222222"/>
                </a:solidFill>
                <a:latin typeface="에이투지체 5 Medium"/>
                <a:ea typeface="에이투지체 5 Medium"/>
                <a:cs typeface="에이투지체 5 Medium"/>
              </a:rPr>
              <a:t>리뷰가 쌓인 로켓 상품부터 운영합니다</a:t>
            </a:r>
          </a:p>
        </p:txBody>
      </p:sp>
      <p:sp>
        <p:nvSpPr>
          <p:cNvPr id="18" name="Rounded Rectangle 17"/>
          <p:cNvSpPr/>
          <p:nvPr/>
        </p:nvSpPr>
        <p:spPr>
          <a:xfrm>
            <a:off x="7543800" y="2468880"/>
            <a:ext cx="2103120" cy="493775"/>
          </a:xfrm>
          <a:prstGeom prst="roundRect">
            <a:avLst>
              <a:gd name="adj" fmla="val 14814"/>
            </a:avLst>
          </a:prstGeom>
          <a:solidFill>
            <a:srgbClr val="FFFFFF"/>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635240" y="2468880"/>
            <a:ext cx="1920240" cy="493775"/>
          </a:xfrm>
          <a:prstGeom prst="rect">
            <a:avLst/>
          </a:prstGeom>
          <a:noFill/>
        </p:spPr>
        <p:txBody>
          <a:bodyPr wrap="square" lIns="0" tIns="0" rIns="0" bIns="0" anchor="ctr">
            <a:spAutoFit/>
          </a:bodyPr>
          <a:lstStyle/>
          <a:p>
            <a:pPr algn="ctr"/>
            <a:r>
              <a:rPr sz="1050" b="0">
                <a:solidFill>
                  <a:srgbClr val="004F9F"/>
                </a:solidFill>
                <a:latin typeface="에이투지체 6 SemiBold"/>
                <a:ea typeface="에이투지체 6 SemiBold"/>
                <a:cs typeface="에이투지체 6 SemiBold"/>
              </a:rPr>
              <a:t>매출 최적화 A, B, C</a:t>
            </a:r>
          </a:p>
        </p:txBody>
      </p:sp>
      <p:sp>
        <p:nvSpPr>
          <p:cNvPr id="20" name="TextBox 19"/>
          <p:cNvSpPr txBox="1"/>
          <p:nvPr/>
        </p:nvSpPr>
        <p:spPr>
          <a:xfrm>
            <a:off x="9966960" y="2395728"/>
            <a:ext cx="1645920" cy="640080"/>
          </a:xfrm>
          <a:prstGeom prst="rect">
            <a:avLst/>
          </a:prstGeom>
          <a:noFill/>
        </p:spPr>
        <p:txBody>
          <a:bodyPr wrap="square" lIns="0" tIns="0" rIns="0" bIns="0" anchor="ctr">
            <a:spAutoFit/>
          </a:bodyPr>
          <a:lstStyle/>
          <a:p>
            <a:pPr algn="ctr"/>
            <a:r>
              <a:rPr sz="1100" b="0">
                <a:solidFill>
                  <a:srgbClr val="222222"/>
                </a:solidFill>
                <a:latin typeface="에이투지체 6 SemiBold"/>
                <a:ea typeface="에이투지체 6 SemiBold"/>
                <a:cs typeface="에이투지체 6 SemiBold"/>
              </a:rPr>
              <a:t>캠페인별 ROAS</a:t>
            </a:r>
          </a:p>
        </p:txBody>
      </p:sp>
      <p:sp>
        <p:nvSpPr>
          <p:cNvPr id="21" name="Isosceles Triangle 20"/>
          <p:cNvSpPr/>
          <p:nvPr/>
        </p:nvSpPr>
        <p:spPr>
          <a:xfrm rot="5400000">
            <a:off x="2990088" y="2642616"/>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Isosceles Triangle 21"/>
          <p:cNvSpPr/>
          <p:nvPr/>
        </p:nvSpPr>
        <p:spPr>
          <a:xfrm rot="5400000">
            <a:off x="7242048" y="2642616"/>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Isosceles Triangle 22"/>
          <p:cNvSpPr/>
          <p:nvPr/>
        </p:nvSpPr>
        <p:spPr>
          <a:xfrm rot="5400000">
            <a:off x="9665208" y="2642616"/>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548640" y="3145536"/>
            <a:ext cx="2423160" cy="640080"/>
          </a:xfrm>
          <a:prstGeom prst="roundRect">
            <a:avLst>
              <a:gd name="adj" fmla="val 11428"/>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31520" y="3145536"/>
            <a:ext cx="2148840" cy="640080"/>
          </a:xfrm>
          <a:prstGeom prst="rect">
            <a:avLst/>
          </a:prstGeom>
          <a:noFill/>
        </p:spPr>
        <p:txBody>
          <a:bodyPr wrap="square" lIns="0" tIns="0" rIns="0" bIns="0" anchor="ctr">
            <a:spAutoFit/>
          </a:bodyPr>
          <a:lstStyle/>
          <a:p>
            <a:pPr algn="l"/>
            <a:r>
              <a:rPr sz="1050" b="0">
                <a:solidFill>
                  <a:srgbClr val="004F9F"/>
                </a:solidFill>
                <a:latin typeface="에이투지체 6 SemiBold"/>
                <a:ea typeface="에이투지체 6 SemiBold"/>
                <a:cs typeface="에이투지체 6 SemiBold"/>
              </a:rPr>
              <a:t>02</a:t>
            </a:r>
          </a:p>
          <a:p>
            <a:pPr algn="l"/>
            <a:r>
              <a:rPr sz="1300" b="0">
                <a:solidFill>
                  <a:srgbClr val="222222"/>
                </a:solidFill>
                <a:latin typeface="에이투지체 6 SemiBold"/>
                <a:ea typeface="에이투지체 6 SemiBold"/>
                <a:cs typeface="에이투지체 6 SemiBold"/>
              </a:rPr>
              <a:t>검색어 노출 확대</a:t>
            </a:r>
          </a:p>
        </p:txBody>
      </p:sp>
      <p:sp>
        <p:nvSpPr>
          <p:cNvPr id="26" name="Rounded Rectangle 25"/>
          <p:cNvSpPr/>
          <p:nvPr/>
        </p:nvSpPr>
        <p:spPr>
          <a:xfrm>
            <a:off x="3291840" y="3145536"/>
            <a:ext cx="3931920" cy="640080"/>
          </a:xfrm>
          <a:prstGeom prst="roundRect">
            <a:avLst>
              <a:gd name="adj" fmla="val 11428"/>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493008" y="3145536"/>
            <a:ext cx="3611880" cy="640080"/>
          </a:xfrm>
          <a:prstGeom prst="rect">
            <a:avLst/>
          </a:prstGeom>
          <a:noFill/>
        </p:spPr>
        <p:txBody>
          <a:bodyPr wrap="square" lIns="0" tIns="0" rIns="0" bIns="0" anchor="ctr">
            <a:spAutoFit/>
          </a:bodyPr>
          <a:lstStyle/>
          <a:p>
            <a:pPr algn="l"/>
            <a:r>
              <a:rPr sz="1100" b="0">
                <a:solidFill>
                  <a:srgbClr val="222222"/>
                </a:solidFill>
                <a:latin typeface="에이투지체 5 Medium"/>
                <a:ea typeface="에이투지체 5 Medium"/>
                <a:cs typeface="에이투지체 5 Medium"/>
              </a:rPr>
              <a:t>브랜드 검색어는 상시 노출하고</a:t>
            </a:r>
          </a:p>
          <a:p>
            <a:pPr algn="l"/>
            <a:r>
              <a:rPr sz="1100" b="0">
                <a:solidFill>
                  <a:srgbClr val="222222"/>
                </a:solidFill>
                <a:latin typeface="에이투지체 5 Medium"/>
                <a:ea typeface="에이투지체 5 Medium"/>
                <a:cs typeface="에이투지체 5 Medium"/>
              </a:rPr>
              <a:t>대표·경쟁사 검색어는 제외 없이 성과를 봅니다</a:t>
            </a:r>
          </a:p>
        </p:txBody>
      </p:sp>
      <p:sp>
        <p:nvSpPr>
          <p:cNvPr id="28" name="Rounded Rectangle 27"/>
          <p:cNvSpPr/>
          <p:nvPr/>
        </p:nvSpPr>
        <p:spPr>
          <a:xfrm>
            <a:off x="7543800" y="3218688"/>
            <a:ext cx="2103120" cy="493775"/>
          </a:xfrm>
          <a:prstGeom prst="roundRect">
            <a:avLst>
              <a:gd name="adj" fmla="val 14814"/>
            </a:avLst>
          </a:prstGeom>
          <a:solidFill>
            <a:srgbClr val="FFFFFF"/>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635240" y="3218688"/>
            <a:ext cx="1920240" cy="493775"/>
          </a:xfrm>
          <a:prstGeom prst="rect">
            <a:avLst/>
          </a:prstGeom>
          <a:noFill/>
        </p:spPr>
        <p:txBody>
          <a:bodyPr wrap="square" lIns="0" tIns="0" rIns="0" bIns="0" anchor="ctr">
            <a:spAutoFit/>
          </a:bodyPr>
          <a:lstStyle/>
          <a:p>
            <a:pPr algn="ctr"/>
            <a:r>
              <a:rPr sz="1050" b="0">
                <a:solidFill>
                  <a:srgbClr val="004F9F"/>
                </a:solidFill>
                <a:latin typeface="에이투지체 6 SemiBold"/>
                <a:ea typeface="에이투지체 6 SemiBold"/>
                <a:cs typeface="에이투지체 6 SemiBold"/>
              </a:rPr>
              <a:t>매출 최적화</a:t>
            </a:r>
          </a:p>
          <a:p>
            <a:pPr algn="ctr"/>
            <a:r>
              <a:rPr sz="1050" b="0">
                <a:solidFill>
                  <a:srgbClr val="004F9F"/>
                </a:solidFill>
                <a:latin typeface="에이투지체 6 SemiBold"/>
                <a:ea typeface="에이투지체 6 SemiBold"/>
                <a:cs typeface="에이투지체 6 SemiBold"/>
              </a:rPr>
              <a:t>검색어 리포트</a:t>
            </a:r>
          </a:p>
        </p:txBody>
      </p:sp>
      <p:sp>
        <p:nvSpPr>
          <p:cNvPr id="30" name="TextBox 29"/>
          <p:cNvSpPr txBox="1"/>
          <p:nvPr/>
        </p:nvSpPr>
        <p:spPr>
          <a:xfrm>
            <a:off x="9966960" y="3145536"/>
            <a:ext cx="1645920" cy="640080"/>
          </a:xfrm>
          <a:prstGeom prst="rect">
            <a:avLst/>
          </a:prstGeom>
          <a:noFill/>
        </p:spPr>
        <p:txBody>
          <a:bodyPr wrap="square" lIns="0" tIns="0" rIns="0" bIns="0" anchor="ctr">
            <a:spAutoFit/>
          </a:bodyPr>
          <a:lstStyle/>
          <a:p>
            <a:pPr algn="ctr"/>
            <a:r>
              <a:rPr sz="1100" b="0">
                <a:solidFill>
                  <a:srgbClr val="222222"/>
                </a:solidFill>
                <a:latin typeface="에이투지체 6 SemiBold"/>
                <a:ea typeface="에이투지체 6 SemiBold"/>
                <a:cs typeface="에이투지체 6 SemiBold"/>
              </a:rPr>
              <a:t>검색어별 전환</a:t>
            </a:r>
          </a:p>
          <a:p>
            <a:pPr algn="ctr"/>
            <a:r>
              <a:rPr sz="1100" b="0">
                <a:solidFill>
                  <a:srgbClr val="222222"/>
                </a:solidFill>
                <a:latin typeface="에이투지체 6 SemiBold"/>
                <a:ea typeface="에이투지체 6 SemiBold"/>
                <a:cs typeface="에이투지체 6 SemiBold"/>
              </a:rPr>
              <a:t>무전환 비용</a:t>
            </a:r>
          </a:p>
        </p:txBody>
      </p:sp>
      <p:sp>
        <p:nvSpPr>
          <p:cNvPr id="31" name="Isosceles Triangle 30"/>
          <p:cNvSpPr/>
          <p:nvPr/>
        </p:nvSpPr>
        <p:spPr>
          <a:xfrm rot="5400000">
            <a:off x="2990088" y="3392424"/>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Isosceles Triangle 31"/>
          <p:cNvSpPr/>
          <p:nvPr/>
        </p:nvSpPr>
        <p:spPr>
          <a:xfrm rot="5400000">
            <a:off x="7242048" y="3392424"/>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Isosceles Triangle 32"/>
          <p:cNvSpPr/>
          <p:nvPr/>
        </p:nvSpPr>
        <p:spPr>
          <a:xfrm rot="5400000">
            <a:off x="9665208" y="3392424"/>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548640" y="3895344"/>
            <a:ext cx="2423160" cy="640080"/>
          </a:xfrm>
          <a:prstGeom prst="roundRect">
            <a:avLst>
              <a:gd name="adj" fmla="val 11428"/>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31520" y="3895344"/>
            <a:ext cx="2148840" cy="640080"/>
          </a:xfrm>
          <a:prstGeom prst="rect">
            <a:avLst/>
          </a:prstGeom>
          <a:noFill/>
        </p:spPr>
        <p:txBody>
          <a:bodyPr wrap="square" lIns="0" tIns="0" rIns="0" bIns="0" anchor="ctr">
            <a:spAutoFit/>
          </a:bodyPr>
          <a:lstStyle/>
          <a:p>
            <a:pPr algn="l"/>
            <a:r>
              <a:rPr sz="1050" b="0">
                <a:solidFill>
                  <a:srgbClr val="004F9F"/>
                </a:solidFill>
                <a:latin typeface="에이투지체 6 SemiBold"/>
                <a:ea typeface="에이투지체 6 SemiBold"/>
                <a:cs typeface="에이투지체 6 SemiBold"/>
              </a:rPr>
              <a:t>03</a:t>
            </a:r>
          </a:p>
          <a:p>
            <a:pPr algn="l"/>
            <a:r>
              <a:rPr sz="1300" b="0">
                <a:solidFill>
                  <a:srgbClr val="222222"/>
                </a:solidFill>
                <a:latin typeface="에이투지체 6 SemiBold"/>
                <a:ea typeface="에이투지체 6 SemiBold"/>
                <a:cs typeface="에이투지체 6 SemiBold"/>
              </a:rPr>
              <a:t>성장 패키지 상품</a:t>
            </a:r>
          </a:p>
        </p:txBody>
      </p:sp>
      <p:sp>
        <p:nvSpPr>
          <p:cNvPr id="36" name="Rounded Rectangle 35"/>
          <p:cNvSpPr/>
          <p:nvPr/>
        </p:nvSpPr>
        <p:spPr>
          <a:xfrm>
            <a:off x="3291840" y="3895344"/>
            <a:ext cx="3931920" cy="640080"/>
          </a:xfrm>
          <a:prstGeom prst="roundRect">
            <a:avLst>
              <a:gd name="adj" fmla="val 11428"/>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493008" y="3895344"/>
            <a:ext cx="3611880" cy="640080"/>
          </a:xfrm>
          <a:prstGeom prst="rect">
            <a:avLst/>
          </a:prstGeom>
          <a:noFill/>
        </p:spPr>
        <p:txBody>
          <a:bodyPr wrap="square" lIns="0" tIns="0" rIns="0" bIns="0" anchor="ctr">
            <a:spAutoFit/>
          </a:bodyPr>
          <a:lstStyle/>
          <a:p>
            <a:pPr algn="l"/>
            <a:r>
              <a:rPr sz="1100" b="0">
                <a:solidFill>
                  <a:srgbClr val="222222"/>
                </a:solidFill>
                <a:latin typeface="에이투지체 5 Medium"/>
                <a:ea typeface="에이투지체 5 Medium"/>
                <a:cs typeface="에이투지체 5 Medium"/>
              </a:rPr>
              <a:t>FGO 세트 상품 등록을 두드림에 제안하고</a:t>
            </a:r>
          </a:p>
          <a:p>
            <a:pPr algn="l"/>
            <a:r>
              <a:rPr sz="1100" b="0">
                <a:solidFill>
                  <a:srgbClr val="222222"/>
                </a:solidFill>
                <a:latin typeface="에이투지체 5 Medium"/>
                <a:ea typeface="에이투지체 5 Medium"/>
                <a:cs typeface="에이투지체 5 Medium"/>
              </a:rPr>
              <a:t>등록되면 어린이영양제 등 넓은 검색어까지 노출합니다</a:t>
            </a:r>
          </a:p>
        </p:txBody>
      </p:sp>
      <p:sp>
        <p:nvSpPr>
          <p:cNvPr id="38" name="Rounded Rectangle 37"/>
          <p:cNvSpPr/>
          <p:nvPr/>
        </p:nvSpPr>
        <p:spPr>
          <a:xfrm>
            <a:off x="7543800" y="3968496"/>
            <a:ext cx="2103120" cy="493775"/>
          </a:xfrm>
          <a:prstGeom prst="roundRect">
            <a:avLst>
              <a:gd name="adj" fmla="val 14814"/>
            </a:avLst>
          </a:prstGeom>
          <a:solidFill>
            <a:srgbClr val="FFFFFF"/>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635240" y="3968496"/>
            <a:ext cx="1920240" cy="493775"/>
          </a:xfrm>
          <a:prstGeom prst="rect">
            <a:avLst/>
          </a:prstGeom>
          <a:noFill/>
        </p:spPr>
        <p:txBody>
          <a:bodyPr wrap="square" lIns="0" tIns="0" rIns="0" bIns="0" anchor="ctr">
            <a:spAutoFit/>
          </a:bodyPr>
          <a:lstStyle/>
          <a:p>
            <a:pPr algn="ctr"/>
            <a:r>
              <a:rPr sz="1050" b="0">
                <a:solidFill>
                  <a:srgbClr val="004F9F"/>
                </a:solidFill>
                <a:latin typeface="에이투지체 6 SemiBold"/>
                <a:ea typeface="에이투지체 6 SemiBold"/>
                <a:cs typeface="에이투지체 6 SemiBold"/>
              </a:rPr>
              <a:t>매출 최적화 A</a:t>
            </a:r>
          </a:p>
          <a:p>
            <a:pPr algn="ctr"/>
            <a:r>
              <a:rPr sz="1050" b="0">
                <a:solidFill>
                  <a:srgbClr val="004F9F"/>
                </a:solidFill>
                <a:latin typeface="에이투지체 6 SemiBold"/>
                <a:ea typeface="에이투지체 6 SemiBold"/>
                <a:cs typeface="에이투지체 6 SemiBold"/>
              </a:rPr>
              <a:t>키성장 캠페인</a:t>
            </a:r>
          </a:p>
        </p:txBody>
      </p:sp>
      <p:sp>
        <p:nvSpPr>
          <p:cNvPr id="40" name="TextBox 39"/>
          <p:cNvSpPr txBox="1"/>
          <p:nvPr/>
        </p:nvSpPr>
        <p:spPr>
          <a:xfrm>
            <a:off x="9966960" y="3895344"/>
            <a:ext cx="1645920" cy="640080"/>
          </a:xfrm>
          <a:prstGeom prst="rect">
            <a:avLst/>
          </a:prstGeom>
          <a:noFill/>
        </p:spPr>
        <p:txBody>
          <a:bodyPr wrap="square" lIns="0" tIns="0" rIns="0" bIns="0" anchor="ctr">
            <a:spAutoFit/>
          </a:bodyPr>
          <a:lstStyle/>
          <a:p>
            <a:pPr algn="ctr"/>
            <a:r>
              <a:rPr sz="1100" b="0">
                <a:solidFill>
                  <a:srgbClr val="222222"/>
                </a:solidFill>
                <a:latin typeface="에이투지체 6 SemiBold"/>
                <a:ea typeface="에이투지체 6 SemiBold"/>
                <a:cs typeface="에이투지체 6 SemiBold"/>
              </a:rPr>
              <a:t>세트 매출</a:t>
            </a:r>
          </a:p>
          <a:p>
            <a:pPr algn="ctr"/>
            <a:r>
              <a:rPr sz="1100" b="0">
                <a:solidFill>
                  <a:srgbClr val="222222"/>
                </a:solidFill>
                <a:latin typeface="에이투지체 6 SemiBold"/>
                <a:ea typeface="에이투지체 6 SemiBold"/>
                <a:cs typeface="에이투지체 6 SemiBold"/>
              </a:rPr>
              <a:t>FGO 외 매출 비중</a:t>
            </a:r>
          </a:p>
        </p:txBody>
      </p:sp>
      <p:sp>
        <p:nvSpPr>
          <p:cNvPr id="41" name="Isosceles Triangle 40"/>
          <p:cNvSpPr/>
          <p:nvPr/>
        </p:nvSpPr>
        <p:spPr>
          <a:xfrm rot="5400000">
            <a:off x="2990088" y="4142231"/>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Isosceles Triangle 41"/>
          <p:cNvSpPr/>
          <p:nvPr/>
        </p:nvSpPr>
        <p:spPr>
          <a:xfrm rot="5400000">
            <a:off x="7242048" y="4142231"/>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Isosceles Triangle 42"/>
          <p:cNvSpPr/>
          <p:nvPr/>
        </p:nvSpPr>
        <p:spPr>
          <a:xfrm rot="5400000">
            <a:off x="9665208" y="4142231"/>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ounded Rectangle 43"/>
          <p:cNvSpPr/>
          <p:nvPr/>
        </p:nvSpPr>
        <p:spPr>
          <a:xfrm>
            <a:off x="548640" y="4645152"/>
            <a:ext cx="2423160" cy="640080"/>
          </a:xfrm>
          <a:prstGeom prst="roundRect">
            <a:avLst>
              <a:gd name="adj" fmla="val 11428"/>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731520" y="4645152"/>
            <a:ext cx="2148840" cy="640080"/>
          </a:xfrm>
          <a:prstGeom prst="rect">
            <a:avLst/>
          </a:prstGeom>
          <a:noFill/>
        </p:spPr>
        <p:txBody>
          <a:bodyPr wrap="square" lIns="0" tIns="0" rIns="0" bIns="0" anchor="ctr">
            <a:spAutoFit/>
          </a:bodyPr>
          <a:lstStyle/>
          <a:p>
            <a:pPr algn="l"/>
            <a:r>
              <a:rPr sz="1050" b="0">
                <a:solidFill>
                  <a:srgbClr val="004F9F"/>
                </a:solidFill>
                <a:latin typeface="에이투지체 6 SemiBold"/>
                <a:ea typeface="에이투지체 6 SemiBold"/>
                <a:cs typeface="에이투지체 6 SemiBold"/>
              </a:rPr>
              <a:t>04</a:t>
            </a:r>
          </a:p>
          <a:p>
            <a:pPr algn="l"/>
            <a:r>
              <a:rPr sz="1300" b="0">
                <a:solidFill>
                  <a:srgbClr val="222222"/>
                </a:solidFill>
                <a:latin typeface="에이투지체 6 SemiBold"/>
                <a:ea typeface="에이투지체 6 SemiBold"/>
                <a:cs typeface="에이투지체 6 SemiBold"/>
              </a:rPr>
              <a:t>행사 기간 집중</a:t>
            </a:r>
          </a:p>
        </p:txBody>
      </p:sp>
      <p:sp>
        <p:nvSpPr>
          <p:cNvPr id="46" name="Rounded Rectangle 45"/>
          <p:cNvSpPr/>
          <p:nvPr/>
        </p:nvSpPr>
        <p:spPr>
          <a:xfrm>
            <a:off x="3291840" y="4645152"/>
            <a:ext cx="3931920" cy="640080"/>
          </a:xfrm>
          <a:prstGeom prst="roundRect">
            <a:avLst>
              <a:gd name="adj" fmla="val 11428"/>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493008" y="4645152"/>
            <a:ext cx="3611880" cy="640080"/>
          </a:xfrm>
          <a:prstGeom prst="rect">
            <a:avLst/>
          </a:prstGeom>
          <a:noFill/>
        </p:spPr>
        <p:txBody>
          <a:bodyPr wrap="square" lIns="0" tIns="0" rIns="0" bIns="0" anchor="ctr">
            <a:spAutoFit/>
          </a:bodyPr>
          <a:lstStyle/>
          <a:p>
            <a:pPr algn="l"/>
            <a:r>
              <a:rPr sz="1100" b="0">
                <a:solidFill>
                  <a:srgbClr val="222222"/>
                </a:solidFill>
                <a:latin typeface="에이투지체 5 Medium"/>
                <a:ea typeface="에이투지체 5 Medium"/>
                <a:cs typeface="에이투지체 5 Medium"/>
              </a:rPr>
              <a:t>상시 캠페인을 유지한 채</a:t>
            </a:r>
          </a:p>
          <a:p>
            <a:pPr algn="l"/>
            <a:r>
              <a:rPr sz="1100" b="0">
                <a:solidFill>
                  <a:srgbClr val="222222"/>
                </a:solidFill>
                <a:latin typeface="에이투지체 5 Medium"/>
                <a:ea typeface="에이투지체 5 Medium"/>
                <a:cs typeface="에이투지체 5 Medium"/>
              </a:rPr>
              <a:t>블프 기간 예산과 목표 ROAS만 조정합니다</a:t>
            </a:r>
          </a:p>
        </p:txBody>
      </p:sp>
      <p:sp>
        <p:nvSpPr>
          <p:cNvPr id="48" name="Rounded Rectangle 47"/>
          <p:cNvSpPr/>
          <p:nvPr/>
        </p:nvSpPr>
        <p:spPr>
          <a:xfrm>
            <a:off x="7543800" y="4718304"/>
            <a:ext cx="2103120" cy="493775"/>
          </a:xfrm>
          <a:prstGeom prst="roundRect">
            <a:avLst>
              <a:gd name="adj" fmla="val 14814"/>
            </a:avLst>
          </a:prstGeom>
          <a:solidFill>
            <a:srgbClr val="FFFFFF"/>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635240" y="4718304"/>
            <a:ext cx="1920240" cy="493775"/>
          </a:xfrm>
          <a:prstGeom prst="rect">
            <a:avLst/>
          </a:prstGeom>
          <a:noFill/>
        </p:spPr>
        <p:txBody>
          <a:bodyPr wrap="square" lIns="0" tIns="0" rIns="0" bIns="0" anchor="ctr">
            <a:spAutoFit/>
          </a:bodyPr>
          <a:lstStyle/>
          <a:p>
            <a:pPr algn="ctr"/>
            <a:r>
              <a:rPr sz="1050" b="0">
                <a:solidFill>
                  <a:srgbClr val="004F9F"/>
                </a:solidFill>
                <a:latin typeface="에이투지체 6 SemiBold"/>
                <a:ea typeface="에이투지체 6 SemiBold"/>
                <a:cs typeface="에이투지체 6 SemiBold"/>
              </a:rPr>
              <a:t>기존 캠페인 유지</a:t>
            </a:r>
          </a:p>
        </p:txBody>
      </p:sp>
      <p:sp>
        <p:nvSpPr>
          <p:cNvPr id="50" name="TextBox 49"/>
          <p:cNvSpPr txBox="1"/>
          <p:nvPr/>
        </p:nvSpPr>
        <p:spPr>
          <a:xfrm>
            <a:off x="9966960" y="4645152"/>
            <a:ext cx="1645920" cy="640080"/>
          </a:xfrm>
          <a:prstGeom prst="rect">
            <a:avLst/>
          </a:prstGeom>
          <a:noFill/>
        </p:spPr>
        <p:txBody>
          <a:bodyPr wrap="square" lIns="0" tIns="0" rIns="0" bIns="0" anchor="ctr">
            <a:spAutoFit/>
          </a:bodyPr>
          <a:lstStyle/>
          <a:p>
            <a:pPr algn="ctr"/>
            <a:r>
              <a:rPr sz="1100" b="0">
                <a:solidFill>
                  <a:srgbClr val="222222"/>
                </a:solidFill>
                <a:latin typeface="에이투지체 6 SemiBold"/>
                <a:ea typeface="에이투지체 6 SemiBold"/>
                <a:cs typeface="에이투지체 6 SemiBold"/>
              </a:rPr>
              <a:t>행사 기간 ROAS</a:t>
            </a:r>
          </a:p>
        </p:txBody>
      </p:sp>
      <p:sp>
        <p:nvSpPr>
          <p:cNvPr id="51" name="Isosceles Triangle 50"/>
          <p:cNvSpPr/>
          <p:nvPr/>
        </p:nvSpPr>
        <p:spPr>
          <a:xfrm rot="5400000">
            <a:off x="2990088" y="4892040"/>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Isosceles Triangle 51"/>
          <p:cNvSpPr/>
          <p:nvPr/>
        </p:nvSpPr>
        <p:spPr>
          <a:xfrm rot="5400000">
            <a:off x="7242048" y="4892040"/>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Isosceles Triangle 52"/>
          <p:cNvSpPr/>
          <p:nvPr/>
        </p:nvSpPr>
        <p:spPr>
          <a:xfrm rot="5400000">
            <a:off x="9665208" y="4892040"/>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ctr"/>
          <a:lstStyle/>
          <a:p>
            <a:pPr algn="l"/>
            <a:r>
              <a:rPr sz="900" b="0" spc="100">
                <a:solidFill>
                  <a:srgbClr val="004F9F"/>
                </a:solidFill>
                <a:latin typeface="에이투지체 6 SemiBold"/>
                <a:ea typeface="에이투지체 6 SemiBold"/>
                <a:cs typeface="에이투지체 6 SemiBold"/>
              </a:rPr>
              <a:t>PART 2 · 11월 마케팅 전략 · 미디어믹스</a:t>
            </a:r>
          </a:p>
        </p:txBody>
      </p:sp>
      <p:sp>
        <p:nvSpPr>
          <p:cNvPr id="3" name="TextBox 2"/>
          <p:cNvSpPr txBox="1"/>
          <p:nvPr/>
        </p:nvSpPr>
        <p:spPr>
          <a:xfrm>
            <a:off x="548640" y="658368"/>
            <a:ext cx="11064240" cy="868680"/>
          </a:xfrm>
          <a:prstGeom prst="rect">
            <a:avLst/>
          </a:prstGeom>
          <a:noFill/>
        </p:spPr>
        <p:txBody>
          <a:bodyPr wrap="square" lIns="0" tIns="0" rIns="0" bIns="0" anchor="ctr"/>
          <a:lstStyle/>
          <a:p>
            <a:pPr>
              <a:lnSpc>
                <a:spcPts val="2600"/>
              </a:lnSpc>
            </a:pPr>
            <a:r>
              <a:rPr sz="1900" b="0">
                <a:solidFill>
                  <a:srgbClr val="FFFFFF"/>
                </a:solidFill>
                <a:highlight>
                  <a:srgbClr val="0000FF"/>
                </a:highlight>
                <a:latin typeface="에이투지체 8 ExtraBold"/>
                <a:ea typeface="에이투지체 8 ExtraBold"/>
                <a:cs typeface="에이투지체 8 ExtraBold"/>
              </a:rPr>
              <a:t>객단가가 다른 상품을 섞으면</a:t>
            </a:r>
            <a:r>
              <a:rPr sz="1900" b="0">
                <a:solidFill>
                  <a:srgbClr val="222222"/>
                </a:solidFill>
                <a:latin typeface="에이투지체 8 ExtraBold"/>
                <a:ea typeface="에이투지체 8 ExtraBold"/>
                <a:cs typeface="에이투지체 8 ExtraBold"/>
              </a:rPr>
              <a:t> 저가 상품이 밀립니다</a:t>
            </a:r>
          </a:p>
          <a:p>
            <a:pPr>
              <a:lnSpc>
                <a:spcPts val="2600"/>
              </a:lnSpc>
            </a:pPr>
            <a:r>
              <a:rPr sz="1900" b="0">
                <a:solidFill>
                  <a:srgbClr val="222222"/>
                </a:solidFill>
                <a:latin typeface="에이투지체 8 ExtraBold"/>
                <a:ea typeface="에이투지체 8 ExtraBold"/>
                <a:cs typeface="에이투지체 8 ExtraBold"/>
              </a:rPr>
              <a:t>목표 ROAS 기준으로 입찰하는 구조이기 때문입니다</a:t>
            </a:r>
          </a:p>
        </p:txBody>
      </p:sp>
      <p:sp>
        <p:nvSpPr>
          <p:cNvPr id="4" name="TextBox 3"/>
          <p:cNvSpPr txBox="1"/>
          <p:nvPr/>
        </p:nvSpPr>
        <p:spPr>
          <a:xfrm>
            <a:off x="548640" y="1517904"/>
            <a:ext cx="11064240" cy="365760"/>
          </a:xfrm>
          <a:prstGeom prst="rect">
            <a:avLst/>
          </a:prstGeom>
          <a:noFill/>
        </p:spPr>
        <p:txBody>
          <a:bodyPr wrap="square" lIns="0" tIns="0" rIns="0" bIns="0" anchor="ctr"/>
          <a:lstStyle/>
          <a:p>
            <a:pPr algn="l"/>
            <a:r>
              <a:rPr sz="1100" b="0">
                <a:solidFill>
                  <a:srgbClr val="5C5C5C"/>
                </a:solidFill>
                <a:latin typeface="에이투지체 5 Medium"/>
                <a:ea typeface="에이투지체 5 Medium"/>
                <a:cs typeface="에이투지체 5 Medium"/>
              </a:rPr>
              <a:t>쿠팡 핵심과제 1  매출 최적화 캠페인의 입찰 방식</a:t>
            </a:r>
          </a:p>
        </p:txBody>
      </p:sp>
      <p:sp>
        <p:nvSpPr>
          <p:cNvPr id="5" name="Rounded Rectangle 4"/>
          <p:cNvSpPr/>
          <p:nvPr/>
        </p:nvSpPr>
        <p:spPr>
          <a:xfrm>
            <a:off x="548640" y="5577840"/>
            <a:ext cx="11064240" cy="438912"/>
          </a:xfrm>
          <a:prstGeom prst="roundRect">
            <a:avLst>
              <a:gd name="adj" fmla="val 16666"/>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 y="5632704"/>
            <a:ext cx="10671048" cy="347472"/>
          </a:xfrm>
          <a:prstGeom prst="rect">
            <a:avLst/>
          </a:prstGeom>
          <a:noFill/>
        </p:spPr>
        <p:txBody>
          <a:bodyPr wrap="square" lIns="0" tIns="0" rIns="0" bIns="0" anchor="ctr">
            <a:spAutoFit/>
          </a:bodyPr>
          <a:lstStyle/>
          <a:p>
            <a:pPr algn="l"/>
            <a:r>
              <a:rPr sz="1350" b="0">
                <a:solidFill>
                  <a:srgbClr val="004F9F"/>
                </a:solidFill>
                <a:latin typeface="에이투지체 6 SemiBold"/>
                <a:ea typeface="에이투지체 6 SemiBold"/>
                <a:cs typeface="에이투지체 6 SemiBold"/>
              </a:rPr>
              <a:t>고가인 키성장은 단독 캠페인으로 두고, 나머지는 객단가가 비슷한 상품끼리 묶습니다</a:t>
            </a:r>
          </a:p>
        </p:txBody>
      </p:sp>
      <p:sp>
        <p:nvSpPr>
          <p:cNvPr id="7" name="TextBox 6"/>
          <p:cNvSpPr txBox="1"/>
          <p:nvPr/>
        </p:nvSpPr>
        <p:spPr>
          <a:xfrm>
            <a:off x="548640" y="6089904"/>
            <a:ext cx="11064240" cy="274320"/>
          </a:xfrm>
          <a:prstGeom prst="rect">
            <a:avLst/>
          </a:prstGeom>
          <a:noFill/>
        </p:spPr>
        <p:txBody>
          <a:bodyPr wrap="square" lIns="0" tIns="0" rIns="0" bIns="0" anchor="t">
            <a:spAutoFit/>
          </a:bodyPr>
          <a:lstStyle/>
          <a:p>
            <a:pPr algn="l"/>
            <a:r>
              <a:rPr sz="850" b="0">
                <a:solidFill>
                  <a:srgbClr val="919191"/>
                </a:solidFill>
                <a:latin typeface="에이투지체 3 Light"/>
                <a:ea typeface="에이투지체 3 Light"/>
                <a:cs typeface="에이투지체 3 Light"/>
              </a:rPr>
              <a:t>목표 ROAS 400%는 계산 예시 / 판매가: 2026.10.12 (주)두드림비엔비 쿠팡 브랜드샵 1개 구성 기준 / 판매 1건당 광고비 = 판매가 ÷ 목표 ROAS</a:t>
            </a:r>
          </a:p>
        </p:txBody>
      </p:sp>
      <p:sp>
        <p:nvSpPr>
          <p:cNvPr id="8" name="TextBox 7"/>
          <p:cNvSpPr txBox="1"/>
          <p:nvPr/>
        </p:nvSpPr>
        <p:spPr>
          <a:xfrm>
            <a:off x="548640" y="6473952"/>
            <a:ext cx="4206240" cy="274320"/>
          </a:xfrm>
          <a:prstGeom prst="rect">
            <a:avLst/>
          </a:prstGeom>
          <a:noFill/>
        </p:spPr>
        <p:txBody>
          <a:bodyPr wrap="square" lIns="0" tIns="0" rIns="0" bIns="0" anchor="t">
            <a:spAutoFit/>
          </a:bodyPr>
          <a:lstStyle/>
          <a:p>
            <a:pPr algn="l"/>
            <a:r>
              <a:rPr sz="800" b="0">
                <a:solidFill>
                  <a:srgbClr val="919191"/>
                </a:solidFill>
                <a:latin typeface="에이투지체 3 Light"/>
                <a:ea typeface="에이투지체 3 Light"/>
                <a:cs typeface="에이투지체 3 Light"/>
              </a:rPr>
              <a:t>DODREAM B&amp;B AD PROPOSAL · 2026</a:t>
            </a:r>
          </a:p>
        </p:txBody>
      </p:sp>
      <p:sp>
        <p:nvSpPr>
          <p:cNvPr id="9" name="TextBox 8"/>
          <p:cNvSpPr txBox="1"/>
          <p:nvPr/>
        </p:nvSpPr>
        <p:spPr>
          <a:xfrm>
            <a:off x="8138160" y="6473952"/>
            <a:ext cx="3017520" cy="274320"/>
          </a:xfrm>
          <a:prstGeom prst="rect">
            <a:avLst/>
          </a:prstGeom>
          <a:noFill/>
        </p:spPr>
        <p:txBody>
          <a:bodyPr wrap="square" lIns="0" tIns="0" rIns="0" bIns="0" anchor="t">
            <a:spAutoFit/>
          </a:bodyPr>
          <a:lstStyle/>
          <a:p>
            <a:pPr algn="r"/>
            <a:r>
              <a:rPr sz="800" b="0">
                <a:solidFill>
                  <a:srgbClr val="919191"/>
                </a:solidFill>
                <a:latin typeface="에이투지체 3 Light"/>
                <a:ea typeface="에이투지체 3 Light"/>
                <a:cs typeface="에이투지체 3 Light"/>
              </a:rPr>
              <a:t>LINKPRICE · BRAND AD CENTER</a:t>
            </a:r>
          </a:p>
        </p:txBody>
      </p:sp>
      <p:sp>
        <p:nvSpPr>
          <p:cNvPr id="10" name="TextBox 9"/>
          <p:cNvSpPr txBox="1"/>
          <p:nvPr/>
        </p:nvSpPr>
        <p:spPr>
          <a:xfrm>
            <a:off x="11292840" y="6473952"/>
            <a:ext cx="365760" cy="274320"/>
          </a:xfrm>
          <a:prstGeom prst="rect">
            <a:avLst/>
          </a:prstGeom>
          <a:noFill/>
        </p:spPr>
        <p:txBody>
          <a:bodyPr wrap="square" lIns="0" tIns="0" rIns="0" bIns="0" anchor="t">
            <a:spAutoFit/>
          </a:bodyPr>
          <a:lstStyle/>
          <a:p>
            <a:pPr algn="r"/>
            <a:r>
              <a:rPr sz="800" b="0">
                <a:solidFill>
                  <a:srgbClr val="222222"/>
                </a:solidFill>
                <a:latin typeface="에이투지체 6 SemiBold"/>
                <a:ea typeface="에이투지체 6 SemiBold"/>
                <a:cs typeface="에이투지체 6 SemiBold"/>
              </a:rPr>
              <a:t>37</a:t>
            </a:r>
          </a:p>
        </p:txBody>
      </p:sp>
      <p:sp>
        <p:nvSpPr>
          <p:cNvPr id="11" name="Rounded Rectangle 10"/>
          <p:cNvSpPr/>
          <p:nvPr/>
        </p:nvSpPr>
        <p:spPr>
          <a:xfrm>
            <a:off x="548640" y="2103120"/>
            <a:ext cx="6492240" cy="3291840"/>
          </a:xfrm>
          <a:prstGeom prst="roundRect">
            <a:avLst>
              <a:gd name="adj" fmla="val 2222"/>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2240280"/>
            <a:ext cx="6035040" cy="320040"/>
          </a:xfrm>
          <a:prstGeom prst="rect">
            <a:avLst/>
          </a:prstGeom>
          <a:noFill/>
        </p:spPr>
        <p:txBody>
          <a:bodyPr wrap="square" lIns="0" tIns="0" rIns="0" bIns="0" anchor="t">
            <a:spAutoFit/>
          </a:bodyPr>
          <a:lstStyle/>
          <a:p>
            <a:pPr algn="l"/>
            <a:r>
              <a:rPr sz="1400" b="0">
                <a:solidFill>
                  <a:srgbClr val="222222"/>
                </a:solidFill>
                <a:latin typeface="에이투지체 8 ExtraBold"/>
                <a:ea typeface="에이투지체 8 ExtraBold"/>
                <a:cs typeface="에이투지체 8 ExtraBold"/>
              </a:rPr>
              <a:t>목표 ROAS 400%일 때, 판매 1건에 쓸 수 있는 광고비</a:t>
            </a:r>
          </a:p>
        </p:txBody>
      </p:sp>
      <p:graphicFrame>
        <p:nvGraphicFramePr>
          <p:cNvPr id="13" name="Chart 12"/>
          <p:cNvGraphicFramePr>
            <a:graphicFrameLocks noGrp="1"/>
          </p:cNvGraphicFramePr>
          <p:nvPr/>
        </p:nvGraphicFramePr>
        <p:xfrm>
          <a:off x="685800" y="2606040"/>
          <a:ext cx="6263640" cy="2286000"/>
        </p:xfrm>
        <a:graphic>
          <a:graphicData uri="http://schemas.openxmlformats.org/drawingml/2006/chart">
            <c:chart xmlns:c="http://schemas.openxmlformats.org/drawingml/2006/chart" xmlns:r="http://schemas.openxmlformats.org/officeDocument/2006/relationships" r:id="rId2"/>
          </a:graphicData>
        </a:graphic>
      </p:graphicFrame>
      <p:sp>
        <p:nvSpPr>
          <p:cNvPr id="14" name="TextBox 13"/>
          <p:cNvSpPr txBox="1"/>
          <p:nvPr/>
        </p:nvSpPr>
        <p:spPr>
          <a:xfrm>
            <a:off x="777240" y="4983480"/>
            <a:ext cx="6035040" cy="320040"/>
          </a:xfrm>
          <a:prstGeom prst="rect">
            <a:avLst/>
          </a:prstGeom>
          <a:noFill/>
        </p:spPr>
        <p:txBody>
          <a:bodyPr wrap="square" lIns="0" tIns="0" rIns="0" bIns="0" anchor="t">
            <a:spAutoFit/>
          </a:bodyPr>
          <a:lstStyle/>
          <a:p>
            <a:pPr algn="l"/>
            <a:r>
              <a:rPr sz="1400" b="0">
                <a:solidFill>
                  <a:srgbClr val="004F9F"/>
                </a:solidFill>
                <a:latin typeface="에이투지체 8 ExtraBold"/>
                <a:ea typeface="에이투지체 8 ExtraBold"/>
                <a:cs typeface="에이투지체 8 ExtraBold"/>
              </a:rPr>
              <a:t>약 8.6배  </a:t>
            </a:r>
            <a:r>
              <a:rPr sz="1150" b="0">
                <a:solidFill>
                  <a:srgbClr val="222222"/>
                </a:solidFill>
                <a:latin typeface="에이투지체 6 SemiBold"/>
                <a:ea typeface="에이투지체 6 SemiBold"/>
                <a:cs typeface="에이투지체 6 SemiBold"/>
              </a:rPr>
              <a:t>FGO와 카무트 1개의 판매 1건당 광고비 차이</a:t>
            </a:r>
          </a:p>
        </p:txBody>
      </p:sp>
      <p:sp>
        <p:nvSpPr>
          <p:cNvPr id="15" name="Rounded Rectangle 14"/>
          <p:cNvSpPr/>
          <p:nvPr/>
        </p:nvSpPr>
        <p:spPr>
          <a:xfrm>
            <a:off x="7269480" y="2103120"/>
            <a:ext cx="4343400" cy="1572768"/>
          </a:xfrm>
          <a:prstGeom prst="roundRect">
            <a:avLst>
              <a:gd name="adj" fmla="val 4651"/>
            </a:avLst>
          </a:prstGeom>
          <a:solidFill>
            <a:srgbClr val="FFFFFF"/>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498079" y="2212848"/>
            <a:ext cx="3931920" cy="292608"/>
          </a:xfrm>
          <a:prstGeom prst="rect">
            <a:avLst/>
          </a:prstGeom>
          <a:noFill/>
        </p:spPr>
        <p:txBody>
          <a:bodyPr wrap="square" lIns="0" tIns="0" rIns="0" bIns="0" anchor="t">
            <a:spAutoFit/>
          </a:bodyPr>
          <a:lstStyle/>
          <a:p>
            <a:pPr algn="l"/>
            <a:r>
              <a:rPr sz="1350" b="0">
                <a:solidFill>
                  <a:srgbClr val="222222"/>
                </a:solidFill>
                <a:latin typeface="에이투지체 8 ExtraBold"/>
                <a:ea typeface="에이투지체 8 ExtraBold"/>
                <a:cs typeface="에이투지체 8 ExtraBold"/>
              </a:rPr>
              <a:t>한 캠페인에 섞으면</a:t>
            </a:r>
          </a:p>
        </p:txBody>
      </p:sp>
      <p:sp>
        <p:nvSpPr>
          <p:cNvPr id="17" name="TextBox 16"/>
          <p:cNvSpPr txBox="1"/>
          <p:nvPr/>
        </p:nvSpPr>
        <p:spPr>
          <a:xfrm>
            <a:off x="7498079" y="2578608"/>
            <a:ext cx="3931920" cy="1051560"/>
          </a:xfrm>
          <a:prstGeom prst="rect">
            <a:avLst/>
          </a:prstGeom>
          <a:noFill/>
        </p:spPr>
        <p:txBody>
          <a:bodyPr wrap="square" lIns="0" tIns="0" rIns="0" bIns="0" anchor="t">
            <a:spAutoFit/>
          </a:bodyPr>
          <a:lstStyle/>
          <a:p>
            <a:pPr algn="l">
              <a:spcAft>
                <a:spcPts val="200"/>
              </a:spcAft>
            </a:pPr>
            <a:r>
              <a:rPr sz="1150" b="0">
                <a:solidFill>
                  <a:srgbClr val="5C5C5C"/>
                </a:solidFill>
                <a:latin typeface="에이투지체 4 Regular"/>
                <a:ea typeface="에이투지체 4 Regular"/>
                <a:cs typeface="에이투지체 4 Regular"/>
              </a:rPr>
              <a:t>저가 상품은 쓸 수 있는 광고비가 적어</a:t>
            </a:r>
          </a:p>
          <a:p>
            <a:pPr algn="l">
              <a:spcAft>
                <a:spcPts val="200"/>
              </a:spcAft>
            </a:pPr>
            <a:r>
              <a:rPr sz="1150" b="0">
                <a:solidFill>
                  <a:srgbClr val="5C5C5C"/>
                </a:solidFill>
                <a:latin typeface="에이투지체 4 Regular"/>
                <a:ea typeface="에이투지체 4 Regular"/>
                <a:cs typeface="에이투지체 4 Regular"/>
              </a:rPr>
              <a:t>입찰에서 밀리고 노출이 줄어듭니다</a:t>
            </a:r>
          </a:p>
          <a:p>
            <a:pPr algn="l">
              <a:spcAft>
                <a:spcPts val="200"/>
              </a:spcAft>
            </a:pPr>
            <a:r>
              <a:rPr sz="1150" b="0">
                <a:solidFill>
                  <a:srgbClr val="5C5C5C"/>
                </a:solidFill>
                <a:latin typeface="에이투지체 4 Regular"/>
                <a:ea typeface="에이투지체 4 Regular"/>
                <a:cs typeface="에이투지체 4 Regular"/>
              </a:rPr>
              <a:t>캠페인 ROAS는 고가 상품 성과에 가려집니다</a:t>
            </a:r>
          </a:p>
        </p:txBody>
      </p:sp>
      <p:sp>
        <p:nvSpPr>
          <p:cNvPr id="18" name="Rounded Rectangle 17"/>
          <p:cNvSpPr/>
          <p:nvPr/>
        </p:nvSpPr>
        <p:spPr>
          <a:xfrm>
            <a:off x="7269480" y="3822191"/>
            <a:ext cx="4343400" cy="1572768"/>
          </a:xfrm>
          <a:prstGeom prst="roundRect">
            <a:avLst>
              <a:gd name="adj" fmla="val 4651"/>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498079" y="3931920"/>
            <a:ext cx="3931920" cy="292608"/>
          </a:xfrm>
          <a:prstGeom prst="rect">
            <a:avLst/>
          </a:prstGeom>
          <a:noFill/>
        </p:spPr>
        <p:txBody>
          <a:bodyPr wrap="square" lIns="0" tIns="0" rIns="0" bIns="0" anchor="t">
            <a:spAutoFit/>
          </a:bodyPr>
          <a:lstStyle/>
          <a:p>
            <a:pPr algn="l"/>
            <a:r>
              <a:rPr sz="1350" b="0">
                <a:solidFill>
                  <a:srgbClr val="004F9F"/>
                </a:solidFill>
                <a:latin typeface="에이투지체 8 ExtraBold"/>
                <a:ea typeface="에이투지체 8 ExtraBold"/>
                <a:cs typeface="에이투지체 8 ExtraBold"/>
              </a:rPr>
              <a:t>객단가별로 나누면</a:t>
            </a:r>
          </a:p>
        </p:txBody>
      </p:sp>
      <p:sp>
        <p:nvSpPr>
          <p:cNvPr id="20" name="TextBox 19"/>
          <p:cNvSpPr txBox="1"/>
          <p:nvPr/>
        </p:nvSpPr>
        <p:spPr>
          <a:xfrm>
            <a:off x="7498079" y="4297680"/>
            <a:ext cx="3931920" cy="1051560"/>
          </a:xfrm>
          <a:prstGeom prst="rect">
            <a:avLst/>
          </a:prstGeom>
          <a:noFill/>
        </p:spPr>
        <p:txBody>
          <a:bodyPr wrap="square" lIns="0" tIns="0" rIns="0" bIns="0" anchor="t">
            <a:spAutoFit/>
          </a:bodyPr>
          <a:lstStyle/>
          <a:p>
            <a:pPr algn="l">
              <a:spcAft>
                <a:spcPts val="200"/>
              </a:spcAft>
            </a:pPr>
            <a:r>
              <a:rPr sz="1150" b="0">
                <a:solidFill>
                  <a:srgbClr val="222222"/>
                </a:solidFill>
                <a:latin typeface="에이투지체 4 Regular"/>
                <a:ea typeface="에이투지체 4 Regular"/>
                <a:cs typeface="에이투지체 4 Regular"/>
              </a:rPr>
              <a:t>캠페인마다 객단가에 맞는 목표 ROAS 설정</a:t>
            </a:r>
          </a:p>
          <a:p>
            <a:pPr algn="l">
              <a:spcAft>
                <a:spcPts val="200"/>
              </a:spcAft>
            </a:pPr>
            <a:r>
              <a:rPr sz="1150" b="0">
                <a:solidFill>
                  <a:srgbClr val="222222"/>
                </a:solidFill>
                <a:latin typeface="에이투지체 4 Regular"/>
                <a:ea typeface="에이투지체 4 Regular"/>
                <a:cs typeface="에이투지체 4 Regular"/>
              </a:rPr>
              <a:t>저가 상품도 학습과 노출이 유지됩니다</a:t>
            </a:r>
          </a:p>
          <a:p>
            <a:pPr algn="l">
              <a:spcAft>
                <a:spcPts val="200"/>
              </a:spcAft>
            </a:pPr>
            <a:r>
              <a:rPr sz="1150" b="0">
                <a:solidFill>
                  <a:srgbClr val="222222"/>
                </a:solidFill>
                <a:latin typeface="에이투지체 4 Regular"/>
                <a:ea typeface="에이투지체 4 Regular"/>
                <a:cs typeface="에이투지체 4 Regular"/>
              </a:rPr>
              <a:t>상품군별 성과를 따로 판단할 수 있습니다</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2 · 11월 마케팅 전략 · 미디어믹스</a:t>
            </a:r>
            <a:endParaRPr lang="ko-KR" sz="900" dirty="0"/>
          </a:p>
        </p:txBody>
      </p:sp>
      <p:sp>
        <p:nvSpPr>
          <p:cNvPr id="12"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13"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14"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38</a:t>
            </a:r>
          </a:p>
        </p:txBody>
      </p:sp>
      <p:sp>
        <p:nvSpPr>
          <p:cNvPr id="2" name="text-316">
            <a:extLst>
              <a:ext uri="{FF2B5EF4-FFF2-40B4-BE49-F238E27FC236}">
                <a16:creationId xmlns:a16="http://schemas.microsoft.com/office/drawing/2014/main" id="{843E8BB5-650C-4AE5-976F-1108B65F67AD}"/>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고가인 키성장만 따로</a:t>
            </a:r>
            <a:r>
              <a:rPr lang="ko-KR" sz="1900" dirty="0">
                <a:solidFill>
                  <a:srgbClr val="222222"/>
                </a:solidFill>
                <a:latin typeface="에이투지체 8 ExtraBold"/>
                <a:ea typeface="에이투지체 8 ExtraBold"/>
                <a:cs typeface="에이투지체 8 ExtraBold"/>
              </a:rPr>
              <a:t> 운영하고</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나머지는 상품군별로 묶어 제외 키워드를 관리합니다</a:t>
            </a:r>
            <a:endParaRPr lang="ko-KR" sz="1900" dirty="0"/>
          </a:p>
        </p:txBody>
      </p:sp>
      <p:sp>
        <p:nvSpPr>
          <p:cNvPr id="3" name="text-317">
            <a:extLst>
              <a:ext uri="{FF2B5EF4-FFF2-40B4-BE49-F238E27FC236}">
                <a16:creationId xmlns:a16="http://schemas.microsoft.com/office/drawing/2014/main" id="{B8E4258E-54B5-4DFC-8333-DCFD9F526E74}"/>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쿠팡 핵심과제 1  객단가 기준 캠페인 구성</a:t>
            </a:r>
            <a:endParaRPr lang="ko-KR" sz="1100" dirty="0"/>
          </a:p>
        </p:txBody>
      </p:sp>
      <p:sp>
        <p:nvSpPr>
          <p:cNvPr id="8" name="node-321">
            <a:extLst>
              <a:ext uri="{FF2B5EF4-FFF2-40B4-BE49-F238E27FC236}">
                <a16:creationId xmlns:a16="http://schemas.microsoft.com/office/drawing/2014/main" id="{6F8A91DE-2907-4FB2-BEDF-5F39371F9BF8}"/>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9" name="text-322">
            <a:extLst>
              <a:ext uri="{FF2B5EF4-FFF2-40B4-BE49-F238E27FC236}">
                <a16:creationId xmlns:a16="http://schemas.microsoft.com/office/drawing/2014/main" id="{47EDEF8F-615E-460E-9002-B4E740153410}"/>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lgn="l">
              <a:defRPr sz="1358">
                <a:solidFill>
                  <a:srgbClr val="FFFFFF"/>
                </a:solidFill>
                <a:latin typeface="에이투지체 6 SemiBold"/>
                <a:ea typeface="에이투지체 6 SemiBold"/>
                <a:cs typeface="에이투지체 6 SemiBold"/>
              </a:defRPr>
            </a:pPr>
            <a:r>
              <a:rPr sz="1358" dirty="0">
                <a:solidFill>
                  <a:srgbClr val="004F9F"/>
                </a:solidFill>
                <a:latin typeface="에이투지체 6 SemiBold"/>
                <a:ea typeface="에이투지체 6 SemiBold"/>
                <a:cs typeface="에이투지체 6 SemiBold"/>
              </a:rPr>
              <a:t>11월에는 외부몰 1억 원 중 8,500만 원 배분을 제안하며, 리뷰가 쌓인 로켓 상품부터 성과를 확인합니다</a:t>
            </a:r>
          </a:p>
        </p:txBody>
      </p:sp>
      <p:sp>
        <p:nvSpPr>
          <p:cNvPr id="15" name="Rounded Rectangle 14"/>
          <p:cNvSpPr/>
          <p:nvPr/>
        </p:nvSpPr>
        <p:spPr>
          <a:xfrm>
            <a:off x="548640" y="2103120"/>
            <a:ext cx="3447288" cy="2487168"/>
          </a:xfrm>
          <a:prstGeom prst="roundRect">
            <a:avLst>
              <a:gd name="adj" fmla="val 2941"/>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822959" y="2359152"/>
            <a:ext cx="512064" cy="512064"/>
          </a:xfrm>
          <a:prstGeom prst="ellips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ruler_FFFFFF.png"/>
          <p:cNvPicPr>
            <a:picLocks noChangeAspect="1"/>
          </p:cNvPicPr>
          <p:nvPr/>
        </p:nvPicPr>
        <p:blipFill>
          <a:blip r:embed="rId3"/>
          <a:stretch>
            <a:fillRect/>
          </a:stretch>
        </p:blipFill>
        <p:spPr>
          <a:xfrm>
            <a:off x="956096" y="2492288"/>
            <a:ext cx="245790" cy="245790"/>
          </a:xfrm>
          <a:prstGeom prst="rect">
            <a:avLst/>
          </a:prstGeom>
        </p:spPr>
      </p:pic>
      <p:sp>
        <p:nvSpPr>
          <p:cNvPr id="18" name="TextBox 17"/>
          <p:cNvSpPr txBox="1"/>
          <p:nvPr/>
        </p:nvSpPr>
        <p:spPr>
          <a:xfrm>
            <a:off x="1481328" y="2340863"/>
            <a:ext cx="2350008" cy="237744"/>
          </a:xfrm>
          <a:prstGeom prst="rect">
            <a:avLst/>
          </a:prstGeom>
          <a:noFill/>
        </p:spPr>
        <p:txBody>
          <a:bodyPr wrap="square" lIns="0" tIns="0" rIns="0" bIns="0" anchor="t">
            <a:spAutoFit/>
          </a:bodyPr>
          <a:lstStyle/>
          <a:p>
            <a:pPr algn="l">
              <a:spcAft>
                <a:spcPts val="300"/>
              </a:spcAft>
            </a:pPr>
            <a:r>
              <a:rPr sz="950">
                <a:solidFill>
                  <a:srgbClr val="004F9F"/>
                </a:solidFill>
                <a:latin typeface="에이투지체 6 SemiBold"/>
                <a:ea typeface="에이투지체 6 SemiBold"/>
              </a:rPr>
              <a:t>캠페인 A</a:t>
            </a:r>
          </a:p>
        </p:txBody>
      </p:sp>
      <p:sp>
        <p:nvSpPr>
          <p:cNvPr id="19" name="TextBox 18"/>
          <p:cNvSpPr txBox="1"/>
          <p:nvPr/>
        </p:nvSpPr>
        <p:spPr>
          <a:xfrm>
            <a:off x="1481328" y="2560320"/>
            <a:ext cx="2350008" cy="347472"/>
          </a:xfrm>
          <a:prstGeom prst="rect">
            <a:avLst/>
          </a:prstGeom>
          <a:noFill/>
        </p:spPr>
        <p:txBody>
          <a:bodyPr wrap="square" lIns="0" tIns="0" rIns="0" bIns="0" anchor="t">
            <a:spAutoFit/>
          </a:bodyPr>
          <a:lstStyle/>
          <a:p>
            <a:pPr algn="l">
              <a:spcAft>
                <a:spcPts val="300"/>
              </a:spcAft>
            </a:pPr>
            <a:r>
              <a:rPr sz="1400">
                <a:solidFill>
                  <a:srgbClr val="222222"/>
                </a:solidFill>
                <a:latin typeface="에이투지체 6 SemiBold"/>
                <a:ea typeface="에이투지체 6 SemiBold"/>
              </a:rPr>
              <a:t>키성장</a:t>
            </a:r>
          </a:p>
        </p:txBody>
      </p:sp>
      <p:sp>
        <p:nvSpPr>
          <p:cNvPr id="20" name="TextBox 19"/>
          <p:cNvSpPr txBox="1"/>
          <p:nvPr/>
        </p:nvSpPr>
        <p:spPr>
          <a:xfrm>
            <a:off x="822959" y="3090672"/>
            <a:ext cx="1097280" cy="237744"/>
          </a:xfrm>
          <a:prstGeom prst="rect">
            <a:avLst/>
          </a:prstGeom>
          <a:noFill/>
        </p:spPr>
        <p:txBody>
          <a:bodyPr wrap="square" lIns="0" tIns="0" rIns="0" bIns="0" anchor="t">
            <a:spAutoFit/>
          </a:bodyPr>
          <a:lstStyle/>
          <a:p>
            <a:pPr algn="l">
              <a:spcAft>
                <a:spcPts val="300"/>
              </a:spcAft>
            </a:pPr>
            <a:r>
              <a:rPr sz="950">
                <a:solidFill>
                  <a:srgbClr val="5C5C5C"/>
                </a:solidFill>
                <a:latin typeface="에이투지체 5 Medium"/>
                <a:ea typeface="에이투지체 5 Medium"/>
              </a:rPr>
              <a:t>객단가</a:t>
            </a:r>
          </a:p>
        </p:txBody>
      </p:sp>
      <p:sp>
        <p:nvSpPr>
          <p:cNvPr id="21" name="TextBox 20"/>
          <p:cNvSpPr txBox="1"/>
          <p:nvPr/>
        </p:nvSpPr>
        <p:spPr>
          <a:xfrm>
            <a:off x="822959" y="3291839"/>
            <a:ext cx="2898648" cy="384048"/>
          </a:xfrm>
          <a:prstGeom prst="rect">
            <a:avLst/>
          </a:prstGeom>
          <a:noFill/>
        </p:spPr>
        <p:txBody>
          <a:bodyPr wrap="square" lIns="0" tIns="0" rIns="0" bIns="0" anchor="t">
            <a:spAutoFit/>
          </a:bodyPr>
          <a:lstStyle/>
          <a:p>
            <a:pPr algn="l">
              <a:spcAft>
                <a:spcPts val="300"/>
              </a:spcAft>
            </a:pPr>
            <a:r>
              <a:rPr sz="1900">
                <a:solidFill>
                  <a:srgbClr val="004F9F"/>
                </a:solidFill>
                <a:latin typeface="에이투지체 8 ExtraBold"/>
                <a:ea typeface="에이투지체 8 ExtraBold"/>
              </a:rPr>
              <a:t>13.4만 원</a:t>
            </a:r>
          </a:p>
        </p:txBody>
      </p:sp>
      <p:sp>
        <p:nvSpPr>
          <p:cNvPr id="22" name="TextBox 21"/>
          <p:cNvSpPr txBox="1"/>
          <p:nvPr/>
        </p:nvSpPr>
        <p:spPr>
          <a:xfrm>
            <a:off x="822959" y="3694176"/>
            <a:ext cx="2898648" cy="237744"/>
          </a:xfrm>
          <a:prstGeom prst="rect">
            <a:avLst/>
          </a:prstGeom>
          <a:noFill/>
        </p:spPr>
        <p:txBody>
          <a:bodyPr wrap="square" lIns="0" tIns="0" rIns="0" bIns="0" anchor="t">
            <a:spAutoFit/>
          </a:bodyPr>
          <a:lstStyle/>
          <a:p>
            <a:pPr algn="l">
              <a:spcAft>
                <a:spcPts val="300"/>
              </a:spcAft>
            </a:pPr>
            <a:r>
              <a:rPr sz="1000">
                <a:solidFill>
                  <a:srgbClr val="5C5C5C"/>
                </a:solidFill>
                <a:latin typeface="에이투지체 4 Regular"/>
                <a:ea typeface="에이투지체 4 Regular"/>
              </a:rPr>
              <a:t>키성장 FGO 1박스</a:t>
            </a:r>
          </a:p>
        </p:txBody>
      </p:sp>
      <p:cxnSp>
        <p:nvCxnSpPr>
          <p:cNvPr id="23" name="Connector 22"/>
          <p:cNvCxnSpPr/>
          <p:nvPr/>
        </p:nvCxnSpPr>
        <p:spPr>
          <a:xfrm>
            <a:off x="822959" y="3995927"/>
            <a:ext cx="2898649" cy="0"/>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22959" y="4059935"/>
            <a:ext cx="2898648" cy="457200"/>
          </a:xfrm>
          <a:prstGeom prst="rect">
            <a:avLst/>
          </a:prstGeom>
          <a:noFill/>
        </p:spPr>
        <p:txBody>
          <a:bodyPr wrap="square" lIns="0" tIns="0" rIns="0" bIns="0" anchor="ctr">
            <a:spAutoFit/>
          </a:bodyPr>
          <a:lstStyle/>
          <a:p>
            <a:pPr algn="l">
              <a:spcAft>
                <a:spcPts val="100"/>
              </a:spcAft>
            </a:pPr>
            <a:r>
              <a:rPr sz="1150">
                <a:solidFill>
                  <a:srgbClr val="222222"/>
                </a:solidFill>
                <a:latin typeface="에이투지체 6 SemiBold"/>
                <a:ea typeface="에이투지체 6 SemiBold"/>
              </a:rPr>
              <a:t>단독 캠페인 · 목표 ROAS 별도</a:t>
            </a:r>
          </a:p>
          <a:p>
            <a:pPr algn="l">
              <a:spcAft>
                <a:spcPts val="100"/>
              </a:spcAft>
            </a:pPr>
            <a:r>
              <a:rPr sz="950">
                <a:solidFill>
                  <a:srgbClr val="919191"/>
                </a:solidFill>
                <a:latin typeface="에이투지체 4 Regular"/>
                <a:ea typeface="에이투지체 4 Regular"/>
              </a:rPr>
              <a:t>로켓 · 리뷰 827</a:t>
            </a:r>
          </a:p>
        </p:txBody>
      </p:sp>
      <p:sp>
        <p:nvSpPr>
          <p:cNvPr id="25" name="Rounded Rectangle 24"/>
          <p:cNvSpPr/>
          <p:nvPr/>
        </p:nvSpPr>
        <p:spPr>
          <a:xfrm>
            <a:off x="4361688" y="2103120"/>
            <a:ext cx="3447288" cy="2487168"/>
          </a:xfrm>
          <a:prstGeom prst="roundRect">
            <a:avLst>
              <a:gd name="adj" fmla="val 2941"/>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4636007" y="2359152"/>
            <a:ext cx="512064" cy="512064"/>
          </a:xfrm>
          <a:prstGeom prst="ellips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wheat_FFFFFF.png"/>
          <p:cNvPicPr>
            <a:picLocks noChangeAspect="1"/>
          </p:cNvPicPr>
          <p:nvPr/>
        </p:nvPicPr>
        <p:blipFill>
          <a:blip r:embed="rId4"/>
          <a:stretch>
            <a:fillRect/>
          </a:stretch>
        </p:blipFill>
        <p:spPr>
          <a:xfrm>
            <a:off x="4769144" y="2492288"/>
            <a:ext cx="245790" cy="245790"/>
          </a:xfrm>
          <a:prstGeom prst="rect">
            <a:avLst/>
          </a:prstGeom>
        </p:spPr>
      </p:pic>
      <p:sp>
        <p:nvSpPr>
          <p:cNvPr id="28" name="TextBox 27"/>
          <p:cNvSpPr txBox="1"/>
          <p:nvPr/>
        </p:nvSpPr>
        <p:spPr>
          <a:xfrm>
            <a:off x="5294375" y="2340863"/>
            <a:ext cx="2350008" cy="237744"/>
          </a:xfrm>
          <a:prstGeom prst="rect">
            <a:avLst/>
          </a:prstGeom>
          <a:noFill/>
        </p:spPr>
        <p:txBody>
          <a:bodyPr wrap="square" lIns="0" tIns="0" rIns="0" bIns="0" anchor="t">
            <a:spAutoFit/>
          </a:bodyPr>
          <a:lstStyle/>
          <a:p>
            <a:pPr algn="l">
              <a:spcAft>
                <a:spcPts val="300"/>
              </a:spcAft>
            </a:pPr>
            <a:r>
              <a:rPr sz="950">
                <a:solidFill>
                  <a:srgbClr val="004F9F"/>
                </a:solidFill>
                <a:latin typeface="에이투지체 6 SemiBold"/>
                <a:ea typeface="에이투지체 6 SemiBold"/>
              </a:rPr>
              <a:t>캠페인 B</a:t>
            </a:r>
          </a:p>
        </p:txBody>
      </p:sp>
      <p:sp>
        <p:nvSpPr>
          <p:cNvPr id="29" name="TextBox 28"/>
          <p:cNvSpPr txBox="1"/>
          <p:nvPr/>
        </p:nvSpPr>
        <p:spPr>
          <a:xfrm>
            <a:off x="5294375" y="2560320"/>
            <a:ext cx="2350008" cy="347472"/>
          </a:xfrm>
          <a:prstGeom prst="rect">
            <a:avLst/>
          </a:prstGeom>
          <a:noFill/>
        </p:spPr>
        <p:txBody>
          <a:bodyPr wrap="square" lIns="0" tIns="0" rIns="0" bIns="0" anchor="t">
            <a:spAutoFit/>
          </a:bodyPr>
          <a:lstStyle/>
          <a:p>
            <a:pPr algn="l">
              <a:spcAft>
                <a:spcPts val="300"/>
              </a:spcAft>
            </a:pPr>
            <a:r>
              <a:rPr sz="1400">
                <a:solidFill>
                  <a:srgbClr val="222222"/>
                </a:solidFill>
                <a:latin typeface="에이투지체 6 SemiBold"/>
                <a:ea typeface="에이투지체 6 SemiBold"/>
              </a:rPr>
              <a:t>카무트 · 슬림웨이</a:t>
            </a:r>
          </a:p>
        </p:txBody>
      </p:sp>
      <p:sp>
        <p:nvSpPr>
          <p:cNvPr id="30" name="TextBox 29"/>
          <p:cNvSpPr txBox="1"/>
          <p:nvPr/>
        </p:nvSpPr>
        <p:spPr>
          <a:xfrm>
            <a:off x="4636007" y="3090672"/>
            <a:ext cx="1097280" cy="237744"/>
          </a:xfrm>
          <a:prstGeom prst="rect">
            <a:avLst/>
          </a:prstGeom>
          <a:noFill/>
        </p:spPr>
        <p:txBody>
          <a:bodyPr wrap="square" lIns="0" tIns="0" rIns="0" bIns="0" anchor="t">
            <a:spAutoFit/>
          </a:bodyPr>
          <a:lstStyle/>
          <a:p>
            <a:pPr algn="l">
              <a:spcAft>
                <a:spcPts val="300"/>
              </a:spcAft>
            </a:pPr>
            <a:r>
              <a:rPr sz="950">
                <a:solidFill>
                  <a:srgbClr val="5C5C5C"/>
                </a:solidFill>
                <a:latin typeface="에이투지체 5 Medium"/>
                <a:ea typeface="에이투지체 5 Medium"/>
              </a:rPr>
              <a:t>객단가</a:t>
            </a:r>
          </a:p>
        </p:txBody>
      </p:sp>
      <p:sp>
        <p:nvSpPr>
          <p:cNvPr id="31" name="TextBox 30"/>
          <p:cNvSpPr txBox="1"/>
          <p:nvPr/>
        </p:nvSpPr>
        <p:spPr>
          <a:xfrm>
            <a:off x="4636007" y="3291839"/>
            <a:ext cx="2898648" cy="384048"/>
          </a:xfrm>
          <a:prstGeom prst="rect">
            <a:avLst/>
          </a:prstGeom>
          <a:noFill/>
        </p:spPr>
        <p:txBody>
          <a:bodyPr wrap="square" lIns="0" tIns="0" rIns="0" bIns="0" anchor="t">
            <a:spAutoFit/>
          </a:bodyPr>
          <a:lstStyle/>
          <a:p>
            <a:pPr algn="l">
              <a:spcAft>
                <a:spcPts val="300"/>
              </a:spcAft>
            </a:pPr>
            <a:r>
              <a:rPr sz="1900">
                <a:solidFill>
                  <a:srgbClr val="222222"/>
                </a:solidFill>
                <a:latin typeface="에이투지체 8 ExtraBold"/>
                <a:ea typeface="에이투지체 8 ExtraBold"/>
              </a:rPr>
              <a:t>1.5~6.4만 원</a:t>
            </a:r>
          </a:p>
        </p:txBody>
      </p:sp>
      <p:sp>
        <p:nvSpPr>
          <p:cNvPr id="32" name="TextBox 31"/>
          <p:cNvSpPr txBox="1"/>
          <p:nvPr/>
        </p:nvSpPr>
        <p:spPr>
          <a:xfrm>
            <a:off x="4636007" y="3694176"/>
            <a:ext cx="2898648" cy="237744"/>
          </a:xfrm>
          <a:prstGeom prst="rect">
            <a:avLst/>
          </a:prstGeom>
          <a:noFill/>
        </p:spPr>
        <p:txBody>
          <a:bodyPr wrap="square" lIns="0" tIns="0" rIns="0" bIns="0" anchor="t">
            <a:spAutoFit/>
          </a:bodyPr>
          <a:lstStyle/>
          <a:p>
            <a:pPr algn="l">
              <a:spcAft>
                <a:spcPts val="300"/>
              </a:spcAft>
            </a:pPr>
            <a:r>
              <a:rPr sz="1000">
                <a:solidFill>
                  <a:srgbClr val="5C5C5C"/>
                </a:solidFill>
                <a:latin typeface="에이투지체 4 Regular"/>
                <a:ea typeface="에이투지체 4 Regular"/>
              </a:rPr>
              <a:t>카무트 효소 1~6개</a:t>
            </a:r>
          </a:p>
        </p:txBody>
      </p:sp>
      <p:cxnSp>
        <p:nvCxnSpPr>
          <p:cNvPr id="33" name="Connector 32"/>
          <p:cNvCxnSpPr/>
          <p:nvPr/>
        </p:nvCxnSpPr>
        <p:spPr>
          <a:xfrm>
            <a:off x="4636007" y="3995927"/>
            <a:ext cx="2898648" cy="0"/>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4636007" y="4059935"/>
            <a:ext cx="2898648" cy="457200"/>
          </a:xfrm>
          <a:prstGeom prst="rect">
            <a:avLst/>
          </a:prstGeom>
          <a:noFill/>
        </p:spPr>
        <p:txBody>
          <a:bodyPr wrap="square" lIns="0" tIns="0" rIns="0" bIns="0" anchor="ctr">
            <a:spAutoFit/>
          </a:bodyPr>
          <a:lstStyle/>
          <a:p>
            <a:pPr algn="l">
              <a:spcAft>
                <a:spcPts val="100"/>
              </a:spcAft>
            </a:pPr>
            <a:r>
              <a:rPr sz="1150">
                <a:solidFill>
                  <a:srgbClr val="222222"/>
                </a:solidFill>
                <a:latin typeface="에이투지체 6 SemiBold"/>
                <a:ea typeface="에이투지체 6 SemiBold"/>
              </a:rPr>
              <a:t>리뷰 많은 카무트 중심으로 효율 확보</a:t>
            </a:r>
          </a:p>
          <a:p>
            <a:pPr algn="l">
              <a:spcAft>
                <a:spcPts val="100"/>
              </a:spcAft>
            </a:pPr>
            <a:r>
              <a:rPr sz="950">
                <a:solidFill>
                  <a:srgbClr val="919191"/>
                </a:solidFill>
                <a:latin typeface="에이투지체 4 Regular"/>
                <a:ea typeface="에이투지체 4 Regular"/>
              </a:rPr>
              <a:t>로켓 · 리뷰 968</a:t>
            </a:r>
          </a:p>
        </p:txBody>
      </p:sp>
      <p:sp>
        <p:nvSpPr>
          <p:cNvPr id="35" name="Rounded Rectangle 34"/>
          <p:cNvSpPr/>
          <p:nvPr/>
        </p:nvSpPr>
        <p:spPr>
          <a:xfrm>
            <a:off x="8174736" y="2103120"/>
            <a:ext cx="3447288" cy="2487168"/>
          </a:xfrm>
          <a:prstGeom prst="roundRect">
            <a:avLst>
              <a:gd name="adj" fmla="val 2941"/>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8449056" y="2359152"/>
            <a:ext cx="512064" cy="512064"/>
          </a:xfrm>
          <a:prstGeom prst="ellips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7" name="Picture 36" descr="pill_FFFFFF.png"/>
          <p:cNvPicPr>
            <a:picLocks noChangeAspect="1"/>
          </p:cNvPicPr>
          <p:nvPr/>
        </p:nvPicPr>
        <p:blipFill>
          <a:blip r:embed="rId5"/>
          <a:stretch>
            <a:fillRect/>
          </a:stretch>
        </p:blipFill>
        <p:spPr>
          <a:xfrm>
            <a:off x="8582192" y="2492288"/>
            <a:ext cx="245790" cy="245790"/>
          </a:xfrm>
          <a:prstGeom prst="rect">
            <a:avLst/>
          </a:prstGeom>
        </p:spPr>
      </p:pic>
      <p:sp>
        <p:nvSpPr>
          <p:cNvPr id="38" name="TextBox 37"/>
          <p:cNvSpPr txBox="1"/>
          <p:nvPr/>
        </p:nvSpPr>
        <p:spPr>
          <a:xfrm>
            <a:off x="9107424" y="2340863"/>
            <a:ext cx="2350008" cy="237744"/>
          </a:xfrm>
          <a:prstGeom prst="rect">
            <a:avLst/>
          </a:prstGeom>
          <a:noFill/>
        </p:spPr>
        <p:txBody>
          <a:bodyPr wrap="square" lIns="0" tIns="0" rIns="0" bIns="0" anchor="t">
            <a:spAutoFit/>
          </a:bodyPr>
          <a:lstStyle/>
          <a:p>
            <a:pPr algn="l">
              <a:spcAft>
                <a:spcPts val="300"/>
              </a:spcAft>
            </a:pPr>
            <a:r>
              <a:rPr sz="950">
                <a:solidFill>
                  <a:srgbClr val="004F9F"/>
                </a:solidFill>
                <a:latin typeface="에이투지체 6 SemiBold"/>
                <a:ea typeface="에이투지체 6 SemiBold"/>
              </a:rPr>
              <a:t>캠페인 C</a:t>
            </a:r>
          </a:p>
        </p:txBody>
      </p:sp>
      <p:sp>
        <p:nvSpPr>
          <p:cNvPr id="39" name="TextBox 38"/>
          <p:cNvSpPr txBox="1"/>
          <p:nvPr/>
        </p:nvSpPr>
        <p:spPr>
          <a:xfrm>
            <a:off x="9107424" y="2560320"/>
            <a:ext cx="2350008" cy="347472"/>
          </a:xfrm>
          <a:prstGeom prst="rect">
            <a:avLst/>
          </a:prstGeom>
          <a:noFill/>
        </p:spPr>
        <p:txBody>
          <a:bodyPr wrap="square" lIns="0" tIns="0" rIns="0" bIns="0" anchor="t">
            <a:spAutoFit/>
          </a:bodyPr>
          <a:lstStyle/>
          <a:p>
            <a:pPr algn="l">
              <a:spcAft>
                <a:spcPts val="300"/>
              </a:spcAft>
            </a:pPr>
            <a:r>
              <a:rPr sz="1400">
                <a:solidFill>
                  <a:srgbClr val="222222"/>
                </a:solidFill>
                <a:latin typeface="에이투지체 6 SemiBold"/>
                <a:ea typeface="에이투지체 6 SemiBold"/>
              </a:rPr>
              <a:t>아이클타임 데일리</a:t>
            </a:r>
          </a:p>
        </p:txBody>
      </p:sp>
      <p:sp>
        <p:nvSpPr>
          <p:cNvPr id="40" name="TextBox 39"/>
          <p:cNvSpPr txBox="1"/>
          <p:nvPr/>
        </p:nvSpPr>
        <p:spPr>
          <a:xfrm>
            <a:off x="8449056" y="3090672"/>
            <a:ext cx="1097280" cy="237744"/>
          </a:xfrm>
          <a:prstGeom prst="rect">
            <a:avLst/>
          </a:prstGeom>
          <a:noFill/>
        </p:spPr>
        <p:txBody>
          <a:bodyPr wrap="square" lIns="0" tIns="0" rIns="0" bIns="0" anchor="t">
            <a:spAutoFit/>
          </a:bodyPr>
          <a:lstStyle/>
          <a:p>
            <a:pPr algn="l">
              <a:spcAft>
                <a:spcPts val="300"/>
              </a:spcAft>
            </a:pPr>
            <a:r>
              <a:rPr sz="950">
                <a:solidFill>
                  <a:srgbClr val="5C5C5C"/>
                </a:solidFill>
                <a:latin typeface="에이투지체 5 Medium"/>
                <a:ea typeface="에이투지체 5 Medium"/>
              </a:rPr>
              <a:t>객단가</a:t>
            </a:r>
          </a:p>
        </p:txBody>
      </p:sp>
      <p:sp>
        <p:nvSpPr>
          <p:cNvPr id="41" name="TextBox 40"/>
          <p:cNvSpPr txBox="1"/>
          <p:nvPr/>
        </p:nvSpPr>
        <p:spPr>
          <a:xfrm>
            <a:off x="8449056" y="3291839"/>
            <a:ext cx="2898648" cy="384048"/>
          </a:xfrm>
          <a:prstGeom prst="rect">
            <a:avLst/>
          </a:prstGeom>
          <a:noFill/>
        </p:spPr>
        <p:txBody>
          <a:bodyPr wrap="square" lIns="0" tIns="0" rIns="0" bIns="0" anchor="t">
            <a:spAutoFit/>
          </a:bodyPr>
          <a:lstStyle/>
          <a:p>
            <a:pPr algn="l">
              <a:spcAft>
                <a:spcPts val="300"/>
              </a:spcAft>
            </a:pPr>
            <a:r>
              <a:rPr sz="1900">
                <a:solidFill>
                  <a:srgbClr val="222222"/>
                </a:solidFill>
                <a:latin typeface="에이투지체 8 ExtraBold"/>
                <a:ea typeface="에이투지체 8 ExtraBold"/>
              </a:rPr>
              <a:t>1.8~4.3만 원</a:t>
            </a:r>
          </a:p>
        </p:txBody>
      </p:sp>
      <p:sp>
        <p:nvSpPr>
          <p:cNvPr id="42" name="TextBox 41"/>
          <p:cNvSpPr txBox="1"/>
          <p:nvPr/>
        </p:nvSpPr>
        <p:spPr>
          <a:xfrm>
            <a:off x="8449056" y="3694176"/>
            <a:ext cx="2898648" cy="237744"/>
          </a:xfrm>
          <a:prstGeom prst="rect">
            <a:avLst/>
          </a:prstGeom>
          <a:noFill/>
        </p:spPr>
        <p:txBody>
          <a:bodyPr wrap="square" lIns="0" tIns="0" rIns="0" bIns="0" anchor="t">
            <a:spAutoFit/>
          </a:bodyPr>
          <a:lstStyle/>
          <a:p>
            <a:pPr algn="l">
              <a:spcAft>
                <a:spcPts val="300"/>
              </a:spcAft>
            </a:pPr>
            <a:r>
              <a:rPr sz="1000">
                <a:solidFill>
                  <a:srgbClr val="5C5C5C"/>
                </a:solidFill>
                <a:latin typeface="에이투지체 4 Regular"/>
                <a:ea typeface="에이투지체 4 Regular"/>
              </a:rPr>
              <a:t>철분 · 유산균 · 칼마디 · 멀티비타민</a:t>
            </a:r>
          </a:p>
        </p:txBody>
      </p:sp>
      <p:cxnSp>
        <p:nvCxnSpPr>
          <p:cNvPr id="43" name="Connector 42"/>
          <p:cNvCxnSpPr/>
          <p:nvPr/>
        </p:nvCxnSpPr>
        <p:spPr>
          <a:xfrm>
            <a:off x="8449056" y="3995927"/>
            <a:ext cx="2898648" cy="0"/>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8449056" y="4059935"/>
            <a:ext cx="2898648" cy="457200"/>
          </a:xfrm>
          <a:prstGeom prst="rect">
            <a:avLst/>
          </a:prstGeom>
          <a:noFill/>
        </p:spPr>
        <p:txBody>
          <a:bodyPr wrap="square" lIns="0" tIns="0" rIns="0" bIns="0" anchor="ctr">
            <a:spAutoFit/>
          </a:bodyPr>
          <a:lstStyle/>
          <a:p>
            <a:pPr algn="l">
              <a:spcAft>
                <a:spcPts val="100"/>
              </a:spcAft>
            </a:pPr>
            <a:r>
              <a:rPr sz="1150">
                <a:solidFill>
                  <a:srgbClr val="222222"/>
                </a:solidFill>
                <a:latin typeface="에이투지체 6 SemiBold"/>
                <a:ea typeface="에이투지체 6 SemiBold"/>
              </a:rPr>
              <a:t>리뷰 많은 철분 · 유산균부터 추가</a:t>
            </a:r>
          </a:p>
          <a:p>
            <a:pPr algn="l">
              <a:spcAft>
                <a:spcPts val="100"/>
              </a:spcAft>
            </a:pPr>
            <a:r>
              <a:rPr sz="950">
                <a:solidFill>
                  <a:srgbClr val="919191"/>
                </a:solidFill>
                <a:latin typeface="에이투지체 4 Regular"/>
                <a:ea typeface="에이투지체 4 Regular"/>
              </a:rPr>
              <a:t>로켓 · 리뷰 65~588</a:t>
            </a:r>
          </a:p>
        </p:txBody>
      </p:sp>
      <p:sp>
        <p:nvSpPr>
          <p:cNvPr id="45" name="Rounded Rectangle 44"/>
          <p:cNvSpPr/>
          <p:nvPr/>
        </p:nvSpPr>
        <p:spPr>
          <a:xfrm>
            <a:off x="548640" y="4754880"/>
            <a:ext cx="3566160" cy="457200"/>
          </a:xfrm>
          <a:prstGeom prst="roundRect">
            <a:avLst>
              <a:gd name="adj" fmla="val 16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6" name="Picture 45" descr="package_004F9F.png"/>
          <p:cNvPicPr>
            <a:picLocks noChangeAspect="1"/>
          </p:cNvPicPr>
          <p:nvPr/>
        </p:nvPicPr>
        <p:blipFill>
          <a:blip r:embed="rId6"/>
          <a:stretch>
            <a:fillRect/>
          </a:stretch>
        </p:blipFill>
        <p:spPr>
          <a:xfrm>
            <a:off x="685800" y="4837176"/>
            <a:ext cx="292608" cy="292608"/>
          </a:xfrm>
          <a:prstGeom prst="rect">
            <a:avLst/>
          </a:prstGeom>
        </p:spPr>
      </p:pic>
      <p:sp>
        <p:nvSpPr>
          <p:cNvPr id="47" name="TextBox 46"/>
          <p:cNvSpPr txBox="1"/>
          <p:nvPr/>
        </p:nvSpPr>
        <p:spPr>
          <a:xfrm>
            <a:off x="1097280" y="4754880"/>
            <a:ext cx="2926080" cy="457200"/>
          </a:xfrm>
          <a:prstGeom prst="rect">
            <a:avLst/>
          </a:prstGeom>
          <a:noFill/>
        </p:spPr>
        <p:txBody>
          <a:bodyPr wrap="square" lIns="0" tIns="0" rIns="0" bIns="0" anchor="ctr">
            <a:spAutoFit/>
          </a:bodyPr>
          <a:lstStyle/>
          <a:p>
            <a:pPr algn="l">
              <a:spcAft>
                <a:spcPts val="300"/>
              </a:spcAft>
            </a:pPr>
            <a:r>
              <a:rPr sz="1150">
                <a:solidFill>
                  <a:srgbClr val="222222"/>
                </a:solidFill>
                <a:latin typeface="에이투지체 5 Medium"/>
                <a:ea typeface="에이투지체 5 Medium"/>
              </a:rPr>
              <a:t>캠페인당 상품 10개 이하</a:t>
            </a:r>
          </a:p>
        </p:txBody>
      </p:sp>
      <p:sp>
        <p:nvSpPr>
          <p:cNvPr id="48" name="Rounded Rectangle 47"/>
          <p:cNvSpPr/>
          <p:nvPr/>
        </p:nvSpPr>
        <p:spPr>
          <a:xfrm>
            <a:off x="4297679" y="4754880"/>
            <a:ext cx="3566160" cy="457200"/>
          </a:xfrm>
          <a:prstGeom prst="roundRect">
            <a:avLst>
              <a:gd name="adj" fmla="val 16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9" name="Picture 48" descr="copy-x_004F9F.png"/>
          <p:cNvPicPr>
            <a:picLocks noChangeAspect="1"/>
          </p:cNvPicPr>
          <p:nvPr/>
        </p:nvPicPr>
        <p:blipFill>
          <a:blip r:embed="rId7"/>
          <a:stretch>
            <a:fillRect/>
          </a:stretch>
        </p:blipFill>
        <p:spPr>
          <a:xfrm>
            <a:off x="4434840" y="4837176"/>
            <a:ext cx="292608" cy="292608"/>
          </a:xfrm>
          <a:prstGeom prst="rect">
            <a:avLst/>
          </a:prstGeom>
        </p:spPr>
      </p:pic>
      <p:sp>
        <p:nvSpPr>
          <p:cNvPr id="50" name="TextBox 49"/>
          <p:cNvSpPr txBox="1"/>
          <p:nvPr/>
        </p:nvSpPr>
        <p:spPr>
          <a:xfrm>
            <a:off x="4846319" y="4754880"/>
            <a:ext cx="2926080" cy="457200"/>
          </a:xfrm>
          <a:prstGeom prst="rect">
            <a:avLst/>
          </a:prstGeom>
          <a:noFill/>
        </p:spPr>
        <p:txBody>
          <a:bodyPr wrap="square" lIns="0" tIns="0" rIns="0" bIns="0" anchor="ctr">
            <a:spAutoFit/>
          </a:bodyPr>
          <a:lstStyle/>
          <a:p>
            <a:pPr algn="l">
              <a:spcAft>
                <a:spcPts val="300"/>
              </a:spcAft>
            </a:pPr>
            <a:r>
              <a:rPr sz="1150">
                <a:solidFill>
                  <a:srgbClr val="222222"/>
                </a:solidFill>
                <a:latin typeface="에이투지체 5 Medium"/>
                <a:ea typeface="에이투지체 5 Medium"/>
              </a:rPr>
              <a:t>캠페인 간 상품 중복 없이 운영</a:t>
            </a:r>
          </a:p>
        </p:txBody>
      </p:sp>
      <p:sp>
        <p:nvSpPr>
          <p:cNvPr id="51" name="Rounded Rectangle 50"/>
          <p:cNvSpPr/>
          <p:nvPr/>
        </p:nvSpPr>
        <p:spPr>
          <a:xfrm>
            <a:off x="8046719" y="4754880"/>
            <a:ext cx="3566160" cy="457200"/>
          </a:xfrm>
          <a:prstGeom prst="roundRect">
            <a:avLst>
              <a:gd name="adj" fmla="val 16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2" name="Picture 51" descr="calendar-check_004F9F.png"/>
          <p:cNvPicPr>
            <a:picLocks noChangeAspect="1"/>
          </p:cNvPicPr>
          <p:nvPr/>
        </p:nvPicPr>
        <p:blipFill>
          <a:blip r:embed="rId8"/>
          <a:stretch>
            <a:fillRect/>
          </a:stretch>
        </p:blipFill>
        <p:spPr>
          <a:xfrm>
            <a:off x="8183879" y="4837176"/>
            <a:ext cx="292608" cy="292608"/>
          </a:xfrm>
          <a:prstGeom prst="rect">
            <a:avLst/>
          </a:prstGeom>
        </p:spPr>
      </p:pic>
      <p:sp>
        <p:nvSpPr>
          <p:cNvPr id="53" name="TextBox 52"/>
          <p:cNvSpPr txBox="1"/>
          <p:nvPr/>
        </p:nvSpPr>
        <p:spPr>
          <a:xfrm>
            <a:off x="8595359" y="4754880"/>
            <a:ext cx="2926080" cy="457200"/>
          </a:xfrm>
          <a:prstGeom prst="rect">
            <a:avLst/>
          </a:prstGeom>
          <a:noFill/>
        </p:spPr>
        <p:txBody>
          <a:bodyPr wrap="square" lIns="0" tIns="0" rIns="0" bIns="0" anchor="ctr">
            <a:spAutoFit/>
          </a:bodyPr>
          <a:lstStyle/>
          <a:p>
            <a:pPr algn="l">
              <a:spcAft>
                <a:spcPts val="300"/>
              </a:spcAft>
            </a:pPr>
            <a:r>
              <a:rPr sz="1150">
                <a:solidFill>
                  <a:srgbClr val="222222"/>
                </a:solidFill>
                <a:latin typeface="에이투지체 5 Medium"/>
                <a:ea typeface="에이투지체 5 Medium"/>
              </a:rPr>
              <a:t>검색어 · 상품 성과 주간 점검</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ctr"/>
          <a:lstStyle/>
          <a:p>
            <a:pPr algn="l"/>
            <a:r>
              <a:rPr sz="900" b="0" spc="100">
                <a:solidFill>
                  <a:srgbClr val="004F9F"/>
                </a:solidFill>
                <a:latin typeface="에이투지체 6 SemiBold"/>
                <a:ea typeface="에이투지체 6 SemiBold"/>
                <a:cs typeface="에이투지체 6 SemiBold"/>
              </a:rPr>
              <a:t>PART 2 · 11월 마케팅 전략 · 미디어믹스</a:t>
            </a:r>
          </a:p>
        </p:txBody>
      </p:sp>
      <p:sp>
        <p:nvSpPr>
          <p:cNvPr id="3" name="TextBox 2"/>
          <p:cNvSpPr txBox="1"/>
          <p:nvPr/>
        </p:nvSpPr>
        <p:spPr>
          <a:xfrm>
            <a:off x="548640" y="658368"/>
            <a:ext cx="11064240" cy="868680"/>
          </a:xfrm>
          <a:prstGeom prst="rect">
            <a:avLst/>
          </a:prstGeom>
          <a:noFill/>
        </p:spPr>
        <p:txBody>
          <a:bodyPr wrap="square" lIns="0" tIns="0" rIns="0" bIns="0" anchor="ctr"/>
          <a:lstStyle/>
          <a:p>
            <a:pPr>
              <a:lnSpc>
                <a:spcPts val="2600"/>
              </a:lnSpc>
            </a:pPr>
            <a:r>
              <a:rPr sz="1900" b="0">
                <a:solidFill>
                  <a:srgbClr val="FFFFFF"/>
                </a:solidFill>
                <a:highlight>
                  <a:srgbClr val="0000FF"/>
                </a:highlight>
                <a:latin typeface="에이투지체 8 ExtraBold"/>
                <a:ea typeface="에이투지체 8 ExtraBold"/>
                <a:cs typeface="에이투지체 8 ExtraBold"/>
              </a:rPr>
              <a:t>검색어를 브랜드·대표·경쟁사로 나눠</a:t>
            </a:r>
          </a:p>
          <a:p>
            <a:pPr>
              <a:lnSpc>
                <a:spcPts val="2600"/>
              </a:lnSpc>
            </a:pPr>
            <a:r>
              <a:rPr sz="1900" b="0">
                <a:solidFill>
                  <a:srgbClr val="222222"/>
                </a:solidFill>
                <a:latin typeface="에이투지체 8 ExtraBold"/>
                <a:ea typeface="에이투지체 8 ExtraBold"/>
                <a:cs typeface="에이투지체 8 ExtraBold"/>
              </a:rPr>
              <a:t>유형마다 노출 범위와 제외 기준을 다르게 운영합니다</a:t>
            </a:r>
          </a:p>
        </p:txBody>
      </p:sp>
      <p:sp>
        <p:nvSpPr>
          <p:cNvPr id="4" name="TextBox 3"/>
          <p:cNvSpPr txBox="1"/>
          <p:nvPr/>
        </p:nvSpPr>
        <p:spPr>
          <a:xfrm>
            <a:off x="548640" y="1517904"/>
            <a:ext cx="11064240" cy="365760"/>
          </a:xfrm>
          <a:prstGeom prst="rect">
            <a:avLst/>
          </a:prstGeom>
          <a:noFill/>
        </p:spPr>
        <p:txBody>
          <a:bodyPr wrap="square" lIns="0" tIns="0" rIns="0" bIns="0" anchor="ctr"/>
          <a:lstStyle/>
          <a:p>
            <a:pPr algn="l"/>
            <a:r>
              <a:rPr sz="1100" b="0">
                <a:solidFill>
                  <a:srgbClr val="5C5C5C"/>
                </a:solidFill>
                <a:latin typeface="에이투지체 5 Medium"/>
                <a:ea typeface="에이투지체 5 Medium"/>
                <a:cs typeface="에이투지체 5 Medium"/>
              </a:rPr>
              <a:t>쿠팡 핵심과제 2  검색어 노출 확대</a:t>
            </a:r>
          </a:p>
        </p:txBody>
      </p:sp>
      <p:sp>
        <p:nvSpPr>
          <p:cNvPr id="5" name="Rounded Rectangle 4"/>
          <p:cNvSpPr/>
          <p:nvPr/>
        </p:nvSpPr>
        <p:spPr>
          <a:xfrm>
            <a:off x="548640" y="5577840"/>
            <a:ext cx="11064240" cy="438912"/>
          </a:xfrm>
          <a:prstGeom prst="roundRect">
            <a:avLst>
              <a:gd name="adj" fmla="val 16666"/>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 y="5632704"/>
            <a:ext cx="10671048" cy="347472"/>
          </a:xfrm>
          <a:prstGeom prst="rect">
            <a:avLst/>
          </a:prstGeom>
          <a:noFill/>
        </p:spPr>
        <p:txBody>
          <a:bodyPr wrap="square" lIns="0" tIns="0" rIns="0" bIns="0" anchor="ctr">
            <a:spAutoFit/>
          </a:bodyPr>
          <a:lstStyle/>
          <a:p>
            <a:pPr algn="l"/>
            <a:r>
              <a:rPr sz="1350" b="0">
                <a:solidFill>
                  <a:srgbClr val="004F9F"/>
                </a:solidFill>
                <a:latin typeface="에이투지체 6 SemiBold"/>
                <a:ea typeface="에이투지체 6 SemiBold"/>
                <a:cs typeface="에이투지체 6 SemiBold"/>
              </a:rPr>
              <a:t>검색어는 매출 최적화 캠페인의 제외 설정으로 관리하고, 성과가 확인된 검색어부터 예산을 늘립니다</a:t>
            </a:r>
          </a:p>
        </p:txBody>
      </p:sp>
      <p:sp>
        <p:nvSpPr>
          <p:cNvPr id="7" name="TextBox 6"/>
          <p:cNvSpPr txBox="1"/>
          <p:nvPr/>
        </p:nvSpPr>
        <p:spPr>
          <a:xfrm>
            <a:off x="548640" y="6089904"/>
            <a:ext cx="11064240" cy="274320"/>
          </a:xfrm>
          <a:prstGeom prst="rect">
            <a:avLst/>
          </a:prstGeom>
          <a:noFill/>
        </p:spPr>
        <p:txBody>
          <a:bodyPr wrap="square" lIns="0" tIns="0" rIns="0" bIns="0" anchor="t">
            <a:spAutoFit/>
          </a:bodyPr>
          <a:lstStyle/>
          <a:p>
            <a:pPr algn="l"/>
            <a:r>
              <a:rPr sz="850" b="0">
                <a:solidFill>
                  <a:srgbClr val="919191"/>
                </a:solidFill>
                <a:latin typeface="에이투지체 3 Light"/>
                <a:ea typeface="에이투지체 3 Light"/>
                <a:cs typeface="에이투지체 3 Light"/>
              </a:rPr>
              <a:t>경쟁사명은 검색어로만 활용하고 상품명과 소재에는 사용하지 않습니다</a:t>
            </a:r>
          </a:p>
        </p:txBody>
      </p:sp>
      <p:sp>
        <p:nvSpPr>
          <p:cNvPr id="8" name="TextBox 7"/>
          <p:cNvSpPr txBox="1"/>
          <p:nvPr/>
        </p:nvSpPr>
        <p:spPr>
          <a:xfrm>
            <a:off x="548640" y="6473952"/>
            <a:ext cx="4206240" cy="274320"/>
          </a:xfrm>
          <a:prstGeom prst="rect">
            <a:avLst/>
          </a:prstGeom>
          <a:noFill/>
        </p:spPr>
        <p:txBody>
          <a:bodyPr wrap="square" lIns="0" tIns="0" rIns="0" bIns="0" anchor="t">
            <a:spAutoFit/>
          </a:bodyPr>
          <a:lstStyle/>
          <a:p>
            <a:pPr algn="l"/>
            <a:r>
              <a:rPr sz="800" b="0">
                <a:solidFill>
                  <a:srgbClr val="919191"/>
                </a:solidFill>
                <a:latin typeface="에이투지체 3 Light"/>
                <a:ea typeface="에이투지체 3 Light"/>
                <a:cs typeface="에이투지체 3 Light"/>
              </a:rPr>
              <a:t>DODREAM B&amp;B AD PROPOSAL · 2026</a:t>
            </a:r>
          </a:p>
        </p:txBody>
      </p:sp>
      <p:sp>
        <p:nvSpPr>
          <p:cNvPr id="9" name="TextBox 8"/>
          <p:cNvSpPr txBox="1"/>
          <p:nvPr/>
        </p:nvSpPr>
        <p:spPr>
          <a:xfrm>
            <a:off x="8138160" y="6473952"/>
            <a:ext cx="3017520" cy="274320"/>
          </a:xfrm>
          <a:prstGeom prst="rect">
            <a:avLst/>
          </a:prstGeom>
          <a:noFill/>
        </p:spPr>
        <p:txBody>
          <a:bodyPr wrap="square" lIns="0" tIns="0" rIns="0" bIns="0" anchor="t">
            <a:spAutoFit/>
          </a:bodyPr>
          <a:lstStyle/>
          <a:p>
            <a:pPr algn="r"/>
            <a:r>
              <a:rPr sz="800" b="0">
                <a:solidFill>
                  <a:srgbClr val="919191"/>
                </a:solidFill>
                <a:latin typeface="에이투지체 3 Light"/>
                <a:ea typeface="에이투지체 3 Light"/>
                <a:cs typeface="에이투지체 3 Light"/>
              </a:rPr>
              <a:t>LINKPRICE · BRAND AD CENTER</a:t>
            </a:r>
          </a:p>
        </p:txBody>
      </p:sp>
      <p:sp>
        <p:nvSpPr>
          <p:cNvPr id="10" name="TextBox 9"/>
          <p:cNvSpPr txBox="1"/>
          <p:nvPr/>
        </p:nvSpPr>
        <p:spPr>
          <a:xfrm>
            <a:off x="11292840" y="6473952"/>
            <a:ext cx="365760" cy="274320"/>
          </a:xfrm>
          <a:prstGeom prst="rect">
            <a:avLst/>
          </a:prstGeom>
          <a:noFill/>
        </p:spPr>
        <p:txBody>
          <a:bodyPr wrap="square" lIns="0" tIns="0" rIns="0" bIns="0" anchor="t">
            <a:spAutoFit/>
          </a:bodyPr>
          <a:lstStyle/>
          <a:p>
            <a:pPr algn="r"/>
            <a:r>
              <a:rPr sz="800" b="0">
                <a:solidFill>
                  <a:srgbClr val="222222"/>
                </a:solidFill>
                <a:latin typeface="에이투지체 6 SemiBold"/>
                <a:ea typeface="에이투지체 6 SemiBold"/>
                <a:cs typeface="에이투지체 6 SemiBold"/>
              </a:rPr>
              <a:t>39</a:t>
            </a:r>
          </a:p>
        </p:txBody>
      </p:sp>
      <p:sp>
        <p:nvSpPr>
          <p:cNvPr id="11" name="Rounded Rectangle 10"/>
          <p:cNvSpPr/>
          <p:nvPr/>
        </p:nvSpPr>
        <p:spPr>
          <a:xfrm>
            <a:off x="548640" y="2103120"/>
            <a:ext cx="3447288" cy="868680"/>
          </a:xfrm>
          <a:prstGeom prst="roundRect">
            <a:avLst>
              <a:gd name="adj" fmla="val 8421"/>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2103120"/>
            <a:ext cx="3017520" cy="868680"/>
          </a:xfrm>
          <a:prstGeom prst="rect">
            <a:avLst/>
          </a:prstGeom>
          <a:noFill/>
        </p:spPr>
        <p:txBody>
          <a:bodyPr wrap="square" lIns="0" tIns="0" rIns="0" bIns="0" anchor="ctr">
            <a:spAutoFit/>
          </a:bodyPr>
          <a:lstStyle/>
          <a:p>
            <a:pPr algn="l"/>
            <a:r>
              <a:rPr sz="1500" b="0">
                <a:solidFill>
                  <a:srgbClr val="004F9F"/>
                </a:solidFill>
                <a:latin typeface="에이투지체 8 ExtraBold"/>
                <a:ea typeface="에이투지체 8 ExtraBold"/>
                <a:cs typeface="에이투지체 8 ExtraBold"/>
              </a:rPr>
              <a:t>자사 브랜드 검색어</a:t>
            </a:r>
          </a:p>
          <a:p>
            <a:pPr algn="l"/>
            <a:r>
              <a:rPr sz="1200" b="0">
                <a:solidFill>
                  <a:srgbClr val="5C5C5C"/>
                </a:solidFill>
                <a:latin typeface="에이투지체 6 SemiBold"/>
                <a:ea typeface="에이투지체 6 SemiBold"/>
                <a:cs typeface="에이투지체 6 SemiBold"/>
              </a:rPr>
              <a:t>아이클타임을 찾는 고객</a:t>
            </a:r>
          </a:p>
        </p:txBody>
      </p:sp>
      <p:sp>
        <p:nvSpPr>
          <p:cNvPr id="13" name="TextBox 12"/>
          <p:cNvSpPr txBox="1"/>
          <p:nvPr/>
        </p:nvSpPr>
        <p:spPr>
          <a:xfrm>
            <a:off x="548640" y="3090672"/>
            <a:ext cx="3447288" cy="502920"/>
          </a:xfrm>
          <a:prstGeom prst="rect">
            <a:avLst/>
          </a:prstGeom>
          <a:noFill/>
        </p:spPr>
        <p:txBody>
          <a:bodyPr wrap="square" lIns="0" tIns="0" rIns="0" bIns="0" anchor="t">
            <a:spAutoFit/>
          </a:bodyPr>
          <a:lstStyle/>
          <a:p>
            <a:pPr algn="l"/>
            <a:r>
              <a:rPr sz="1200" b="0">
                <a:solidFill>
                  <a:srgbClr val="222222"/>
                </a:solidFill>
                <a:latin typeface="에이투지체 6 SemiBold"/>
                <a:ea typeface="에이투지체 6 SemiBold"/>
                <a:cs typeface="에이투지체 6 SemiBold"/>
              </a:rPr>
              <a:t>아이클타임, 두드림, 아이클타임 키성장</a:t>
            </a:r>
          </a:p>
        </p:txBody>
      </p:sp>
      <p:sp>
        <p:nvSpPr>
          <p:cNvPr id="14" name="TextBox 13"/>
          <p:cNvSpPr txBox="1"/>
          <p:nvPr/>
        </p:nvSpPr>
        <p:spPr>
          <a:xfrm>
            <a:off x="548640" y="3566160"/>
            <a:ext cx="3447288" cy="292608"/>
          </a:xfrm>
          <a:prstGeom prst="rect">
            <a:avLst/>
          </a:prstGeom>
          <a:noFill/>
        </p:spPr>
        <p:txBody>
          <a:bodyPr wrap="square" lIns="0" tIns="0" rIns="0" bIns="0" anchor="t">
            <a:spAutoFit/>
          </a:bodyPr>
          <a:lstStyle/>
          <a:p>
            <a:pPr algn="l"/>
            <a:r>
              <a:rPr sz="1150" b="0">
                <a:solidFill>
                  <a:srgbClr val="004F9F"/>
                </a:solidFill>
                <a:latin typeface="에이투지체 6 SemiBold"/>
                <a:ea typeface="에이투지체 6 SemiBold"/>
                <a:cs typeface="에이투지체 6 SemiBold"/>
              </a:rPr>
              <a:t>현재  </a:t>
            </a:r>
            <a:r>
              <a:rPr sz="1150" b="0">
                <a:solidFill>
                  <a:srgbClr val="5C5C5C"/>
                </a:solidFill>
                <a:latin typeface="에이투지체 4 Regular"/>
                <a:ea typeface="에이투지체 4 Regular"/>
                <a:cs typeface="에이투지체 4 Regular"/>
              </a:rPr>
              <a:t>아이클타임 첫 줄에 키움정 광고</a:t>
            </a:r>
          </a:p>
        </p:txBody>
      </p:sp>
      <p:sp>
        <p:nvSpPr>
          <p:cNvPr id="15" name="TextBox 14"/>
          <p:cNvSpPr txBox="1"/>
          <p:nvPr/>
        </p:nvSpPr>
        <p:spPr>
          <a:xfrm>
            <a:off x="548640" y="3931920"/>
            <a:ext cx="3447288" cy="685800"/>
          </a:xfrm>
          <a:prstGeom prst="rect">
            <a:avLst/>
          </a:prstGeom>
          <a:noFill/>
        </p:spPr>
        <p:txBody>
          <a:bodyPr wrap="square" lIns="0" tIns="0" rIns="0" bIns="0" anchor="t">
            <a:spAutoFit/>
          </a:bodyPr>
          <a:lstStyle/>
          <a:p>
            <a:pPr algn="l">
              <a:spcAft>
                <a:spcPts val="200"/>
              </a:spcAft>
            </a:pPr>
            <a:r>
              <a:rPr sz="1150" b="0">
                <a:solidFill>
                  <a:srgbClr val="004F9F"/>
                </a:solidFill>
                <a:latin typeface="에이투지체 6 SemiBold"/>
                <a:ea typeface="에이투지체 6 SemiBold"/>
                <a:cs typeface="에이투지체 6 SemiBold"/>
              </a:rPr>
              <a:t>운영  </a:t>
            </a:r>
            <a:r>
              <a:rPr sz="1150" b="0">
                <a:solidFill>
                  <a:srgbClr val="222222"/>
                </a:solidFill>
                <a:latin typeface="에이투지체 4 Regular"/>
                <a:ea typeface="에이투지체 4 Regular"/>
                <a:cs typeface="에이투지체 4 Regular"/>
              </a:rPr>
              <a:t>제외 없이 상시 노출</a:t>
            </a:r>
          </a:p>
          <a:p>
            <a:pPr algn="l">
              <a:spcAft>
                <a:spcPts val="200"/>
              </a:spcAft>
            </a:pPr>
            <a:r>
              <a:rPr sz="1150" b="0">
                <a:solidFill>
                  <a:srgbClr val="222222"/>
                </a:solidFill>
                <a:latin typeface="에이투지체 4 Regular"/>
                <a:ea typeface="에이투지체 4 Regular"/>
                <a:cs typeface="에이투지체 4 Regular"/>
              </a:rPr>
              <a:t>          브랜드 검색 결과의 광고 노출 주간 확인</a:t>
            </a:r>
          </a:p>
        </p:txBody>
      </p:sp>
      <p:cxnSp>
        <p:nvCxnSpPr>
          <p:cNvPr id="16" name="Connector 15"/>
          <p:cNvCxnSpPr/>
          <p:nvPr/>
        </p:nvCxnSpPr>
        <p:spPr>
          <a:xfrm>
            <a:off x="548640" y="4663440"/>
            <a:ext cx="3447288" cy="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48640" y="4736592"/>
            <a:ext cx="3447288" cy="292608"/>
          </a:xfrm>
          <a:prstGeom prst="rect">
            <a:avLst/>
          </a:prstGeom>
          <a:noFill/>
        </p:spPr>
        <p:txBody>
          <a:bodyPr wrap="square" lIns="0" tIns="0" rIns="0" bIns="0" anchor="t">
            <a:spAutoFit/>
          </a:bodyPr>
          <a:lstStyle/>
          <a:p>
            <a:pPr algn="l"/>
            <a:r>
              <a:rPr sz="1150" b="0">
                <a:solidFill>
                  <a:srgbClr val="004F9F"/>
                </a:solidFill>
                <a:latin typeface="에이투지체 6 SemiBold"/>
                <a:ea typeface="에이투지체 6 SemiBold"/>
                <a:cs typeface="에이투지체 6 SemiBold"/>
              </a:rPr>
              <a:t>지표  브랜드 검색어 전환</a:t>
            </a:r>
          </a:p>
        </p:txBody>
      </p:sp>
      <p:sp>
        <p:nvSpPr>
          <p:cNvPr id="18" name="Rounded Rectangle 17"/>
          <p:cNvSpPr/>
          <p:nvPr/>
        </p:nvSpPr>
        <p:spPr>
          <a:xfrm>
            <a:off x="4361688" y="2103120"/>
            <a:ext cx="3447288" cy="868680"/>
          </a:xfrm>
          <a:prstGeom prst="roundRect">
            <a:avLst>
              <a:gd name="adj" fmla="val 8421"/>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90288" y="2103120"/>
            <a:ext cx="3017520" cy="868680"/>
          </a:xfrm>
          <a:prstGeom prst="rect">
            <a:avLst/>
          </a:prstGeom>
          <a:noFill/>
        </p:spPr>
        <p:txBody>
          <a:bodyPr wrap="square" lIns="0" tIns="0" rIns="0" bIns="0" anchor="ctr">
            <a:spAutoFit/>
          </a:bodyPr>
          <a:lstStyle/>
          <a:p>
            <a:pPr algn="l"/>
            <a:r>
              <a:rPr sz="1500" b="0">
                <a:solidFill>
                  <a:srgbClr val="004F9F"/>
                </a:solidFill>
                <a:latin typeface="에이투지체 8 ExtraBold"/>
                <a:ea typeface="에이투지체 8 ExtraBold"/>
                <a:cs typeface="에이투지체 8 ExtraBold"/>
              </a:rPr>
              <a:t>대표 검색어</a:t>
            </a:r>
          </a:p>
          <a:p>
            <a:pPr algn="l"/>
            <a:r>
              <a:rPr sz="1200" b="0">
                <a:solidFill>
                  <a:srgbClr val="5C5C5C"/>
                </a:solidFill>
                <a:latin typeface="에이투지체 6 SemiBold"/>
                <a:ea typeface="에이투지체 6 SemiBold"/>
                <a:cs typeface="에이투지체 6 SemiBold"/>
              </a:rPr>
              <a:t>카테고리를 탐색하는 고객</a:t>
            </a:r>
          </a:p>
        </p:txBody>
      </p:sp>
      <p:sp>
        <p:nvSpPr>
          <p:cNvPr id="20" name="TextBox 19"/>
          <p:cNvSpPr txBox="1"/>
          <p:nvPr/>
        </p:nvSpPr>
        <p:spPr>
          <a:xfrm>
            <a:off x="4361688" y="3090672"/>
            <a:ext cx="3447288" cy="502920"/>
          </a:xfrm>
          <a:prstGeom prst="rect">
            <a:avLst/>
          </a:prstGeom>
          <a:noFill/>
        </p:spPr>
        <p:txBody>
          <a:bodyPr wrap="square" lIns="0" tIns="0" rIns="0" bIns="0" anchor="t">
            <a:spAutoFit/>
          </a:bodyPr>
          <a:lstStyle/>
          <a:p>
            <a:pPr algn="l"/>
            <a:r>
              <a:rPr sz="1200" b="0">
                <a:solidFill>
                  <a:srgbClr val="222222"/>
                </a:solidFill>
                <a:latin typeface="에이투지체 6 SemiBold"/>
                <a:ea typeface="에이투지체 6 SemiBold"/>
                <a:cs typeface="에이투지체 6 SemiBold"/>
              </a:rPr>
              <a:t>키성장영양제, 키크는영양제, 카무트효소</a:t>
            </a:r>
          </a:p>
        </p:txBody>
      </p:sp>
      <p:sp>
        <p:nvSpPr>
          <p:cNvPr id="21" name="TextBox 20"/>
          <p:cNvSpPr txBox="1"/>
          <p:nvPr/>
        </p:nvSpPr>
        <p:spPr>
          <a:xfrm>
            <a:off x="4361688" y="3566160"/>
            <a:ext cx="3447288" cy="292608"/>
          </a:xfrm>
          <a:prstGeom prst="rect">
            <a:avLst/>
          </a:prstGeom>
          <a:noFill/>
        </p:spPr>
        <p:txBody>
          <a:bodyPr wrap="square" lIns="0" tIns="0" rIns="0" bIns="0" anchor="t">
            <a:spAutoFit/>
          </a:bodyPr>
          <a:lstStyle/>
          <a:p>
            <a:pPr algn="l"/>
            <a:r>
              <a:rPr sz="1150" b="0">
                <a:solidFill>
                  <a:srgbClr val="004F9F"/>
                </a:solidFill>
                <a:latin typeface="에이투지체 6 SemiBold"/>
                <a:ea typeface="에이투지체 6 SemiBold"/>
                <a:cs typeface="에이투지체 6 SemiBold"/>
              </a:rPr>
              <a:t>현재  </a:t>
            </a:r>
            <a:r>
              <a:rPr sz="1150" b="0">
                <a:solidFill>
                  <a:srgbClr val="5C5C5C"/>
                </a:solidFill>
                <a:latin typeface="에이투지체 4 Regular"/>
                <a:ea typeface="에이투지체 4 Regular"/>
                <a:cs typeface="에이투지체 4 Regular"/>
              </a:rPr>
              <a:t>첫 화면 미노출</a:t>
            </a:r>
          </a:p>
        </p:txBody>
      </p:sp>
      <p:sp>
        <p:nvSpPr>
          <p:cNvPr id="22" name="TextBox 21"/>
          <p:cNvSpPr txBox="1"/>
          <p:nvPr/>
        </p:nvSpPr>
        <p:spPr>
          <a:xfrm>
            <a:off x="4361688" y="3931920"/>
            <a:ext cx="3447288" cy="685800"/>
          </a:xfrm>
          <a:prstGeom prst="rect">
            <a:avLst/>
          </a:prstGeom>
          <a:noFill/>
        </p:spPr>
        <p:txBody>
          <a:bodyPr wrap="square" lIns="0" tIns="0" rIns="0" bIns="0" anchor="t">
            <a:spAutoFit/>
          </a:bodyPr>
          <a:lstStyle/>
          <a:p>
            <a:pPr algn="l">
              <a:spcAft>
                <a:spcPts val="200"/>
              </a:spcAft>
            </a:pPr>
            <a:r>
              <a:rPr sz="1150" b="0">
                <a:solidFill>
                  <a:srgbClr val="004F9F"/>
                </a:solidFill>
                <a:latin typeface="에이투지체 6 SemiBold"/>
                <a:ea typeface="에이투지체 6 SemiBold"/>
                <a:cs typeface="에이투지체 6 SemiBold"/>
              </a:rPr>
              <a:t>운영  </a:t>
            </a:r>
            <a:r>
              <a:rPr sz="1150" b="0">
                <a:solidFill>
                  <a:srgbClr val="222222"/>
                </a:solidFill>
                <a:latin typeface="에이투지체 4 Regular"/>
                <a:ea typeface="에이투지체 4 Regular"/>
                <a:cs typeface="에이투지체 4 Regular"/>
              </a:rPr>
              <a:t>리뷰 많은 FGO, 카무트 중심 노출</a:t>
            </a:r>
          </a:p>
          <a:p>
            <a:pPr algn="l">
              <a:spcAft>
                <a:spcPts val="200"/>
              </a:spcAft>
            </a:pPr>
            <a:r>
              <a:rPr sz="1150" b="0">
                <a:solidFill>
                  <a:srgbClr val="222222"/>
                </a:solidFill>
                <a:latin typeface="에이투지체 4 Regular"/>
                <a:ea typeface="에이투지체 4 Regular"/>
                <a:cs typeface="에이투지체 4 Regular"/>
              </a:rPr>
              <a:t>          예산과 목표 ROAS로 노출 범위 조정</a:t>
            </a:r>
          </a:p>
        </p:txBody>
      </p:sp>
      <p:cxnSp>
        <p:nvCxnSpPr>
          <p:cNvPr id="23" name="Connector 22"/>
          <p:cNvCxnSpPr/>
          <p:nvPr/>
        </p:nvCxnSpPr>
        <p:spPr>
          <a:xfrm>
            <a:off x="4361688" y="4663440"/>
            <a:ext cx="3447287" cy="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361688" y="4736592"/>
            <a:ext cx="3447288" cy="292608"/>
          </a:xfrm>
          <a:prstGeom prst="rect">
            <a:avLst/>
          </a:prstGeom>
          <a:noFill/>
        </p:spPr>
        <p:txBody>
          <a:bodyPr wrap="square" lIns="0" tIns="0" rIns="0" bIns="0" anchor="t">
            <a:spAutoFit/>
          </a:bodyPr>
          <a:lstStyle/>
          <a:p>
            <a:pPr algn="l"/>
            <a:r>
              <a:rPr sz="1150" b="0">
                <a:solidFill>
                  <a:srgbClr val="004F9F"/>
                </a:solidFill>
                <a:latin typeface="에이투지체 6 SemiBold"/>
                <a:ea typeface="에이투지체 6 SemiBold"/>
                <a:cs typeface="에이투지체 6 SemiBold"/>
              </a:rPr>
              <a:t>지표  대표 검색어 노출, 전환</a:t>
            </a:r>
          </a:p>
        </p:txBody>
      </p:sp>
      <p:sp>
        <p:nvSpPr>
          <p:cNvPr id="25" name="Rounded Rectangle 24"/>
          <p:cNvSpPr/>
          <p:nvPr/>
        </p:nvSpPr>
        <p:spPr>
          <a:xfrm>
            <a:off x="8174736" y="2103120"/>
            <a:ext cx="3447288" cy="868680"/>
          </a:xfrm>
          <a:prstGeom prst="roundRect">
            <a:avLst>
              <a:gd name="adj" fmla="val 8421"/>
            </a:avLst>
          </a:prstGeom>
          <a:solidFill>
            <a:srgbClr val="0E3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403336" y="2103120"/>
            <a:ext cx="3017520" cy="868680"/>
          </a:xfrm>
          <a:prstGeom prst="rect">
            <a:avLst/>
          </a:prstGeom>
          <a:noFill/>
        </p:spPr>
        <p:txBody>
          <a:bodyPr wrap="square" lIns="0" tIns="0" rIns="0" bIns="0" anchor="ctr">
            <a:spAutoFit/>
          </a:bodyPr>
          <a:lstStyle/>
          <a:p>
            <a:pPr algn="l"/>
            <a:r>
              <a:rPr sz="1500" b="0">
                <a:solidFill>
                  <a:srgbClr val="FFFFFF"/>
                </a:solidFill>
                <a:latin typeface="에이투지체 8 ExtraBold"/>
                <a:ea typeface="에이투지체 8 ExtraBold"/>
                <a:cs typeface="에이투지체 8 ExtraBold"/>
              </a:rPr>
              <a:t>경쟁사 브랜드 검색어</a:t>
            </a:r>
          </a:p>
          <a:p>
            <a:pPr algn="l"/>
            <a:r>
              <a:rPr sz="1200" b="0">
                <a:solidFill>
                  <a:srgbClr val="C9DAEE"/>
                </a:solidFill>
                <a:latin typeface="에이투지체 6 SemiBold"/>
                <a:ea typeface="에이투지체 6 SemiBold"/>
                <a:cs typeface="에이투지체 6 SemiBold"/>
              </a:rPr>
              <a:t>경쟁 상품을 찾는 고객</a:t>
            </a:r>
          </a:p>
        </p:txBody>
      </p:sp>
      <p:sp>
        <p:nvSpPr>
          <p:cNvPr id="27" name="TextBox 26"/>
          <p:cNvSpPr txBox="1"/>
          <p:nvPr/>
        </p:nvSpPr>
        <p:spPr>
          <a:xfrm>
            <a:off x="8174736" y="3090672"/>
            <a:ext cx="3447288" cy="502920"/>
          </a:xfrm>
          <a:prstGeom prst="rect">
            <a:avLst/>
          </a:prstGeom>
          <a:noFill/>
        </p:spPr>
        <p:txBody>
          <a:bodyPr wrap="square" lIns="0" tIns="0" rIns="0" bIns="0" anchor="t">
            <a:spAutoFit/>
          </a:bodyPr>
          <a:lstStyle/>
          <a:p>
            <a:pPr algn="l"/>
            <a:r>
              <a:rPr sz="1200" b="0">
                <a:solidFill>
                  <a:srgbClr val="222222"/>
                </a:solidFill>
                <a:latin typeface="에이투지체 6 SemiBold"/>
                <a:ea typeface="에이투지체 6 SemiBold"/>
                <a:cs typeface="에이투지체 6 SemiBold"/>
              </a:rPr>
              <a:t>키움정, 하우투키, 키앤이거, 키클레오</a:t>
            </a:r>
          </a:p>
        </p:txBody>
      </p:sp>
      <p:sp>
        <p:nvSpPr>
          <p:cNvPr id="28" name="TextBox 27"/>
          <p:cNvSpPr txBox="1"/>
          <p:nvPr/>
        </p:nvSpPr>
        <p:spPr>
          <a:xfrm>
            <a:off x="8174736" y="3566160"/>
            <a:ext cx="3447288" cy="292608"/>
          </a:xfrm>
          <a:prstGeom prst="rect">
            <a:avLst/>
          </a:prstGeom>
          <a:noFill/>
        </p:spPr>
        <p:txBody>
          <a:bodyPr wrap="square" lIns="0" tIns="0" rIns="0" bIns="0" anchor="t">
            <a:spAutoFit/>
          </a:bodyPr>
          <a:lstStyle/>
          <a:p>
            <a:pPr algn="l"/>
            <a:r>
              <a:rPr sz="1150" b="0">
                <a:solidFill>
                  <a:srgbClr val="004F9F"/>
                </a:solidFill>
                <a:latin typeface="에이투지체 6 SemiBold"/>
                <a:ea typeface="에이투지체 6 SemiBold"/>
                <a:cs typeface="에이투지체 6 SemiBold"/>
              </a:rPr>
              <a:t>현재  </a:t>
            </a:r>
            <a:r>
              <a:rPr sz="1150" b="0">
                <a:solidFill>
                  <a:srgbClr val="5C5C5C"/>
                </a:solidFill>
                <a:latin typeface="에이투지체 4 Regular"/>
                <a:ea typeface="에이투지체 4 Regular"/>
                <a:cs typeface="에이투지체 4 Regular"/>
              </a:rPr>
              <a:t>두드림 노출 없음</a:t>
            </a:r>
          </a:p>
        </p:txBody>
      </p:sp>
      <p:sp>
        <p:nvSpPr>
          <p:cNvPr id="29" name="TextBox 28"/>
          <p:cNvSpPr txBox="1"/>
          <p:nvPr/>
        </p:nvSpPr>
        <p:spPr>
          <a:xfrm>
            <a:off x="8174736" y="3931920"/>
            <a:ext cx="3447288" cy="685800"/>
          </a:xfrm>
          <a:prstGeom prst="rect">
            <a:avLst/>
          </a:prstGeom>
          <a:noFill/>
        </p:spPr>
        <p:txBody>
          <a:bodyPr wrap="square" lIns="0" tIns="0" rIns="0" bIns="0" anchor="t">
            <a:spAutoFit/>
          </a:bodyPr>
          <a:lstStyle/>
          <a:p>
            <a:pPr algn="l">
              <a:spcAft>
                <a:spcPts val="200"/>
              </a:spcAft>
            </a:pPr>
            <a:r>
              <a:rPr sz="1150" b="0">
                <a:solidFill>
                  <a:srgbClr val="004F9F"/>
                </a:solidFill>
                <a:latin typeface="에이투지체 6 SemiBold"/>
                <a:ea typeface="에이투지체 6 SemiBold"/>
                <a:cs typeface="에이투지체 6 SemiBold"/>
              </a:rPr>
              <a:t>운영  </a:t>
            </a:r>
            <a:r>
              <a:rPr sz="1150" b="0">
                <a:solidFill>
                  <a:srgbClr val="222222"/>
                </a:solidFill>
                <a:latin typeface="에이투지체 4 Regular"/>
                <a:ea typeface="에이투지체 4 Regular"/>
                <a:cs typeface="에이투지체 4 Regular"/>
              </a:rPr>
              <a:t>제외 키워드로 막지 않고 성과 확인</a:t>
            </a:r>
          </a:p>
          <a:p>
            <a:pPr algn="l">
              <a:spcAft>
                <a:spcPts val="200"/>
              </a:spcAft>
            </a:pPr>
            <a:r>
              <a:rPr sz="1150" b="0">
                <a:solidFill>
                  <a:srgbClr val="222222"/>
                </a:solidFill>
                <a:latin typeface="에이투지체 4 Regular"/>
                <a:ea typeface="에이투지체 4 Regular"/>
                <a:cs typeface="에이투지체 4 Regular"/>
              </a:rPr>
              <a:t>          5클릭 이상 무전환 검색어만 제외</a:t>
            </a:r>
          </a:p>
        </p:txBody>
      </p:sp>
      <p:cxnSp>
        <p:nvCxnSpPr>
          <p:cNvPr id="30" name="Connector 29"/>
          <p:cNvCxnSpPr/>
          <p:nvPr/>
        </p:nvCxnSpPr>
        <p:spPr>
          <a:xfrm>
            <a:off x="8174736" y="4663440"/>
            <a:ext cx="3447288" cy="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174736" y="4736592"/>
            <a:ext cx="3447288" cy="292608"/>
          </a:xfrm>
          <a:prstGeom prst="rect">
            <a:avLst/>
          </a:prstGeom>
          <a:noFill/>
        </p:spPr>
        <p:txBody>
          <a:bodyPr wrap="square" lIns="0" tIns="0" rIns="0" bIns="0" anchor="t">
            <a:spAutoFit/>
          </a:bodyPr>
          <a:lstStyle/>
          <a:p>
            <a:pPr algn="l"/>
            <a:r>
              <a:rPr sz="1150" b="0">
                <a:solidFill>
                  <a:srgbClr val="004F9F"/>
                </a:solidFill>
                <a:latin typeface="에이투지체 6 SemiBold"/>
                <a:ea typeface="에이투지체 6 SemiBold"/>
                <a:cs typeface="에이투지체 6 SemiBold"/>
              </a:rPr>
              <a:t>지표  경쟁사 검색어 전환</a:t>
            </a:r>
          </a:p>
        </p:txBody>
      </p:sp>
      <p:sp>
        <p:nvSpPr>
          <p:cNvPr id="32" name="Rounded Rectangle 31"/>
          <p:cNvSpPr/>
          <p:nvPr/>
        </p:nvSpPr>
        <p:spPr>
          <a:xfrm>
            <a:off x="548640" y="5102352"/>
            <a:ext cx="11064240" cy="365760"/>
          </a:xfrm>
          <a:prstGeom prst="roundRect">
            <a:avLst>
              <a:gd name="adj" fmla="val 20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31520" y="5102352"/>
            <a:ext cx="10698480" cy="365760"/>
          </a:xfrm>
          <a:prstGeom prst="rect">
            <a:avLst/>
          </a:prstGeom>
          <a:noFill/>
        </p:spPr>
        <p:txBody>
          <a:bodyPr wrap="square" lIns="0" tIns="0" rIns="0" bIns="0" anchor="ctr">
            <a:spAutoFit/>
          </a:bodyPr>
          <a:lstStyle/>
          <a:p>
            <a:pPr algn="l"/>
            <a:r>
              <a:rPr sz="1150" b="0">
                <a:solidFill>
                  <a:srgbClr val="004F9F"/>
                </a:solidFill>
                <a:latin typeface="에이투지체 6 SemiBold"/>
                <a:ea typeface="에이투지체 6 SemiBold"/>
                <a:cs typeface="에이투지체 6 SemiBold"/>
              </a:rPr>
              <a:t>확장 검토  </a:t>
            </a:r>
            <a:r>
              <a:rPr sz="1150" b="0">
                <a:solidFill>
                  <a:srgbClr val="222222"/>
                </a:solidFill>
                <a:latin typeface="에이투지체 5 Medium"/>
                <a:ea typeface="에이투지체 5 Medium"/>
                <a:cs typeface="에이투지체 5 Medium"/>
              </a:rPr>
              <a:t>경쟁사, 브랜드 검색어 성과가 확인되면 수동 성과형 캠페인 도입을 검토합니다</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ctr"/>
          <a:lstStyle/>
          <a:p>
            <a:pPr algn="l"/>
            <a:r>
              <a:rPr sz="900" b="0" spc="100">
                <a:solidFill>
                  <a:srgbClr val="004F9F"/>
                </a:solidFill>
                <a:latin typeface="에이투지체 6 SemiBold"/>
                <a:ea typeface="에이투지체 6 SemiBold"/>
                <a:cs typeface="에이투지체 6 SemiBold"/>
              </a:rPr>
              <a:t>PART 2 · 11월 마케팅 전략 · 미디어믹스</a:t>
            </a:r>
          </a:p>
        </p:txBody>
      </p:sp>
      <p:sp>
        <p:nvSpPr>
          <p:cNvPr id="3" name="TextBox 2"/>
          <p:cNvSpPr txBox="1"/>
          <p:nvPr/>
        </p:nvSpPr>
        <p:spPr>
          <a:xfrm>
            <a:off x="548640" y="658368"/>
            <a:ext cx="11064240" cy="868680"/>
          </a:xfrm>
          <a:prstGeom prst="rect">
            <a:avLst/>
          </a:prstGeom>
          <a:noFill/>
        </p:spPr>
        <p:txBody>
          <a:bodyPr wrap="square" lIns="0" tIns="0" rIns="0" bIns="0" anchor="ctr"/>
          <a:lstStyle/>
          <a:p>
            <a:pPr>
              <a:lnSpc>
                <a:spcPts val="2600"/>
              </a:lnSpc>
            </a:pPr>
            <a:r>
              <a:rPr sz="1900" b="0">
                <a:solidFill>
                  <a:srgbClr val="FFFFFF"/>
                </a:solidFill>
                <a:highlight>
                  <a:srgbClr val="0000FF"/>
                </a:highlight>
                <a:latin typeface="에이투지체 8 ExtraBold"/>
                <a:ea typeface="에이투지체 8 ExtraBold"/>
                <a:cs typeface="에이투지체 8 ExtraBold"/>
              </a:rPr>
              <a:t>FGO 세트 상품 등록을 제안하고</a:t>
            </a:r>
          </a:p>
          <a:p>
            <a:pPr>
              <a:lnSpc>
                <a:spcPts val="2600"/>
              </a:lnSpc>
            </a:pPr>
            <a:r>
              <a:rPr sz="1900" b="0">
                <a:solidFill>
                  <a:srgbClr val="222222"/>
                </a:solidFill>
                <a:latin typeface="에이투지체 8 ExtraBold"/>
                <a:ea typeface="에이투지체 8 ExtraBold"/>
                <a:cs typeface="에이투지체 8 ExtraBold"/>
              </a:rPr>
              <a:t>등록되면 어린이영양제 같은 넓은 검색어까지 광고합니다</a:t>
            </a:r>
          </a:p>
        </p:txBody>
      </p:sp>
      <p:sp>
        <p:nvSpPr>
          <p:cNvPr id="4" name="TextBox 3"/>
          <p:cNvSpPr txBox="1"/>
          <p:nvPr/>
        </p:nvSpPr>
        <p:spPr>
          <a:xfrm>
            <a:off x="548640" y="1517904"/>
            <a:ext cx="11064240" cy="365760"/>
          </a:xfrm>
          <a:prstGeom prst="rect">
            <a:avLst/>
          </a:prstGeom>
          <a:noFill/>
        </p:spPr>
        <p:txBody>
          <a:bodyPr wrap="square" lIns="0" tIns="0" rIns="0" bIns="0" anchor="ctr"/>
          <a:lstStyle/>
          <a:p>
            <a:pPr algn="l"/>
            <a:r>
              <a:rPr sz="1100" b="0">
                <a:solidFill>
                  <a:srgbClr val="5C5C5C"/>
                </a:solidFill>
                <a:latin typeface="에이투지체 5 Medium"/>
                <a:ea typeface="에이투지체 5 Medium"/>
                <a:cs typeface="에이투지체 5 Medium"/>
              </a:rPr>
              <a:t>쿠팡 핵심과제 3  성장 패키지 상품</a:t>
            </a:r>
          </a:p>
        </p:txBody>
      </p:sp>
      <p:sp>
        <p:nvSpPr>
          <p:cNvPr id="5" name="Rounded Rectangle 4"/>
          <p:cNvSpPr/>
          <p:nvPr/>
        </p:nvSpPr>
        <p:spPr>
          <a:xfrm>
            <a:off x="548640" y="5577840"/>
            <a:ext cx="11064240" cy="438912"/>
          </a:xfrm>
          <a:prstGeom prst="roundRect">
            <a:avLst>
              <a:gd name="adj" fmla="val 16666"/>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 y="5632704"/>
            <a:ext cx="10671048" cy="347472"/>
          </a:xfrm>
          <a:prstGeom prst="rect">
            <a:avLst/>
          </a:prstGeom>
          <a:noFill/>
        </p:spPr>
        <p:txBody>
          <a:bodyPr wrap="square" lIns="0" tIns="0" rIns="0" bIns="0" anchor="ctr">
            <a:spAutoFit/>
          </a:bodyPr>
          <a:lstStyle/>
          <a:p>
            <a:pPr algn="l"/>
            <a:r>
              <a:rPr sz="1350" b="0">
                <a:solidFill>
                  <a:srgbClr val="004F9F"/>
                </a:solidFill>
                <a:latin typeface="에이투지체 6 SemiBold"/>
                <a:ea typeface="에이투지체 6 SemiBold"/>
                <a:cs typeface="에이투지체 6 SemiBold"/>
              </a:rPr>
              <a:t>세트 구성과 가격은 두드림과 협의하고, 등록된 세트는 기존 캠페인에 넣어 검색어별 성과를 확인합니다</a:t>
            </a:r>
          </a:p>
        </p:txBody>
      </p:sp>
      <p:sp>
        <p:nvSpPr>
          <p:cNvPr id="7" name="TextBox 6"/>
          <p:cNvSpPr txBox="1"/>
          <p:nvPr/>
        </p:nvSpPr>
        <p:spPr>
          <a:xfrm>
            <a:off x="548640" y="6089904"/>
            <a:ext cx="11064240" cy="274320"/>
          </a:xfrm>
          <a:prstGeom prst="rect">
            <a:avLst/>
          </a:prstGeom>
          <a:noFill/>
        </p:spPr>
        <p:txBody>
          <a:bodyPr wrap="square" lIns="0" tIns="0" rIns="0" bIns="0" anchor="t">
            <a:spAutoFit/>
          </a:bodyPr>
          <a:lstStyle/>
          <a:p>
            <a:pPr algn="l"/>
            <a:r>
              <a:rPr sz="850" b="0">
                <a:solidFill>
                  <a:srgbClr val="919191"/>
                </a:solidFill>
                <a:latin typeface="에이투지체 3 Light"/>
                <a:ea typeface="에이투지체 3 Light"/>
                <a:cs typeface="에이투지체 3 Light"/>
              </a:rPr>
              <a:t>경쟁사 사례: 2026.10.13 쿠팡 "어린이영양제" 검색 결과와 상품 페이지 기준 / 패키지 구성은 GFA 핵심과제 2와 동일하며, 구성과 가격은 두드림과 협의</a:t>
            </a:r>
          </a:p>
        </p:txBody>
      </p:sp>
      <p:sp>
        <p:nvSpPr>
          <p:cNvPr id="8" name="TextBox 7"/>
          <p:cNvSpPr txBox="1"/>
          <p:nvPr/>
        </p:nvSpPr>
        <p:spPr>
          <a:xfrm>
            <a:off x="548640" y="6473952"/>
            <a:ext cx="4206240" cy="274320"/>
          </a:xfrm>
          <a:prstGeom prst="rect">
            <a:avLst/>
          </a:prstGeom>
          <a:noFill/>
        </p:spPr>
        <p:txBody>
          <a:bodyPr wrap="square" lIns="0" tIns="0" rIns="0" bIns="0" anchor="t">
            <a:spAutoFit/>
          </a:bodyPr>
          <a:lstStyle/>
          <a:p>
            <a:pPr algn="l"/>
            <a:r>
              <a:rPr sz="800" b="0">
                <a:solidFill>
                  <a:srgbClr val="919191"/>
                </a:solidFill>
                <a:latin typeface="에이투지체 3 Light"/>
                <a:ea typeface="에이투지체 3 Light"/>
                <a:cs typeface="에이투지체 3 Light"/>
              </a:rPr>
              <a:t>DODREAM B&amp;B AD PROPOSAL · 2026</a:t>
            </a:r>
          </a:p>
        </p:txBody>
      </p:sp>
      <p:sp>
        <p:nvSpPr>
          <p:cNvPr id="9" name="TextBox 8"/>
          <p:cNvSpPr txBox="1"/>
          <p:nvPr/>
        </p:nvSpPr>
        <p:spPr>
          <a:xfrm>
            <a:off x="8138160" y="6473952"/>
            <a:ext cx="3017520" cy="274320"/>
          </a:xfrm>
          <a:prstGeom prst="rect">
            <a:avLst/>
          </a:prstGeom>
          <a:noFill/>
        </p:spPr>
        <p:txBody>
          <a:bodyPr wrap="square" lIns="0" tIns="0" rIns="0" bIns="0" anchor="t">
            <a:spAutoFit/>
          </a:bodyPr>
          <a:lstStyle/>
          <a:p>
            <a:pPr algn="r"/>
            <a:r>
              <a:rPr sz="800" b="0">
                <a:solidFill>
                  <a:srgbClr val="919191"/>
                </a:solidFill>
                <a:latin typeface="에이투지체 3 Light"/>
                <a:ea typeface="에이투지체 3 Light"/>
                <a:cs typeface="에이투지체 3 Light"/>
              </a:rPr>
              <a:t>LINKPRICE · BRAND AD CENTER</a:t>
            </a:r>
          </a:p>
        </p:txBody>
      </p:sp>
      <p:sp>
        <p:nvSpPr>
          <p:cNvPr id="10" name="TextBox 9"/>
          <p:cNvSpPr txBox="1"/>
          <p:nvPr/>
        </p:nvSpPr>
        <p:spPr>
          <a:xfrm>
            <a:off x="11292840" y="6473952"/>
            <a:ext cx="365760" cy="274320"/>
          </a:xfrm>
          <a:prstGeom prst="rect">
            <a:avLst/>
          </a:prstGeom>
          <a:noFill/>
        </p:spPr>
        <p:txBody>
          <a:bodyPr wrap="square" lIns="0" tIns="0" rIns="0" bIns="0" anchor="t">
            <a:spAutoFit/>
          </a:bodyPr>
          <a:lstStyle/>
          <a:p>
            <a:pPr algn="r"/>
            <a:r>
              <a:rPr sz="800" b="0">
                <a:solidFill>
                  <a:srgbClr val="222222"/>
                </a:solidFill>
                <a:latin typeface="에이투지체 6 SemiBold"/>
                <a:ea typeface="에이투지체 6 SemiBold"/>
                <a:cs typeface="에이투지체 6 SemiBold"/>
              </a:rPr>
              <a:t>40</a:t>
            </a:r>
          </a:p>
        </p:txBody>
      </p:sp>
      <p:sp>
        <p:nvSpPr>
          <p:cNvPr id="11" name="TextBox 10"/>
          <p:cNvSpPr txBox="1"/>
          <p:nvPr/>
        </p:nvSpPr>
        <p:spPr>
          <a:xfrm>
            <a:off x="548640" y="1993392"/>
            <a:ext cx="6035040" cy="292608"/>
          </a:xfrm>
          <a:prstGeom prst="rect">
            <a:avLst/>
          </a:prstGeom>
          <a:noFill/>
        </p:spPr>
        <p:txBody>
          <a:bodyPr wrap="square" lIns="0" tIns="0" rIns="0" bIns="0" anchor="t">
            <a:spAutoFit/>
          </a:bodyPr>
          <a:lstStyle/>
          <a:p>
            <a:pPr algn="l"/>
            <a:r>
              <a:rPr sz="1250" b="0">
                <a:solidFill>
                  <a:srgbClr val="004F9F"/>
                </a:solidFill>
                <a:latin typeface="에이투지체 8 ExtraBold"/>
                <a:ea typeface="에이투지체 8 ExtraBold"/>
                <a:cs typeface="에이투지체 8 ExtraBold"/>
              </a:rPr>
              <a:t>경쟁사 사례  </a:t>
            </a:r>
            <a:r>
              <a:rPr sz="1250" b="0">
                <a:solidFill>
                  <a:srgbClr val="222222"/>
                </a:solidFill>
                <a:latin typeface="에이투지체 6 SemiBold"/>
                <a:ea typeface="에이투지체 6 SemiBold"/>
                <a:cs typeface="에이투지체 6 SemiBold"/>
              </a:rPr>
              <a:t>키움정 + 멀티비타민 구미젤리 특가세트</a:t>
            </a:r>
          </a:p>
        </p:txBody>
      </p:sp>
      <p:pic>
        <p:nvPicPr>
          <p:cNvPr id="12" name="Picture 11" descr="kids.png"/>
          <p:cNvPicPr>
            <a:picLocks noChangeAspect="1"/>
          </p:cNvPicPr>
          <p:nvPr/>
        </p:nvPicPr>
        <p:blipFill>
          <a:blip r:embed="rId2"/>
          <a:stretch>
            <a:fillRect/>
          </a:stretch>
        </p:blipFill>
        <p:spPr>
          <a:xfrm>
            <a:off x="548640" y="2331720"/>
            <a:ext cx="3108960" cy="3088289"/>
          </a:xfrm>
          <a:prstGeom prst="rect">
            <a:avLst/>
          </a:prstGeom>
          <a:ln w="9525">
            <a:solidFill>
              <a:srgbClr val="DDDDDD"/>
            </a:solidFill>
          </a:ln>
        </p:spPr>
      </p:pic>
      <p:pic>
        <p:nvPicPr>
          <p:cNvPr id="13" name="Picture 12" descr="kium_set.png"/>
          <p:cNvPicPr>
            <a:picLocks noChangeAspect="1"/>
          </p:cNvPicPr>
          <p:nvPr/>
        </p:nvPicPr>
        <p:blipFill>
          <a:blip r:embed="rId3"/>
          <a:stretch>
            <a:fillRect/>
          </a:stretch>
        </p:blipFill>
        <p:spPr>
          <a:xfrm>
            <a:off x="3794760" y="2331720"/>
            <a:ext cx="3017520" cy="981839"/>
          </a:xfrm>
          <a:prstGeom prst="rect">
            <a:avLst/>
          </a:prstGeom>
          <a:ln w="9525">
            <a:solidFill>
              <a:srgbClr val="DDDDDD"/>
            </a:solidFill>
          </a:ln>
        </p:spPr>
      </p:pic>
      <p:sp>
        <p:nvSpPr>
          <p:cNvPr id="14" name="TextBox 13"/>
          <p:cNvSpPr txBox="1"/>
          <p:nvPr/>
        </p:nvSpPr>
        <p:spPr>
          <a:xfrm>
            <a:off x="3794760" y="3429000"/>
            <a:ext cx="3017520" cy="2011680"/>
          </a:xfrm>
          <a:prstGeom prst="rect">
            <a:avLst/>
          </a:prstGeom>
          <a:noFill/>
        </p:spPr>
        <p:txBody>
          <a:bodyPr wrap="square" lIns="0" tIns="0" rIns="0" bIns="0" anchor="t">
            <a:spAutoFit/>
          </a:bodyPr>
          <a:lstStyle/>
          <a:p>
            <a:pPr algn="l">
              <a:spcAft>
                <a:spcPts val="600"/>
              </a:spcAft>
            </a:pPr>
            <a:r>
              <a:rPr sz="1100" b="0">
                <a:solidFill>
                  <a:srgbClr val="004F9F"/>
                </a:solidFill>
                <a:latin typeface="에이투지체 6 SemiBold"/>
                <a:ea typeface="에이투지체 6 SemiBold"/>
                <a:cs typeface="에이투지체 6 SemiBold"/>
              </a:rPr>
              <a:t>구성  </a:t>
            </a:r>
            <a:r>
              <a:rPr sz="1100" b="0">
                <a:solidFill>
                  <a:srgbClr val="222222"/>
                </a:solidFill>
                <a:latin typeface="에이투지체 4 Regular"/>
                <a:ea typeface="에이투지체 4 Regular"/>
                <a:cs typeface="에이투지체 4 Regular"/>
              </a:rPr>
              <a:t>키움정 1병 + 멀티비타민 구미젤리 1박스</a:t>
            </a:r>
          </a:p>
          <a:p>
            <a:pPr algn="l">
              <a:spcAft>
                <a:spcPts val="600"/>
              </a:spcAft>
            </a:pPr>
            <a:r>
              <a:rPr sz="1100" b="0">
                <a:solidFill>
                  <a:srgbClr val="004F9F"/>
                </a:solidFill>
                <a:latin typeface="에이투지체 6 SemiBold"/>
                <a:ea typeface="에이투지체 6 SemiBold"/>
                <a:cs typeface="에이투지체 6 SemiBold"/>
              </a:rPr>
              <a:t>가격  </a:t>
            </a:r>
            <a:r>
              <a:rPr sz="1100" b="0">
                <a:solidFill>
                  <a:srgbClr val="222222"/>
                </a:solidFill>
                <a:latin typeface="에이투지체 4 Regular"/>
                <a:ea typeface="에이투지체 4 Regular"/>
                <a:cs typeface="에이투지체 4 Regular"/>
              </a:rPr>
              <a:t>58,900원 (정가 대비 25% 할인)</a:t>
            </a:r>
          </a:p>
          <a:p>
            <a:pPr algn="l">
              <a:spcAft>
                <a:spcPts val="600"/>
              </a:spcAft>
            </a:pPr>
            <a:r>
              <a:rPr sz="1100" b="0">
                <a:solidFill>
                  <a:srgbClr val="004F9F"/>
                </a:solidFill>
                <a:latin typeface="에이투지체 6 SemiBold"/>
                <a:ea typeface="에이투지체 6 SemiBold"/>
                <a:cs typeface="에이투지체 6 SemiBold"/>
              </a:rPr>
              <a:t>노출  </a:t>
            </a:r>
            <a:r>
              <a:rPr sz="1100" b="0">
                <a:solidFill>
                  <a:srgbClr val="222222"/>
                </a:solidFill>
                <a:latin typeface="에이투지체 4 Regular"/>
                <a:ea typeface="에이투지체 4 Regular"/>
                <a:cs typeface="에이투지체 4 Regular"/>
              </a:rPr>
              <a:t>"어린이영양제" 첫 화면</a:t>
            </a:r>
          </a:p>
          <a:p>
            <a:pPr algn="l">
              <a:spcAft>
                <a:spcPts val="600"/>
              </a:spcAft>
            </a:pPr>
            <a:r>
              <a:rPr sz="1100" b="0">
                <a:solidFill>
                  <a:srgbClr val="004F9F"/>
                </a:solidFill>
                <a:latin typeface="에이투지체 6 SemiBold"/>
                <a:ea typeface="에이투지체 6 SemiBold"/>
                <a:cs typeface="에이투지체 6 SemiBold"/>
              </a:rPr>
              <a:t>효과  </a:t>
            </a:r>
            <a:r>
              <a:rPr sz="1100" b="0">
                <a:solidFill>
                  <a:srgbClr val="222222"/>
                </a:solidFill>
                <a:latin typeface="에이투지체 4 Regular"/>
                <a:ea typeface="에이투지체 4 Regular"/>
                <a:cs typeface="에이투지체 4 Regular"/>
              </a:rPr>
              <a:t>키 성장 검색 밖의 수요까지 대표 상품으로 연결</a:t>
            </a:r>
          </a:p>
        </p:txBody>
      </p:sp>
      <p:sp>
        <p:nvSpPr>
          <p:cNvPr id="15" name="Rounded Rectangle 14"/>
          <p:cNvSpPr/>
          <p:nvPr/>
        </p:nvSpPr>
        <p:spPr>
          <a:xfrm>
            <a:off x="7040880" y="2103120"/>
            <a:ext cx="4572000" cy="3310128"/>
          </a:xfrm>
          <a:prstGeom prst="roundRect">
            <a:avLst>
              <a:gd name="adj" fmla="val 2209"/>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269480" y="2212848"/>
            <a:ext cx="4114800" cy="320040"/>
          </a:xfrm>
          <a:prstGeom prst="rect">
            <a:avLst/>
          </a:prstGeom>
          <a:noFill/>
        </p:spPr>
        <p:txBody>
          <a:bodyPr wrap="square" lIns="0" tIns="0" rIns="0" bIns="0" anchor="t">
            <a:spAutoFit/>
          </a:bodyPr>
          <a:lstStyle/>
          <a:p>
            <a:pPr algn="l"/>
            <a:r>
              <a:rPr sz="1350" b="0">
                <a:solidFill>
                  <a:srgbClr val="222222"/>
                </a:solidFill>
                <a:latin typeface="에이투지체 8 ExtraBold"/>
                <a:ea typeface="에이투지체 8 ExtraBold"/>
                <a:cs typeface="에이투지체 8 ExtraBold"/>
              </a:rPr>
              <a:t>두드림 성장 패키지 제안 (쿠팡 세트 상품)</a:t>
            </a:r>
          </a:p>
        </p:txBody>
      </p:sp>
      <p:sp>
        <p:nvSpPr>
          <p:cNvPr id="17" name="Rounded Rectangle 16"/>
          <p:cNvSpPr/>
          <p:nvPr/>
        </p:nvSpPr>
        <p:spPr>
          <a:xfrm>
            <a:off x="7269480" y="2633472"/>
            <a:ext cx="1234440" cy="402336"/>
          </a:xfrm>
          <a:prstGeom prst="roundRect">
            <a:avLst>
              <a:gd name="adj" fmla="val 18181"/>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269480" y="2633472"/>
            <a:ext cx="1234440" cy="402336"/>
          </a:xfrm>
          <a:prstGeom prst="rect">
            <a:avLst/>
          </a:prstGeom>
          <a:noFill/>
        </p:spPr>
        <p:txBody>
          <a:bodyPr wrap="square" lIns="0" tIns="0" rIns="0" bIns="0" anchor="ctr">
            <a:spAutoFit/>
          </a:bodyPr>
          <a:lstStyle/>
          <a:p>
            <a:pPr algn="ctr"/>
            <a:r>
              <a:rPr sz="1050" b="0">
                <a:solidFill>
                  <a:srgbClr val="FFFFFF"/>
                </a:solidFill>
                <a:latin typeface="에이투지체 6 SemiBold"/>
                <a:ea typeface="에이투지체 6 SemiBold"/>
                <a:cs typeface="에이투지체 6 SemiBold"/>
              </a:rPr>
              <a:t>성장 시작</a:t>
            </a:r>
          </a:p>
        </p:txBody>
      </p:sp>
      <p:sp>
        <p:nvSpPr>
          <p:cNvPr id="19" name="TextBox 18"/>
          <p:cNvSpPr txBox="1"/>
          <p:nvPr/>
        </p:nvSpPr>
        <p:spPr>
          <a:xfrm>
            <a:off x="8613648" y="2633472"/>
            <a:ext cx="685800" cy="402336"/>
          </a:xfrm>
          <a:prstGeom prst="rect">
            <a:avLst/>
          </a:prstGeom>
          <a:noFill/>
        </p:spPr>
        <p:txBody>
          <a:bodyPr wrap="square" lIns="0" tIns="0" rIns="0" bIns="0" anchor="ctr">
            <a:spAutoFit/>
          </a:bodyPr>
          <a:lstStyle/>
          <a:p>
            <a:pPr algn="l"/>
            <a:r>
              <a:rPr sz="1000" b="0">
                <a:solidFill>
                  <a:srgbClr val="919191"/>
                </a:solidFill>
                <a:latin typeface="에이투지체 6 SemiBold"/>
                <a:ea typeface="에이투지체 6 SemiBold"/>
                <a:cs typeface="에이투지체 6 SemiBold"/>
              </a:rPr>
              <a:t>4~7세</a:t>
            </a:r>
          </a:p>
        </p:txBody>
      </p:sp>
      <p:sp>
        <p:nvSpPr>
          <p:cNvPr id="20" name="TextBox 19"/>
          <p:cNvSpPr txBox="1"/>
          <p:nvPr/>
        </p:nvSpPr>
        <p:spPr>
          <a:xfrm>
            <a:off x="9281160" y="2633472"/>
            <a:ext cx="2240280" cy="402336"/>
          </a:xfrm>
          <a:prstGeom prst="rect">
            <a:avLst/>
          </a:prstGeom>
          <a:noFill/>
        </p:spPr>
        <p:txBody>
          <a:bodyPr wrap="square" lIns="0" tIns="0" rIns="0" bIns="0" anchor="ctr">
            <a:spAutoFit/>
          </a:bodyPr>
          <a:lstStyle/>
          <a:p>
            <a:pPr algn="l"/>
            <a:r>
              <a:rPr sz="1050" b="0">
                <a:solidFill>
                  <a:srgbClr val="222222"/>
                </a:solidFill>
                <a:latin typeface="에이투지체 5 Medium"/>
                <a:ea typeface="에이투지체 5 Medium"/>
                <a:cs typeface="에이투지체 5 Medium"/>
              </a:rPr>
              <a:t>FGO + 츄어블 칼마디</a:t>
            </a:r>
          </a:p>
        </p:txBody>
      </p:sp>
      <p:sp>
        <p:nvSpPr>
          <p:cNvPr id="21" name="Rounded Rectangle 20"/>
          <p:cNvSpPr/>
          <p:nvPr/>
        </p:nvSpPr>
        <p:spPr>
          <a:xfrm>
            <a:off x="7269480" y="3145536"/>
            <a:ext cx="1234440" cy="402336"/>
          </a:xfrm>
          <a:prstGeom prst="roundRect">
            <a:avLst>
              <a:gd name="adj" fmla="val 18181"/>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269480" y="3145536"/>
            <a:ext cx="1234440" cy="402336"/>
          </a:xfrm>
          <a:prstGeom prst="rect">
            <a:avLst/>
          </a:prstGeom>
          <a:noFill/>
        </p:spPr>
        <p:txBody>
          <a:bodyPr wrap="square" lIns="0" tIns="0" rIns="0" bIns="0" anchor="ctr">
            <a:spAutoFit/>
          </a:bodyPr>
          <a:lstStyle/>
          <a:p>
            <a:pPr algn="ctr"/>
            <a:r>
              <a:rPr sz="1050" b="0">
                <a:solidFill>
                  <a:srgbClr val="FFFFFF"/>
                </a:solidFill>
                <a:latin typeface="에이투지체 6 SemiBold"/>
                <a:ea typeface="에이투지체 6 SemiBold"/>
                <a:cs typeface="에이투지체 6 SemiBold"/>
              </a:rPr>
              <a:t>초등 성장</a:t>
            </a:r>
          </a:p>
        </p:txBody>
      </p:sp>
      <p:sp>
        <p:nvSpPr>
          <p:cNvPr id="23" name="TextBox 22"/>
          <p:cNvSpPr txBox="1"/>
          <p:nvPr/>
        </p:nvSpPr>
        <p:spPr>
          <a:xfrm>
            <a:off x="8613648" y="3145536"/>
            <a:ext cx="685800" cy="402336"/>
          </a:xfrm>
          <a:prstGeom prst="rect">
            <a:avLst/>
          </a:prstGeom>
          <a:noFill/>
        </p:spPr>
        <p:txBody>
          <a:bodyPr wrap="square" lIns="0" tIns="0" rIns="0" bIns="0" anchor="ctr">
            <a:spAutoFit/>
          </a:bodyPr>
          <a:lstStyle/>
          <a:p>
            <a:pPr algn="l"/>
            <a:r>
              <a:rPr sz="1000" b="0">
                <a:solidFill>
                  <a:srgbClr val="919191"/>
                </a:solidFill>
                <a:latin typeface="에이투지체 6 SemiBold"/>
                <a:ea typeface="에이투지체 6 SemiBold"/>
                <a:cs typeface="에이투지체 6 SemiBold"/>
              </a:rPr>
              <a:t>8~13세</a:t>
            </a:r>
          </a:p>
        </p:txBody>
      </p:sp>
      <p:sp>
        <p:nvSpPr>
          <p:cNvPr id="24" name="TextBox 23"/>
          <p:cNvSpPr txBox="1"/>
          <p:nvPr/>
        </p:nvSpPr>
        <p:spPr>
          <a:xfrm>
            <a:off x="9281160" y="3145536"/>
            <a:ext cx="2240280" cy="402336"/>
          </a:xfrm>
          <a:prstGeom prst="rect">
            <a:avLst/>
          </a:prstGeom>
          <a:noFill/>
        </p:spPr>
        <p:txBody>
          <a:bodyPr wrap="square" lIns="0" tIns="0" rIns="0" bIns="0" anchor="ctr">
            <a:spAutoFit/>
          </a:bodyPr>
          <a:lstStyle/>
          <a:p>
            <a:pPr algn="l"/>
            <a:r>
              <a:rPr sz="1050" b="0">
                <a:solidFill>
                  <a:srgbClr val="222222"/>
                </a:solidFill>
                <a:latin typeface="에이투지체 5 Medium"/>
                <a:ea typeface="에이투지체 5 Medium"/>
                <a:cs typeface="에이투지체 5 Medium"/>
              </a:rPr>
              <a:t>FGO + 칼마디 + 철분</a:t>
            </a:r>
          </a:p>
        </p:txBody>
      </p:sp>
      <p:sp>
        <p:nvSpPr>
          <p:cNvPr id="25" name="Rounded Rectangle 24"/>
          <p:cNvSpPr/>
          <p:nvPr/>
        </p:nvSpPr>
        <p:spPr>
          <a:xfrm>
            <a:off x="7269480" y="3657600"/>
            <a:ext cx="1234440" cy="402336"/>
          </a:xfrm>
          <a:prstGeom prst="roundRect">
            <a:avLst>
              <a:gd name="adj" fmla="val 18181"/>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269480" y="3657600"/>
            <a:ext cx="1234440" cy="402336"/>
          </a:xfrm>
          <a:prstGeom prst="rect">
            <a:avLst/>
          </a:prstGeom>
          <a:noFill/>
        </p:spPr>
        <p:txBody>
          <a:bodyPr wrap="square" lIns="0" tIns="0" rIns="0" bIns="0" anchor="ctr">
            <a:spAutoFit/>
          </a:bodyPr>
          <a:lstStyle/>
          <a:p>
            <a:pPr algn="ctr"/>
            <a:r>
              <a:rPr sz="1050" b="0">
                <a:solidFill>
                  <a:srgbClr val="FFFFFF"/>
                </a:solidFill>
                <a:latin typeface="에이투지체 6 SemiBold"/>
                <a:ea typeface="에이투지체 6 SemiBold"/>
                <a:cs typeface="에이투지체 6 SemiBold"/>
              </a:rPr>
              <a:t>청소년</a:t>
            </a:r>
          </a:p>
        </p:txBody>
      </p:sp>
      <p:sp>
        <p:nvSpPr>
          <p:cNvPr id="27" name="TextBox 26"/>
          <p:cNvSpPr txBox="1"/>
          <p:nvPr/>
        </p:nvSpPr>
        <p:spPr>
          <a:xfrm>
            <a:off x="8613648" y="3657600"/>
            <a:ext cx="685800" cy="402336"/>
          </a:xfrm>
          <a:prstGeom prst="rect">
            <a:avLst/>
          </a:prstGeom>
          <a:noFill/>
        </p:spPr>
        <p:txBody>
          <a:bodyPr wrap="square" lIns="0" tIns="0" rIns="0" bIns="0" anchor="ctr">
            <a:spAutoFit/>
          </a:bodyPr>
          <a:lstStyle/>
          <a:p>
            <a:pPr algn="l"/>
            <a:r>
              <a:rPr sz="1000" b="0">
                <a:solidFill>
                  <a:srgbClr val="919191"/>
                </a:solidFill>
                <a:latin typeface="에이투지체 6 SemiBold"/>
                <a:ea typeface="에이투지체 6 SemiBold"/>
                <a:cs typeface="에이투지체 6 SemiBold"/>
              </a:rPr>
              <a:t>14~17세</a:t>
            </a:r>
          </a:p>
        </p:txBody>
      </p:sp>
      <p:sp>
        <p:nvSpPr>
          <p:cNvPr id="28" name="TextBox 27"/>
          <p:cNvSpPr txBox="1"/>
          <p:nvPr/>
        </p:nvSpPr>
        <p:spPr>
          <a:xfrm>
            <a:off x="9281160" y="3657600"/>
            <a:ext cx="2240280" cy="402336"/>
          </a:xfrm>
          <a:prstGeom prst="rect">
            <a:avLst/>
          </a:prstGeom>
          <a:noFill/>
        </p:spPr>
        <p:txBody>
          <a:bodyPr wrap="square" lIns="0" tIns="0" rIns="0" bIns="0" anchor="ctr">
            <a:spAutoFit/>
          </a:bodyPr>
          <a:lstStyle/>
          <a:p>
            <a:pPr algn="l"/>
            <a:r>
              <a:rPr sz="1050" b="0">
                <a:solidFill>
                  <a:srgbClr val="222222"/>
                </a:solidFill>
                <a:latin typeface="에이투지체 5 Medium"/>
                <a:ea typeface="에이투지체 5 Medium"/>
                <a:cs typeface="에이투지체 5 Medium"/>
              </a:rPr>
              <a:t>FGO + 프로바이오키드</a:t>
            </a:r>
          </a:p>
        </p:txBody>
      </p:sp>
      <p:sp>
        <p:nvSpPr>
          <p:cNvPr id="29" name="Rounded Rectangle 28"/>
          <p:cNvSpPr/>
          <p:nvPr/>
        </p:nvSpPr>
        <p:spPr>
          <a:xfrm>
            <a:off x="7269480" y="4169664"/>
            <a:ext cx="1234440" cy="402336"/>
          </a:xfrm>
          <a:prstGeom prst="roundRect">
            <a:avLst>
              <a:gd name="adj" fmla="val 18181"/>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269480" y="4169664"/>
            <a:ext cx="1234440" cy="402336"/>
          </a:xfrm>
          <a:prstGeom prst="rect">
            <a:avLst/>
          </a:prstGeom>
          <a:noFill/>
        </p:spPr>
        <p:txBody>
          <a:bodyPr wrap="square" lIns="0" tIns="0" rIns="0" bIns="0" anchor="ctr">
            <a:spAutoFit/>
          </a:bodyPr>
          <a:lstStyle/>
          <a:p>
            <a:pPr algn="ctr"/>
            <a:r>
              <a:rPr sz="1050" b="0">
                <a:solidFill>
                  <a:srgbClr val="004F9F"/>
                </a:solidFill>
                <a:latin typeface="에이투지체 6 SemiBold"/>
                <a:ea typeface="에이투지체 6 SemiBold"/>
                <a:cs typeface="에이투지체 6 SemiBold"/>
              </a:rPr>
              <a:t>유아 스타터</a:t>
            </a:r>
          </a:p>
        </p:txBody>
      </p:sp>
      <p:sp>
        <p:nvSpPr>
          <p:cNvPr id="31" name="TextBox 30"/>
          <p:cNvSpPr txBox="1"/>
          <p:nvPr/>
        </p:nvSpPr>
        <p:spPr>
          <a:xfrm>
            <a:off x="8613648" y="4169664"/>
            <a:ext cx="685800" cy="402336"/>
          </a:xfrm>
          <a:prstGeom prst="rect">
            <a:avLst/>
          </a:prstGeom>
          <a:noFill/>
        </p:spPr>
        <p:txBody>
          <a:bodyPr wrap="square" lIns="0" tIns="0" rIns="0" bIns="0" anchor="ctr">
            <a:spAutoFit/>
          </a:bodyPr>
          <a:lstStyle/>
          <a:p>
            <a:pPr algn="l"/>
            <a:r>
              <a:rPr sz="1000" b="0">
                <a:solidFill>
                  <a:srgbClr val="919191"/>
                </a:solidFill>
                <a:latin typeface="에이투지체 6 SemiBold"/>
                <a:ea typeface="에이투지체 6 SemiBold"/>
                <a:cs typeface="에이투지체 6 SemiBold"/>
              </a:rPr>
              <a:t>2~3세</a:t>
            </a:r>
          </a:p>
        </p:txBody>
      </p:sp>
      <p:sp>
        <p:nvSpPr>
          <p:cNvPr id="32" name="TextBox 31"/>
          <p:cNvSpPr txBox="1"/>
          <p:nvPr/>
        </p:nvSpPr>
        <p:spPr>
          <a:xfrm>
            <a:off x="9281160" y="4169664"/>
            <a:ext cx="2240280" cy="402336"/>
          </a:xfrm>
          <a:prstGeom prst="rect">
            <a:avLst/>
          </a:prstGeom>
          <a:noFill/>
        </p:spPr>
        <p:txBody>
          <a:bodyPr wrap="square" lIns="0" tIns="0" rIns="0" bIns="0" anchor="ctr">
            <a:spAutoFit/>
          </a:bodyPr>
          <a:lstStyle/>
          <a:p>
            <a:pPr algn="l"/>
            <a:r>
              <a:rPr sz="1050" b="0">
                <a:solidFill>
                  <a:srgbClr val="222222"/>
                </a:solidFill>
                <a:latin typeface="에이투지체 5 Medium"/>
                <a:ea typeface="에이투지체 5 Medium"/>
                <a:cs typeface="에이투지체 5 Medium"/>
              </a:rPr>
              <a:t>멀티비타민 + 유산균 아연D + 철분</a:t>
            </a:r>
          </a:p>
        </p:txBody>
      </p:sp>
      <p:sp>
        <p:nvSpPr>
          <p:cNvPr id="33" name="TextBox 32"/>
          <p:cNvSpPr txBox="1"/>
          <p:nvPr/>
        </p:nvSpPr>
        <p:spPr>
          <a:xfrm>
            <a:off x="7269480" y="4709160"/>
            <a:ext cx="4114800" cy="640080"/>
          </a:xfrm>
          <a:prstGeom prst="rect">
            <a:avLst/>
          </a:prstGeom>
          <a:noFill/>
        </p:spPr>
        <p:txBody>
          <a:bodyPr wrap="square" lIns="0" tIns="0" rIns="0" bIns="0" anchor="t">
            <a:spAutoFit/>
          </a:bodyPr>
          <a:lstStyle/>
          <a:p>
            <a:pPr algn="l">
              <a:spcAft>
                <a:spcPts val="300"/>
              </a:spcAft>
            </a:pPr>
            <a:r>
              <a:rPr sz="1000" b="0">
                <a:solidFill>
                  <a:srgbClr val="004F9F"/>
                </a:solidFill>
                <a:latin typeface="에이투지체 6 SemiBold"/>
                <a:ea typeface="에이투지체 6 SemiBold"/>
                <a:cs typeface="에이투지체 6 SemiBold"/>
              </a:rPr>
              <a:t>이미 판매 중  </a:t>
            </a:r>
            <a:r>
              <a:rPr sz="1000" b="0">
                <a:solidFill>
                  <a:srgbClr val="5C5C5C"/>
                </a:solidFill>
                <a:latin typeface="에이투지체 4 Regular"/>
                <a:ea typeface="에이투지체 4 Regular"/>
                <a:cs typeface="에이투지체 4 Regular"/>
              </a:rPr>
              <a:t>FGO + 눈건강 루테인 세트 (리뷰 89)</a:t>
            </a:r>
          </a:p>
          <a:p>
            <a:pPr algn="l">
              <a:spcAft>
                <a:spcPts val="300"/>
              </a:spcAft>
            </a:pPr>
            <a:r>
              <a:rPr sz="1000" b="0">
                <a:solidFill>
                  <a:srgbClr val="004F9F"/>
                </a:solidFill>
                <a:latin typeface="에이투지체 6 SemiBold"/>
                <a:ea typeface="에이투지체 6 SemiBold"/>
                <a:cs typeface="에이투지체 6 SemiBold"/>
              </a:rPr>
              <a:t>운영  </a:t>
            </a:r>
            <a:r>
              <a:rPr sz="1000" b="0">
                <a:solidFill>
                  <a:srgbClr val="5C5C5C"/>
                </a:solidFill>
                <a:latin typeface="에이투지체 4 Regular"/>
                <a:ea typeface="에이투지체 4 Regular"/>
                <a:cs typeface="에이투지체 4 Regular"/>
              </a:rPr>
              <a:t>FGO 세트는 키성장 캠페인, 유아 세트는 데일리 캠페인</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ctr"/>
          <a:lstStyle/>
          <a:p>
            <a:pPr algn="l"/>
            <a:r>
              <a:rPr sz="900" b="0" spc="100">
                <a:solidFill>
                  <a:srgbClr val="004F9F"/>
                </a:solidFill>
                <a:latin typeface="에이투지체 6 SemiBold"/>
                <a:ea typeface="에이투지체 6 SemiBold"/>
                <a:cs typeface="에이투지체 6 SemiBold"/>
              </a:rPr>
              <a:t>PART 2 · 11월 마케팅 전략 · 미디어믹스</a:t>
            </a:r>
          </a:p>
        </p:txBody>
      </p:sp>
      <p:sp>
        <p:nvSpPr>
          <p:cNvPr id="3" name="TextBox 2"/>
          <p:cNvSpPr txBox="1"/>
          <p:nvPr/>
        </p:nvSpPr>
        <p:spPr>
          <a:xfrm>
            <a:off x="548640" y="658368"/>
            <a:ext cx="11064240" cy="868680"/>
          </a:xfrm>
          <a:prstGeom prst="rect">
            <a:avLst/>
          </a:prstGeom>
          <a:noFill/>
        </p:spPr>
        <p:txBody>
          <a:bodyPr wrap="square" lIns="0" tIns="0" rIns="0" bIns="0" anchor="ctr"/>
          <a:lstStyle/>
          <a:p>
            <a:pPr>
              <a:lnSpc>
                <a:spcPts val="2600"/>
              </a:lnSpc>
            </a:pPr>
            <a:r>
              <a:rPr sz="1900" b="0">
                <a:solidFill>
                  <a:srgbClr val="FFFFFF"/>
                </a:solidFill>
                <a:highlight>
                  <a:srgbClr val="0000FF"/>
                </a:highlight>
                <a:latin typeface="에이투지체 8 ExtraBold"/>
                <a:ea typeface="에이투지체 8 ExtraBold"/>
                <a:cs typeface="에이투지체 8 ExtraBold"/>
              </a:rPr>
              <a:t>지마켓은 광고 상품이 일부에 그치고</a:t>
            </a:r>
          </a:p>
          <a:p>
            <a:pPr>
              <a:lnSpc>
                <a:spcPts val="2600"/>
              </a:lnSpc>
            </a:pPr>
            <a:r>
              <a:rPr sz="1900" b="0">
                <a:solidFill>
                  <a:srgbClr val="222222"/>
                </a:solidFill>
                <a:latin typeface="에이투지체 8 ExtraBold"/>
                <a:ea typeface="에이투지체 8 ExtraBold"/>
                <a:cs typeface="에이투지체 8 ExtraBold"/>
              </a:rPr>
              <a:t>11번가는 광고 영역에 보이지 않습니다</a:t>
            </a:r>
          </a:p>
        </p:txBody>
      </p:sp>
      <p:sp>
        <p:nvSpPr>
          <p:cNvPr id="4" name="TextBox 3"/>
          <p:cNvSpPr txBox="1"/>
          <p:nvPr/>
        </p:nvSpPr>
        <p:spPr>
          <a:xfrm>
            <a:off x="548640" y="1517904"/>
            <a:ext cx="11064240" cy="365760"/>
          </a:xfrm>
          <a:prstGeom prst="rect">
            <a:avLst/>
          </a:prstGeom>
          <a:noFill/>
        </p:spPr>
        <p:txBody>
          <a:bodyPr wrap="square" lIns="0" tIns="0" rIns="0" bIns="0" anchor="ctr"/>
          <a:lstStyle/>
          <a:p>
            <a:pPr algn="l"/>
            <a:r>
              <a:rPr sz="1100" b="0" dirty="0">
                <a:solidFill>
                  <a:srgbClr val="5C5C5C"/>
                </a:solidFill>
                <a:latin typeface="에이투지체 5 Medium"/>
                <a:ea typeface="에이투지체 5 Medium"/>
                <a:cs typeface="에이투지체 5 Medium"/>
              </a:rPr>
              <a:t>지마켓·11번가 </a:t>
            </a:r>
            <a:r>
              <a:rPr sz="1100" b="0" dirty="0" err="1">
                <a:solidFill>
                  <a:srgbClr val="5C5C5C"/>
                </a:solidFill>
                <a:latin typeface="에이투지체 5 Medium"/>
                <a:ea typeface="에이투지체 5 Medium"/>
                <a:cs typeface="에이투지체 5 Medium"/>
              </a:rPr>
              <a:t>현황</a:t>
            </a:r>
            <a:r>
              <a:rPr sz="1100" b="0" dirty="0">
                <a:solidFill>
                  <a:srgbClr val="5C5C5C"/>
                </a:solidFill>
                <a:latin typeface="에이투지체 5 Medium"/>
                <a:ea typeface="에이투지체 5 Medium"/>
                <a:cs typeface="에이투지체 5 Medium"/>
              </a:rPr>
              <a:t> </a:t>
            </a:r>
            <a:r>
              <a:rPr sz="1100" b="0" dirty="0" err="1">
                <a:solidFill>
                  <a:srgbClr val="5C5C5C"/>
                </a:solidFill>
                <a:latin typeface="에이투지체 5 Medium"/>
                <a:ea typeface="에이투지체 5 Medium"/>
                <a:cs typeface="에이투지체 5 Medium"/>
              </a:rPr>
              <a:t>진단</a:t>
            </a:r>
            <a:r>
              <a:rPr sz="1100" b="0" dirty="0">
                <a:solidFill>
                  <a:srgbClr val="5C5C5C"/>
                </a:solidFill>
                <a:latin typeface="에이투지체 5 Medium"/>
                <a:ea typeface="에이투지체 5 Medium"/>
                <a:cs typeface="에이투지체 5 Medium"/>
              </a:rPr>
              <a:t> ①</a:t>
            </a:r>
          </a:p>
        </p:txBody>
      </p:sp>
      <p:sp>
        <p:nvSpPr>
          <p:cNvPr id="5" name="Rounded Rectangle 4"/>
          <p:cNvSpPr/>
          <p:nvPr/>
        </p:nvSpPr>
        <p:spPr>
          <a:xfrm>
            <a:off x="548640" y="5577840"/>
            <a:ext cx="11064240" cy="438912"/>
          </a:xfrm>
          <a:prstGeom prst="roundRect">
            <a:avLst>
              <a:gd name="adj" fmla="val 16666"/>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 y="5632704"/>
            <a:ext cx="10671048" cy="347472"/>
          </a:xfrm>
          <a:prstGeom prst="rect">
            <a:avLst/>
          </a:prstGeom>
          <a:noFill/>
        </p:spPr>
        <p:txBody>
          <a:bodyPr wrap="square" lIns="0" tIns="0" rIns="0" bIns="0" anchor="ctr">
            <a:spAutoFit/>
          </a:bodyPr>
          <a:lstStyle/>
          <a:p>
            <a:pPr algn="l"/>
            <a:r>
              <a:rPr sz="1350" b="0">
                <a:solidFill>
                  <a:srgbClr val="004F9F"/>
                </a:solidFill>
                <a:latin typeface="에이투지체 6 SemiBold"/>
                <a:ea typeface="에이투지체 6 SemiBold"/>
                <a:cs typeface="에이투지체 6 SemiBold"/>
              </a:rPr>
              <a:t>지마켓은 광고 영역을 채우는 것이, 11번가는 공식 스토어 노출을 시작하는 것이 과제입니다</a:t>
            </a:r>
          </a:p>
        </p:txBody>
      </p:sp>
      <p:sp>
        <p:nvSpPr>
          <p:cNvPr id="7" name="TextBox 6"/>
          <p:cNvSpPr txBox="1"/>
          <p:nvPr/>
        </p:nvSpPr>
        <p:spPr>
          <a:xfrm>
            <a:off x="548640" y="6089904"/>
            <a:ext cx="11064240" cy="274320"/>
          </a:xfrm>
          <a:prstGeom prst="rect">
            <a:avLst/>
          </a:prstGeom>
          <a:noFill/>
        </p:spPr>
        <p:txBody>
          <a:bodyPr wrap="square" lIns="0" tIns="0" rIns="0" bIns="0" anchor="t">
            <a:spAutoFit/>
          </a:bodyPr>
          <a:lstStyle/>
          <a:p>
            <a:pPr algn="l"/>
            <a:r>
              <a:rPr sz="850" b="0">
                <a:solidFill>
                  <a:srgbClr val="919191"/>
                </a:solidFill>
                <a:latin typeface="에이투지체 3 Light"/>
                <a:ea typeface="에이투지체 3 Light"/>
                <a:cs typeface="에이투지체 3 Light"/>
              </a:rPr>
              <a:t>광고비: 11월 미디어믹스 제안안 / 지마켓: 2026.10.13 지마켓 PC 검색 화면 기준. 검색 결과는 새로고침, 사용자별로 달라짐 / 괄호는 리뷰 수 / 11번가: 2026.10.13 11번가 PC 검색 화면 기준. 검색 결과는 새로고침, 사용자별로 달라짐</a:t>
            </a:r>
          </a:p>
        </p:txBody>
      </p:sp>
      <p:sp>
        <p:nvSpPr>
          <p:cNvPr id="8" name="TextBox 7"/>
          <p:cNvSpPr txBox="1"/>
          <p:nvPr/>
        </p:nvSpPr>
        <p:spPr>
          <a:xfrm>
            <a:off x="548640" y="6473952"/>
            <a:ext cx="4206240" cy="274320"/>
          </a:xfrm>
          <a:prstGeom prst="rect">
            <a:avLst/>
          </a:prstGeom>
          <a:noFill/>
        </p:spPr>
        <p:txBody>
          <a:bodyPr wrap="square" lIns="0" tIns="0" rIns="0" bIns="0" anchor="t">
            <a:spAutoFit/>
          </a:bodyPr>
          <a:lstStyle/>
          <a:p>
            <a:pPr algn="l"/>
            <a:r>
              <a:rPr sz="800" b="0">
                <a:solidFill>
                  <a:srgbClr val="919191"/>
                </a:solidFill>
                <a:latin typeface="에이투지체 3 Light"/>
                <a:ea typeface="에이투지체 3 Light"/>
                <a:cs typeface="에이투지체 3 Light"/>
              </a:rPr>
              <a:t>DODREAM B&amp;B AD PROPOSAL · 2026</a:t>
            </a:r>
          </a:p>
        </p:txBody>
      </p:sp>
      <p:sp>
        <p:nvSpPr>
          <p:cNvPr id="9" name="TextBox 8"/>
          <p:cNvSpPr txBox="1"/>
          <p:nvPr/>
        </p:nvSpPr>
        <p:spPr>
          <a:xfrm>
            <a:off x="8138160" y="6473952"/>
            <a:ext cx="3017520" cy="274320"/>
          </a:xfrm>
          <a:prstGeom prst="rect">
            <a:avLst/>
          </a:prstGeom>
          <a:noFill/>
        </p:spPr>
        <p:txBody>
          <a:bodyPr wrap="square" lIns="0" tIns="0" rIns="0" bIns="0" anchor="t">
            <a:spAutoFit/>
          </a:bodyPr>
          <a:lstStyle/>
          <a:p>
            <a:pPr algn="r"/>
            <a:r>
              <a:rPr sz="800" b="0">
                <a:solidFill>
                  <a:srgbClr val="919191"/>
                </a:solidFill>
                <a:latin typeface="에이투지체 3 Light"/>
                <a:ea typeface="에이투지체 3 Light"/>
                <a:cs typeface="에이투지체 3 Light"/>
              </a:rPr>
              <a:t>LINKPRICE · BRAND AD CENTER</a:t>
            </a:r>
          </a:p>
        </p:txBody>
      </p:sp>
      <p:sp>
        <p:nvSpPr>
          <p:cNvPr id="10" name="TextBox 9"/>
          <p:cNvSpPr txBox="1"/>
          <p:nvPr/>
        </p:nvSpPr>
        <p:spPr>
          <a:xfrm>
            <a:off x="11292840" y="6473952"/>
            <a:ext cx="365760" cy="274320"/>
          </a:xfrm>
          <a:prstGeom prst="rect">
            <a:avLst/>
          </a:prstGeom>
          <a:noFill/>
        </p:spPr>
        <p:txBody>
          <a:bodyPr wrap="square" lIns="0" tIns="0" rIns="0" bIns="0" anchor="t">
            <a:spAutoFit/>
          </a:bodyPr>
          <a:lstStyle/>
          <a:p>
            <a:pPr algn="r"/>
            <a:r>
              <a:rPr sz="800" b="0">
                <a:solidFill>
                  <a:srgbClr val="222222"/>
                </a:solidFill>
                <a:latin typeface="에이투지체 6 SemiBold"/>
                <a:ea typeface="에이투지체 6 SemiBold"/>
                <a:cs typeface="에이투지체 6 SemiBold"/>
              </a:rPr>
              <a:t>41</a:t>
            </a:r>
          </a:p>
        </p:txBody>
      </p:sp>
      <p:sp>
        <p:nvSpPr>
          <p:cNvPr id="11" name="Rounded Rectangle 10"/>
          <p:cNvSpPr/>
          <p:nvPr/>
        </p:nvSpPr>
        <p:spPr>
          <a:xfrm>
            <a:off x="548640" y="2103120"/>
            <a:ext cx="3447288" cy="1051560"/>
          </a:xfrm>
          <a:prstGeom prst="roundRect">
            <a:avLst>
              <a:gd name="adj" fmla="val 6956"/>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2157984"/>
            <a:ext cx="3017520" cy="530352"/>
          </a:xfrm>
          <a:prstGeom prst="rect">
            <a:avLst/>
          </a:prstGeom>
          <a:noFill/>
        </p:spPr>
        <p:txBody>
          <a:bodyPr wrap="square" lIns="0" tIns="0" rIns="0" bIns="0" anchor="t">
            <a:spAutoFit/>
          </a:bodyPr>
          <a:lstStyle/>
          <a:p>
            <a:pPr algn="l"/>
            <a:r>
              <a:rPr sz="2800" b="0">
                <a:solidFill>
                  <a:srgbClr val="004F9F"/>
                </a:solidFill>
                <a:latin typeface="에이투지체 8 ExtraBold"/>
                <a:ea typeface="에이투지체 8 ExtraBold"/>
                <a:cs typeface="에이투지체 8 ExtraBold"/>
              </a:rPr>
              <a:t>광고 운영 중</a:t>
            </a:r>
          </a:p>
        </p:txBody>
      </p:sp>
      <p:sp>
        <p:nvSpPr>
          <p:cNvPr id="13" name="TextBox 12"/>
          <p:cNvSpPr txBox="1"/>
          <p:nvPr/>
        </p:nvSpPr>
        <p:spPr>
          <a:xfrm>
            <a:off x="777240" y="2724912"/>
            <a:ext cx="3017520" cy="320040"/>
          </a:xfrm>
          <a:prstGeom prst="rect">
            <a:avLst/>
          </a:prstGeom>
          <a:noFill/>
        </p:spPr>
        <p:txBody>
          <a:bodyPr wrap="square" lIns="0" tIns="0" rIns="0" bIns="0" anchor="t">
            <a:spAutoFit/>
          </a:bodyPr>
          <a:lstStyle/>
          <a:p>
            <a:pPr algn="l"/>
            <a:r>
              <a:rPr sz="1150" b="0">
                <a:solidFill>
                  <a:srgbClr val="5C5C5C"/>
                </a:solidFill>
                <a:latin typeface="에이투지체 6 SemiBold"/>
                <a:ea typeface="에이투지체 6 SemiBold"/>
                <a:cs typeface="에이투지체 6 SemiBold"/>
              </a:rPr>
              <a:t>지마켓 먼저 둘러보세요 (파워클릭)</a:t>
            </a:r>
          </a:p>
        </p:txBody>
      </p:sp>
      <p:sp>
        <p:nvSpPr>
          <p:cNvPr id="14" name="TextBox 13"/>
          <p:cNvSpPr txBox="1"/>
          <p:nvPr/>
        </p:nvSpPr>
        <p:spPr>
          <a:xfrm>
            <a:off x="548640" y="3337560"/>
            <a:ext cx="3447288" cy="365760"/>
          </a:xfrm>
          <a:prstGeom prst="rect">
            <a:avLst/>
          </a:prstGeom>
          <a:noFill/>
        </p:spPr>
        <p:txBody>
          <a:bodyPr wrap="square" lIns="0" tIns="0" rIns="0" bIns="0" anchor="t">
            <a:spAutoFit/>
          </a:bodyPr>
          <a:lstStyle/>
          <a:p>
            <a:pPr algn="l"/>
            <a:r>
              <a:rPr sz="1575" b="0">
                <a:solidFill>
                  <a:srgbClr val="222222"/>
                </a:solidFill>
                <a:latin typeface="에이투지체 6 SemiBold"/>
                <a:ea typeface="에이투지체 6 SemiBold"/>
                <a:cs typeface="에이투지체 6 SemiBold"/>
              </a:rPr>
              <a:t>광고 상품은 일부만 노출</a:t>
            </a:r>
          </a:p>
        </p:txBody>
      </p:sp>
      <p:sp>
        <p:nvSpPr>
          <p:cNvPr id="15" name="TextBox 14"/>
          <p:cNvSpPr txBox="1"/>
          <p:nvPr/>
        </p:nvSpPr>
        <p:spPr>
          <a:xfrm>
            <a:off x="548640" y="3794760"/>
            <a:ext cx="3447288" cy="1051560"/>
          </a:xfrm>
          <a:prstGeom prst="rect">
            <a:avLst/>
          </a:prstGeom>
          <a:noFill/>
        </p:spPr>
        <p:txBody>
          <a:bodyPr wrap="square" lIns="0" tIns="0" rIns="0" bIns="0" anchor="t">
            <a:spAutoFit/>
          </a:bodyPr>
          <a:lstStyle/>
          <a:p>
            <a:pPr algn="l"/>
            <a:r>
              <a:rPr sz="1300" b="0">
                <a:solidFill>
                  <a:srgbClr val="5C5C5C"/>
                </a:solidFill>
                <a:latin typeface="에이투지체 4 Regular"/>
                <a:ea typeface="에이투지체 4 Regular"/>
                <a:cs typeface="에이투지체 4 Regular"/>
              </a:rPr>
              <a:t>미니샵에는 아이클타임 상품 다수</a:t>
            </a:r>
          </a:p>
          <a:p>
            <a:pPr algn="l"/>
            <a:r>
              <a:rPr sz="1300" b="0">
                <a:solidFill>
                  <a:srgbClr val="5C5C5C"/>
                </a:solidFill>
                <a:latin typeface="에이투지체 4 Regular"/>
                <a:ea typeface="에이투지체 4 Regular"/>
                <a:cs typeface="에이투지체 4 Regular"/>
              </a:rPr>
              <a:t>광고 영역은 FGO, 프로바이오키드 위주</a:t>
            </a:r>
          </a:p>
          <a:p>
            <a:pPr algn="l"/>
            <a:r>
              <a:rPr sz="1300" b="0">
                <a:solidFill>
                  <a:srgbClr val="5C5C5C"/>
                </a:solidFill>
                <a:latin typeface="에이투지체 4 Regular"/>
                <a:ea typeface="에이투지체 4 Regular"/>
                <a:cs typeface="에이투지체 4 Regular"/>
              </a:rPr>
              <a:t>브랜드 검색 결과에 경쟁사 광고 노출</a:t>
            </a:r>
          </a:p>
        </p:txBody>
      </p:sp>
      <p:cxnSp>
        <p:nvCxnSpPr>
          <p:cNvPr id="16" name="Connector 15"/>
          <p:cNvCxnSpPr/>
          <p:nvPr/>
        </p:nvCxnSpPr>
        <p:spPr>
          <a:xfrm>
            <a:off x="548640" y="4873752"/>
            <a:ext cx="3447288" cy="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48640" y="4983480"/>
            <a:ext cx="3447288" cy="365760"/>
          </a:xfrm>
          <a:prstGeom prst="rect">
            <a:avLst/>
          </a:prstGeom>
          <a:noFill/>
        </p:spPr>
        <p:txBody>
          <a:bodyPr wrap="square" lIns="0" tIns="0" rIns="0" bIns="0" anchor="t">
            <a:spAutoFit/>
          </a:bodyPr>
          <a:lstStyle/>
          <a:p>
            <a:pPr algn="l"/>
            <a:r>
              <a:rPr sz="1300" b="0">
                <a:solidFill>
                  <a:srgbClr val="004F9F"/>
                </a:solidFill>
                <a:latin typeface="에이투지체 6 SemiBold"/>
                <a:ea typeface="에이투지체 6 SemiBold"/>
                <a:cs typeface="에이투지체 6 SemiBold"/>
              </a:rPr>
              <a:t>브랜드 검색어부터 채우기</a:t>
            </a:r>
          </a:p>
        </p:txBody>
      </p:sp>
      <p:sp>
        <p:nvSpPr>
          <p:cNvPr id="18" name="Rounded Rectangle 17"/>
          <p:cNvSpPr/>
          <p:nvPr/>
        </p:nvSpPr>
        <p:spPr>
          <a:xfrm>
            <a:off x="4361688" y="2103120"/>
            <a:ext cx="3447288" cy="1051560"/>
          </a:xfrm>
          <a:prstGeom prst="roundRect">
            <a:avLst>
              <a:gd name="adj" fmla="val 6956"/>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90288" y="2157984"/>
            <a:ext cx="3017520" cy="530352"/>
          </a:xfrm>
          <a:prstGeom prst="rect">
            <a:avLst/>
          </a:prstGeom>
          <a:noFill/>
        </p:spPr>
        <p:txBody>
          <a:bodyPr wrap="square" lIns="0" tIns="0" rIns="0" bIns="0" anchor="t">
            <a:spAutoFit/>
          </a:bodyPr>
          <a:lstStyle/>
          <a:p>
            <a:pPr algn="l"/>
            <a:r>
              <a:rPr sz="2800" b="0">
                <a:solidFill>
                  <a:srgbClr val="004F9F"/>
                </a:solidFill>
                <a:latin typeface="에이투지체 8 ExtraBold"/>
                <a:ea typeface="에이투지체 8 ExtraBold"/>
                <a:cs typeface="에이투지체 8 ExtraBold"/>
              </a:rPr>
              <a:t>리뷰 7</a:t>
            </a:r>
          </a:p>
        </p:txBody>
      </p:sp>
      <p:sp>
        <p:nvSpPr>
          <p:cNvPr id="20" name="TextBox 19"/>
          <p:cNvSpPr txBox="1"/>
          <p:nvPr/>
        </p:nvSpPr>
        <p:spPr>
          <a:xfrm>
            <a:off x="4590288" y="2724912"/>
            <a:ext cx="3017520" cy="320040"/>
          </a:xfrm>
          <a:prstGeom prst="rect">
            <a:avLst/>
          </a:prstGeom>
          <a:noFill/>
        </p:spPr>
        <p:txBody>
          <a:bodyPr wrap="square" lIns="0" tIns="0" rIns="0" bIns="0" anchor="t">
            <a:spAutoFit/>
          </a:bodyPr>
          <a:lstStyle/>
          <a:p>
            <a:pPr algn="l"/>
            <a:r>
              <a:rPr sz="1150" b="0">
                <a:solidFill>
                  <a:srgbClr val="5C5C5C"/>
                </a:solidFill>
                <a:latin typeface="에이투지체 6 SemiBold"/>
                <a:ea typeface="에이투지체 6 SemiBold"/>
                <a:cs typeface="에이투지체 6 SemiBold"/>
              </a:rPr>
              <a:t>지마켓 FGO 1박스 리뷰</a:t>
            </a:r>
          </a:p>
        </p:txBody>
      </p:sp>
      <p:sp>
        <p:nvSpPr>
          <p:cNvPr id="21" name="TextBox 20"/>
          <p:cNvSpPr txBox="1"/>
          <p:nvPr/>
        </p:nvSpPr>
        <p:spPr>
          <a:xfrm>
            <a:off x="4361688" y="3337560"/>
            <a:ext cx="3447288" cy="365760"/>
          </a:xfrm>
          <a:prstGeom prst="rect">
            <a:avLst/>
          </a:prstGeom>
          <a:noFill/>
        </p:spPr>
        <p:txBody>
          <a:bodyPr wrap="square" lIns="0" tIns="0" rIns="0" bIns="0" anchor="t">
            <a:spAutoFit/>
          </a:bodyPr>
          <a:lstStyle/>
          <a:p>
            <a:pPr algn="l"/>
            <a:r>
              <a:rPr sz="1575" b="0">
                <a:solidFill>
                  <a:srgbClr val="222222"/>
                </a:solidFill>
                <a:latin typeface="에이투지체 6 SemiBold"/>
                <a:ea typeface="에이투지체 6 SemiBold"/>
                <a:cs typeface="에이투지체 6 SemiBold"/>
              </a:rPr>
              <a:t>경쟁 상품과 리뷰 격차</a:t>
            </a:r>
          </a:p>
        </p:txBody>
      </p:sp>
      <p:sp>
        <p:nvSpPr>
          <p:cNvPr id="22" name="TextBox 21"/>
          <p:cNvSpPr txBox="1"/>
          <p:nvPr/>
        </p:nvSpPr>
        <p:spPr>
          <a:xfrm>
            <a:off x="4361688" y="3794760"/>
            <a:ext cx="3447288" cy="1051560"/>
          </a:xfrm>
          <a:prstGeom prst="rect">
            <a:avLst/>
          </a:prstGeom>
          <a:noFill/>
        </p:spPr>
        <p:txBody>
          <a:bodyPr wrap="square" lIns="0" tIns="0" rIns="0" bIns="0" anchor="t">
            <a:spAutoFit/>
          </a:bodyPr>
          <a:lstStyle/>
          <a:p>
            <a:pPr algn="l"/>
            <a:r>
              <a:rPr sz="1300" b="0">
                <a:solidFill>
                  <a:srgbClr val="5C5C5C"/>
                </a:solidFill>
                <a:latin typeface="에이투지체 4 Regular"/>
                <a:ea typeface="에이투지체 4 Regular"/>
                <a:cs typeface="에이투지체 4 Regular"/>
              </a:rPr>
              <a:t>키움정 1개월 리뷰 102, 구매 5,161</a:t>
            </a:r>
          </a:p>
          <a:p>
            <a:pPr algn="l"/>
            <a:r>
              <a:rPr sz="1300" b="0">
                <a:solidFill>
                  <a:srgbClr val="5C5C5C"/>
                </a:solidFill>
                <a:latin typeface="에이투지체 4 Regular"/>
                <a:ea typeface="에이투지체 4 Regular"/>
                <a:cs typeface="에이투지체 4 Regular"/>
              </a:rPr>
              <a:t>그레인온 카무트 리뷰 14,274</a:t>
            </a:r>
          </a:p>
          <a:p>
            <a:pPr algn="l"/>
            <a:r>
              <a:rPr sz="1300" b="0">
                <a:solidFill>
                  <a:srgbClr val="5C5C5C"/>
                </a:solidFill>
                <a:latin typeface="에이투지체 4 Regular"/>
                <a:ea typeface="에이투지체 4 Regular"/>
                <a:cs typeface="에이투지체 4 Regular"/>
              </a:rPr>
              <a:t>슬림웨이는 리뷰 없이 구매 8</a:t>
            </a:r>
          </a:p>
        </p:txBody>
      </p:sp>
      <p:cxnSp>
        <p:nvCxnSpPr>
          <p:cNvPr id="23" name="Connector 22"/>
          <p:cNvCxnSpPr/>
          <p:nvPr/>
        </p:nvCxnSpPr>
        <p:spPr>
          <a:xfrm>
            <a:off x="4361688" y="4873752"/>
            <a:ext cx="3447287" cy="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361688" y="4983480"/>
            <a:ext cx="3447288" cy="365760"/>
          </a:xfrm>
          <a:prstGeom prst="rect">
            <a:avLst/>
          </a:prstGeom>
          <a:noFill/>
        </p:spPr>
        <p:txBody>
          <a:bodyPr wrap="square" lIns="0" tIns="0" rIns="0" bIns="0" anchor="t">
            <a:spAutoFit/>
          </a:bodyPr>
          <a:lstStyle/>
          <a:p>
            <a:pPr algn="l"/>
            <a:r>
              <a:rPr sz="1300" b="0">
                <a:solidFill>
                  <a:srgbClr val="004F9F"/>
                </a:solidFill>
                <a:latin typeface="에이투지체 6 SemiBold"/>
                <a:ea typeface="에이투지체 6 SemiBold"/>
                <a:cs typeface="에이투지체 6 SemiBold"/>
              </a:rPr>
              <a:t>경쟁 상품과 리뷰 수 차이가 큼</a:t>
            </a:r>
          </a:p>
        </p:txBody>
      </p:sp>
      <p:sp>
        <p:nvSpPr>
          <p:cNvPr id="25" name="Rounded Rectangle 24"/>
          <p:cNvSpPr/>
          <p:nvPr/>
        </p:nvSpPr>
        <p:spPr>
          <a:xfrm>
            <a:off x="8174736" y="2103120"/>
            <a:ext cx="3447288" cy="1051560"/>
          </a:xfrm>
          <a:prstGeom prst="roundRect">
            <a:avLst>
              <a:gd name="adj" fmla="val 6956"/>
            </a:avLst>
          </a:prstGeom>
          <a:solidFill>
            <a:srgbClr val="0E3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403336" y="2157984"/>
            <a:ext cx="3017520" cy="530352"/>
          </a:xfrm>
          <a:prstGeom prst="rect">
            <a:avLst/>
          </a:prstGeom>
          <a:noFill/>
        </p:spPr>
        <p:txBody>
          <a:bodyPr wrap="square" lIns="0" tIns="0" rIns="0" bIns="0" anchor="t">
            <a:spAutoFit/>
          </a:bodyPr>
          <a:lstStyle/>
          <a:p>
            <a:pPr algn="l"/>
            <a:r>
              <a:rPr sz="2800" b="0">
                <a:solidFill>
                  <a:srgbClr val="FFFFFF"/>
                </a:solidFill>
                <a:latin typeface="에이투지체 8 ExtraBold"/>
                <a:ea typeface="에이투지체 8 ExtraBold"/>
                <a:cs typeface="에이투지체 8 ExtraBold"/>
              </a:rPr>
              <a:t>미노출</a:t>
            </a:r>
          </a:p>
        </p:txBody>
      </p:sp>
      <p:sp>
        <p:nvSpPr>
          <p:cNvPr id="27" name="TextBox 26"/>
          <p:cNvSpPr txBox="1"/>
          <p:nvPr/>
        </p:nvSpPr>
        <p:spPr>
          <a:xfrm>
            <a:off x="8403336" y="2724912"/>
            <a:ext cx="3017520" cy="320040"/>
          </a:xfrm>
          <a:prstGeom prst="rect">
            <a:avLst/>
          </a:prstGeom>
          <a:noFill/>
        </p:spPr>
        <p:txBody>
          <a:bodyPr wrap="square" lIns="0" tIns="0" rIns="0" bIns="0" anchor="t">
            <a:spAutoFit/>
          </a:bodyPr>
          <a:lstStyle/>
          <a:p>
            <a:pPr algn="l"/>
            <a:r>
              <a:rPr sz="1150" b="0">
                <a:solidFill>
                  <a:srgbClr val="C9DAEE"/>
                </a:solidFill>
                <a:latin typeface="에이투지체 6 SemiBold"/>
                <a:ea typeface="에이투지체 6 SemiBold"/>
                <a:cs typeface="에이투지체 6 SemiBold"/>
              </a:rPr>
              <a:t>11번가 주요 검색어 3개</a:t>
            </a:r>
          </a:p>
        </p:txBody>
      </p:sp>
      <p:sp>
        <p:nvSpPr>
          <p:cNvPr id="28" name="TextBox 27"/>
          <p:cNvSpPr txBox="1"/>
          <p:nvPr/>
        </p:nvSpPr>
        <p:spPr>
          <a:xfrm>
            <a:off x="8174736" y="3337560"/>
            <a:ext cx="3447288" cy="365760"/>
          </a:xfrm>
          <a:prstGeom prst="rect">
            <a:avLst/>
          </a:prstGeom>
          <a:noFill/>
        </p:spPr>
        <p:txBody>
          <a:bodyPr wrap="square" lIns="0" tIns="0" rIns="0" bIns="0" anchor="t">
            <a:spAutoFit/>
          </a:bodyPr>
          <a:lstStyle/>
          <a:p>
            <a:pPr algn="l"/>
            <a:r>
              <a:rPr sz="1575" b="0">
                <a:solidFill>
                  <a:srgbClr val="222222"/>
                </a:solidFill>
                <a:latin typeface="에이투지체 6 SemiBold"/>
                <a:ea typeface="에이투지체 6 SemiBold"/>
                <a:cs typeface="에이투지체 6 SemiBold"/>
              </a:rPr>
              <a:t>11번가 광고는 경쟁사 상품</a:t>
            </a:r>
          </a:p>
        </p:txBody>
      </p:sp>
      <p:sp>
        <p:nvSpPr>
          <p:cNvPr id="29" name="TextBox 28"/>
          <p:cNvSpPr txBox="1"/>
          <p:nvPr/>
        </p:nvSpPr>
        <p:spPr>
          <a:xfrm>
            <a:off x="8174736" y="3794760"/>
            <a:ext cx="3447288" cy="1051560"/>
          </a:xfrm>
          <a:prstGeom prst="rect">
            <a:avLst/>
          </a:prstGeom>
          <a:noFill/>
        </p:spPr>
        <p:txBody>
          <a:bodyPr wrap="square" lIns="0" tIns="0" rIns="0" bIns="0" anchor="t">
            <a:spAutoFit/>
          </a:bodyPr>
          <a:lstStyle/>
          <a:p>
            <a:pPr algn="l"/>
            <a:r>
              <a:rPr sz="1300" b="0">
                <a:solidFill>
                  <a:srgbClr val="5C5C5C"/>
                </a:solidFill>
                <a:latin typeface="에이투지체 4 Regular"/>
                <a:ea typeface="에이투지체 4 Regular"/>
                <a:cs typeface="에이투지체 4 Regular"/>
              </a:rPr>
              <a:t>키성장영양제, 카무트효소 광고 전부 경쟁사</a:t>
            </a:r>
          </a:p>
          <a:p>
            <a:pPr algn="l"/>
            <a:r>
              <a:rPr sz="1300" b="0">
                <a:solidFill>
                  <a:srgbClr val="5C5C5C"/>
                </a:solidFill>
                <a:latin typeface="에이투지체 4 Regular"/>
                <a:ea typeface="에이투지체 4 Regular"/>
                <a:cs typeface="에이투지체 4 Regular"/>
              </a:rPr>
              <a:t>아이클타임 검색 결과 광고는 리셀러</a:t>
            </a:r>
          </a:p>
          <a:p>
            <a:pPr algn="l"/>
            <a:r>
              <a:rPr sz="1300" b="0">
                <a:solidFill>
                  <a:srgbClr val="5C5C5C"/>
                </a:solidFill>
                <a:latin typeface="에이투지체 4 Regular"/>
                <a:ea typeface="에이투지체 4 Regular"/>
                <a:cs typeface="에이투지체 4 Regular"/>
              </a:rPr>
              <a:t>공식 스토어는 신규, 리뷰 없음</a:t>
            </a:r>
          </a:p>
        </p:txBody>
      </p:sp>
      <p:cxnSp>
        <p:nvCxnSpPr>
          <p:cNvPr id="30" name="Connector 29"/>
          <p:cNvCxnSpPr/>
          <p:nvPr/>
        </p:nvCxnSpPr>
        <p:spPr>
          <a:xfrm>
            <a:off x="8174736" y="4873752"/>
            <a:ext cx="3447288" cy="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174736" y="4983480"/>
            <a:ext cx="3447288" cy="365760"/>
          </a:xfrm>
          <a:prstGeom prst="rect">
            <a:avLst/>
          </a:prstGeom>
          <a:noFill/>
        </p:spPr>
        <p:txBody>
          <a:bodyPr wrap="square" lIns="0" tIns="0" rIns="0" bIns="0" anchor="t">
            <a:spAutoFit/>
          </a:bodyPr>
          <a:lstStyle/>
          <a:p>
            <a:pPr algn="l"/>
            <a:r>
              <a:rPr sz="1300" b="0">
                <a:solidFill>
                  <a:srgbClr val="004F9F"/>
                </a:solidFill>
                <a:latin typeface="에이투지체 6 SemiBold"/>
                <a:ea typeface="에이투지체 6 SemiBold"/>
                <a:cs typeface="에이투지체 6 SemiBold"/>
              </a:rPr>
              <a:t>공식 스토어 기반부터</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ctr"/>
          <a:lstStyle/>
          <a:p>
            <a:pPr algn="l"/>
            <a:r>
              <a:rPr sz="900" b="0" spc="100">
                <a:solidFill>
                  <a:srgbClr val="004F9F"/>
                </a:solidFill>
                <a:latin typeface="에이투지체 6 SemiBold"/>
                <a:ea typeface="에이투지체 6 SemiBold"/>
                <a:cs typeface="에이투지체 6 SemiBold"/>
              </a:rPr>
              <a:t>PART 2 · 11월 마케팅 전략 · 미디어믹스</a:t>
            </a:r>
          </a:p>
        </p:txBody>
      </p:sp>
      <p:sp>
        <p:nvSpPr>
          <p:cNvPr id="3" name="TextBox 2"/>
          <p:cNvSpPr txBox="1"/>
          <p:nvPr/>
        </p:nvSpPr>
        <p:spPr>
          <a:xfrm>
            <a:off x="548640" y="658368"/>
            <a:ext cx="11064240" cy="868680"/>
          </a:xfrm>
          <a:prstGeom prst="rect">
            <a:avLst/>
          </a:prstGeom>
          <a:noFill/>
        </p:spPr>
        <p:txBody>
          <a:bodyPr wrap="square" lIns="0" tIns="0" rIns="0" bIns="0" anchor="ctr"/>
          <a:lstStyle/>
          <a:p>
            <a:pPr>
              <a:lnSpc>
                <a:spcPts val="2600"/>
              </a:lnSpc>
            </a:pPr>
            <a:r>
              <a:rPr lang="ko-KR" altLang="en-US" sz="1900" dirty="0">
                <a:solidFill>
                  <a:srgbClr val="FFFFFF"/>
                </a:solidFill>
                <a:highlight>
                  <a:srgbClr val="0000FF"/>
                </a:highlight>
                <a:latin typeface="에이투지체 8 ExtraBold"/>
                <a:ea typeface="에이투지체 8 ExtraBold"/>
                <a:cs typeface="에이투지체 8 ExtraBold"/>
              </a:rPr>
              <a:t>자사</a:t>
            </a:r>
            <a:r>
              <a:rPr sz="1900" b="0" dirty="0">
                <a:solidFill>
                  <a:srgbClr val="FFFFFF"/>
                </a:solidFill>
                <a:highlight>
                  <a:srgbClr val="0000FF"/>
                </a:highlight>
                <a:latin typeface="에이투지체 8 ExtraBold"/>
                <a:ea typeface="에이투지체 8 ExtraBold"/>
                <a:cs typeface="에이투지체 8 ExtraBold"/>
              </a:rPr>
              <a:t> </a:t>
            </a:r>
            <a:r>
              <a:rPr sz="1900" b="0" dirty="0" err="1">
                <a:solidFill>
                  <a:srgbClr val="FFFFFF"/>
                </a:solidFill>
                <a:highlight>
                  <a:srgbClr val="0000FF"/>
                </a:highlight>
                <a:latin typeface="에이투지체 8 ExtraBold"/>
                <a:ea typeface="에이투지체 8 ExtraBold"/>
                <a:cs typeface="에이투지체 8 ExtraBold"/>
              </a:rPr>
              <a:t>브랜드</a:t>
            </a:r>
            <a:r>
              <a:rPr sz="1900" b="0" dirty="0">
                <a:solidFill>
                  <a:srgbClr val="FFFFFF"/>
                </a:solidFill>
                <a:highlight>
                  <a:srgbClr val="0000FF"/>
                </a:highlight>
                <a:latin typeface="에이투지체 8 ExtraBold"/>
                <a:ea typeface="에이투지체 8 ExtraBold"/>
                <a:cs typeface="에이투지체 8 ExtraBold"/>
              </a:rPr>
              <a:t> </a:t>
            </a:r>
            <a:r>
              <a:rPr sz="1900" b="0" dirty="0" err="1">
                <a:solidFill>
                  <a:srgbClr val="FFFFFF"/>
                </a:solidFill>
                <a:highlight>
                  <a:srgbClr val="0000FF"/>
                </a:highlight>
                <a:latin typeface="에이투지체 8 ExtraBold"/>
                <a:ea typeface="에이투지체 8 ExtraBold"/>
                <a:cs typeface="에이투지체 8 ExtraBold"/>
              </a:rPr>
              <a:t>검색어의</a:t>
            </a:r>
            <a:r>
              <a:rPr sz="1900" b="0" dirty="0">
                <a:solidFill>
                  <a:srgbClr val="FFFFFF"/>
                </a:solidFill>
                <a:highlight>
                  <a:srgbClr val="0000FF"/>
                </a:highlight>
                <a:latin typeface="에이투지체 8 ExtraBold"/>
                <a:ea typeface="에이투지체 8 ExtraBold"/>
                <a:cs typeface="에이투지체 8 ExtraBold"/>
              </a:rPr>
              <a:t> </a:t>
            </a:r>
            <a:r>
              <a:rPr sz="1900" b="0" dirty="0" err="1">
                <a:solidFill>
                  <a:srgbClr val="FFFFFF"/>
                </a:solidFill>
                <a:highlight>
                  <a:srgbClr val="0000FF"/>
                </a:highlight>
                <a:latin typeface="에이투지체 8 ExtraBold"/>
                <a:ea typeface="에이투지체 8 ExtraBold"/>
                <a:cs typeface="에이투지체 8 ExtraBold"/>
              </a:rPr>
              <a:t>광고</a:t>
            </a:r>
            <a:r>
              <a:rPr sz="1900" b="0" dirty="0">
                <a:solidFill>
                  <a:srgbClr val="FFFFFF"/>
                </a:solidFill>
                <a:highlight>
                  <a:srgbClr val="0000FF"/>
                </a:highlight>
                <a:latin typeface="에이투지체 8 ExtraBold"/>
                <a:ea typeface="에이투지체 8 ExtraBold"/>
                <a:cs typeface="에이투지체 8 ExtraBold"/>
              </a:rPr>
              <a:t> </a:t>
            </a:r>
            <a:r>
              <a:rPr sz="1900" b="0" dirty="0" err="1">
                <a:solidFill>
                  <a:srgbClr val="FFFFFF"/>
                </a:solidFill>
                <a:highlight>
                  <a:srgbClr val="0000FF"/>
                </a:highlight>
                <a:latin typeface="에이투지체 8 ExtraBold"/>
                <a:ea typeface="에이투지체 8 ExtraBold"/>
                <a:cs typeface="에이투지체 8 ExtraBold"/>
              </a:rPr>
              <a:t>영역</a:t>
            </a:r>
            <a:r>
              <a:rPr sz="1900" b="0" dirty="0" err="1">
                <a:solidFill>
                  <a:srgbClr val="222222"/>
                </a:solidFill>
                <a:latin typeface="에이투지체 8 ExtraBold"/>
                <a:ea typeface="에이투지체 8 ExtraBold"/>
                <a:cs typeface="에이투지체 8 ExtraBold"/>
              </a:rPr>
              <a:t>에</a:t>
            </a:r>
            <a:endParaRPr sz="1900" b="0" dirty="0">
              <a:solidFill>
                <a:srgbClr val="222222"/>
              </a:solidFill>
              <a:latin typeface="에이투지체 8 ExtraBold"/>
              <a:ea typeface="에이투지체 8 ExtraBold"/>
              <a:cs typeface="에이투지체 8 ExtraBold"/>
            </a:endParaRPr>
          </a:p>
          <a:p>
            <a:pPr>
              <a:lnSpc>
                <a:spcPts val="2600"/>
              </a:lnSpc>
            </a:pPr>
            <a:r>
              <a:rPr sz="1900" b="0" dirty="0" err="1">
                <a:solidFill>
                  <a:srgbClr val="222222"/>
                </a:solidFill>
                <a:latin typeface="에이투지체 8 ExtraBold"/>
                <a:ea typeface="에이투지체 8 ExtraBold"/>
                <a:cs typeface="에이투지체 8 ExtraBold"/>
              </a:rPr>
              <a:t>경쟁사</a:t>
            </a:r>
            <a:r>
              <a:rPr sz="1900" b="0" dirty="0">
                <a:solidFill>
                  <a:srgbClr val="222222"/>
                </a:solidFill>
                <a:latin typeface="에이투지체 8 ExtraBold"/>
                <a:ea typeface="에이투지체 8 ExtraBold"/>
                <a:cs typeface="에이투지체 8 ExtraBold"/>
              </a:rPr>
              <a:t> </a:t>
            </a:r>
            <a:r>
              <a:rPr sz="1900" b="0" dirty="0" err="1">
                <a:solidFill>
                  <a:srgbClr val="222222"/>
                </a:solidFill>
                <a:latin typeface="에이투지체 8 ExtraBold"/>
                <a:ea typeface="에이투지체 8 ExtraBold"/>
                <a:cs typeface="에이투지체 8 ExtraBold"/>
              </a:rPr>
              <a:t>상품이</a:t>
            </a:r>
            <a:r>
              <a:rPr sz="1900" b="0" dirty="0">
                <a:solidFill>
                  <a:srgbClr val="222222"/>
                </a:solidFill>
                <a:latin typeface="에이투지체 8 ExtraBold"/>
                <a:ea typeface="에이투지체 8 ExtraBold"/>
                <a:cs typeface="에이투지체 8 ExtraBold"/>
              </a:rPr>
              <a:t> </a:t>
            </a:r>
            <a:r>
              <a:rPr sz="1900" b="0" dirty="0" err="1">
                <a:solidFill>
                  <a:srgbClr val="222222"/>
                </a:solidFill>
                <a:latin typeface="에이투지체 8 ExtraBold"/>
                <a:ea typeface="에이투지체 8 ExtraBold"/>
                <a:cs typeface="에이투지체 8 ExtraBold"/>
              </a:rPr>
              <a:t>함께</a:t>
            </a:r>
            <a:r>
              <a:rPr sz="1900" b="0" dirty="0">
                <a:solidFill>
                  <a:srgbClr val="222222"/>
                </a:solidFill>
                <a:latin typeface="에이투지체 8 ExtraBold"/>
                <a:ea typeface="에이투지체 8 ExtraBold"/>
                <a:cs typeface="에이투지체 8 ExtraBold"/>
              </a:rPr>
              <a:t> </a:t>
            </a:r>
            <a:r>
              <a:rPr sz="1900" b="0" dirty="0" err="1">
                <a:solidFill>
                  <a:srgbClr val="222222"/>
                </a:solidFill>
                <a:latin typeface="에이투지체 8 ExtraBold"/>
                <a:ea typeface="에이투지체 8 ExtraBold"/>
                <a:cs typeface="에이투지체 8 ExtraBold"/>
              </a:rPr>
              <a:t>노출되고</a:t>
            </a:r>
            <a:r>
              <a:rPr sz="1900" b="0" dirty="0">
                <a:solidFill>
                  <a:srgbClr val="222222"/>
                </a:solidFill>
                <a:latin typeface="에이투지체 8 ExtraBold"/>
                <a:ea typeface="에이투지체 8 ExtraBold"/>
                <a:cs typeface="에이투지체 8 ExtraBold"/>
              </a:rPr>
              <a:t> </a:t>
            </a:r>
            <a:r>
              <a:rPr sz="1900" b="0" dirty="0" err="1">
                <a:solidFill>
                  <a:srgbClr val="222222"/>
                </a:solidFill>
                <a:latin typeface="에이투지체 8 ExtraBold"/>
                <a:ea typeface="에이투지체 8 ExtraBold"/>
                <a:cs typeface="에이투지체 8 ExtraBold"/>
              </a:rPr>
              <a:t>있습니다</a:t>
            </a:r>
            <a:endParaRPr sz="1900" b="0" dirty="0">
              <a:solidFill>
                <a:srgbClr val="222222"/>
              </a:solidFill>
              <a:latin typeface="에이투지체 8 ExtraBold"/>
              <a:ea typeface="에이투지체 8 ExtraBold"/>
              <a:cs typeface="에이투지체 8 ExtraBold"/>
            </a:endParaRPr>
          </a:p>
        </p:txBody>
      </p:sp>
      <p:sp>
        <p:nvSpPr>
          <p:cNvPr id="4" name="TextBox 3"/>
          <p:cNvSpPr txBox="1"/>
          <p:nvPr/>
        </p:nvSpPr>
        <p:spPr>
          <a:xfrm>
            <a:off x="548640" y="1517904"/>
            <a:ext cx="11064240" cy="365760"/>
          </a:xfrm>
          <a:prstGeom prst="rect">
            <a:avLst/>
          </a:prstGeom>
          <a:noFill/>
        </p:spPr>
        <p:txBody>
          <a:bodyPr wrap="square" lIns="0" tIns="0" rIns="0" bIns="0" anchor="ctr"/>
          <a:lstStyle/>
          <a:p>
            <a:pPr algn="l"/>
            <a:r>
              <a:rPr sz="1100" b="0">
                <a:solidFill>
                  <a:srgbClr val="5C5C5C"/>
                </a:solidFill>
                <a:latin typeface="에이투지체 5 Medium"/>
                <a:ea typeface="에이투지체 5 Medium"/>
                <a:cs typeface="에이투지체 5 Medium"/>
              </a:rPr>
              <a:t>지마켓 현황 진단 ②  브랜드 검색어</a:t>
            </a:r>
          </a:p>
        </p:txBody>
      </p:sp>
      <p:sp>
        <p:nvSpPr>
          <p:cNvPr id="5" name="Rounded Rectangle 4"/>
          <p:cNvSpPr/>
          <p:nvPr/>
        </p:nvSpPr>
        <p:spPr>
          <a:xfrm>
            <a:off x="548640" y="5577840"/>
            <a:ext cx="11064240" cy="438912"/>
          </a:xfrm>
          <a:prstGeom prst="roundRect">
            <a:avLst>
              <a:gd name="adj" fmla="val 16666"/>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 y="5632704"/>
            <a:ext cx="10671048" cy="347472"/>
          </a:xfrm>
          <a:prstGeom prst="rect">
            <a:avLst/>
          </a:prstGeom>
          <a:noFill/>
        </p:spPr>
        <p:txBody>
          <a:bodyPr wrap="square" lIns="0" tIns="0" rIns="0" bIns="0" anchor="ctr">
            <a:spAutoFit/>
          </a:bodyPr>
          <a:lstStyle/>
          <a:p>
            <a:pPr algn="l"/>
            <a:r>
              <a:rPr sz="1350" b="0">
                <a:solidFill>
                  <a:srgbClr val="004F9F"/>
                </a:solidFill>
                <a:latin typeface="에이투지체 6 SemiBold"/>
                <a:ea typeface="에이투지체 6 SemiBold"/>
                <a:cs typeface="에이투지체 6 SemiBold"/>
              </a:rPr>
              <a:t>브랜드 검색어는 전용 그룹에 판매 상품을 모두 등록해 광고 영역까지 채우고, 입찰가는 낮게 운영하겠습니다</a:t>
            </a:r>
          </a:p>
        </p:txBody>
      </p:sp>
      <p:sp>
        <p:nvSpPr>
          <p:cNvPr id="7" name="TextBox 6"/>
          <p:cNvSpPr txBox="1"/>
          <p:nvPr/>
        </p:nvSpPr>
        <p:spPr>
          <a:xfrm>
            <a:off x="548640" y="6089904"/>
            <a:ext cx="11064240" cy="274320"/>
          </a:xfrm>
          <a:prstGeom prst="rect">
            <a:avLst/>
          </a:prstGeom>
          <a:noFill/>
        </p:spPr>
        <p:txBody>
          <a:bodyPr wrap="square" lIns="0" tIns="0" rIns="0" bIns="0" anchor="t">
            <a:spAutoFit/>
          </a:bodyPr>
          <a:lstStyle/>
          <a:p>
            <a:pPr algn="l"/>
            <a:r>
              <a:rPr sz="850" b="0">
                <a:solidFill>
                  <a:srgbClr val="919191"/>
                </a:solidFill>
                <a:latin typeface="에이투지체 3 Light"/>
                <a:ea typeface="에이투지체 3 Light"/>
                <a:cs typeface="에이투지체 3 Light"/>
              </a:rPr>
              <a:t>2026.10.13 지마켓 PC 검색 화면 기준. 검색 결과는 새로고침, 사용자별로 달라짐 / 괄호는 리뷰 수</a:t>
            </a:r>
          </a:p>
        </p:txBody>
      </p:sp>
      <p:sp>
        <p:nvSpPr>
          <p:cNvPr id="8" name="TextBox 7"/>
          <p:cNvSpPr txBox="1"/>
          <p:nvPr/>
        </p:nvSpPr>
        <p:spPr>
          <a:xfrm>
            <a:off x="548640" y="6473952"/>
            <a:ext cx="4206240" cy="274320"/>
          </a:xfrm>
          <a:prstGeom prst="rect">
            <a:avLst/>
          </a:prstGeom>
          <a:noFill/>
        </p:spPr>
        <p:txBody>
          <a:bodyPr wrap="square" lIns="0" tIns="0" rIns="0" bIns="0" anchor="t">
            <a:spAutoFit/>
          </a:bodyPr>
          <a:lstStyle/>
          <a:p>
            <a:pPr algn="l"/>
            <a:r>
              <a:rPr sz="800" b="0">
                <a:solidFill>
                  <a:srgbClr val="919191"/>
                </a:solidFill>
                <a:latin typeface="에이투지체 3 Light"/>
                <a:ea typeface="에이투지체 3 Light"/>
                <a:cs typeface="에이투지체 3 Light"/>
              </a:rPr>
              <a:t>DODREAM B&amp;B AD PROPOSAL · 2026</a:t>
            </a:r>
          </a:p>
        </p:txBody>
      </p:sp>
      <p:sp>
        <p:nvSpPr>
          <p:cNvPr id="9" name="TextBox 8"/>
          <p:cNvSpPr txBox="1"/>
          <p:nvPr/>
        </p:nvSpPr>
        <p:spPr>
          <a:xfrm>
            <a:off x="8138160" y="6473952"/>
            <a:ext cx="3017520" cy="274320"/>
          </a:xfrm>
          <a:prstGeom prst="rect">
            <a:avLst/>
          </a:prstGeom>
          <a:noFill/>
        </p:spPr>
        <p:txBody>
          <a:bodyPr wrap="square" lIns="0" tIns="0" rIns="0" bIns="0" anchor="t">
            <a:spAutoFit/>
          </a:bodyPr>
          <a:lstStyle/>
          <a:p>
            <a:pPr algn="r"/>
            <a:r>
              <a:rPr sz="800" b="0">
                <a:solidFill>
                  <a:srgbClr val="919191"/>
                </a:solidFill>
                <a:latin typeface="에이투지체 3 Light"/>
                <a:ea typeface="에이투지체 3 Light"/>
                <a:cs typeface="에이투지체 3 Light"/>
              </a:rPr>
              <a:t>LINKPRICE · BRAND AD CENTER</a:t>
            </a:r>
          </a:p>
        </p:txBody>
      </p:sp>
      <p:sp>
        <p:nvSpPr>
          <p:cNvPr id="10" name="TextBox 9"/>
          <p:cNvSpPr txBox="1"/>
          <p:nvPr/>
        </p:nvSpPr>
        <p:spPr>
          <a:xfrm>
            <a:off x="11292840" y="6473952"/>
            <a:ext cx="365760" cy="274320"/>
          </a:xfrm>
          <a:prstGeom prst="rect">
            <a:avLst/>
          </a:prstGeom>
          <a:noFill/>
        </p:spPr>
        <p:txBody>
          <a:bodyPr wrap="square" lIns="0" tIns="0" rIns="0" bIns="0" anchor="t">
            <a:spAutoFit/>
          </a:bodyPr>
          <a:lstStyle/>
          <a:p>
            <a:pPr algn="r"/>
            <a:r>
              <a:rPr sz="800" b="0">
                <a:solidFill>
                  <a:srgbClr val="222222"/>
                </a:solidFill>
                <a:latin typeface="에이투지체 6 SemiBold"/>
                <a:ea typeface="에이투지체 6 SemiBold"/>
                <a:cs typeface="에이투지체 6 SemiBold"/>
              </a:rPr>
              <a:t>42</a:t>
            </a:r>
          </a:p>
        </p:txBody>
      </p:sp>
      <p:sp>
        <p:nvSpPr>
          <p:cNvPr id="11" name="TextBox 10"/>
          <p:cNvSpPr txBox="1"/>
          <p:nvPr/>
        </p:nvSpPr>
        <p:spPr>
          <a:xfrm>
            <a:off x="548640" y="1993392"/>
            <a:ext cx="5394960" cy="192360"/>
          </a:xfrm>
          <a:prstGeom prst="rect">
            <a:avLst/>
          </a:prstGeom>
          <a:noFill/>
        </p:spPr>
        <p:txBody>
          <a:bodyPr wrap="square" lIns="0" tIns="0" rIns="0" bIns="0" anchor="t">
            <a:spAutoFit/>
          </a:bodyPr>
          <a:lstStyle/>
          <a:p>
            <a:pPr algn="l"/>
            <a:r>
              <a:rPr sz="1250" b="0" dirty="0">
                <a:solidFill>
                  <a:srgbClr val="004F9F"/>
                </a:solidFill>
                <a:latin typeface="에이투지체 8 ExtraBold"/>
                <a:ea typeface="에이투지체 8 ExtraBold"/>
                <a:cs typeface="에이투지체 8 ExtraBold"/>
              </a:rPr>
              <a:t>"</a:t>
            </a:r>
            <a:r>
              <a:rPr sz="1250" b="0" dirty="0" err="1">
                <a:solidFill>
                  <a:srgbClr val="004F9F"/>
                </a:solidFill>
                <a:latin typeface="에이투지체 8 ExtraBold"/>
                <a:ea typeface="에이투지체 8 ExtraBold"/>
                <a:cs typeface="에이투지체 8 ExtraBold"/>
              </a:rPr>
              <a:t>아이클타임</a:t>
            </a:r>
            <a:r>
              <a:rPr sz="1250" b="0" dirty="0">
                <a:solidFill>
                  <a:srgbClr val="004F9F"/>
                </a:solidFill>
                <a:latin typeface="에이투지체 8 ExtraBold"/>
                <a:ea typeface="에이투지체 8 ExtraBold"/>
                <a:cs typeface="에이투지체 8 ExtraBold"/>
              </a:rPr>
              <a:t>"  </a:t>
            </a:r>
            <a:r>
              <a:rPr lang="ko-KR" altLang="en-US" sz="1250" dirty="0">
                <a:solidFill>
                  <a:srgbClr val="222222"/>
                </a:solidFill>
                <a:latin typeface="에이투지체 6 SemiBold"/>
                <a:ea typeface="에이투지체 6 SemiBold"/>
                <a:cs typeface="에이투지체 8 ExtraBold"/>
              </a:rPr>
              <a:t>자사</a:t>
            </a:r>
            <a:r>
              <a:rPr sz="1250" b="0" dirty="0">
                <a:solidFill>
                  <a:srgbClr val="222222"/>
                </a:solidFill>
                <a:latin typeface="에이투지체 6 SemiBold"/>
                <a:ea typeface="에이투지체 6 SemiBold"/>
                <a:cs typeface="에이투지체 6 SemiBold"/>
              </a:rPr>
              <a:t> </a:t>
            </a:r>
            <a:r>
              <a:rPr lang="ko-KR" altLang="en-US" sz="1250" b="0" dirty="0">
                <a:solidFill>
                  <a:srgbClr val="222222"/>
                </a:solidFill>
                <a:latin typeface="에이투지체 6 SemiBold"/>
                <a:ea typeface="에이투지체 6 SemiBold"/>
                <a:cs typeface="에이투지체 6 SemiBold"/>
              </a:rPr>
              <a:t>브랜드 </a:t>
            </a:r>
            <a:r>
              <a:rPr sz="1250" b="0" dirty="0" err="1">
                <a:solidFill>
                  <a:srgbClr val="222222"/>
                </a:solidFill>
                <a:latin typeface="에이투지체 6 SemiBold"/>
                <a:ea typeface="에이투지체 6 SemiBold"/>
                <a:cs typeface="에이투지체 6 SemiBold"/>
              </a:rPr>
              <a:t>검색어</a:t>
            </a:r>
            <a:endParaRPr sz="1250" b="0" dirty="0">
              <a:solidFill>
                <a:srgbClr val="222222"/>
              </a:solidFill>
              <a:latin typeface="에이투지체 6 SemiBold"/>
              <a:ea typeface="에이투지체 6 SemiBold"/>
              <a:cs typeface="에이투지체 6 SemiBold"/>
            </a:endParaRPr>
          </a:p>
        </p:txBody>
      </p:sp>
      <p:pic>
        <p:nvPicPr>
          <p:cNvPr id="12" name="Picture 11" descr="g_aicle.png"/>
          <p:cNvPicPr>
            <a:picLocks noChangeAspect="1"/>
          </p:cNvPicPr>
          <p:nvPr/>
        </p:nvPicPr>
        <p:blipFill>
          <a:blip r:embed="rId2"/>
          <a:stretch>
            <a:fillRect/>
          </a:stretch>
        </p:blipFill>
        <p:spPr>
          <a:xfrm>
            <a:off x="548640" y="2331720"/>
            <a:ext cx="3246120" cy="2434590"/>
          </a:xfrm>
          <a:prstGeom prst="rect">
            <a:avLst/>
          </a:prstGeom>
          <a:ln w="9525">
            <a:solidFill>
              <a:srgbClr val="DDDDDD"/>
            </a:solidFill>
          </a:ln>
        </p:spPr>
      </p:pic>
      <p:sp>
        <p:nvSpPr>
          <p:cNvPr id="13" name="TextBox 12"/>
          <p:cNvSpPr txBox="1"/>
          <p:nvPr/>
        </p:nvSpPr>
        <p:spPr>
          <a:xfrm>
            <a:off x="3959352" y="2377440"/>
            <a:ext cx="1965960" cy="3017520"/>
          </a:xfrm>
          <a:prstGeom prst="rect">
            <a:avLst/>
          </a:prstGeom>
          <a:noFill/>
        </p:spPr>
        <p:txBody>
          <a:bodyPr wrap="square" lIns="0" tIns="0" rIns="0" bIns="0" anchor="t">
            <a:spAutoFit/>
          </a:bodyPr>
          <a:lstStyle/>
          <a:p>
            <a:pPr algn="l">
              <a:spcAft>
                <a:spcPts val="700"/>
              </a:spcAft>
            </a:pPr>
            <a:r>
              <a:rPr sz="1050" b="0">
                <a:solidFill>
                  <a:srgbClr val="004F9F"/>
                </a:solidFill>
                <a:latin typeface="에이투지체 6 SemiBold"/>
                <a:ea typeface="에이투지체 6 SemiBold"/>
                <a:cs typeface="에이투지체 6 SemiBold"/>
              </a:rPr>
              <a:t>영역  </a:t>
            </a:r>
            <a:r>
              <a:rPr sz="1050" b="0">
                <a:solidFill>
                  <a:srgbClr val="222222"/>
                </a:solidFill>
                <a:latin typeface="에이투지체 4 Regular"/>
                <a:ea typeface="에이투지체 4 Regular"/>
                <a:cs typeface="에이투지체 4 Regular"/>
              </a:rPr>
              <a:t>먼저 둘러보세요 (파워클릭)</a:t>
            </a:r>
          </a:p>
          <a:p>
            <a:pPr algn="l">
              <a:spcAft>
                <a:spcPts val="700"/>
              </a:spcAft>
            </a:pPr>
            <a:r>
              <a:rPr sz="1050" b="0">
                <a:solidFill>
                  <a:srgbClr val="004F9F"/>
                </a:solidFill>
                <a:latin typeface="에이투지체 6 SemiBold"/>
                <a:ea typeface="에이투지체 6 SemiBold"/>
                <a:cs typeface="에이투지체 6 SemiBold"/>
              </a:rPr>
              <a:t>두드림  </a:t>
            </a:r>
            <a:r>
              <a:rPr sz="1050" b="0">
                <a:solidFill>
                  <a:srgbClr val="222222"/>
                </a:solidFill>
                <a:latin typeface="에이투지체 4 Regular"/>
                <a:ea typeface="에이투지체 4 Regular"/>
                <a:cs typeface="에이투지체 4 Regular"/>
              </a:rPr>
              <a:t>1~3번째, FGO 5박스 76.9만 원, 4박스, 프로바이오키드</a:t>
            </a:r>
          </a:p>
          <a:p>
            <a:pPr algn="l">
              <a:spcAft>
                <a:spcPts val="700"/>
              </a:spcAft>
            </a:pPr>
            <a:r>
              <a:rPr sz="1050" b="0">
                <a:solidFill>
                  <a:srgbClr val="004F9F"/>
                </a:solidFill>
                <a:latin typeface="에이투지체 6 SemiBold"/>
                <a:ea typeface="에이투지체 6 SemiBold"/>
                <a:cs typeface="에이투지체 6 SemiBold"/>
              </a:rPr>
              <a:t>경쟁사  </a:t>
            </a:r>
            <a:r>
              <a:rPr sz="1050" b="0">
                <a:solidFill>
                  <a:srgbClr val="222222"/>
                </a:solidFill>
                <a:latin typeface="에이투지체 4 Regular"/>
                <a:ea typeface="에이투지체 4 Regular"/>
                <a:cs typeface="에이투지체 4 Regular"/>
              </a:rPr>
              <a:t>4번째 뉴트리원 루테인 (362), 아래 녹십초 비타민C (1,215)</a:t>
            </a:r>
          </a:p>
          <a:p>
            <a:pPr algn="l">
              <a:spcAft>
                <a:spcPts val="700"/>
              </a:spcAft>
            </a:pPr>
            <a:r>
              <a:rPr sz="1050" b="0">
                <a:solidFill>
                  <a:srgbClr val="004F9F"/>
                </a:solidFill>
                <a:latin typeface="에이투지체 6 SemiBold"/>
                <a:ea typeface="에이투지체 6 SemiBold"/>
                <a:cs typeface="에이투지체 6 SemiBold"/>
              </a:rPr>
              <a:t>확인  </a:t>
            </a:r>
            <a:r>
              <a:rPr sz="1050" b="0">
                <a:solidFill>
                  <a:srgbClr val="222222"/>
                </a:solidFill>
                <a:latin typeface="에이투지체 4 Regular"/>
                <a:ea typeface="에이투지체 4 Regular"/>
                <a:cs typeface="에이투지체 4 Regular"/>
              </a:rPr>
              <a:t>첫 번째 광고가 1박스가 아닌 5박스 구성</a:t>
            </a:r>
          </a:p>
        </p:txBody>
      </p:sp>
      <p:sp>
        <p:nvSpPr>
          <p:cNvPr id="14" name="TextBox 13"/>
          <p:cNvSpPr txBox="1"/>
          <p:nvPr/>
        </p:nvSpPr>
        <p:spPr>
          <a:xfrm>
            <a:off x="6172200" y="1993392"/>
            <a:ext cx="5394960" cy="292608"/>
          </a:xfrm>
          <a:prstGeom prst="rect">
            <a:avLst/>
          </a:prstGeom>
          <a:noFill/>
        </p:spPr>
        <p:txBody>
          <a:bodyPr wrap="square" lIns="0" tIns="0" rIns="0" bIns="0" anchor="t">
            <a:spAutoFit/>
          </a:bodyPr>
          <a:lstStyle/>
          <a:p>
            <a:pPr algn="l"/>
            <a:r>
              <a:rPr sz="1250" b="0">
                <a:solidFill>
                  <a:srgbClr val="004F9F"/>
                </a:solidFill>
                <a:latin typeface="에이투지체 8 ExtraBold"/>
                <a:ea typeface="에이투지체 8 ExtraBold"/>
                <a:cs typeface="에이투지체 8 ExtraBold"/>
              </a:rPr>
              <a:t>"키움정"  </a:t>
            </a:r>
            <a:r>
              <a:rPr sz="1250" b="0">
                <a:solidFill>
                  <a:srgbClr val="222222"/>
                </a:solidFill>
                <a:latin typeface="에이투지체 6 SemiBold"/>
                <a:ea typeface="에이투지체 6 SemiBold"/>
                <a:cs typeface="에이투지체 6 SemiBold"/>
              </a:rPr>
              <a:t>경쟁사 브랜드 검색어</a:t>
            </a:r>
          </a:p>
        </p:txBody>
      </p:sp>
      <p:pic>
        <p:nvPicPr>
          <p:cNvPr id="15" name="Picture 14" descr="g_kium.png"/>
          <p:cNvPicPr>
            <a:picLocks noChangeAspect="1"/>
          </p:cNvPicPr>
          <p:nvPr/>
        </p:nvPicPr>
        <p:blipFill>
          <a:blip r:embed="rId3"/>
          <a:stretch>
            <a:fillRect/>
          </a:stretch>
        </p:blipFill>
        <p:spPr>
          <a:xfrm>
            <a:off x="6172200" y="2331720"/>
            <a:ext cx="3246120" cy="2460338"/>
          </a:xfrm>
          <a:prstGeom prst="rect">
            <a:avLst/>
          </a:prstGeom>
          <a:ln w="9525">
            <a:solidFill>
              <a:srgbClr val="DDDDDD"/>
            </a:solidFill>
          </a:ln>
        </p:spPr>
      </p:pic>
      <p:sp>
        <p:nvSpPr>
          <p:cNvPr id="16" name="TextBox 15"/>
          <p:cNvSpPr txBox="1"/>
          <p:nvPr/>
        </p:nvSpPr>
        <p:spPr>
          <a:xfrm>
            <a:off x="9582912" y="2377440"/>
            <a:ext cx="2029968" cy="3017520"/>
          </a:xfrm>
          <a:prstGeom prst="rect">
            <a:avLst/>
          </a:prstGeom>
          <a:noFill/>
        </p:spPr>
        <p:txBody>
          <a:bodyPr wrap="square" lIns="0" tIns="0" rIns="0" bIns="0" anchor="t">
            <a:spAutoFit/>
          </a:bodyPr>
          <a:lstStyle/>
          <a:p>
            <a:pPr algn="l">
              <a:spcAft>
                <a:spcPts val="700"/>
              </a:spcAft>
            </a:pPr>
            <a:r>
              <a:rPr sz="1050" b="0">
                <a:solidFill>
                  <a:srgbClr val="004F9F"/>
                </a:solidFill>
                <a:latin typeface="에이투지체 6 SemiBold"/>
                <a:ea typeface="에이투지체 6 SemiBold"/>
                <a:cs typeface="에이투지체 6 SemiBold"/>
              </a:rPr>
              <a:t>광고  </a:t>
            </a:r>
            <a:r>
              <a:rPr sz="1050" b="0">
                <a:solidFill>
                  <a:srgbClr val="222222"/>
                </a:solidFill>
                <a:latin typeface="에이투지체 4 Regular"/>
                <a:ea typeface="에이투지체 4 Regular"/>
                <a:cs typeface="에이투지체 4 Regular"/>
              </a:rPr>
              <a:t>먼저 둘러보세요 5개 모두 키움정</a:t>
            </a:r>
          </a:p>
          <a:p>
            <a:pPr algn="l">
              <a:spcAft>
                <a:spcPts val="700"/>
              </a:spcAft>
            </a:pPr>
            <a:r>
              <a:rPr sz="1050" b="0">
                <a:solidFill>
                  <a:srgbClr val="004F9F"/>
                </a:solidFill>
                <a:latin typeface="에이투지체 6 SemiBold"/>
                <a:ea typeface="에이투지체 6 SemiBold"/>
                <a:cs typeface="에이투지체 6 SemiBold"/>
              </a:rPr>
              <a:t>대표  </a:t>
            </a:r>
            <a:r>
              <a:rPr sz="1050" b="0">
                <a:solidFill>
                  <a:srgbClr val="222222"/>
                </a:solidFill>
                <a:latin typeface="에이투지체 4 Regular"/>
                <a:ea typeface="에이투지체 4 Regular"/>
                <a:cs typeface="에이투지체 4 Regular"/>
              </a:rPr>
              <a:t>1개월 53,000원 (102), 구매 5,161</a:t>
            </a:r>
          </a:p>
          <a:p>
            <a:pPr algn="l">
              <a:spcAft>
                <a:spcPts val="700"/>
              </a:spcAft>
            </a:pPr>
            <a:r>
              <a:rPr sz="1050" b="0">
                <a:solidFill>
                  <a:srgbClr val="004F9F"/>
                </a:solidFill>
                <a:latin typeface="에이투지체 6 SemiBold"/>
                <a:ea typeface="에이투지체 6 SemiBold"/>
                <a:cs typeface="에이투지체 6 SemiBold"/>
              </a:rPr>
              <a:t>두드림  </a:t>
            </a:r>
            <a:r>
              <a:rPr sz="1050" b="0">
                <a:solidFill>
                  <a:srgbClr val="222222"/>
                </a:solidFill>
                <a:latin typeface="에이투지체 4 Regular"/>
                <a:ea typeface="에이투지체 4 Regular"/>
                <a:cs typeface="에이투지체 4 Regular"/>
              </a:rPr>
              <a:t>노출 없음</a:t>
            </a:r>
          </a:p>
          <a:p>
            <a:pPr algn="l">
              <a:spcAft>
                <a:spcPts val="700"/>
              </a:spcAft>
            </a:pPr>
            <a:r>
              <a:rPr sz="1050" b="0">
                <a:solidFill>
                  <a:srgbClr val="004F9F"/>
                </a:solidFill>
                <a:latin typeface="에이투지체 6 SemiBold"/>
                <a:ea typeface="에이투지체 6 SemiBold"/>
                <a:cs typeface="에이투지체 6 SemiBold"/>
              </a:rPr>
              <a:t>확인  </a:t>
            </a:r>
            <a:r>
              <a:rPr sz="1050" b="0">
                <a:solidFill>
                  <a:srgbClr val="222222"/>
                </a:solidFill>
                <a:latin typeface="에이투지체 4 Regular"/>
                <a:ea typeface="에이투지체 4 Regular"/>
                <a:cs typeface="에이투지체 4 Regular"/>
              </a:rPr>
              <a:t>경쟁사는 자사 브랜드 검색 결과 광고를 모두 자사 상품으로 운영</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ctr"/>
          <a:lstStyle/>
          <a:p>
            <a:pPr algn="l"/>
            <a:r>
              <a:rPr sz="900" b="0" spc="100">
                <a:solidFill>
                  <a:srgbClr val="004F9F"/>
                </a:solidFill>
                <a:latin typeface="에이투지체 6 SemiBold"/>
                <a:ea typeface="에이투지체 6 SemiBold"/>
                <a:cs typeface="에이투지체 6 SemiBold"/>
              </a:rPr>
              <a:t>PART 2 · 11월 마케팅 전략 · 미디어믹스</a:t>
            </a:r>
          </a:p>
        </p:txBody>
      </p:sp>
      <p:sp>
        <p:nvSpPr>
          <p:cNvPr id="3" name="TextBox 2"/>
          <p:cNvSpPr txBox="1"/>
          <p:nvPr/>
        </p:nvSpPr>
        <p:spPr>
          <a:xfrm>
            <a:off x="548640" y="658368"/>
            <a:ext cx="11064240" cy="868680"/>
          </a:xfrm>
          <a:prstGeom prst="rect">
            <a:avLst/>
          </a:prstGeom>
          <a:noFill/>
        </p:spPr>
        <p:txBody>
          <a:bodyPr wrap="square" lIns="0" tIns="0" rIns="0" bIns="0" anchor="ctr"/>
          <a:lstStyle/>
          <a:p>
            <a:pPr>
              <a:lnSpc>
                <a:spcPts val="2600"/>
              </a:lnSpc>
            </a:pPr>
            <a:r>
              <a:rPr sz="1900" b="0">
                <a:solidFill>
                  <a:srgbClr val="FFFFFF"/>
                </a:solidFill>
                <a:highlight>
                  <a:srgbClr val="0000FF"/>
                </a:highlight>
                <a:latin typeface="에이투지체 8 ExtraBold"/>
                <a:ea typeface="에이투지체 8 ExtraBold"/>
                <a:cs typeface="에이투지체 8 ExtraBold"/>
              </a:rPr>
              <a:t>광고 영역에는 FGO와 프로바이오키드 위주로 노출되고</a:t>
            </a:r>
          </a:p>
          <a:p>
            <a:pPr>
              <a:lnSpc>
                <a:spcPts val="2600"/>
              </a:lnSpc>
            </a:pPr>
            <a:r>
              <a:rPr sz="1900" b="0">
                <a:solidFill>
                  <a:srgbClr val="222222"/>
                </a:solidFill>
                <a:latin typeface="에이투지체 8 ExtraBold"/>
                <a:ea typeface="에이투지체 8 ExtraBold"/>
                <a:cs typeface="에이투지체 8 ExtraBold"/>
              </a:rPr>
              <a:t>미니샵의 다른 아이클타임 상품은 대부분 빠져 있습니다</a:t>
            </a:r>
          </a:p>
        </p:txBody>
      </p:sp>
      <p:sp>
        <p:nvSpPr>
          <p:cNvPr id="4" name="TextBox 3"/>
          <p:cNvSpPr txBox="1"/>
          <p:nvPr/>
        </p:nvSpPr>
        <p:spPr>
          <a:xfrm>
            <a:off x="548640" y="1517904"/>
            <a:ext cx="11064240" cy="365760"/>
          </a:xfrm>
          <a:prstGeom prst="rect">
            <a:avLst/>
          </a:prstGeom>
          <a:noFill/>
        </p:spPr>
        <p:txBody>
          <a:bodyPr wrap="square" lIns="0" tIns="0" rIns="0" bIns="0" anchor="ctr"/>
          <a:lstStyle/>
          <a:p>
            <a:pPr algn="l"/>
            <a:r>
              <a:rPr sz="1100" b="0">
                <a:solidFill>
                  <a:srgbClr val="5C5C5C"/>
                </a:solidFill>
                <a:latin typeface="에이투지체 5 Medium"/>
                <a:ea typeface="에이투지체 5 Medium"/>
                <a:cs typeface="에이투지체 5 Medium"/>
              </a:rPr>
              <a:t>지마켓 현황 진단 ③  판매 상품과 광고 상품</a:t>
            </a:r>
          </a:p>
        </p:txBody>
      </p:sp>
      <p:sp>
        <p:nvSpPr>
          <p:cNvPr id="5" name="Rounded Rectangle 4"/>
          <p:cNvSpPr/>
          <p:nvPr/>
        </p:nvSpPr>
        <p:spPr>
          <a:xfrm>
            <a:off x="548640" y="5577840"/>
            <a:ext cx="11064240" cy="438912"/>
          </a:xfrm>
          <a:prstGeom prst="roundRect">
            <a:avLst>
              <a:gd name="adj" fmla="val 16666"/>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 y="5632704"/>
            <a:ext cx="10671048" cy="347472"/>
          </a:xfrm>
          <a:prstGeom prst="rect">
            <a:avLst/>
          </a:prstGeom>
          <a:noFill/>
        </p:spPr>
        <p:txBody>
          <a:bodyPr wrap="square" lIns="0" tIns="0" rIns="0" bIns="0" anchor="ctr">
            <a:spAutoFit/>
          </a:bodyPr>
          <a:lstStyle/>
          <a:p>
            <a:pPr algn="l"/>
            <a:r>
              <a:rPr sz="1350" b="0">
                <a:solidFill>
                  <a:srgbClr val="004F9F"/>
                </a:solidFill>
                <a:latin typeface="에이투지체 6 SemiBold"/>
                <a:ea typeface="에이투지체 6 SemiBold"/>
                <a:cs typeface="에이투지체 6 SemiBold"/>
              </a:rPr>
              <a:t>판매 상품을 브랜드 검색어 그룹에 모두 등록해 광고 노출을 늘리고, 낮은 입찰가로 ROAS를 높이겠습니다</a:t>
            </a:r>
          </a:p>
        </p:txBody>
      </p:sp>
      <p:sp>
        <p:nvSpPr>
          <p:cNvPr id="7" name="TextBox 6"/>
          <p:cNvSpPr txBox="1"/>
          <p:nvPr/>
        </p:nvSpPr>
        <p:spPr>
          <a:xfrm>
            <a:off x="548640" y="6089904"/>
            <a:ext cx="11064240" cy="274320"/>
          </a:xfrm>
          <a:prstGeom prst="rect">
            <a:avLst/>
          </a:prstGeom>
          <a:noFill/>
        </p:spPr>
        <p:txBody>
          <a:bodyPr wrap="square" lIns="0" tIns="0" rIns="0" bIns="0" anchor="t">
            <a:spAutoFit/>
          </a:bodyPr>
          <a:lstStyle/>
          <a:p>
            <a:pPr algn="l"/>
            <a:r>
              <a:rPr sz="850" b="0">
                <a:solidFill>
                  <a:srgbClr val="919191"/>
                </a:solidFill>
                <a:latin typeface="에이투지체 3 Light"/>
                <a:ea typeface="에이투지체 3 Light"/>
                <a:cs typeface="에이투지체 3 Light"/>
              </a:rPr>
              <a:t>2026.10.13 지마켓 (주)두드림 미니샵 내 "아이클타임" 검색 결과, 지마켓 "아이클타임" 검색 결과 기준</a:t>
            </a:r>
          </a:p>
        </p:txBody>
      </p:sp>
      <p:sp>
        <p:nvSpPr>
          <p:cNvPr id="8" name="TextBox 7"/>
          <p:cNvSpPr txBox="1"/>
          <p:nvPr/>
        </p:nvSpPr>
        <p:spPr>
          <a:xfrm>
            <a:off x="548640" y="6473952"/>
            <a:ext cx="4206240" cy="274320"/>
          </a:xfrm>
          <a:prstGeom prst="rect">
            <a:avLst/>
          </a:prstGeom>
          <a:noFill/>
        </p:spPr>
        <p:txBody>
          <a:bodyPr wrap="square" lIns="0" tIns="0" rIns="0" bIns="0" anchor="t">
            <a:spAutoFit/>
          </a:bodyPr>
          <a:lstStyle/>
          <a:p>
            <a:pPr algn="l"/>
            <a:r>
              <a:rPr sz="800" b="0">
                <a:solidFill>
                  <a:srgbClr val="919191"/>
                </a:solidFill>
                <a:latin typeface="에이투지체 3 Light"/>
                <a:ea typeface="에이투지체 3 Light"/>
                <a:cs typeface="에이투지체 3 Light"/>
              </a:rPr>
              <a:t>DODREAM B&amp;B AD PROPOSAL · 2026</a:t>
            </a:r>
          </a:p>
        </p:txBody>
      </p:sp>
      <p:sp>
        <p:nvSpPr>
          <p:cNvPr id="9" name="TextBox 8"/>
          <p:cNvSpPr txBox="1"/>
          <p:nvPr/>
        </p:nvSpPr>
        <p:spPr>
          <a:xfrm>
            <a:off x="8138160" y="6473952"/>
            <a:ext cx="3017520" cy="274320"/>
          </a:xfrm>
          <a:prstGeom prst="rect">
            <a:avLst/>
          </a:prstGeom>
          <a:noFill/>
        </p:spPr>
        <p:txBody>
          <a:bodyPr wrap="square" lIns="0" tIns="0" rIns="0" bIns="0" anchor="t">
            <a:spAutoFit/>
          </a:bodyPr>
          <a:lstStyle/>
          <a:p>
            <a:pPr algn="r"/>
            <a:r>
              <a:rPr sz="800" b="0">
                <a:solidFill>
                  <a:srgbClr val="919191"/>
                </a:solidFill>
                <a:latin typeface="에이투지체 3 Light"/>
                <a:ea typeface="에이투지체 3 Light"/>
                <a:cs typeface="에이투지체 3 Light"/>
              </a:rPr>
              <a:t>LINKPRICE · BRAND AD CENTER</a:t>
            </a:r>
          </a:p>
        </p:txBody>
      </p:sp>
      <p:sp>
        <p:nvSpPr>
          <p:cNvPr id="10" name="TextBox 9"/>
          <p:cNvSpPr txBox="1"/>
          <p:nvPr/>
        </p:nvSpPr>
        <p:spPr>
          <a:xfrm>
            <a:off x="11292840" y="6473952"/>
            <a:ext cx="365760" cy="274320"/>
          </a:xfrm>
          <a:prstGeom prst="rect">
            <a:avLst/>
          </a:prstGeom>
          <a:noFill/>
        </p:spPr>
        <p:txBody>
          <a:bodyPr wrap="square" lIns="0" tIns="0" rIns="0" bIns="0" anchor="t">
            <a:spAutoFit/>
          </a:bodyPr>
          <a:lstStyle/>
          <a:p>
            <a:pPr algn="r"/>
            <a:r>
              <a:rPr sz="800" b="0">
                <a:solidFill>
                  <a:srgbClr val="222222"/>
                </a:solidFill>
                <a:latin typeface="에이투지체 6 SemiBold"/>
                <a:ea typeface="에이투지체 6 SemiBold"/>
                <a:cs typeface="에이투지체 6 SemiBold"/>
              </a:rPr>
              <a:t>43</a:t>
            </a:r>
          </a:p>
        </p:txBody>
      </p:sp>
      <p:sp>
        <p:nvSpPr>
          <p:cNvPr id="11" name="TextBox 10"/>
          <p:cNvSpPr txBox="1"/>
          <p:nvPr/>
        </p:nvSpPr>
        <p:spPr>
          <a:xfrm>
            <a:off x="548640" y="1993392"/>
            <a:ext cx="6400800" cy="292608"/>
          </a:xfrm>
          <a:prstGeom prst="rect">
            <a:avLst/>
          </a:prstGeom>
          <a:noFill/>
        </p:spPr>
        <p:txBody>
          <a:bodyPr wrap="square" lIns="0" tIns="0" rIns="0" bIns="0" anchor="t">
            <a:spAutoFit/>
          </a:bodyPr>
          <a:lstStyle/>
          <a:p>
            <a:pPr algn="l"/>
            <a:r>
              <a:rPr sz="1250" b="0">
                <a:solidFill>
                  <a:srgbClr val="004F9F"/>
                </a:solidFill>
                <a:latin typeface="에이투지체 8 ExtraBold"/>
                <a:ea typeface="에이투지체 8 ExtraBold"/>
                <a:cs typeface="에이투지체 8 ExtraBold"/>
              </a:rPr>
              <a:t>지마켓 미니샵  </a:t>
            </a:r>
            <a:r>
              <a:rPr sz="1250" b="0">
                <a:solidFill>
                  <a:srgbClr val="222222"/>
                </a:solidFill>
                <a:latin typeface="에이투지체 6 SemiBold"/>
                <a:ea typeface="에이투지체 6 SemiBold"/>
                <a:cs typeface="에이투지체 6 SemiBold"/>
              </a:rPr>
              <a:t>(주)두드림 "아이클타임" 검색</a:t>
            </a:r>
          </a:p>
        </p:txBody>
      </p:sp>
      <p:pic>
        <p:nvPicPr>
          <p:cNvPr id="12" name="Picture 11" descr="g_mini.png"/>
          <p:cNvPicPr>
            <a:picLocks noChangeAspect="1"/>
          </p:cNvPicPr>
          <p:nvPr/>
        </p:nvPicPr>
        <p:blipFill>
          <a:blip r:embed="rId2"/>
          <a:stretch>
            <a:fillRect/>
          </a:stretch>
        </p:blipFill>
        <p:spPr>
          <a:xfrm>
            <a:off x="548640" y="2331720"/>
            <a:ext cx="6400800" cy="2901297"/>
          </a:xfrm>
          <a:prstGeom prst="rect">
            <a:avLst/>
          </a:prstGeom>
          <a:ln w="9525">
            <a:solidFill>
              <a:srgbClr val="DDDDDD"/>
            </a:solidFill>
          </a:ln>
        </p:spPr>
      </p:pic>
      <p:sp>
        <p:nvSpPr>
          <p:cNvPr id="13" name="Rounded Rectangle 12"/>
          <p:cNvSpPr/>
          <p:nvPr/>
        </p:nvSpPr>
        <p:spPr>
          <a:xfrm>
            <a:off x="7223760" y="2331720"/>
            <a:ext cx="4389120" cy="2971800"/>
          </a:xfrm>
          <a:prstGeom prst="roundRect">
            <a:avLst>
              <a:gd name="adj" fmla="val 2461"/>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452360" y="2450592"/>
            <a:ext cx="3931920" cy="320040"/>
          </a:xfrm>
          <a:prstGeom prst="rect">
            <a:avLst/>
          </a:prstGeom>
          <a:noFill/>
        </p:spPr>
        <p:txBody>
          <a:bodyPr wrap="square" lIns="0" tIns="0" rIns="0" bIns="0" anchor="t">
            <a:spAutoFit/>
          </a:bodyPr>
          <a:lstStyle/>
          <a:p>
            <a:pPr algn="l"/>
            <a:r>
              <a:rPr sz="1350" b="0">
                <a:solidFill>
                  <a:srgbClr val="222222"/>
                </a:solidFill>
                <a:latin typeface="에이투지체 8 ExtraBold"/>
                <a:ea typeface="에이투지체 8 ExtraBold"/>
                <a:cs typeface="에이투지체 8 ExtraBold"/>
              </a:rPr>
              <a:t>판매 중  vs  광고 영역 노출</a:t>
            </a:r>
          </a:p>
        </p:txBody>
      </p:sp>
      <p:sp>
        <p:nvSpPr>
          <p:cNvPr id="15" name="TextBox 14"/>
          <p:cNvSpPr txBox="1"/>
          <p:nvPr/>
        </p:nvSpPr>
        <p:spPr>
          <a:xfrm>
            <a:off x="7452360" y="2880360"/>
            <a:ext cx="3977639" cy="2377440"/>
          </a:xfrm>
          <a:prstGeom prst="rect">
            <a:avLst/>
          </a:prstGeom>
          <a:noFill/>
        </p:spPr>
        <p:txBody>
          <a:bodyPr wrap="square" lIns="0" tIns="0" rIns="0" bIns="0" anchor="t">
            <a:spAutoFit/>
          </a:bodyPr>
          <a:lstStyle/>
          <a:p>
            <a:pPr algn="l">
              <a:spcAft>
                <a:spcPts val="800"/>
              </a:spcAft>
            </a:pPr>
            <a:r>
              <a:rPr sz="1100" b="0">
                <a:solidFill>
                  <a:srgbClr val="004F9F"/>
                </a:solidFill>
                <a:latin typeface="에이투지체 6 SemiBold"/>
                <a:ea typeface="에이투지체 6 SemiBold"/>
                <a:cs typeface="에이투지체 6 SemiBold"/>
              </a:rPr>
              <a:t>판매 중  </a:t>
            </a:r>
            <a:r>
              <a:rPr sz="1100" b="0">
                <a:solidFill>
                  <a:srgbClr val="222222"/>
                </a:solidFill>
                <a:latin typeface="에이투지체 4 Regular"/>
                <a:ea typeface="에이투지체 4 Regular"/>
                <a:cs typeface="에이투지체 4 Regular"/>
              </a:rPr>
              <a:t>키성장 FGO, 츄어블 철분, 프로바이오키드, 프로바이오틱스, 멀티비타민 등</a:t>
            </a:r>
          </a:p>
          <a:p>
            <a:pPr algn="l">
              <a:spcAft>
                <a:spcPts val="800"/>
              </a:spcAft>
            </a:pPr>
            <a:r>
              <a:rPr sz="1100" b="0">
                <a:solidFill>
                  <a:srgbClr val="004F9F"/>
                </a:solidFill>
                <a:latin typeface="에이투지체 6 SemiBold"/>
                <a:ea typeface="에이투지체 6 SemiBold"/>
                <a:cs typeface="에이투지체 6 SemiBold"/>
              </a:rPr>
              <a:t>광고 노출  </a:t>
            </a:r>
            <a:r>
              <a:rPr sz="1100" b="0">
                <a:solidFill>
                  <a:srgbClr val="222222"/>
                </a:solidFill>
                <a:latin typeface="에이투지체 4 Regular"/>
                <a:ea typeface="에이투지체 4 Regular"/>
                <a:cs typeface="에이투지체 4 Regular"/>
              </a:rPr>
              <a:t>FGO 5박스, 4박스, 프로바이오키드 위주</a:t>
            </a:r>
          </a:p>
          <a:p>
            <a:pPr algn="l">
              <a:spcAft>
                <a:spcPts val="800"/>
              </a:spcAft>
            </a:pPr>
            <a:r>
              <a:rPr sz="1100" b="0">
                <a:solidFill>
                  <a:srgbClr val="004F9F"/>
                </a:solidFill>
                <a:latin typeface="에이투지체 6 SemiBold"/>
                <a:ea typeface="에이투지체 6 SemiBold"/>
                <a:cs typeface="에이투지체 6 SemiBold"/>
              </a:rPr>
              <a:t>그 외  </a:t>
            </a:r>
            <a:r>
              <a:rPr sz="1100" b="0">
                <a:solidFill>
                  <a:srgbClr val="222222"/>
                </a:solidFill>
                <a:latin typeface="에이투지체 4 Regular"/>
                <a:ea typeface="에이투지체 4 Regular"/>
                <a:cs typeface="에이투지체 4 Regular"/>
              </a:rPr>
              <a:t>나머지 광고에 뉴트리원, 녹십초 노출</a:t>
            </a:r>
          </a:p>
          <a:p>
            <a:pPr algn="l">
              <a:spcAft>
                <a:spcPts val="800"/>
              </a:spcAft>
            </a:pPr>
            <a:r>
              <a:rPr sz="1100" b="0">
                <a:solidFill>
                  <a:srgbClr val="004F9F"/>
                </a:solidFill>
                <a:latin typeface="에이투지체 6 SemiBold"/>
                <a:ea typeface="에이투지체 6 SemiBold"/>
                <a:cs typeface="에이투지체 6 SemiBold"/>
              </a:rPr>
              <a:t>운영  </a:t>
            </a:r>
            <a:r>
              <a:rPr sz="1100" b="0">
                <a:solidFill>
                  <a:srgbClr val="222222"/>
                </a:solidFill>
                <a:latin typeface="에이투지체 4 Regular"/>
                <a:ea typeface="에이투지체 4 Regular"/>
                <a:cs typeface="에이투지체 4 Regular"/>
              </a:rPr>
              <a:t>브랜드 검색어 그룹에 판매 상품 모두 등록</a:t>
            </a:r>
          </a:p>
          <a:p>
            <a:pPr algn="l">
              <a:spcAft>
                <a:spcPts val="800"/>
              </a:spcAft>
            </a:pPr>
            <a:r>
              <a:rPr sz="1100" b="0">
                <a:solidFill>
                  <a:srgbClr val="004F9F"/>
                </a:solidFill>
                <a:latin typeface="에이투지체 6 SemiBold"/>
                <a:ea typeface="에이투지체 6 SemiBold"/>
                <a:cs typeface="에이투지체 6 SemiBold"/>
              </a:rPr>
              <a:t>입찰  </a:t>
            </a:r>
            <a:r>
              <a:rPr sz="1100" b="0">
                <a:solidFill>
                  <a:srgbClr val="222222"/>
                </a:solidFill>
                <a:latin typeface="에이투지체 4 Regular"/>
                <a:ea typeface="에이투지체 4 Regular"/>
                <a:cs typeface="에이투지체 4 Regular"/>
              </a:rPr>
              <a:t>경쟁이 적은 브랜드 검색어는 입찰가를 낮게 설정해 ROAS 상승</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ctr"/>
          <a:lstStyle/>
          <a:p>
            <a:pPr algn="l"/>
            <a:r>
              <a:rPr sz="900" b="0" spc="100">
                <a:solidFill>
                  <a:srgbClr val="004F9F"/>
                </a:solidFill>
                <a:latin typeface="에이투지체 6 SemiBold"/>
                <a:ea typeface="에이투지체 6 SemiBold"/>
                <a:cs typeface="에이투지체 6 SemiBold"/>
              </a:rPr>
              <a:t>PART 2 · 11월 마케팅 전략 · 미디어믹스</a:t>
            </a:r>
          </a:p>
        </p:txBody>
      </p:sp>
      <p:sp>
        <p:nvSpPr>
          <p:cNvPr id="3" name="TextBox 2"/>
          <p:cNvSpPr txBox="1"/>
          <p:nvPr/>
        </p:nvSpPr>
        <p:spPr>
          <a:xfrm>
            <a:off x="548640" y="658368"/>
            <a:ext cx="11064240" cy="868680"/>
          </a:xfrm>
          <a:prstGeom prst="rect">
            <a:avLst/>
          </a:prstGeom>
          <a:noFill/>
        </p:spPr>
        <p:txBody>
          <a:bodyPr wrap="square" lIns="0" tIns="0" rIns="0" bIns="0" anchor="ctr"/>
          <a:lstStyle/>
          <a:p>
            <a:pPr>
              <a:lnSpc>
                <a:spcPts val="2600"/>
              </a:lnSpc>
            </a:pPr>
            <a:r>
              <a:rPr sz="1900" b="0">
                <a:solidFill>
                  <a:srgbClr val="FFFFFF"/>
                </a:solidFill>
                <a:highlight>
                  <a:srgbClr val="0000FF"/>
                </a:highlight>
                <a:latin typeface="에이투지체 8 ExtraBold"/>
                <a:ea typeface="에이투지체 8 ExtraBold"/>
                <a:cs typeface="에이투지체 8 ExtraBold"/>
              </a:rPr>
              <a:t>대표 검색어에 두드림 상품이 노출되고 있고</a:t>
            </a:r>
          </a:p>
          <a:p>
            <a:pPr>
              <a:lnSpc>
                <a:spcPts val="2600"/>
              </a:lnSpc>
            </a:pPr>
            <a:r>
              <a:rPr sz="1900" b="0">
                <a:solidFill>
                  <a:srgbClr val="222222"/>
                </a:solidFill>
                <a:latin typeface="에이투지체 8 ExtraBold"/>
                <a:ea typeface="에이투지체 8 ExtraBold"/>
                <a:cs typeface="에이투지체 8 ExtraBold"/>
              </a:rPr>
              <a:t>주변 경쟁 상품과는 리뷰 수 차이가 큽니다</a:t>
            </a:r>
          </a:p>
        </p:txBody>
      </p:sp>
      <p:sp>
        <p:nvSpPr>
          <p:cNvPr id="4" name="TextBox 3"/>
          <p:cNvSpPr txBox="1"/>
          <p:nvPr/>
        </p:nvSpPr>
        <p:spPr>
          <a:xfrm>
            <a:off x="548640" y="1517904"/>
            <a:ext cx="11064240" cy="365760"/>
          </a:xfrm>
          <a:prstGeom prst="rect">
            <a:avLst/>
          </a:prstGeom>
          <a:noFill/>
        </p:spPr>
        <p:txBody>
          <a:bodyPr wrap="square" lIns="0" tIns="0" rIns="0" bIns="0" anchor="ctr"/>
          <a:lstStyle/>
          <a:p>
            <a:pPr algn="l"/>
            <a:r>
              <a:rPr sz="1100" b="0">
                <a:solidFill>
                  <a:srgbClr val="5C5C5C"/>
                </a:solidFill>
                <a:latin typeface="에이투지체 5 Medium"/>
                <a:ea typeface="에이투지체 5 Medium"/>
                <a:cs typeface="에이투지체 5 Medium"/>
              </a:rPr>
              <a:t>지마켓 현황 진단 ④  대표 검색어</a:t>
            </a:r>
          </a:p>
        </p:txBody>
      </p:sp>
      <p:sp>
        <p:nvSpPr>
          <p:cNvPr id="5" name="Rounded Rectangle 4"/>
          <p:cNvSpPr/>
          <p:nvPr/>
        </p:nvSpPr>
        <p:spPr>
          <a:xfrm>
            <a:off x="548640" y="5577840"/>
            <a:ext cx="11064240" cy="438912"/>
          </a:xfrm>
          <a:prstGeom prst="roundRect">
            <a:avLst>
              <a:gd name="adj" fmla="val 16666"/>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 y="5632704"/>
            <a:ext cx="10671048" cy="347472"/>
          </a:xfrm>
          <a:prstGeom prst="rect">
            <a:avLst/>
          </a:prstGeom>
          <a:noFill/>
        </p:spPr>
        <p:txBody>
          <a:bodyPr wrap="square" lIns="0" tIns="0" rIns="0" bIns="0" anchor="ctr">
            <a:spAutoFit/>
          </a:bodyPr>
          <a:lstStyle/>
          <a:p>
            <a:pPr algn="l"/>
            <a:r>
              <a:rPr sz="1350" b="0">
                <a:solidFill>
                  <a:srgbClr val="004F9F"/>
                </a:solidFill>
                <a:latin typeface="에이투지체 6 SemiBold"/>
                <a:ea typeface="에이투지체 6 SemiBold"/>
                <a:cs typeface="에이투지체 6 SemiBold"/>
              </a:rPr>
              <a:t>리뷰 격차가 큰 대표 검색어는 CPC 상한을 낮게 두고, 전환이 확인된 검색어와 상품에 예산을 먼저 씁니다</a:t>
            </a:r>
          </a:p>
        </p:txBody>
      </p:sp>
      <p:sp>
        <p:nvSpPr>
          <p:cNvPr id="7" name="TextBox 6"/>
          <p:cNvSpPr txBox="1"/>
          <p:nvPr/>
        </p:nvSpPr>
        <p:spPr>
          <a:xfrm>
            <a:off x="548640" y="6089904"/>
            <a:ext cx="11064240" cy="274320"/>
          </a:xfrm>
          <a:prstGeom prst="rect">
            <a:avLst/>
          </a:prstGeom>
          <a:noFill/>
        </p:spPr>
        <p:txBody>
          <a:bodyPr wrap="square" lIns="0" tIns="0" rIns="0" bIns="0" anchor="t">
            <a:spAutoFit/>
          </a:bodyPr>
          <a:lstStyle/>
          <a:p>
            <a:pPr algn="l"/>
            <a:r>
              <a:rPr sz="850" b="0">
                <a:solidFill>
                  <a:srgbClr val="919191"/>
                </a:solidFill>
                <a:latin typeface="에이투지체 3 Light"/>
                <a:ea typeface="에이투지체 3 Light"/>
                <a:cs typeface="에이투지체 3 Light"/>
              </a:rPr>
              <a:t>2026.10.13 지마켓 PC 검색 화면 기준. 검색 결과는 새로고침, 사용자별로 달라짐 / 괄호는 리뷰 수</a:t>
            </a:r>
          </a:p>
        </p:txBody>
      </p:sp>
      <p:sp>
        <p:nvSpPr>
          <p:cNvPr id="8" name="TextBox 7"/>
          <p:cNvSpPr txBox="1"/>
          <p:nvPr/>
        </p:nvSpPr>
        <p:spPr>
          <a:xfrm>
            <a:off x="548640" y="6473952"/>
            <a:ext cx="4206240" cy="274320"/>
          </a:xfrm>
          <a:prstGeom prst="rect">
            <a:avLst/>
          </a:prstGeom>
          <a:noFill/>
        </p:spPr>
        <p:txBody>
          <a:bodyPr wrap="square" lIns="0" tIns="0" rIns="0" bIns="0" anchor="t">
            <a:spAutoFit/>
          </a:bodyPr>
          <a:lstStyle/>
          <a:p>
            <a:pPr algn="l"/>
            <a:r>
              <a:rPr sz="800" b="0">
                <a:solidFill>
                  <a:srgbClr val="919191"/>
                </a:solidFill>
                <a:latin typeface="에이투지체 3 Light"/>
                <a:ea typeface="에이투지체 3 Light"/>
                <a:cs typeface="에이투지체 3 Light"/>
              </a:rPr>
              <a:t>DODREAM B&amp;B AD PROPOSAL · 2026</a:t>
            </a:r>
          </a:p>
        </p:txBody>
      </p:sp>
      <p:sp>
        <p:nvSpPr>
          <p:cNvPr id="9" name="TextBox 8"/>
          <p:cNvSpPr txBox="1"/>
          <p:nvPr/>
        </p:nvSpPr>
        <p:spPr>
          <a:xfrm>
            <a:off x="8138160" y="6473952"/>
            <a:ext cx="3017520" cy="274320"/>
          </a:xfrm>
          <a:prstGeom prst="rect">
            <a:avLst/>
          </a:prstGeom>
          <a:noFill/>
        </p:spPr>
        <p:txBody>
          <a:bodyPr wrap="square" lIns="0" tIns="0" rIns="0" bIns="0" anchor="t">
            <a:spAutoFit/>
          </a:bodyPr>
          <a:lstStyle/>
          <a:p>
            <a:pPr algn="r"/>
            <a:r>
              <a:rPr sz="800" b="0">
                <a:solidFill>
                  <a:srgbClr val="919191"/>
                </a:solidFill>
                <a:latin typeface="에이투지체 3 Light"/>
                <a:ea typeface="에이투지체 3 Light"/>
                <a:cs typeface="에이투지체 3 Light"/>
              </a:rPr>
              <a:t>LINKPRICE · BRAND AD CENTER</a:t>
            </a:r>
          </a:p>
        </p:txBody>
      </p:sp>
      <p:sp>
        <p:nvSpPr>
          <p:cNvPr id="10" name="TextBox 9"/>
          <p:cNvSpPr txBox="1"/>
          <p:nvPr/>
        </p:nvSpPr>
        <p:spPr>
          <a:xfrm>
            <a:off x="11292840" y="6473952"/>
            <a:ext cx="365760" cy="274320"/>
          </a:xfrm>
          <a:prstGeom prst="rect">
            <a:avLst/>
          </a:prstGeom>
          <a:noFill/>
        </p:spPr>
        <p:txBody>
          <a:bodyPr wrap="square" lIns="0" tIns="0" rIns="0" bIns="0" anchor="t">
            <a:spAutoFit/>
          </a:bodyPr>
          <a:lstStyle/>
          <a:p>
            <a:pPr algn="r"/>
            <a:r>
              <a:rPr sz="800" b="0">
                <a:solidFill>
                  <a:srgbClr val="222222"/>
                </a:solidFill>
                <a:latin typeface="에이투지체 6 SemiBold"/>
                <a:ea typeface="에이투지체 6 SemiBold"/>
                <a:cs typeface="에이투지체 6 SemiBold"/>
              </a:rPr>
              <a:t>44</a:t>
            </a:r>
          </a:p>
        </p:txBody>
      </p:sp>
      <p:sp>
        <p:nvSpPr>
          <p:cNvPr id="11" name="TextBox 10"/>
          <p:cNvSpPr txBox="1"/>
          <p:nvPr/>
        </p:nvSpPr>
        <p:spPr>
          <a:xfrm>
            <a:off x="548640" y="1993392"/>
            <a:ext cx="5394960" cy="292608"/>
          </a:xfrm>
          <a:prstGeom prst="rect">
            <a:avLst/>
          </a:prstGeom>
          <a:noFill/>
        </p:spPr>
        <p:txBody>
          <a:bodyPr wrap="square" lIns="0" tIns="0" rIns="0" bIns="0" anchor="t">
            <a:spAutoFit/>
          </a:bodyPr>
          <a:lstStyle/>
          <a:p>
            <a:pPr algn="l"/>
            <a:r>
              <a:rPr sz="1250" b="0">
                <a:solidFill>
                  <a:srgbClr val="004F9F"/>
                </a:solidFill>
                <a:latin typeface="에이투지체 8 ExtraBold"/>
                <a:ea typeface="에이투지체 8 ExtraBold"/>
                <a:cs typeface="에이투지체 8 ExtraBold"/>
              </a:rPr>
              <a:t>"키성장영양제"  </a:t>
            </a:r>
            <a:r>
              <a:rPr sz="1250" b="0">
                <a:solidFill>
                  <a:srgbClr val="222222"/>
                </a:solidFill>
                <a:latin typeface="에이투지체 6 SemiBold"/>
                <a:ea typeface="에이투지체 6 SemiBold"/>
                <a:cs typeface="에이투지체 6 SemiBold"/>
              </a:rPr>
              <a:t>두드림 2번째</a:t>
            </a:r>
          </a:p>
        </p:txBody>
      </p:sp>
      <p:pic>
        <p:nvPicPr>
          <p:cNvPr id="12" name="Picture 11" descr="g_kisj.png"/>
          <p:cNvPicPr>
            <a:picLocks noChangeAspect="1"/>
          </p:cNvPicPr>
          <p:nvPr/>
        </p:nvPicPr>
        <p:blipFill>
          <a:blip r:embed="rId2"/>
          <a:stretch>
            <a:fillRect/>
          </a:stretch>
        </p:blipFill>
        <p:spPr>
          <a:xfrm>
            <a:off x="548640" y="2331720"/>
            <a:ext cx="3246120" cy="2429844"/>
          </a:xfrm>
          <a:prstGeom prst="rect">
            <a:avLst/>
          </a:prstGeom>
          <a:ln w="9525">
            <a:solidFill>
              <a:srgbClr val="DDDDDD"/>
            </a:solidFill>
          </a:ln>
        </p:spPr>
      </p:pic>
      <p:sp>
        <p:nvSpPr>
          <p:cNvPr id="13" name="TextBox 12"/>
          <p:cNvSpPr txBox="1"/>
          <p:nvPr/>
        </p:nvSpPr>
        <p:spPr>
          <a:xfrm>
            <a:off x="3959352" y="2377440"/>
            <a:ext cx="1965960" cy="3017520"/>
          </a:xfrm>
          <a:prstGeom prst="rect">
            <a:avLst/>
          </a:prstGeom>
          <a:noFill/>
        </p:spPr>
        <p:txBody>
          <a:bodyPr wrap="square" lIns="0" tIns="0" rIns="0" bIns="0" anchor="t">
            <a:spAutoFit/>
          </a:bodyPr>
          <a:lstStyle/>
          <a:p>
            <a:pPr algn="l">
              <a:spcAft>
                <a:spcPts val="700"/>
              </a:spcAft>
            </a:pPr>
            <a:r>
              <a:rPr sz="1050" b="0">
                <a:solidFill>
                  <a:srgbClr val="004F9F"/>
                </a:solidFill>
                <a:latin typeface="에이투지체 6 SemiBold"/>
                <a:ea typeface="에이투지체 6 SemiBold"/>
                <a:cs typeface="에이투지체 6 SemiBold"/>
              </a:rPr>
              <a:t>상단  </a:t>
            </a:r>
            <a:r>
              <a:rPr sz="1050" b="0">
                <a:solidFill>
                  <a:srgbClr val="222222"/>
                </a:solidFill>
                <a:latin typeface="에이투지체 4 Regular"/>
                <a:ea typeface="에이투지체 4 Regular"/>
                <a:cs typeface="에이투지체 4 Regular"/>
              </a:rPr>
              <a:t>오늘의 상품이에요 광고 5개 모두 경쟁사</a:t>
            </a:r>
          </a:p>
          <a:p>
            <a:pPr algn="l">
              <a:spcAft>
                <a:spcPts val="700"/>
              </a:spcAft>
            </a:pPr>
            <a:r>
              <a:rPr sz="1050" b="0">
                <a:solidFill>
                  <a:srgbClr val="222222"/>
                </a:solidFill>
                <a:latin typeface="에이투지체 4 Regular"/>
                <a:ea typeface="에이투지체 4 Regular"/>
                <a:cs typeface="에이투지체 4 Regular"/>
              </a:rPr>
              <a:t>김소형원방, PH365, 키엔탄, 키클레오</a:t>
            </a:r>
          </a:p>
          <a:p>
            <a:pPr algn="l">
              <a:spcAft>
                <a:spcPts val="700"/>
              </a:spcAft>
            </a:pPr>
            <a:r>
              <a:rPr sz="1050" b="0">
                <a:solidFill>
                  <a:srgbClr val="004F9F"/>
                </a:solidFill>
                <a:latin typeface="에이투지체 6 SemiBold"/>
                <a:ea typeface="에이투지체 6 SemiBold"/>
                <a:cs typeface="에이투지체 6 SemiBold"/>
              </a:rPr>
              <a:t>위아래  </a:t>
            </a:r>
            <a:r>
              <a:rPr sz="1050" b="0">
                <a:solidFill>
                  <a:srgbClr val="222222"/>
                </a:solidFill>
                <a:latin typeface="에이투지체 4 Regular"/>
                <a:ea typeface="에이투지체 4 Regular"/>
                <a:cs typeface="에이투지체 4 Regular"/>
              </a:rPr>
              <a:t>순수식품 칼마디 (7,426), 고려은단 칼마디 (186)</a:t>
            </a:r>
          </a:p>
          <a:p>
            <a:pPr algn="l">
              <a:spcAft>
                <a:spcPts val="700"/>
              </a:spcAft>
            </a:pPr>
            <a:r>
              <a:rPr sz="1050" b="0">
                <a:solidFill>
                  <a:srgbClr val="004F9F"/>
                </a:solidFill>
                <a:latin typeface="에이투지체 6 SemiBold"/>
                <a:ea typeface="에이투지체 6 SemiBold"/>
                <a:cs typeface="에이투지체 6 SemiBold"/>
              </a:rPr>
              <a:t>두드림  </a:t>
            </a:r>
            <a:r>
              <a:rPr sz="1050" b="0">
                <a:solidFill>
                  <a:srgbClr val="222222"/>
                </a:solidFill>
                <a:latin typeface="에이투지체 4 Regular"/>
                <a:ea typeface="에이투지체 4 Regular"/>
                <a:cs typeface="에이투지체 4 Regular"/>
              </a:rPr>
              <a:t>FGO 1박스 (7), 구매 35</a:t>
            </a:r>
          </a:p>
        </p:txBody>
      </p:sp>
      <p:sp>
        <p:nvSpPr>
          <p:cNvPr id="14" name="TextBox 13"/>
          <p:cNvSpPr txBox="1"/>
          <p:nvPr/>
        </p:nvSpPr>
        <p:spPr>
          <a:xfrm>
            <a:off x="6172200" y="1993392"/>
            <a:ext cx="5394960" cy="292608"/>
          </a:xfrm>
          <a:prstGeom prst="rect">
            <a:avLst/>
          </a:prstGeom>
          <a:noFill/>
        </p:spPr>
        <p:txBody>
          <a:bodyPr wrap="square" lIns="0" tIns="0" rIns="0" bIns="0" anchor="t">
            <a:spAutoFit/>
          </a:bodyPr>
          <a:lstStyle/>
          <a:p>
            <a:pPr algn="l"/>
            <a:r>
              <a:rPr sz="1250" b="0">
                <a:solidFill>
                  <a:srgbClr val="004F9F"/>
                </a:solidFill>
                <a:latin typeface="에이투지체 8 ExtraBold"/>
                <a:ea typeface="에이투지체 8 ExtraBold"/>
                <a:cs typeface="에이투지체 8 ExtraBold"/>
              </a:rPr>
              <a:t>"카무트효소"  </a:t>
            </a:r>
            <a:r>
              <a:rPr sz="1250" b="0">
                <a:solidFill>
                  <a:srgbClr val="222222"/>
                </a:solidFill>
                <a:latin typeface="에이투지체 6 SemiBold"/>
                <a:ea typeface="에이투지체 6 SemiBold"/>
                <a:cs typeface="에이투지체 6 SemiBold"/>
              </a:rPr>
              <a:t>두드림 5번째</a:t>
            </a:r>
          </a:p>
        </p:txBody>
      </p:sp>
      <p:pic>
        <p:nvPicPr>
          <p:cNvPr id="15" name="Picture 14" descr="g_kamut.png"/>
          <p:cNvPicPr>
            <a:picLocks noChangeAspect="1"/>
          </p:cNvPicPr>
          <p:nvPr/>
        </p:nvPicPr>
        <p:blipFill>
          <a:blip r:embed="rId3"/>
          <a:stretch>
            <a:fillRect/>
          </a:stretch>
        </p:blipFill>
        <p:spPr>
          <a:xfrm>
            <a:off x="6172200" y="2331720"/>
            <a:ext cx="2926080" cy="2700734"/>
          </a:xfrm>
          <a:prstGeom prst="rect">
            <a:avLst/>
          </a:prstGeom>
          <a:ln w="9525">
            <a:solidFill>
              <a:srgbClr val="DDDDDD"/>
            </a:solidFill>
          </a:ln>
        </p:spPr>
      </p:pic>
      <p:sp>
        <p:nvSpPr>
          <p:cNvPr id="16" name="TextBox 15"/>
          <p:cNvSpPr txBox="1"/>
          <p:nvPr/>
        </p:nvSpPr>
        <p:spPr>
          <a:xfrm>
            <a:off x="9262872" y="2377440"/>
            <a:ext cx="2350008" cy="3017520"/>
          </a:xfrm>
          <a:prstGeom prst="rect">
            <a:avLst/>
          </a:prstGeom>
          <a:noFill/>
        </p:spPr>
        <p:txBody>
          <a:bodyPr wrap="square" lIns="0" tIns="0" rIns="0" bIns="0" anchor="t">
            <a:spAutoFit/>
          </a:bodyPr>
          <a:lstStyle/>
          <a:p>
            <a:pPr algn="l">
              <a:spcAft>
                <a:spcPts val="700"/>
              </a:spcAft>
            </a:pPr>
            <a:r>
              <a:rPr sz="1050" b="0">
                <a:solidFill>
                  <a:srgbClr val="004F9F"/>
                </a:solidFill>
                <a:latin typeface="에이투지체 6 SemiBold"/>
                <a:ea typeface="에이투지체 6 SemiBold"/>
                <a:cs typeface="에이투지체 6 SemiBold"/>
              </a:rPr>
              <a:t>경쟁사  </a:t>
            </a:r>
            <a:r>
              <a:rPr sz="1050" b="0">
                <a:solidFill>
                  <a:srgbClr val="222222"/>
                </a:solidFill>
                <a:latin typeface="에이투지체 4 Regular"/>
                <a:ea typeface="에이투지체 4 Regular"/>
                <a:cs typeface="에이투지체 4 Regular"/>
              </a:rPr>
              <a:t>1~4번째 중 그레인온 3개</a:t>
            </a:r>
          </a:p>
          <a:p>
            <a:pPr algn="l">
              <a:spcAft>
                <a:spcPts val="700"/>
              </a:spcAft>
            </a:pPr>
            <a:r>
              <a:rPr sz="1050" b="0">
                <a:solidFill>
                  <a:srgbClr val="222222"/>
                </a:solidFill>
                <a:latin typeface="에이투지체 4 Regular"/>
                <a:ea typeface="에이투지체 4 Regular"/>
                <a:cs typeface="에이투지체 4 Regular"/>
              </a:rPr>
              <a:t>리뷰 14,274, 9,889, 3,474</a:t>
            </a:r>
          </a:p>
          <a:p>
            <a:pPr algn="l">
              <a:spcAft>
                <a:spcPts val="700"/>
              </a:spcAft>
            </a:pPr>
            <a:r>
              <a:rPr sz="1050" b="0">
                <a:solidFill>
                  <a:srgbClr val="222222"/>
                </a:solidFill>
                <a:latin typeface="에이투지체 4 Regular"/>
                <a:ea typeface="에이투지체 4 Regular"/>
                <a:cs typeface="에이투지체 4 Regular"/>
              </a:rPr>
              <a:t>리얼메디 2+1 (502)</a:t>
            </a:r>
          </a:p>
          <a:p>
            <a:pPr algn="l">
              <a:spcAft>
                <a:spcPts val="700"/>
              </a:spcAft>
            </a:pPr>
            <a:r>
              <a:rPr sz="1050" b="0">
                <a:solidFill>
                  <a:srgbClr val="004F9F"/>
                </a:solidFill>
                <a:latin typeface="에이투지체 6 SemiBold"/>
                <a:ea typeface="에이투지체 6 SemiBold"/>
                <a:cs typeface="에이투지체 6 SemiBold"/>
              </a:rPr>
              <a:t>두드림  </a:t>
            </a:r>
            <a:r>
              <a:rPr sz="1050" b="0">
                <a:solidFill>
                  <a:srgbClr val="222222"/>
                </a:solidFill>
                <a:latin typeface="에이투지체 4 Regular"/>
                <a:ea typeface="에이투지체 4 Regular"/>
                <a:cs typeface="에이투지체 4 Regular"/>
              </a:rPr>
              <a:t>슬림웨이 1박스, 리뷰 없이 구매 8</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ctr"/>
          <a:lstStyle/>
          <a:p>
            <a:pPr algn="l"/>
            <a:r>
              <a:rPr sz="900" b="0" spc="100">
                <a:solidFill>
                  <a:srgbClr val="004F9F"/>
                </a:solidFill>
                <a:latin typeface="에이투지체 6 SemiBold"/>
                <a:ea typeface="에이투지체 6 SemiBold"/>
                <a:cs typeface="에이투지체 6 SemiBold"/>
              </a:rPr>
              <a:t>PART 2 · 11월 마케팅 전략 · 미디어믹스</a:t>
            </a:r>
          </a:p>
        </p:txBody>
      </p:sp>
      <p:sp>
        <p:nvSpPr>
          <p:cNvPr id="3" name="TextBox 2"/>
          <p:cNvSpPr txBox="1"/>
          <p:nvPr/>
        </p:nvSpPr>
        <p:spPr>
          <a:xfrm>
            <a:off x="548640" y="658368"/>
            <a:ext cx="11064240" cy="868680"/>
          </a:xfrm>
          <a:prstGeom prst="rect">
            <a:avLst/>
          </a:prstGeom>
          <a:noFill/>
        </p:spPr>
        <p:txBody>
          <a:bodyPr wrap="square" lIns="0" tIns="0" rIns="0" bIns="0" anchor="ctr"/>
          <a:lstStyle/>
          <a:p>
            <a:pPr>
              <a:lnSpc>
                <a:spcPts val="2600"/>
              </a:lnSpc>
            </a:pPr>
            <a:r>
              <a:rPr sz="1900" b="0" dirty="0" err="1">
                <a:solidFill>
                  <a:srgbClr val="FFFFFF"/>
                </a:solidFill>
                <a:highlight>
                  <a:srgbClr val="0000FF"/>
                </a:highlight>
                <a:latin typeface="에이투지체 8 ExtraBold"/>
                <a:ea typeface="에이투지체 8 ExtraBold"/>
                <a:cs typeface="에이투지체 8 ExtraBold"/>
              </a:rPr>
              <a:t>광고로</a:t>
            </a:r>
            <a:r>
              <a:rPr sz="1900" b="0" dirty="0">
                <a:solidFill>
                  <a:srgbClr val="FFFFFF"/>
                </a:solidFill>
                <a:highlight>
                  <a:srgbClr val="0000FF"/>
                </a:highlight>
                <a:latin typeface="에이투지체 8 ExtraBold"/>
                <a:ea typeface="에이투지체 8 ExtraBold"/>
                <a:cs typeface="에이투지체 8 ExtraBold"/>
              </a:rPr>
              <a:t> </a:t>
            </a:r>
            <a:r>
              <a:rPr sz="1900" b="0" dirty="0" err="1">
                <a:solidFill>
                  <a:srgbClr val="FFFFFF"/>
                </a:solidFill>
                <a:highlight>
                  <a:srgbClr val="0000FF"/>
                </a:highlight>
                <a:latin typeface="에이투지체 8 ExtraBold"/>
                <a:ea typeface="에이투지체 8 ExtraBold"/>
                <a:cs typeface="에이투지체 8 ExtraBold"/>
              </a:rPr>
              <a:t>들어온</a:t>
            </a:r>
            <a:r>
              <a:rPr sz="1900" b="0" dirty="0">
                <a:solidFill>
                  <a:srgbClr val="FFFFFF"/>
                </a:solidFill>
                <a:highlight>
                  <a:srgbClr val="0000FF"/>
                </a:highlight>
                <a:latin typeface="에이투지체 8 ExtraBold"/>
                <a:ea typeface="에이투지체 8 ExtraBold"/>
                <a:cs typeface="에이투지체 8 ExtraBold"/>
              </a:rPr>
              <a:t> </a:t>
            </a:r>
            <a:r>
              <a:rPr sz="1900" b="0" dirty="0" err="1">
                <a:solidFill>
                  <a:srgbClr val="FFFFFF"/>
                </a:solidFill>
                <a:highlight>
                  <a:srgbClr val="0000FF"/>
                </a:highlight>
                <a:latin typeface="에이투지체 8 ExtraBold"/>
                <a:ea typeface="에이투지체 8 ExtraBold"/>
                <a:cs typeface="에이투지체 8 ExtraBold"/>
              </a:rPr>
              <a:t>고객이</a:t>
            </a:r>
            <a:r>
              <a:rPr sz="1900" b="0" dirty="0">
                <a:solidFill>
                  <a:srgbClr val="FFFFFF"/>
                </a:solidFill>
                <a:highlight>
                  <a:srgbClr val="0000FF"/>
                </a:highlight>
                <a:latin typeface="에이투지체 8 ExtraBold"/>
                <a:ea typeface="에이투지체 8 ExtraBold"/>
                <a:cs typeface="에이투지체 8 ExtraBold"/>
              </a:rPr>
              <a:t> </a:t>
            </a:r>
            <a:r>
              <a:rPr sz="1900" b="0" dirty="0" err="1">
                <a:solidFill>
                  <a:srgbClr val="FFFFFF"/>
                </a:solidFill>
                <a:highlight>
                  <a:srgbClr val="0000FF"/>
                </a:highlight>
                <a:latin typeface="에이투지체 8 ExtraBold"/>
                <a:ea typeface="에이투지체 8 ExtraBold"/>
                <a:cs typeface="에이투지체 8 ExtraBold"/>
              </a:rPr>
              <a:t>다른</a:t>
            </a:r>
            <a:r>
              <a:rPr sz="1900" b="0" dirty="0">
                <a:solidFill>
                  <a:srgbClr val="FFFFFF"/>
                </a:solidFill>
                <a:highlight>
                  <a:srgbClr val="0000FF"/>
                </a:highlight>
                <a:latin typeface="에이투지체 8 ExtraBold"/>
                <a:ea typeface="에이투지체 8 ExtraBold"/>
                <a:cs typeface="에이투지체 8 ExtraBold"/>
              </a:rPr>
              <a:t> </a:t>
            </a:r>
            <a:r>
              <a:rPr sz="1900" b="0" dirty="0" err="1">
                <a:solidFill>
                  <a:srgbClr val="FFFFFF"/>
                </a:solidFill>
                <a:highlight>
                  <a:srgbClr val="0000FF"/>
                </a:highlight>
                <a:latin typeface="에이투지체 8 ExtraBold"/>
                <a:ea typeface="에이투지체 8 ExtraBold"/>
                <a:cs typeface="에이투지체 8 ExtraBold"/>
              </a:rPr>
              <a:t>상품도</a:t>
            </a:r>
            <a:r>
              <a:rPr sz="1900" b="0" dirty="0">
                <a:solidFill>
                  <a:srgbClr val="FFFFFF"/>
                </a:solidFill>
                <a:highlight>
                  <a:srgbClr val="0000FF"/>
                </a:highlight>
                <a:latin typeface="에이투지체 8 ExtraBold"/>
                <a:ea typeface="에이투지체 8 ExtraBold"/>
                <a:cs typeface="에이투지체 8 ExtraBold"/>
              </a:rPr>
              <a:t> </a:t>
            </a:r>
            <a:r>
              <a:rPr lang="ko-KR" altLang="en-US" sz="1900" b="0" dirty="0">
                <a:solidFill>
                  <a:srgbClr val="FFFFFF"/>
                </a:solidFill>
                <a:highlight>
                  <a:srgbClr val="0000FF"/>
                </a:highlight>
                <a:latin typeface="에이투지체 8 ExtraBold"/>
                <a:ea typeface="에이투지체 8 ExtraBold"/>
                <a:cs typeface="에이투지체 8 ExtraBold"/>
              </a:rPr>
              <a:t>볼 수 있</a:t>
            </a:r>
            <a:r>
              <a:rPr sz="1900" b="0" dirty="0" err="1">
                <a:solidFill>
                  <a:srgbClr val="FFFFFF"/>
                </a:solidFill>
                <a:highlight>
                  <a:srgbClr val="0000FF"/>
                </a:highlight>
                <a:latin typeface="에이투지체 8 ExtraBold"/>
                <a:ea typeface="에이투지체 8 ExtraBold"/>
                <a:cs typeface="에이투지체 8 ExtraBold"/>
              </a:rPr>
              <a:t>도록</a:t>
            </a:r>
            <a:r>
              <a:rPr sz="1900" b="0" dirty="0">
                <a:solidFill>
                  <a:srgbClr val="222222"/>
                </a:solidFill>
                <a:latin typeface="에이투지체 8 ExtraBold"/>
                <a:ea typeface="에이투지체 8 ExtraBold"/>
                <a:cs typeface="에이투지체 8 ExtraBold"/>
              </a:rPr>
              <a:t> </a:t>
            </a:r>
            <a:endParaRPr lang="en-US" sz="1900" b="0" dirty="0">
              <a:solidFill>
                <a:srgbClr val="222222"/>
              </a:solidFill>
              <a:latin typeface="에이투지체 8 ExtraBold"/>
              <a:ea typeface="에이투지체 8 ExtraBold"/>
              <a:cs typeface="에이투지체 8 ExtraBold"/>
            </a:endParaRPr>
          </a:p>
          <a:p>
            <a:pPr>
              <a:lnSpc>
                <a:spcPts val="2600"/>
              </a:lnSpc>
            </a:pPr>
            <a:r>
              <a:rPr sz="1900" b="0" dirty="0" err="1">
                <a:solidFill>
                  <a:srgbClr val="222222"/>
                </a:solidFill>
                <a:latin typeface="에이투지체 8 ExtraBold"/>
                <a:ea typeface="에이투지체 8 ExtraBold"/>
                <a:cs typeface="에이투지체 8 ExtraBold"/>
              </a:rPr>
              <a:t>추가구성</a:t>
            </a:r>
            <a:r>
              <a:rPr sz="1900" b="0" dirty="0">
                <a:solidFill>
                  <a:srgbClr val="222222"/>
                </a:solidFill>
                <a:latin typeface="에이투지체 8 ExtraBold"/>
                <a:ea typeface="에이투지체 8 ExtraBold"/>
                <a:cs typeface="에이투지체 8 ExtraBold"/>
              </a:rPr>
              <a:t> </a:t>
            </a:r>
            <a:r>
              <a:rPr lang="ko-KR" altLang="en-US" sz="1900" b="0" dirty="0">
                <a:solidFill>
                  <a:srgbClr val="222222"/>
                </a:solidFill>
                <a:latin typeface="에이투지체 8 ExtraBold"/>
                <a:ea typeface="에이투지체 8 ExtraBold"/>
                <a:cs typeface="에이투지체 8 ExtraBold"/>
              </a:rPr>
              <a:t>순서 변경</a:t>
            </a:r>
            <a:r>
              <a:rPr sz="1900" b="0" dirty="0">
                <a:solidFill>
                  <a:srgbClr val="222222"/>
                </a:solidFill>
                <a:latin typeface="에이투지체 8 ExtraBold"/>
                <a:ea typeface="에이투지체 8 ExtraBold"/>
                <a:cs typeface="에이투지체 8 ExtraBold"/>
              </a:rPr>
              <a:t>을</a:t>
            </a:r>
            <a:r>
              <a:rPr lang="en-US" sz="1900" dirty="0">
                <a:solidFill>
                  <a:srgbClr val="222222"/>
                </a:solidFill>
                <a:latin typeface="에이투지체 8 ExtraBold"/>
                <a:ea typeface="에이투지체 8 ExtraBold"/>
                <a:cs typeface="에이투지체 8 ExtraBold"/>
              </a:rPr>
              <a:t> </a:t>
            </a:r>
            <a:r>
              <a:rPr sz="1900" b="0" dirty="0" err="1">
                <a:solidFill>
                  <a:srgbClr val="222222"/>
                </a:solidFill>
                <a:latin typeface="에이투지체 8 ExtraBold"/>
                <a:ea typeface="에이투지체 8 ExtraBold"/>
                <a:cs typeface="에이투지체 8 ExtraBold"/>
              </a:rPr>
              <a:t>제안합니다</a:t>
            </a:r>
            <a:endParaRPr sz="1900" b="0" dirty="0">
              <a:solidFill>
                <a:srgbClr val="222222"/>
              </a:solidFill>
              <a:latin typeface="에이투지체 8 ExtraBold"/>
              <a:ea typeface="에이투지체 8 ExtraBold"/>
              <a:cs typeface="에이투지체 8 ExtraBold"/>
            </a:endParaRPr>
          </a:p>
        </p:txBody>
      </p:sp>
      <p:sp>
        <p:nvSpPr>
          <p:cNvPr id="4" name="TextBox 3"/>
          <p:cNvSpPr txBox="1"/>
          <p:nvPr/>
        </p:nvSpPr>
        <p:spPr>
          <a:xfrm>
            <a:off x="548640" y="1517904"/>
            <a:ext cx="11064240" cy="365760"/>
          </a:xfrm>
          <a:prstGeom prst="rect">
            <a:avLst/>
          </a:prstGeom>
          <a:noFill/>
        </p:spPr>
        <p:txBody>
          <a:bodyPr wrap="square" lIns="0" tIns="0" rIns="0" bIns="0" anchor="ctr"/>
          <a:lstStyle/>
          <a:p>
            <a:pPr algn="l"/>
            <a:r>
              <a:rPr sz="1100" b="0" dirty="0" err="1">
                <a:solidFill>
                  <a:srgbClr val="5C5C5C"/>
                </a:solidFill>
                <a:latin typeface="에이투지체 5 Medium"/>
                <a:ea typeface="에이투지체 5 Medium"/>
                <a:cs typeface="에이투지체 5 Medium"/>
              </a:rPr>
              <a:t>지마켓</a:t>
            </a:r>
            <a:r>
              <a:rPr sz="1100" b="0" dirty="0">
                <a:solidFill>
                  <a:srgbClr val="5C5C5C"/>
                </a:solidFill>
                <a:latin typeface="에이투지체 5 Medium"/>
                <a:ea typeface="에이투지체 5 Medium"/>
                <a:cs typeface="에이투지체 5 Medium"/>
              </a:rPr>
              <a:t> </a:t>
            </a:r>
            <a:r>
              <a:rPr sz="1100" b="0" dirty="0" err="1">
                <a:solidFill>
                  <a:srgbClr val="5C5C5C"/>
                </a:solidFill>
                <a:latin typeface="에이투지체 5 Medium"/>
                <a:ea typeface="에이투지체 5 Medium"/>
                <a:cs typeface="에이투지체 5 Medium"/>
              </a:rPr>
              <a:t>현황</a:t>
            </a:r>
            <a:r>
              <a:rPr sz="1100" b="0" dirty="0">
                <a:solidFill>
                  <a:srgbClr val="5C5C5C"/>
                </a:solidFill>
                <a:latin typeface="에이투지체 5 Medium"/>
                <a:ea typeface="에이투지체 5 Medium"/>
                <a:cs typeface="에이투지체 5 Medium"/>
              </a:rPr>
              <a:t> </a:t>
            </a:r>
            <a:r>
              <a:rPr sz="1100" b="0" dirty="0" err="1">
                <a:solidFill>
                  <a:srgbClr val="5C5C5C"/>
                </a:solidFill>
                <a:latin typeface="에이투지체 5 Medium"/>
                <a:ea typeface="에이투지체 5 Medium"/>
                <a:cs typeface="에이투지체 5 Medium"/>
              </a:rPr>
              <a:t>진단</a:t>
            </a:r>
            <a:r>
              <a:rPr sz="1100" b="0" dirty="0">
                <a:solidFill>
                  <a:srgbClr val="5C5C5C"/>
                </a:solidFill>
                <a:latin typeface="에이투지체 5 Medium"/>
                <a:ea typeface="에이투지체 5 Medium"/>
                <a:cs typeface="에이투지체 5 Medium"/>
              </a:rPr>
              <a:t> ⑤  </a:t>
            </a:r>
            <a:r>
              <a:rPr sz="1100" b="0" dirty="0" err="1">
                <a:solidFill>
                  <a:srgbClr val="5C5C5C"/>
                </a:solidFill>
                <a:latin typeface="에이투지체 5 Medium"/>
                <a:ea typeface="에이투지체 5 Medium"/>
                <a:cs typeface="에이투지체 5 Medium"/>
              </a:rPr>
              <a:t>상세</a:t>
            </a:r>
            <a:r>
              <a:rPr sz="1100" b="0" dirty="0">
                <a:solidFill>
                  <a:srgbClr val="5C5C5C"/>
                </a:solidFill>
                <a:latin typeface="에이투지체 5 Medium"/>
                <a:ea typeface="에이투지체 5 Medium"/>
                <a:cs typeface="에이투지체 5 Medium"/>
              </a:rPr>
              <a:t> </a:t>
            </a:r>
            <a:r>
              <a:rPr sz="1100" b="0" dirty="0" err="1">
                <a:solidFill>
                  <a:srgbClr val="5C5C5C"/>
                </a:solidFill>
                <a:latin typeface="에이투지체 5 Medium"/>
                <a:ea typeface="에이투지체 5 Medium"/>
                <a:cs typeface="에이투지체 5 Medium"/>
              </a:rPr>
              <a:t>페이지</a:t>
            </a:r>
            <a:r>
              <a:rPr sz="1100" b="0" dirty="0">
                <a:solidFill>
                  <a:srgbClr val="5C5C5C"/>
                </a:solidFill>
                <a:latin typeface="에이투지체 5 Medium"/>
                <a:ea typeface="에이투지체 5 Medium"/>
                <a:cs typeface="에이투지체 5 Medium"/>
              </a:rPr>
              <a:t> </a:t>
            </a:r>
            <a:r>
              <a:rPr sz="1100" b="0" dirty="0" err="1">
                <a:solidFill>
                  <a:srgbClr val="5C5C5C"/>
                </a:solidFill>
                <a:latin typeface="에이투지체 5 Medium"/>
                <a:ea typeface="에이투지체 5 Medium"/>
                <a:cs typeface="에이투지체 5 Medium"/>
              </a:rPr>
              <a:t>추가구성</a:t>
            </a:r>
            <a:r>
              <a:rPr sz="1100" b="0" dirty="0">
                <a:solidFill>
                  <a:srgbClr val="5C5C5C"/>
                </a:solidFill>
                <a:latin typeface="에이투지체 5 Medium"/>
                <a:ea typeface="에이투지체 5 Medium"/>
                <a:cs typeface="에이투지체 5 Medium"/>
              </a:rPr>
              <a:t> </a:t>
            </a:r>
          </a:p>
        </p:txBody>
      </p:sp>
      <p:sp>
        <p:nvSpPr>
          <p:cNvPr id="5" name="Rounded Rectangle 4"/>
          <p:cNvSpPr/>
          <p:nvPr/>
        </p:nvSpPr>
        <p:spPr>
          <a:xfrm>
            <a:off x="548640" y="5577840"/>
            <a:ext cx="11064240" cy="438912"/>
          </a:xfrm>
          <a:prstGeom prst="roundRect">
            <a:avLst>
              <a:gd name="adj" fmla="val 16666"/>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 y="5632704"/>
            <a:ext cx="10671048" cy="347472"/>
          </a:xfrm>
          <a:prstGeom prst="rect">
            <a:avLst/>
          </a:prstGeom>
          <a:noFill/>
        </p:spPr>
        <p:txBody>
          <a:bodyPr wrap="square" lIns="0" tIns="0" rIns="0" bIns="0" anchor="ctr">
            <a:spAutoFit/>
          </a:bodyPr>
          <a:lstStyle/>
          <a:p>
            <a:pPr algn="l"/>
            <a:r>
              <a:rPr sz="1350" b="0">
                <a:solidFill>
                  <a:srgbClr val="004F9F"/>
                </a:solidFill>
                <a:latin typeface="에이투지체 6 SemiBold"/>
                <a:ea typeface="에이투지체 6 SemiBold"/>
                <a:cs typeface="에이투지체 6 SemiBold"/>
              </a:rPr>
              <a:t>추가구성 변경은 판매 채널 담당과 협의하고, 변경 전후 광고 유입 고객의 구매 전환율과 객단가를 비교해 공유합니다</a:t>
            </a:r>
          </a:p>
        </p:txBody>
      </p:sp>
      <p:sp>
        <p:nvSpPr>
          <p:cNvPr id="7" name="TextBox 6"/>
          <p:cNvSpPr txBox="1"/>
          <p:nvPr/>
        </p:nvSpPr>
        <p:spPr>
          <a:xfrm>
            <a:off x="548640" y="6089904"/>
            <a:ext cx="11064240" cy="274320"/>
          </a:xfrm>
          <a:prstGeom prst="rect">
            <a:avLst/>
          </a:prstGeom>
          <a:noFill/>
        </p:spPr>
        <p:txBody>
          <a:bodyPr wrap="square" lIns="0" tIns="0" rIns="0" bIns="0" anchor="t">
            <a:spAutoFit/>
          </a:bodyPr>
          <a:lstStyle/>
          <a:p>
            <a:pPr algn="l"/>
            <a:r>
              <a:rPr sz="850" b="0">
                <a:solidFill>
                  <a:srgbClr val="919191"/>
                </a:solidFill>
                <a:latin typeface="에이투지체 3 Light"/>
                <a:ea typeface="에이투지체 3 Light"/>
                <a:cs typeface="에이투지체 3 Light"/>
              </a:rPr>
              <a:t>2026.10.13 지마켓 키움정 3박스, 두드림 아이클타임 키성장 FGO 1박스 상품 페이지 기준 / 추가구성 변경은 판매 채널 담당과 협의</a:t>
            </a:r>
          </a:p>
        </p:txBody>
      </p:sp>
      <p:sp>
        <p:nvSpPr>
          <p:cNvPr id="8" name="TextBox 7"/>
          <p:cNvSpPr txBox="1"/>
          <p:nvPr/>
        </p:nvSpPr>
        <p:spPr>
          <a:xfrm>
            <a:off x="548640" y="6473952"/>
            <a:ext cx="4206240" cy="274320"/>
          </a:xfrm>
          <a:prstGeom prst="rect">
            <a:avLst/>
          </a:prstGeom>
          <a:noFill/>
        </p:spPr>
        <p:txBody>
          <a:bodyPr wrap="square" lIns="0" tIns="0" rIns="0" bIns="0" anchor="t">
            <a:spAutoFit/>
          </a:bodyPr>
          <a:lstStyle/>
          <a:p>
            <a:pPr algn="l"/>
            <a:r>
              <a:rPr sz="800" b="0">
                <a:solidFill>
                  <a:srgbClr val="919191"/>
                </a:solidFill>
                <a:latin typeface="에이투지체 3 Light"/>
                <a:ea typeface="에이투지체 3 Light"/>
                <a:cs typeface="에이투지체 3 Light"/>
              </a:rPr>
              <a:t>DODREAM B&amp;B AD PROPOSAL · 2026</a:t>
            </a:r>
          </a:p>
        </p:txBody>
      </p:sp>
      <p:sp>
        <p:nvSpPr>
          <p:cNvPr id="9" name="TextBox 8"/>
          <p:cNvSpPr txBox="1"/>
          <p:nvPr/>
        </p:nvSpPr>
        <p:spPr>
          <a:xfrm>
            <a:off x="8138160" y="6473952"/>
            <a:ext cx="3017520" cy="274320"/>
          </a:xfrm>
          <a:prstGeom prst="rect">
            <a:avLst/>
          </a:prstGeom>
          <a:noFill/>
        </p:spPr>
        <p:txBody>
          <a:bodyPr wrap="square" lIns="0" tIns="0" rIns="0" bIns="0" anchor="t">
            <a:spAutoFit/>
          </a:bodyPr>
          <a:lstStyle/>
          <a:p>
            <a:pPr algn="r"/>
            <a:r>
              <a:rPr sz="800" b="0">
                <a:solidFill>
                  <a:srgbClr val="919191"/>
                </a:solidFill>
                <a:latin typeface="에이투지체 3 Light"/>
                <a:ea typeface="에이투지체 3 Light"/>
                <a:cs typeface="에이투지체 3 Light"/>
              </a:rPr>
              <a:t>LINKPRICE · BRAND AD CENTER</a:t>
            </a:r>
          </a:p>
        </p:txBody>
      </p:sp>
      <p:sp>
        <p:nvSpPr>
          <p:cNvPr id="10" name="TextBox 9"/>
          <p:cNvSpPr txBox="1"/>
          <p:nvPr/>
        </p:nvSpPr>
        <p:spPr>
          <a:xfrm>
            <a:off x="11292840" y="6473952"/>
            <a:ext cx="365760" cy="274320"/>
          </a:xfrm>
          <a:prstGeom prst="rect">
            <a:avLst/>
          </a:prstGeom>
          <a:noFill/>
        </p:spPr>
        <p:txBody>
          <a:bodyPr wrap="square" lIns="0" tIns="0" rIns="0" bIns="0" anchor="t">
            <a:spAutoFit/>
          </a:bodyPr>
          <a:lstStyle/>
          <a:p>
            <a:pPr algn="r"/>
            <a:r>
              <a:rPr sz="800" b="0">
                <a:solidFill>
                  <a:srgbClr val="222222"/>
                </a:solidFill>
                <a:latin typeface="에이투지체 6 SemiBold"/>
                <a:ea typeface="에이투지체 6 SemiBold"/>
                <a:cs typeface="에이투지체 6 SemiBold"/>
              </a:rPr>
              <a:t>45</a:t>
            </a:r>
          </a:p>
        </p:txBody>
      </p:sp>
      <p:sp>
        <p:nvSpPr>
          <p:cNvPr id="11" name="TextBox 10"/>
          <p:cNvSpPr txBox="1"/>
          <p:nvPr/>
        </p:nvSpPr>
        <p:spPr>
          <a:xfrm>
            <a:off x="548640" y="1993392"/>
            <a:ext cx="2651760" cy="292608"/>
          </a:xfrm>
          <a:prstGeom prst="rect">
            <a:avLst/>
          </a:prstGeom>
          <a:noFill/>
        </p:spPr>
        <p:txBody>
          <a:bodyPr wrap="square" lIns="0" tIns="0" rIns="0" bIns="0" anchor="t">
            <a:spAutoFit/>
          </a:bodyPr>
          <a:lstStyle/>
          <a:p>
            <a:pPr algn="l"/>
            <a:r>
              <a:rPr sz="1250" b="0">
                <a:solidFill>
                  <a:srgbClr val="004F9F"/>
                </a:solidFill>
                <a:latin typeface="에이투지체 8 ExtraBold"/>
                <a:ea typeface="에이투지체 8 ExtraBold"/>
                <a:cs typeface="에이투지체 8 ExtraBold"/>
              </a:rPr>
              <a:t>경쟁사  </a:t>
            </a:r>
            <a:r>
              <a:rPr sz="1250" b="0">
                <a:solidFill>
                  <a:srgbClr val="222222"/>
                </a:solidFill>
                <a:latin typeface="에이투지체 6 SemiBold"/>
                <a:ea typeface="에이투지체 6 SemiBold"/>
                <a:cs typeface="에이투지체 6 SemiBold"/>
              </a:rPr>
              <a:t>키움정 3박스</a:t>
            </a:r>
          </a:p>
        </p:txBody>
      </p:sp>
      <p:pic>
        <p:nvPicPr>
          <p:cNvPr id="12" name="Picture 11" descr="g_kium_opt.png"/>
          <p:cNvPicPr>
            <a:picLocks noChangeAspect="1"/>
          </p:cNvPicPr>
          <p:nvPr/>
        </p:nvPicPr>
        <p:blipFill>
          <a:blip r:embed="rId2"/>
          <a:stretch>
            <a:fillRect/>
          </a:stretch>
        </p:blipFill>
        <p:spPr>
          <a:xfrm>
            <a:off x="548640" y="2331720"/>
            <a:ext cx="2514600" cy="3054319"/>
          </a:xfrm>
          <a:prstGeom prst="rect">
            <a:avLst/>
          </a:prstGeom>
          <a:ln w="9525">
            <a:solidFill>
              <a:srgbClr val="DDDDDD"/>
            </a:solidFill>
          </a:ln>
        </p:spPr>
      </p:pic>
      <p:sp>
        <p:nvSpPr>
          <p:cNvPr id="13" name="TextBox 12"/>
          <p:cNvSpPr txBox="1"/>
          <p:nvPr/>
        </p:nvSpPr>
        <p:spPr>
          <a:xfrm>
            <a:off x="3291840" y="1993392"/>
            <a:ext cx="3200400" cy="292608"/>
          </a:xfrm>
          <a:prstGeom prst="rect">
            <a:avLst/>
          </a:prstGeom>
          <a:noFill/>
        </p:spPr>
        <p:txBody>
          <a:bodyPr wrap="square" lIns="0" tIns="0" rIns="0" bIns="0" anchor="t">
            <a:spAutoFit/>
          </a:bodyPr>
          <a:lstStyle/>
          <a:p>
            <a:pPr algn="l"/>
            <a:r>
              <a:rPr sz="1250" b="0">
                <a:solidFill>
                  <a:srgbClr val="004F9F"/>
                </a:solidFill>
                <a:latin typeface="에이투지체 8 ExtraBold"/>
                <a:ea typeface="에이투지체 8 ExtraBold"/>
                <a:cs typeface="에이투지체 8 ExtraBold"/>
              </a:rPr>
              <a:t>두드림  </a:t>
            </a:r>
            <a:r>
              <a:rPr sz="1250" b="0">
                <a:solidFill>
                  <a:srgbClr val="222222"/>
                </a:solidFill>
                <a:latin typeface="에이투지체 6 SemiBold"/>
                <a:ea typeface="에이투지체 6 SemiBold"/>
                <a:cs typeface="에이투지체 6 SemiBold"/>
              </a:rPr>
              <a:t>키성장 FGO 1박스</a:t>
            </a:r>
          </a:p>
        </p:txBody>
      </p:sp>
      <p:pic>
        <p:nvPicPr>
          <p:cNvPr id="14" name="Picture 13" descr="dd_opt.png"/>
          <p:cNvPicPr>
            <a:picLocks noChangeAspect="1"/>
          </p:cNvPicPr>
          <p:nvPr/>
        </p:nvPicPr>
        <p:blipFill>
          <a:blip r:embed="rId3"/>
          <a:stretch>
            <a:fillRect/>
          </a:stretch>
        </p:blipFill>
        <p:spPr>
          <a:xfrm>
            <a:off x="3291840" y="2331720"/>
            <a:ext cx="3108960" cy="2366264"/>
          </a:xfrm>
          <a:prstGeom prst="rect">
            <a:avLst/>
          </a:prstGeom>
          <a:ln w="9525">
            <a:solidFill>
              <a:srgbClr val="DDDDDD"/>
            </a:solidFill>
          </a:ln>
        </p:spPr>
      </p:pic>
      <p:sp>
        <p:nvSpPr>
          <p:cNvPr id="15" name="TextBox 14"/>
          <p:cNvSpPr txBox="1"/>
          <p:nvPr/>
        </p:nvSpPr>
        <p:spPr>
          <a:xfrm>
            <a:off x="3291840" y="4800600"/>
            <a:ext cx="3154680" cy="548640"/>
          </a:xfrm>
          <a:prstGeom prst="rect">
            <a:avLst/>
          </a:prstGeom>
          <a:noFill/>
        </p:spPr>
        <p:txBody>
          <a:bodyPr wrap="square" lIns="0" tIns="0" rIns="0" bIns="0" anchor="t">
            <a:spAutoFit/>
          </a:bodyPr>
          <a:lstStyle/>
          <a:p>
            <a:pPr algn="l">
              <a:spcAft>
                <a:spcPts val="200"/>
              </a:spcAft>
            </a:pPr>
            <a:r>
              <a:rPr sz="950" b="0">
                <a:solidFill>
                  <a:srgbClr val="5C5C5C"/>
                </a:solidFill>
                <a:latin typeface="에이투지체 4 Regular"/>
                <a:ea typeface="에이투지체 4 Regular"/>
                <a:cs typeface="에이투지체 4 Regular"/>
              </a:rPr>
              <a:t>같은 상품의 박스 수 구성이 이어지는 형태</a:t>
            </a:r>
          </a:p>
          <a:p>
            <a:pPr algn="l">
              <a:spcAft>
                <a:spcPts val="200"/>
              </a:spcAft>
            </a:pPr>
            <a:r>
              <a:rPr sz="950" b="0">
                <a:solidFill>
                  <a:srgbClr val="5C5C5C"/>
                </a:solidFill>
                <a:latin typeface="에이투지체 4 Regular"/>
                <a:ea typeface="에이투지체 4 Regular"/>
                <a:cs typeface="에이투지체 4 Regular"/>
              </a:rPr>
              <a:t>(오메가3 젤리 4, 6박스 / 키즈 종합비타민 2, 3박스 등)</a:t>
            </a:r>
          </a:p>
        </p:txBody>
      </p:sp>
      <p:sp>
        <p:nvSpPr>
          <p:cNvPr id="16" name="Rounded Rectangle 15"/>
          <p:cNvSpPr/>
          <p:nvPr/>
        </p:nvSpPr>
        <p:spPr>
          <a:xfrm>
            <a:off x="6675120" y="2331720"/>
            <a:ext cx="4937760" cy="3017520"/>
          </a:xfrm>
          <a:prstGeom prst="roundRect">
            <a:avLst>
              <a:gd name="adj" fmla="val 2424"/>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903720" y="2450592"/>
            <a:ext cx="4480560" cy="320040"/>
          </a:xfrm>
          <a:prstGeom prst="rect">
            <a:avLst/>
          </a:prstGeom>
          <a:noFill/>
        </p:spPr>
        <p:txBody>
          <a:bodyPr wrap="square" lIns="0" tIns="0" rIns="0" bIns="0" anchor="t">
            <a:spAutoFit/>
          </a:bodyPr>
          <a:lstStyle/>
          <a:p>
            <a:pPr algn="l"/>
            <a:r>
              <a:rPr sz="1350" b="0">
                <a:solidFill>
                  <a:srgbClr val="222222"/>
                </a:solidFill>
                <a:latin typeface="에이투지체 8 ExtraBold"/>
                <a:ea typeface="에이투지체 8 ExtraBold"/>
                <a:cs typeface="에이투지체 8 ExtraBold"/>
              </a:rPr>
              <a:t>추가구성 제안 방향</a:t>
            </a:r>
          </a:p>
        </p:txBody>
      </p:sp>
      <p:sp>
        <p:nvSpPr>
          <p:cNvPr id="18" name="TextBox 17"/>
          <p:cNvSpPr txBox="1"/>
          <p:nvPr/>
        </p:nvSpPr>
        <p:spPr>
          <a:xfrm>
            <a:off x="6903720" y="2880360"/>
            <a:ext cx="4526280" cy="2377440"/>
          </a:xfrm>
          <a:prstGeom prst="rect">
            <a:avLst/>
          </a:prstGeom>
          <a:noFill/>
        </p:spPr>
        <p:txBody>
          <a:bodyPr wrap="square" lIns="0" tIns="0" rIns="0" bIns="0" anchor="t">
            <a:spAutoFit/>
          </a:bodyPr>
          <a:lstStyle/>
          <a:p>
            <a:pPr algn="l">
              <a:spcAft>
                <a:spcPts val="600"/>
              </a:spcAft>
            </a:pPr>
            <a:r>
              <a:rPr sz="1100" b="0">
                <a:solidFill>
                  <a:srgbClr val="004F9F"/>
                </a:solidFill>
                <a:latin typeface="에이투지체 6 SemiBold"/>
                <a:ea typeface="에이투지체 6 SemiBold"/>
                <a:cs typeface="에이투지체 6 SemiBold"/>
              </a:rPr>
              <a:t>키움정  </a:t>
            </a:r>
            <a:r>
              <a:rPr sz="1100" b="0">
                <a:solidFill>
                  <a:srgbClr val="222222"/>
                </a:solidFill>
                <a:latin typeface="에이투지체 4 Regular"/>
                <a:ea typeface="에이투지체 4 Regular"/>
                <a:cs typeface="에이투지체 4 Regular"/>
              </a:rPr>
              <a:t>유산균, 멀티비타민, 구미젤리 세트 등 옵션마다 다른 상품이 보여, 구경하며 함께 눌러보게 됨</a:t>
            </a:r>
          </a:p>
          <a:p>
            <a:pPr algn="l">
              <a:spcAft>
                <a:spcPts val="600"/>
              </a:spcAft>
            </a:pPr>
            <a:r>
              <a:rPr sz="1100" b="0">
                <a:solidFill>
                  <a:srgbClr val="004F9F"/>
                </a:solidFill>
                <a:latin typeface="에이투지체 6 SemiBold"/>
                <a:ea typeface="에이투지체 6 SemiBold"/>
                <a:cs typeface="에이투지체 6 SemiBold"/>
              </a:rPr>
              <a:t>두드림  </a:t>
            </a:r>
            <a:r>
              <a:rPr sz="1100" b="0">
                <a:solidFill>
                  <a:srgbClr val="222222"/>
                </a:solidFill>
                <a:latin typeface="에이투지체 4 Regular"/>
                <a:ea typeface="에이투지체 4 Regular"/>
                <a:cs typeface="에이투지체 4 Regular"/>
              </a:rPr>
              <a:t>같은 상품의 박스 수 구성이 연달아 이어져, 다른 상품이 눈에 덜 띔</a:t>
            </a:r>
          </a:p>
          <a:p>
            <a:pPr algn="l">
              <a:spcAft>
                <a:spcPts val="600"/>
              </a:spcAft>
            </a:pPr>
            <a:r>
              <a:rPr sz="1100" b="0">
                <a:solidFill>
                  <a:srgbClr val="004F9F"/>
                </a:solidFill>
                <a:latin typeface="에이투지체 6 SemiBold"/>
                <a:ea typeface="에이투지체 6 SemiBold"/>
                <a:cs typeface="에이투지체 6 SemiBold"/>
              </a:rPr>
              <a:t>제안  </a:t>
            </a:r>
            <a:r>
              <a:rPr sz="1100" b="0">
                <a:solidFill>
                  <a:srgbClr val="222222"/>
                </a:solidFill>
                <a:latin typeface="에이투지체 4 Regular"/>
                <a:ea typeface="에이투지체 4 Regular"/>
                <a:cs typeface="에이투지체 4 Regular"/>
              </a:rPr>
              <a:t>상단에 성장 패키지 (FGO + 칼마디, FGO + 칼마디 + 철분)</a:t>
            </a:r>
          </a:p>
          <a:p>
            <a:pPr algn="l">
              <a:spcAft>
                <a:spcPts val="600"/>
              </a:spcAft>
            </a:pPr>
            <a:r>
              <a:rPr sz="1100" b="0">
                <a:solidFill>
                  <a:srgbClr val="222222"/>
                </a:solidFill>
                <a:latin typeface="에이투지체 4 Regular"/>
                <a:ea typeface="에이투지체 4 Regular"/>
                <a:cs typeface="에이투지체 4 Regular"/>
              </a:rPr>
              <a:t>      상품마다 대표 구성 1개씩, 다양한 상품이 보이게</a:t>
            </a:r>
          </a:p>
          <a:p>
            <a:pPr algn="l">
              <a:spcAft>
                <a:spcPts val="600"/>
              </a:spcAft>
            </a:pPr>
            <a:r>
              <a:rPr sz="1100" b="0">
                <a:solidFill>
                  <a:srgbClr val="222222"/>
                </a:solidFill>
                <a:latin typeface="에이투지체 4 Regular"/>
                <a:ea typeface="에이투지체 4 Regular"/>
                <a:cs typeface="에이투지체 4 Regular"/>
              </a:rPr>
              <a:t>      행사 기간 사은품 구성 검토</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ctr"/>
          <a:lstStyle/>
          <a:p>
            <a:pPr algn="l"/>
            <a:r>
              <a:rPr sz="900" b="0" spc="100">
                <a:solidFill>
                  <a:srgbClr val="004F9F"/>
                </a:solidFill>
                <a:latin typeface="에이투지체 6 SemiBold"/>
                <a:ea typeface="에이투지체 6 SemiBold"/>
                <a:cs typeface="에이투지체 6 SemiBold"/>
              </a:rPr>
              <a:t>PART 2 · 11월 마케팅 전략 · 미디어믹스</a:t>
            </a:r>
          </a:p>
        </p:txBody>
      </p:sp>
      <p:sp>
        <p:nvSpPr>
          <p:cNvPr id="3" name="TextBox 2"/>
          <p:cNvSpPr txBox="1"/>
          <p:nvPr/>
        </p:nvSpPr>
        <p:spPr>
          <a:xfrm>
            <a:off x="548640" y="658368"/>
            <a:ext cx="11064240" cy="868680"/>
          </a:xfrm>
          <a:prstGeom prst="rect">
            <a:avLst/>
          </a:prstGeom>
          <a:noFill/>
        </p:spPr>
        <p:txBody>
          <a:bodyPr wrap="square" lIns="0" tIns="0" rIns="0" bIns="0" anchor="ctr"/>
          <a:lstStyle/>
          <a:p>
            <a:pPr>
              <a:lnSpc>
                <a:spcPts val="2600"/>
              </a:lnSpc>
            </a:pPr>
            <a:r>
              <a:rPr sz="1900" b="0">
                <a:solidFill>
                  <a:srgbClr val="FFFFFF"/>
                </a:solidFill>
                <a:highlight>
                  <a:srgbClr val="0000FF"/>
                </a:highlight>
                <a:latin typeface="에이투지체 8 ExtraBold"/>
                <a:ea typeface="에이투지체 8 ExtraBold"/>
                <a:cs typeface="에이투지체 8 ExtraBold"/>
              </a:rPr>
              <a:t>11번가 주요 검색어의 광고에는</a:t>
            </a:r>
          </a:p>
          <a:p>
            <a:pPr>
              <a:lnSpc>
                <a:spcPts val="2600"/>
              </a:lnSpc>
            </a:pPr>
            <a:r>
              <a:rPr sz="1900" b="0">
                <a:solidFill>
                  <a:srgbClr val="222222"/>
                </a:solidFill>
                <a:latin typeface="에이투지체 8 ExtraBold"/>
                <a:ea typeface="에이투지체 8 ExtraBold"/>
                <a:cs typeface="에이투지체 8 ExtraBold"/>
              </a:rPr>
              <a:t>경쟁사와 다른 판매처 상품이 노출되고 있습니다</a:t>
            </a:r>
          </a:p>
        </p:txBody>
      </p:sp>
      <p:sp>
        <p:nvSpPr>
          <p:cNvPr id="4" name="TextBox 3"/>
          <p:cNvSpPr txBox="1"/>
          <p:nvPr/>
        </p:nvSpPr>
        <p:spPr>
          <a:xfrm>
            <a:off x="548640" y="1517904"/>
            <a:ext cx="11064240" cy="365760"/>
          </a:xfrm>
          <a:prstGeom prst="rect">
            <a:avLst/>
          </a:prstGeom>
          <a:noFill/>
        </p:spPr>
        <p:txBody>
          <a:bodyPr wrap="square" lIns="0" tIns="0" rIns="0" bIns="0" anchor="ctr"/>
          <a:lstStyle/>
          <a:p>
            <a:pPr algn="l"/>
            <a:r>
              <a:rPr sz="1100" b="0">
                <a:solidFill>
                  <a:srgbClr val="5C5C5C"/>
                </a:solidFill>
                <a:latin typeface="에이투지체 5 Medium"/>
                <a:ea typeface="에이투지체 5 Medium"/>
                <a:cs typeface="에이투지체 5 Medium"/>
              </a:rPr>
              <a:t>11번가 현황 진단</a:t>
            </a:r>
          </a:p>
        </p:txBody>
      </p:sp>
      <p:sp>
        <p:nvSpPr>
          <p:cNvPr id="5" name="Rounded Rectangle 4"/>
          <p:cNvSpPr/>
          <p:nvPr/>
        </p:nvSpPr>
        <p:spPr>
          <a:xfrm>
            <a:off x="548640" y="5577840"/>
            <a:ext cx="11064240" cy="438912"/>
          </a:xfrm>
          <a:prstGeom prst="roundRect">
            <a:avLst>
              <a:gd name="adj" fmla="val 16666"/>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 y="5632704"/>
            <a:ext cx="10671048" cy="347472"/>
          </a:xfrm>
          <a:prstGeom prst="rect">
            <a:avLst/>
          </a:prstGeom>
          <a:noFill/>
        </p:spPr>
        <p:txBody>
          <a:bodyPr wrap="square" lIns="0" tIns="0" rIns="0" bIns="0" anchor="ctr">
            <a:spAutoFit/>
          </a:bodyPr>
          <a:lstStyle/>
          <a:p>
            <a:pPr algn="l"/>
            <a:r>
              <a:rPr sz="1350" b="0">
                <a:solidFill>
                  <a:srgbClr val="004F9F"/>
                </a:solidFill>
                <a:latin typeface="에이투지체 6 SemiBold"/>
                <a:ea typeface="에이투지체 6 SemiBold"/>
                <a:cs typeface="에이투지체 6 SemiBold"/>
              </a:rPr>
              <a:t>11번가는 공식 스토어 대표 상품부터 브랜드 검색어에서 보이게 하겠습니다</a:t>
            </a:r>
          </a:p>
        </p:txBody>
      </p:sp>
      <p:sp>
        <p:nvSpPr>
          <p:cNvPr id="7" name="TextBox 6"/>
          <p:cNvSpPr txBox="1"/>
          <p:nvPr/>
        </p:nvSpPr>
        <p:spPr>
          <a:xfrm>
            <a:off x="548640" y="6089904"/>
            <a:ext cx="11064240" cy="274320"/>
          </a:xfrm>
          <a:prstGeom prst="rect">
            <a:avLst/>
          </a:prstGeom>
          <a:noFill/>
        </p:spPr>
        <p:txBody>
          <a:bodyPr wrap="square" lIns="0" tIns="0" rIns="0" bIns="0" anchor="t">
            <a:spAutoFit/>
          </a:bodyPr>
          <a:lstStyle/>
          <a:p>
            <a:pPr algn="l"/>
            <a:r>
              <a:rPr sz="850" b="0">
                <a:solidFill>
                  <a:srgbClr val="919191"/>
                </a:solidFill>
                <a:latin typeface="에이투지체 3 Light"/>
                <a:ea typeface="에이투지체 3 Light"/>
                <a:cs typeface="에이투지체 3 Light"/>
              </a:rPr>
              <a:t>2026.10.13 11번가 PC 검색 화면 기준. 검색 결과는 새로고침, 사용자별로 달라짐 / 괄호는 리뷰 수</a:t>
            </a:r>
          </a:p>
        </p:txBody>
      </p:sp>
      <p:sp>
        <p:nvSpPr>
          <p:cNvPr id="8" name="TextBox 7"/>
          <p:cNvSpPr txBox="1"/>
          <p:nvPr/>
        </p:nvSpPr>
        <p:spPr>
          <a:xfrm>
            <a:off x="548640" y="6473952"/>
            <a:ext cx="4206240" cy="274320"/>
          </a:xfrm>
          <a:prstGeom prst="rect">
            <a:avLst/>
          </a:prstGeom>
          <a:noFill/>
        </p:spPr>
        <p:txBody>
          <a:bodyPr wrap="square" lIns="0" tIns="0" rIns="0" bIns="0" anchor="t">
            <a:spAutoFit/>
          </a:bodyPr>
          <a:lstStyle/>
          <a:p>
            <a:pPr algn="l"/>
            <a:r>
              <a:rPr sz="800" b="0">
                <a:solidFill>
                  <a:srgbClr val="919191"/>
                </a:solidFill>
                <a:latin typeface="에이투지체 3 Light"/>
                <a:ea typeface="에이투지체 3 Light"/>
                <a:cs typeface="에이투지체 3 Light"/>
              </a:rPr>
              <a:t>DODREAM B&amp;B AD PROPOSAL · 2026</a:t>
            </a:r>
          </a:p>
        </p:txBody>
      </p:sp>
      <p:sp>
        <p:nvSpPr>
          <p:cNvPr id="9" name="TextBox 8"/>
          <p:cNvSpPr txBox="1"/>
          <p:nvPr/>
        </p:nvSpPr>
        <p:spPr>
          <a:xfrm>
            <a:off x="8138160" y="6473952"/>
            <a:ext cx="3017520" cy="274320"/>
          </a:xfrm>
          <a:prstGeom prst="rect">
            <a:avLst/>
          </a:prstGeom>
          <a:noFill/>
        </p:spPr>
        <p:txBody>
          <a:bodyPr wrap="square" lIns="0" tIns="0" rIns="0" bIns="0" anchor="t">
            <a:spAutoFit/>
          </a:bodyPr>
          <a:lstStyle/>
          <a:p>
            <a:pPr algn="r"/>
            <a:r>
              <a:rPr sz="800" b="0">
                <a:solidFill>
                  <a:srgbClr val="919191"/>
                </a:solidFill>
                <a:latin typeface="에이투지체 3 Light"/>
                <a:ea typeface="에이투지체 3 Light"/>
                <a:cs typeface="에이투지체 3 Light"/>
              </a:rPr>
              <a:t>LINKPRICE · BRAND AD CENTER</a:t>
            </a:r>
          </a:p>
        </p:txBody>
      </p:sp>
      <p:sp>
        <p:nvSpPr>
          <p:cNvPr id="10" name="TextBox 9"/>
          <p:cNvSpPr txBox="1"/>
          <p:nvPr/>
        </p:nvSpPr>
        <p:spPr>
          <a:xfrm>
            <a:off x="11292840" y="6473952"/>
            <a:ext cx="365760" cy="274320"/>
          </a:xfrm>
          <a:prstGeom prst="rect">
            <a:avLst/>
          </a:prstGeom>
          <a:noFill/>
        </p:spPr>
        <p:txBody>
          <a:bodyPr wrap="square" lIns="0" tIns="0" rIns="0" bIns="0" anchor="t">
            <a:spAutoFit/>
          </a:bodyPr>
          <a:lstStyle/>
          <a:p>
            <a:pPr algn="r"/>
            <a:r>
              <a:rPr sz="800" b="0">
                <a:solidFill>
                  <a:srgbClr val="222222"/>
                </a:solidFill>
                <a:latin typeface="에이투지체 6 SemiBold"/>
                <a:ea typeface="에이투지체 6 SemiBold"/>
                <a:cs typeface="에이투지체 6 SemiBold"/>
              </a:rPr>
              <a:t>46</a:t>
            </a:r>
          </a:p>
        </p:txBody>
      </p:sp>
      <p:sp>
        <p:nvSpPr>
          <p:cNvPr id="11" name="Rounded Rectangle 10"/>
          <p:cNvSpPr/>
          <p:nvPr/>
        </p:nvSpPr>
        <p:spPr>
          <a:xfrm>
            <a:off x="548640" y="2103120"/>
            <a:ext cx="3447288" cy="1051560"/>
          </a:xfrm>
          <a:prstGeom prst="roundRect">
            <a:avLst>
              <a:gd name="adj" fmla="val 6956"/>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2157984"/>
            <a:ext cx="3017520" cy="530352"/>
          </a:xfrm>
          <a:prstGeom prst="rect">
            <a:avLst/>
          </a:prstGeom>
          <a:noFill/>
        </p:spPr>
        <p:txBody>
          <a:bodyPr wrap="square" lIns="0" tIns="0" rIns="0" bIns="0" anchor="t">
            <a:spAutoFit/>
          </a:bodyPr>
          <a:lstStyle/>
          <a:p>
            <a:pPr algn="l"/>
            <a:r>
              <a:rPr sz="2800" b="0">
                <a:solidFill>
                  <a:srgbClr val="004F9F"/>
                </a:solidFill>
                <a:latin typeface="에이투지체 8 ExtraBold"/>
                <a:ea typeface="에이투지체 8 ExtraBold"/>
                <a:cs typeface="에이투지체 8 ExtraBold"/>
              </a:rPr>
              <a:t>21개 중 0</a:t>
            </a:r>
          </a:p>
        </p:txBody>
      </p:sp>
      <p:sp>
        <p:nvSpPr>
          <p:cNvPr id="13" name="TextBox 12"/>
          <p:cNvSpPr txBox="1"/>
          <p:nvPr/>
        </p:nvSpPr>
        <p:spPr>
          <a:xfrm>
            <a:off x="777240" y="2724912"/>
            <a:ext cx="3017520" cy="176972"/>
          </a:xfrm>
          <a:prstGeom prst="rect">
            <a:avLst/>
          </a:prstGeom>
          <a:noFill/>
        </p:spPr>
        <p:txBody>
          <a:bodyPr wrap="square" lIns="0" tIns="0" rIns="0" bIns="0" anchor="t">
            <a:spAutoFit/>
          </a:bodyPr>
          <a:lstStyle/>
          <a:p>
            <a:pPr algn="l"/>
            <a:r>
              <a:rPr sz="1150" b="0" dirty="0" err="1">
                <a:solidFill>
                  <a:srgbClr val="5C5C5C"/>
                </a:solidFill>
                <a:latin typeface="에이투지체 6 SemiBold"/>
                <a:ea typeface="에이투지체 6 SemiBold"/>
                <a:cs typeface="에이투지체 6 SemiBold"/>
              </a:rPr>
              <a:t>키성장영양제</a:t>
            </a:r>
            <a:r>
              <a:rPr sz="1150" b="0" dirty="0">
                <a:solidFill>
                  <a:srgbClr val="5C5C5C"/>
                </a:solidFill>
                <a:latin typeface="에이투지체 6 SemiBold"/>
                <a:ea typeface="에이투지체 6 SemiBold"/>
                <a:cs typeface="에이투지체 6 SemiBold"/>
              </a:rPr>
              <a:t> </a:t>
            </a:r>
            <a:r>
              <a:rPr sz="1150" b="0" dirty="0" err="1">
                <a:solidFill>
                  <a:srgbClr val="5C5C5C"/>
                </a:solidFill>
                <a:latin typeface="에이투지체 6 SemiBold"/>
                <a:ea typeface="에이투지체 6 SemiBold"/>
                <a:cs typeface="에이투지체 6 SemiBold"/>
              </a:rPr>
              <a:t>광고</a:t>
            </a:r>
            <a:r>
              <a:rPr sz="1150" b="0" dirty="0">
                <a:solidFill>
                  <a:srgbClr val="5C5C5C"/>
                </a:solidFill>
                <a:latin typeface="에이투지체 6 SemiBold"/>
                <a:ea typeface="에이투지체 6 SemiBold"/>
                <a:cs typeface="에이투지체 6 SemiBold"/>
              </a:rPr>
              <a:t> </a:t>
            </a:r>
            <a:r>
              <a:rPr lang="ko-KR" altLang="en-US" sz="1150" dirty="0">
                <a:solidFill>
                  <a:srgbClr val="5C5C5C"/>
                </a:solidFill>
                <a:latin typeface="에이투지체 6 SemiBold"/>
                <a:ea typeface="에이투지체 6 SemiBold"/>
                <a:cs typeface="에이투지체 6 SemiBold"/>
              </a:rPr>
              <a:t>검색 결과</a:t>
            </a:r>
            <a:endParaRPr sz="1150" b="0" dirty="0">
              <a:solidFill>
                <a:srgbClr val="5C5C5C"/>
              </a:solidFill>
              <a:latin typeface="에이투지체 6 SemiBold"/>
              <a:ea typeface="에이투지체 6 SemiBold"/>
              <a:cs typeface="에이투지체 6 SemiBold"/>
            </a:endParaRPr>
          </a:p>
        </p:txBody>
      </p:sp>
      <p:sp>
        <p:nvSpPr>
          <p:cNvPr id="14" name="TextBox 13"/>
          <p:cNvSpPr txBox="1"/>
          <p:nvPr/>
        </p:nvSpPr>
        <p:spPr>
          <a:xfrm>
            <a:off x="548640" y="3337560"/>
            <a:ext cx="3447288" cy="365760"/>
          </a:xfrm>
          <a:prstGeom prst="rect">
            <a:avLst/>
          </a:prstGeom>
          <a:noFill/>
        </p:spPr>
        <p:txBody>
          <a:bodyPr wrap="square" lIns="0" tIns="0" rIns="0" bIns="0" anchor="t">
            <a:spAutoFit/>
          </a:bodyPr>
          <a:lstStyle/>
          <a:p>
            <a:pPr algn="l"/>
            <a:r>
              <a:rPr sz="1575" b="0">
                <a:solidFill>
                  <a:srgbClr val="222222"/>
                </a:solidFill>
                <a:latin typeface="에이투지체 6 SemiBold"/>
                <a:ea typeface="에이투지체 6 SemiBold"/>
                <a:cs typeface="에이투지체 6 SemiBold"/>
              </a:rPr>
              <a:t>대표 검색어 광고 전부 경쟁사</a:t>
            </a:r>
          </a:p>
        </p:txBody>
      </p:sp>
      <p:sp>
        <p:nvSpPr>
          <p:cNvPr id="15" name="TextBox 14"/>
          <p:cNvSpPr txBox="1"/>
          <p:nvPr/>
        </p:nvSpPr>
        <p:spPr>
          <a:xfrm>
            <a:off x="548640" y="3794760"/>
            <a:ext cx="3447288" cy="1051560"/>
          </a:xfrm>
          <a:prstGeom prst="rect">
            <a:avLst/>
          </a:prstGeom>
          <a:noFill/>
        </p:spPr>
        <p:txBody>
          <a:bodyPr wrap="square" lIns="0" tIns="0" rIns="0" bIns="0" anchor="t">
            <a:spAutoFit/>
          </a:bodyPr>
          <a:lstStyle/>
          <a:p>
            <a:pPr algn="l"/>
            <a:r>
              <a:rPr sz="1300" b="0">
                <a:solidFill>
                  <a:srgbClr val="5C5C5C"/>
                </a:solidFill>
                <a:latin typeface="에이투지체 4 Regular"/>
                <a:ea typeface="에이투지체 4 Regular"/>
                <a:cs typeface="에이투지체 4 Regular"/>
              </a:rPr>
              <a:t>고려은단 키즈하이 (36,858)</a:t>
            </a:r>
          </a:p>
          <a:p>
            <a:pPr algn="l"/>
            <a:r>
              <a:rPr sz="1300" b="0">
                <a:solidFill>
                  <a:srgbClr val="5C5C5C"/>
                </a:solidFill>
                <a:latin typeface="에이투지체 4 Regular"/>
                <a:ea typeface="에이투지체 4 Regular"/>
                <a:cs typeface="에이투지체 4 Regular"/>
              </a:rPr>
              <a:t>동국제약 키해피 FGO, 데일리플랜</a:t>
            </a:r>
          </a:p>
          <a:p>
            <a:pPr algn="l"/>
            <a:r>
              <a:rPr sz="1300" b="0">
                <a:solidFill>
                  <a:srgbClr val="5C5C5C"/>
                </a:solidFill>
                <a:latin typeface="에이투지체 4 Regular"/>
                <a:ea typeface="에이투지체 4 Regular"/>
                <a:cs typeface="에이투지체 4 Regular"/>
              </a:rPr>
              <a:t>키움정</a:t>
            </a:r>
          </a:p>
        </p:txBody>
      </p:sp>
      <p:cxnSp>
        <p:nvCxnSpPr>
          <p:cNvPr id="16" name="Connector 15"/>
          <p:cNvCxnSpPr/>
          <p:nvPr/>
        </p:nvCxnSpPr>
        <p:spPr>
          <a:xfrm>
            <a:off x="548640" y="4873752"/>
            <a:ext cx="3447288" cy="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48640" y="4983480"/>
            <a:ext cx="3447288" cy="365760"/>
          </a:xfrm>
          <a:prstGeom prst="rect">
            <a:avLst/>
          </a:prstGeom>
          <a:noFill/>
        </p:spPr>
        <p:txBody>
          <a:bodyPr wrap="square" lIns="0" tIns="0" rIns="0" bIns="0" anchor="t">
            <a:spAutoFit/>
          </a:bodyPr>
          <a:lstStyle/>
          <a:p>
            <a:pPr algn="l"/>
            <a:r>
              <a:rPr sz="1300" b="0">
                <a:solidFill>
                  <a:srgbClr val="004F9F"/>
                </a:solidFill>
                <a:latin typeface="에이투지체 6 SemiBold"/>
                <a:ea typeface="에이투지체 6 SemiBold"/>
                <a:cs typeface="에이투지체 6 SemiBold"/>
              </a:rPr>
              <a:t>카테고리 검색 수요가 경쟁 상품에 집중</a:t>
            </a:r>
          </a:p>
        </p:txBody>
      </p:sp>
      <p:sp>
        <p:nvSpPr>
          <p:cNvPr id="18" name="Rounded Rectangle 17"/>
          <p:cNvSpPr/>
          <p:nvPr/>
        </p:nvSpPr>
        <p:spPr>
          <a:xfrm>
            <a:off x="4361688" y="2103120"/>
            <a:ext cx="3447288" cy="1051560"/>
          </a:xfrm>
          <a:prstGeom prst="roundRect">
            <a:avLst>
              <a:gd name="adj" fmla="val 6956"/>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90288" y="2157984"/>
            <a:ext cx="3017520" cy="530352"/>
          </a:xfrm>
          <a:prstGeom prst="rect">
            <a:avLst/>
          </a:prstGeom>
          <a:noFill/>
        </p:spPr>
        <p:txBody>
          <a:bodyPr wrap="square" lIns="0" tIns="0" rIns="0" bIns="0" anchor="t">
            <a:spAutoFit/>
          </a:bodyPr>
          <a:lstStyle/>
          <a:p>
            <a:pPr algn="l"/>
            <a:r>
              <a:rPr sz="2800" b="0">
                <a:solidFill>
                  <a:srgbClr val="004F9F"/>
                </a:solidFill>
                <a:latin typeface="에이투지체 8 ExtraBold"/>
                <a:ea typeface="에이투지체 8 ExtraBold"/>
                <a:cs typeface="에이투지체 8 ExtraBold"/>
              </a:rPr>
              <a:t>리셀러</a:t>
            </a:r>
          </a:p>
        </p:txBody>
      </p:sp>
      <p:sp>
        <p:nvSpPr>
          <p:cNvPr id="20" name="TextBox 19"/>
          <p:cNvSpPr txBox="1"/>
          <p:nvPr/>
        </p:nvSpPr>
        <p:spPr>
          <a:xfrm>
            <a:off x="4590288" y="2724912"/>
            <a:ext cx="3017520" cy="176972"/>
          </a:xfrm>
          <a:prstGeom prst="rect">
            <a:avLst/>
          </a:prstGeom>
          <a:noFill/>
        </p:spPr>
        <p:txBody>
          <a:bodyPr wrap="square" lIns="0" tIns="0" rIns="0" bIns="0" anchor="t">
            <a:spAutoFit/>
          </a:bodyPr>
          <a:lstStyle/>
          <a:p>
            <a:pPr algn="l"/>
            <a:r>
              <a:rPr sz="1150" b="0" dirty="0" err="1">
                <a:solidFill>
                  <a:srgbClr val="5C5C5C"/>
                </a:solidFill>
                <a:latin typeface="에이투지체 6 SemiBold"/>
                <a:ea typeface="에이투지체 6 SemiBold"/>
                <a:cs typeface="에이투지체 6 SemiBold"/>
              </a:rPr>
              <a:t>아이클타임</a:t>
            </a:r>
            <a:r>
              <a:rPr sz="1150" b="0" dirty="0">
                <a:solidFill>
                  <a:srgbClr val="5C5C5C"/>
                </a:solidFill>
                <a:latin typeface="에이투지체 6 SemiBold"/>
                <a:ea typeface="에이투지체 6 SemiBold"/>
                <a:cs typeface="에이투지체 6 SemiBold"/>
              </a:rPr>
              <a:t> </a:t>
            </a:r>
            <a:r>
              <a:rPr sz="1150" b="0" dirty="0" err="1">
                <a:solidFill>
                  <a:srgbClr val="5C5C5C"/>
                </a:solidFill>
                <a:latin typeface="에이투지체 6 SemiBold"/>
                <a:ea typeface="에이투지체 6 SemiBold"/>
                <a:cs typeface="에이투지체 6 SemiBold"/>
              </a:rPr>
              <a:t>광고</a:t>
            </a:r>
            <a:r>
              <a:rPr sz="1150" b="0" dirty="0">
                <a:solidFill>
                  <a:srgbClr val="5C5C5C"/>
                </a:solidFill>
                <a:latin typeface="에이투지체 6 SemiBold"/>
                <a:ea typeface="에이투지체 6 SemiBold"/>
                <a:cs typeface="에이투지체 6 SemiBold"/>
              </a:rPr>
              <a:t> </a:t>
            </a:r>
            <a:r>
              <a:rPr lang="ko-KR" altLang="en-US" sz="1150" b="0" dirty="0">
                <a:solidFill>
                  <a:srgbClr val="5C5C5C"/>
                </a:solidFill>
                <a:latin typeface="에이투지체 6 SemiBold"/>
                <a:ea typeface="에이투지체 6 SemiBold"/>
                <a:cs typeface="에이투지체 6 SemiBold"/>
              </a:rPr>
              <a:t>검색 결과</a:t>
            </a:r>
            <a:endParaRPr sz="1150" b="0" dirty="0">
              <a:solidFill>
                <a:srgbClr val="5C5C5C"/>
              </a:solidFill>
              <a:latin typeface="에이투지체 6 SemiBold"/>
              <a:ea typeface="에이투지체 6 SemiBold"/>
              <a:cs typeface="에이투지체 6 SemiBold"/>
            </a:endParaRPr>
          </a:p>
        </p:txBody>
      </p:sp>
      <p:sp>
        <p:nvSpPr>
          <p:cNvPr id="21" name="TextBox 20"/>
          <p:cNvSpPr txBox="1"/>
          <p:nvPr/>
        </p:nvSpPr>
        <p:spPr>
          <a:xfrm>
            <a:off x="4361688" y="3337560"/>
            <a:ext cx="3447288" cy="365760"/>
          </a:xfrm>
          <a:prstGeom prst="rect">
            <a:avLst/>
          </a:prstGeom>
          <a:noFill/>
        </p:spPr>
        <p:txBody>
          <a:bodyPr wrap="square" lIns="0" tIns="0" rIns="0" bIns="0" anchor="t">
            <a:spAutoFit/>
          </a:bodyPr>
          <a:lstStyle/>
          <a:p>
            <a:pPr algn="l"/>
            <a:r>
              <a:rPr sz="1575" b="0">
                <a:solidFill>
                  <a:srgbClr val="222222"/>
                </a:solidFill>
                <a:latin typeface="에이투지체 6 SemiBold"/>
                <a:ea typeface="에이투지체 6 SemiBold"/>
                <a:cs typeface="에이투지체 6 SemiBold"/>
              </a:rPr>
              <a:t>브랜드 검색어도 공식 스토어 미노출</a:t>
            </a:r>
          </a:p>
        </p:txBody>
      </p:sp>
      <p:sp>
        <p:nvSpPr>
          <p:cNvPr id="22" name="TextBox 21"/>
          <p:cNvSpPr txBox="1"/>
          <p:nvPr/>
        </p:nvSpPr>
        <p:spPr>
          <a:xfrm>
            <a:off x="4361688" y="3794760"/>
            <a:ext cx="3447288" cy="1051560"/>
          </a:xfrm>
          <a:prstGeom prst="rect">
            <a:avLst/>
          </a:prstGeom>
          <a:noFill/>
        </p:spPr>
        <p:txBody>
          <a:bodyPr wrap="square" lIns="0" tIns="0" rIns="0" bIns="0" anchor="t">
            <a:spAutoFit/>
          </a:bodyPr>
          <a:lstStyle/>
          <a:p>
            <a:pPr algn="l"/>
            <a:r>
              <a:rPr sz="1300" b="0">
                <a:solidFill>
                  <a:srgbClr val="5C5C5C"/>
                </a:solidFill>
                <a:latin typeface="에이투지체 4 Regular"/>
                <a:ea typeface="에이투지체 4 Regular"/>
                <a:cs typeface="에이투지체 4 Regular"/>
              </a:rPr>
              <a:t>광고 5개: 고려은단 2, 리셀러 3</a:t>
            </a:r>
          </a:p>
          <a:p>
            <a:pPr algn="l"/>
            <a:r>
              <a:rPr sz="1300" b="0">
                <a:solidFill>
                  <a:srgbClr val="5C5C5C"/>
                </a:solidFill>
                <a:latin typeface="에이투지체 4 Regular"/>
                <a:ea typeface="에이투지체 4 Regular"/>
                <a:cs typeface="에이투지체 4 Regular"/>
              </a:rPr>
              <a:t>상위 30개에 공식 스토어 상품 없음</a:t>
            </a:r>
          </a:p>
          <a:p>
            <a:pPr algn="l"/>
            <a:r>
              <a:rPr sz="1300" b="0">
                <a:solidFill>
                  <a:srgbClr val="5C5C5C"/>
                </a:solidFill>
                <a:latin typeface="에이투지체 4 Regular"/>
                <a:ea typeface="에이투지체 4 Regular"/>
                <a:cs typeface="에이투지체 4 Regular"/>
              </a:rPr>
              <a:t>현대H몰, CJ, GS 등 판매처 노출</a:t>
            </a:r>
          </a:p>
        </p:txBody>
      </p:sp>
      <p:cxnSp>
        <p:nvCxnSpPr>
          <p:cNvPr id="23" name="Connector 22"/>
          <p:cNvCxnSpPr/>
          <p:nvPr/>
        </p:nvCxnSpPr>
        <p:spPr>
          <a:xfrm>
            <a:off x="4361688" y="4873752"/>
            <a:ext cx="3447287" cy="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361688" y="4983480"/>
            <a:ext cx="3447288" cy="365760"/>
          </a:xfrm>
          <a:prstGeom prst="rect">
            <a:avLst/>
          </a:prstGeom>
          <a:noFill/>
        </p:spPr>
        <p:txBody>
          <a:bodyPr wrap="square" lIns="0" tIns="0" rIns="0" bIns="0" anchor="t">
            <a:spAutoFit/>
          </a:bodyPr>
          <a:lstStyle/>
          <a:p>
            <a:pPr algn="l"/>
            <a:r>
              <a:rPr sz="1300" b="0">
                <a:solidFill>
                  <a:srgbClr val="004F9F"/>
                </a:solidFill>
                <a:latin typeface="에이투지체 6 SemiBold"/>
                <a:ea typeface="에이투지체 6 SemiBold"/>
                <a:cs typeface="에이투지체 6 SemiBold"/>
              </a:rPr>
              <a:t>브랜드 검색어부터 정비</a:t>
            </a:r>
          </a:p>
        </p:txBody>
      </p:sp>
      <p:sp>
        <p:nvSpPr>
          <p:cNvPr id="25" name="Rounded Rectangle 24"/>
          <p:cNvSpPr/>
          <p:nvPr/>
        </p:nvSpPr>
        <p:spPr>
          <a:xfrm>
            <a:off x="8174736" y="2103120"/>
            <a:ext cx="3447288" cy="1051560"/>
          </a:xfrm>
          <a:prstGeom prst="roundRect">
            <a:avLst>
              <a:gd name="adj" fmla="val 6956"/>
            </a:avLst>
          </a:prstGeom>
          <a:solidFill>
            <a:srgbClr val="0E3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403336" y="2157984"/>
            <a:ext cx="3017520" cy="530352"/>
          </a:xfrm>
          <a:prstGeom prst="rect">
            <a:avLst/>
          </a:prstGeom>
          <a:noFill/>
        </p:spPr>
        <p:txBody>
          <a:bodyPr wrap="square" lIns="0" tIns="0" rIns="0" bIns="0" anchor="t">
            <a:spAutoFit/>
          </a:bodyPr>
          <a:lstStyle/>
          <a:p>
            <a:pPr algn="l"/>
            <a:r>
              <a:rPr sz="2800" b="0">
                <a:solidFill>
                  <a:srgbClr val="FFFFFF"/>
                </a:solidFill>
                <a:latin typeface="에이투지체 8 ExtraBold"/>
                <a:ea typeface="에이투지체 8 ExtraBold"/>
                <a:cs typeface="에이투지체 8 ExtraBold"/>
              </a:rPr>
              <a:t>신규</a:t>
            </a:r>
          </a:p>
        </p:txBody>
      </p:sp>
      <p:sp>
        <p:nvSpPr>
          <p:cNvPr id="27" name="TextBox 26"/>
          <p:cNvSpPr txBox="1"/>
          <p:nvPr/>
        </p:nvSpPr>
        <p:spPr>
          <a:xfrm>
            <a:off x="8403336" y="2724912"/>
            <a:ext cx="3017520" cy="320040"/>
          </a:xfrm>
          <a:prstGeom prst="rect">
            <a:avLst/>
          </a:prstGeom>
          <a:noFill/>
        </p:spPr>
        <p:txBody>
          <a:bodyPr wrap="square" lIns="0" tIns="0" rIns="0" bIns="0" anchor="t">
            <a:spAutoFit/>
          </a:bodyPr>
          <a:lstStyle/>
          <a:p>
            <a:pPr algn="l"/>
            <a:r>
              <a:rPr sz="1150" b="0">
                <a:solidFill>
                  <a:srgbClr val="C9DAEE"/>
                </a:solidFill>
                <a:latin typeface="에이투지체 6 SemiBold"/>
                <a:ea typeface="에이투지체 6 SemiBold"/>
                <a:cs typeface="에이투지체 6 SemiBold"/>
              </a:rPr>
              <a:t>두드림 공식 스토어</a:t>
            </a:r>
          </a:p>
        </p:txBody>
      </p:sp>
      <p:sp>
        <p:nvSpPr>
          <p:cNvPr id="28" name="TextBox 27"/>
          <p:cNvSpPr txBox="1"/>
          <p:nvPr/>
        </p:nvSpPr>
        <p:spPr>
          <a:xfrm>
            <a:off x="8174736" y="3337560"/>
            <a:ext cx="3447288" cy="365760"/>
          </a:xfrm>
          <a:prstGeom prst="rect">
            <a:avLst/>
          </a:prstGeom>
          <a:noFill/>
        </p:spPr>
        <p:txBody>
          <a:bodyPr wrap="square" lIns="0" tIns="0" rIns="0" bIns="0" anchor="t">
            <a:spAutoFit/>
          </a:bodyPr>
          <a:lstStyle/>
          <a:p>
            <a:pPr algn="l"/>
            <a:r>
              <a:rPr sz="1575" b="0">
                <a:solidFill>
                  <a:srgbClr val="222222"/>
                </a:solidFill>
                <a:latin typeface="에이투지체 6 SemiBold"/>
                <a:ea typeface="에이투지체 6 SemiBold"/>
                <a:cs typeface="에이투지체 6 SemiBold"/>
              </a:rPr>
              <a:t>리뷰 없이 시작하는 단계</a:t>
            </a:r>
          </a:p>
        </p:txBody>
      </p:sp>
      <p:sp>
        <p:nvSpPr>
          <p:cNvPr id="29" name="TextBox 28"/>
          <p:cNvSpPr txBox="1"/>
          <p:nvPr/>
        </p:nvSpPr>
        <p:spPr>
          <a:xfrm>
            <a:off x="8174736" y="3794760"/>
            <a:ext cx="3447288" cy="1051560"/>
          </a:xfrm>
          <a:prstGeom prst="rect">
            <a:avLst/>
          </a:prstGeom>
          <a:noFill/>
        </p:spPr>
        <p:txBody>
          <a:bodyPr wrap="square" lIns="0" tIns="0" rIns="0" bIns="0" anchor="t">
            <a:spAutoFit/>
          </a:bodyPr>
          <a:lstStyle/>
          <a:p>
            <a:pPr algn="l"/>
            <a:r>
              <a:rPr sz="1300" b="0">
                <a:solidFill>
                  <a:srgbClr val="5C5C5C"/>
                </a:solidFill>
                <a:latin typeface="에이투지체 4 Regular"/>
                <a:ea typeface="에이투지체 4 Regular"/>
                <a:cs typeface="에이투지체 4 Regular"/>
              </a:rPr>
              <a:t>찜 1, 리뷰 없음</a:t>
            </a:r>
          </a:p>
          <a:p>
            <a:pPr algn="l"/>
            <a:r>
              <a:rPr sz="1300" b="0">
                <a:solidFill>
                  <a:srgbClr val="5C5C5C"/>
                </a:solidFill>
                <a:latin typeface="에이투지체 4 Regular"/>
                <a:ea typeface="에이투지체 4 Regular"/>
                <a:cs typeface="에이투지체 4 Regular"/>
              </a:rPr>
              <a:t>카무트효소 광고도 전부 경쟁사</a:t>
            </a:r>
          </a:p>
          <a:p>
            <a:pPr algn="l"/>
            <a:r>
              <a:rPr sz="1300" b="0">
                <a:solidFill>
                  <a:srgbClr val="5C5C5C"/>
                </a:solidFill>
                <a:latin typeface="에이투지체 4 Regular"/>
                <a:ea typeface="에이투지체 4 Regular"/>
                <a:cs typeface="에이투지체 4 Regular"/>
              </a:rPr>
              <a:t>(뉴트리원, 그레인온, 동국제약)</a:t>
            </a:r>
          </a:p>
        </p:txBody>
      </p:sp>
      <p:cxnSp>
        <p:nvCxnSpPr>
          <p:cNvPr id="30" name="Connector 29"/>
          <p:cNvCxnSpPr/>
          <p:nvPr/>
        </p:nvCxnSpPr>
        <p:spPr>
          <a:xfrm>
            <a:off x="8174736" y="4873752"/>
            <a:ext cx="3447288" cy="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174736" y="4983480"/>
            <a:ext cx="3447288" cy="365760"/>
          </a:xfrm>
          <a:prstGeom prst="rect">
            <a:avLst/>
          </a:prstGeom>
          <a:noFill/>
        </p:spPr>
        <p:txBody>
          <a:bodyPr wrap="square" lIns="0" tIns="0" rIns="0" bIns="0" anchor="t">
            <a:spAutoFit/>
          </a:bodyPr>
          <a:lstStyle/>
          <a:p>
            <a:pPr algn="l"/>
            <a:r>
              <a:rPr sz="1300" b="0">
                <a:solidFill>
                  <a:srgbClr val="004F9F"/>
                </a:solidFill>
                <a:latin typeface="에이투지체 6 SemiBold"/>
                <a:ea typeface="에이투지체 6 SemiBold"/>
                <a:cs typeface="에이투지체 6 SemiBold"/>
              </a:rPr>
              <a:t>대표 상품 1~2개에 집중</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ctr"/>
          <a:lstStyle/>
          <a:p>
            <a:pPr algn="l"/>
            <a:r>
              <a:rPr sz="900" b="0" spc="100">
                <a:solidFill>
                  <a:srgbClr val="004F9F"/>
                </a:solidFill>
                <a:latin typeface="에이투지체 6 SemiBold"/>
                <a:ea typeface="에이투지체 6 SemiBold"/>
                <a:cs typeface="에이투지체 6 SemiBold"/>
              </a:rPr>
              <a:t>PART 2 · 11월 마케팅 전략 · 미디어믹스</a:t>
            </a:r>
          </a:p>
        </p:txBody>
      </p:sp>
      <p:sp>
        <p:nvSpPr>
          <p:cNvPr id="3" name="TextBox 2"/>
          <p:cNvSpPr txBox="1"/>
          <p:nvPr/>
        </p:nvSpPr>
        <p:spPr>
          <a:xfrm>
            <a:off x="548640" y="658368"/>
            <a:ext cx="11064240" cy="868680"/>
          </a:xfrm>
          <a:prstGeom prst="rect">
            <a:avLst/>
          </a:prstGeom>
          <a:noFill/>
        </p:spPr>
        <p:txBody>
          <a:bodyPr wrap="square" lIns="0" tIns="0" rIns="0" bIns="0" anchor="ctr"/>
          <a:lstStyle/>
          <a:p>
            <a:pPr>
              <a:lnSpc>
                <a:spcPts val="2600"/>
              </a:lnSpc>
            </a:pPr>
            <a:r>
              <a:rPr sz="1900" b="0">
                <a:solidFill>
                  <a:srgbClr val="FFFFFF"/>
                </a:solidFill>
                <a:highlight>
                  <a:srgbClr val="0000FF"/>
                </a:highlight>
                <a:latin typeface="에이투지체 8 ExtraBold"/>
                <a:ea typeface="에이투지체 8 ExtraBold"/>
                <a:cs typeface="에이투지체 8 ExtraBold"/>
              </a:rPr>
              <a:t>지마켓·11번가 핵심 과제</a:t>
            </a:r>
            <a:r>
              <a:rPr sz="1900" b="0">
                <a:solidFill>
                  <a:srgbClr val="222222"/>
                </a:solidFill>
                <a:latin typeface="에이투지체 8 ExtraBold"/>
                <a:ea typeface="에이투지체 8 ExtraBold"/>
                <a:cs typeface="에이투지체 8 ExtraBold"/>
              </a:rPr>
              <a:t>는 네 가지로 나누어</a:t>
            </a:r>
          </a:p>
          <a:p>
            <a:pPr>
              <a:lnSpc>
                <a:spcPts val="2600"/>
              </a:lnSpc>
            </a:pPr>
            <a:r>
              <a:rPr sz="1900" b="0">
                <a:solidFill>
                  <a:srgbClr val="222222"/>
                </a:solidFill>
                <a:latin typeface="에이투지체 8 ExtraBold"/>
                <a:ea typeface="에이투지체 8 ExtraBold"/>
                <a:cs typeface="에이투지체 8 ExtraBold"/>
              </a:rPr>
              <a:t>지마켓 광고와 11번가 공식 스토어로 운영하겠습니다</a:t>
            </a:r>
          </a:p>
        </p:txBody>
      </p:sp>
      <p:sp>
        <p:nvSpPr>
          <p:cNvPr id="4" name="TextBox 3"/>
          <p:cNvSpPr txBox="1"/>
          <p:nvPr/>
        </p:nvSpPr>
        <p:spPr>
          <a:xfrm>
            <a:off x="548640" y="1517904"/>
            <a:ext cx="11064240" cy="365760"/>
          </a:xfrm>
          <a:prstGeom prst="rect">
            <a:avLst/>
          </a:prstGeom>
          <a:noFill/>
        </p:spPr>
        <p:txBody>
          <a:bodyPr wrap="square" lIns="0" tIns="0" rIns="0" bIns="0" anchor="ctr"/>
          <a:lstStyle/>
          <a:p>
            <a:pPr algn="l"/>
            <a:r>
              <a:rPr sz="1100" b="0">
                <a:solidFill>
                  <a:srgbClr val="5C5C5C"/>
                </a:solidFill>
                <a:latin typeface="에이투지체 5 Medium"/>
                <a:ea typeface="에이투지체 5 Medium"/>
                <a:cs typeface="에이투지체 5 Medium"/>
              </a:rPr>
              <a:t>지마켓·11번가 핵심 과제 정리</a:t>
            </a:r>
          </a:p>
        </p:txBody>
      </p:sp>
      <p:sp>
        <p:nvSpPr>
          <p:cNvPr id="5" name="Rounded Rectangle 4"/>
          <p:cNvSpPr/>
          <p:nvPr/>
        </p:nvSpPr>
        <p:spPr>
          <a:xfrm>
            <a:off x="548640" y="5577840"/>
            <a:ext cx="11064240" cy="438912"/>
          </a:xfrm>
          <a:prstGeom prst="roundRect">
            <a:avLst>
              <a:gd name="adj" fmla="val 16666"/>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 y="5632704"/>
            <a:ext cx="10671048" cy="347472"/>
          </a:xfrm>
          <a:prstGeom prst="rect">
            <a:avLst/>
          </a:prstGeom>
          <a:noFill/>
        </p:spPr>
        <p:txBody>
          <a:bodyPr wrap="square" lIns="0" tIns="0" rIns="0" bIns="0" anchor="ctr">
            <a:spAutoFit/>
          </a:bodyPr>
          <a:lstStyle/>
          <a:p>
            <a:pPr algn="l"/>
            <a:r>
              <a:rPr sz="1350" b="0">
                <a:solidFill>
                  <a:srgbClr val="004F9F"/>
                </a:solidFill>
                <a:latin typeface="에이투지체 6 SemiBold"/>
                <a:ea typeface="에이투지체 6 SemiBold"/>
                <a:cs typeface="에이투지체 6 SemiBold"/>
              </a:rPr>
              <a:t>지마켓·11번가는 쿠팡에서 검증된 상품과 검색어를 중심으로 예산을 늘립니다</a:t>
            </a:r>
          </a:p>
        </p:txBody>
      </p:sp>
      <p:sp>
        <p:nvSpPr>
          <p:cNvPr id="7" name="TextBox 6"/>
          <p:cNvSpPr txBox="1"/>
          <p:nvPr/>
        </p:nvSpPr>
        <p:spPr>
          <a:xfrm>
            <a:off x="548640" y="6473952"/>
            <a:ext cx="4206240" cy="274320"/>
          </a:xfrm>
          <a:prstGeom prst="rect">
            <a:avLst/>
          </a:prstGeom>
          <a:noFill/>
        </p:spPr>
        <p:txBody>
          <a:bodyPr wrap="square" lIns="0" tIns="0" rIns="0" bIns="0" anchor="t">
            <a:spAutoFit/>
          </a:bodyPr>
          <a:lstStyle/>
          <a:p>
            <a:pPr algn="l"/>
            <a:r>
              <a:rPr sz="800" b="0">
                <a:solidFill>
                  <a:srgbClr val="919191"/>
                </a:solidFill>
                <a:latin typeface="에이투지체 3 Light"/>
                <a:ea typeface="에이투지체 3 Light"/>
                <a:cs typeface="에이투지체 3 Light"/>
              </a:rPr>
              <a:t>DODREAM B&amp;B AD PROPOSAL · 2026</a:t>
            </a:r>
          </a:p>
        </p:txBody>
      </p:sp>
      <p:sp>
        <p:nvSpPr>
          <p:cNvPr id="8" name="TextBox 7"/>
          <p:cNvSpPr txBox="1"/>
          <p:nvPr/>
        </p:nvSpPr>
        <p:spPr>
          <a:xfrm>
            <a:off x="8138160" y="6473952"/>
            <a:ext cx="3017520" cy="274320"/>
          </a:xfrm>
          <a:prstGeom prst="rect">
            <a:avLst/>
          </a:prstGeom>
          <a:noFill/>
        </p:spPr>
        <p:txBody>
          <a:bodyPr wrap="square" lIns="0" tIns="0" rIns="0" bIns="0" anchor="t">
            <a:spAutoFit/>
          </a:bodyPr>
          <a:lstStyle/>
          <a:p>
            <a:pPr algn="r"/>
            <a:r>
              <a:rPr sz="800" b="0">
                <a:solidFill>
                  <a:srgbClr val="919191"/>
                </a:solidFill>
                <a:latin typeface="에이투지체 3 Light"/>
                <a:ea typeface="에이투지체 3 Light"/>
                <a:cs typeface="에이투지체 3 Light"/>
              </a:rPr>
              <a:t>LINKPRICE · BRAND AD CENTER</a:t>
            </a:r>
          </a:p>
        </p:txBody>
      </p:sp>
      <p:sp>
        <p:nvSpPr>
          <p:cNvPr id="9" name="TextBox 8"/>
          <p:cNvSpPr txBox="1"/>
          <p:nvPr/>
        </p:nvSpPr>
        <p:spPr>
          <a:xfrm>
            <a:off x="11292840" y="6473952"/>
            <a:ext cx="365760" cy="274320"/>
          </a:xfrm>
          <a:prstGeom prst="rect">
            <a:avLst/>
          </a:prstGeom>
          <a:noFill/>
        </p:spPr>
        <p:txBody>
          <a:bodyPr wrap="square" lIns="0" tIns="0" rIns="0" bIns="0" anchor="t">
            <a:spAutoFit/>
          </a:bodyPr>
          <a:lstStyle/>
          <a:p>
            <a:pPr algn="r"/>
            <a:r>
              <a:rPr sz="800" b="0">
                <a:solidFill>
                  <a:srgbClr val="222222"/>
                </a:solidFill>
                <a:latin typeface="에이투지체 6 SemiBold"/>
                <a:ea typeface="에이투지체 6 SemiBold"/>
                <a:cs typeface="에이투지체 6 SemiBold"/>
              </a:rPr>
              <a:t>47</a:t>
            </a:r>
          </a:p>
        </p:txBody>
      </p:sp>
      <p:sp>
        <p:nvSpPr>
          <p:cNvPr id="10" name="TextBox 9"/>
          <p:cNvSpPr txBox="1"/>
          <p:nvPr/>
        </p:nvSpPr>
        <p:spPr>
          <a:xfrm>
            <a:off x="548640" y="2084831"/>
            <a:ext cx="2423160" cy="237744"/>
          </a:xfrm>
          <a:prstGeom prst="rect">
            <a:avLst/>
          </a:prstGeom>
          <a:noFill/>
        </p:spPr>
        <p:txBody>
          <a:bodyPr wrap="square" lIns="0" tIns="0" rIns="0" bIns="0" anchor="t">
            <a:spAutoFit/>
          </a:bodyPr>
          <a:lstStyle/>
          <a:p>
            <a:pPr algn="l"/>
            <a:r>
              <a:rPr sz="950" b="0">
                <a:solidFill>
                  <a:srgbClr val="919191"/>
                </a:solidFill>
                <a:latin typeface="에이투지체 6 SemiBold"/>
                <a:ea typeface="에이투지체 6 SemiBold"/>
                <a:cs typeface="에이투지체 6 SemiBold"/>
              </a:rPr>
              <a:t>핵심 과제</a:t>
            </a:r>
          </a:p>
        </p:txBody>
      </p:sp>
      <p:sp>
        <p:nvSpPr>
          <p:cNvPr id="11" name="TextBox 10"/>
          <p:cNvSpPr txBox="1"/>
          <p:nvPr/>
        </p:nvSpPr>
        <p:spPr>
          <a:xfrm>
            <a:off x="3291840" y="2084831"/>
            <a:ext cx="3931920" cy="237744"/>
          </a:xfrm>
          <a:prstGeom prst="rect">
            <a:avLst/>
          </a:prstGeom>
          <a:noFill/>
        </p:spPr>
        <p:txBody>
          <a:bodyPr wrap="square" lIns="0" tIns="0" rIns="0" bIns="0" anchor="t">
            <a:spAutoFit/>
          </a:bodyPr>
          <a:lstStyle/>
          <a:p>
            <a:pPr algn="l"/>
            <a:r>
              <a:rPr sz="950" b="0">
                <a:solidFill>
                  <a:srgbClr val="919191"/>
                </a:solidFill>
                <a:latin typeface="에이투지체 6 SemiBold"/>
                <a:ea typeface="에이투지체 6 SemiBold"/>
                <a:cs typeface="에이투지체 6 SemiBold"/>
              </a:rPr>
              <a:t>실행</a:t>
            </a:r>
          </a:p>
        </p:txBody>
      </p:sp>
      <p:sp>
        <p:nvSpPr>
          <p:cNvPr id="12" name="TextBox 11"/>
          <p:cNvSpPr txBox="1"/>
          <p:nvPr/>
        </p:nvSpPr>
        <p:spPr>
          <a:xfrm>
            <a:off x="7543800" y="2084831"/>
            <a:ext cx="2103120" cy="237744"/>
          </a:xfrm>
          <a:prstGeom prst="rect">
            <a:avLst/>
          </a:prstGeom>
          <a:noFill/>
        </p:spPr>
        <p:txBody>
          <a:bodyPr wrap="square" lIns="0" tIns="0" rIns="0" bIns="0" anchor="t">
            <a:spAutoFit/>
          </a:bodyPr>
          <a:lstStyle/>
          <a:p>
            <a:pPr algn="l"/>
            <a:r>
              <a:rPr sz="950" b="0">
                <a:solidFill>
                  <a:srgbClr val="919191"/>
                </a:solidFill>
                <a:latin typeface="에이투지체 6 SemiBold"/>
                <a:ea typeface="에이투지체 6 SemiBold"/>
                <a:cs typeface="에이투지체 6 SemiBold"/>
              </a:rPr>
              <a:t>운영</a:t>
            </a:r>
          </a:p>
        </p:txBody>
      </p:sp>
      <p:sp>
        <p:nvSpPr>
          <p:cNvPr id="13" name="TextBox 12"/>
          <p:cNvSpPr txBox="1"/>
          <p:nvPr/>
        </p:nvSpPr>
        <p:spPr>
          <a:xfrm>
            <a:off x="9966960" y="2084831"/>
            <a:ext cx="1645920" cy="237744"/>
          </a:xfrm>
          <a:prstGeom prst="rect">
            <a:avLst/>
          </a:prstGeom>
          <a:noFill/>
        </p:spPr>
        <p:txBody>
          <a:bodyPr wrap="square" lIns="0" tIns="0" rIns="0" bIns="0" anchor="t">
            <a:spAutoFit/>
          </a:bodyPr>
          <a:lstStyle/>
          <a:p>
            <a:pPr algn="l"/>
            <a:r>
              <a:rPr sz="950" b="0">
                <a:solidFill>
                  <a:srgbClr val="919191"/>
                </a:solidFill>
                <a:latin typeface="에이투지체 6 SemiBold"/>
                <a:ea typeface="에이투지체 6 SemiBold"/>
                <a:cs typeface="에이투지체 6 SemiBold"/>
              </a:rPr>
              <a:t>관리 지표</a:t>
            </a:r>
          </a:p>
        </p:txBody>
      </p:sp>
      <p:sp>
        <p:nvSpPr>
          <p:cNvPr id="14" name="Rounded Rectangle 13"/>
          <p:cNvSpPr/>
          <p:nvPr/>
        </p:nvSpPr>
        <p:spPr>
          <a:xfrm>
            <a:off x="548640" y="2395728"/>
            <a:ext cx="2423160" cy="640080"/>
          </a:xfrm>
          <a:prstGeom prst="roundRect">
            <a:avLst>
              <a:gd name="adj" fmla="val 11428"/>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2395728"/>
            <a:ext cx="2148840" cy="640080"/>
          </a:xfrm>
          <a:prstGeom prst="rect">
            <a:avLst/>
          </a:prstGeom>
          <a:noFill/>
        </p:spPr>
        <p:txBody>
          <a:bodyPr wrap="square" lIns="0" tIns="0" rIns="0" bIns="0" anchor="ctr">
            <a:spAutoFit/>
          </a:bodyPr>
          <a:lstStyle/>
          <a:p>
            <a:pPr algn="l"/>
            <a:r>
              <a:rPr sz="1050" b="0">
                <a:solidFill>
                  <a:srgbClr val="FFFFFF"/>
                </a:solidFill>
                <a:latin typeface="에이투지체 6 SemiBold"/>
                <a:ea typeface="에이투지체 6 SemiBold"/>
                <a:cs typeface="에이투지체 6 SemiBold"/>
              </a:rPr>
              <a:t>01</a:t>
            </a:r>
          </a:p>
          <a:p>
            <a:pPr algn="l"/>
            <a:r>
              <a:rPr sz="1300" b="0">
                <a:solidFill>
                  <a:srgbClr val="FFFFFF"/>
                </a:solidFill>
                <a:latin typeface="에이투지체 6 SemiBold"/>
                <a:ea typeface="에이투지체 6 SemiBold"/>
                <a:cs typeface="에이투지체 6 SemiBold"/>
              </a:rPr>
              <a:t>브랜드 검색어 채우기</a:t>
            </a:r>
          </a:p>
        </p:txBody>
      </p:sp>
      <p:sp>
        <p:nvSpPr>
          <p:cNvPr id="16" name="Rounded Rectangle 15"/>
          <p:cNvSpPr/>
          <p:nvPr/>
        </p:nvSpPr>
        <p:spPr>
          <a:xfrm>
            <a:off x="3291840" y="2395728"/>
            <a:ext cx="3931920" cy="640080"/>
          </a:xfrm>
          <a:prstGeom prst="roundRect">
            <a:avLst>
              <a:gd name="adj" fmla="val 11428"/>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493008" y="2395728"/>
            <a:ext cx="3611880" cy="640080"/>
          </a:xfrm>
          <a:prstGeom prst="rect">
            <a:avLst/>
          </a:prstGeom>
          <a:noFill/>
        </p:spPr>
        <p:txBody>
          <a:bodyPr wrap="square" lIns="0" tIns="0" rIns="0" bIns="0" anchor="ctr">
            <a:spAutoFit/>
          </a:bodyPr>
          <a:lstStyle/>
          <a:p>
            <a:pPr algn="l"/>
            <a:r>
              <a:rPr sz="1100" b="0">
                <a:solidFill>
                  <a:srgbClr val="222222"/>
                </a:solidFill>
                <a:latin typeface="에이투지체 5 Medium"/>
                <a:ea typeface="에이투지체 5 Medium"/>
                <a:cs typeface="에이투지체 5 Medium"/>
              </a:rPr>
              <a:t>판매 상품을 브랜드 검색어 그룹에 모두 등록하고</a:t>
            </a:r>
          </a:p>
          <a:p>
            <a:pPr algn="l"/>
            <a:r>
              <a:rPr sz="1100" b="0">
                <a:solidFill>
                  <a:srgbClr val="222222"/>
                </a:solidFill>
                <a:latin typeface="에이투지체 5 Medium"/>
                <a:ea typeface="에이투지체 5 Medium"/>
                <a:cs typeface="에이투지체 5 Medium"/>
              </a:rPr>
              <a:t>입찰가는 낮게 설정해 ROAS를 높입니다</a:t>
            </a:r>
          </a:p>
        </p:txBody>
      </p:sp>
      <p:sp>
        <p:nvSpPr>
          <p:cNvPr id="18" name="Rounded Rectangle 17"/>
          <p:cNvSpPr/>
          <p:nvPr/>
        </p:nvSpPr>
        <p:spPr>
          <a:xfrm>
            <a:off x="7543800" y="2468880"/>
            <a:ext cx="2103120" cy="493775"/>
          </a:xfrm>
          <a:prstGeom prst="roundRect">
            <a:avLst>
              <a:gd name="adj" fmla="val 14814"/>
            </a:avLst>
          </a:prstGeom>
          <a:solidFill>
            <a:srgbClr val="FFFFFF"/>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635240" y="2468880"/>
            <a:ext cx="1920240" cy="493775"/>
          </a:xfrm>
          <a:prstGeom prst="rect">
            <a:avLst/>
          </a:prstGeom>
          <a:noFill/>
        </p:spPr>
        <p:txBody>
          <a:bodyPr wrap="square" lIns="0" tIns="0" rIns="0" bIns="0" anchor="ctr">
            <a:spAutoFit/>
          </a:bodyPr>
          <a:lstStyle/>
          <a:p>
            <a:pPr algn="ctr"/>
            <a:r>
              <a:rPr sz="1050" b="0">
                <a:solidFill>
                  <a:srgbClr val="004F9F"/>
                </a:solidFill>
                <a:latin typeface="에이투지체 6 SemiBold"/>
                <a:ea typeface="에이투지체 6 SemiBold"/>
                <a:cs typeface="에이투지체 6 SemiBold"/>
              </a:rPr>
              <a:t>직접 운영형</a:t>
            </a:r>
          </a:p>
          <a:p>
            <a:pPr algn="ctr"/>
            <a:r>
              <a:rPr sz="1050" b="0">
                <a:solidFill>
                  <a:srgbClr val="004F9F"/>
                </a:solidFill>
                <a:latin typeface="에이투지체 6 SemiBold"/>
                <a:ea typeface="에이투지체 6 SemiBold"/>
                <a:cs typeface="에이투지체 6 SemiBold"/>
              </a:rPr>
              <a:t>브랜드 검색어 그룹</a:t>
            </a:r>
          </a:p>
        </p:txBody>
      </p:sp>
      <p:sp>
        <p:nvSpPr>
          <p:cNvPr id="20" name="TextBox 19"/>
          <p:cNvSpPr txBox="1"/>
          <p:nvPr/>
        </p:nvSpPr>
        <p:spPr>
          <a:xfrm>
            <a:off x="9966960" y="2395728"/>
            <a:ext cx="1645920" cy="640080"/>
          </a:xfrm>
          <a:prstGeom prst="rect">
            <a:avLst/>
          </a:prstGeom>
          <a:noFill/>
        </p:spPr>
        <p:txBody>
          <a:bodyPr wrap="square" lIns="0" tIns="0" rIns="0" bIns="0" anchor="ctr">
            <a:spAutoFit/>
          </a:bodyPr>
          <a:lstStyle/>
          <a:p>
            <a:pPr algn="ctr"/>
            <a:r>
              <a:rPr sz="1100" b="0">
                <a:solidFill>
                  <a:srgbClr val="222222"/>
                </a:solidFill>
                <a:latin typeface="에이투지체 6 SemiBold"/>
                <a:ea typeface="에이투지체 6 SemiBold"/>
                <a:cs typeface="에이투지체 6 SemiBold"/>
              </a:rPr>
              <a:t>브랜드 검색어 ROAS</a:t>
            </a:r>
          </a:p>
          <a:p>
            <a:pPr algn="ctr"/>
            <a:r>
              <a:rPr sz="1100" b="0">
                <a:solidFill>
                  <a:srgbClr val="222222"/>
                </a:solidFill>
                <a:latin typeface="에이투지체 6 SemiBold"/>
                <a:ea typeface="에이투지체 6 SemiBold"/>
                <a:cs typeface="에이투지체 6 SemiBold"/>
              </a:rPr>
              <a:t>광고 영역 점유</a:t>
            </a:r>
          </a:p>
        </p:txBody>
      </p:sp>
      <p:sp>
        <p:nvSpPr>
          <p:cNvPr id="21" name="Isosceles Triangle 20"/>
          <p:cNvSpPr/>
          <p:nvPr/>
        </p:nvSpPr>
        <p:spPr>
          <a:xfrm rot="5400000">
            <a:off x="2990088" y="2642616"/>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Isosceles Triangle 21"/>
          <p:cNvSpPr/>
          <p:nvPr/>
        </p:nvSpPr>
        <p:spPr>
          <a:xfrm rot="5400000">
            <a:off x="7242048" y="2642616"/>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Isosceles Triangle 22"/>
          <p:cNvSpPr/>
          <p:nvPr/>
        </p:nvSpPr>
        <p:spPr>
          <a:xfrm rot="5400000">
            <a:off x="9665208" y="2642616"/>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548640" y="3145536"/>
            <a:ext cx="2423160" cy="640080"/>
          </a:xfrm>
          <a:prstGeom prst="roundRect">
            <a:avLst>
              <a:gd name="adj" fmla="val 11428"/>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31520" y="3145536"/>
            <a:ext cx="2148840" cy="640080"/>
          </a:xfrm>
          <a:prstGeom prst="rect">
            <a:avLst/>
          </a:prstGeom>
          <a:noFill/>
        </p:spPr>
        <p:txBody>
          <a:bodyPr wrap="square" lIns="0" tIns="0" rIns="0" bIns="0" anchor="ctr">
            <a:spAutoFit/>
          </a:bodyPr>
          <a:lstStyle/>
          <a:p>
            <a:pPr algn="l"/>
            <a:r>
              <a:rPr sz="1050" b="0">
                <a:solidFill>
                  <a:srgbClr val="004F9F"/>
                </a:solidFill>
                <a:latin typeface="에이투지체 6 SemiBold"/>
                <a:ea typeface="에이투지체 6 SemiBold"/>
                <a:cs typeface="에이투지체 6 SemiBold"/>
              </a:rPr>
              <a:t>02</a:t>
            </a:r>
          </a:p>
          <a:p>
            <a:pPr algn="l"/>
            <a:r>
              <a:rPr sz="1300" b="0">
                <a:solidFill>
                  <a:srgbClr val="222222"/>
                </a:solidFill>
                <a:latin typeface="에이투지체 6 SemiBold"/>
                <a:ea typeface="에이투지체 6 SemiBold"/>
                <a:cs typeface="에이투지체 6 SemiBold"/>
              </a:rPr>
              <a:t>전환 효율 관리</a:t>
            </a:r>
          </a:p>
        </p:txBody>
      </p:sp>
      <p:sp>
        <p:nvSpPr>
          <p:cNvPr id="26" name="Rounded Rectangle 25"/>
          <p:cNvSpPr/>
          <p:nvPr/>
        </p:nvSpPr>
        <p:spPr>
          <a:xfrm>
            <a:off x="3291840" y="3145536"/>
            <a:ext cx="3931920" cy="640080"/>
          </a:xfrm>
          <a:prstGeom prst="roundRect">
            <a:avLst>
              <a:gd name="adj" fmla="val 11428"/>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493008" y="3145536"/>
            <a:ext cx="3611880" cy="640080"/>
          </a:xfrm>
          <a:prstGeom prst="rect">
            <a:avLst/>
          </a:prstGeom>
          <a:noFill/>
        </p:spPr>
        <p:txBody>
          <a:bodyPr wrap="square" lIns="0" tIns="0" rIns="0" bIns="0" anchor="ctr">
            <a:spAutoFit/>
          </a:bodyPr>
          <a:lstStyle/>
          <a:p>
            <a:pPr algn="l"/>
            <a:r>
              <a:rPr sz="1100" b="0">
                <a:solidFill>
                  <a:srgbClr val="222222"/>
                </a:solidFill>
                <a:latin typeface="에이투지체 5 Medium"/>
                <a:ea typeface="에이투지체 5 Medium"/>
                <a:cs typeface="에이투지체 5 Medium"/>
              </a:rPr>
              <a:t>리뷰 격차가 큰 검색어는 CPC 상한을 낮추고</a:t>
            </a:r>
          </a:p>
          <a:p>
            <a:pPr algn="l"/>
            <a:r>
              <a:rPr sz="1100" b="0">
                <a:solidFill>
                  <a:srgbClr val="222222"/>
                </a:solidFill>
                <a:latin typeface="에이투지체 5 Medium"/>
                <a:ea typeface="에이투지체 5 Medium"/>
                <a:cs typeface="에이투지체 5 Medium"/>
              </a:rPr>
              <a:t>추가구성 개선과 리뷰 이벤트는 두드림에 제안합니다</a:t>
            </a:r>
          </a:p>
        </p:txBody>
      </p:sp>
      <p:sp>
        <p:nvSpPr>
          <p:cNvPr id="28" name="Rounded Rectangle 27"/>
          <p:cNvSpPr/>
          <p:nvPr/>
        </p:nvSpPr>
        <p:spPr>
          <a:xfrm>
            <a:off x="7543800" y="3218688"/>
            <a:ext cx="2103120" cy="493775"/>
          </a:xfrm>
          <a:prstGeom prst="roundRect">
            <a:avLst>
              <a:gd name="adj" fmla="val 14814"/>
            </a:avLst>
          </a:prstGeom>
          <a:solidFill>
            <a:srgbClr val="FFFFFF"/>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635240" y="3218688"/>
            <a:ext cx="1920240" cy="493775"/>
          </a:xfrm>
          <a:prstGeom prst="rect">
            <a:avLst/>
          </a:prstGeom>
          <a:noFill/>
        </p:spPr>
        <p:txBody>
          <a:bodyPr wrap="square" lIns="0" tIns="0" rIns="0" bIns="0" anchor="ctr">
            <a:spAutoFit/>
          </a:bodyPr>
          <a:lstStyle/>
          <a:p>
            <a:pPr algn="ctr"/>
            <a:r>
              <a:rPr sz="1050" b="0">
                <a:solidFill>
                  <a:srgbClr val="004F9F"/>
                </a:solidFill>
                <a:latin typeface="에이투지체 6 SemiBold"/>
                <a:ea typeface="에이투지체 6 SemiBold"/>
                <a:cs typeface="에이투지체 6 SemiBold"/>
              </a:rPr>
              <a:t>직접 운영형</a:t>
            </a:r>
          </a:p>
          <a:p>
            <a:pPr algn="ctr"/>
            <a:r>
              <a:rPr sz="1050" b="0">
                <a:solidFill>
                  <a:srgbClr val="004F9F"/>
                </a:solidFill>
                <a:latin typeface="에이투지체 6 SemiBold"/>
                <a:ea typeface="에이투지체 6 SemiBold"/>
                <a:cs typeface="에이투지체 6 SemiBold"/>
              </a:rPr>
              <a:t>두드림 협의</a:t>
            </a:r>
          </a:p>
        </p:txBody>
      </p:sp>
      <p:sp>
        <p:nvSpPr>
          <p:cNvPr id="30" name="TextBox 29"/>
          <p:cNvSpPr txBox="1"/>
          <p:nvPr/>
        </p:nvSpPr>
        <p:spPr>
          <a:xfrm>
            <a:off x="9966960" y="3145536"/>
            <a:ext cx="1645920" cy="640080"/>
          </a:xfrm>
          <a:prstGeom prst="rect">
            <a:avLst/>
          </a:prstGeom>
          <a:noFill/>
        </p:spPr>
        <p:txBody>
          <a:bodyPr wrap="square" lIns="0" tIns="0" rIns="0" bIns="0" anchor="ctr">
            <a:spAutoFit/>
          </a:bodyPr>
          <a:lstStyle/>
          <a:p>
            <a:pPr algn="ctr"/>
            <a:r>
              <a:rPr sz="1100" b="0">
                <a:solidFill>
                  <a:srgbClr val="222222"/>
                </a:solidFill>
                <a:latin typeface="에이투지체 6 SemiBold"/>
                <a:ea typeface="에이투지체 6 SemiBold"/>
                <a:cs typeface="에이투지체 6 SemiBold"/>
              </a:rPr>
              <a:t>구매 전환율</a:t>
            </a:r>
          </a:p>
          <a:p>
            <a:pPr algn="ctr"/>
            <a:r>
              <a:rPr sz="1100" b="0">
                <a:solidFill>
                  <a:srgbClr val="222222"/>
                </a:solidFill>
                <a:latin typeface="에이투지체 6 SemiBold"/>
                <a:ea typeface="에이투지체 6 SemiBold"/>
                <a:cs typeface="에이투지체 6 SemiBold"/>
              </a:rPr>
              <a:t>객단가</a:t>
            </a:r>
          </a:p>
        </p:txBody>
      </p:sp>
      <p:sp>
        <p:nvSpPr>
          <p:cNvPr id="31" name="Isosceles Triangle 30"/>
          <p:cNvSpPr/>
          <p:nvPr/>
        </p:nvSpPr>
        <p:spPr>
          <a:xfrm rot="5400000">
            <a:off x="2990088" y="3392424"/>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Isosceles Triangle 31"/>
          <p:cNvSpPr/>
          <p:nvPr/>
        </p:nvSpPr>
        <p:spPr>
          <a:xfrm rot="5400000">
            <a:off x="7242048" y="3392424"/>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Isosceles Triangle 32"/>
          <p:cNvSpPr/>
          <p:nvPr/>
        </p:nvSpPr>
        <p:spPr>
          <a:xfrm rot="5400000">
            <a:off x="9665208" y="3392424"/>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548640" y="3895344"/>
            <a:ext cx="2423160" cy="640080"/>
          </a:xfrm>
          <a:prstGeom prst="roundRect">
            <a:avLst>
              <a:gd name="adj" fmla="val 11428"/>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31520" y="3895344"/>
            <a:ext cx="2148840" cy="640080"/>
          </a:xfrm>
          <a:prstGeom prst="rect">
            <a:avLst/>
          </a:prstGeom>
          <a:noFill/>
        </p:spPr>
        <p:txBody>
          <a:bodyPr wrap="square" lIns="0" tIns="0" rIns="0" bIns="0" anchor="ctr">
            <a:spAutoFit/>
          </a:bodyPr>
          <a:lstStyle/>
          <a:p>
            <a:pPr algn="l"/>
            <a:r>
              <a:rPr sz="1050" b="0">
                <a:solidFill>
                  <a:srgbClr val="004F9F"/>
                </a:solidFill>
                <a:latin typeface="에이투지체 6 SemiBold"/>
                <a:ea typeface="에이투지체 6 SemiBold"/>
                <a:cs typeface="에이투지체 6 SemiBold"/>
              </a:rPr>
              <a:t>03</a:t>
            </a:r>
          </a:p>
          <a:p>
            <a:pPr algn="l"/>
            <a:r>
              <a:rPr sz="1300" b="0">
                <a:solidFill>
                  <a:srgbClr val="222222"/>
                </a:solidFill>
                <a:latin typeface="에이투지체 6 SemiBold"/>
                <a:ea typeface="에이투지체 6 SemiBold"/>
                <a:cs typeface="에이투지체 6 SemiBold"/>
              </a:rPr>
              <a:t>검색어 노출 확대</a:t>
            </a:r>
          </a:p>
        </p:txBody>
      </p:sp>
      <p:sp>
        <p:nvSpPr>
          <p:cNvPr id="36" name="Rounded Rectangle 35"/>
          <p:cNvSpPr/>
          <p:nvPr/>
        </p:nvSpPr>
        <p:spPr>
          <a:xfrm>
            <a:off x="3291840" y="3895344"/>
            <a:ext cx="3931920" cy="640080"/>
          </a:xfrm>
          <a:prstGeom prst="roundRect">
            <a:avLst>
              <a:gd name="adj" fmla="val 11428"/>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493008" y="3895344"/>
            <a:ext cx="3611880" cy="640080"/>
          </a:xfrm>
          <a:prstGeom prst="rect">
            <a:avLst/>
          </a:prstGeom>
          <a:noFill/>
        </p:spPr>
        <p:txBody>
          <a:bodyPr wrap="square" lIns="0" tIns="0" rIns="0" bIns="0" anchor="ctr">
            <a:spAutoFit/>
          </a:bodyPr>
          <a:lstStyle/>
          <a:p>
            <a:pPr algn="l"/>
            <a:r>
              <a:rPr sz="1100" b="0">
                <a:solidFill>
                  <a:srgbClr val="222222"/>
                </a:solidFill>
                <a:latin typeface="에이투지체 5 Medium"/>
                <a:ea typeface="에이투지체 5 Medium"/>
                <a:cs typeface="에이투지체 5 Medium"/>
              </a:rPr>
              <a:t>대표 검색어는 CPC 상한 안에서 순위 관리</a:t>
            </a:r>
          </a:p>
          <a:p>
            <a:pPr algn="l"/>
            <a:r>
              <a:rPr sz="1100" b="0">
                <a:solidFill>
                  <a:srgbClr val="222222"/>
                </a:solidFill>
                <a:latin typeface="에이투지체 5 Medium"/>
                <a:ea typeface="에이투지체 5 Medium"/>
                <a:cs typeface="에이투지체 5 Medium"/>
              </a:rPr>
              <a:t>경쟁사 검색어는 매체 정책 확인 후 테스트</a:t>
            </a:r>
          </a:p>
        </p:txBody>
      </p:sp>
      <p:sp>
        <p:nvSpPr>
          <p:cNvPr id="38" name="Rounded Rectangle 37"/>
          <p:cNvSpPr/>
          <p:nvPr/>
        </p:nvSpPr>
        <p:spPr>
          <a:xfrm>
            <a:off x="7543800" y="3968496"/>
            <a:ext cx="2103120" cy="493775"/>
          </a:xfrm>
          <a:prstGeom prst="roundRect">
            <a:avLst>
              <a:gd name="adj" fmla="val 14814"/>
            </a:avLst>
          </a:prstGeom>
          <a:solidFill>
            <a:srgbClr val="FFFFFF"/>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635240" y="3968496"/>
            <a:ext cx="1920240" cy="493775"/>
          </a:xfrm>
          <a:prstGeom prst="rect">
            <a:avLst/>
          </a:prstGeom>
          <a:noFill/>
        </p:spPr>
        <p:txBody>
          <a:bodyPr wrap="square" lIns="0" tIns="0" rIns="0" bIns="0" anchor="ctr">
            <a:spAutoFit/>
          </a:bodyPr>
          <a:lstStyle/>
          <a:p>
            <a:pPr algn="ctr"/>
            <a:r>
              <a:rPr sz="1050" b="0">
                <a:solidFill>
                  <a:srgbClr val="004F9F"/>
                </a:solidFill>
                <a:latin typeface="에이투지체 6 SemiBold"/>
                <a:ea typeface="에이투지체 6 SemiBold"/>
                <a:cs typeface="에이투지체 6 SemiBold"/>
              </a:rPr>
              <a:t>직접 운영형</a:t>
            </a:r>
          </a:p>
          <a:p>
            <a:pPr algn="ctr"/>
            <a:r>
              <a:rPr sz="1050" b="0">
                <a:solidFill>
                  <a:srgbClr val="004F9F"/>
                </a:solidFill>
                <a:latin typeface="에이투지체 6 SemiBold"/>
                <a:ea typeface="에이투지체 6 SemiBold"/>
                <a:cs typeface="에이투지체 6 SemiBold"/>
              </a:rPr>
              <a:t>집중 운영형 (카무트)</a:t>
            </a:r>
          </a:p>
        </p:txBody>
      </p:sp>
      <p:sp>
        <p:nvSpPr>
          <p:cNvPr id="40" name="TextBox 39"/>
          <p:cNvSpPr txBox="1"/>
          <p:nvPr/>
        </p:nvSpPr>
        <p:spPr>
          <a:xfrm>
            <a:off x="9966960" y="3895344"/>
            <a:ext cx="1645920" cy="640080"/>
          </a:xfrm>
          <a:prstGeom prst="rect">
            <a:avLst/>
          </a:prstGeom>
          <a:noFill/>
        </p:spPr>
        <p:txBody>
          <a:bodyPr wrap="square" lIns="0" tIns="0" rIns="0" bIns="0" anchor="ctr">
            <a:spAutoFit/>
          </a:bodyPr>
          <a:lstStyle/>
          <a:p>
            <a:pPr algn="ctr"/>
            <a:r>
              <a:rPr sz="1100" b="0">
                <a:solidFill>
                  <a:srgbClr val="222222"/>
                </a:solidFill>
                <a:latin typeface="에이투지체 6 SemiBold"/>
                <a:ea typeface="에이투지체 6 SemiBold"/>
                <a:cs typeface="에이투지체 6 SemiBold"/>
              </a:rPr>
              <a:t>검색어별 전환</a:t>
            </a:r>
          </a:p>
          <a:p>
            <a:pPr algn="ctr"/>
            <a:r>
              <a:rPr sz="1100" b="0">
                <a:solidFill>
                  <a:srgbClr val="222222"/>
                </a:solidFill>
                <a:latin typeface="에이투지체 6 SemiBold"/>
                <a:ea typeface="에이투지체 6 SemiBold"/>
                <a:cs typeface="에이투지체 6 SemiBold"/>
              </a:rPr>
              <a:t>무전환 비용</a:t>
            </a:r>
          </a:p>
        </p:txBody>
      </p:sp>
      <p:sp>
        <p:nvSpPr>
          <p:cNvPr id="41" name="Isosceles Triangle 40"/>
          <p:cNvSpPr/>
          <p:nvPr/>
        </p:nvSpPr>
        <p:spPr>
          <a:xfrm rot="5400000">
            <a:off x="2990088" y="4142231"/>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Isosceles Triangle 41"/>
          <p:cNvSpPr/>
          <p:nvPr/>
        </p:nvSpPr>
        <p:spPr>
          <a:xfrm rot="5400000">
            <a:off x="7242048" y="4142231"/>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Isosceles Triangle 42"/>
          <p:cNvSpPr/>
          <p:nvPr/>
        </p:nvSpPr>
        <p:spPr>
          <a:xfrm rot="5400000">
            <a:off x="9665208" y="4142231"/>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ounded Rectangle 43"/>
          <p:cNvSpPr/>
          <p:nvPr/>
        </p:nvSpPr>
        <p:spPr>
          <a:xfrm>
            <a:off x="548640" y="4645152"/>
            <a:ext cx="2423160" cy="640080"/>
          </a:xfrm>
          <a:prstGeom prst="roundRect">
            <a:avLst>
              <a:gd name="adj" fmla="val 11428"/>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731520" y="4645152"/>
            <a:ext cx="2148840" cy="640080"/>
          </a:xfrm>
          <a:prstGeom prst="rect">
            <a:avLst/>
          </a:prstGeom>
          <a:noFill/>
        </p:spPr>
        <p:txBody>
          <a:bodyPr wrap="square" lIns="0" tIns="0" rIns="0" bIns="0" anchor="ctr">
            <a:spAutoFit/>
          </a:bodyPr>
          <a:lstStyle/>
          <a:p>
            <a:pPr algn="l"/>
            <a:r>
              <a:rPr sz="1050" b="0">
                <a:solidFill>
                  <a:srgbClr val="004F9F"/>
                </a:solidFill>
                <a:latin typeface="에이투지체 6 SemiBold"/>
                <a:ea typeface="에이투지체 6 SemiBold"/>
                <a:cs typeface="에이투지체 6 SemiBold"/>
              </a:rPr>
              <a:t>04</a:t>
            </a:r>
          </a:p>
          <a:p>
            <a:pPr algn="l"/>
            <a:r>
              <a:rPr sz="1300" b="0">
                <a:solidFill>
                  <a:srgbClr val="222222"/>
                </a:solidFill>
                <a:latin typeface="에이투지체 6 SemiBold"/>
                <a:ea typeface="에이투지체 6 SemiBold"/>
                <a:cs typeface="에이투지체 6 SemiBold"/>
              </a:rPr>
              <a:t>11번가 기반 마련</a:t>
            </a:r>
          </a:p>
        </p:txBody>
      </p:sp>
      <p:sp>
        <p:nvSpPr>
          <p:cNvPr id="46" name="Rounded Rectangle 45"/>
          <p:cNvSpPr/>
          <p:nvPr/>
        </p:nvSpPr>
        <p:spPr>
          <a:xfrm>
            <a:off x="3291840" y="4645152"/>
            <a:ext cx="3931920" cy="640080"/>
          </a:xfrm>
          <a:prstGeom prst="roundRect">
            <a:avLst>
              <a:gd name="adj" fmla="val 11428"/>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493008" y="4645152"/>
            <a:ext cx="3611880" cy="640080"/>
          </a:xfrm>
          <a:prstGeom prst="rect">
            <a:avLst/>
          </a:prstGeom>
          <a:noFill/>
        </p:spPr>
        <p:txBody>
          <a:bodyPr wrap="square" lIns="0" tIns="0" rIns="0" bIns="0" anchor="ctr">
            <a:spAutoFit/>
          </a:bodyPr>
          <a:lstStyle/>
          <a:p>
            <a:pPr algn="l"/>
            <a:r>
              <a:rPr sz="1100" b="0">
                <a:solidFill>
                  <a:srgbClr val="222222"/>
                </a:solidFill>
                <a:latin typeface="에이투지체 5 Medium"/>
                <a:ea typeface="에이투지체 5 Medium"/>
                <a:cs typeface="에이투지체 5 Medium"/>
              </a:rPr>
              <a:t>공식 스토어 대표 상품 1~2개에 집중해</a:t>
            </a:r>
          </a:p>
          <a:p>
            <a:pPr algn="l"/>
            <a:r>
              <a:rPr sz="1100" b="0">
                <a:solidFill>
                  <a:srgbClr val="222222"/>
                </a:solidFill>
                <a:latin typeface="에이투지체 5 Medium"/>
                <a:ea typeface="에이투지체 5 Medium"/>
                <a:cs typeface="에이투지체 5 Medium"/>
              </a:rPr>
              <a:t>브랜드 검색어에서 판매처보다 먼저 노출</a:t>
            </a:r>
          </a:p>
        </p:txBody>
      </p:sp>
      <p:sp>
        <p:nvSpPr>
          <p:cNvPr id="48" name="Rounded Rectangle 47"/>
          <p:cNvSpPr/>
          <p:nvPr/>
        </p:nvSpPr>
        <p:spPr>
          <a:xfrm>
            <a:off x="7543800" y="4718304"/>
            <a:ext cx="2103120" cy="493775"/>
          </a:xfrm>
          <a:prstGeom prst="roundRect">
            <a:avLst>
              <a:gd name="adj" fmla="val 14814"/>
            </a:avLst>
          </a:prstGeom>
          <a:solidFill>
            <a:srgbClr val="FFFFFF"/>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635240" y="4718304"/>
            <a:ext cx="1920240" cy="493775"/>
          </a:xfrm>
          <a:prstGeom prst="rect">
            <a:avLst/>
          </a:prstGeom>
          <a:noFill/>
        </p:spPr>
        <p:txBody>
          <a:bodyPr wrap="square" lIns="0" tIns="0" rIns="0" bIns="0" anchor="ctr">
            <a:spAutoFit/>
          </a:bodyPr>
          <a:lstStyle/>
          <a:p>
            <a:pPr algn="ctr"/>
            <a:r>
              <a:rPr sz="1050" b="0">
                <a:solidFill>
                  <a:srgbClr val="004F9F"/>
                </a:solidFill>
                <a:latin typeface="에이투지체 6 SemiBold"/>
                <a:ea typeface="에이투지체 6 SemiBold"/>
                <a:cs typeface="에이투지체 6 SemiBold"/>
              </a:rPr>
              <a:t>11번가</a:t>
            </a:r>
          </a:p>
          <a:p>
            <a:pPr algn="ctr"/>
            <a:r>
              <a:rPr sz="1050" b="0">
                <a:solidFill>
                  <a:srgbClr val="004F9F"/>
                </a:solidFill>
                <a:latin typeface="에이투지체 6 SemiBold"/>
                <a:ea typeface="에이투지체 6 SemiBold"/>
                <a:cs typeface="에이투지체 6 SemiBold"/>
              </a:rPr>
              <a:t>공식 스토어</a:t>
            </a:r>
          </a:p>
        </p:txBody>
      </p:sp>
      <p:sp>
        <p:nvSpPr>
          <p:cNvPr id="50" name="TextBox 49"/>
          <p:cNvSpPr txBox="1"/>
          <p:nvPr/>
        </p:nvSpPr>
        <p:spPr>
          <a:xfrm>
            <a:off x="9966960" y="4645152"/>
            <a:ext cx="1645920" cy="640080"/>
          </a:xfrm>
          <a:prstGeom prst="rect">
            <a:avLst/>
          </a:prstGeom>
          <a:noFill/>
        </p:spPr>
        <p:txBody>
          <a:bodyPr wrap="square" lIns="0" tIns="0" rIns="0" bIns="0" anchor="ctr">
            <a:spAutoFit/>
          </a:bodyPr>
          <a:lstStyle/>
          <a:p>
            <a:pPr algn="ctr"/>
            <a:r>
              <a:rPr sz="1100" b="0">
                <a:solidFill>
                  <a:srgbClr val="222222"/>
                </a:solidFill>
                <a:latin typeface="에이투지체 6 SemiBold"/>
                <a:ea typeface="에이투지체 6 SemiBold"/>
                <a:cs typeface="에이투지체 6 SemiBold"/>
              </a:rPr>
              <a:t>브랜드 검색어 노출</a:t>
            </a:r>
          </a:p>
          <a:p>
            <a:pPr algn="ctr"/>
            <a:r>
              <a:rPr sz="1100" b="0">
                <a:solidFill>
                  <a:srgbClr val="222222"/>
                </a:solidFill>
                <a:latin typeface="에이투지체 6 SemiBold"/>
                <a:ea typeface="에이투지체 6 SemiBold"/>
                <a:cs typeface="에이투지체 6 SemiBold"/>
              </a:rPr>
              <a:t>광고 전환</a:t>
            </a:r>
          </a:p>
        </p:txBody>
      </p:sp>
      <p:sp>
        <p:nvSpPr>
          <p:cNvPr id="51" name="Isosceles Triangle 50"/>
          <p:cNvSpPr/>
          <p:nvPr/>
        </p:nvSpPr>
        <p:spPr>
          <a:xfrm rot="5400000">
            <a:off x="2990088" y="4892040"/>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Isosceles Triangle 51"/>
          <p:cNvSpPr/>
          <p:nvPr/>
        </p:nvSpPr>
        <p:spPr>
          <a:xfrm rot="5400000">
            <a:off x="7242048" y="4892040"/>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Isosceles Triangle 52"/>
          <p:cNvSpPr/>
          <p:nvPr/>
        </p:nvSpPr>
        <p:spPr>
          <a:xfrm rot="5400000">
            <a:off x="9665208" y="4892040"/>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2 · 11월 마케팅 전략 · 미디어믹스</a:t>
            </a:r>
            <a:endParaRPr lang="ko-KR" sz="900" dirty="0"/>
          </a:p>
        </p:txBody>
      </p:sp>
      <p:sp>
        <p:nvSpPr>
          <p:cNvPr id="14"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15"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16"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48</a:t>
            </a:r>
          </a:p>
        </p:txBody>
      </p:sp>
      <p:sp>
        <p:nvSpPr>
          <p:cNvPr id="2" name="text-324">
            <a:extLst>
              <a:ext uri="{FF2B5EF4-FFF2-40B4-BE49-F238E27FC236}">
                <a16:creationId xmlns:a16="http://schemas.microsoft.com/office/drawing/2014/main" id="{07031293-D46C-4A6A-816C-0B86BB674167}"/>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지마켓은 운영 중인 광고를 유형별로</a:t>
            </a:r>
            <a:r>
              <a:rPr lang="ko-KR" sz="1900" dirty="0">
                <a:solidFill>
                  <a:srgbClr val="222222"/>
                </a:solidFill>
                <a:latin typeface="에이투지체 8 ExtraBold"/>
                <a:ea typeface="에이투지체 8 ExtraBold"/>
                <a:cs typeface="에이투지체 8 ExtraBold"/>
              </a:rPr>
              <a:t> 나누고</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11번가는 대표 상품부터 검증해 성과에 따라 예산을 재배분합니다</a:t>
            </a:r>
            <a:endParaRPr lang="ko-KR" sz="1900" dirty="0"/>
          </a:p>
        </p:txBody>
      </p:sp>
      <p:sp>
        <p:nvSpPr>
          <p:cNvPr id="3" name="text-325">
            <a:extLst>
              <a:ext uri="{FF2B5EF4-FFF2-40B4-BE49-F238E27FC236}">
                <a16:creationId xmlns:a16="http://schemas.microsoft.com/office/drawing/2014/main" id="{A948AE7F-2DF3-4E15-B2D2-2248EF809117}"/>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지마켓·11번가 핵심과제  매체별 운영 구조</a:t>
            </a:r>
            <a:endParaRPr lang="ko-KR" sz="1100" dirty="0"/>
          </a:p>
        </p:txBody>
      </p:sp>
      <p:sp>
        <p:nvSpPr>
          <p:cNvPr id="4" name="text-326">
            <a:extLst>
              <a:ext uri="{FF2B5EF4-FFF2-40B4-BE49-F238E27FC236}">
                <a16:creationId xmlns:a16="http://schemas.microsoft.com/office/drawing/2014/main" id="{7C081767-5B60-41BA-8A2C-C146EC9B64B7}"/>
              </a:ext>
            </a:extLst>
          </p:cNvPr>
          <p:cNvSpPr>
            <a:spLocks noGrp="1"/>
          </p:cNvSpPr>
          <p:nvPr/>
        </p:nvSpPr>
        <p:spPr>
          <a:xfrm>
            <a:off x="552450" y="2057400"/>
            <a:ext cx="6534150" cy="304800"/>
          </a:xfrm>
          <a:prstGeom prst="rect">
            <a:avLst/>
          </a:prstGeom>
          <a:noFill/>
          <a:ln w="0">
            <a:noFill/>
          </a:ln>
        </p:spPr>
        <p:txBody>
          <a:bodyPr wrap="square" lIns="0" tIns="0" rIns="0" bIns="0" anchor="ctr">
            <a:noAutofit/>
          </a:bodyPr>
          <a:lstStyle>
            <a:defPPr algn="l">
              <a:defRPr sz="1500">
                <a:solidFill>
                  <a:srgbClr val="004F9F"/>
                </a:solidFill>
                <a:latin typeface="에이투지체 6 SemiBold"/>
                <a:ea typeface="에이투지체 6 SemiBold"/>
                <a:cs typeface="에이투지체 6 SemiBold"/>
              </a:defRPr>
            </a:defPPr>
          </a:lstStyle>
          <a:p>
            <a:pPr algn="l">
              <a:defRPr sz="1500">
                <a:solidFill>
                  <a:srgbClr val="004F9F"/>
                </a:solidFill>
                <a:latin typeface="에이투지체 6 SemiBold"/>
                <a:ea typeface="에이투지체 6 SemiBold"/>
                <a:cs typeface="에이투지체 6 SemiBold"/>
              </a:defRPr>
            </a:pPr>
            <a:r>
              <a:rPr sz="1500">
                <a:solidFill>
                  <a:srgbClr val="004F9F"/>
                </a:solidFill>
                <a:latin typeface="에이투지체 6 SemiBold"/>
                <a:ea typeface="에이투지체 6 SemiBold"/>
                <a:cs typeface="에이투지체 6 SemiBold"/>
              </a:rPr>
              <a:t>지마켓  AI Product Ads 유형별 역할</a:t>
            </a:r>
          </a:p>
        </p:txBody>
      </p:sp>
      <p:sp>
        <p:nvSpPr>
          <p:cNvPr id="6" name="text-327">
            <a:extLst>
              <a:ext uri="{FF2B5EF4-FFF2-40B4-BE49-F238E27FC236}">
                <a16:creationId xmlns:a16="http://schemas.microsoft.com/office/drawing/2014/main" id="{AC3D492C-1871-4ECD-A853-BECE383AB7F5}"/>
              </a:ext>
            </a:extLst>
          </p:cNvPr>
          <p:cNvSpPr>
            <a:spLocks noGrp="1"/>
          </p:cNvSpPr>
          <p:nvPr/>
        </p:nvSpPr>
        <p:spPr>
          <a:xfrm>
            <a:off x="8077200" y="2057400"/>
            <a:ext cx="3543300" cy="304800"/>
          </a:xfrm>
          <a:prstGeom prst="rect">
            <a:avLst/>
          </a:prstGeom>
          <a:noFill/>
          <a:ln w="0">
            <a:noFill/>
          </a:ln>
        </p:spPr>
        <p:txBody>
          <a:bodyPr wrap="square" lIns="0" tIns="0" rIns="0" bIns="0" anchor="ctr">
            <a:noAutofit/>
          </a:bodyPr>
          <a:lstStyle>
            <a:defPPr algn="l">
              <a:defRPr sz="1500">
                <a:solidFill>
                  <a:srgbClr val="004F9F"/>
                </a:solidFill>
                <a:latin typeface="에이투지체 6 SemiBold"/>
                <a:ea typeface="에이투지체 6 SemiBold"/>
                <a:cs typeface="에이투지체 6 SemiBold"/>
              </a:defRPr>
            </a:defPPr>
          </a:lstStyle>
          <a:p>
            <a:pPr algn="l">
              <a:defRPr sz="1500">
                <a:solidFill>
                  <a:srgbClr val="004F9F"/>
                </a:solidFill>
                <a:latin typeface="에이투지체 6 SemiBold"/>
                <a:ea typeface="에이투지체 6 SemiBold"/>
                <a:cs typeface="에이투지체 6 SemiBold"/>
              </a:defRPr>
            </a:pPr>
            <a:r>
              <a:rPr sz="1500">
                <a:solidFill>
                  <a:srgbClr val="004F9F"/>
                </a:solidFill>
                <a:latin typeface="에이투지체 6 SemiBold"/>
                <a:ea typeface="에이투지체 6 SemiBold"/>
                <a:cs typeface="에이투지체 6 SemiBold"/>
              </a:rPr>
              <a:t>11번가  공식 스토어 초기 운영</a:t>
            </a:r>
          </a:p>
        </p:txBody>
      </p:sp>
      <p:sp>
        <p:nvSpPr>
          <p:cNvPr id="10" name="node-330">
            <a:extLst>
              <a:ext uri="{FF2B5EF4-FFF2-40B4-BE49-F238E27FC236}">
                <a16:creationId xmlns:a16="http://schemas.microsoft.com/office/drawing/2014/main" id="{B3C8D8D8-92C3-4EFA-A5D9-8AA0A256B207}"/>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11" name="text-331">
            <a:extLst>
              <a:ext uri="{FF2B5EF4-FFF2-40B4-BE49-F238E27FC236}">
                <a16:creationId xmlns:a16="http://schemas.microsoft.com/office/drawing/2014/main" id="{1FC95A3F-12DD-464E-815E-860671D9DFF4}"/>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lgn="l">
              <a:defRPr sz="1358">
                <a:solidFill>
                  <a:srgbClr val="FFFFFF"/>
                </a:solidFill>
                <a:latin typeface="에이투지체 6 SemiBold"/>
                <a:ea typeface="에이투지체 6 SemiBold"/>
                <a:cs typeface="에이투지체 6 SemiBold"/>
              </a:defRPr>
            </a:pPr>
            <a:r>
              <a:rPr sz="1358">
                <a:solidFill>
                  <a:srgbClr val="004F9F"/>
                </a:solidFill>
                <a:latin typeface="에이투지체 6 SemiBold"/>
                <a:ea typeface="에이투지체 6 SemiBold"/>
                <a:cs typeface="에이투지체 6 SemiBold"/>
              </a:rPr>
              <a:t>지마켓의 CPC는 상한선으로 관리하고, 매체별 상품 ROAS가 확인된 곳에 예산을 확대합니다</a:t>
            </a:r>
          </a:p>
        </p:txBody>
      </p:sp>
      <p:sp>
        <p:nvSpPr>
          <p:cNvPr id="17" name="TextBox 16"/>
          <p:cNvSpPr txBox="1"/>
          <p:nvPr/>
        </p:nvSpPr>
        <p:spPr>
          <a:xfrm>
            <a:off x="548640" y="2432304"/>
            <a:ext cx="1828800" cy="228600"/>
          </a:xfrm>
          <a:prstGeom prst="rect">
            <a:avLst/>
          </a:prstGeom>
          <a:noFill/>
        </p:spPr>
        <p:txBody>
          <a:bodyPr wrap="square" lIns="0" tIns="0" rIns="0" bIns="0" anchor="t">
            <a:spAutoFit/>
          </a:bodyPr>
          <a:lstStyle/>
          <a:p>
            <a:pPr algn="l">
              <a:spcAft>
                <a:spcPts val="300"/>
              </a:spcAft>
            </a:pPr>
            <a:r>
              <a:rPr sz="950">
                <a:solidFill>
                  <a:srgbClr val="004F9F"/>
                </a:solidFill>
                <a:latin typeface="에이투지체 6 SemiBold"/>
                <a:ea typeface="에이투지체 6 SemiBold"/>
              </a:rPr>
              <a:t>AI 자동 운영</a:t>
            </a:r>
          </a:p>
        </p:txBody>
      </p:sp>
      <p:sp>
        <p:nvSpPr>
          <p:cNvPr id="18" name="TextBox 17"/>
          <p:cNvSpPr txBox="1"/>
          <p:nvPr/>
        </p:nvSpPr>
        <p:spPr>
          <a:xfrm>
            <a:off x="5806440" y="2432304"/>
            <a:ext cx="1463040" cy="228600"/>
          </a:xfrm>
          <a:prstGeom prst="rect">
            <a:avLst/>
          </a:prstGeom>
          <a:noFill/>
        </p:spPr>
        <p:txBody>
          <a:bodyPr wrap="square" lIns="0" tIns="0" rIns="0" bIns="0" anchor="t">
            <a:spAutoFit/>
          </a:bodyPr>
          <a:lstStyle/>
          <a:p>
            <a:pPr algn="l">
              <a:spcAft>
                <a:spcPts val="300"/>
              </a:spcAft>
            </a:pPr>
            <a:r>
              <a:rPr sz="950">
                <a:solidFill>
                  <a:srgbClr val="004F9F"/>
                </a:solidFill>
                <a:latin typeface="에이투지체 6 SemiBold"/>
                <a:ea typeface="에이투지체 6 SemiBold"/>
              </a:rPr>
              <a:t>직접 관리</a:t>
            </a:r>
          </a:p>
        </p:txBody>
      </p:sp>
      <p:cxnSp>
        <p:nvCxnSpPr>
          <p:cNvPr id="19" name="Connector 18"/>
          <p:cNvCxnSpPr/>
          <p:nvPr/>
        </p:nvCxnSpPr>
        <p:spPr>
          <a:xfrm>
            <a:off x="1600200" y="2546604"/>
            <a:ext cx="4160520" cy="0"/>
          </a:xfrm>
          <a:prstGeom prst="line">
            <a:avLst/>
          </a:prstGeom>
          <a:ln w="9525">
            <a:solidFill>
              <a:srgbClr val="004F9F"/>
            </a:solidFill>
          </a:ln>
        </p:spPr>
        <p:style>
          <a:lnRef idx="2">
            <a:schemeClr val="accent1"/>
          </a:lnRef>
          <a:fillRef idx="0">
            <a:schemeClr val="accent1"/>
          </a:fillRef>
          <a:effectRef idx="1">
            <a:schemeClr val="accent1"/>
          </a:effectRef>
          <a:fontRef idx="minor">
            <a:schemeClr val="tx1"/>
          </a:fontRef>
        </p:style>
      </p:cxnSp>
      <p:sp>
        <p:nvSpPr>
          <p:cNvPr id="20" name="Isosceles Triangle 19"/>
          <p:cNvSpPr/>
          <p:nvPr/>
        </p:nvSpPr>
        <p:spPr>
          <a:xfrm rot="5400000">
            <a:off x="5596128" y="2455164"/>
            <a:ext cx="128016" cy="182880"/>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548640" y="2788920"/>
            <a:ext cx="2194560" cy="1965960"/>
          </a:xfrm>
          <a:prstGeom prst="roundRect">
            <a:avLst>
              <a:gd name="adj" fmla="val 372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749808" y="2990088"/>
            <a:ext cx="420624" cy="420624"/>
          </a:xfrm>
          <a:prstGeom prst="ellips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bot_FFFFFF.png"/>
          <p:cNvPicPr>
            <a:picLocks noChangeAspect="1"/>
          </p:cNvPicPr>
          <p:nvPr/>
        </p:nvPicPr>
        <p:blipFill>
          <a:blip r:embed="rId3"/>
          <a:stretch>
            <a:fillRect/>
          </a:stretch>
        </p:blipFill>
        <p:spPr>
          <a:xfrm>
            <a:off x="859170" y="3099450"/>
            <a:ext cx="201899" cy="201899"/>
          </a:xfrm>
          <a:prstGeom prst="rect">
            <a:avLst/>
          </a:prstGeom>
        </p:spPr>
      </p:pic>
      <p:sp>
        <p:nvSpPr>
          <p:cNvPr id="24" name="TextBox 23"/>
          <p:cNvSpPr txBox="1"/>
          <p:nvPr/>
        </p:nvSpPr>
        <p:spPr>
          <a:xfrm>
            <a:off x="749808" y="3502152"/>
            <a:ext cx="1828800" cy="292608"/>
          </a:xfrm>
          <a:prstGeom prst="rect">
            <a:avLst/>
          </a:prstGeom>
          <a:noFill/>
        </p:spPr>
        <p:txBody>
          <a:bodyPr wrap="square" lIns="0" tIns="0" rIns="0" bIns="0" anchor="t">
            <a:spAutoFit/>
          </a:bodyPr>
          <a:lstStyle/>
          <a:p>
            <a:pPr algn="l">
              <a:spcAft>
                <a:spcPts val="300"/>
              </a:spcAft>
            </a:pPr>
            <a:r>
              <a:rPr sz="1300">
                <a:solidFill>
                  <a:srgbClr val="222222"/>
                </a:solidFill>
                <a:latin typeface="에이투지체 6 SemiBold"/>
                <a:ea typeface="에이투지체 6 SemiBold"/>
              </a:rPr>
              <a:t>통합 운영형</a:t>
            </a:r>
          </a:p>
        </p:txBody>
      </p:sp>
      <p:sp>
        <p:nvSpPr>
          <p:cNvPr id="25" name="TextBox 24"/>
          <p:cNvSpPr txBox="1"/>
          <p:nvPr/>
        </p:nvSpPr>
        <p:spPr>
          <a:xfrm>
            <a:off x="749808" y="3776472"/>
            <a:ext cx="1828800" cy="237744"/>
          </a:xfrm>
          <a:prstGeom prst="rect">
            <a:avLst/>
          </a:prstGeom>
          <a:noFill/>
        </p:spPr>
        <p:txBody>
          <a:bodyPr wrap="square" lIns="0" tIns="0" rIns="0" bIns="0" anchor="t">
            <a:spAutoFit/>
          </a:bodyPr>
          <a:lstStyle/>
          <a:p>
            <a:pPr algn="l">
              <a:spcAft>
                <a:spcPts val="300"/>
              </a:spcAft>
            </a:pPr>
            <a:r>
              <a:rPr sz="1000">
                <a:solidFill>
                  <a:srgbClr val="5C5C5C"/>
                </a:solidFill>
                <a:latin typeface="에이투지체 4 Regular"/>
                <a:ea typeface="에이투지체 4 Regular"/>
              </a:rPr>
              <a:t>상품 · 입찰 모두 AI</a:t>
            </a:r>
          </a:p>
        </p:txBody>
      </p:sp>
      <p:cxnSp>
        <p:nvCxnSpPr>
          <p:cNvPr id="26" name="Connector 25"/>
          <p:cNvCxnSpPr/>
          <p:nvPr/>
        </p:nvCxnSpPr>
        <p:spPr>
          <a:xfrm>
            <a:off x="749808" y="4087368"/>
            <a:ext cx="1792224" cy="0"/>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49808" y="4160520"/>
            <a:ext cx="1828800" cy="228600"/>
          </a:xfrm>
          <a:prstGeom prst="rect">
            <a:avLst/>
          </a:prstGeom>
          <a:noFill/>
        </p:spPr>
        <p:txBody>
          <a:bodyPr wrap="square" lIns="0" tIns="0" rIns="0" bIns="0" anchor="t">
            <a:spAutoFit/>
          </a:bodyPr>
          <a:lstStyle/>
          <a:p>
            <a:pPr algn="l">
              <a:spcAft>
                <a:spcPts val="300"/>
              </a:spcAft>
            </a:pPr>
            <a:r>
              <a:rPr sz="900">
                <a:solidFill>
                  <a:srgbClr val="004F9F"/>
                </a:solidFill>
                <a:latin typeface="에이투지체 6 SemiBold"/>
                <a:ea typeface="에이투지체 6 SemiBold"/>
              </a:rPr>
              <a:t>두드림 적용</a:t>
            </a:r>
          </a:p>
        </p:txBody>
      </p:sp>
      <p:sp>
        <p:nvSpPr>
          <p:cNvPr id="28" name="TextBox 27"/>
          <p:cNvSpPr txBox="1"/>
          <p:nvPr/>
        </p:nvSpPr>
        <p:spPr>
          <a:xfrm>
            <a:off x="749808" y="4361688"/>
            <a:ext cx="1828800" cy="329184"/>
          </a:xfrm>
          <a:prstGeom prst="rect">
            <a:avLst/>
          </a:prstGeom>
          <a:noFill/>
        </p:spPr>
        <p:txBody>
          <a:bodyPr wrap="square" lIns="0" tIns="0" rIns="0" bIns="0" anchor="t">
            <a:spAutoFit/>
          </a:bodyPr>
          <a:lstStyle/>
          <a:p>
            <a:pPr algn="l">
              <a:spcAft>
                <a:spcPts val="300"/>
              </a:spcAft>
            </a:pPr>
            <a:r>
              <a:rPr sz="1050">
                <a:solidFill>
                  <a:srgbClr val="222222"/>
                </a:solidFill>
                <a:latin typeface="에이투지체 6 SemiBold"/>
                <a:ea typeface="에이투지체 6 SemiBold"/>
              </a:rPr>
              <a:t>그 외 상품 소액 탐색</a:t>
            </a:r>
          </a:p>
        </p:txBody>
      </p:sp>
      <p:sp>
        <p:nvSpPr>
          <p:cNvPr id="29" name="Rounded Rectangle 28"/>
          <p:cNvSpPr/>
          <p:nvPr/>
        </p:nvSpPr>
        <p:spPr>
          <a:xfrm>
            <a:off x="2889504" y="2788920"/>
            <a:ext cx="2194560" cy="1965960"/>
          </a:xfrm>
          <a:prstGeom prst="roundRect">
            <a:avLst>
              <a:gd name="adj" fmla="val 372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3090672" y="2990088"/>
            <a:ext cx="420624" cy="420624"/>
          </a:xfrm>
          <a:prstGeom prst="ellips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Picture 30" descr="sliders-horizontal_FFFFFF.png"/>
          <p:cNvPicPr>
            <a:picLocks noChangeAspect="1"/>
          </p:cNvPicPr>
          <p:nvPr/>
        </p:nvPicPr>
        <p:blipFill>
          <a:blip r:embed="rId4"/>
          <a:stretch>
            <a:fillRect/>
          </a:stretch>
        </p:blipFill>
        <p:spPr>
          <a:xfrm>
            <a:off x="3200034" y="3099450"/>
            <a:ext cx="201899" cy="201899"/>
          </a:xfrm>
          <a:prstGeom prst="rect">
            <a:avLst/>
          </a:prstGeom>
        </p:spPr>
      </p:pic>
      <p:sp>
        <p:nvSpPr>
          <p:cNvPr id="32" name="TextBox 31"/>
          <p:cNvSpPr txBox="1"/>
          <p:nvPr/>
        </p:nvSpPr>
        <p:spPr>
          <a:xfrm>
            <a:off x="3090672" y="3502152"/>
            <a:ext cx="1828800" cy="292608"/>
          </a:xfrm>
          <a:prstGeom prst="rect">
            <a:avLst/>
          </a:prstGeom>
          <a:noFill/>
        </p:spPr>
        <p:txBody>
          <a:bodyPr wrap="square" lIns="0" tIns="0" rIns="0" bIns="0" anchor="t">
            <a:spAutoFit/>
          </a:bodyPr>
          <a:lstStyle/>
          <a:p>
            <a:pPr algn="l">
              <a:spcAft>
                <a:spcPts val="300"/>
              </a:spcAft>
            </a:pPr>
            <a:r>
              <a:rPr sz="1300">
                <a:solidFill>
                  <a:srgbClr val="222222"/>
                </a:solidFill>
                <a:latin typeface="에이투지체 6 SemiBold"/>
                <a:ea typeface="에이투지체 6 SemiBold"/>
              </a:rPr>
              <a:t>집중 운영형</a:t>
            </a:r>
          </a:p>
        </p:txBody>
      </p:sp>
      <p:sp>
        <p:nvSpPr>
          <p:cNvPr id="33" name="TextBox 32"/>
          <p:cNvSpPr txBox="1"/>
          <p:nvPr/>
        </p:nvSpPr>
        <p:spPr>
          <a:xfrm>
            <a:off x="3090672" y="3776472"/>
            <a:ext cx="1828800" cy="237744"/>
          </a:xfrm>
          <a:prstGeom prst="rect">
            <a:avLst/>
          </a:prstGeom>
          <a:noFill/>
        </p:spPr>
        <p:txBody>
          <a:bodyPr wrap="square" lIns="0" tIns="0" rIns="0" bIns="0" anchor="t">
            <a:spAutoFit/>
          </a:bodyPr>
          <a:lstStyle/>
          <a:p>
            <a:pPr algn="l">
              <a:spcAft>
                <a:spcPts val="300"/>
              </a:spcAft>
            </a:pPr>
            <a:r>
              <a:rPr sz="1000">
                <a:solidFill>
                  <a:srgbClr val="5C5C5C"/>
                </a:solidFill>
                <a:latin typeface="에이투지체 4 Regular"/>
                <a:ea typeface="에이투지체 4 Regular"/>
              </a:rPr>
              <a:t>상품은 선택, 입찰은 AI</a:t>
            </a:r>
          </a:p>
        </p:txBody>
      </p:sp>
      <p:cxnSp>
        <p:nvCxnSpPr>
          <p:cNvPr id="34" name="Connector 33"/>
          <p:cNvCxnSpPr/>
          <p:nvPr/>
        </p:nvCxnSpPr>
        <p:spPr>
          <a:xfrm>
            <a:off x="3090672" y="4087368"/>
            <a:ext cx="1792224" cy="0"/>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3090672" y="4160520"/>
            <a:ext cx="1828800" cy="228600"/>
          </a:xfrm>
          <a:prstGeom prst="rect">
            <a:avLst/>
          </a:prstGeom>
          <a:noFill/>
        </p:spPr>
        <p:txBody>
          <a:bodyPr wrap="square" lIns="0" tIns="0" rIns="0" bIns="0" anchor="t">
            <a:spAutoFit/>
          </a:bodyPr>
          <a:lstStyle/>
          <a:p>
            <a:pPr algn="l">
              <a:spcAft>
                <a:spcPts val="300"/>
              </a:spcAft>
            </a:pPr>
            <a:r>
              <a:rPr sz="900">
                <a:solidFill>
                  <a:srgbClr val="004F9F"/>
                </a:solidFill>
                <a:latin typeface="에이투지체 6 SemiBold"/>
                <a:ea typeface="에이투지체 6 SemiBold"/>
              </a:rPr>
              <a:t>두드림 적용</a:t>
            </a:r>
          </a:p>
        </p:txBody>
      </p:sp>
      <p:sp>
        <p:nvSpPr>
          <p:cNvPr id="36" name="TextBox 35"/>
          <p:cNvSpPr txBox="1"/>
          <p:nvPr/>
        </p:nvSpPr>
        <p:spPr>
          <a:xfrm>
            <a:off x="3090672" y="4361688"/>
            <a:ext cx="1828800" cy="329184"/>
          </a:xfrm>
          <a:prstGeom prst="rect">
            <a:avLst/>
          </a:prstGeom>
          <a:noFill/>
        </p:spPr>
        <p:txBody>
          <a:bodyPr wrap="square" lIns="0" tIns="0" rIns="0" bIns="0" anchor="t">
            <a:spAutoFit/>
          </a:bodyPr>
          <a:lstStyle/>
          <a:p>
            <a:pPr algn="l">
              <a:spcAft>
                <a:spcPts val="300"/>
              </a:spcAft>
            </a:pPr>
            <a:r>
              <a:rPr sz="1050">
                <a:solidFill>
                  <a:srgbClr val="222222"/>
                </a:solidFill>
                <a:latin typeface="에이투지체 6 SemiBold"/>
                <a:ea typeface="에이투지체 6 SemiBold"/>
              </a:rPr>
              <a:t>카무트 효소 성과 검증</a:t>
            </a:r>
          </a:p>
        </p:txBody>
      </p:sp>
      <p:sp>
        <p:nvSpPr>
          <p:cNvPr id="37" name="Rounded Rectangle 36"/>
          <p:cNvSpPr/>
          <p:nvPr/>
        </p:nvSpPr>
        <p:spPr>
          <a:xfrm>
            <a:off x="5230368" y="2788920"/>
            <a:ext cx="2194560" cy="1965960"/>
          </a:xfrm>
          <a:prstGeom prst="roundRect">
            <a:avLst>
              <a:gd name="adj" fmla="val 3720"/>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5431536" y="2990088"/>
            <a:ext cx="420624" cy="420624"/>
          </a:xfrm>
          <a:prstGeom prst="ellips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9" name="Picture 38" descr="target_FFFFFF.png"/>
          <p:cNvPicPr>
            <a:picLocks noChangeAspect="1"/>
          </p:cNvPicPr>
          <p:nvPr/>
        </p:nvPicPr>
        <p:blipFill>
          <a:blip r:embed="rId5"/>
          <a:stretch>
            <a:fillRect/>
          </a:stretch>
        </p:blipFill>
        <p:spPr>
          <a:xfrm>
            <a:off x="5540898" y="3099450"/>
            <a:ext cx="201899" cy="201899"/>
          </a:xfrm>
          <a:prstGeom prst="rect">
            <a:avLst/>
          </a:prstGeom>
        </p:spPr>
      </p:pic>
      <p:sp>
        <p:nvSpPr>
          <p:cNvPr id="40" name="TextBox 39"/>
          <p:cNvSpPr txBox="1"/>
          <p:nvPr/>
        </p:nvSpPr>
        <p:spPr>
          <a:xfrm>
            <a:off x="5431536" y="3502152"/>
            <a:ext cx="1828800" cy="292608"/>
          </a:xfrm>
          <a:prstGeom prst="rect">
            <a:avLst/>
          </a:prstGeom>
          <a:noFill/>
        </p:spPr>
        <p:txBody>
          <a:bodyPr wrap="square" lIns="0" tIns="0" rIns="0" bIns="0" anchor="t">
            <a:spAutoFit/>
          </a:bodyPr>
          <a:lstStyle/>
          <a:p>
            <a:pPr algn="l">
              <a:spcAft>
                <a:spcPts val="300"/>
              </a:spcAft>
            </a:pPr>
            <a:r>
              <a:rPr sz="1300">
                <a:solidFill>
                  <a:srgbClr val="222222"/>
                </a:solidFill>
                <a:latin typeface="에이투지체 6 SemiBold"/>
                <a:ea typeface="에이투지체 6 SemiBold"/>
              </a:rPr>
              <a:t>직접 운영형</a:t>
            </a:r>
          </a:p>
        </p:txBody>
      </p:sp>
      <p:sp>
        <p:nvSpPr>
          <p:cNvPr id="41" name="TextBox 40"/>
          <p:cNvSpPr txBox="1"/>
          <p:nvPr/>
        </p:nvSpPr>
        <p:spPr>
          <a:xfrm>
            <a:off x="5431536" y="3776472"/>
            <a:ext cx="1828800" cy="237744"/>
          </a:xfrm>
          <a:prstGeom prst="rect">
            <a:avLst/>
          </a:prstGeom>
          <a:noFill/>
        </p:spPr>
        <p:txBody>
          <a:bodyPr wrap="square" lIns="0" tIns="0" rIns="0" bIns="0" anchor="t">
            <a:spAutoFit/>
          </a:bodyPr>
          <a:lstStyle/>
          <a:p>
            <a:pPr algn="l">
              <a:spcAft>
                <a:spcPts val="300"/>
              </a:spcAft>
            </a:pPr>
            <a:r>
              <a:rPr sz="1000">
                <a:solidFill>
                  <a:srgbClr val="5C5C5C"/>
                </a:solidFill>
                <a:latin typeface="에이투지체 4 Regular"/>
                <a:ea typeface="에이투지체 4 Regular"/>
              </a:rPr>
              <a:t>상품 · 키워드 · 입찰가 직접</a:t>
            </a:r>
          </a:p>
        </p:txBody>
      </p:sp>
      <p:cxnSp>
        <p:nvCxnSpPr>
          <p:cNvPr id="42" name="Connector 41"/>
          <p:cNvCxnSpPr/>
          <p:nvPr/>
        </p:nvCxnSpPr>
        <p:spPr>
          <a:xfrm>
            <a:off x="5431536" y="4087368"/>
            <a:ext cx="1792223" cy="0"/>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5431536" y="4160520"/>
            <a:ext cx="1828800" cy="228600"/>
          </a:xfrm>
          <a:prstGeom prst="rect">
            <a:avLst/>
          </a:prstGeom>
          <a:noFill/>
        </p:spPr>
        <p:txBody>
          <a:bodyPr wrap="square" lIns="0" tIns="0" rIns="0" bIns="0" anchor="t">
            <a:spAutoFit/>
          </a:bodyPr>
          <a:lstStyle/>
          <a:p>
            <a:pPr algn="l">
              <a:spcAft>
                <a:spcPts val="300"/>
              </a:spcAft>
            </a:pPr>
            <a:r>
              <a:rPr sz="900">
                <a:solidFill>
                  <a:srgbClr val="004F9F"/>
                </a:solidFill>
                <a:latin typeface="에이투지체 6 SemiBold"/>
                <a:ea typeface="에이투지체 6 SemiBold"/>
              </a:rPr>
              <a:t>두드림 적용</a:t>
            </a:r>
          </a:p>
        </p:txBody>
      </p:sp>
      <p:sp>
        <p:nvSpPr>
          <p:cNvPr id="44" name="TextBox 43"/>
          <p:cNvSpPr txBox="1"/>
          <p:nvPr/>
        </p:nvSpPr>
        <p:spPr>
          <a:xfrm>
            <a:off x="5431536" y="4361688"/>
            <a:ext cx="1828800" cy="329184"/>
          </a:xfrm>
          <a:prstGeom prst="rect">
            <a:avLst/>
          </a:prstGeom>
          <a:noFill/>
        </p:spPr>
        <p:txBody>
          <a:bodyPr wrap="square" lIns="0" tIns="0" rIns="0" bIns="0" anchor="t">
            <a:spAutoFit/>
          </a:bodyPr>
          <a:lstStyle/>
          <a:p>
            <a:pPr algn="l">
              <a:spcAft>
                <a:spcPts val="300"/>
              </a:spcAft>
            </a:pPr>
            <a:r>
              <a:rPr sz="1050">
                <a:solidFill>
                  <a:srgbClr val="222222"/>
                </a:solidFill>
                <a:latin typeface="에이투지체 6 SemiBold"/>
                <a:ea typeface="에이투지체 6 SemiBold"/>
              </a:rPr>
              <a:t>키성장 FGO 키워드별 CPC 상한</a:t>
            </a:r>
          </a:p>
        </p:txBody>
      </p:sp>
      <p:sp>
        <p:nvSpPr>
          <p:cNvPr id="45" name="Rounded Rectangle 44"/>
          <p:cNvSpPr/>
          <p:nvPr/>
        </p:nvSpPr>
        <p:spPr>
          <a:xfrm>
            <a:off x="8074152" y="2487168"/>
            <a:ext cx="3538728" cy="475488"/>
          </a:xfrm>
          <a:prstGeom prst="roundRect">
            <a:avLst>
              <a:gd name="adj" fmla="val 15384"/>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8229600" y="2578608"/>
            <a:ext cx="292608" cy="292608"/>
          </a:xfrm>
          <a:prstGeom prst="ellips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7" name="Picture 46" descr="check_FFFFFF.png"/>
          <p:cNvPicPr>
            <a:picLocks noChangeAspect="1"/>
          </p:cNvPicPr>
          <p:nvPr/>
        </p:nvPicPr>
        <p:blipFill>
          <a:blip r:embed="rId6"/>
          <a:stretch>
            <a:fillRect/>
          </a:stretch>
        </p:blipFill>
        <p:spPr>
          <a:xfrm>
            <a:off x="8305678" y="2654686"/>
            <a:ext cx="140451" cy="140451"/>
          </a:xfrm>
          <a:prstGeom prst="rect">
            <a:avLst/>
          </a:prstGeom>
        </p:spPr>
      </p:pic>
      <p:sp>
        <p:nvSpPr>
          <p:cNvPr id="48" name="TextBox 47"/>
          <p:cNvSpPr txBox="1"/>
          <p:nvPr/>
        </p:nvSpPr>
        <p:spPr>
          <a:xfrm>
            <a:off x="8641080" y="2487168"/>
            <a:ext cx="2880360" cy="475488"/>
          </a:xfrm>
          <a:prstGeom prst="rect">
            <a:avLst/>
          </a:prstGeom>
          <a:noFill/>
        </p:spPr>
        <p:txBody>
          <a:bodyPr wrap="square" lIns="0" tIns="0" rIns="0" bIns="0" anchor="ctr">
            <a:spAutoFit/>
          </a:bodyPr>
          <a:lstStyle/>
          <a:p>
            <a:pPr algn="l">
              <a:spcAft>
                <a:spcPts val="300"/>
              </a:spcAft>
            </a:pPr>
            <a:r>
              <a:rPr sz="1200">
                <a:solidFill>
                  <a:srgbClr val="222222"/>
                </a:solidFill>
                <a:latin typeface="에이투지체 5 Medium"/>
                <a:ea typeface="에이투지체 5 Medium"/>
              </a:rPr>
              <a:t>브랜드 키워드 우선</a:t>
            </a:r>
          </a:p>
        </p:txBody>
      </p:sp>
      <p:sp>
        <p:nvSpPr>
          <p:cNvPr id="49" name="Rounded Rectangle 48"/>
          <p:cNvSpPr/>
          <p:nvPr/>
        </p:nvSpPr>
        <p:spPr>
          <a:xfrm>
            <a:off x="8074152" y="3063240"/>
            <a:ext cx="3538728" cy="475488"/>
          </a:xfrm>
          <a:prstGeom prst="roundRect">
            <a:avLst>
              <a:gd name="adj" fmla="val 15384"/>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8229600" y="3154680"/>
            <a:ext cx="292608" cy="292608"/>
          </a:xfrm>
          <a:prstGeom prst="ellips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1" name="Picture 50" descr="check_FFFFFF.png"/>
          <p:cNvPicPr>
            <a:picLocks noChangeAspect="1"/>
          </p:cNvPicPr>
          <p:nvPr/>
        </p:nvPicPr>
        <p:blipFill>
          <a:blip r:embed="rId6"/>
          <a:stretch>
            <a:fillRect/>
          </a:stretch>
        </p:blipFill>
        <p:spPr>
          <a:xfrm>
            <a:off x="8305678" y="3230758"/>
            <a:ext cx="140451" cy="140451"/>
          </a:xfrm>
          <a:prstGeom prst="rect">
            <a:avLst/>
          </a:prstGeom>
        </p:spPr>
      </p:pic>
      <p:sp>
        <p:nvSpPr>
          <p:cNvPr id="52" name="TextBox 51"/>
          <p:cNvSpPr txBox="1"/>
          <p:nvPr/>
        </p:nvSpPr>
        <p:spPr>
          <a:xfrm>
            <a:off x="8641080" y="3063240"/>
            <a:ext cx="2880360" cy="475488"/>
          </a:xfrm>
          <a:prstGeom prst="rect">
            <a:avLst/>
          </a:prstGeom>
          <a:noFill/>
        </p:spPr>
        <p:txBody>
          <a:bodyPr wrap="square" lIns="0" tIns="0" rIns="0" bIns="0" anchor="ctr">
            <a:spAutoFit/>
          </a:bodyPr>
          <a:lstStyle/>
          <a:p>
            <a:pPr algn="l">
              <a:spcAft>
                <a:spcPts val="300"/>
              </a:spcAft>
            </a:pPr>
            <a:r>
              <a:rPr sz="1200">
                <a:solidFill>
                  <a:srgbClr val="222222"/>
                </a:solidFill>
                <a:latin typeface="에이투지체 5 Medium"/>
                <a:ea typeface="에이투지체 5 Medium"/>
              </a:rPr>
              <a:t>키성장 롱테일 테스트</a:t>
            </a:r>
          </a:p>
        </p:txBody>
      </p:sp>
      <p:sp>
        <p:nvSpPr>
          <p:cNvPr id="53" name="Rounded Rectangle 52"/>
          <p:cNvSpPr/>
          <p:nvPr/>
        </p:nvSpPr>
        <p:spPr>
          <a:xfrm>
            <a:off x="8074152" y="3639312"/>
            <a:ext cx="3538728" cy="475488"/>
          </a:xfrm>
          <a:prstGeom prst="roundRect">
            <a:avLst>
              <a:gd name="adj" fmla="val 15384"/>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8229600" y="3730752"/>
            <a:ext cx="292608" cy="292608"/>
          </a:xfrm>
          <a:prstGeom prst="ellips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5" name="Picture 54" descr="check_FFFFFF.png"/>
          <p:cNvPicPr>
            <a:picLocks noChangeAspect="1"/>
          </p:cNvPicPr>
          <p:nvPr/>
        </p:nvPicPr>
        <p:blipFill>
          <a:blip r:embed="rId6"/>
          <a:stretch>
            <a:fillRect/>
          </a:stretch>
        </p:blipFill>
        <p:spPr>
          <a:xfrm>
            <a:off x="8305678" y="3806830"/>
            <a:ext cx="140451" cy="140451"/>
          </a:xfrm>
          <a:prstGeom prst="rect">
            <a:avLst/>
          </a:prstGeom>
        </p:spPr>
      </p:pic>
      <p:sp>
        <p:nvSpPr>
          <p:cNvPr id="56" name="TextBox 55"/>
          <p:cNvSpPr txBox="1"/>
          <p:nvPr/>
        </p:nvSpPr>
        <p:spPr>
          <a:xfrm>
            <a:off x="8641080" y="3639312"/>
            <a:ext cx="2880360" cy="475488"/>
          </a:xfrm>
          <a:prstGeom prst="rect">
            <a:avLst/>
          </a:prstGeom>
          <a:noFill/>
        </p:spPr>
        <p:txBody>
          <a:bodyPr wrap="square" lIns="0" tIns="0" rIns="0" bIns="0" anchor="ctr">
            <a:spAutoFit/>
          </a:bodyPr>
          <a:lstStyle/>
          <a:p>
            <a:pPr algn="l">
              <a:spcAft>
                <a:spcPts val="300"/>
              </a:spcAft>
            </a:pPr>
            <a:r>
              <a:rPr sz="1200">
                <a:solidFill>
                  <a:srgbClr val="222222"/>
                </a:solidFill>
                <a:latin typeface="에이투지체 5 Medium"/>
                <a:ea typeface="에이투지체 5 Medium"/>
              </a:rPr>
              <a:t>대표 상품 1~2개에 집중</a:t>
            </a:r>
          </a:p>
        </p:txBody>
      </p:sp>
      <p:sp>
        <p:nvSpPr>
          <p:cNvPr id="57" name="Rounded Rectangle 56"/>
          <p:cNvSpPr/>
          <p:nvPr/>
        </p:nvSpPr>
        <p:spPr>
          <a:xfrm>
            <a:off x="8074152" y="4215384"/>
            <a:ext cx="3538728" cy="475488"/>
          </a:xfrm>
          <a:prstGeom prst="roundRect">
            <a:avLst>
              <a:gd name="adj" fmla="val 15384"/>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val 57"/>
          <p:cNvSpPr/>
          <p:nvPr/>
        </p:nvSpPr>
        <p:spPr>
          <a:xfrm>
            <a:off x="8229600" y="4306824"/>
            <a:ext cx="292608" cy="292608"/>
          </a:xfrm>
          <a:prstGeom prst="ellips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9" name="Picture 58" descr="check_FFFFFF.png"/>
          <p:cNvPicPr>
            <a:picLocks noChangeAspect="1"/>
          </p:cNvPicPr>
          <p:nvPr/>
        </p:nvPicPr>
        <p:blipFill>
          <a:blip r:embed="rId6"/>
          <a:stretch>
            <a:fillRect/>
          </a:stretch>
        </p:blipFill>
        <p:spPr>
          <a:xfrm>
            <a:off x="8305678" y="4382902"/>
            <a:ext cx="140451" cy="140451"/>
          </a:xfrm>
          <a:prstGeom prst="rect">
            <a:avLst/>
          </a:prstGeom>
        </p:spPr>
      </p:pic>
      <p:sp>
        <p:nvSpPr>
          <p:cNvPr id="60" name="TextBox 59"/>
          <p:cNvSpPr txBox="1"/>
          <p:nvPr/>
        </p:nvSpPr>
        <p:spPr>
          <a:xfrm>
            <a:off x="8641080" y="4215384"/>
            <a:ext cx="2880360" cy="475488"/>
          </a:xfrm>
          <a:prstGeom prst="rect">
            <a:avLst/>
          </a:prstGeom>
          <a:noFill/>
        </p:spPr>
        <p:txBody>
          <a:bodyPr wrap="square" lIns="0" tIns="0" rIns="0" bIns="0" anchor="ctr">
            <a:spAutoFit/>
          </a:bodyPr>
          <a:lstStyle/>
          <a:p>
            <a:pPr algn="l">
              <a:spcAft>
                <a:spcPts val="300"/>
              </a:spcAft>
            </a:pPr>
            <a:r>
              <a:rPr sz="1200">
                <a:solidFill>
                  <a:srgbClr val="222222"/>
                </a:solidFill>
                <a:latin typeface="에이투지체 5 Medium"/>
                <a:ea typeface="에이투지체 5 Medium"/>
              </a:rPr>
              <a:t>판매처 노출 월 1회 점검</a:t>
            </a:r>
          </a:p>
        </p:txBody>
      </p:sp>
      <p:sp>
        <p:nvSpPr>
          <p:cNvPr id="61" name="Rounded Rectangle 60"/>
          <p:cNvSpPr/>
          <p:nvPr/>
        </p:nvSpPr>
        <p:spPr>
          <a:xfrm>
            <a:off x="548640" y="4956048"/>
            <a:ext cx="3566160" cy="438912"/>
          </a:xfrm>
          <a:prstGeom prst="roundRect">
            <a:avLst>
              <a:gd name="adj" fmla="val 16666"/>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2" name="Picture 61" descr="copy-x_004F9F.png"/>
          <p:cNvPicPr>
            <a:picLocks noChangeAspect="1"/>
          </p:cNvPicPr>
          <p:nvPr/>
        </p:nvPicPr>
        <p:blipFill>
          <a:blip r:embed="rId7"/>
          <a:stretch>
            <a:fillRect/>
          </a:stretch>
        </p:blipFill>
        <p:spPr>
          <a:xfrm>
            <a:off x="685800" y="5029200"/>
            <a:ext cx="292608" cy="292608"/>
          </a:xfrm>
          <a:prstGeom prst="rect">
            <a:avLst/>
          </a:prstGeom>
        </p:spPr>
      </p:pic>
      <p:sp>
        <p:nvSpPr>
          <p:cNvPr id="63" name="TextBox 62"/>
          <p:cNvSpPr txBox="1"/>
          <p:nvPr/>
        </p:nvSpPr>
        <p:spPr>
          <a:xfrm>
            <a:off x="1097280" y="4956048"/>
            <a:ext cx="2926080" cy="438912"/>
          </a:xfrm>
          <a:prstGeom prst="rect">
            <a:avLst/>
          </a:prstGeom>
          <a:noFill/>
        </p:spPr>
        <p:txBody>
          <a:bodyPr wrap="square" lIns="0" tIns="0" rIns="0" bIns="0" anchor="ctr">
            <a:spAutoFit/>
          </a:bodyPr>
          <a:lstStyle/>
          <a:p>
            <a:pPr algn="l">
              <a:spcAft>
                <a:spcPts val="300"/>
              </a:spcAft>
            </a:pPr>
            <a:r>
              <a:rPr sz="1150">
                <a:solidFill>
                  <a:srgbClr val="222222"/>
                </a:solidFill>
                <a:latin typeface="에이투지체 5 Medium"/>
                <a:ea typeface="에이투지체 5 Medium"/>
              </a:rPr>
              <a:t>캠페인 간 상품 중복 없이 운영</a:t>
            </a:r>
          </a:p>
        </p:txBody>
      </p:sp>
      <p:sp>
        <p:nvSpPr>
          <p:cNvPr id="64" name="Rounded Rectangle 63"/>
          <p:cNvSpPr/>
          <p:nvPr/>
        </p:nvSpPr>
        <p:spPr>
          <a:xfrm>
            <a:off x="4297679" y="4956048"/>
            <a:ext cx="3566160" cy="438912"/>
          </a:xfrm>
          <a:prstGeom prst="roundRect">
            <a:avLst>
              <a:gd name="adj" fmla="val 16666"/>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5" name="Picture 64" descr="search_004F9F.png"/>
          <p:cNvPicPr>
            <a:picLocks noChangeAspect="1"/>
          </p:cNvPicPr>
          <p:nvPr/>
        </p:nvPicPr>
        <p:blipFill>
          <a:blip r:embed="rId8"/>
          <a:stretch>
            <a:fillRect/>
          </a:stretch>
        </p:blipFill>
        <p:spPr>
          <a:xfrm>
            <a:off x="4434840" y="5029200"/>
            <a:ext cx="292608" cy="292608"/>
          </a:xfrm>
          <a:prstGeom prst="rect">
            <a:avLst/>
          </a:prstGeom>
        </p:spPr>
      </p:pic>
      <p:sp>
        <p:nvSpPr>
          <p:cNvPr id="66" name="TextBox 65"/>
          <p:cNvSpPr txBox="1"/>
          <p:nvPr/>
        </p:nvSpPr>
        <p:spPr>
          <a:xfrm>
            <a:off x="4846319" y="4956048"/>
            <a:ext cx="2926080" cy="438912"/>
          </a:xfrm>
          <a:prstGeom prst="rect">
            <a:avLst/>
          </a:prstGeom>
          <a:noFill/>
        </p:spPr>
        <p:txBody>
          <a:bodyPr wrap="square" lIns="0" tIns="0" rIns="0" bIns="0" anchor="ctr">
            <a:spAutoFit/>
          </a:bodyPr>
          <a:lstStyle/>
          <a:p>
            <a:pPr algn="l">
              <a:spcAft>
                <a:spcPts val="300"/>
              </a:spcAft>
            </a:pPr>
            <a:r>
              <a:rPr sz="1150">
                <a:solidFill>
                  <a:srgbClr val="222222"/>
                </a:solidFill>
                <a:latin typeface="에이투지체 5 Medium"/>
                <a:ea typeface="에이투지체 5 Medium"/>
              </a:rPr>
              <a:t>주간 검색어 · 상품 성과 확인</a:t>
            </a:r>
          </a:p>
        </p:txBody>
      </p:sp>
      <p:sp>
        <p:nvSpPr>
          <p:cNvPr id="67" name="Rounded Rectangle 66"/>
          <p:cNvSpPr/>
          <p:nvPr/>
        </p:nvSpPr>
        <p:spPr>
          <a:xfrm>
            <a:off x="8046719" y="4956048"/>
            <a:ext cx="3566160" cy="438912"/>
          </a:xfrm>
          <a:prstGeom prst="roundRect">
            <a:avLst>
              <a:gd name="adj" fmla="val 16666"/>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8" name="Picture 67" descr="trending-up_004F9F.png"/>
          <p:cNvPicPr>
            <a:picLocks noChangeAspect="1"/>
          </p:cNvPicPr>
          <p:nvPr/>
        </p:nvPicPr>
        <p:blipFill>
          <a:blip r:embed="rId9"/>
          <a:stretch>
            <a:fillRect/>
          </a:stretch>
        </p:blipFill>
        <p:spPr>
          <a:xfrm>
            <a:off x="8183879" y="5029200"/>
            <a:ext cx="292608" cy="292608"/>
          </a:xfrm>
          <a:prstGeom prst="rect">
            <a:avLst/>
          </a:prstGeom>
        </p:spPr>
      </p:pic>
      <p:sp>
        <p:nvSpPr>
          <p:cNvPr id="69" name="TextBox 68"/>
          <p:cNvSpPr txBox="1"/>
          <p:nvPr/>
        </p:nvSpPr>
        <p:spPr>
          <a:xfrm>
            <a:off x="8595359" y="4956048"/>
            <a:ext cx="2926080" cy="438912"/>
          </a:xfrm>
          <a:prstGeom prst="rect">
            <a:avLst/>
          </a:prstGeom>
          <a:noFill/>
        </p:spPr>
        <p:txBody>
          <a:bodyPr wrap="square" lIns="0" tIns="0" rIns="0" bIns="0" anchor="ctr">
            <a:spAutoFit/>
          </a:bodyPr>
          <a:lstStyle/>
          <a:p>
            <a:pPr algn="l">
              <a:spcAft>
                <a:spcPts val="300"/>
              </a:spcAft>
            </a:pPr>
            <a:r>
              <a:rPr sz="1150">
                <a:solidFill>
                  <a:srgbClr val="222222"/>
                </a:solidFill>
                <a:latin typeface="에이투지체 5 Medium"/>
                <a:ea typeface="에이투지체 5 Medium"/>
              </a:rPr>
              <a:t>월간 매체별 ROAS 비교</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ctr"/>
          <a:lstStyle/>
          <a:p>
            <a:pPr algn="l"/>
            <a:r>
              <a:rPr sz="900" b="0" spc="100">
                <a:solidFill>
                  <a:srgbClr val="004F9F"/>
                </a:solidFill>
                <a:latin typeface="에이투지체 6 SemiBold"/>
                <a:ea typeface="에이투지체 6 SemiBold"/>
                <a:cs typeface="에이투지체 6 SemiBold"/>
              </a:rPr>
              <a:t>PART 2 · 11월 마케팅 전략 · 미디어믹스</a:t>
            </a:r>
          </a:p>
        </p:txBody>
      </p:sp>
      <p:sp>
        <p:nvSpPr>
          <p:cNvPr id="3" name="TextBox 2"/>
          <p:cNvSpPr txBox="1"/>
          <p:nvPr/>
        </p:nvSpPr>
        <p:spPr>
          <a:xfrm>
            <a:off x="548640" y="658368"/>
            <a:ext cx="11064240" cy="868680"/>
          </a:xfrm>
          <a:prstGeom prst="rect">
            <a:avLst/>
          </a:prstGeom>
          <a:noFill/>
        </p:spPr>
        <p:txBody>
          <a:bodyPr wrap="square" lIns="0" tIns="0" rIns="0" bIns="0" anchor="ctr"/>
          <a:lstStyle/>
          <a:p>
            <a:pPr>
              <a:lnSpc>
                <a:spcPts val="2600"/>
              </a:lnSpc>
            </a:pPr>
            <a:r>
              <a:rPr sz="1900" b="0" dirty="0" err="1">
                <a:solidFill>
                  <a:srgbClr val="FFFFFF"/>
                </a:solidFill>
                <a:highlight>
                  <a:srgbClr val="0000FF"/>
                </a:highlight>
                <a:latin typeface="에이투지체 8 ExtraBold"/>
                <a:ea typeface="에이투지체 8 ExtraBold"/>
                <a:cs typeface="에이투지체 8 ExtraBold"/>
              </a:rPr>
              <a:t>같은</a:t>
            </a:r>
            <a:r>
              <a:rPr sz="1900" b="0" dirty="0">
                <a:solidFill>
                  <a:srgbClr val="FFFFFF"/>
                </a:solidFill>
                <a:highlight>
                  <a:srgbClr val="0000FF"/>
                </a:highlight>
                <a:latin typeface="에이투지체 8 ExtraBold"/>
                <a:ea typeface="에이투지체 8 ExtraBold"/>
                <a:cs typeface="에이투지체 8 ExtraBold"/>
              </a:rPr>
              <a:t> </a:t>
            </a:r>
            <a:r>
              <a:rPr sz="1900" b="0" dirty="0" err="1">
                <a:solidFill>
                  <a:srgbClr val="FFFFFF"/>
                </a:solidFill>
                <a:highlight>
                  <a:srgbClr val="0000FF"/>
                </a:highlight>
                <a:latin typeface="에이투지체 8 ExtraBold"/>
                <a:ea typeface="에이투지체 8 ExtraBold"/>
                <a:cs typeface="에이투지체 8 ExtraBold"/>
              </a:rPr>
              <a:t>매체</a:t>
            </a:r>
            <a:r>
              <a:rPr sz="1900" b="0" dirty="0">
                <a:solidFill>
                  <a:srgbClr val="FFFFFF"/>
                </a:solidFill>
                <a:highlight>
                  <a:srgbClr val="0000FF"/>
                </a:highlight>
                <a:latin typeface="에이투지체 8 ExtraBold"/>
                <a:ea typeface="에이투지체 8 ExtraBold"/>
                <a:cs typeface="에이투지체 8 ExtraBold"/>
              </a:rPr>
              <a:t> </a:t>
            </a:r>
            <a:r>
              <a:rPr sz="1900" b="0" dirty="0" err="1">
                <a:solidFill>
                  <a:srgbClr val="FFFFFF"/>
                </a:solidFill>
                <a:highlight>
                  <a:srgbClr val="0000FF"/>
                </a:highlight>
                <a:latin typeface="에이투지체 8 ExtraBold"/>
                <a:ea typeface="에이투지체 8 ExtraBold"/>
                <a:cs typeface="에이투지체 8 ExtraBold"/>
              </a:rPr>
              <a:t>안에서도</a:t>
            </a:r>
            <a:r>
              <a:rPr sz="1900" b="0" dirty="0">
                <a:solidFill>
                  <a:srgbClr val="FFFFFF"/>
                </a:solidFill>
                <a:highlight>
                  <a:srgbClr val="0000FF"/>
                </a:highlight>
                <a:latin typeface="에이투지체 8 ExtraBold"/>
                <a:ea typeface="에이투지체 8 ExtraBold"/>
                <a:cs typeface="에이투지체 8 ExtraBold"/>
              </a:rPr>
              <a:t> </a:t>
            </a:r>
            <a:r>
              <a:rPr sz="1900" b="0" dirty="0" err="1">
                <a:solidFill>
                  <a:srgbClr val="FFFFFF"/>
                </a:solidFill>
                <a:highlight>
                  <a:srgbClr val="0000FF"/>
                </a:highlight>
                <a:latin typeface="에이투지체 8 ExtraBold"/>
                <a:ea typeface="에이투지체 8 ExtraBold"/>
                <a:cs typeface="에이투지체 8 ExtraBold"/>
              </a:rPr>
              <a:t>운영형별</a:t>
            </a:r>
            <a:r>
              <a:rPr sz="1900" b="0" dirty="0">
                <a:solidFill>
                  <a:srgbClr val="FFFFFF"/>
                </a:solidFill>
                <a:highlight>
                  <a:srgbClr val="0000FF"/>
                </a:highlight>
                <a:latin typeface="에이투지체 8 ExtraBold"/>
                <a:ea typeface="에이투지체 8 ExtraBold"/>
                <a:cs typeface="에이투지체 8 ExtraBold"/>
              </a:rPr>
              <a:t> </a:t>
            </a:r>
            <a:r>
              <a:rPr sz="1900" b="0" dirty="0" err="1">
                <a:solidFill>
                  <a:srgbClr val="FFFFFF"/>
                </a:solidFill>
                <a:highlight>
                  <a:srgbClr val="0000FF"/>
                </a:highlight>
                <a:latin typeface="에이투지체 8 ExtraBold"/>
                <a:ea typeface="에이투지체 8 ExtraBold"/>
                <a:cs typeface="에이투지체 8 ExtraBold"/>
              </a:rPr>
              <a:t>ROAS가</a:t>
            </a:r>
            <a:r>
              <a:rPr sz="1900" b="0" dirty="0">
                <a:solidFill>
                  <a:srgbClr val="FFFFFF"/>
                </a:solidFill>
                <a:highlight>
                  <a:srgbClr val="0000FF"/>
                </a:highlight>
                <a:latin typeface="에이투지체 8 ExtraBold"/>
                <a:ea typeface="에이투지체 8 ExtraBold"/>
                <a:cs typeface="에이투지체 8 ExtraBold"/>
              </a:rPr>
              <a:t> 2배 </a:t>
            </a:r>
            <a:r>
              <a:rPr sz="1900" b="0" dirty="0" err="1">
                <a:solidFill>
                  <a:srgbClr val="FFFFFF"/>
                </a:solidFill>
                <a:highlight>
                  <a:srgbClr val="0000FF"/>
                </a:highlight>
                <a:latin typeface="에이투지체 8 ExtraBold"/>
                <a:ea typeface="에이투지체 8 ExtraBold"/>
                <a:cs typeface="에이투지체 8 ExtraBold"/>
              </a:rPr>
              <a:t>차이</a:t>
            </a:r>
            <a:r>
              <a:rPr sz="1900" b="0" dirty="0" err="1">
                <a:solidFill>
                  <a:srgbClr val="222222"/>
                </a:solidFill>
                <a:latin typeface="에이투지체 8 ExtraBold"/>
                <a:ea typeface="에이투지체 8 ExtraBold"/>
                <a:cs typeface="에이투지체 8 ExtraBold"/>
              </a:rPr>
              <a:t>나기</a:t>
            </a:r>
            <a:r>
              <a:rPr sz="1900" b="0" dirty="0">
                <a:solidFill>
                  <a:srgbClr val="222222"/>
                </a:solidFill>
                <a:latin typeface="에이투지체 8 ExtraBold"/>
                <a:ea typeface="에이투지체 8 ExtraBold"/>
                <a:cs typeface="에이투지체 8 ExtraBold"/>
              </a:rPr>
              <a:t> </a:t>
            </a:r>
            <a:r>
              <a:rPr sz="1900" b="0" dirty="0" err="1">
                <a:solidFill>
                  <a:srgbClr val="222222"/>
                </a:solidFill>
                <a:latin typeface="에이투지체 8 ExtraBold"/>
                <a:ea typeface="에이투지체 8 ExtraBold"/>
                <a:cs typeface="에이투지체 8 ExtraBold"/>
              </a:rPr>
              <a:t>때문에</a:t>
            </a:r>
            <a:endParaRPr sz="1900" b="0" dirty="0">
              <a:solidFill>
                <a:srgbClr val="222222"/>
              </a:solidFill>
              <a:latin typeface="에이투지체 8 ExtraBold"/>
              <a:ea typeface="에이투지체 8 ExtraBold"/>
              <a:cs typeface="에이투지체 8 ExtraBold"/>
            </a:endParaRPr>
          </a:p>
          <a:p>
            <a:pPr>
              <a:lnSpc>
                <a:spcPts val="2600"/>
              </a:lnSpc>
            </a:pPr>
            <a:r>
              <a:rPr lang="ko-KR" altLang="en-US" sz="1900" dirty="0" err="1">
                <a:solidFill>
                  <a:srgbClr val="222222"/>
                </a:solidFill>
                <a:latin typeface="에이투지체 8 ExtraBold"/>
                <a:ea typeface="에이투지체 8 ExtraBold"/>
                <a:cs typeface="에이투지체 8 ExtraBold"/>
              </a:rPr>
              <a:t>링크프라이스</a:t>
            </a:r>
            <a:r>
              <a:rPr lang="ko-KR" altLang="en-US" sz="1900" dirty="0">
                <a:solidFill>
                  <a:srgbClr val="222222"/>
                </a:solidFill>
                <a:latin typeface="에이투지체 8 ExtraBold"/>
                <a:ea typeface="에이투지체 8 ExtraBold"/>
                <a:cs typeface="에이투지체 8 ExtraBold"/>
              </a:rPr>
              <a:t> 자체 </a:t>
            </a:r>
            <a:r>
              <a:rPr sz="1900" b="0" dirty="0" err="1">
                <a:solidFill>
                  <a:srgbClr val="222222"/>
                </a:solidFill>
                <a:latin typeface="에이투지체 8 ExtraBold"/>
                <a:ea typeface="에이투지체 8 ExtraBold"/>
                <a:cs typeface="에이투지체 8 ExtraBold"/>
              </a:rPr>
              <a:t>리포트로</a:t>
            </a:r>
            <a:r>
              <a:rPr sz="1900" b="0" dirty="0">
                <a:solidFill>
                  <a:srgbClr val="222222"/>
                </a:solidFill>
                <a:latin typeface="에이투지체 8 ExtraBold"/>
                <a:ea typeface="에이투지체 8 ExtraBold"/>
                <a:cs typeface="에이투지체 8 ExtraBold"/>
              </a:rPr>
              <a:t> </a:t>
            </a:r>
            <a:r>
              <a:rPr sz="1900" b="0" dirty="0" err="1">
                <a:solidFill>
                  <a:srgbClr val="222222"/>
                </a:solidFill>
                <a:latin typeface="에이투지체 8 ExtraBold"/>
                <a:ea typeface="에이투지체 8 ExtraBold"/>
                <a:cs typeface="에이투지체 8 ExtraBold"/>
              </a:rPr>
              <a:t>예산과</a:t>
            </a:r>
            <a:r>
              <a:rPr sz="1900" b="0" dirty="0">
                <a:solidFill>
                  <a:srgbClr val="222222"/>
                </a:solidFill>
                <a:latin typeface="에이투지체 8 ExtraBold"/>
                <a:ea typeface="에이투지체 8 ExtraBold"/>
                <a:cs typeface="에이투지체 8 ExtraBold"/>
              </a:rPr>
              <a:t> CPC </a:t>
            </a:r>
            <a:r>
              <a:rPr sz="1900" b="0" dirty="0" err="1">
                <a:solidFill>
                  <a:srgbClr val="222222"/>
                </a:solidFill>
                <a:latin typeface="에이투지체 8 ExtraBold"/>
                <a:ea typeface="에이투지체 8 ExtraBold"/>
                <a:cs typeface="에이투지체 8 ExtraBold"/>
              </a:rPr>
              <a:t>상한을</a:t>
            </a:r>
            <a:r>
              <a:rPr sz="1900" b="0" dirty="0">
                <a:solidFill>
                  <a:srgbClr val="222222"/>
                </a:solidFill>
                <a:latin typeface="에이투지체 8 ExtraBold"/>
                <a:ea typeface="에이투지체 8 ExtraBold"/>
                <a:cs typeface="에이투지체 8 ExtraBold"/>
              </a:rPr>
              <a:t> </a:t>
            </a:r>
            <a:r>
              <a:rPr sz="1900" b="0" dirty="0" err="1">
                <a:solidFill>
                  <a:srgbClr val="222222"/>
                </a:solidFill>
                <a:latin typeface="에이투지체 8 ExtraBold"/>
                <a:ea typeface="에이투지체 8 ExtraBold"/>
                <a:cs typeface="에이투지체 8 ExtraBold"/>
              </a:rPr>
              <a:t>조정합니다</a:t>
            </a:r>
            <a:endParaRPr sz="1900" b="0" dirty="0">
              <a:solidFill>
                <a:srgbClr val="222222"/>
              </a:solidFill>
              <a:latin typeface="에이투지체 8 ExtraBold"/>
              <a:ea typeface="에이투지체 8 ExtraBold"/>
              <a:cs typeface="에이투지체 8 ExtraBold"/>
            </a:endParaRPr>
          </a:p>
        </p:txBody>
      </p:sp>
      <p:sp>
        <p:nvSpPr>
          <p:cNvPr id="4" name="TextBox 3"/>
          <p:cNvSpPr txBox="1"/>
          <p:nvPr/>
        </p:nvSpPr>
        <p:spPr>
          <a:xfrm>
            <a:off x="548640" y="1517904"/>
            <a:ext cx="11064240" cy="365760"/>
          </a:xfrm>
          <a:prstGeom prst="rect">
            <a:avLst/>
          </a:prstGeom>
          <a:noFill/>
        </p:spPr>
        <p:txBody>
          <a:bodyPr wrap="square" lIns="0" tIns="0" rIns="0" bIns="0" anchor="ctr"/>
          <a:lstStyle/>
          <a:p>
            <a:pPr algn="l"/>
            <a:r>
              <a:rPr sz="1100" b="0">
                <a:solidFill>
                  <a:srgbClr val="5C5C5C"/>
                </a:solidFill>
                <a:latin typeface="에이투지체 5 Medium"/>
                <a:ea typeface="에이투지체 5 Medium"/>
                <a:cs typeface="에이투지체 5 Medium"/>
              </a:rPr>
              <a:t>지마켓 운영 관리  사내 월간 리포트 (동종 건기식 사례)</a:t>
            </a:r>
          </a:p>
        </p:txBody>
      </p:sp>
      <p:sp>
        <p:nvSpPr>
          <p:cNvPr id="5" name="Rounded Rectangle 4"/>
          <p:cNvSpPr/>
          <p:nvPr/>
        </p:nvSpPr>
        <p:spPr>
          <a:xfrm>
            <a:off x="548640" y="5577840"/>
            <a:ext cx="11064240" cy="438912"/>
          </a:xfrm>
          <a:prstGeom prst="roundRect">
            <a:avLst>
              <a:gd name="adj" fmla="val 16666"/>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 y="5632704"/>
            <a:ext cx="10671048" cy="347472"/>
          </a:xfrm>
          <a:prstGeom prst="rect">
            <a:avLst/>
          </a:prstGeom>
          <a:noFill/>
        </p:spPr>
        <p:txBody>
          <a:bodyPr wrap="square" lIns="0" tIns="0" rIns="0" bIns="0" anchor="ctr">
            <a:spAutoFit/>
          </a:bodyPr>
          <a:lstStyle/>
          <a:p>
            <a:pPr algn="l"/>
            <a:r>
              <a:rPr sz="1350" b="0" dirty="0" err="1">
                <a:solidFill>
                  <a:srgbClr val="004F9F"/>
                </a:solidFill>
                <a:latin typeface="에이투지체 6 SemiBold"/>
                <a:ea typeface="에이투지체 6 SemiBold"/>
                <a:cs typeface="에이투지체 6 SemiBold"/>
              </a:rPr>
              <a:t>매월</a:t>
            </a:r>
            <a:r>
              <a:rPr sz="1350" b="0" dirty="0">
                <a:solidFill>
                  <a:srgbClr val="004F9F"/>
                </a:solidFill>
                <a:latin typeface="에이투지체 6 SemiBold"/>
                <a:ea typeface="에이투지체 6 SemiBold"/>
                <a:cs typeface="에이투지체 6 SemiBold"/>
              </a:rPr>
              <a:t> </a:t>
            </a:r>
            <a:r>
              <a:rPr sz="1350" b="0" dirty="0" err="1">
                <a:solidFill>
                  <a:srgbClr val="004F9F"/>
                </a:solidFill>
                <a:latin typeface="에이투지체 6 SemiBold"/>
                <a:ea typeface="에이투지체 6 SemiBold"/>
                <a:cs typeface="에이투지체 6 SemiBold"/>
              </a:rPr>
              <a:t>같은</a:t>
            </a:r>
            <a:r>
              <a:rPr sz="1350" b="0" dirty="0">
                <a:solidFill>
                  <a:srgbClr val="004F9F"/>
                </a:solidFill>
                <a:latin typeface="에이투지체 6 SemiBold"/>
                <a:ea typeface="에이투지체 6 SemiBold"/>
                <a:cs typeface="에이투지체 6 SemiBold"/>
              </a:rPr>
              <a:t> </a:t>
            </a:r>
            <a:r>
              <a:rPr sz="1350" b="0" dirty="0" err="1">
                <a:solidFill>
                  <a:srgbClr val="004F9F"/>
                </a:solidFill>
                <a:latin typeface="에이투지체 6 SemiBold"/>
                <a:ea typeface="에이투지체 6 SemiBold"/>
                <a:cs typeface="에이투지체 6 SemiBold"/>
              </a:rPr>
              <a:t>기준의</a:t>
            </a:r>
            <a:r>
              <a:rPr sz="1350" b="0" dirty="0">
                <a:solidFill>
                  <a:srgbClr val="004F9F"/>
                </a:solidFill>
                <a:latin typeface="에이투지체 6 SemiBold"/>
                <a:ea typeface="에이투지체 6 SemiBold"/>
                <a:cs typeface="에이투지체 6 SemiBold"/>
              </a:rPr>
              <a:t> </a:t>
            </a:r>
            <a:r>
              <a:rPr sz="1350" b="0" dirty="0" err="1">
                <a:solidFill>
                  <a:srgbClr val="004F9F"/>
                </a:solidFill>
                <a:latin typeface="에이투지체 6 SemiBold"/>
                <a:ea typeface="에이투지체 6 SemiBold"/>
                <a:cs typeface="에이투지체 6 SemiBold"/>
              </a:rPr>
              <a:t>리포트로</a:t>
            </a:r>
            <a:r>
              <a:rPr sz="1350" b="0" dirty="0">
                <a:solidFill>
                  <a:srgbClr val="004F9F"/>
                </a:solidFill>
                <a:latin typeface="에이투지체 6 SemiBold"/>
                <a:ea typeface="에이투지체 6 SemiBold"/>
                <a:cs typeface="에이투지체 6 SemiBold"/>
              </a:rPr>
              <a:t> </a:t>
            </a:r>
            <a:r>
              <a:rPr sz="1350" b="0" dirty="0" err="1">
                <a:solidFill>
                  <a:srgbClr val="004F9F"/>
                </a:solidFill>
                <a:latin typeface="에이투지체 6 SemiBold"/>
                <a:ea typeface="에이투지체 6 SemiBold"/>
                <a:cs typeface="에이투지체 6 SemiBold"/>
              </a:rPr>
              <a:t>운영형별</a:t>
            </a:r>
            <a:r>
              <a:rPr sz="1350" b="0" dirty="0">
                <a:solidFill>
                  <a:srgbClr val="004F9F"/>
                </a:solidFill>
                <a:latin typeface="에이투지체 6 SemiBold"/>
                <a:ea typeface="에이투지체 6 SemiBold"/>
                <a:cs typeface="에이투지체 6 SemiBold"/>
              </a:rPr>
              <a:t> </a:t>
            </a:r>
            <a:r>
              <a:rPr sz="1350" b="0" dirty="0" err="1">
                <a:solidFill>
                  <a:srgbClr val="004F9F"/>
                </a:solidFill>
                <a:latin typeface="에이투지체 6 SemiBold"/>
                <a:ea typeface="에이투지체 6 SemiBold"/>
                <a:cs typeface="에이투지체 6 SemiBold"/>
              </a:rPr>
              <a:t>성과를</a:t>
            </a:r>
            <a:r>
              <a:rPr sz="1350" b="0" dirty="0">
                <a:solidFill>
                  <a:srgbClr val="004F9F"/>
                </a:solidFill>
                <a:latin typeface="에이투지체 6 SemiBold"/>
                <a:ea typeface="에이투지체 6 SemiBold"/>
                <a:cs typeface="에이투지체 6 SemiBold"/>
              </a:rPr>
              <a:t> </a:t>
            </a:r>
            <a:r>
              <a:rPr sz="1350" b="0" dirty="0" err="1">
                <a:solidFill>
                  <a:srgbClr val="004F9F"/>
                </a:solidFill>
                <a:latin typeface="에이투지체 6 SemiBold"/>
                <a:ea typeface="에이투지체 6 SemiBold"/>
                <a:cs typeface="에이투지체 6 SemiBold"/>
              </a:rPr>
              <a:t>비교하고</a:t>
            </a:r>
            <a:r>
              <a:rPr sz="1350" b="0" dirty="0">
                <a:solidFill>
                  <a:srgbClr val="004F9F"/>
                </a:solidFill>
                <a:latin typeface="에이투지체 6 SemiBold"/>
                <a:ea typeface="에이투지체 6 SemiBold"/>
                <a:cs typeface="에이투지체 6 SemiBold"/>
              </a:rPr>
              <a:t>, </a:t>
            </a:r>
            <a:r>
              <a:rPr sz="1350" b="0" dirty="0" err="1">
                <a:solidFill>
                  <a:srgbClr val="004F9F"/>
                </a:solidFill>
                <a:latin typeface="에이투지체 6 SemiBold"/>
                <a:ea typeface="에이투지체 6 SemiBold"/>
                <a:cs typeface="에이투지체 6 SemiBold"/>
              </a:rPr>
              <a:t>성과가</a:t>
            </a:r>
            <a:r>
              <a:rPr sz="1350" b="0" dirty="0">
                <a:solidFill>
                  <a:srgbClr val="004F9F"/>
                </a:solidFill>
                <a:latin typeface="에이투지체 6 SemiBold"/>
                <a:ea typeface="에이투지체 6 SemiBold"/>
                <a:cs typeface="에이투지체 6 SemiBold"/>
              </a:rPr>
              <a:t> </a:t>
            </a:r>
            <a:r>
              <a:rPr sz="1350" b="0" dirty="0" err="1">
                <a:solidFill>
                  <a:srgbClr val="004F9F"/>
                </a:solidFill>
                <a:latin typeface="에이투지체 6 SemiBold"/>
                <a:ea typeface="에이투지체 6 SemiBold"/>
                <a:cs typeface="에이투지체 6 SemiBold"/>
              </a:rPr>
              <a:t>확인된</a:t>
            </a:r>
            <a:r>
              <a:rPr sz="1350" b="0" dirty="0">
                <a:solidFill>
                  <a:srgbClr val="004F9F"/>
                </a:solidFill>
                <a:latin typeface="에이투지체 6 SemiBold"/>
                <a:ea typeface="에이투지체 6 SemiBold"/>
                <a:cs typeface="에이투지체 6 SemiBold"/>
              </a:rPr>
              <a:t> </a:t>
            </a:r>
            <a:r>
              <a:rPr sz="1350" b="0" dirty="0" err="1">
                <a:solidFill>
                  <a:srgbClr val="004F9F"/>
                </a:solidFill>
                <a:latin typeface="에이투지체 6 SemiBold"/>
                <a:ea typeface="에이투지체 6 SemiBold"/>
                <a:cs typeface="에이투지체 6 SemiBold"/>
              </a:rPr>
              <a:t>곳에</a:t>
            </a:r>
            <a:r>
              <a:rPr sz="1350" b="0" dirty="0">
                <a:solidFill>
                  <a:srgbClr val="004F9F"/>
                </a:solidFill>
                <a:latin typeface="에이투지체 6 SemiBold"/>
                <a:ea typeface="에이투지체 6 SemiBold"/>
                <a:cs typeface="에이투지체 6 SemiBold"/>
              </a:rPr>
              <a:t> </a:t>
            </a:r>
            <a:r>
              <a:rPr sz="1350" b="0" dirty="0" err="1">
                <a:solidFill>
                  <a:srgbClr val="004F9F"/>
                </a:solidFill>
                <a:latin typeface="에이투지체 6 SemiBold"/>
                <a:ea typeface="에이투지체 6 SemiBold"/>
                <a:cs typeface="에이투지체 6 SemiBold"/>
              </a:rPr>
              <a:t>예산을</a:t>
            </a:r>
            <a:r>
              <a:rPr sz="1350" b="0" dirty="0">
                <a:solidFill>
                  <a:srgbClr val="004F9F"/>
                </a:solidFill>
                <a:latin typeface="에이투지체 6 SemiBold"/>
                <a:ea typeface="에이투지체 6 SemiBold"/>
                <a:cs typeface="에이투지체 6 SemiBold"/>
              </a:rPr>
              <a:t> </a:t>
            </a:r>
            <a:r>
              <a:rPr sz="1350" b="0" dirty="0" err="1">
                <a:solidFill>
                  <a:srgbClr val="004F9F"/>
                </a:solidFill>
                <a:latin typeface="에이투지체 6 SemiBold"/>
                <a:ea typeface="에이투지체 6 SemiBold"/>
                <a:cs typeface="에이투지체 6 SemiBold"/>
              </a:rPr>
              <a:t>옮기겠습니다</a:t>
            </a:r>
            <a:endParaRPr sz="1350" b="0" dirty="0">
              <a:solidFill>
                <a:srgbClr val="004F9F"/>
              </a:solidFill>
              <a:latin typeface="에이투지체 6 SemiBold"/>
              <a:ea typeface="에이투지체 6 SemiBold"/>
              <a:cs typeface="에이투지체 6 SemiBold"/>
            </a:endParaRPr>
          </a:p>
        </p:txBody>
      </p:sp>
      <p:sp>
        <p:nvSpPr>
          <p:cNvPr id="7" name="TextBox 6"/>
          <p:cNvSpPr txBox="1"/>
          <p:nvPr/>
        </p:nvSpPr>
        <p:spPr>
          <a:xfrm>
            <a:off x="548640" y="6089904"/>
            <a:ext cx="11064240" cy="274320"/>
          </a:xfrm>
          <a:prstGeom prst="rect">
            <a:avLst/>
          </a:prstGeom>
          <a:noFill/>
        </p:spPr>
        <p:txBody>
          <a:bodyPr wrap="square" lIns="0" tIns="0" rIns="0" bIns="0" anchor="t">
            <a:spAutoFit/>
          </a:bodyPr>
          <a:lstStyle/>
          <a:p>
            <a:pPr algn="l"/>
            <a:r>
              <a:rPr sz="850" b="0">
                <a:solidFill>
                  <a:srgbClr val="919191"/>
                </a:solidFill>
                <a:latin typeface="에이투지체 3 Light"/>
                <a:ea typeface="에이투지체 3 Light"/>
                <a:cs typeface="에이투지체 3 Light"/>
              </a:rPr>
              <a:t>동종 건기식 광고주 지마켓 실제 운영 데이터 (월 광고비 약 1,000만 원, 링크프라이스 사내 월간 리포트) / 광고수익률 외 수치는 가림 처리</a:t>
            </a:r>
          </a:p>
        </p:txBody>
      </p:sp>
      <p:sp>
        <p:nvSpPr>
          <p:cNvPr id="8" name="TextBox 7"/>
          <p:cNvSpPr txBox="1"/>
          <p:nvPr/>
        </p:nvSpPr>
        <p:spPr>
          <a:xfrm>
            <a:off x="548640" y="6473952"/>
            <a:ext cx="4206240" cy="274320"/>
          </a:xfrm>
          <a:prstGeom prst="rect">
            <a:avLst/>
          </a:prstGeom>
          <a:noFill/>
        </p:spPr>
        <p:txBody>
          <a:bodyPr wrap="square" lIns="0" tIns="0" rIns="0" bIns="0" anchor="t">
            <a:spAutoFit/>
          </a:bodyPr>
          <a:lstStyle/>
          <a:p>
            <a:pPr algn="l"/>
            <a:r>
              <a:rPr sz="800" b="0">
                <a:solidFill>
                  <a:srgbClr val="919191"/>
                </a:solidFill>
                <a:latin typeface="에이투지체 3 Light"/>
                <a:ea typeface="에이투지체 3 Light"/>
                <a:cs typeface="에이투지체 3 Light"/>
              </a:rPr>
              <a:t>DODREAM B&amp;B AD PROPOSAL · 2026</a:t>
            </a:r>
          </a:p>
        </p:txBody>
      </p:sp>
      <p:sp>
        <p:nvSpPr>
          <p:cNvPr id="9" name="TextBox 8"/>
          <p:cNvSpPr txBox="1"/>
          <p:nvPr/>
        </p:nvSpPr>
        <p:spPr>
          <a:xfrm>
            <a:off x="8138160" y="6473952"/>
            <a:ext cx="3017520" cy="274320"/>
          </a:xfrm>
          <a:prstGeom prst="rect">
            <a:avLst/>
          </a:prstGeom>
          <a:noFill/>
        </p:spPr>
        <p:txBody>
          <a:bodyPr wrap="square" lIns="0" tIns="0" rIns="0" bIns="0" anchor="t">
            <a:spAutoFit/>
          </a:bodyPr>
          <a:lstStyle/>
          <a:p>
            <a:pPr algn="r"/>
            <a:r>
              <a:rPr sz="800" b="0">
                <a:solidFill>
                  <a:srgbClr val="919191"/>
                </a:solidFill>
                <a:latin typeface="에이투지체 3 Light"/>
                <a:ea typeface="에이투지체 3 Light"/>
                <a:cs typeface="에이투지체 3 Light"/>
              </a:rPr>
              <a:t>LINKPRICE · BRAND AD CENTER</a:t>
            </a:r>
          </a:p>
        </p:txBody>
      </p:sp>
      <p:sp>
        <p:nvSpPr>
          <p:cNvPr id="10" name="TextBox 9"/>
          <p:cNvSpPr txBox="1"/>
          <p:nvPr/>
        </p:nvSpPr>
        <p:spPr>
          <a:xfrm>
            <a:off x="11292840" y="6473952"/>
            <a:ext cx="365760" cy="274320"/>
          </a:xfrm>
          <a:prstGeom prst="rect">
            <a:avLst/>
          </a:prstGeom>
          <a:noFill/>
        </p:spPr>
        <p:txBody>
          <a:bodyPr wrap="square" lIns="0" tIns="0" rIns="0" bIns="0" anchor="t">
            <a:spAutoFit/>
          </a:bodyPr>
          <a:lstStyle/>
          <a:p>
            <a:pPr algn="r"/>
            <a:r>
              <a:rPr sz="800" b="0">
                <a:solidFill>
                  <a:srgbClr val="222222"/>
                </a:solidFill>
                <a:latin typeface="에이투지체 6 SemiBold"/>
                <a:ea typeface="에이투지체 6 SemiBold"/>
                <a:cs typeface="에이투지체 6 SemiBold"/>
              </a:rPr>
              <a:t>49</a:t>
            </a:r>
          </a:p>
        </p:txBody>
      </p:sp>
      <p:sp>
        <p:nvSpPr>
          <p:cNvPr id="11" name="TextBox 10"/>
          <p:cNvSpPr txBox="1"/>
          <p:nvPr/>
        </p:nvSpPr>
        <p:spPr>
          <a:xfrm>
            <a:off x="548640" y="1993392"/>
            <a:ext cx="7223760" cy="292608"/>
          </a:xfrm>
          <a:prstGeom prst="rect">
            <a:avLst/>
          </a:prstGeom>
          <a:noFill/>
        </p:spPr>
        <p:txBody>
          <a:bodyPr wrap="square" lIns="0" tIns="0" rIns="0" bIns="0" anchor="t">
            <a:spAutoFit/>
          </a:bodyPr>
          <a:lstStyle/>
          <a:p>
            <a:pPr algn="l"/>
            <a:r>
              <a:rPr sz="1250" b="0">
                <a:solidFill>
                  <a:srgbClr val="004F9F"/>
                </a:solidFill>
                <a:latin typeface="에이투지체 8 ExtraBold"/>
                <a:ea typeface="에이투지체 8 ExtraBold"/>
                <a:cs typeface="에이투지체 8 ExtraBold"/>
              </a:rPr>
              <a:t>동종 건기식 사례  </a:t>
            </a:r>
            <a:r>
              <a:rPr sz="1250" b="0">
                <a:solidFill>
                  <a:srgbClr val="222222"/>
                </a:solidFill>
                <a:latin typeface="에이투지체 6 SemiBold"/>
                <a:ea typeface="에이투지체 6 SemiBold"/>
                <a:cs typeface="에이투지체 6 SemiBold"/>
              </a:rPr>
              <a:t>월 광고비 약 1,000만 원, 캠페인 유형별 데이터</a:t>
            </a:r>
          </a:p>
        </p:txBody>
      </p:sp>
      <p:pic>
        <p:nvPicPr>
          <p:cNvPr id="12" name="Picture 11" descr="report.png"/>
          <p:cNvPicPr>
            <a:picLocks noChangeAspect="1"/>
          </p:cNvPicPr>
          <p:nvPr/>
        </p:nvPicPr>
        <p:blipFill>
          <a:blip r:embed="rId2"/>
          <a:stretch>
            <a:fillRect/>
          </a:stretch>
        </p:blipFill>
        <p:spPr>
          <a:xfrm>
            <a:off x="548640" y="2331720"/>
            <a:ext cx="7223760" cy="2414981"/>
          </a:xfrm>
          <a:prstGeom prst="rect">
            <a:avLst/>
          </a:prstGeom>
          <a:ln w="9525">
            <a:solidFill>
              <a:srgbClr val="DDDDDD"/>
            </a:solidFill>
          </a:ln>
        </p:spPr>
      </p:pic>
      <p:sp>
        <p:nvSpPr>
          <p:cNvPr id="13" name="Rounded Rectangle 12"/>
          <p:cNvSpPr/>
          <p:nvPr/>
        </p:nvSpPr>
        <p:spPr>
          <a:xfrm>
            <a:off x="548640" y="4846320"/>
            <a:ext cx="7223760" cy="502920"/>
          </a:xfrm>
          <a:prstGeom prst="roundRect">
            <a:avLst>
              <a:gd name="adj" fmla="val 14545"/>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4846320"/>
            <a:ext cx="6949440" cy="502920"/>
          </a:xfrm>
          <a:prstGeom prst="rect">
            <a:avLst/>
          </a:prstGeom>
          <a:noFill/>
        </p:spPr>
        <p:txBody>
          <a:bodyPr wrap="square" lIns="0" tIns="0" rIns="0" bIns="0" anchor="ctr">
            <a:spAutoFit/>
          </a:bodyPr>
          <a:lstStyle/>
          <a:p>
            <a:pPr algn="l"/>
            <a:r>
              <a:rPr sz="1150" b="0">
                <a:solidFill>
                  <a:srgbClr val="004F9F"/>
                </a:solidFill>
                <a:latin typeface="에이투지체 6 SemiBold"/>
                <a:ea typeface="에이투지체 6 SemiBold"/>
                <a:cs typeface="에이투지체 6 SemiBold"/>
              </a:rPr>
              <a:t>광고수익률  </a:t>
            </a:r>
            <a:r>
              <a:rPr sz="1150" b="0">
                <a:solidFill>
                  <a:srgbClr val="222222"/>
                </a:solidFill>
                <a:latin typeface="에이투지체 6 SemiBold"/>
                <a:ea typeface="에이투지체 6 SemiBold"/>
                <a:cs typeface="에이투지체 6 SemiBold"/>
              </a:rPr>
              <a:t>통합 운영형 420%, 집중 운영형 383%, 직접 운영형 211%, 전체 291%</a:t>
            </a:r>
          </a:p>
        </p:txBody>
      </p:sp>
      <p:sp>
        <p:nvSpPr>
          <p:cNvPr id="15" name="TextBox 14"/>
          <p:cNvSpPr txBox="1"/>
          <p:nvPr/>
        </p:nvSpPr>
        <p:spPr>
          <a:xfrm>
            <a:off x="8092440" y="1993392"/>
            <a:ext cx="3520440" cy="292608"/>
          </a:xfrm>
          <a:prstGeom prst="rect">
            <a:avLst/>
          </a:prstGeom>
          <a:noFill/>
        </p:spPr>
        <p:txBody>
          <a:bodyPr wrap="square" lIns="0" tIns="0" rIns="0" bIns="0" anchor="t">
            <a:spAutoFit/>
          </a:bodyPr>
          <a:lstStyle/>
          <a:p>
            <a:pPr algn="l"/>
            <a:r>
              <a:rPr sz="1250" b="0">
                <a:solidFill>
                  <a:srgbClr val="004F9F"/>
                </a:solidFill>
                <a:latin typeface="에이투지체 8 ExtraBold"/>
                <a:ea typeface="에이투지체 8 ExtraBold"/>
                <a:cs typeface="에이투지체 8 ExtraBold"/>
              </a:rPr>
              <a:t>관리에 쓰는 방식</a:t>
            </a:r>
          </a:p>
        </p:txBody>
      </p:sp>
      <p:sp>
        <p:nvSpPr>
          <p:cNvPr id="16" name="Rounded Rectangle 15"/>
          <p:cNvSpPr/>
          <p:nvPr/>
        </p:nvSpPr>
        <p:spPr>
          <a:xfrm>
            <a:off x="8092440" y="2331720"/>
            <a:ext cx="3520440" cy="658368"/>
          </a:xfrm>
          <a:prstGeom prst="roundRect">
            <a:avLst>
              <a:gd name="adj" fmla="val 11111"/>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57031" y="2331720"/>
            <a:ext cx="411480" cy="658368"/>
          </a:xfrm>
          <a:prstGeom prst="rect">
            <a:avLst/>
          </a:prstGeom>
          <a:noFill/>
        </p:spPr>
        <p:txBody>
          <a:bodyPr wrap="square" lIns="0" tIns="0" rIns="0" bIns="0" anchor="ctr">
            <a:spAutoFit/>
          </a:bodyPr>
          <a:lstStyle/>
          <a:p>
            <a:pPr algn="l"/>
            <a:r>
              <a:rPr sz="1100" b="0">
                <a:solidFill>
                  <a:srgbClr val="FFFFFF"/>
                </a:solidFill>
                <a:latin typeface="에이투지체 6 SemiBold"/>
                <a:ea typeface="에이투지체 6 SemiBold"/>
                <a:cs typeface="에이투지체 6 SemiBold"/>
              </a:rPr>
              <a:t>01</a:t>
            </a:r>
          </a:p>
        </p:txBody>
      </p:sp>
      <p:sp>
        <p:nvSpPr>
          <p:cNvPr id="18" name="TextBox 17"/>
          <p:cNvSpPr txBox="1"/>
          <p:nvPr/>
        </p:nvSpPr>
        <p:spPr>
          <a:xfrm>
            <a:off x="8686800" y="2331720"/>
            <a:ext cx="2880360" cy="658368"/>
          </a:xfrm>
          <a:prstGeom prst="rect">
            <a:avLst/>
          </a:prstGeom>
          <a:noFill/>
        </p:spPr>
        <p:txBody>
          <a:bodyPr wrap="square" lIns="0" tIns="0" rIns="0" bIns="0" anchor="ctr">
            <a:spAutoFit/>
          </a:bodyPr>
          <a:lstStyle/>
          <a:p>
            <a:pPr algn="l"/>
            <a:r>
              <a:rPr sz="1200" b="0">
                <a:solidFill>
                  <a:srgbClr val="FFFFFF"/>
                </a:solidFill>
                <a:latin typeface="에이투지체 6 SemiBold"/>
                <a:ea typeface="에이투지체 6 SemiBold"/>
                <a:cs typeface="에이투지체 6 SemiBold"/>
              </a:rPr>
              <a:t>운영형별 ROAS 비교</a:t>
            </a:r>
          </a:p>
          <a:p>
            <a:pPr algn="l"/>
            <a:r>
              <a:rPr sz="950" b="0">
                <a:solidFill>
                  <a:srgbClr val="C9DAEE"/>
                </a:solidFill>
                <a:latin typeface="에이투지체 4 Regular"/>
                <a:ea typeface="에이투지체 4 Regular"/>
                <a:cs typeface="에이투지체 4 Regular"/>
              </a:rPr>
              <a:t>통합, 집중, 직접 운영형을 같은 기준으로 비교</a:t>
            </a:r>
          </a:p>
        </p:txBody>
      </p:sp>
      <p:sp>
        <p:nvSpPr>
          <p:cNvPr id="19" name="Rounded Rectangle 18"/>
          <p:cNvSpPr/>
          <p:nvPr/>
        </p:nvSpPr>
        <p:spPr>
          <a:xfrm>
            <a:off x="8092440" y="3099815"/>
            <a:ext cx="3520440" cy="658368"/>
          </a:xfrm>
          <a:prstGeom prst="roundRect">
            <a:avLst>
              <a:gd name="adj" fmla="val 11111"/>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57031" y="3099815"/>
            <a:ext cx="411480" cy="658368"/>
          </a:xfrm>
          <a:prstGeom prst="rect">
            <a:avLst/>
          </a:prstGeom>
          <a:noFill/>
        </p:spPr>
        <p:txBody>
          <a:bodyPr wrap="square" lIns="0" tIns="0" rIns="0" bIns="0" anchor="ctr">
            <a:spAutoFit/>
          </a:bodyPr>
          <a:lstStyle/>
          <a:p>
            <a:pPr algn="l"/>
            <a:r>
              <a:rPr sz="1100" b="0">
                <a:solidFill>
                  <a:srgbClr val="004F9F"/>
                </a:solidFill>
                <a:latin typeface="에이투지체 6 SemiBold"/>
                <a:ea typeface="에이투지체 6 SemiBold"/>
                <a:cs typeface="에이투지체 6 SemiBold"/>
              </a:rPr>
              <a:t>02</a:t>
            </a:r>
          </a:p>
        </p:txBody>
      </p:sp>
      <p:sp>
        <p:nvSpPr>
          <p:cNvPr id="21" name="TextBox 20"/>
          <p:cNvSpPr txBox="1"/>
          <p:nvPr/>
        </p:nvSpPr>
        <p:spPr>
          <a:xfrm>
            <a:off x="8686800" y="3099815"/>
            <a:ext cx="2880360" cy="658368"/>
          </a:xfrm>
          <a:prstGeom prst="rect">
            <a:avLst/>
          </a:prstGeom>
          <a:noFill/>
        </p:spPr>
        <p:txBody>
          <a:bodyPr wrap="square" lIns="0" tIns="0" rIns="0" bIns="0" anchor="ctr">
            <a:spAutoFit/>
          </a:bodyPr>
          <a:lstStyle/>
          <a:p>
            <a:pPr algn="l"/>
            <a:r>
              <a:rPr sz="1200" b="0">
                <a:solidFill>
                  <a:srgbClr val="222222"/>
                </a:solidFill>
                <a:latin typeface="에이투지체 6 SemiBold"/>
                <a:ea typeface="에이투지체 6 SemiBold"/>
                <a:cs typeface="에이투지체 6 SemiBold"/>
              </a:rPr>
              <a:t>예산 재배분</a:t>
            </a:r>
          </a:p>
          <a:p>
            <a:pPr algn="l"/>
            <a:r>
              <a:rPr sz="950" b="0">
                <a:solidFill>
                  <a:srgbClr val="5C5C5C"/>
                </a:solidFill>
                <a:latin typeface="에이투지체 4 Regular"/>
                <a:ea typeface="에이투지체 4 Regular"/>
                <a:cs typeface="에이투지체 4 Regular"/>
              </a:rPr>
              <a:t>ROAS가 확인된 운영형으로 다음 달 예산 이동</a:t>
            </a:r>
          </a:p>
        </p:txBody>
      </p:sp>
      <p:sp>
        <p:nvSpPr>
          <p:cNvPr id="22" name="Rounded Rectangle 21"/>
          <p:cNvSpPr/>
          <p:nvPr/>
        </p:nvSpPr>
        <p:spPr>
          <a:xfrm>
            <a:off x="8092440" y="3867911"/>
            <a:ext cx="3520440" cy="658368"/>
          </a:xfrm>
          <a:prstGeom prst="roundRect">
            <a:avLst>
              <a:gd name="adj" fmla="val 11111"/>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57031" y="3867911"/>
            <a:ext cx="411480" cy="658368"/>
          </a:xfrm>
          <a:prstGeom prst="rect">
            <a:avLst/>
          </a:prstGeom>
          <a:noFill/>
        </p:spPr>
        <p:txBody>
          <a:bodyPr wrap="square" lIns="0" tIns="0" rIns="0" bIns="0" anchor="ctr">
            <a:spAutoFit/>
          </a:bodyPr>
          <a:lstStyle/>
          <a:p>
            <a:pPr algn="l"/>
            <a:r>
              <a:rPr sz="1100" b="0">
                <a:solidFill>
                  <a:srgbClr val="004F9F"/>
                </a:solidFill>
                <a:latin typeface="에이투지체 6 SemiBold"/>
                <a:ea typeface="에이투지체 6 SemiBold"/>
                <a:cs typeface="에이투지체 6 SemiBold"/>
              </a:rPr>
              <a:t>03</a:t>
            </a:r>
          </a:p>
        </p:txBody>
      </p:sp>
      <p:sp>
        <p:nvSpPr>
          <p:cNvPr id="24" name="TextBox 23"/>
          <p:cNvSpPr txBox="1"/>
          <p:nvPr/>
        </p:nvSpPr>
        <p:spPr>
          <a:xfrm>
            <a:off x="8686800" y="3867911"/>
            <a:ext cx="2880360" cy="658368"/>
          </a:xfrm>
          <a:prstGeom prst="rect">
            <a:avLst/>
          </a:prstGeom>
          <a:noFill/>
        </p:spPr>
        <p:txBody>
          <a:bodyPr wrap="square" lIns="0" tIns="0" rIns="0" bIns="0" anchor="ctr">
            <a:spAutoFit/>
          </a:bodyPr>
          <a:lstStyle/>
          <a:p>
            <a:pPr algn="l"/>
            <a:r>
              <a:rPr sz="1200" b="0">
                <a:solidFill>
                  <a:srgbClr val="222222"/>
                </a:solidFill>
                <a:latin typeface="에이투지체 6 SemiBold"/>
                <a:ea typeface="에이투지체 6 SemiBold"/>
                <a:cs typeface="에이투지체 6 SemiBold"/>
              </a:rPr>
              <a:t>CPC 상한 조정</a:t>
            </a:r>
          </a:p>
          <a:p>
            <a:pPr algn="l"/>
            <a:r>
              <a:rPr sz="950" b="0">
                <a:solidFill>
                  <a:srgbClr val="5C5C5C"/>
                </a:solidFill>
                <a:latin typeface="에이투지체 4 Regular"/>
                <a:ea typeface="에이투지체 4 Regular"/>
                <a:cs typeface="에이투지체 4 Regular"/>
              </a:rPr>
              <a:t>직접 운영형 키워드별 CPC 상한 재설정</a:t>
            </a:r>
          </a:p>
        </p:txBody>
      </p:sp>
      <p:sp>
        <p:nvSpPr>
          <p:cNvPr id="25" name="Rounded Rectangle 24"/>
          <p:cNvSpPr/>
          <p:nvPr/>
        </p:nvSpPr>
        <p:spPr>
          <a:xfrm>
            <a:off x="8092440" y="4636008"/>
            <a:ext cx="3520440" cy="658368"/>
          </a:xfrm>
          <a:prstGeom prst="roundRect">
            <a:avLst>
              <a:gd name="adj" fmla="val 11111"/>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257031" y="4636008"/>
            <a:ext cx="411480" cy="658368"/>
          </a:xfrm>
          <a:prstGeom prst="rect">
            <a:avLst/>
          </a:prstGeom>
          <a:noFill/>
        </p:spPr>
        <p:txBody>
          <a:bodyPr wrap="square" lIns="0" tIns="0" rIns="0" bIns="0" anchor="ctr">
            <a:spAutoFit/>
          </a:bodyPr>
          <a:lstStyle/>
          <a:p>
            <a:pPr algn="l"/>
            <a:r>
              <a:rPr sz="1100" b="0">
                <a:solidFill>
                  <a:srgbClr val="004F9F"/>
                </a:solidFill>
                <a:latin typeface="에이투지체 6 SemiBold"/>
                <a:ea typeface="에이투지체 6 SemiBold"/>
                <a:cs typeface="에이투지체 6 SemiBold"/>
              </a:rPr>
              <a:t>04</a:t>
            </a:r>
          </a:p>
        </p:txBody>
      </p:sp>
      <p:sp>
        <p:nvSpPr>
          <p:cNvPr id="27" name="TextBox 26"/>
          <p:cNvSpPr txBox="1"/>
          <p:nvPr/>
        </p:nvSpPr>
        <p:spPr>
          <a:xfrm>
            <a:off x="8686800" y="4636008"/>
            <a:ext cx="2880360" cy="658368"/>
          </a:xfrm>
          <a:prstGeom prst="rect">
            <a:avLst/>
          </a:prstGeom>
          <a:noFill/>
        </p:spPr>
        <p:txBody>
          <a:bodyPr wrap="square" lIns="0" tIns="0" rIns="0" bIns="0" anchor="ctr">
            <a:spAutoFit/>
          </a:bodyPr>
          <a:lstStyle/>
          <a:p>
            <a:pPr algn="l"/>
            <a:r>
              <a:rPr sz="1200" b="0">
                <a:solidFill>
                  <a:srgbClr val="222222"/>
                </a:solidFill>
                <a:latin typeface="에이투지체 6 SemiBold"/>
                <a:ea typeface="에이투지체 6 SemiBold"/>
                <a:cs typeface="에이투지체 6 SemiBold"/>
              </a:rPr>
              <a:t>상품 구성 반영</a:t>
            </a:r>
          </a:p>
          <a:p>
            <a:pPr algn="l"/>
            <a:r>
              <a:rPr sz="950" b="0">
                <a:solidFill>
                  <a:srgbClr val="5C5C5C"/>
                </a:solidFill>
                <a:latin typeface="에이투지체 4 Regular"/>
                <a:ea typeface="에이투지체 4 Regular"/>
                <a:cs typeface="에이투지체 4 Regular"/>
              </a:rPr>
              <a:t>운영형별 상품을 성과 기준으로 교체</a:t>
            </a:r>
          </a:p>
        </p:txBody>
      </p:sp>
    </p:spTree>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2845</Words>
  <Application>Microsoft Office PowerPoint</Application>
  <PresentationFormat>와이드스크린</PresentationFormat>
  <Paragraphs>447</Paragraphs>
  <Slides>17</Slides>
  <Notes>2</Notes>
  <HiddenSlides>0</HiddenSlides>
  <MMClips>0</MMClips>
  <ScaleCrop>false</ScaleCrop>
  <HeadingPairs>
    <vt:vector size="6" baseType="variant">
      <vt:variant>
        <vt:lpstr>사용한 글꼴</vt:lpstr>
      </vt:variant>
      <vt:variant>
        <vt:i4>7</vt:i4>
      </vt:variant>
      <vt:variant>
        <vt:lpstr>테마</vt:lpstr>
      </vt:variant>
      <vt:variant>
        <vt:i4>1</vt:i4>
      </vt:variant>
      <vt:variant>
        <vt:lpstr>슬라이드 제목</vt:lpstr>
      </vt:variant>
      <vt:variant>
        <vt:i4>17</vt:i4>
      </vt:variant>
    </vt:vector>
  </HeadingPairs>
  <TitlesOfParts>
    <vt:vector size="25" baseType="lpstr">
      <vt:lpstr>맑은 고딕</vt:lpstr>
      <vt:lpstr>에이투지체 3 Light</vt:lpstr>
      <vt:lpstr>에이투지체 4 Regular</vt:lpstr>
      <vt:lpstr>에이투지체 5 Medium</vt:lpstr>
      <vt:lpstr>에이투지체 6 SemiBold</vt:lpstr>
      <vt:lpstr>에이투지체 8 ExtraBold</vt:lpstr>
      <vt:lpstr>Arial</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LINKPRICE USER084</dc:creator>
  <cp:lastModifiedBy>LINKPRICE USER084</cp:lastModifiedBy>
  <cp:revision>2</cp:revision>
  <dcterms:created xsi:type="dcterms:W3CDTF">2026-10-13T10:08:00Z</dcterms:created>
  <dcterms:modified xsi:type="dcterms:W3CDTF">2026-10-13T10:15:02Z</dcterms:modified>
</cp:coreProperties>
</file>