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85" r:id="rId2"/>
    <p:sldId id="425" r:id="rId3"/>
    <p:sldId id="426" r:id="rId4"/>
    <p:sldId id="430" r:id="rId5"/>
    <p:sldId id="428" r:id="rId6"/>
    <p:sldId id="429" r:id="rId7"/>
    <p:sldId id="427" r:id="rId8"/>
    <p:sldId id="432" r:id="rId9"/>
    <p:sldId id="441" r:id="rId10"/>
    <p:sldId id="435" r:id="rId11"/>
    <p:sldId id="436" r:id="rId12"/>
    <p:sldId id="438" r:id="rId14"/>
    <p:sldId id="440" r:id="rId16"/>
    <p:sldId id="43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광고비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9DAEE"/>
              </a:solidFill>
            </c:spPr>
            <c:extLst>
              <c:ext xmlns:c16="http://schemas.microsoft.com/office/drawing/2014/chart" uri="{C3380CC4-5D6E-409C-BE32-E72D297353CC}">
                <c16:uniqueId val="{00000001-8C06-4E72-9953-E814D500A8E3}"/>
              </c:ext>
            </c:extLst>
          </c:dPt>
          <c:dPt>
            <c:idx val="1"/>
            <c:invertIfNegative val="1"/>
            <c:bubble3D val="0"/>
            <c:spPr>
              <a:solidFill>
                <a:srgbClr val="C9DAEE"/>
              </a:solidFill>
            </c:spPr>
            <c:extLst>
              <c:ext xmlns:c16="http://schemas.microsoft.com/office/drawing/2014/chart" uri="{C3380CC4-5D6E-409C-BE32-E72D297353CC}">
                <c16:uniqueId val="{00000003-8C06-4E72-9953-E814D500A8E3}"/>
              </c:ext>
            </c:extLst>
          </c:dPt>
          <c:dPt>
            <c:idx val="2"/>
            <c:invertIfNegative val="1"/>
            <c:bubble3D val="0"/>
            <c:spPr>
              <a:solidFill>
                <a:srgbClr val="C9DAEE"/>
              </a:solidFill>
            </c:spPr>
            <c:extLst>
              <c:ext xmlns:c16="http://schemas.microsoft.com/office/drawing/2014/chart" uri="{C3380CC4-5D6E-409C-BE32-E72D297353CC}">
                <c16:uniqueId val="{00000005-8C06-4E72-9953-E814D500A8E3}"/>
              </c:ext>
            </c:extLst>
          </c:dPt>
          <c:dPt>
            <c:idx val="3"/>
            <c:invertIfNegative val="1"/>
            <c:bubble3D val="0"/>
            <c:spPr>
              <a:solidFill>
                <a:srgbClr val="004F9F"/>
              </a:solidFill>
            </c:spPr>
            <c:extLst>
              <c:ext xmlns:c16="http://schemas.microsoft.com/office/drawing/2014/chart" uri="{C3380CC4-5D6E-409C-BE32-E72D297353CC}">
                <c16:uniqueId val="{00000007-8C06-4E72-9953-E814D500A8E3}"/>
              </c:ext>
            </c:extLst>
          </c:dPt>
          <c:dLbls>
            <c:numFmt formatCode="#,##0&quot;원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>
                    <a:solidFill>
                      <a:srgbClr val="222222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카무트 효소</c:v>
                </c:pt>
                <c:pt idx="1">
                  <c:v>츄어블 철분</c:v>
                </c:pt>
                <c:pt idx="2">
                  <c:v>멀티비타민</c:v>
                </c:pt>
                <c:pt idx="3">
                  <c:v>키성장 FGO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3885</c:v>
                </c:pt>
                <c:pt idx="1">
                  <c:v>4500</c:v>
                </c:pt>
                <c:pt idx="2">
                  <c:v>4718</c:v>
                </c:pt>
                <c:pt idx="3">
                  <c:v>33525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C06-4E72-9953-E814D500A8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DDDDD"/>
            </a:solidFill>
          </a:ln>
        </c:spPr>
        <c:txPr>
          <a:bodyPr/>
          <a:lstStyle/>
          <a:p>
            <a:pPr>
              <a:defRPr sz="1200">
                <a:solidFill>
                  <a:srgbClr val="222222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200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에이투지체 5 Medium"/>
          <a:ea typeface="에이투지체 5 Medium"/>
          <a:cs typeface="에이투지체 5 Medium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D339B-5518-4220-A5EC-C17406771880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A4A0D-F971-42FA-B832-151C9EA10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392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A5EFE-3F8F-5D68-421B-2B0607093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8E661E-CD00-4DCF-7002-CFCED59D1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3A802-5BBC-5B90-3AB2-E6478A727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208076-D652-25C5-C539-88C1DFBB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369F45-D33D-07B4-C996-3F604A95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35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DEF00-6B72-4A0F-09C7-EC3CBCEC3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84DF9E-96D1-0CB8-35E3-92FA2B2EC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9F49C4-98E1-73F9-ACFF-86BBA9A6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BD3B17-B855-5178-9CD4-D5DA5615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87DE5-4E9C-EB3C-4FA3-60700312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3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BA7E04-47FE-99AA-58FB-864D11AAF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63215-B775-1A9E-6307-CE0912637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B17DAF-E9D3-4C34-A80A-0A6A9202F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F7F450-589C-3D96-6319-AD11F924B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F2ED9E-CDCA-7DFC-93E9-9F452493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06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F4531-B35F-412B-B5E5-BB5D7551A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E0DA9-4EB0-3129-2479-2E93410D0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ED597F-FCE4-72CE-6A53-BBE99F721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28F1CA-AD0F-642D-2F6B-16E295AD8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0DCBF0-5AD5-6BF4-BCA2-C05C59F9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FE4C43-3412-5FA5-B20E-57131C06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21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96258-4569-42D5-DE1E-01095535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7BDDCE-E7A8-D9AC-1155-4FB437CF5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C3DF4C-5096-CAEE-206A-14EA3A57A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FE454C-FFD7-BC23-D574-8262B007CE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2C5E07-40DD-DE09-29C5-FECBA7EFC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247EDB-776D-AFEF-65B6-DD0BC300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68CAF9-F212-C742-0E9C-859552DD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F057D1E-2086-9332-A4CD-55FBF160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14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BD9A2-8CE7-1085-F5CD-2ADB3C536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A99087-D8E5-BBB1-006B-9E6E2EA50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48BEF3-FC78-F512-5E03-63EACD5BE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7A1DF5-4CC6-80E3-791B-B3515783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07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18778-9F04-DEB0-044D-3EFF10F0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72C68B-5AB2-0AA5-51ED-E6D4C426E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56A87-1EBA-BB3B-6652-14B5D84BC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85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A2155-7D27-56EC-BB31-BD780C2EE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18B50-F0F1-B222-1CD8-AB5C274CE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E1CBB0-8268-E44C-5777-E0F18129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48C5A7-69B2-CDC0-C166-511D2113B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F4C09-A9DD-D394-30CB-36A45903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70D902-143A-D73D-5032-C10485B99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28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2216E7-1915-D845-56D4-0F1856F4B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D51BDD-B3B3-C866-3865-10C7C89C87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FCBB3B-7BFE-454E-E8C1-31116E89B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2B9CB9-E5DC-C162-97A0-7A5D7420F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B588F0-4E7A-C2C7-743C-9C955D63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72DE62-085C-2BA9-C649-64D1EA80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167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3BC024-2FC8-8551-CB26-783A12343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88B235-76CB-DE9A-262E-CFF90476B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69E48F-D785-5CAC-6A05-9AAC9308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0BF1AC-7DC3-92CE-6FE5-B3406E7F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DF5BC-7F34-599A-36D2-83C86753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17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BCE91C-E350-62FA-4E73-0307AEB05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C05D91-D80F-D64F-C551-1A3426FB1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AEB09B-6BEB-EC97-48DB-F09423EB0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2F20EC-7BAD-F719-7083-B0FF1BF4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320B36-A953-3331-3EF5-88A9C35D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114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67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3231B9-3232-E59C-ED7F-FB99F6D40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010D45-F53A-5258-1134-4023D0C99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0096B4-7752-8B1E-BB67-E34D89EC7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FDBED7-30BC-C28B-7C48-3287B6D98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213279-39E8-34AA-0F1A-477609874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822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lang="ko-KR" altLang="ko-KR" sz="190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</a:rPr>
              <a:t>쿠팡</a:t>
            </a:r>
            <a:r>
              <a:rPr lang="ko-KR" altLang="ko-KR" sz="190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</a:rPr>
              <a:t> 주력 상품이 메인 키워드 검색 결과 첫 화면에 없습니다</a:t>
            </a:r>
          </a:p>
          <a:p>
            <a:pPr>
              <a:lnSpc>
                <a:spcPts val="2600"/>
              </a:lnSpc>
            </a:pPr>
            <a:r>
              <a:rPr lang="ko-KR" altLang="ko-KR" sz="1900" dirty="0">
                <a:solidFill>
                  <a:srgbClr val="222222"/>
                </a:solidFill>
                <a:latin typeface="에이투지체 8 ExtraBold"/>
                <a:ea typeface="에이투지체 8 ExtraBold"/>
              </a:rPr>
              <a:t>로켓배송과 리뷰는 이미 갖춘 상태입니다</a:t>
            </a:r>
            <a:endParaRPr sz="1900" b="0" dirty="0">
              <a:solidFill>
                <a:srgbClr val="222222"/>
              </a:solidFill>
              <a:latin typeface="에이투지체 8 ExtraBold"/>
              <a:ea typeface="에이투지체 8 ExtraBold"/>
              <a:cs typeface="에이투지체 8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쿠팡 현황 진단 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702565"/>
            <a:ext cx="10671048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dirty="0" err="1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로켓 배송 상품이 대표 검색어에서도 보이게 하는 것이 쿠팡의 과제입니다</a:t>
            </a:r>
            <a:endParaRPr sz="1350" b="0" dirty="0">
              <a:solidFill>
                <a:srgbClr val="004F9F"/>
              </a:solidFill>
              <a:latin typeface="에이투지체 6 SemiBold"/>
              <a:ea typeface="에이투지체 6 SemiBold"/>
              <a:cs typeface="에이투지체 6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상품: 2026.10.12 (주)두드림비엔비 쿠팡 브랜드샵 / 검색: 2026.10.13 쿠팡 PC 검색 화면 기준 (비로그인). 검색 결과는 새로고침, 사용자별로 달라짐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3447288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157984"/>
            <a:ext cx="30175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리뷰 827 · 968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2491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에이투지체 6 SemiBold"/>
                <a:ea typeface="에이투지체 6 SemiBold"/>
                <a:cs typeface="에이투지체 6 SemiBold"/>
              </a:rPr>
              <a:t>FGO · 카무트 로켓 상품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구매 조건은 갖춰진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808" y="3794760"/>
            <a:ext cx="3447288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주력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상품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모두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로켓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lang="ko-KR" altLang="en-US"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배송 등록</a:t>
            </a:r>
            <a:endParaRPr sz="1300" b="0" dirty="0">
              <a:solidFill>
                <a:srgbClr val="5C5C5C"/>
              </a:solidFill>
              <a:latin typeface="에이투지체 4 Regular"/>
              <a:ea typeface="에이투지체 4 Regular"/>
              <a:cs typeface="에이투지체 4 Regular"/>
            </a:endParaRPr>
          </a:p>
          <a:p>
            <a:pPr algn="l"/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철분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·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유산균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등도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리뷰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65~588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873752"/>
            <a:ext cx="3447288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4983480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광고할 상품은 준비된 상태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103120"/>
            <a:ext cx="3447288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2157984"/>
            <a:ext cx="30175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3개 중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72491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에이투지체 6 SemiBold"/>
                <a:ea typeface="에이투지체 6 SemiBold"/>
                <a:cs typeface="에이투지체 6 SemiBold"/>
              </a:rPr>
              <a:t>대표 검색어 첫 화면 노출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337560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대표 검색어에서 보이지 않음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3794760"/>
            <a:ext cx="3447288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ko-KR" sz="1300" dirty="0">
                <a:solidFill>
                  <a:srgbClr val="5C5C5C"/>
                </a:solidFill>
                <a:latin typeface="에이투지체 4 Regular"/>
                <a:ea typeface="에이투지체 4 Regular"/>
              </a:rPr>
              <a:t>키성장영양제, </a:t>
            </a:r>
            <a:r>
              <a:rPr lang="ko-KR" altLang="ko-KR" sz="1300" dirty="0" err="1">
                <a:solidFill>
                  <a:srgbClr val="5C5C5C"/>
                </a:solidFill>
                <a:latin typeface="에이투지체 4 Regular"/>
                <a:ea typeface="에이투지체 4 Regular"/>
              </a:rPr>
              <a:t>키크는영양제</a:t>
            </a:r>
            <a:r>
              <a:rPr lang="ko-KR" altLang="ko-KR" sz="1300" dirty="0">
                <a:solidFill>
                  <a:srgbClr val="5C5C5C"/>
                </a:solidFill>
                <a:latin typeface="에이투지체 4 Regular"/>
                <a:ea typeface="에이투지체 4 Regular"/>
              </a:rPr>
              <a:t>, </a:t>
            </a:r>
            <a:r>
              <a:rPr lang="ko-KR" altLang="ko-KR" sz="1300" dirty="0" err="1">
                <a:solidFill>
                  <a:srgbClr val="5C5C5C"/>
                </a:solidFill>
                <a:latin typeface="에이투지체 4 Regular"/>
                <a:ea typeface="에이투지체 4 Regular"/>
              </a:rPr>
              <a:t>카무트효소</a:t>
            </a:r>
            <a:endParaRPr lang="ko-KR" altLang="ko-KR" sz="1300" dirty="0">
              <a:solidFill>
                <a:srgbClr val="5C5C5C"/>
              </a:solidFill>
              <a:latin typeface="에이투지체 4 Regular"/>
              <a:ea typeface="에이투지체 4 Regular"/>
            </a:endParaRPr>
          </a:p>
          <a:p>
            <a:r>
              <a:rPr lang="ko-KR" altLang="ko-KR" sz="1300" dirty="0">
                <a:solidFill>
                  <a:srgbClr val="5C5C5C"/>
                </a:solidFill>
                <a:latin typeface="에이투지체 4 Regular"/>
                <a:ea typeface="에이투지체 4 Regular"/>
              </a:rPr>
              <a:t>첫 화면에 두드림 상품 없음</a:t>
            </a:r>
          </a:p>
          <a:p>
            <a:r>
              <a:rPr lang="ko-KR" altLang="ko-KR" sz="1300" dirty="0" err="1">
                <a:solidFill>
                  <a:srgbClr val="5C5C5C"/>
                </a:solidFill>
                <a:latin typeface="에이투지체 4 Regular"/>
                <a:ea typeface="에이투지체 4 Regular"/>
              </a:rPr>
              <a:t>키움정</a:t>
            </a:r>
            <a:r>
              <a:rPr lang="ko-KR" altLang="ko-KR" sz="1300" dirty="0">
                <a:solidFill>
                  <a:srgbClr val="5C5C5C"/>
                </a:solidFill>
                <a:latin typeface="에이투지체 4 Regular"/>
                <a:ea typeface="에이투지체 4 Regular"/>
              </a:rPr>
              <a:t>, </a:t>
            </a:r>
            <a:r>
              <a:rPr lang="ko-KR" altLang="ko-KR" sz="1300" dirty="0" err="1">
                <a:solidFill>
                  <a:srgbClr val="5C5C5C"/>
                </a:solidFill>
                <a:latin typeface="에이투지체 4 Regular"/>
                <a:ea typeface="에이투지체 4 Regular"/>
              </a:rPr>
              <a:t>키앤이거</a:t>
            </a:r>
            <a:r>
              <a:rPr lang="ko-KR" altLang="ko-KR" sz="1300" dirty="0">
                <a:solidFill>
                  <a:srgbClr val="5C5C5C"/>
                </a:solidFill>
                <a:latin typeface="에이투지체 4 Regular"/>
                <a:ea typeface="에이투지체 4 Regular"/>
              </a:rPr>
              <a:t>, </a:t>
            </a:r>
            <a:r>
              <a:rPr lang="ko-KR" altLang="ko-KR" sz="1300" dirty="0" err="1">
                <a:solidFill>
                  <a:srgbClr val="5C5C5C"/>
                </a:solidFill>
                <a:latin typeface="에이투지체 4 Regular"/>
                <a:ea typeface="에이투지체 4 Regular"/>
              </a:rPr>
              <a:t>그레인온</a:t>
            </a:r>
            <a:r>
              <a:rPr lang="ko-KR" altLang="ko-KR" sz="1300" dirty="0">
                <a:solidFill>
                  <a:srgbClr val="5C5C5C"/>
                </a:solidFill>
                <a:latin typeface="에이투지체 4 Regular"/>
                <a:ea typeface="에이투지체 4 Regular"/>
              </a:rPr>
              <a:t> 등 경쟁사 광고 노출</a:t>
            </a:r>
            <a:br>
              <a:rPr lang="ko-KR" altLang="ko-KR" sz="1300" dirty="0">
                <a:solidFill>
                  <a:srgbClr val="5C5C5C"/>
                </a:solidFill>
                <a:latin typeface="에이투지체 4 Regular"/>
                <a:ea typeface="에이투지체 4 Regular"/>
              </a:rPr>
            </a:br>
            <a:endParaRPr sz="1300" dirty="0">
              <a:solidFill>
                <a:srgbClr val="5C5C5C"/>
              </a:solidFill>
              <a:latin typeface="에이투지체 4 Regular"/>
              <a:ea typeface="에이투지체 4 Regular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4361688" y="4873752"/>
            <a:ext cx="3447287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61688" y="4983480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카테고리 검색 수요가 경쟁 상품에 집중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4736" y="2103120"/>
            <a:ext cx="3447288" cy="1051560"/>
          </a:xfrm>
          <a:prstGeom prst="roundRect">
            <a:avLst>
              <a:gd name="adj" fmla="val 6956"/>
            </a:avLst>
          </a:prstGeom>
          <a:solidFill>
            <a:srgbClr val="0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03336" y="2157984"/>
            <a:ext cx="30175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에이투지체 8 ExtraBold"/>
                <a:ea typeface="에이투지체 8 ExtraBold"/>
                <a:cs typeface="에이투지체 8 ExtraBold"/>
              </a:rPr>
              <a:t>경쟁사 광고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2724912"/>
            <a:ext cx="301752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C9DAEE"/>
                </a:solidFill>
                <a:latin typeface="에이투지체 6 SemiBold"/>
                <a:ea typeface="에이투지체 6 SemiBold"/>
                <a:cs typeface="에이투지체 6 SemiBold"/>
              </a:rPr>
              <a:t>자사</a:t>
            </a:r>
            <a:r>
              <a:rPr sz="1150" b="0" dirty="0">
                <a:solidFill>
                  <a:srgbClr val="C9DAEE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sz="1150" b="0" dirty="0" err="1">
                <a:solidFill>
                  <a:srgbClr val="C9DAEE"/>
                </a:solidFill>
                <a:latin typeface="에이투지체 6 SemiBold"/>
                <a:ea typeface="에이투지체 6 SemiBold"/>
                <a:cs typeface="에이투지체 6 SemiBold"/>
              </a:rPr>
              <a:t>브랜드</a:t>
            </a:r>
            <a:r>
              <a:rPr sz="1150" b="0" dirty="0">
                <a:solidFill>
                  <a:srgbClr val="C9DAEE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lang="ko-KR" altLang="en-US" sz="1150" dirty="0">
                <a:solidFill>
                  <a:srgbClr val="C9DAEE"/>
                </a:solidFill>
                <a:latin typeface="에이투지체 6 SemiBold"/>
                <a:ea typeface="에이투지체 6 SemiBold"/>
                <a:cs typeface="에이투지체 6 SemiBold"/>
              </a:rPr>
              <a:t>키워드</a:t>
            </a:r>
            <a:r>
              <a:rPr sz="1150" b="0" dirty="0">
                <a:solidFill>
                  <a:srgbClr val="C9DAEE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lang="ko-KR" altLang="en-US" sz="1150" b="0" dirty="0">
                <a:solidFill>
                  <a:srgbClr val="C9DAEE"/>
                </a:solidFill>
                <a:latin typeface="에이투지체 6 SemiBold"/>
                <a:ea typeface="에이투지체 6 SemiBold"/>
                <a:cs typeface="에이투지체 6 SemiBold"/>
              </a:rPr>
              <a:t>검색 결과</a:t>
            </a:r>
            <a:endParaRPr sz="1150" b="0" dirty="0">
              <a:solidFill>
                <a:srgbClr val="C9DAEE"/>
              </a:solidFill>
              <a:latin typeface="에이투지체 6 SemiBold"/>
              <a:ea typeface="에이투지체 6 SemiBold"/>
              <a:cs typeface="에이투지체 6 SemiBold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74736" y="3337560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 dirty="0" err="1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브랜드</a:t>
            </a:r>
            <a:r>
              <a:rPr sz="1575" b="0" dirty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sz="1575" b="0" dirty="0" err="1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검색어에</a:t>
            </a:r>
            <a:r>
              <a:rPr sz="1575" b="0" dirty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sz="1575" b="0" dirty="0" err="1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경쟁사</a:t>
            </a:r>
            <a:r>
              <a:rPr sz="1575" b="0" dirty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sz="1575" b="0" dirty="0" err="1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광고</a:t>
            </a:r>
            <a:r>
              <a:rPr sz="1575" b="0" dirty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sz="1575" b="0" dirty="0" err="1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노출</a:t>
            </a:r>
            <a:endParaRPr sz="1575" b="0" dirty="0">
              <a:solidFill>
                <a:srgbClr val="222222"/>
              </a:solidFill>
              <a:latin typeface="에이투지체 6 SemiBold"/>
              <a:ea typeface="에이투지체 6 SemiBold"/>
              <a:cs typeface="에이투지체 6 SemiBold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74736" y="3794760"/>
            <a:ext cx="3447288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ko-KR" sz="1300" dirty="0" err="1">
                <a:solidFill>
                  <a:srgbClr val="5C5C5C"/>
                </a:solidFill>
                <a:latin typeface="에이투지체 4 Regular"/>
                <a:ea typeface="에이투지체 4 Regular"/>
              </a:rPr>
              <a:t>아이클타임</a:t>
            </a:r>
            <a:r>
              <a:rPr lang="ko-KR" altLang="ko-KR" sz="1300" dirty="0">
                <a:solidFill>
                  <a:srgbClr val="5C5C5C"/>
                </a:solidFill>
                <a:latin typeface="에이투지체 4 Regular"/>
                <a:ea typeface="에이투지체 4 Regular"/>
              </a:rPr>
              <a:t> 검색 첫 줄에 경쟁사가 광고</a:t>
            </a:r>
          </a:p>
          <a:p>
            <a:r>
              <a:rPr lang="ko-KR" altLang="ko-KR" sz="1300" dirty="0">
                <a:solidFill>
                  <a:srgbClr val="5C5C5C"/>
                </a:solidFill>
                <a:latin typeface="에이투지체 4 Regular"/>
                <a:ea typeface="에이투지체 4 Regular"/>
              </a:rPr>
              <a:t>반대로 경쟁사 브랜드 검색 결과에는</a:t>
            </a:r>
          </a:p>
          <a:p>
            <a:r>
              <a:rPr lang="ko-KR" altLang="ko-KR" sz="1300" dirty="0">
                <a:solidFill>
                  <a:srgbClr val="5C5C5C"/>
                </a:solidFill>
                <a:latin typeface="에이투지체 4 Regular"/>
                <a:ea typeface="에이투지체 4 Regular"/>
              </a:rPr>
              <a:t>두드림 노출 없음</a:t>
            </a:r>
            <a:br>
              <a:rPr lang="ko-KR" altLang="ko-KR" sz="1300" dirty="0">
                <a:solidFill>
                  <a:srgbClr val="5C5C5C"/>
                </a:solidFill>
                <a:latin typeface="에이투지체 4 Regular"/>
                <a:ea typeface="에이투지체 4 Regular"/>
              </a:rPr>
            </a:br>
            <a:endParaRPr sz="1300" dirty="0">
              <a:solidFill>
                <a:srgbClr val="5C5C5C"/>
              </a:solidFill>
              <a:latin typeface="에이투지체 4 Regular"/>
              <a:ea typeface="에이투지체 4 Regular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8174736" y="4873752"/>
            <a:ext cx="3447288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74736" y="4983480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검색어별 운영 구조 정리 필요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아이클타임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검색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결과에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경쟁사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광고가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나오고</a:t>
            </a:r>
            <a:endParaRPr sz="1900" b="0" dirty="0">
              <a:solidFill>
                <a:srgbClr val="FFFFFF"/>
              </a:solidFill>
              <a:highlight>
                <a:srgbClr val="0000FF"/>
              </a:highlight>
              <a:latin typeface="에이투지체 8 ExtraBold"/>
              <a:ea typeface="에이투지체 8 ExtraBold"/>
              <a:cs typeface="에이투지체 8 ExtraBold"/>
            </a:endParaRPr>
          </a:p>
          <a:p>
            <a:pPr>
              <a:lnSpc>
                <a:spcPts val="2600"/>
              </a:lnSpc>
            </a:pP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경쟁사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브랜드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검색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결과에는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두드림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상품이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없습니다</a:t>
            </a:r>
            <a:endParaRPr sz="1900" b="0" dirty="0">
              <a:solidFill>
                <a:srgbClr val="222222"/>
              </a:solidFill>
              <a:latin typeface="에이투지체 8 ExtraBold"/>
              <a:ea typeface="에이투지체 8 ExtraBold"/>
              <a:cs typeface="에이투지체 8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쿠팡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현황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진단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②  </a:t>
            </a:r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브랜드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검색어</a:t>
            </a:r>
            <a:endParaRPr sz="1100" b="0" dirty="0">
              <a:solidFill>
                <a:srgbClr val="5C5C5C"/>
              </a:solidFill>
              <a:latin typeface="에이투지체 5 Medium"/>
              <a:ea typeface="에이투지체 5 Medium"/>
              <a:cs typeface="에이투지체 5 Medium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632704"/>
            <a:ext cx="10671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브랜드 검색어 광고를 유지하면서, 경쟁사 브랜드 검색어도 제외하지 않고 성과를 보겠습니다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2026.10.13 쿠팡 PC 검색 화면 기준 (비로그인). 검색 결과는 새로고침, 사용자별로 달라짐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자사 브랜드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"아이클타임" 검색 결과, 첫 줄에 키움정 광고</a:t>
            </a:r>
          </a:p>
        </p:txBody>
      </p:sp>
      <p:pic>
        <p:nvPicPr>
          <p:cNvPr id="12" name="Picture 11" descr="ai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5760720" cy="3174136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583680" y="1993392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경쟁사 브랜드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두드림 노출 없음</a:t>
            </a:r>
          </a:p>
        </p:txBody>
      </p:sp>
      <p:pic>
        <p:nvPicPr>
          <p:cNvPr id="14" name="Picture 13" descr="k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331720"/>
            <a:ext cx="2697480" cy="1503566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9464040" y="2606039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"키움정" 검색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953512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첫 화면 전부 키움정</a:t>
            </a:r>
          </a:p>
        </p:txBody>
      </p:sp>
      <p:pic>
        <p:nvPicPr>
          <p:cNvPr id="17" name="Picture 16" descr="howtok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931920"/>
            <a:ext cx="2697480" cy="1490971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9464040" y="420624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"하우투키" 검색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4553712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젬, 키앤이거 광고 노출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대표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검색어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3개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모두</a:t>
            </a:r>
            <a:endParaRPr sz="1900" b="0" dirty="0">
              <a:solidFill>
                <a:srgbClr val="222222"/>
              </a:solidFill>
              <a:latin typeface="에이투지체 8 ExtraBold"/>
              <a:ea typeface="에이투지체 8 ExtraBold"/>
              <a:cs typeface="에이투지체 8 ExtraBold"/>
            </a:endParaRPr>
          </a:p>
          <a:p>
            <a:pPr>
              <a:lnSpc>
                <a:spcPts val="2600"/>
              </a:lnSpc>
            </a:pPr>
            <a:r>
              <a:rPr lang="ko-KR" altLang="en-US"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검색 결과 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첫 </a:t>
            </a:r>
            <a:r>
              <a:rPr lang="ko-KR" altLang="en-US"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페이지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에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두드림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상품이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없습니다</a:t>
            </a:r>
            <a:endParaRPr sz="1900" b="0" dirty="0">
              <a:solidFill>
                <a:srgbClr val="222222"/>
              </a:solidFill>
              <a:latin typeface="에이투지체 8 ExtraBold"/>
              <a:ea typeface="에이투지체 8 ExtraBold"/>
              <a:cs typeface="에이투지체 8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쿠팡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현황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sz="1100" b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진단</a:t>
            </a:r>
            <a:r>
              <a:rPr sz="1100" b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③  </a:t>
            </a:r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대표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검색어</a:t>
            </a:r>
            <a:endParaRPr sz="1100" b="0" dirty="0">
              <a:solidFill>
                <a:srgbClr val="5C5C5C"/>
              </a:solidFill>
              <a:latin typeface="에이투지체 5 Medium"/>
              <a:ea typeface="에이투지체 5 Medium"/>
              <a:cs typeface="에이투지체 5 Medium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632704"/>
            <a:ext cx="10671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대표 검색어는 리뷰가 많은 FGO·카무트 위주로 광고하고, 목표 ROAS와 예산을 조정해 노출을 늘리겠습니다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2026.10.13 쿠팡 PC 검색 화면 기준 (비로그인). 검색 결과는 새로고침, 사용자별로 달라짐 / 괄호는 리뷰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"키성장영양제"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두드림 미노출</a:t>
            </a:r>
          </a:p>
        </p:txBody>
      </p:sp>
      <p:pic>
        <p:nvPicPr>
          <p:cNvPr id="12" name="Picture 11" descr="kis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3566160" cy="1912531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48640" y="4434840"/>
            <a:ext cx="3566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광고  </a:t>
            </a:r>
            <a:r>
              <a:rPr sz="100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키움정, 키앤이거, 드림톨, 센치엘, 하이크니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랭킹  </a:t>
            </a:r>
            <a:r>
              <a:rPr sz="100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키앤이거 (2,750), 골밀도 강화 (60), 키클레오 (100)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99339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"키크는영양제"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두드림 미노출</a:t>
            </a:r>
          </a:p>
        </p:txBody>
      </p:sp>
      <p:pic>
        <p:nvPicPr>
          <p:cNvPr id="15" name="Picture 14" descr="kike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79" y="2331720"/>
            <a:ext cx="3566160" cy="1990193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297679" y="4434840"/>
            <a:ext cx="3566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광고  </a:t>
            </a:r>
            <a:r>
              <a:rPr sz="100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키앤이거, 키움정, 드림톨, 펜트로반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랭킹  </a:t>
            </a:r>
            <a:r>
              <a:rPr sz="100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키클레오 (100), 알파이 (1,251), 키초스틱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199339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"카무트효소"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두드림 미노출</a:t>
            </a:r>
          </a:p>
        </p:txBody>
      </p:sp>
      <p:pic>
        <p:nvPicPr>
          <p:cNvPr id="18" name="Picture 17" descr="kam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19" y="2331720"/>
            <a:ext cx="3566160" cy="1988404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8046719" y="4434840"/>
            <a:ext cx="3566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광고  </a:t>
            </a:r>
            <a:r>
              <a:rPr sz="100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여에스더, 비타민마을, 정품 골든, 동국제약, SSF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랭킹  </a:t>
            </a:r>
            <a:r>
              <a:rPr sz="100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골드 카무트 MAX (1,226), 카무트 골드G (14,664), 그레인온 (3,644)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sz="1900" b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검색어를 브랜드·대표·경쟁사로 나눠</a:t>
            </a:r>
          </a:p>
          <a:p>
            <a:pPr>
              <a:lnSpc>
                <a:spcPts val="2600"/>
              </a:lnSpc>
            </a:pPr>
            <a:r>
              <a:rPr sz="190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유형마다 제외 기준과 운영 방식을 다르게 가져갑니다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쿠팡 핵심과제 2  검색어 노출 확대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632704"/>
            <a:ext cx="10671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dirty="0" err="1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검색어는 매출 최적화 캠페인의 제외 설정으로 관리하고, 전환이 확인된 캠페인부터 예산을 늘립니다</a:t>
            </a:r>
            <a:endParaRPr sz="1350" b="0" dirty="0">
              <a:solidFill>
                <a:srgbClr val="004F9F"/>
              </a:solidFill>
              <a:latin typeface="에이투지체 6 SemiBold"/>
              <a:ea typeface="에이투지체 6 SemiBold"/>
              <a:cs typeface="에이투지체 6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경쟁사명은 검색어로만 활용하고 상품명과 소재에는 사용하지 않습니다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3447288" cy="868680"/>
          </a:xfrm>
          <a:prstGeom prst="roundRect">
            <a:avLst>
              <a:gd name="adj" fmla="val 8421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자사 브랜드 검색어</a:t>
            </a:r>
          </a:p>
          <a:p>
            <a:pPr algn="l"/>
            <a:r>
              <a:rPr sz="1200" b="0">
                <a:solidFill>
                  <a:srgbClr val="5C5C5C"/>
                </a:solidFill>
                <a:latin typeface="에이투지체 6 SemiBold"/>
                <a:ea typeface="에이투지체 6 SemiBold"/>
                <a:cs typeface="에이투지체 6 SemiBold"/>
              </a:rPr>
              <a:t>아이클타임을 찾는 고객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90672"/>
            <a:ext cx="3447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아이클타임, 두드림, 아이클타임 키성장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34472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현재  </a:t>
            </a:r>
            <a:r>
              <a:rPr sz="115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아이클타임 첫 줄에 키움정 광고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344728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운영  </a:t>
            </a:r>
            <a:r>
              <a:rPr sz="11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제외 없이 상시 노출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          브랜드 검색 결과의 광고 노출 주간 확인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663440"/>
            <a:ext cx="3447288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4736592"/>
            <a:ext cx="34472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지표  브랜드 검색어 전환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103120"/>
            <a:ext cx="3447288" cy="868680"/>
          </a:xfrm>
          <a:prstGeom prst="roundRect">
            <a:avLst>
              <a:gd name="adj" fmla="val 8421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2103120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대표 검색어</a:t>
            </a:r>
          </a:p>
          <a:p>
            <a:pPr algn="l"/>
            <a:r>
              <a:rPr sz="1200" b="0">
                <a:solidFill>
                  <a:srgbClr val="5C5C5C"/>
                </a:solidFill>
                <a:latin typeface="에이투지체 6 SemiBold"/>
                <a:ea typeface="에이투지체 6 SemiBold"/>
                <a:cs typeface="에이투지체 6 SemiBold"/>
              </a:rPr>
              <a:t>카테고리를 탐색하는 고객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090672"/>
            <a:ext cx="3447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키성장영양제, 키크는영양제, 카무트효소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566160"/>
            <a:ext cx="34472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현재  </a:t>
            </a:r>
            <a:r>
              <a:rPr sz="115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첫 화면 미노출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3931920"/>
            <a:ext cx="344728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운영  </a:t>
            </a:r>
            <a:r>
              <a:rPr sz="11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리뷰 많은 FGO, 카무트 중심 노출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          예산과 목표 ROAS로 노출량 조정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61688" y="4663440"/>
            <a:ext cx="3447287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61688" y="4736592"/>
            <a:ext cx="34472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지표  대표 검색어 노출, 전환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4736" y="2103120"/>
            <a:ext cx="3447288" cy="868680"/>
          </a:xfrm>
          <a:prstGeom prst="roundRect">
            <a:avLst>
              <a:gd name="adj" fmla="val 8421"/>
            </a:avLst>
          </a:prstGeom>
          <a:solidFill>
            <a:srgbClr val="0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03336" y="2103120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에이투지체 8 ExtraBold"/>
                <a:ea typeface="에이투지체 8 ExtraBold"/>
                <a:cs typeface="에이투지체 8 ExtraBold"/>
              </a:rPr>
              <a:t>경쟁사 브랜드 검색어</a:t>
            </a:r>
          </a:p>
          <a:p>
            <a:pPr algn="l"/>
            <a:r>
              <a:rPr sz="1200" b="0">
                <a:solidFill>
                  <a:srgbClr val="C9DAEE"/>
                </a:solidFill>
                <a:latin typeface="에이투지체 6 SemiBold"/>
                <a:ea typeface="에이투지체 6 SemiBold"/>
                <a:cs typeface="에이투지체 6 SemiBold"/>
              </a:rPr>
              <a:t>경쟁 상품을 찾는 고객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3090672"/>
            <a:ext cx="3447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키움정, 하우투키, 키앤이거, 키클레오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3566160"/>
            <a:ext cx="34472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현재  </a:t>
            </a:r>
            <a:r>
              <a:rPr sz="115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두드림 노출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931920"/>
            <a:ext cx="344728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운영  </a:t>
            </a:r>
            <a:r>
              <a:rPr sz="11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제외 키워드로 막지 않고 성과 확인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          5클릭 이상 무전환 검색어만 제외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174736" y="4663440"/>
            <a:ext cx="3447288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74736" y="4736592"/>
            <a:ext cx="34472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지표  경쟁사 검색어 전환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102352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10235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확장 방식  </a:t>
            </a:r>
            <a:r>
              <a:rPr sz="115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세부 검색어는 매출 최적화가 찾고, 검색어 리포트로 무전환 검색어만 제외합니다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sz="1900" b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객단가가 다른 상품을 섞으면</a:t>
            </a:r>
            <a:r>
              <a:rPr sz="190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저가 상품이 밀립니다</a:t>
            </a:r>
          </a:p>
          <a:p>
            <a:pPr>
              <a:lnSpc>
                <a:spcPts val="2600"/>
              </a:lnSpc>
            </a:pPr>
            <a:r>
              <a:rPr sz="190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목표 ROAS 기준으로 입찰하는 구조이기 때문입니다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쿠팡 핵심과제 1  매출 최적화 캠페인의 입찰 방식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632704"/>
            <a:ext cx="10671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고가인 키성장은 단독 캠페인으로 두고, 나머지는 객단가가 비슷한 상품끼리 묶습니다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목표 ROAS 400%는 계산 예시 / 판매가: 2026.10.12 (주)두드림비엔비 쿠팡 브랜드샵 1개 구성 기준 / 판매 1건당 광고비 = 판매가 ÷ 목표 ROAS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6492240" cy="329184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목표 ROAS 400%일 때, 판매 1건에 쓸 수 있는 광고비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5800" y="2606040"/>
          <a:ext cx="6263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77240" y="498348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약 8.6배  </a:t>
            </a:r>
            <a:r>
              <a:rPr sz="11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FGO와 카무트 1개의 판매 1건당 광고비 차이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103120"/>
            <a:ext cx="4343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79" y="2212848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한 캠페인에 섞으면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578608"/>
            <a:ext cx="3931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저가 상품은 쓸 수 있는 광고비가 적어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입찰에서 밀리고 노출이 줄어듭니다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캠페인 ROAS는 고가 상품 성과에 가려집니다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3822191"/>
            <a:ext cx="4343400" cy="1572768"/>
          </a:xfrm>
          <a:prstGeom prst="roundRect">
            <a:avLst>
              <a:gd name="adj" fmla="val 4651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79" y="393192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객단가별로 나누면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297680"/>
            <a:ext cx="3931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캠페인마다 객단가에 맞는 목표 ROAS 설정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저가 상품도 학습과 노출이 유지됩니다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상품군별 성과를 따로 판단할 수 있습니다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ko-KR" sz="900" spc="10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  <a:endParaRPr lang="ko-KR" sz="900" dirty="0"/>
          </a:p>
        </p:txBody>
      </p:sp>
      <p:sp>
        <p:nvSpPr>
          <p:cNvPr id="12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>
                <a:solidFill>
                  <a:srgbClr val="919191"/>
                </a:solidFill>
                <a:latin typeface="에이투지체 3 Light"/>
              </a:rPr>
              <a:t>DODREAM B&amp;B AD PROPOSAL · 2026</a:t>
            </a:r>
          </a:p>
        </p:txBody>
      </p:sp>
      <p:sp>
        <p:nvSpPr>
          <p:cNvPr id="13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919191"/>
                </a:solidFill>
                <a:latin typeface="에이투지체 3 Light"/>
              </a:rPr>
              <a:t>LINKPRICE · BRAND AD CENTER</a:t>
            </a:r>
          </a:p>
        </p:txBody>
      </p:sp>
      <p:sp>
        <p:nvSpPr>
          <p:cNvPr id="14" name="PGNO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222222"/>
                </a:solidFill>
                <a:latin typeface="에이투지체 6 SemiBold"/>
              </a:rPr>
              <a:t>38</a:t>
            </a:r>
          </a:p>
        </p:txBody>
      </p:sp>
      <p:sp>
        <p:nvSpPr>
          <p:cNvPr id="2" name="text-316">
            <a:extLst>
              <a:ext uri="{FF2B5EF4-FFF2-40B4-BE49-F238E27FC236}">
                <a16:creationId xmlns:a16="http://schemas.microsoft.com/office/drawing/2014/main" id="{843E8BB5-650C-4AE5-976F-1108B65F67AD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2000">
                <a:solidFill>
                  <a:srgbClr val="2E6BD5"/>
                </a:solidFill>
                <a:latin typeface="에이투지체 8 ExtraBold"/>
                <a:ea typeface="에이투지체 8 ExtraBold"/>
                <a:cs typeface="에이투지체 8 ExtraBold"/>
              </a:defRPr>
            </a:defPPr>
          </a:lstStyle>
          <a:p>
            <a:pPr marL="0" indent="0">
              <a:lnSpc>
                <a:spcPts val="2600"/>
              </a:lnSpc>
              <a:buNone/>
            </a:pPr>
            <a:r>
              <a:rPr lang="ko-KR" sz="1900" dirty="0">
                <a:solidFill>
                  <a:schemeClr val="bg1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고가인 키성장만 따로</a:t>
            </a:r>
            <a:r>
              <a:rPr lang="ko-KR" sz="190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운영하고</a:t>
            </a:r>
            <a:endParaRPr lang="ko-KR" sz="1900" dirty="0"/>
          </a:p>
          <a:p>
            <a:pPr marL="0" indent="0">
              <a:lnSpc>
                <a:spcPts val="2600"/>
              </a:lnSpc>
              <a:buNone/>
            </a:pPr>
            <a:r>
              <a:rPr lang="ko-KR" sz="190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나머지는 상품군별로 묶어 제외 키워드를 관리합니다</a:t>
            </a:r>
            <a:endParaRPr lang="ko-KR" sz="1900" dirty="0"/>
          </a:p>
        </p:txBody>
      </p:sp>
      <p:sp>
        <p:nvSpPr>
          <p:cNvPr id="3" name="text-317">
            <a:extLst>
              <a:ext uri="{FF2B5EF4-FFF2-40B4-BE49-F238E27FC236}">
                <a16:creationId xmlns:a16="http://schemas.microsoft.com/office/drawing/2014/main" id="{B8E4258E-54B5-4DFC-8333-DCFD9F526E74}"/>
              </a:ext>
            </a:extLst>
          </p:cNvPr>
          <p:cNvSpPr>
            <a:spLocks noGrp="1"/>
          </p:cNvSpPr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40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defRPr>
            </a:defPPr>
          </a:lstStyle>
          <a:p>
            <a:pPr marL="0" indent="0">
              <a:buNone/>
            </a:pPr>
            <a:r>
              <a:rPr lang="ko-KR" sz="110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쿠팡 핵심과제 1  객단가 기준 캠페인 구성</a:t>
            </a:r>
            <a:endParaRPr lang="ko-KR" sz="1100" dirty="0"/>
          </a:p>
        </p:txBody>
      </p:sp>
      <p:sp>
        <p:nvSpPr>
          <p:cNvPr id="8" name="node-321">
            <a:extLst>
              <a:ext uri="{FF2B5EF4-FFF2-40B4-BE49-F238E27FC236}">
                <a16:creationId xmlns:a16="http://schemas.microsoft.com/office/drawing/2014/main" id="{6F8A91DE-2907-4FB2-BEDF-5F39371F9BF8}"/>
              </a:ext>
            </a:extLst>
          </p:cNvPr>
          <p:cNvSpPr>
            <a:spLocks noGrp="1"/>
          </p:cNvSpPr>
          <p:nvPr/>
        </p:nvSpPr>
        <p:spPr>
          <a:xfrm>
            <a:off x="548640" y="5581650"/>
            <a:ext cx="11064240" cy="438150"/>
          </a:xfrm>
          <a:prstGeom prst="roundRect">
            <a:avLst>
              <a:gd name="adj" fmla="val 16695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-322">
            <a:extLst>
              <a:ext uri="{FF2B5EF4-FFF2-40B4-BE49-F238E27FC236}">
                <a16:creationId xmlns:a16="http://schemas.microsoft.com/office/drawing/2014/main" id="{47EDEF8F-615E-460E-9002-B4E740153410}"/>
              </a:ext>
            </a:extLst>
          </p:cNvPr>
          <p:cNvSpPr>
            <a:spLocks noGrp="1"/>
          </p:cNvSpPr>
          <p:nvPr/>
        </p:nvSpPr>
        <p:spPr>
          <a:xfrm>
            <a:off x="742950" y="5629275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8">
                <a:solidFill>
                  <a:srgbClr val="FFFFFF"/>
                </a:solidFill>
                <a:latin typeface="에이투지체 6 SemiBold"/>
                <a:ea typeface="에이투지체 6 SemiBold"/>
                <a:cs typeface="에이투지체 6 SemiBold"/>
              </a:defRPr>
            </a:defPPr>
          </a:lstStyle>
          <a:p>
            <a:pPr algn="l">
              <a:defRPr sz="1358">
                <a:solidFill>
                  <a:srgbClr val="FFFFFF"/>
                </a:solidFill>
                <a:latin typeface="에이투지체 6 SemiBold"/>
                <a:ea typeface="에이투지체 6 SemiBold"/>
                <a:cs typeface="에이투지체 6 SemiBold"/>
              </a:defRPr>
            </a:pPr>
            <a:r>
              <a:rPr sz="1358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캠페인마다 객단가에 맞는 목표 ROAS를 두고, 리뷰가 쌓인 로켓 상품부터 주 단위로 성과를 확인합니다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103120"/>
            <a:ext cx="3447288" cy="2487168"/>
          </a:xfrm>
          <a:prstGeom prst="roundRect">
            <a:avLst>
              <a:gd name="adj" fmla="val 2941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59" y="2359152"/>
            <a:ext cx="512064" cy="512064"/>
          </a:xfrm>
          <a:prstGeom prst="ellips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rul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96" y="2492288"/>
            <a:ext cx="245790" cy="24579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81328" y="2340863"/>
            <a:ext cx="23500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004F9F"/>
                </a:solidFill>
                <a:latin typeface="에이투지체 6 SemiBold"/>
                <a:ea typeface="에이투지체 6 SemiBold"/>
              </a:rPr>
              <a:t>캠페인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2560320"/>
            <a:ext cx="235000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222222"/>
                </a:solidFill>
                <a:latin typeface="에이투지체 6 SemiBold"/>
                <a:ea typeface="에이투지체 6 SemiBold"/>
              </a:rPr>
              <a:t>키성장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09067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5C5C5C"/>
                </a:solidFill>
                <a:latin typeface="에이투지체 5 Medium"/>
                <a:ea typeface="에이투지체 5 Medium"/>
              </a:rPr>
              <a:t>객단가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291839"/>
            <a:ext cx="28986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>
                <a:solidFill>
                  <a:srgbClr val="004F9F"/>
                </a:solidFill>
                <a:latin typeface="에이투지체 8 ExtraBold"/>
                <a:ea typeface="에이투지체 8 ExtraBold"/>
              </a:rPr>
              <a:t>13.4만 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694176"/>
            <a:ext cx="28986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5C5C5C"/>
                </a:solidFill>
                <a:latin typeface="에이투지체 4 Regular"/>
                <a:ea typeface="에이투지체 4 Regular"/>
              </a:rPr>
              <a:t>키성장 FGO 1박스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59" y="3995927"/>
            <a:ext cx="289864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59" y="4059935"/>
            <a:ext cx="28986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에이투지체 6 SemiBold"/>
                <a:ea typeface="에이투지체 6 SemiBold"/>
              </a:rPr>
              <a:t>단독 캠페인 · 목표 ROAS 별도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919191"/>
                </a:solidFill>
                <a:latin typeface="에이투지체 4 Regular"/>
                <a:ea typeface="에이투지체 4 Regular"/>
              </a:rPr>
              <a:t>로켓 · 리뷰 827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1688" y="2103120"/>
            <a:ext cx="3447288" cy="2487168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36007" y="2359152"/>
            <a:ext cx="512064" cy="512064"/>
          </a:xfrm>
          <a:prstGeom prst="ellips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whea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144" y="2492288"/>
            <a:ext cx="245790" cy="24579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94375" y="2340863"/>
            <a:ext cx="23500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004F9F"/>
                </a:solidFill>
                <a:latin typeface="에이투지체 6 SemiBold"/>
                <a:ea typeface="에이투지체 6 SemiBold"/>
              </a:rPr>
              <a:t>캠페인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4375" y="2560320"/>
            <a:ext cx="235000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222222"/>
                </a:solidFill>
                <a:latin typeface="에이투지체 6 SemiBold"/>
                <a:ea typeface="에이투지체 6 SemiBold"/>
              </a:rPr>
              <a:t>카무트 · 슬림웨이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7" y="309067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5C5C5C"/>
                </a:solidFill>
                <a:latin typeface="에이투지체 5 Medium"/>
                <a:ea typeface="에이투지체 5 Medium"/>
              </a:rPr>
              <a:t>객단가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7" y="3291839"/>
            <a:ext cx="28986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>
                <a:solidFill>
                  <a:srgbClr val="222222"/>
                </a:solidFill>
                <a:latin typeface="에이투지체 8 ExtraBold"/>
                <a:ea typeface="에이투지체 8 ExtraBold"/>
              </a:rPr>
              <a:t>1.5~6.4만 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7" y="3694176"/>
            <a:ext cx="28986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5C5C5C"/>
                </a:solidFill>
                <a:latin typeface="에이투지체 4 Regular"/>
                <a:ea typeface="에이투지체 4 Regular"/>
              </a:rPr>
              <a:t>카무트 효소 1~6개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636007" y="3995927"/>
            <a:ext cx="2898648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36007" y="4059935"/>
            <a:ext cx="28986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에이투지체 6 SemiBold"/>
                <a:ea typeface="에이투지체 6 SemiBold"/>
              </a:rPr>
              <a:t>리뷰 많은 카무트 중심으로 효율 확보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919191"/>
                </a:solidFill>
                <a:latin typeface="에이투지체 4 Regular"/>
                <a:ea typeface="에이투지체 4 Regular"/>
              </a:rPr>
              <a:t>로켓 · 리뷰 968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74736" y="2103120"/>
            <a:ext cx="3447288" cy="2487168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449056" y="2359152"/>
            <a:ext cx="512064" cy="512064"/>
          </a:xfrm>
          <a:prstGeom prst="ellips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pill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192" y="2492288"/>
            <a:ext cx="245790" cy="24579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107424" y="2340863"/>
            <a:ext cx="23500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004F9F"/>
                </a:solidFill>
                <a:latin typeface="에이투지체 6 SemiBold"/>
                <a:ea typeface="에이투지체 6 SemiBold"/>
              </a:rPr>
              <a:t>캠페인 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7424" y="2560320"/>
            <a:ext cx="235000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222222"/>
                </a:solidFill>
                <a:latin typeface="에이투지체 6 SemiBold"/>
                <a:ea typeface="에이투지체 6 SemiBold"/>
              </a:rPr>
              <a:t>아이클타임 데일리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309067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5C5C5C"/>
                </a:solidFill>
                <a:latin typeface="에이투지체 5 Medium"/>
                <a:ea typeface="에이투지체 5 Medium"/>
              </a:rPr>
              <a:t>객단가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9056" y="3291839"/>
            <a:ext cx="28986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>
                <a:solidFill>
                  <a:srgbClr val="222222"/>
                </a:solidFill>
                <a:latin typeface="에이투지체 8 ExtraBold"/>
                <a:ea typeface="에이투지체 8 ExtraBold"/>
              </a:rPr>
              <a:t>1.8~4.3만 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3694176"/>
            <a:ext cx="28986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5C5C5C"/>
                </a:solidFill>
                <a:latin typeface="에이투지체 4 Regular"/>
                <a:ea typeface="에이투지체 4 Regular"/>
              </a:rPr>
              <a:t>철분 · 유산균 · 칼마디 · 멀티비타민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449056" y="3995927"/>
            <a:ext cx="2898648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449056" y="4059935"/>
            <a:ext cx="28986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에이투지체 6 SemiBold"/>
                <a:ea typeface="에이투지체 6 SemiBold"/>
              </a:rPr>
              <a:t>리뷰 많은 철분 · 유산균부터 추가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919191"/>
                </a:solidFill>
                <a:latin typeface="에이투지체 4 Regular"/>
                <a:ea typeface="에이투지체 4 Regular"/>
              </a:rPr>
              <a:t>로켓 · 리뷰 65~588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75488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package_004F9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837176"/>
            <a:ext cx="292608" cy="29260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97280" y="47548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>
                <a:solidFill>
                  <a:srgbClr val="222222"/>
                </a:solidFill>
                <a:latin typeface="에이투지체 5 Medium"/>
                <a:ea typeface="에이투지체 5 Medium"/>
              </a:rPr>
              <a:t>캠페인당 상품 10개 이하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97679" y="475488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copy-x_004F9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4837176"/>
            <a:ext cx="292608" cy="29260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846319" y="47548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>
                <a:solidFill>
                  <a:srgbClr val="222222"/>
                </a:solidFill>
                <a:latin typeface="에이투지체 5 Medium"/>
                <a:ea typeface="에이투지체 5 Medium"/>
              </a:rPr>
              <a:t>캠페인 간 상품 중복 없이 운영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19" y="475488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calendar-check_004F9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79" y="4837176"/>
            <a:ext cx="292608" cy="2926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595359" y="47548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>
                <a:solidFill>
                  <a:srgbClr val="222222"/>
                </a:solidFill>
                <a:latin typeface="에이투지체 5 Medium"/>
                <a:ea typeface="에이투지체 5 Medium"/>
              </a:rPr>
              <a:t>검색어 · 상품 성과 주간 점검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sz="1900" b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쿠팡 핵심 과제</a:t>
            </a:r>
            <a:r>
              <a:rPr sz="190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는 두 가지로 나누어</a:t>
            </a:r>
          </a:p>
          <a:p>
            <a:pPr>
              <a:lnSpc>
                <a:spcPts val="2600"/>
              </a:lnSpc>
            </a:pPr>
            <a:r>
              <a:rPr sz="190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매출 최적화 캠페인 안에서 운영하겠습니다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쿠팡 핵심 과제 정리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632704"/>
            <a:ext cx="10671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dirty="0" err="1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쿠팡에서는 리뷰가 쌓인 로켓 상품 위주로 광고해 FGO와 다음 히어로 상품의 판매를 늘리겠습니다</a:t>
            </a:r>
            <a:endParaRPr sz="1350" b="0" dirty="0">
              <a:solidFill>
                <a:srgbClr val="004F9F"/>
              </a:solidFill>
              <a:latin typeface="에이투지체 6 SemiBold"/>
              <a:ea typeface="에이투지체 6 SemiBold"/>
              <a:cs typeface="에이투지체 6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84831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19191"/>
                </a:solidFill>
                <a:latin typeface="에이투지체 6 SemiBold"/>
                <a:ea typeface="에이투지체 6 SemiBold"/>
                <a:cs typeface="에이투지체 6 SemiBold"/>
              </a:rPr>
              <a:t>핵심 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84831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19191"/>
                </a:solidFill>
                <a:latin typeface="에이투지체 6 SemiBold"/>
                <a:ea typeface="에이투지체 6 SemiBold"/>
                <a:cs typeface="에이투지체 6 SemiBold"/>
              </a:rPr>
              <a:t>쿠팡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084831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19191"/>
                </a:solidFill>
                <a:latin typeface="에이투지체 6 SemiBold"/>
                <a:ea typeface="에이투지체 6 SemiBold"/>
                <a:cs typeface="에이투지체 6 SemiBold"/>
              </a:rPr>
              <a:t>운영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084831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19191"/>
                </a:solidFill>
                <a:latin typeface="에이투지체 6 SemiBold"/>
                <a:ea typeface="에이투지체 6 SemiBold"/>
                <a:cs typeface="에이투지체 6 SemiBold"/>
              </a:rPr>
              <a:t>관리 지표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95728"/>
            <a:ext cx="2423160" cy="1097280"/>
          </a:xfrm>
          <a:prstGeom prst="roundRect">
            <a:avLst>
              <a:gd name="adj" fmla="val 11428"/>
            </a:avLst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395728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에이투지체 6 SemiBold"/>
                <a:ea typeface="에이투지체 6 SemiBold"/>
                <a:cs typeface="에이투지체 6 SemiBold"/>
              </a:rPr>
              <a:t>01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에이투지체 6 SemiBold"/>
                <a:ea typeface="에이투지체 6 SemiBold"/>
                <a:cs typeface="에이투지체 6 SemiBold"/>
              </a:rPr>
              <a:t>캠페인 구조 정리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395728"/>
            <a:ext cx="3931920" cy="1097280"/>
          </a:xfrm>
          <a:prstGeom prst="roundRect">
            <a:avLst>
              <a:gd name="adj" fmla="val 1142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93008" y="2395728"/>
            <a:ext cx="36118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목표 ROAS 기준 학습이라 객단가로 나누고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리뷰가 쌓인 로켓 상품부터 운영합니다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697480"/>
            <a:ext cx="2103120" cy="49377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2697480"/>
            <a:ext cx="192024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매출 최적화 A, B,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395728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캠페인별 ROAS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2990088" y="2871216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osceles Triangle 21"/>
          <p:cNvSpPr/>
          <p:nvPr/>
        </p:nvSpPr>
        <p:spPr>
          <a:xfrm rot="5400000">
            <a:off x="7242048" y="2871216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5400000">
            <a:off x="9665208" y="2871216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3721608"/>
            <a:ext cx="2423160" cy="1097280"/>
          </a:xfrm>
          <a:prstGeom prst="roundRect">
            <a:avLst>
              <a:gd name="adj" fmla="val 11428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3721608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02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검색어 노출 확대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3721608"/>
            <a:ext cx="3931920" cy="1097280"/>
          </a:xfrm>
          <a:prstGeom prst="roundRect">
            <a:avLst>
              <a:gd name="adj" fmla="val 1142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93008" y="3721608"/>
            <a:ext cx="36118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브랜드 검색어는 상시 노출하고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대표·경쟁사 검색어는 제외 없이 성과를 봅니다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023360"/>
            <a:ext cx="2103120" cy="49377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35240" y="4023360"/>
            <a:ext cx="192024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매출 최적화</a:t>
            </a:r>
          </a:p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검색어 리포트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721608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검색어별 전환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무전환 비용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2990088" y="4197096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Isosceles Triangle 31"/>
          <p:cNvSpPr/>
          <p:nvPr/>
        </p:nvSpPr>
        <p:spPr>
          <a:xfrm rot="5400000">
            <a:off x="7242048" y="4197096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sosceles Triangle 32"/>
          <p:cNvSpPr/>
          <p:nvPr/>
        </p:nvSpPr>
        <p:spPr>
          <a:xfrm rot="5400000">
            <a:off x="9665208" y="4197096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Event Note Bar"/>
          <p:cNvSpPr/>
          <p:nvPr/>
        </p:nvSpPr>
        <p:spPr>
          <a:xfrm>
            <a:off x="548640" y="5102352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Event Note Text"/>
          <p:cNvSpPr txBox="1"/>
          <p:nvPr/>
        </p:nvSpPr>
        <p:spPr>
          <a:xfrm>
            <a:off x="731520" y="510235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행사 기간  </a:t>
            </a:r>
            <a:r>
              <a:rPr sz="115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상시 캠페인을 그대로 두고 블프 기간 예산과 목표 ROAS만 조정합니다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sz="1900" b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지마켓은 광고 상품이 일부에 그치고</a:t>
            </a:r>
          </a:p>
          <a:p>
            <a:pPr>
              <a:lnSpc>
                <a:spcPts val="2600"/>
              </a:lnSpc>
            </a:pPr>
            <a:r>
              <a:rPr sz="190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경쟁 상품과 리뷰 수 차이도 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지마켓 </a:t>
            </a:r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현황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진단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702565"/>
            <a:ext cx="10671048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ko-KR" sz="1350" dirty="0">
                <a:solidFill>
                  <a:srgbClr val="004F9F"/>
                </a:solidFill>
                <a:latin typeface="에이투지체 6 SemiBold"/>
                <a:ea typeface="에이투지체 6 SemiBold"/>
              </a:rPr>
              <a:t>지마켓은 광고 영역을 채우는 것이 시작 과제입니다</a:t>
            </a:r>
            <a:endParaRPr sz="1350" dirty="0">
              <a:solidFill>
                <a:srgbClr val="004F9F"/>
              </a:solidFill>
              <a:latin typeface="에이투지체 6 SemiBold"/>
              <a:ea typeface="에이투지체 6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광고비: 11월 미디어믹스 제안안 / 지마켓: 2026.10.13 지마켓 PC 검색 화면 기준. 검색 결과는 새로고침, 사용자별로 달라짐 / 괄호는 리뷰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41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5349240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157984"/>
            <a:ext cx="491947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광고 운영 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24912"/>
            <a:ext cx="49194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에이투지체 6 SemiBold"/>
                <a:ea typeface="에이투지체 6 SemiBold"/>
                <a:cs typeface="에이투지체 6 SemiBold"/>
              </a:rPr>
              <a:t>지마켓 먼저 둘러보세요 (파워클릭)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광고 상품은 일부만 노출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5349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미니샵에는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아이클타임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상품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다수</a:t>
            </a:r>
            <a:endParaRPr sz="1300" b="0" dirty="0">
              <a:solidFill>
                <a:srgbClr val="5C5C5C"/>
              </a:solidFill>
              <a:latin typeface="에이투지체 4 Regular"/>
              <a:ea typeface="에이투지체 4 Regular"/>
              <a:cs typeface="에이투지체 4 Regular"/>
            </a:endParaRPr>
          </a:p>
          <a:p>
            <a:pPr algn="l"/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광고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영역은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FGO,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프로바이오키드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위주</a:t>
            </a:r>
            <a:endParaRPr sz="1300" b="0" dirty="0">
              <a:solidFill>
                <a:srgbClr val="5C5C5C"/>
              </a:solidFill>
              <a:latin typeface="에이투지체 4 Regular"/>
              <a:ea typeface="에이투지체 4 Regular"/>
              <a:cs typeface="에이투지체 4 Regular"/>
            </a:endParaRPr>
          </a:p>
          <a:p>
            <a:pPr algn="l"/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브랜드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검색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결과에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경쟁사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광고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노출</a:t>
            </a:r>
            <a:endParaRPr sz="1300" b="0" dirty="0">
              <a:solidFill>
                <a:srgbClr val="5C5C5C"/>
              </a:solidFill>
              <a:latin typeface="에이투지체 4 Regular"/>
              <a:ea typeface="에이투지체 4 Regular"/>
              <a:cs typeface="에이투지체 4 Regular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873752"/>
            <a:ext cx="5349240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498348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브랜드 검색어부터 채우기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03120"/>
            <a:ext cx="5349240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157984"/>
            <a:ext cx="491947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리뷰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24912"/>
            <a:ext cx="49194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에이투지체 6 SemiBold"/>
                <a:ea typeface="에이투지체 6 SemiBold"/>
                <a:cs typeface="에이투지체 6 SemiBold"/>
              </a:rPr>
              <a:t>지마켓 FGO 1박스 리뷰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33756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경쟁 상품과 리뷰 격차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794760"/>
            <a:ext cx="5349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키움정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1개월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리뷰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102,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구매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5,161</a:t>
            </a:r>
          </a:p>
          <a:p>
            <a:pPr algn="l"/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그레인온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카무트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리뷰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14,274</a:t>
            </a:r>
          </a:p>
          <a:p>
            <a:pPr algn="l"/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슬림웨이는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리뷰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없이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</a:t>
            </a:r>
            <a:r>
              <a:rPr sz="1300" b="0" dirty="0" err="1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구매</a:t>
            </a:r>
            <a:r>
              <a:rPr sz="1300" b="0" dirty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 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63640" y="4873752"/>
            <a:ext cx="5349240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63640" y="498348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경쟁 상품과 리뷰 수 차이가 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sz="1900" b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광고 영역에는 FGO와 프로바이오키드 위주로 노출되고</a:t>
            </a:r>
          </a:p>
          <a:p>
            <a:pPr>
              <a:lnSpc>
                <a:spcPts val="2600"/>
              </a:lnSpc>
            </a:pPr>
            <a:r>
              <a:rPr sz="190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미니샵의 다른 아이클타임 상품은 대부분 빠져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지마켓 현황 진단 ②  판매 상품과 광고 상품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632704"/>
            <a:ext cx="10671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판매 상품을 브랜드 검색어 그룹에 모두 등록해 광고 노출을 늘리고, 낮은 입찰가로 ROAS를 높이겠습니다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2026.10.13 지마켓 (주)두드림 미니샵 내 "아이클타임" 검색 결과, 지마켓 "아이클타임" 검색 결과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484160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지마켓 미니샵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(주)두드림 "아이클타임" 검색</a:t>
            </a:r>
          </a:p>
        </p:txBody>
      </p:sp>
      <p:pic>
        <p:nvPicPr>
          <p:cNvPr id="12" name="Picture 11" descr="g_m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4841607" cy="219456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48640" y="4663440"/>
            <a:ext cx="484160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광고 노출  </a:t>
            </a:r>
            <a:r>
              <a:rPr sz="110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FGO 5박스·4박스, 프로바이오키드 위주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그 외  </a:t>
            </a:r>
            <a:r>
              <a:rPr sz="110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남은 광고는 뉴트리원, 녹십초</a:t>
            </a:r>
          </a:p>
        </p:txBody>
      </p:sp>
      <p:sp>
        <p:nvSpPr>
          <p:cNvPr id="16" name="TextBox 13"/>
          <p:cNvSpPr txBox="1"/>
          <p:nvPr/>
        </p:nvSpPr>
        <p:spPr>
          <a:xfrm>
            <a:off x="5943600" y="1993392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"키움정"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경쟁사 브랜드 검색어</a:t>
            </a:r>
          </a:p>
        </p:txBody>
      </p:sp>
      <p:pic>
        <p:nvPicPr>
          <p:cNvPr id="17" name="Picture 14" descr="g_kium.png"/>
          <p:cNvPicPr>
            <a:picLocks noChangeAspect="1"/>
          </p:cNvPicPr>
          <p:nvPr/>
        </p:nvPicPr>
        <p:blipFill>
          <a:blip r:embed="rId3"/>
          <a:srcRect r="5832"/>
          <a:stretch>
            <a:fillRect/>
          </a:stretch>
        </p:blipFill>
        <p:spPr>
          <a:xfrm>
            <a:off x="5943600" y="2331720"/>
            <a:ext cx="3968468" cy="29718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8" name="TextBox 15"/>
          <p:cNvSpPr txBox="1"/>
          <p:nvPr/>
        </p:nvSpPr>
        <p:spPr>
          <a:xfrm>
            <a:off x="10049228" y="2331720"/>
            <a:ext cx="156365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광고  </a:t>
            </a:r>
            <a:r>
              <a:rPr sz="10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전부 키움정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두드림  </a:t>
            </a:r>
            <a:r>
              <a:rPr sz="10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노출 없음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대표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검색어에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두드림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상품이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노출되고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있고</a:t>
            </a:r>
            <a:endParaRPr sz="1900" b="0" dirty="0">
              <a:solidFill>
                <a:srgbClr val="FFFFFF"/>
              </a:solidFill>
              <a:highlight>
                <a:srgbClr val="0000FF"/>
              </a:highlight>
              <a:latin typeface="에이투지체 8 ExtraBold"/>
              <a:ea typeface="에이투지체 8 ExtraBold"/>
              <a:cs typeface="에이투지체 8 ExtraBold"/>
            </a:endParaRPr>
          </a:p>
          <a:p>
            <a:pPr>
              <a:lnSpc>
                <a:spcPts val="2600"/>
              </a:lnSpc>
            </a:pP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경쟁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상품과는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리뷰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수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차이가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큽니다</a:t>
            </a:r>
            <a:endParaRPr sz="1900" b="0" dirty="0">
              <a:solidFill>
                <a:srgbClr val="222222"/>
              </a:solidFill>
              <a:latin typeface="에이투지체 8 ExtraBold"/>
              <a:ea typeface="에이투지체 8 ExtraBold"/>
              <a:cs typeface="에이투지체 8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지마켓 현황 진단 ③  대표 검색어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632704"/>
            <a:ext cx="10671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리뷰 격차가 큰 대표 검색어는 CPC 상한을 낮게 두고, 전환이 확인된 검색어와 상품에 예산을 먼저 씁니다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2026.10.13 지마켓 PC 검색 화면 기준. 검색 결과는 새로고침, 사용자별로 달라짐 / 괄호는 리뷰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"키성장영양제"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두드림 2번째</a:t>
            </a:r>
          </a:p>
        </p:txBody>
      </p:sp>
      <p:pic>
        <p:nvPicPr>
          <p:cNvPr id="12" name="Picture 11" descr="g_kis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3246120" cy="2429844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959352" y="2377440"/>
            <a:ext cx="1965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상단  </a:t>
            </a:r>
            <a:r>
              <a:rPr sz="10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오늘의 상품이에요 광고 5개 모두 경쟁사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김소형원방, PH365, 키엔탄, 키클레오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위아래  </a:t>
            </a:r>
            <a:r>
              <a:rPr sz="10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순수식품 칼마디 (7,426), 고려은단 칼마디 (186)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두드림  </a:t>
            </a:r>
            <a:r>
              <a:rPr sz="10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FGO 1박스 (7), 구매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993392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"카무트효소"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두드림 5번째</a:t>
            </a:r>
          </a:p>
        </p:txBody>
      </p:sp>
      <p:pic>
        <p:nvPicPr>
          <p:cNvPr id="15" name="Picture 14" descr="g_kam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31720"/>
            <a:ext cx="2926080" cy="2700734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9262872" y="2377440"/>
            <a:ext cx="2350008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경쟁사  </a:t>
            </a:r>
            <a:r>
              <a:rPr sz="10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1~4번째 중 그레인온 3개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리뷰 14,274, 9,889, 3,474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리얼메디 2+1 (502)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두드림  </a:t>
            </a:r>
            <a:r>
              <a:rPr sz="10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슬림웨이 1박스, 리뷰 없이 구매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lang="ko-KR" altLang="ko-KR" sz="190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</a:rPr>
              <a:t>광고로 들어온 고객이 다른 상품도 볼 수 있도록 </a:t>
            </a:r>
          </a:p>
          <a:p>
            <a:pPr>
              <a:lnSpc>
                <a:spcPts val="2600"/>
              </a:lnSpc>
            </a:pPr>
            <a:r>
              <a:rPr lang="ko-KR" altLang="ko-KR" sz="1900" dirty="0">
                <a:solidFill>
                  <a:srgbClr val="222222"/>
                </a:solidFill>
                <a:latin typeface="에이투지체 8 ExtraBold"/>
                <a:ea typeface="에이투지체 8 ExtraBold"/>
              </a:rPr>
              <a:t>추가구성 순서 변경을 제안합니다</a:t>
            </a:r>
            <a:endParaRPr sz="1900" dirty="0">
              <a:solidFill>
                <a:srgbClr val="222222"/>
              </a:solidFill>
              <a:latin typeface="에이투지체 8 ExtraBold"/>
              <a:ea typeface="에이투지체 8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지마켓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현황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진단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④  </a:t>
            </a:r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상세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페이지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추가구성</a:t>
            </a:r>
            <a:r>
              <a:rPr sz="1100" b="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702565"/>
            <a:ext cx="10671048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ko-KR" sz="1350" dirty="0">
                <a:solidFill>
                  <a:srgbClr val="004F9F"/>
                </a:solidFill>
                <a:latin typeface="에이투지체 6 SemiBold"/>
                <a:ea typeface="에이투지체 6 SemiBold"/>
              </a:rPr>
              <a:t>추가구성 변경 전 후, 광고 유입 고객의 구매 전환율과 객단가를 비교하여 상품별</a:t>
            </a:r>
            <a:r>
              <a:rPr lang="ko-KR" altLang="en-US" sz="1350" dirty="0">
                <a:solidFill>
                  <a:srgbClr val="004F9F"/>
                </a:solidFill>
                <a:latin typeface="에이투지체 6 SemiBold"/>
                <a:ea typeface="에이투지체 6 SemiBold"/>
              </a:rPr>
              <a:t>로</a:t>
            </a:r>
            <a:r>
              <a:rPr lang="ko-KR" altLang="ko-KR" sz="1350" dirty="0">
                <a:solidFill>
                  <a:srgbClr val="004F9F"/>
                </a:solidFill>
                <a:latin typeface="에이투지체 6 SemiBold"/>
                <a:ea typeface="에이투지체 6 SemiBold"/>
              </a:rPr>
              <a:t> 최적화된 옵션을 설정합니다</a:t>
            </a:r>
            <a:endParaRPr sz="1350" b="0" dirty="0">
              <a:solidFill>
                <a:srgbClr val="004F9F"/>
              </a:solidFill>
              <a:latin typeface="에이투지체 6 SemiBold"/>
              <a:ea typeface="에이투지체 6 SemiBold"/>
              <a:cs typeface="에이투지체 6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2026.10.13 지마켓 키움정 3박스, 두드림 아이클타임 키성장 FGO 1박스 상품 페이지 기준 / 추가구성 변경은 판매 채널 담당과 협의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경쟁사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키움정 3박스</a:t>
            </a:r>
          </a:p>
        </p:txBody>
      </p:sp>
      <p:pic>
        <p:nvPicPr>
          <p:cNvPr id="12" name="Picture 11" descr="g_kium_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2514600" cy="3054319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291840" y="199339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두드림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키성장 FGO 1박스</a:t>
            </a:r>
          </a:p>
        </p:txBody>
      </p:sp>
      <p:pic>
        <p:nvPicPr>
          <p:cNvPr id="14" name="Picture 13" descr="dd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331720"/>
            <a:ext cx="3108960" cy="2366264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3291840" y="48006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같은 상품의 박스 수 구성이 이어지는 형태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(오메가3 젤리 4, 6박스 / 키즈 종합비타민 2, 3박스 등)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331720"/>
            <a:ext cx="4937760" cy="3017520"/>
          </a:xfrm>
          <a:prstGeom prst="roundRect">
            <a:avLst>
              <a:gd name="adj" fmla="val 242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3720" y="245059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추가구성 제안 방향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880360"/>
            <a:ext cx="45262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키움정  </a:t>
            </a:r>
            <a:r>
              <a:rPr sz="110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유산균, 멀티비타민, 구미젤리 세트 등 옵션마다 다른 상품이 보여, 구경하며 함께 눌러보게 됨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두드림  </a:t>
            </a:r>
            <a:r>
              <a:rPr sz="110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같은 상품의 박스 수 구성이 연달아 이어져, 다른 상품이 눈에 덜 띔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제안  </a:t>
            </a:r>
            <a:r>
              <a:rPr sz="110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상품마다 대표 구성 1개씩, 다양한 상품이 보이게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      행사 기간 사은품 구성 검토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sz="1900" b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지마켓 핵심 과제</a:t>
            </a:r>
            <a:r>
              <a:rPr sz="190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는 세 가지로 나누어</a:t>
            </a:r>
          </a:p>
          <a:p>
            <a:pPr>
              <a:lnSpc>
                <a:spcPts val="2600"/>
              </a:lnSpc>
            </a:pPr>
            <a:r>
              <a:rPr sz="190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직접 운영형 광고를 중심으로 관리하겠습니다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지마켓 핵심 과제 정리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632704"/>
            <a:ext cx="10671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지마켓은 쿠팡에서 검증된 상품과 검색어를 중심으로 예산을 늘립니다</a:t>
            </a:r>
            <a:endParaRPr sz="1350" b="0" dirty="0">
              <a:solidFill>
                <a:srgbClr val="004F9F"/>
              </a:solidFill>
              <a:latin typeface="에이투지체 6 SemiBold"/>
              <a:ea typeface="에이투지체 6 SemiBold"/>
              <a:cs typeface="에이투지체 6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84831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19191"/>
                </a:solidFill>
                <a:latin typeface="에이투지체 6 SemiBold"/>
                <a:ea typeface="에이투지체 6 SemiBold"/>
                <a:cs typeface="에이투지체 6 SemiBold"/>
              </a:rPr>
              <a:t>핵심 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84831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19191"/>
                </a:solidFill>
                <a:latin typeface="에이투지체 6 SemiBold"/>
                <a:ea typeface="에이투지체 6 SemiBold"/>
                <a:cs typeface="에이투지체 6 SemiBold"/>
              </a:rPr>
              <a:t>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084831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19191"/>
                </a:solidFill>
                <a:latin typeface="에이투지체 6 SemiBold"/>
                <a:ea typeface="에이투지체 6 SemiBold"/>
                <a:cs typeface="에이투지체 6 SemiBold"/>
              </a:rPr>
              <a:t>운영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084831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19191"/>
                </a:solidFill>
                <a:latin typeface="에이투지체 6 SemiBold"/>
                <a:ea typeface="에이투지체 6 SemiBold"/>
                <a:cs typeface="에이투지체 6 SemiBold"/>
              </a:rPr>
              <a:t>관리 지표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95728"/>
            <a:ext cx="2423160" cy="731520"/>
          </a:xfrm>
          <a:prstGeom prst="roundRect">
            <a:avLst>
              <a:gd name="adj" fmla="val 11428"/>
            </a:avLst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395728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에이투지체 6 SemiBold"/>
                <a:ea typeface="에이투지체 6 SemiBold"/>
                <a:cs typeface="에이투지체 6 SemiBold"/>
              </a:rPr>
              <a:t>01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에이투지체 6 SemiBold"/>
                <a:ea typeface="에이투지체 6 SemiBold"/>
                <a:cs typeface="에이투지체 6 SemiBold"/>
              </a:rPr>
              <a:t>브랜드 검색어 채우기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395728"/>
            <a:ext cx="3931920" cy="731520"/>
          </a:xfrm>
          <a:prstGeom prst="roundRect">
            <a:avLst>
              <a:gd name="adj" fmla="val 1142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93008" y="2395728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판매 상품을 브랜드 검색어 그룹에 모두 등록하고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입찰가는 낮게 설정해 ROAS를 높입니다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514600"/>
            <a:ext cx="2103120" cy="49377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2514600"/>
            <a:ext cx="192024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직접 운영형</a:t>
            </a:r>
          </a:p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브랜드 검색어 그룹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395728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브랜드 검색어 ROAS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광고 영역 점유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2990088" y="2688336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osceles Triangle 21"/>
          <p:cNvSpPr/>
          <p:nvPr/>
        </p:nvSpPr>
        <p:spPr>
          <a:xfrm rot="5400000">
            <a:off x="7242048" y="2688336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5400000">
            <a:off x="9665208" y="2688336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3273552"/>
            <a:ext cx="2423160" cy="731520"/>
          </a:xfrm>
          <a:prstGeom prst="roundRect">
            <a:avLst>
              <a:gd name="adj" fmla="val 11428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3273552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02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전환 효율 관리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3273552"/>
            <a:ext cx="3931920" cy="731520"/>
          </a:xfrm>
          <a:prstGeom prst="roundRect">
            <a:avLst>
              <a:gd name="adj" fmla="val 1142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93008" y="3273552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리뷰 격차가 큰 검색어는 CPC 상한을 낮추고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추가구성 개선과 리뷰 이벤트는 두드림에 제안합니다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392424"/>
            <a:ext cx="2103120" cy="49377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35240" y="3392424"/>
            <a:ext cx="192024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직접 운영형</a:t>
            </a:r>
          </a:p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두드림 협의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273552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구매 전환율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객단가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2990088" y="3566160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Isosceles Triangle 31"/>
          <p:cNvSpPr/>
          <p:nvPr/>
        </p:nvSpPr>
        <p:spPr>
          <a:xfrm rot="5400000">
            <a:off x="7242048" y="3566160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sosceles Triangle 32"/>
          <p:cNvSpPr/>
          <p:nvPr/>
        </p:nvSpPr>
        <p:spPr>
          <a:xfrm rot="5400000">
            <a:off x="9665208" y="3566160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48640" y="4151376"/>
            <a:ext cx="2423160" cy="731520"/>
          </a:xfrm>
          <a:prstGeom prst="roundRect">
            <a:avLst>
              <a:gd name="adj" fmla="val 11428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151376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03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검색어 노출 확대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4151376"/>
            <a:ext cx="3931920" cy="731520"/>
          </a:xfrm>
          <a:prstGeom prst="roundRect">
            <a:avLst>
              <a:gd name="adj" fmla="val 1142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93008" y="4151376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대표 검색어는 CPC 상한 안에서 순위 관리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경쟁사 검색어는 매체 정책 확인 후 테스트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43800" y="4270248"/>
            <a:ext cx="2103120" cy="49377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35240" y="4270248"/>
            <a:ext cx="192024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직접 운영형</a:t>
            </a:r>
          </a:p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집중 운영형 (카무트)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4151376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검색어별 전환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무전환 비용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2990088" y="4443984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Isosceles Triangle 41"/>
          <p:cNvSpPr/>
          <p:nvPr/>
        </p:nvSpPr>
        <p:spPr>
          <a:xfrm rot="5400000">
            <a:off x="7242048" y="4443984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Isosceles Triangle 42"/>
          <p:cNvSpPr/>
          <p:nvPr/>
        </p:nvSpPr>
        <p:spPr>
          <a:xfrm rot="5400000">
            <a:off x="9665208" y="4443984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ype Note Bar"/>
          <p:cNvSpPr/>
          <p:nvPr/>
        </p:nvSpPr>
        <p:spPr>
          <a:xfrm>
            <a:off x="548640" y="5102352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ype Note Text"/>
          <p:cNvSpPr txBox="1"/>
          <p:nvPr/>
        </p:nvSpPr>
        <p:spPr>
          <a:xfrm>
            <a:off x="731520" y="510235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운영형  </a:t>
            </a:r>
            <a:r>
              <a:rPr sz="115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통합: 상품·입찰 모두 AI  /  집중: 상품 선택, 입찰 AI  /  직접: 상품·키워드·입찰가 직접 설정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ko-KR" sz="900" spc="10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  <a:endParaRPr lang="ko-KR" sz="900" dirty="0"/>
          </a:p>
        </p:txBody>
      </p:sp>
      <p:sp>
        <p:nvSpPr>
          <p:cNvPr id="14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>
                <a:solidFill>
                  <a:srgbClr val="919191"/>
                </a:solidFill>
                <a:latin typeface="에이투지체 3 Light"/>
              </a:rPr>
              <a:t>DODREAM B&amp;B AD PROPOSAL · 2026</a:t>
            </a:r>
          </a:p>
        </p:txBody>
      </p:sp>
      <p:sp>
        <p:nvSpPr>
          <p:cNvPr id="15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919191"/>
                </a:solidFill>
                <a:latin typeface="에이투지체 3 Light"/>
              </a:rPr>
              <a:t>LINKPRICE · BRAND AD CENTER</a:t>
            </a:r>
          </a:p>
        </p:txBody>
      </p:sp>
      <p:sp>
        <p:nvSpPr>
          <p:cNvPr id="16" name="PGNO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222222"/>
                </a:solidFill>
                <a:latin typeface="에이투지체 6 SemiBold"/>
              </a:rPr>
              <a:t>48</a:t>
            </a:r>
          </a:p>
        </p:txBody>
      </p:sp>
      <p:sp>
        <p:nvSpPr>
          <p:cNvPr id="2" name="text-324">
            <a:extLst>
              <a:ext uri="{FF2B5EF4-FFF2-40B4-BE49-F238E27FC236}">
                <a16:creationId xmlns:a16="http://schemas.microsoft.com/office/drawing/2014/main" id="{07031293-D46C-4A6A-816C-0B86BB674167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2000">
                <a:solidFill>
                  <a:srgbClr val="2E6BD5"/>
                </a:solidFill>
                <a:latin typeface="에이투지체 8 ExtraBold"/>
                <a:ea typeface="에이투지체 8 ExtraBold"/>
                <a:cs typeface="에이투지체 8 ExtraBold"/>
              </a:defRPr>
            </a:defPPr>
          </a:lstStyle>
          <a:p>
            <a:pPr marL="0" indent="0">
              <a:lnSpc>
                <a:spcPts val="2600"/>
              </a:lnSpc>
              <a:buNone/>
            </a:pPr>
            <a:r>
              <a:rPr lang="ko-KR" sz="1900" dirty="0">
                <a:solidFill>
                  <a:schemeClr val="bg1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11번가는 공식 스토어 광고를 새로 시작해</a:t>
            </a:r>
            <a:endParaRPr lang="ko-KR" sz="1900" dirty="0"/>
          </a:p>
          <a:p>
            <a:pPr marL="0" indent="0">
              <a:lnSpc>
                <a:spcPts val="2600"/>
              </a:lnSpc>
              <a:buNone/>
            </a:pPr>
            <a:r>
              <a:rPr lang="ko-KR" sz="190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브랜드 검색어와 대표 상품 1~2개부터 검증합니다</a:t>
            </a:r>
            <a:endParaRPr lang="ko-KR" sz="1900" dirty="0"/>
          </a:p>
        </p:txBody>
      </p:sp>
      <p:sp>
        <p:nvSpPr>
          <p:cNvPr id="3" name="text-325">
            <a:extLst>
              <a:ext uri="{FF2B5EF4-FFF2-40B4-BE49-F238E27FC236}">
                <a16:creationId xmlns:a16="http://schemas.microsoft.com/office/drawing/2014/main" id="{A948AE7F-2DF3-4E15-B2D2-2248EF809117}"/>
              </a:ext>
            </a:extLst>
          </p:cNvPr>
          <p:cNvSpPr>
            <a:spLocks noGrp="1"/>
          </p:cNvSpPr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40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defRPr>
            </a:defPPr>
          </a:lstStyle>
          <a:p>
            <a:pPr marL="0" indent="0">
              <a:buNone/>
            </a:pPr>
            <a:r>
              <a:rPr lang="ko-KR" sz="1100" dirty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11번가 운영 계획</a:t>
            </a:r>
            <a:endParaRPr lang="ko-KR" sz="1100" dirty="0"/>
          </a:p>
        </p:txBody>
      </p:sp>
      <p:sp>
        <p:nvSpPr>
          <p:cNvPr id="4" name="text-326">
            <a:extLst>
              <a:ext uri="{FF2B5EF4-FFF2-40B4-BE49-F238E27FC236}">
                <a16:creationId xmlns:a16="http://schemas.microsoft.com/office/drawing/2014/main" id="{7C081767-5B60-41BA-8A2C-C146EC9B64B7}"/>
              </a:ext>
            </a:extLst>
          </p:cNvPr>
          <p:cNvSpPr>
            <a:spLocks noGrp="1"/>
          </p:cNvSpPr>
          <p:nvPr/>
        </p:nvSpPr>
        <p:spPr>
          <a:xfrm>
            <a:off x="552450" y="2057400"/>
            <a:ext cx="6534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defRPr>
            </a:defPPr>
          </a:lstStyle>
          <a:p>
            <a:pPr algn="l">
              <a:defRPr sz="15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defRPr>
            </a:pPr>
            <a:r>
              <a:rPr sz="15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11번가  광고 시작 순서</a:t>
            </a:r>
          </a:p>
        </p:txBody>
      </p:sp>
      <p:sp>
        <p:nvSpPr>
          <p:cNvPr id="6" name="text-327">
            <a:extLst>
              <a:ext uri="{FF2B5EF4-FFF2-40B4-BE49-F238E27FC236}">
                <a16:creationId xmlns:a16="http://schemas.microsoft.com/office/drawing/2014/main" id="{AC3D492C-1871-4ECD-A853-BECE383AB7F5}"/>
              </a:ext>
            </a:extLst>
          </p:cNvPr>
          <p:cNvSpPr>
            <a:spLocks noGrp="1"/>
          </p:cNvSpPr>
          <p:nvPr/>
        </p:nvSpPr>
        <p:spPr>
          <a:xfrm>
            <a:off x="8077199" y="2193798"/>
            <a:ext cx="35433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defRPr>
            </a:defPPr>
          </a:lstStyle>
          <a:p>
            <a:pPr algn="l">
              <a:defRPr sz="15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defRPr>
            </a:pPr>
            <a:r>
              <a:rPr sz="150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운영 기준</a:t>
            </a:r>
            <a:endParaRPr sz="1500" dirty="0">
              <a:solidFill>
                <a:srgbClr val="004F9F"/>
              </a:solidFill>
              <a:latin typeface="에이투지체 6 SemiBold"/>
              <a:ea typeface="에이투지체 6 SemiBold"/>
              <a:cs typeface="에이투지체 6 SemiBold"/>
            </a:endParaRPr>
          </a:p>
        </p:txBody>
      </p:sp>
      <p:sp>
        <p:nvSpPr>
          <p:cNvPr id="10" name="node-330">
            <a:extLst>
              <a:ext uri="{FF2B5EF4-FFF2-40B4-BE49-F238E27FC236}">
                <a16:creationId xmlns:a16="http://schemas.microsoft.com/office/drawing/2014/main" id="{B3C8D8D8-92C3-4EFA-A5D9-8AA0A256B207}"/>
              </a:ext>
            </a:extLst>
          </p:cNvPr>
          <p:cNvSpPr>
            <a:spLocks noGrp="1"/>
          </p:cNvSpPr>
          <p:nvPr/>
        </p:nvSpPr>
        <p:spPr>
          <a:xfrm>
            <a:off x="548640" y="5581650"/>
            <a:ext cx="11064240" cy="438150"/>
          </a:xfrm>
          <a:prstGeom prst="roundRect">
            <a:avLst>
              <a:gd name="adj" fmla="val 16695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-331">
            <a:extLst>
              <a:ext uri="{FF2B5EF4-FFF2-40B4-BE49-F238E27FC236}">
                <a16:creationId xmlns:a16="http://schemas.microsoft.com/office/drawing/2014/main" id="{1FC95A3F-12DD-464E-815E-860671D9DFF4}"/>
              </a:ext>
            </a:extLst>
          </p:cNvPr>
          <p:cNvSpPr>
            <a:spLocks noGrp="1"/>
          </p:cNvSpPr>
          <p:nvPr/>
        </p:nvSpPr>
        <p:spPr>
          <a:xfrm>
            <a:off x="742950" y="5629275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8">
                <a:solidFill>
                  <a:srgbClr val="FFFFFF"/>
                </a:solidFill>
                <a:latin typeface="에이투지체 6 SemiBold"/>
                <a:ea typeface="에이투지체 6 SemiBold"/>
                <a:cs typeface="에이투지체 6 SemiBold"/>
              </a:defRPr>
            </a:defPPr>
          </a:lstStyle>
          <a:p>
            <a:pPr algn="l">
              <a:defRPr sz="1358">
                <a:solidFill>
                  <a:srgbClr val="FFFFFF"/>
                </a:solidFill>
                <a:latin typeface="에이투지체 6 SemiBold"/>
                <a:ea typeface="에이투지체 6 SemiBold"/>
                <a:cs typeface="에이투지체 6 SemiBold"/>
              </a:defRPr>
            </a:pPr>
            <a:r>
              <a:rPr sz="1358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11번가는 브랜드 검색어와 대표 상품으로 시작하고, 전환이 확인된 키워드부터 예산을 늘리겠습니다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43230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004F9F"/>
                </a:solidFill>
                <a:latin typeface="에이투지체 6 SemiBold"/>
                <a:ea typeface="에이투지체 6 SemiBold"/>
              </a:rPr>
              <a:t>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432304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004F9F"/>
                </a:solidFill>
                <a:latin typeface="에이투지체 6 SemiBold"/>
                <a:ea typeface="에이투지체 6 SemiBold"/>
              </a:rPr>
              <a:t>확대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546604"/>
            <a:ext cx="4160520" cy="0"/>
          </a:xfrm>
          <a:prstGeom prst="line">
            <a:avLst/>
          </a:prstGeom>
          <a:ln w="9525">
            <a:solidFill>
              <a:srgbClr val="004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5596128" y="2455164"/>
            <a:ext cx="128016" cy="182880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" y="2788920"/>
            <a:ext cx="2194560" cy="1965960"/>
          </a:xfrm>
          <a:prstGeom prst="roundRect">
            <a:avLst>
              <a:gd name="adj" fmla="val 372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9808" y="2990088"/>
            <a:ext cx="420624" cy="420624"/>
          </a:xfrm>
          <a:prstGeom prst="ellips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bo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" y="3099450"/>
            <a:ext cx="201899" cy="20189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9808" y="350215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에이투지체 6 SemiBold"/>
                <a:ea typeface="에이투지체 6 SemiBold"/>
              </a:rPr>
              <a:t>브랜드 검색어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77647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5C5C5C"/>
                </a:solidFill>
                <a:latin typeface="에이투지체 4 Regular"/>
                <a:ea typeface="에이투지체 4 Regular"/>
              </a:rPr>
              <a:t>아이클타임 · 두드림 검색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4087368"/>
            <a:ext cx="1792224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9808" y="41605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>
                <a:solidFill>
                  <a:srgbClr val="004F9F"/>
                </a:solidFill>
                <a:latin typeface="에이투지체 6 SemiBold"/>
                <a:ea typeface="에이투지체 6 SemiBold"/>
              </a:rPr>
              <a:t>운영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36168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>
                <a:solidFill>
                  <a:srgbClr val="222222"/>
                </a:solidFill>
                <a:latin typeface="에이투지체 6 SemiBold"/>
                <a:ea typeface="에이투지체 6 SemiBold"/>
              </a:rPr>
              <a:t>공식 스토어 상품 상시 노출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9504" y="2788920"/>
            <a:ext cx="2194560" cy="1965960"/>
          </a:xfrm>
          <a:prstGeom prst="roundRect">
            <a:avLst>
              <a:gd name="adj" fmla="val 372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90672" y="2990088"/>
            <a:ext cx="420624" cy="420624"/>
          </a:xfrm>
          <a:prstGeom prst="ellips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sliders-horizonta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034" y="3099450"/>
            <a:ext cx="201899" cy="20189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090672" y="350215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에이투지체 6 SemiBold"/>
                <a:ea typeface="에이투지체 6 SemiBold"/>
              </a:rPr>
              <a:t>대표 상품 1~2개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0672" y="377647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5C5C5C"/>
                </a:solidFill>
                <a:latin typeface="에이투지체 4 Regular"/>
                <a:ea typeface="에이투지체 4 Regular"/>
              </a:rPr>
              <a:t>리뷰 쌓기 전 집중 운영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90672" y="4087368"/>
            <a:ext cx="1792224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090672" y="41605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>
                <a:solidFill>
                  <a:srgbClr val="004F9F"/>
                </a:solidFill>
                <a:latin typeface="에이투지체 6 SemiBold"/>
                <a:ea typeface="에이투지체 6 SemiBold"/>
              </a:rPr>
              <a:t>운영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90672" y="436168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>
                <a:solidFill>
                  <a:srgbClr val="222222"/>
                </a:solidFill>
                <a:latin typeface="에이투지체 6 SemiBold"/>
                <a:ea typeface="에이투지체 6 SemiBold"/>
              </a:rPr>
              <a:t>공식 스토어 대표 상품에 예산 집중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30368" y="2788920"/>
            <a:ext cx="2194560" cy="1965960"/>
          </a:xfrm>
          <a:prstGeom prst="roundRect">
            <a:avLst>
              <a:gd name="adj" fmla="val 3720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431536" y="2990088"/>
            <a:ext cx="420624" cy="420624"/>
          </a:xfrm>
          <a:prstGeom prst="ellips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targ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0898" y="3099450"/>
            <a:ext cx="201899" cy="20189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431536" y="350215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에이투지체 6 SemiBold"/>
                <a:ea typeface="에이투지체 6 SemiBold"/>
              </a:rPr>
              <a:t>롱테일 테스트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31536" y="377647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5C5C5C"/>
                </a:solidFill>
                <a:latin typeface="에이투지체 4 Regular"/>
                <a:ea typeface="에이투지체 4 Regular"/>
              </a:rPr>
              <a:t>키성장 세부 검색어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31536" y="4087368"/>
            <a:ext cx="1792223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31536" y="41605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>
                <a:solidFill>
                  <a:srgbClr val="004F9F"/>
                </a:solidFill>
                <a:latin typeface="에이투지체 6 SemiBold"/>
                <a:ea typeface="에이투지체 6 SemiBold"/>
              </a:rPr>
              <a:t>운영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31536" y="436168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>
                <a:solidFill>
                  <a:srgbClr val="222222"/>
                </a:solidFill>
                <a:latin typeface="에이투지체 6 SemiBold"/>
                <a:ea typeface="에이투지체 6 SemiBold"/>
              </a:rPr>
              <a:t>전환 확인 후 키워드 확대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74151" y="2623566"/>
            <a:ext cx="3538728" cy="475488"/>
          </a:xfrm>
          <a:prstGeom prst="roundRect">
            <a:avLst>
              <a:gd name="adj" fmla="val 1538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229599" y="2715006"/>
            <a:ext cx="292608" cy="292608"/>
          </a:xfrm>
          <a:prstGeom prst="ellips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677" y="2791084"/>
            <a:ext cx="140451" cy="14045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41079" y="2623566"/>
            <a:ext cx="2880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222222"/>
                </a:solidFill>
                <a:latin typeface="에이투지체 5 Medium"/>
                <a:ea typeface="에이투지체 5 Medium"/>
              </a:rPr>
              <a:t>판매처보다 공식 스토어 먼저 노출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74151" y="3199638"/>
            <a:ext cx="3538728" cy="475488"/>
          </a:xfrm>
          <a:prstGeom prst="roundRect">
            <a:avLst>
              <a:gd name="adj" fmla="val 1538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229599" y="3291078"/>
            <a:ext cx="292608" cy="292608"/>
          </a:xfrm>
          <a:prstGeom prst="ellips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677" y="3367156"/>
            <a:ext cx="140451" cy="14045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641079" y="3199638"/>
            <a:ext cx="2880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222222"/>
                </a:solidFill>
                <a:latin typeface="에이투지체 5 Medium"/>
                <a:ea typeface="에이투지체 5 Medium"/>
              </a:rPr>
              <a:t>판매처 노출 주간 점검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74151" y="3775710"/>
            <a:ext cx="3538728" cy="475488"/>
          </a:xfrm>
          <a:prstGeom prst="roundRect">
            <a:avLst>
              <a:gd name="adj" fmla="val 1538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229599" y="3867150"/>
            <a:ext cx="292608" cy="292608"/>
          </a:xfrm>
          <a:prstGeom prst="ellips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677" y="3943228"/>
            <a:ext cx="140451" cy="14045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641079" y="3775710"/>
            <a:ext cx="2880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222222"/>
                </a:solidFill>
                <a:latin typeface="에이투지체 5 Medium"/>
                <a:ea typeface="에이투지체 5 Medium"/>
              </a:rPr>
              <a:t>리뷰가 쌓인 뒤 대표 검색어 확대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4956048"/>
            <a:ext cx="3566160" cy="438912"/>
          </a:xfrm>
          <a:prstGeom prst="roundRect">
            <a:avLst>
              <a:gd name="adj" fmla="val 16666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copy-x_004F9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029200"/>
            <a:ext cx="292608" cy="29260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97280" y="5087018"/>
            <a:ext cx="29260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150" dirty="0">
                <a:solidFill>
                  <a:srgbClr val="222222"/>
                </a:solidFill>
                <a:latin typeface="에이투지체 5 Medium"/>
                <a:ea typeface="에이투지체 5 Medium"/>
              </a:rPr>
              <a:t>동일</a:t>
            </a:r>
            <a:r>
              <a:rPr sz="1150" dirty="0">
                <a:solidFill>
                  <a:srgbClr val="222222"/>
                </a:solidFill>
                <a:latin typeface="에이투지체 5 Medium"/>
                <a:ea typeface="에이투지체 5 Medium"/>
              </a:rPr>
              <a:t> </a:t>
            </a:r>
            <a:r>
              <a:rPr sz="1150" dirty="0" err="1">
                <a:solidFill>
                  <a:srgbClr val="222222"/>
                </a:solidFill>
                <a:latin typeface="에이투지체 5 Medium"/>
                <a:ea typeface="에이투지체 5 Medium"/>
              </a:rPr>
              <a:t>키워드</a:t>
            </a:r>
            <a:r>
              <a:rPr sz="1150" dirty="0">
                <a:solidFill>
                  <a:srgbClr val="222222"/>
                </a:solidFill>
                <a:latin typeface="에이투지체 5 Medium"/>
                <a:ea typeface="에이투지체 5 Medium"/>
              </a:rPr>
              <a:t> </a:t>
            </a:r>
            <a:r>
              <a:rPr sz="1150" dirty="0" err="1">
                <a:solidFill>
                  <a:srgbClr val="222222"/>
                </a:solidFill>
                <a:latin typeface="에이투지체 5 Medium"/>
                <a:ea typeface="에이투지체 5 Medium"/>
              </a:rPr>
              <a:t>중복</a:t>
            </a:r>
            <a:r>
              <a:rPr sz="1150" dirty="0">
                <a:solidFill>
                  <a:srgbClr val="222222"/>
                </a:solidFill>
                <a:latin typeface="에이투지체 5 Medium"/>
                <a:ea typeface="에이투지체 5 Medium"/>
              </a:rPr>
              <a:t> </a:t>
            </a:r>
            <a:r>
              <a:rPr sz="1150" dirty="0" err="1">
                <a:solidFill>
                  <a:srgbClr val="222222"/>
                </a:solidFill>
                <a:latin typeface="에이투지체 5 Medium"/>
                <a:ea typeface="에이투지체 5 Medium"/>
              </a:rPr>
              <a:t>입찰</a:t>
            </a:r>
            <a:r>
              <a:rPr sz="1150" dirty="0">
                <a:solidFill>
                  <a:srgbClr val="222222"/>
                </a:solidFill>
                <a:latin typeface="에이투지체 5 Medium"/>
                <a:ea typeface="에이투지체 5 Medium"/>
              </a:rPr>
              <a:t> </a:t>
            </a:r>
            <a:r>
              <a:rPr sz="1150" dirty="0" err="1">
                <a:solidFill>
                  <a:srgbClr val="222222"/>
                </a:solidFill>
                <a:latin typeface="에이투지체 5 Medium"/>
                <a:ea typeface="에이투지체 5 Medium"/>
              </a:rPr>
              <a:t>없이</a:t>
            </a:r>
            <a:r>
              <a:rPr sz="1150" dirty="0">
                <a:solidFill>
                  <a:srgbClr val="222222"/>
                </a:solidFill>
                <a:latin typeface="에이투지체 5 Medium"/>
                <a:ea typeface="에이투지체 5 Medium"/>
              </a:rPr>
              <a:t> </a:t>
            </a:r>
            <a:r>
              <a:rPr sz="1150" dirty="0" err="1">
                <a:solidFill>
                  <a:srgbClr val="222222"/>
                </a:solidFill>
                <a:latin typeface="에이투지체 5 Medium"/>
                <a:ea typeface="에이투지체 5 Medium"/>
              </a:rPr>
              <a:t>운영</a:t>
            </a:r>
            <a:endParaRPr sz="1150" dirty="0">
              <a:solidFill>
                <a:srgbClr val="222222"/>
              </a:solidFill>
              <a:latin typeface="에이투지체 5 Medium"/>
              <a:ea typeface="에이투지체 5 Medium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297679" y="4956048"/>
            <a:ext cx="3566160" cy="438912"/>
          </a:xfrm>
          <a:prstGeom prst="roundRect">
            <a:avLst>
              <a:gd name="adj" fmla="val 16666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search_004F9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5029200"/>
            <a:ext cx="292608" cy="29260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846319" y="4956048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>
                <a:solidFill>
                  <a:srgbClr val="222222"/>
                </a:solidFill>
                <a:latin typeface="에이투지체 5 Medium"/>
                <a:ea typeface="에이투지체 5 Medium"/>
              </a:rPr>
              <a:t>주간 검색어 · 상품 성과 확인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46719" y="4956048"/>
            <a:ext cx="3566160" cy="438912"/>
          </a:xfrm>
          <a:prstGeom prst="roundRect">
            <a:avLst>
              <a:gd name="adj" fmla="val 16666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trending-up_004F9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3879" y="5029200"/>
            <a:ext cx="292608" cy="29260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595359" y="5087018"/>
            <a:ext cx="29260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150" dirty="0">
                <a:solidFill>
                  <a:srgbClr val="222222"/>
                </a:solidFill>
                <a:latin typeface="에이투지체 5 Medium"/>
                <a:ea typeface="에이투지체 5 Medium"/>
              </a:rPr>
              <a:t>주간 오픈마켓 </a:t>
            </a:r>
            <a:r>
              <a:rPr sz="1150" dirty="0" err="1">
                <a:solidFill>
                  <a:srgbClr val="222222"/>
                </a:solidFill>
                <a:latin typeface="에이투지체 5 Medium"/>
                <a:ea typeface="에이투지체 5 Medium"/>
              </a:rPr>
              <a:t>매체별</a:t>
            </a:r>
            <a:r>
              <a:rPr sz="1150" dirty="0">
                <a:solidFill>
                  <a:srgbClr val="222222"/>
                </a:solidFill>
                <a:latin typeface="에이투지체 5 Medium"/>
                <a:ea typeface="에이투지체 5 Medium"/>
              </a:rPr>
              <a:t> ROAS </a:t>
            </a:r>
            <a:r>
              <a:rPr sz="1150" dirty="0" err="1">
                <a:solidFill>
                  <a:srgbClr val="222222"/>
                </a:solidFill>
                <a:latin typeface="에이투지체 5 Medium"/>
                <a:ea typeface="에이투지체 5 Medium"/>
              </a:rPr>
              <a:t>비교</a:t>
            </a:r>
            <a:endParaRPr sz="1150" dirty="0">
              <a:solidFill>
                <a:srgbClr val="222222"/>
              </a:solidFill>
              <a:latin typeface="에이투지체 5 Medium"/>
              <a:ea typeface="에이투지체 5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같은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매체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안에서도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운영형별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ROAS가</a:t>
            </a:r>
            <a:r>
              <a:rPr sz="1900" b="0" dirty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차이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나기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때문에</a:t>
            </a:r>
            <a:endParaRPr sz="1900" b="0" dirty="0">
              <a:solidFill>
                <a:srgbClr val="222222"/>
              </a:solidFill>
              <a:latin typeface="에이투지체 8 ExtraBold"/>
              <a:ea typeface="에이투지체 8 ExtraBold"/>
              <a:cs typeface="에이투지체 8 ExtraBold"/>
            </a:endParaRPr>
          </a:p>
          <a:p>
            <a:pPr>
              <a:lnSpc>
                <a:spcPts val="2600"/>
              </a:lnSpc>
            </a:pPr>
            <a:r>
              <a:rPr lang="ko-KR" altLang="en-US" sz="190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링크프라이스</a:t>
            </a:r>
            <a:r>
              <a:rPr lang="ko-KR" altLang="en-US" sz="190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자체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리포트로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예산과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CPC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상한을</a:t>
            </a:r>
            <a:r>
              <a:rPr sz="1900" b="0" dirty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 </a:t>
            </a: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조정합니다</a:t>
            </a:r>
            <a:endParaRPr sz="1900" b="0" dirty="0">
              <a:solidFill>
                <a:srgbClr val="222222"/>
              </a:solidFill>
              <a:latin typeface="에이투지체 8 ExtraBold"/>
              <a:ea typeface="에이투지체 8 ExtraBold"/>
              <a:cs typeface="에이투지체 8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지마켓 운영 관리  사내 리포트 (동종 건기식 사례)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702565"/>
            <a:ext cx="10671048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dirty="0" err="1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같은</a:t>
            </a:r>
            <a:r>
              <a:rPr sz="1350" b="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sz="1350" b="0" dirty="0" err="1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기준의</a:t>
            </a:r>
            <a:r>
              <a:rPr sz="1350" b="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sz="1350" b="0" dirty="0" err="1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리포트로</a:t>
            </a:r>
            <a:r>
              <a:rPr sz="1350" b="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sz="1350" b="0" dirty="0" err="1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운영형별</a:t>
            </a:r>
            <a:r>
              <a:rPr sz="1350" b="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sz="1350" b="0" dirty="0" err="1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성과를</a:t>
            </a:r>
            <a:r>
              <a:rPr sz="1350" b="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sz="1350" b="0" dirty="0" err="1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비교하고</a:t>
            </a:r>
            <a:r>
              <a:rPr sz="1350" b="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, </a:t>
            </a:r>
            <a:r>
              <a:rPr sz="1350" b="0" dirty="0" err="1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성과가</a:t>
            </a:r>
            <a:r>
              <a:rPr sz="1350" b="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sz="1350" b="0" dirty="0" err="1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확인된</a:t>
            </a:r>
            <a:r>
              <a:rPr sz="1350" b="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sz="1350" b="0" dirty="0" err="1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곳에</a:t>
            </a:r>
            <a:r>
              <a:rPr sz="1350" b="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sz="1350" b="0" dirty="0" err="1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예산을</a:t>
            </a:r>
            <a:r>
              <a:rPr sz="1350" b="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 </a:t>
            </a:r>
            <a:r>
              <a:rPr sz="1350" b="0" dirty="0" err="1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옮기겠습니다</a:t>
            </a:r>
            <a:endParaRPr sz="1350" b="0" dirty="0">
              <a:solidFill>
                <a:srgbClr val="004F9F"/>
              </a:solidFill>
              <a:latin typeface="에이투지체 6 SemiBold"/>
              <a:ea typeface="에이투지체 6 SemiBold"/>
              <a:cs typeface="에이투지체 6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동종 건기식 광고주 지마켓 실제 운영 데이터 (월 광고비 약 1,000만 원, 링크프라이스 사내 월간 리포트) / 광고수익률 외 수치는 가림 처리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동종 건기식 사례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월 광고비 약 1,000만 원, 캠페인 유형별 데이터</a:t>
            </a:r>
          </a:p>
        </p:txBody>
      </p:sp>
      <p:pic>
        <p:nvPicPr>
          <p:cNvPr id="12" name="Picture 11" descr="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7223760" cy="2414981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3" name="Rounded Rectangle 12"/>
          <p:cNvSpPr/>
          <p:nvPr/>
        </p:nvSpPr>
        <p:spPr>
          <a:xfrm>
            <a:off x="548640" y="4846320"/>
            <a:ext cx="722376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광고수익률  </a:t>
            </a:r>
            <a:r>
              <a:rPr sz="11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통합 운영형 420%, 집중 운영형 383%, 직접 운영형 211%, 전체 291%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993392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관리에 쓰는 방식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33172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2331720"/>
            <a:ext cx="411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에이투지체 6 SemiBold"/>
                <a:ea typeface="에이투지체 6 SemiBold"/>
                <a:cs typeface="에이투지체 6 SemiBold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331720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에이투지체 6 SemiBold"/>
                <a:ea typeface="에이투지체 6 SemiBold"/>
                <a:cs typeface="에이투지체 6 SemiBold"/>
              </a:rPr>
              <a:t>운영형별 ROAS 비교</a:t>
            </a:r>
          </a:p>
          <a:p>
            <a:pPr algn="l"/>
            <a:r>
              <a:rPr sz="950" b="0">
                <a:solidFill>
                  <a:srgbClr val="C9DAEE"/>
                </a:solidFill>
                <a:latin typeface="에이투지체 4 Regular"/>
                <a:ea typeface="에이투지체 4 Regular"/>
                <a:cs typeface="에이투지체 4 Regular"/>
              </a:rPr>
              <a:t>통합, 집중, 직접 운영형을 같은 기준으로 비교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099815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1" y="3099815"/>
            <a:ext cx="411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099815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예산 재배분</a:t>
            </a:r>
          </a:p>
          <a:p>
            <a:pPr algn="l"/>
            <a:r>
              <a:rPr sz="95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ROAS가 확인된 운영형으로 다음 주 예산 이동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867911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3867911"/>
            <a:ext cx="411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867911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CPC 상한 조정</a:t>
            </a:r>
          </a:p>
          <a:p>
            <a:pPr algn="l"/>
            <a:r>
              <a:rPr sz="95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직접 운영형 키워드별 CPC 상한 재설정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6360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57031" y="4636008"/>
            <a:ext cx="411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636008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상품 구성 반영</a:t>
            </a:r>
          </a:p>
          <a:p>
            <a:pPr algn="l"/>
            <a:r>
              <a:rPr sz="95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운영형별 상품을 성과 기준으로 교체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2316</Words>
  <Application>Microsoft Office PowerPoint</Application>
  <PresentationFormat>와이드스크린</PresentationFormat>
  <Paragraphs>381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맑은 고딕</vt:lpstr>
      <vt:lpstr>에이투지체 3 Light</vt:lpstr>
      <vt:lpstr>에이투지체 4 Regular</vt:lpstr>
      <vt:lpstr>에이투지체 5 Medium</vt:lpstr>
      <vt:lpstr>에이투지체 6 SemiBold</vt:lpstr>
      <vt:lpstr>에이투지체 8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LINKPRICE USER084</dc:creator>
  <cp:lastModifiedBy>LINKPRICE USER084</cp:lastModifiedBy>
  <cp:revision>14</cp:revision>
  <dcterms:created xsi:type="dcterms:W3CDTF">2026-10-13T10:08:00Z</dcterms:created>
  <dcterms:modified xsi:type="dcterms:W3CDTF">2026-10-13T11:45:25Z</dcterms:modified>
</cp:coreProperties>
</file>