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385" r:id="rId2"/>
    <p:sldId id="425" r:id="rId3"/>
    <p:sldId id="426" r:id="rId4"/>
    <p:sldId id="427" r:id="rId5"/>
    <p:sldId id="428" r:id="rId6"/>
    <p:sldId id="429" r:id="rId7"/>
    <p:sldId id="430" r:id="rId8"/>
    <p:sldId id="432" r:id="rId9"/>
    <p:sldId id="433" r:id="rId10"/>
    <p:sldId id="434" r:id="rId11"/>
    <p:sldId id="435" r:id="rId12"/>
    <p:sldId id="436" r:id="rId13"/>
    <p:sldId id="437" r:id="rId14"/>
    <p:sldId id="438" r:id="rId15"/>
    <p:sldId id="439" r:id="rId16"/>
    <p:sldId id="440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광고비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1-8C06-4E72-9953-E814D500A8E3}"/>
              </c:ext>
            </c:extLst>
          </c:dPt>
          <c:dPt>
            <c:idx val="1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3-8C06-4E72-9953-E814D500A8E3}"/>
              </c:ext>
            </c:extLst>
          </c:dPt>
          <c:dPt>
            <c:idx val="2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5-8C06-4E72-9953-E814D500A8E3}"/>
              </c:ext>
            </c:extLst>
          </c:dPt>
          <c:dPt>
            <c:idx val="3"/>
            <c:invertIfNegative val="1"/>
            <c:bubble3D val="0"/>
            <c:spPr>
              <a:solidFill>
                <a:srgbClr val="004F9F"/>
              </a:solidFill>
            </c:spPr>
            <c:extLst>
              <c:ext xmlns:c16="http://schemas.microsoft.com/office/drawing/2014/chart" uri="{C3380CC4-5D6E-409C-BE32-E72D297353CC}">
                <c16:uniqueId val="{00000007-8C06-4E72-9953-E814D500A8E3}"/>
              </c:ext>
            </c:extLst>
          </c:dPt>
          <c:dLbls>
            <c:numFmt formatCode="#,##0&quot;원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>
                    <a:solidFill>
                      <a:srgbClr val="222222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카무트 효소</c:v>
                </c:pt>
                <c:pt idx="1">
                  <c:v>츄어블 철분</c:v>
                </c:pt>
                <c:pt idx="2">
                  <c:v>멀티비타민</c:v>
                </c:pt>
                <c:pt idx="3">
                  <c:v>키성장 FGO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3885</c:v>
                </c:pt>
                <c:pt idx="1">
                  <c:v>4500</c:v>
                </c:pt>
                <c:pt idx="2">
                  <c:v>4718</c:v>
                </c:pt>
                <c:pt idx="3">
                  <c:v>33525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C06-4E72-9953-E814D500A8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DDDDD"/>
            </a:solidFill>
          </a:ln>
        </c:spPr>
        <c:txPr>
          <a:bodyPr/>
          <a:lstStyle/>
          <a:p>
            <a:pPr>
              <a:defRPr sz="1200">
                <a:solidFill>
                  <a:srgbClr val="222222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2000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에이투지체 5 Medium"/>
          <a:ea typeface="에이투지체 5 Medium"/>
          <a:cs typeface="에이투지체 5 Medium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0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쿠팡</a:t>
            </a: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 주력 상품이 메인 키워드 검색 결과 첫 화면에 없습니다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로켓배송과 리뷰는 이미 갖춘 상태입니다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로켓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배송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상품을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35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 결과에서 원활하게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보이</a:t>
            </a:r>
            <a:r>
              <a:rPr lang="ko-KR" altLang="en-US"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게 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는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것이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과제입니다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상품: 2026.10.12 (주)두드림비엔비 쿠팡 브랜드샵 / 검색: 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827 · 968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FGO · 카무트 로켓 상품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조건은 갖춰진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808" y="3794760"/>
            <a:ext cx="3447288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주력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모두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로켓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lang="ko-KR" altLang="en-US"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배송 등록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철분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·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유산균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등도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65~588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광고할 상품은 준비된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3개 중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첫 화면 노출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검색어에서 보이지 않음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키성장영양제,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키크는영양제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카무트효소</a:t>
            </a:r>
            <a:endParaRPr lang="ko-KR" altLang="ko-KR"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첫 화면에 두드림 상품 없음</a:t>
            </a:r>
          </a:p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키앤이거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그레인온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등 경쟁사 광고 노출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광고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자사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브랜드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키워드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검색 결과</a:t>
            </a:r>
            <a:endParaRPr sz="1150" b="0" dirty="0">
              <a:solidFill>
                <a:srgbClr val="C9DAEE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검색어에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노출</a:t>
            </a:r>
            <a:endParaRPr sz="1575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아이클타임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검색 첫 줄에 경쟁사가 광고</a:t>
            </a: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반대로 경쟁사 브랜드 검색 결과에는</a:t>
            </a: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두드림 노출 없음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운영 구조 정리 필요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아이클타임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결과에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나오고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브랜드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결과에는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②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브랜드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광고를 유지하면서, 경쟁사 브랜드 검색어도 제외하지 않고 성과를 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760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"아이클타임" 검색 결과, 첫 줄에 키움정 광고</a:t>
            </a:r>
          </a:p>
        </p:txBody>
      </p:sp>
      <p:pic>
        <p:nvPicPr>
          <p:cNvPr id="12" name="Picture 11" descr="ai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5760720" cy="3174136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583680" y="1993392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노출 없음</a:t>
            </a:r>
          </a:p>
        </p:txBody>
      </p:sp>
      <p:pic>
        <p:nvPicPr>
          <p:cNvPr id="14" name="Picture 13" descr="k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331720"/>
            <a:ext cx="2697480" cy="1503566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64040" y="2606039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검색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2953512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전부 키움정</a:t>
            </a:r>
          </a:p>
        </p:txBody>
      </p:sp>
      <p:pic>
        <p:nvPicPr>
          <p:cNvPr id="17" name="Picture 16" descr="howtok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931920"/>
            <a:ext cx="2697480" cy="149097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9464040" y="420624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"하우투키" 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4553712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젬, 키앤이거 광고 노출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3개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모두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 결과 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첫 </a:t>
            </a: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페이지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③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대표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검색어는 리뷰가 많은 FGO·카무트 위주로 광고하고, 목표 ROAS와 예산을 조정해 노출을 늘리겠습니다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2" name="Picture 11" descr="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566160" cy="191253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48640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키움정, 키앤이거, 드림톨, 센치엘, 하이크니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 (2,750), 골밀도 강화 (60), 키클레오 (100)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"키크는영양제"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5" name="Picture 14" descr="kike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331720"/>
            <a:ext cx="3566160" cy="1990193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9767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키앤이거, 키움정, 드림톨, 펜트로반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키클레오 (100), 알파이 (1,251), 키초스틱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8" name="Picture 17" descr="kam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2331720"/>
            <a:ext cx="3566160" cy="198840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4671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여에스더, 비타민마을, 정품 골든, 동국제약, SSF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골드 카무트 MAX (1,226), 카무트 골드G (14,664), 그레인온 (3,644)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쿠팡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네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매출 최적화 캠페인 안에서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쿠팡에서는 리뷰가 쌓인 로켓 상품 위주로 광고해 FGO와 다음 히어로 상품의 판매를 늘리겠습니다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쿠팡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캠페인 구조 정리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목표 ROAS 기준 학습이라 객단가로 나누고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리뷰가 쌓인 로켓 상품부터 운영합니다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46888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46888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 A, B,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캠페인별 ROAS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145536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145536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145536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145536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검색어는 상시 노출하고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대표·경쟁사 검색어는 제외 없이 성과를 봅니다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3218688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218688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 리포트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145536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48640" y="3895344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3895344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성장 패키지 상품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895344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93008" y="3895344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FGO 세트 상품 등록을 두드림에 제안하고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등록되면 어린이영양제 같은 검색어에도 노출합니다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800" y="3968496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35240" y="3968496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 A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키성장 캠페인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3895344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세트 매출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FGO 외 매출 비중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99008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Isosceles Triangle 41"/>
          <p:cNvSpPr/>
          <p:nvPr/>
        </p:nvSpPr>
        <p:spPr>
          <a:xfrm rot="5400000">
            <a:off x="724204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66520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548640" y="4645152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31520" y="4645152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행사 기간 집중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1840" y="4645152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493008" y="4645152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상시 캠페인을 유지한 채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블프 기간 예산과 목표 ROAS만 조정합니다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18304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35240" y="4718304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기존 캠페인 유지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6960" y="4645152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행사 기간 ROAS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299008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Isosceles Triangle 51"/>
          <p:cNvSpPr/>
          <p:nvPr/>
        </p:nvSpPr>
        <p:spPr>
          <a:xfrm rot="5400000">
            <a:off x="724204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52"/>
          <p:cNvSpPr/>
          <p:nvPr/>
        </p:nvSpPr>
        <p:spPr>
          <a:xfrm rot="5400000">
            <a:off x="966520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객단가가 다른 상품을 섞으면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저가 상품이 밀립니다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기준으로 입찰하는 구조이기 때문입니다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매출 최적화 캠페인의 입찰 방식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고가인 키성장은 단독 캠페인으로 두고, 나머지는 객단가가 비슷한 상품끼리 묶습니다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목표 ROAS 400%는 계산 예시 / 판매가: 2026.10.12 (주)두드림비엔비 쿠팡 브랜드샵 1개 구성 기준 / 판매 1건당 광고비 = 판매가 ÷ 목표 ROAS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6492240" cy="3291840"/>
          </a:xfrm>
          <a:prstGeom prst="roundRect">
            <a:avLst>
              <a:gd name="adj" fmla="val 2222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400%일 때, 판매 1건에 쓸 수 있는 광고비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85800" y="2606040"/>
          <a:ext cx="62636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9834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약 8.6배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FGO와 카무트 1개의 판매 1건당 광고비 차이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03120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79" y="2212848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한 캠페인에 섞으면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578608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저가 상품은 쓸 수 있는 광고비가 적어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입찰에서 밀리고 노출이 줄어듭니다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캠페인 ROAS는 고가 상품 성과에 가려집니다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3822191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79" y="3931920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객단가별로 나누면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97680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캠페인마다 객단가에 맞는 목표 ROAS 설정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저가 상품도 학습과 노출이 유지됩니다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상품군별 성과를 따로 판단할 수 있습니다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2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3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4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38</a:t>
            </a:r>
          </a:p>
        </p:txBody>
      </p:sp>
      <p:sp>
        <p:nvSpPr>
          <p:cNvPr id="2" name="text-316">
            <a:extLst>
              <a:ext uri="{FF2B5EF4-FFF2-40B4-BE49-F238E27FC236}">
                <a16:creationId xmlns:a16="http://schemas.microsoft.com/office/drawing/2014/main" id="{843E8BB5-650C-4AE5-976F-1108B65F67AD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고가인 키성장만 따로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운영하고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나머지는 상품군별로 묶어 제외 키워드를 관리합니다</a:t>
            </a:r>
            <a:endParaRPr lang="ko-KR" sz="1900" dirty="0"/>
          </a:p>
        </p:txBody>
      </p:sp>
      <p:sp>
        <p:nvSpPr>
          <p:cNvPr id="3" name="text-317">
            <a:extLst>
              <a:ext uri="{FF2B5EF4-FFF2-40B4-BE49-F238E27FC236}">
                <a16:creationId xmlns:a16="http://schemas.microsoft.com/office/drawing/2014/main" id="{B8E4258E-54B5-4DFC-8333-DCFD9F526E74}"/>
              </a:ext>
            </a:extLst>
          </p:cNvPr>
          <p:cNvSpPr>
            <a:spLocks noGrp="1"/>
          </p:cNvSpPr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객단가 기준 캠페인 구성</a:t>
            </a:r>
            <a:endParaRPr lang="ko-KR" sz="1100" dirty="0"/>
          </a:p>
        </p:txBody>
      </p:sp>
      <p:sp>
        <p:nvSpPr>
          <p:cNvPr id="8" name="node-321">
            <a:extLst>
              <a:ext uri="{FF2B5EF4-FFF2-40B4-BE49-F238E27FC236}">
                <a16:creationId xmlns:a16="http://schemas.microsoft.com/office/drawing/2014/main" id="{6F8A91DE-2907-4FB2-BEDF-5F39371F9BF8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-322">
            <a:extLst>
              <a:ext uri="{FF2B5EF4-FFF2-40B4-BE49-F238E27FC236}">
                <a16:creationId xmlns:a16="http://schemas.microsoft.com/office/drawing/2014/main" id="{47EDEF8F-615E-460E-9002-B4E740153410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캠페인마다 객단가에 맞는 목표 ROAS를 두고, 리뷰가 쌓인 로켓 상품부터 주 단위로 성과를 확인합니다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2959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ru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96" y="2492288"/>
            <a:ext cx="245790" cy="2457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004F9F"/>
                </a:solidFill>
                <a:latin typeface="에이투지체 8 ExtraBold"/>
                <a:ea typeface="에이투지체 8 ExtraBold"/>
              </a:rPr>
              <a:t>13.4만 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FGO 1박스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59" y="3995927"/>
            <a:ext cx="2898649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59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단독 캠페인 · 목표 ROAS 별도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827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61688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36007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whea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144" y="2492288"/>
            <a:ext cx="245790" cy="24579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94375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4375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· 슬림웨이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7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7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1.5~6.4만 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7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 효소 1~6개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636007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36007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카무트 중심으로 효율 확보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968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74736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449056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pill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192" y="2492288"/>
            <a:ext cx="245790" cy="24579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107424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아이클타임 데일리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9056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1.8~4.3만 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49056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철분 · 유산균 · 칼마디 · 멀티비타민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49056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449056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철분 · 유산균부터 추가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65~588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package_004F9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837176"/>
            <a:ext cx="292608" cy="29260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97280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캠페인당 상품 10개 이하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9767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4837176"/>
            <a:ext cx="292608" cy="2926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84631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 간 상품 중복 없이 운영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1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alendar-check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79" y="4837176"/>
            <a:ext cx="292608" cy="29260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59535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검색어 · 상품 성과 주간 점검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검색어를 브랜드·대표·경쟁사로 나눠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유형마다 제외 기준과 운영 방식을 다르게 가져갑니다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검색어 노출 확대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검색어는 매출 최적화 캠페인의 제외 설정으로 관리하고, 전환이 확인된 캠페인부터 예산을 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경쟁사명은 검색어로만 활용하고 상품명과 소재에는 사용하지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아이클타임을 찾는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아이클타임, 두드림, 아이클타임 키성장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 첫 줄에 키움정 광고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없이 상시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브랜드 검색 결과의 광고 노출 주간 확인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브랜드 검색어 전환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대표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카테고리를 탐색하는 고객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키성장영양제, 키크는영양제, 카무트효소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많은 FGO, 카무트 중심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예산과 목표 ROAS로 노출량 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663440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대표 검색어 노출,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검색어</a:t>
            </a:r>
          </a:p>
          <a:p>
            <a:pPr algn="l"/>
            <a:r>
              <a:rPr sz="120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 상품을 찾는 고객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키움정, 하우투키, 키앤이거, 키클레오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노출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키워드로 막지 않고 성과 확인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5클릭 이상 무전환 검색어만 제외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경쟁사 검색어 전환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확장 방식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세부 검색어는 매출 최적화가 찾고, 검색어 리포트로 무전환 검색어만 제외합니다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광고 상품이 일부에 그치고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11번가는 광고 영역에 보이지 않습니다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지마켓은 광고 영역을 채우는 것이, 11번가는 공식 스토어 노출을 시작하는 것이 과제입니다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광고비: 11월 미디어믹스 제안안 / 지마켓: 2026.10.13 지마켓 PC 검색 화면 기준. 검색 결과는 새로고침, 사용자별로 달라짐 / 괄호는 리뷰 수 / 11번가: 2026.10.13 11번가 PC 검색 화면 기준.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광고 운영 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먼저 둘러보세요 (파워클릭)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상품은 일부만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미니샵에는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다수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영역은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FGO,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프로바이오키드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위주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브랜드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노출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검색어부터 채우기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FGO 1박스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격차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1개월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102,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5,161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그레인온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14,274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슬림웨이는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없이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수 차이가 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미노출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11번가 주요 검색어 3개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11번가 광고는 경쟁사 상품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키성장영양제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카무트효소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전부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리셀러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공식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스토어는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신규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없음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공식 스토어 기반부터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en-US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자사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브랜드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검색어의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영역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함께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노출되고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있습니다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②  브랜드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검색어는 전용 그룹에 판매 상품을 모두 등록해 광고 영역까지 채우고, 입찰가는 낮게 운영하겠습니다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1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dirty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</a:t>
            </a:r>
            <a:r>
              <a:rPr sz="1250" b="0" dirty="0" err="1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아이클타임</a:t>
            </a:r>
            <a:r>
              <a:rPr sz="1250" b="0" dirty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  </a:t>
            </a:r>
            <a:r>
              <a:rPr lang="ko-KR" altLang="en-US" sz="125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8 ExtraBold"/>
              </a:rPr>
              <a:t>자사</a:t>
            </a:r>
            <a:r>
              <a:rPr sz="125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25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</a:t>
            </a:r>
            <a:r>
              <a:rPr sz="125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</a:t>
            </a:r>
            <a:endParaRPr sz="1250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pic>
        <p:nvPicPr>
          <p:cNvPr id="12" name="Picture 11" descr="g_ai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3459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영역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먼저 둘러보세요 (파워클릭)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1~3번째, FGO 5박스 76.9만 원, 4박스, 프로바이오키드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4번째 뉴트리원 루테인 (362), 아래 녹십초 비타민C (1,215)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첫 번째 광고가 1박스가 아닌 5박스 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</a:t>
            </a:r>
          </a:p>
        </p:txBody>
      </p:sp>
      <p:pic>
        <p:nvPicPr>
          <p:cNvPr id="15" name="Picture 14" descr="g_k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3246120" cy="2460338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582912" y="2377440"/>
            <a:ext cx="202996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먼저 둘러보세요 5개 모두 키움정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1개월 53,000원 (102), 구매 5,161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노출 없음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경쟁사는 자사 브랜드 검색 결과 광고를 모두 자사 상품으로 운영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 영역에는 FGO와 프로바이오키드 위주로 노출되고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미니샵의 다른 아이클타임 상품은 대부분 빠져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③  판매 상품과 광고 상품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상품을 브랜드 검색어 그룹에 모두 등록해 광고 노출을 늘리고, 낮은 입찰가로 ROAS를 높이겠습니다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(주)두드림 미니샵 내 "아이클타임" 검색 결과, 지마켓 "아이클타임" 검색 결과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지마켓 미니샵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(주)두드림 "아이클타임" 검색</a:t>
            </a:r>
          </a:p>
        </p:txBody>
      </p:sp>
      <p:pic>
        <p:nvPicPr>
          <p:cNvPr id="12" name="Picture 11" descr="g_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6400800" cy="2901297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7223760" y="2331720"/>
            <a:ext cx="4389120" cy="2971800"/>
          </a:xfrm>
          <a:prstGeom prst="roundRect">
            <a:avLst>
              <a:gd name="adj" fmla="val 246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52360" y="2450592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판매 중  vs  광고 영역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2880360"/>
            <a:ext cx="3977639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중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키성장 FGO, 츄어블 철분, 프로바이오키드, 프로바이오틱스, 멀티비타민 등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노출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5박스, 4박스, 프로바이오키드 위주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그 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나머지 광고에 뉴트리원, 녹십초 노출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브랜드 검색어 그룹에 판매 상품 모두 등록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입찰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경쟁이 적은 브랜드 검색어는 입찰가를 낮게 설정해 ROAS 상승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 검색어에 두드림 상품이 노출되고 있고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주변 경쟁 상품과는 리뷰 수 차이가 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④  대표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리뷰 격차가 큰 대표 검색어는 CPC 상한을 낮게 두고, 전환이 확인된 검색어와 상품에 예산을 먼저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2번째</a:t>
            </a:r>
          </a:p>
        </p:txBody>
      </p:sp>
      <p:pic>
        <p:nvPicPr>
          <p:cNvPr id="12" name="Picture 11" descr="g_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2984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상단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오늘의 상품이에요 광고 5개 모두 경쟁사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김소형원방, PH365, 키엔탄, 키클레오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위아래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순수식품 칼마디 (7,426), 고려은단 칼마디 (186)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1박스 (7), 구매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5번째</a:t>
            </a:r>
          </a:p>
        </p:txBody>
      </p:sp>
      <p:pic>
        <p:nvPicPr>
          <p:cNvPr id="15" name="Picture 14" descr="g_kam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2926080" cy="270073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262872" y="2377440"/>
            <a:ext cx="235000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1~4번째 중 그레인온 3개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14,274, 9,889, 3,474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리얼메디 2+1 (502)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슬림웨이 1박스, 리뷰 없이 구매 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상세 페이지 추가구성을 바꾸면</a:t>
            </a:r>
            <a:endParaRPr lang="en-US"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광고로 들어온 고객이 다른 상품도 볼 수 있습니다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⑤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상세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페이지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추가구성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추가구성 변경 전 후, 광고 유입 고객의 구매 전환율과 객단가를 비교하여 상품별 최적화된 옵션을 설정합니다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키움정 3박스, 두드림 아이클타임 키성장 FGO 1박스 상품 페이지 기준 / 추가구성 변경은 판매 채널 담당과 협의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 3박스</a:t>
            </a:r>
          </a:p>
        </p:txBody>
      </p:sp>
      <p:pic>
        <p:nvPicPr>
          <p:cNvPr id="12" name="Picture 11" descr="g_kium_o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2514600" cy="305431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291840" y="199339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두드림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 FGO 1박스</a:t>
            </a:r>
          </a:p>
        </p:txBody>
      </p:sp>
      <p:pic>
        <p:nvPicPr>
          <p:cNvPr id="14" name="Picture 13" descr="dd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331720"/>
            <a:ext cx="3108960" cy="236626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291840" y="48006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이어지는 형태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(오메가3 젤리 4, 6박스 / 키즈 종합비타민 2, 3박스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331720"/>
            <a:ext cx="4937760" cy="301752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03720" y="2450592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추가구성 제안 방향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880360"/>
            <a:ext cx="45262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키움정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유산균, 멀티비타민, 구미젤리 세트 등 옵션마다 다른 상품이 보여, 구경하며 함께 눌러보게 됨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연달아 이어져, 다른 상품이 눈에 덜 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제안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상단에 성장 패키지 (FGO + 칼마디, FGO + 칼마디 + 철분)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상품마다 대표 구성 1개씩, 다양한 상품이 보이게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행사 기간 사은품 구성 검토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11번가 주요 검색어의 광고에는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경쟁사와 다른 판매처 상품이 노출되고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11번가 현황 진단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11번가는 공식 스토어 대표 상품부터 브랜드 검색어에서 보이게 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11번가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21개 중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광고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검색 결과</a:t>
            </a:r>
            <a:endParaRPr sz="1150" b="0" dirty="0">
              <a:solidFill>
                <a:srgbClr val="5C5C5C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광고 전부 경쟁사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고려은단 키즈하이 (36,858)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동국제약 키해피 FGO, 데일리플랜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리셀러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광고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검색 결과</a:t>
            </a:r>
            <a:endParaRPr sz="1150" b="0" dirty="0">
              <a:solidFill>
                <a:srgbClr val="5C5C5C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검색어도 공식 스토어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 5개: 고려은단 2, 리셀러 3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상위 30개에 공식 스토어 상품 없음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현대H몰, CJ, GS 등 판매처 노출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검색어부터 정비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신규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두드림 공식 스토어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리뷰 없이 시작하는 단계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찜 1, 리뷰 없음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카무트효소 광고도 전부 경쟁사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(뉴트리원, 그레인온, 동국제약)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상품 1~2개에 집중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지마켓·11번가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네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지마켓 광고와 11번가 공식 스토어로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지마켓·11번가는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검증된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상품과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중심으로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채우기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판매 상품을 브랜드 검색어 그룹에 모두 등록하고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입찰가는 낮게 설정해 ROAS를 높입니다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46888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46888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그룹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ROAS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영역 점유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145536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145536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전환 효율 관리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145536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145536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 격차가 큰 검색어는 CPC 상한을 낮추고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추가구성 개선과 리뷰 이벤트는 두드림에 제안합니다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3218688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218688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협의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145536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전환율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객단가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48640" y="3895344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3895344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895344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93008" y="3895344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 검색어는 CPC 상한 안에서 순위 관리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경쟁사 검색어는 매체 정책 확인 후 테스트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800" y="3968496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35240" y="3968496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집중 운영형 (카무트)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3895344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99008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Isosceles Triangle 41"/>
          <p:cNvSpPr/>
          <p:nvPr/>
        </p:nvSpPr>
        <p:spPr>
          <a:xfrm rot="5400000">
            <a:off x="724204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66520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548640" y="4645152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31520" y="4645152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11번가 기반 마련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1840" y="4645152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493008" y="4645152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공식 스토어 대표 상품 1~2개에 집중해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검색어에서 판매처보다 먼저 노출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18304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35240" y="4718304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공식 스토어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6960" y="4645152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노출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전환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299008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Isosceles Triangle 51"/>
          <p:cNvSpPr/>
          <p:nvPr/>
        </p:nvSpPr>
        <p:spPr>
          <a:xfrm rot="5400000">
            <a:off x="724204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52"/>
          <p:cNvSpPr/>
          <p:nvPr/>
        </p:nvSpPr>
        <p:spPr>
          <a:xfrm rot="5400000">
            <a:off x="966520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4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5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6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48</a:t>
            </a:r>
          </a:p>
        </p:txBody>
      </p:sp>
      <p:sp>
        <p:nvSpPr>
          <p:cNvPr id="2" name="text-324">
            <a:extLst>
              <a:ext uri="{FF2B5EF4-FFF2-40B4-BE49-F238E27FC236}">
                <a16:creationId xmlns:a16="http://schemas.microsoft.com/office/drawing/2014/main" id="{07031293-D46C-4A6A-816C-0B86BB674167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운영 중인 광고를 유형별로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나누고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11번가는 대표 상품부터 검증해 성과에 따라 예산을 재배분합니다</a:t>
            </a:r>
            <a:endParaRPr lang="ko-KR" sz="1900" dirty="0"/>
          </a:p>
        </p:txBody>
      </p:sp>
      <p:sp>
        <p:nvSpPr>
          <p:cNvPr id="3" name="text-325">
            <a:extLst>
              <a:ext uri="{FF2B5EF4-FFF2-40B4-BE49-F238E27FC236}">
                <a16:creationId xmlns:a16="http://schemas.microsoft.com/office/drawing/2014/main" id="{A948AE7F-2DF3-4E15-B2D2-2248EF809117}"/>
              </a:ext>
            </a:extLst>
          </p:cNvPr>
          <p:cNvSpPr>
            <a:spLocks noGrp="1"/>
          </p:cNvSpPr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핵심과제  매체별 운영 구조</a:t>
            </a:r>
            <a:endParaRPr lang="ko-KR" sz="1100" dirty="0"/>
          </a:p>
        </p:txBody>
      </p:sp>
      <p:sp>
        <p:nvSpPr>
          <p:cNvPr id="4" name="text-326">
            <a:extLst>
              <a:ext uri="{FF2B5EF4-FFF2-40B4-BE49-F238E27FC236}">
                <a16:creationId xmlns:a16="http://schemas.microsoft.com/office/drawing/2014/main" id="{7C081767-5B60-41BA-8A2C-C146EC9B64B7}"/>
              </a:ext>
            </a:extLst>
          </p:cNvPr>
          <p:cNvSpPr>
            <a:spLocks noGrp="1"/>
          </p:cNvSpPr>
          <p:nvPr/>
        </p:nvSpPr>
        <p:spPr>
          <a:xfrm>
            <a:off x="552450" y="2057400"/>
            <a:ext cx="65341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  AI Product Ads 유형별 역할</a:t>
            </a:r>
          </a:p>
        </p:txBody>
      </p:sp>
      <p:sp>
        <p:nvSpPr>
          <p:cNvPr id="6" name="text-327">
            <a:extLst>
              <a:ext uri="{FF2B5EF4-FFF2-40B4-BE49-F238E27FC236}">
                <a16:creationId xmlns:a16="http://schemas.microsoft.com/office/drawing/2014/main" id="{AC3D492C-1871-4ECD-A853-BECE383AB7F5}"/>
              </a:ext>
            </a:extLst>
          </p:cNvPr>
          <p:cNvSpPr>
            <a:spLocks noGrp="1"/>
          </p:cNvSpPr>
          <p:nvPr/>
        </p:nvSpPr>
        <p:spPr>
          <a:xfrm>
            <a:off x="8077200" y="2057400"/>
            <a:ext cx="35433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 </a:t>
            </a:r>
            <a:r>
              <a:rPr sz="150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초기</a:t>
            </a: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0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  <a:endParaRPr sz="150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0" name="node-330">
            <a:extLst>
              <a:ext uri="{FF2B5EF4-FFF2-40B4-BE49-F238E27FC236}">
                <a16:creationId xmlns:a16="http://schemas.microsoft.com/office/drawing/2014/main" id="{B3C8D8D8-92C3-4EFA-A5D9-8AA0A256B207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-331">
            <a:extLst>
              <a:ext uri="{FF2B5EF4-FFF2-40B4-BE49-F238E27FC236}">
                <a16:creationId xmlns:a16="http://schemas.microsoft.com/office/drawing/2014/main" id="{1FC95A3F-12DD-464E-815E-860671D9DFF4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지마켓의 CPC는 상한선으로 관리하고, 매체별 상품 ROAS가 확인된 곳에 예산을 확대합니다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3230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AI 자동 운영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432304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직접 관리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00200" y="2546604"/>
            <a:ext cx="4160520" cy="0"/>
          </a:xfrm>
          <a:prstGeom prst="line">
            <a:avLst/>
          </a:prstGeom>
          <a:ln w="9525">
            <a:solidFill>
              <a:srgbClr val="004F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5596128" y="2455164"/>
            <a:ext cx="128016" cy="182880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9808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bo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3099450"/>
            <a:ext cx="201899" cy="2018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9808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통합 운영형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 · 입찰 모두 AI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9808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그 외 상품 소액 탐색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90672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sliders-horizonta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034" y="3099450"/>
            <a:ext cx="201899" cy="2018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90672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집중 운영형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0672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상품은 선택, 입찰은 AI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090672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090672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90672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효소 성과 검증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31536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targe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0898" y="3099450"/>
            <a:ext cx="201899" cy="20189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431536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직접 운영형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1536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 · 키워드 · 입찰가 직접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31536" y="4087368"/>
            <a:ext cx="1792223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31536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31536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 FGO 키워드별 CPC 상한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74152" y="2487168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600" y="2578608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8" y="2654686"/>
            <a:ext cx="140451" cy="140451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41080" y="2487168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브랜드 키워드 우선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4152" y="3063240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229600" y="3154680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8" y="3230758"/>
            <a:ext cx="140451" cy="1404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641080" y="306324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키성장 롱테일 테스트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74152" y="3639312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229600" y="3730752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8" y="3806830"/>
            <a:ext cx="140451" cy="14045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641080" y="3639312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대표 상품 1~2개에 집중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74152" y="4215384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8229600" y="4306824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9" name="Picture 58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8" y="4382902"/>
            <a:ext cx="140451" cy="140451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8641080" y="4215384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 노출 월 1회 점검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8640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97280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동일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키워드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중복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입찰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없이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운영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29767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search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50292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1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검색어 · 상품 성과 확인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4671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rending-up_004F9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79" y="5029200"/>
            <a:ext cx="292608" cy="29260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59535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월간 매체별 ROAS 비교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같은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매체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안에서도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운영형별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ROAS가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차이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때문에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링크프라이스</a:t>
            </a:r>
            <a:r>
              <a:rPr lang="ko-KR" altLang="en-US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자체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리포트로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예산과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CPC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상한을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조정합니다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운영 관리  사내 월간 리포트 (동종 건기식 사례)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같은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기준의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리포트로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비교하고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,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곳에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옮기겠습니다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동종 건기식 광고주 지마켓 실제 운영 데이터 (월 광고비 약 1,000만 원, 링크프라이스 사내 월간 리포트) / 광고수익률 외 수치는 가림 처리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7223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동종 건기식 사례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월 광고비 약 1,000만 원, 캠페인 유형별 데이터</a:t>
            </a:r>
          </a:p>
        </p:txBody>
      </p:sp>
      <p:pic>
        <p:nvPicPr>
          <p:cNvPr id="12" name="Picture 11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7223760" cy="241498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548640" y="4846320"/>
            <a:ext cx="7223760" cy="502920"/>
          </a:xfrm>
          <a:prstGeom prst="roundRect">
            <a:avLst>
              <a:gd name="adj" fmla="val 1454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광고수익률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 420%, 집중 운영형 383%, 직접 운영형 211%, 전체 291%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993392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관리에 쓰는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33172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2331720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31720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운영형별 ROAS 비교</a:t>
            </a:r>
          </a:p>
          <a:p>
            <a:pPr algn="l"/>
            <a:r>
              <a:rPr sz="950" b="0">
                <a:solidFill>
                  <a:srgbClr val="C9DAEE"/>
                </a:solidFill>
                <a:latin typeface="에이투지체 4 Regular"/>
                <a:ea typeface="에이투지체 4 Regular"/>
                <a:cs typeface="에이투지체 4 Regular"/>
              </a:rPr>
              <a:t>통합, 집중, 직접 운영형을 같은 기준으로 비교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099815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57031" y="3099815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099815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예산 재배분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ROAS가 확인된 운영형으로 다음 달 예산 이동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867911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1" y="3867911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867911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CPC 상한 조정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직접 운영형 키워드별 CPC 상한 재설정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46360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57031" y="4636008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636008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상품 구성 반영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운영형별 상품을 성과 기준으로 교체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2560</Words>
  <Application>Microsoft Office PowerPoint</Application>
  <PresentationFormat>와이드스크린</PresentationFormat>
  <Paragraphs>416</Paragraphs>
  <Slides>16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4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9</cp:revision>
  <dcterms:created xsi:type="dcterms:W3CDTF">2026-10-13T10:08:00Z</dcterms:created>
  <dcterms:modified xsi:type="dcterms:W3CDTF">2026-10-13T10:41:06Z</dcterms:modified>
</cp:coreProperties>
</file>