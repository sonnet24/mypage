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385" r:id="rId2"/>
    <p:sldId id="395" r:id="rId3"/>
    <p:sldId id="396" r:id="rId4"/>
    <p:sldId id="397" r:id="rId5"/>
    <p:sldId id="398" r:id="rId6"/>
    <p:sldId id="384" r:id="rId7"/>
    <p:sldId id="399" r:id="rId8"/>
    <p:sldId id="400" r:id="rId9"/>
    <p:sldId id="387" r:id="rId10"/>
    <p:sldId id="388" r:id="rId11"/>
    <p:sldId id="389" r:id="rId12"/>
    <p:sldId id="390" r:id="rId13"/>
    <p:sldId id="391" r:id="rId14"/>
    <p:sldId id="392" r:id="rId15"/>
    <p:sldId id="393" r:id="rId16"/>
    <p:sldId id="386" r:id="rId17"/>
    <p:sldId id="394"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F5C"/>
    <a:srgbClr val="0000FF"/>
    <a:srgbClr val="004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10"/>
  </p:normalViewPr>
  <p:slideViewPr>
    <p:cSldViewPr snapToGrid="0" snapToObjects="1">
      <p:cViewPr varScale="1">
        <p:scale>
          <a:sx n="110" d="100"/>
          <a:sy n="110" d="100"/>
        </p:scale>
        <p:origin x="648"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광고비</c:v>
                </c:pt>
              </c:strCache>
            </c:strRef>
          </c:tx>
          <c:invertIfNegative val="1"/>
          <c:dPt>
            <c:idx val="0"/>
            <c:invertIfNegative val="1"/>
            <c:bubble3D val="0"/>
            <c:spPr>
              <a:solidFill>
                <a:srgbClr val="C9DAEE"/>
              </a:solidFill>
            </c:spPr>
            <c:extLst>
              <c:ext xmlns:c16="http://schemas.microsoft.com/office/drawing/2014/chart" uri="{C3380CC4-5D6E-409C-BE32-E72D297353CC}">
                <c16:uniqueId val="{00000001-8C06-4E72-9953-E814D500A8E3}"/>
              </c:ext>
            </c:extLst>
          </c:dPt>
          <c:dPt>
            <c:idx val="1"/>
            <c:invertIfNegative val="1"/>
            <c:bubble3D val="0"/>
            <c:spPr>
              <a:solidFill>
                <a:srgbClr val="C9DAEE"/>
              </a:solidFill>
            </c:spPr>
            <c:extLst>
              <c:ext xmlns:c16="http://schemas.microsoft.com/office/drawing/2014/chart" uri="{C3380CC4-5D6E-409C-BE32-E72D297353CC}">
                <c16:uniqueId val="{00000003-8C06-4E72-9953-E814D500A8E3}"/>
              </c:ext>
            </c:extLst>
          </c:dPt>
          <c:dPt>
            <c:idx val="2"/>
            <c:invertIfNegative val="1"/>
            <c:bubble3D val="0"/>
            <c:spPr>
              <a:solidFill>
                <a:srgbClr val="C9DAEE"/>
              </a:solidFill>
            </c:spPr>
            <c:extLst>
              <c:ext xmlns:c16="http://schemas.microsoft.com/office/drawing/2014/chart" uri="{C3380CC4-5D6E-409C-BE32-E72D297353CC}">
                <c16:uniqueId val="{00000005-8C06-4E72-9953-E814D500A8E3}"/>
              </c:ext>
            </c:extLst>
          </c:dPt>
          <c:dPt>
            <c:idx val="3"/>
            <c:invertIfNegative val="1"/>
            <c:bubble3D val="0"/>
            <c:spPr>
              <a:solidFill>
                <a:srgbClr val="004F9F"/>
              </a:solidFill>
            </c:spPr>
            <c:extLst>
              <c:ext xmlns:c16="http://schemas.microsoft.com/office/drawing/2014/chart" uri="{C3380CC4-5D6E-409C-BE32-E72D297353CC}">
                <c16:uniqueId val="{00000007-8C06-4E72-9953-E814D500A8E3}"/>
              </c:ext>
            </c:extLst>
          </c:dPt>
          <c:dLbls>
            <c:numFmt formatCode="#,##0&quot;원&quot;" sourceLinked="0"/>
            <c:spPr>
              <a:noFill/>
              <a:ln>
                <a:noFill/>
              </a:ln>
              <a:effectLst/>
            </c:spPr>
            <c:txPr>
              <a:bodyPr/>
              <a:lstStyle/>
              <a:p>
                <a:pPr>
                  <a:defRPr sz="1200" b="0">
                    <a:solidFill>
                      <a:srgbClr val="222222"/>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카무트 효소</c:v>
                </c:pt>
                <c:pt idx="1">
                  <c:v>츄어블 철분</c:v>
                </c:pt>
                <c:pt idx="2">
                  <c:v>멀티비타민</c:v>
                </c:pt>
                <c:pt idx="3">
                  <c:v>키성장 FGO</c:v>
                </c:pt>
              </c:strCache>
            </c:strRef>
          </c:cat>
          <c:val>
            <c:numRef>
              <c:f>Sheet1!$B$2:$B$5</c:f>
              <c:numCache>
                <c:formatCode>General</c:formatCode>
                <c:ptCount val="4"/>
                <c:pt idx="0">
                  <c:v>3885</c:v>
                </c:pt>
                <c:pt idx="1">
                  <c:v>4500</c:v>
                </c:pt>
                <c:pt idx="2">
                  <c:v>4718</c:v>
                </c:pt>
                <c:pt idx="3">
                  <c:v>33525</c:v>
                </c:pt>
              </c:numCache>
            </c:numRef>
          </c:val>
          <c:extLst>
            <c:ext xmlns:c16="http://schemas.microsoft.com/office/drawing/2014/chart" uri="{C3380CC4-5D6E-409C-BE32-E72D297353CC}">
              <c16:uniqueId val="{00000008-8C06-4E72-9953-E814D500A8E3}"/>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DDDDD"/>
            </a:solidFill>
          </a:ln>
        </c:spPr>
        <c:txPr>
          <a:bodyPr/>
          <a:lstStyle/>
          <a:p>
            <a:pPr>
              <a:defRPr sz="1200">
                <a:solidFill>
                  <a:srgbClr val="222222"/>
                </a:solidFill>
              </a:defRPr>
            </a:pPr>
            <a:endParaRPr lang="ko-KR"/>
          </a:p>
        </c:txPr>
        <c:crossAx val="-2113994440"/>
        <c:crosses val="autoZero"/>
        <c:auto val="1"/>
        <c:lblAlgn val="ctr"/>
        <c:lblOffset val="100"/>
        <c:noMultiLvlLbl val="0"/>
      </c:catAx>
      <c:valAx>
        <c:axId val="-2113994440"/>
        <c:scaling>
          <c:orientation val="minMax"/>
          <c:max val="4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에이투지체 5 Medium"/>
          <a:ea typeface="에이투지체 5 Medium"/>
          <a:cs typeface="에이투지체 5 Medium"/>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1708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1·2페이지.쿠팡40%는두드림제공26년10월외부몰집행비중이며11월확정배분아님.상품가격·배송·리뷰는2026-10-12조회기준.10개이하·1상품1캠페인은제안운영원칙.5클릭무전환은원문예시를제외후보검토기준으로완화하고전환반영기간확인후적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오픈마켓_RFP_261012(2).pptx3~5페이지.상품·광고운영현황2026-10-12조회.지마켓AI Product Ads유형은제공상품소개서ver1.4기준이며직접운영형CPC는순위보장아닌상한.운영유형이동과대표1~2개상품검증은제안.11번가·지마켓공식대행이력은사전검토자료27페이지.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쿠팡</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주력 상품이 핵심 검색어 첫 화면에 없습니다</a:t>
            </a:r>
          </a:p>
          <a:p>
            <a:pPr>
              <a:lnSpc>
                <a:spcPts val="2600"/>
              </a:lnSpc>
            </a:pPr>
            <a:r>
              <a:rPr sz="1900" b="0">
                <a:solidFill>
                  <a:srgbClr val="222222"/>
                </a:solidFill>
                <a:latin typeface="에이투지체 8 ExtraBold"/>
                <a:ea typeface="에이투지체 8 ExtraBold"/>
                <a:cs typeface="에이투지체 8 ExtraBold"/>
              </a:rPr>
              <a:t>로켓배송과 리뷰는 이미 갖춘 상태입니다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쿠팡 현황 진단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이미 갖춘 로켓 상품을 대표 검색어와 경쟁사 검색어에서도 보이게 하는 것이 쿠팡의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TF 미디어믹스 가안 / 상품: 2026.10.12 (주)두드림비엔비 쿠팡 브랜드샵 / 검색: 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50-1</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8,500만 원</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11월 외부몰 광고비의 85%</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구매 조건은 갖춰진 상태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주력 상품 모두 로켓 판매</a:t>
            </a:r>
          </a:p>
          <a:p>
            <a:pPr algn="l"/>
            <a:r>
              <a:rPr sz="1300" b="0">
                <a:solidFill>
                  <a:srgbClr val="5C5C5C"/>
                </a:solidFill>
                <a:latin typeface="에이투지체 4 Regular"/>
                <a:ea typeface="에이투지체 4 Regular"/>
                <a:cs typeface="에이투지체 4 Regular"/>
              </a:rPr>
              <a:t>FGO 리뷰 827, 카무트 리뷰 968</a:t>
            </a:r>
          </a:p>
          <a:p>
            <a:pPr algn="l"/>
            <a:r>
              <a:rPr sz="1300" b="0">
                <a:solidFill>
                  <a:srgbClr val="5C5C5C"/>
                </a:solidFill>
                <a:latin typeface="에이투지체 4 Regular"/>
                <a:ea typeface="에이투지체 4 Regular"/>
                <a:cs typeface="에이투지체 4 Regular"/>
              </a:rPr>
              <a:t>외부몰 중 가장 큰 매체</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광고비보다 노출 범위가 과제</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미노출</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대표 검색어 3개 첫 화면</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검색어에서 보이지 않음</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키크는영양제, 카무트효소</a:t>
            </a:r>
          </a:p>
          <a:p>
            <a:pPr algn="l"/>
            <a:r>
              <a:rPr sz="1300" b="0">
                <a:solidFill>
                  <a:srgbClr val="5C5C5C"/>
                </a:solidFill>
                <a:latin typeface="에이투지체 4 Regular"/>
                <a:ea typeface="에이투지체 4 Regular"/>
                <a:cs typeface="에이투지체 4 Regular"/>
              </a:rPr>
              <a:t>첫 화면에 두드림 상품 없음</a:t>
            </a:r>
          </a:p>
          <a:p>
            <a:pPr algn="l"/>
            <a:r>
              <a:rPr sz="1300" b="0">
                <a:solidFill>
                  <a:srgbClr val="5C5C5C"/>
                </a:solidFill>
                <a:latin typeface="에이투지체 4 Regular"/>
                <a:ea typeface="에이투지체 4 Regular"/>
                <a:cs typeface="에이투지체 4 Regular"/>
              </a:rPr>
              <a:t>광고 자리는 키움정, 키앤이거, 그레인온 등</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수요를 경쟁사가 가져감</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키움정</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우리 브랜드 검색 광고 자리</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검색어도 경쟁사가 공략</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아이클타임 검색 첫 줄에 키움정 광고</a:t>
            </a:r>
          </a:p>
          <a:p>
            <a:pPr algn="l"/>
            <a:r>
              <a:rPr sz="1300" b="0">
                <a:solidFill>
                  <a:srgbClr val="5C5C5C"/>
                </a:solidFill>
                <a:latin typeface="에이투지체 4 Regular"/>
                <a:ea typeface="에이투지체 4 Regular"/>
                <a:cs typeface="에이투지체 4 Regular"/>
              </a:rPr>
              <a:t>반대로 키움정, 하우투키 검색에는</a:t>
            </a:r>
          </a:p>
          <a:p>
            <a:pPr algn="l"/>
            <a:r>
              <a:rPr sz="1300" b="0">
                <a:solidFill>
                  <a:srgbClr val="5C5C5C"/>
                </a:solidFill>
                <a:latin typeface="에이투지체 4 Regular"/>
                <a:ea typeface="에이투지체 4 Regular"/>
                <a:cs typeface="에이투지체 4 Regular"/>
              </a:rPr>
              <a:t>두드림 노출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검색어 공략 구조 부재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쿠팡</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경쟁사는 우리 브랜드 검색어에 광고</a:t>
            </a:r>
            <a:r>
              <a:rPr sz="1900" b="0">
                <a:solidFill>
                  <a:srgbClr val="222222"/>
                </a:solidFill>
                <a:latin typeface="에이투지체 8 ExtraBold"/>
                <a:ea typeface="에이투지체 8 ExtraBold"/>
                <a:cs typeface="에이투지체 8 ExtraBold"/>
              </a:rPr>
              <a:t>하고</a:t>
            </a:r>
          </a:p>
          <a:p>
            <a:pPr>
              <a:lnSpc>
                <a:spcPts val="2600"/>
              </a:lnSpc>
            </a:pPr>
            <a:r>
              <a:rPr sz="1900" b="0">
                <a:solidFill>
                  <a:srgbClr val="222222"/>
                </a:solidFill>
                <a:latin typeface="에이투지체 8 ExtraBold"/>
                <a:ea typeface="에이투지체 8 ExtraBold"/>
                <a:cs typeface="에이투지체 8 ExtraBold"/>
              </a:rPr>
              <a:t>우리는 경쟁사 브랜드 검색어에 보이지 않습니다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②  </a:t>
            </a:r>
            <a:r>
              <a:rPr sz="1100" b="0" dirty="0" err="1">
                <a:solidFill>
                  <a:srgbClr val="5C5C5C"/>
                </a:solidFill>
                <a:latin typeface="에이투지체 5 Medium"/>
                <a:ea typeface="에이투지체 5 Medium"/>
                <a:cs typeface="에이투지체 5 Medium"/>
              </a:rPr>
              <a:t>브랜드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 광고 자리를 지키면서, 경쟁사 브랜드 검색어도 제외하지 않고 성과를 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50-2</a:t>
            </a:r>
          </a:p>
        </p:txBody>
      </p:sp>
      <p:sp>
        <p:nvSpPr>
          <p:cNvPr id="11" name="TextBox 10"/>
          <p:cNvSpPr txBox="1"/>
          <p:nvPr/>
        </p:nvSpPr>
        <p:spPr>
          <a:xfrm>
            <a:off x="548640" y="1993392"/>
            <a:ext cx="576072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우리 브랜드  </a:t>
            </a:r>
            <a:r>
              <a:rPr sz="1250" b="0">
                <a:solidFill>
                  <a:srgbClr val="222222"/>
                </a:solidFill>
                <a:latin typeface="에이투지체 6 SemiBold"/>
                <a:ea typeface="에이투지체 6 SemiBold"/>
                <a:cs typeface="에이투지체 6 SemiBold"/>
              </a:rPr>
              <a:t>"아이클타임" 검색, 첫 줄 광고 자리에 키움정</a:t>
            </a:r>
          </a:p>
        </p:txBody>
      </p:sp>
      <p:pic>
        <p:nvPicPr>
          <p:cNvPr id="12" name="Picture 11" descr="aicle.png"/>
          <p:cNvPicPr>
            <a:picLocks noChangeAspect="1"/>
          </p:cNvPicPr>
          <p:nvPr/>
        </p:nvPicPr>
        <p:blipFill>
          <a:blip r:embed="rId2"/>
          <a:stretch>
            <a:fillRect/>
          </a:stretch>
        </p:blipFill>
        <p:spPr>
          <a:xfrm>
            <a:off x="548640" y="2331720"/>
            <a:ext cx="5760720" cy="3174136"/>
          </a:xfrm>
          <a:prstGeom prst="rect">
            <a:avLst/>
          </a:prstGeom>
          <a:ln w="9525">
            <a:solidFill>
              <a:srgbClr val="DDDDDD"/>
            </a:solidFill>
          </a:ln>
        </p:spPr>
      </p:pic>
      <p:sp>
        <p:nvSpPr>
          <p:cNvPr id="13" name="TextBox 12"/>
          <p:cNvSpPr txBox="1"/>
          <p:nvPr/>
        </p:nvSpPr>
        <p:spPr>
          <a:xfrm>
            <a:off x="6583680" y="1993392"/>
            <a:ext cx="50292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브랜드  </a:t>
            </a:r>
            <a:r>
              <a:rPr sz="1250" b="0">
                <a:solidFill>
                  <a:srgbClr val="222222"/>
                </a:solidFill>
                <a:latin typeface="에이투지체 6 SemiBold"/>
                <a:ea typeface="에이투지체 6 SemiBold"/>
                <a:cs typeface="에이투지체 6 SemiBold"/>
              </a:rPr>
              <a:t>두드림 노출 없음</a:t>
            </a:r>
          </a:p>
        </p:txBody>
      </p:sp>
      <p:pic>
        <p:nvPicPr>
          <p:cNvPr id="14" name="Picture 13" descr="kium.png"/>
          <p:cNvPicPr>
            <a:picLocks noChangeAspect="1"/>
          </p:cNvPicPr>
          <p:nvPr/>
        </p:nvPicPr>
        <p:blipFill>
          <a:blip r:embed="rId3"/>
          <a:stretch>
            <a:fillRect/>
          </a:stretch>
        </p:blipFill>
        <p:spPr>
          <a:xfrm>
            <a:off x="6583680" y="2331720"/>
            <a:ext cx="2697480" cy="1503566"/>
          </a:xfrm>
          <a:prstGeom prst="rect">
            <a:avLst/>
          </a:prstGeom>
          <a:ln w="9525">
            <a:solidFill>
              <a:srgbClr val="DDDDDD"/>
            </a:solidFill>
          </a:ln>
        </p:spPr>
      </p:pic>
      <p:sp>
        <p:nvSpPr>
          <p:cNvPr id="15" name="TextBox 14"/>
          <p:cNvSpPr txBox="1"/>
          <p:nvPr/>
        </p:nvSpPr>
        <p:spPr>
          <a:xfrm>
            <a:off x="9464040" y="2606039"/>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"키움정" 검색</a:t>
            </a:r>
          </a:p>
        </p:txBody>
      </p:sp>
      <p:sp>
        <p:nvSpPr>
          <p:cNvPr id="16" name="TextBox 15"/>
          <p:cNvSpPr txBox="1"/>
          <p:nvPr/>
        </p:nvSpPr>
        <p:spPr>
          <a:xfrm>
            <a:off x="9464040" y="29535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첫 화면 전부 키움정</a:t>
            </a:r>
          </a:p>
        </p:txBody>
      </p:sp>
      <p:pic>
        <p:nvPicPr>
          <p:cNvPr id="17" name="Picture 16" descr="howtoki.png"/>
          <p:cNvPicPr>
            <a:picLocks noChangeAspect="1"/>
          </p:cNvPicPr>
          <p:nvPr/>
        </p:nvPicPr>
        <p:blipFill>
          <a:blip r:embed="rId4"/>
          <a:stretch>
            <a:fillRect/>
          </a:stretch>
        </p:blipFill>
        <p:spPr>
          <a:xfrm>
            <a:off x="6583680" y="3931920"/>
            <a:ext cx="2697480" cy="1490971"/>
          </a:xfrm>
          <a:prstGeom prst="rect">
            <a:avLst/>
          </a:prstGeom>
          <a:ln w="9525">
            <a:solidFill>
              <a:srgbClr val="DDDDDD"/>
            </a:solidFill>
          </a:ln>
        </p:spPr>
      </p:pic>
      <p:sp>
        <p:nvSpPr>
          <p:cNvPr id="18" name="TextBox 17"/>
          <p:cNvSpPr txBox="1"/>
          <p:nvPr/>
        </p:nvSpPr>
        <p:spPr>
          <a:xfrm>
            <a:off x="9464040" y="4206240"/>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"하우투키" 검색</a:t>
            </a:r>
          </a:p>
        </p:txBody>
      </p:sp>
      <p:sp>
        <p:nvSpPr>
          <p:cNvPr id="19" name="TextBox 18"/>
          <p:cNvSpPr txBox="1"/>
          <p:nvPr/>
        </p:nvSpPr>
        <p:spPr>
          <a:xfrm>
            <a:off x="9464040" y="45537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광고 자리는 젬, 키앤이거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쿠팡</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 3개</a:t>
            </a:r>
            <a:r>
              <a:rPr sz="1900" b="0">
                <a:solidFill>
                  <a:srgbClr val="222222"/>
                </a:solidFill>
                <a:latin typeface="에이투지체 8 ExtraBold"/>
                <a:ea typeface="에이투지체 8 ExtraBold"/>
                <a:cs typeface="에이투지체 8 ExtraBold"/>
              </a:rPr>
              <a:t> 모두</a:t>
            </a:r>
          </a:p>
          <a:p>
            <a:pPr>
              <a:lnSpc>
                <a:spcPts val="2600"/>
              </a:lnSpc>
            </a:pPr>
            <a:r>
              <a:rPr sz="1900" b="0">
                <a:solidFill>
                  <a:srgbClr val="222222"/>
                </a:solidFill>
                <a:latin typeface="에이투지체 8 ExtraBold"/>
                <a:ea typeface="에이투지체 8 ExtraBold"/>
                <a:cs typeface="에이투지체 8 ExtraBold"/>
              </a:rPr>
              <a:t>첫 화면에 두드림 상품이 없습니다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err="1">
                <a:solidFill>
                  <a:srgbClr val="5C5C5C"/>
                </a:solidFill>
                <a:latin typeface="에이투지체 5 Medium"/>
                <a:ea typeface="에이투지체 5 Medium"/>
                <a:cs typeface="에이투지체 5 Medium"/>
              </a:rPr>
              <a:t>진단</a:t>
            </a:r>
            <a:r>
              <a:rPr sz="1100" b="0">
                <a:solidFill>
                  <a:srgbClr val="5C5C5C"/>
                </a:solidFill>
                <a:latin typeface="에이투지체 5 Medium"/>
                <a:ea typeface="에이투지체 5 Medium"/>
                <a:cs typeface="에이투지체 5 Medium"/>
              </a:rPr>
              <a:t> ③  </a:t>
            </a:r>
            <a:r>
              <a:rPr sz="1100" b="0" dirty="0" err="1">
                <a:solidFill>
                  <a:srgbClr val="5C5C5C"/>
                </a:solidFill>
                <a:latin typeface="에이투지체 5 Medium"/>
                <a:ea typeface="에이투지체 5 Medium"/>
                <a:cs typeface="에이투지체 5 Medium"/>
              </a:rPr>
              <a:t>대표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대표 검색어는 리뷰 수천~수만 개 경쟁사가 광고와 랭킹을 함께 가져가고 있습니다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50-3</a:t>
            </a:r>
          </a:p>
        </p:txBody>
      </p:sp>
      <p:sp>
        <p:nvSpPr>
          <p:cNvPr id="11" name="TextBox 10"/>
          <p:cNvSpPr txBox="1"/>
          <p:nvPr/>
        </p:nvSpPr>
        <p:spPr>
          <a:xfrm>
            <a:off x="548640"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미노출</a:t>
            </a:r>
          </a:p>
        </p:txBody>
      </p:sp>
      <p:pic>
        <p:nvPicPr>
          <p:cNvPr id="12" name="Picture 11" descr="kisj.png"/>
          <p:cNvPicPr>
            <a:picLocks noChangeAspect="1"/>
          </p:cNvPicPr>
          <p:nvPr/>
        </p:nvPicPr>
        <p:blipFill>
          <a:blip r:embed="rId2"/>
          <a:stretch>
            <a:fillRect/>
          </a:stretch>
        </p:blipFill>
        <p:spPr>
          <a:xfrm>
            <a:off x="548640" y="2331720"/>
            <a:ext cx="3566160" cy="1912531"/>
          </a:xfrm>
          <a:prstGeom prst="rect">
            <a:avLst/>
          </a:prstGeom>
          <a:ln w="9525">
            <a:solidFill>
              <a:srgbClr val="DDDDDD"/>
            </a:solidFill>
          </a:ln>
        </p:spPr>
      </p:pic>
      <p:sp>
        <p:nvSpPr>
          <p:cNvPr id="13" name="TextBox 12"/>
          <p:cNvSpPr txBox="1"/>
          <p:nvPr/>
        </p:nvSpPr>
        <p:spPr>
          <a:xfrm>
            <a:off x="548640"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키움정, 키앤이거, 드림톨, 센치엘, 하이크니</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키앤이거 (2,750), 골밀도 강화 (60), 키클레오 (100)</a:t>
            </a:r>
          </a:p>
        </p:txBody>
      </p:sp>
      <p:sp>
        <p:nvSpPr>
          <p:cNvPr id="14" name="TextBox 13"/>
          <p:cNvSpPr txBox="1"/>
          <p:nvPr/>
        </p:nvSpPr>
        <p:spPr>
          <a:xfrm>
            <a:off x="429767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"키크는영양제"  </a:t>
            </a:r>
            <a:r>
              <a:rPr sz="1250" b="0">
                <a:solidFill>
                  <a:srgbClr val="222222"/>
                </a:solidFill>
                <a:latin typeface="에이투지체 6 SemiBold"/>
                <a:ea typeface="에이투지체 6 SemiBold"/>
                <a:cs typeface="에이투지체 6 SemiBold"/>
              </a:rPr>
              <a:t>두드림 미노출</a:t>
            </a:r>
          </a:p>
        </p:txBody>
      </p:sp>
      <p:pic>
        <p:nvPicPr>
          <p:cNvPr id="15" name="Picture 14" descr="kikeun.png"/>
          <p:cNvPicPr>
            <a:picLocks noChangeAspect="1"/>
          </p:cNvPicPr>
          <p:nvPr/>
        </p:nvPicPr>
        <p:blipFill>
          <a:blip r:embed="rId3"/>
          <a:stretch>
            <a:fillRect/>
          </a:stretch>
        </p:blipFill>
        <p:spPr>
          <a:xfrm>
            <a:off x="4297679" y="2331720"/>
            <a:ext cx="3566160" cy="1990193"/>
          </a:xfrm>
          <a:prstGeom prst="rect">
            <a:avLst/>
          </a:prstGeom>
          <a:ln w="9525">
            <a:solidFill>
              <a:srgbClr val="DDDDDD"/>
            </a:solidFill>
          </a:ln>
        </p:spPr>
      </p:pic>
      <p:sp>
        <p:nvSpPr>
          <p:cNvPr id="16" name="TextBox 15"/>
          <p:cNvSpPr txBox="1"/>
          <p:nvPr/>
        </p:nvSpPr>
        <p:spPr>
          <a:xfrm>
            <a:off x="429767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키앤이거, 키움정, 드림톨, 펜트로반</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키클레오 (100), 알파이 (1,251), 키초스틱</a:t>
            </a:r>
          </a:p>
        </p:txBody>
      </p:sp>
      <p:sp>
        <p:nvSpPr>
          <p:cNvPr id="17" name="TextBox 16"/>
          <p:cNvSpPr txBox="1"/>
          <p:nvPr/>
        </p:nvSpPr>
        <p:spPr>
          <a:xfrm>
            <a:off x="804671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미노출</a:t>
            </a:r>
          </a:p>
        </p:txBody>
      </p:sp>
      <p:pic>
        <p:nvPicPr>
          <p:cNvPr id="18" name="Picture 17" descr="kamut.png"/>
          <p:cNvPicPr>
            <a:picLocks noChangeAspect="1"/>
          </p:cNvPicPr>
          <p:nvPr/>
        </p:nvPicPr>
        <p:blipFill>
          <a:blip r:embed="rId4"/>
          <a:stretch>
            <a:fillRect/>
          </a:stretch>
        </p:blipFill>
        <p:spPr>
          <a:xfrm>
            <a:off x="8046719" y="2331720"/>
            <a:ext cx="3566160" cy="1988404"/>
          </a:xfrm>
          <a:prstGeom prst="rect">
            <a:avLst/>
          </a:prstGeom>
          <a:ln w="9525">
            <a:solidFill>
              <a:srgbClr val="DDDDDD"/>
            </a:solidFill>
          </a:ln>
        </p:spPr>
      </p:pic>
      <p:sp>
        <p:nvSpPr>
          <p:cNvPr id="19" name="TextBox 18"/>
          <p:cNvSpPr txBox="1"/>
          <p:nvPr/>
        </p:nvSpPr>
        <p:spPr>
          <a:xfrm>
            <a:off x="804671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여에스더, 비타민마을, 정품 골든, 동국제약, SSF</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골드 카무트 MAX (1,226), 카무트 골드G (14,664), 그레인온 (3,644)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쿠팡</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매출 최적화 캠페인 안에서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쿠팡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쿠팡에서는 리뷰가 쌓인 로켓 상품을 앞세워 FGO와 다음 히어로 상품의 검색 수요를 넓혀 가겠습니다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50-4</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쿠팡 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캠페인 구조 정리</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목표 ROAS 기준 학습이라 객단가로 나누고</a:t>
            </a:r>
          </a:p>
          <a:p>
            <a:pPr algn="l"/>
            <a:r>
              <a:rPr sz="1100" b="0">
                <a:solidFill>
                  <a:srgbClr val="222222"/>
                </a:solidFill>
                <a:latin typeface="에이투지체 5 Medium"/>
                <a:ea typeface="에이투지체 5 Medium"/>
                <a:cs typeface="에이투지체 5 Medium"/>
              </a:rPr>
              <a:t>리뷰가 쌓인 로켓 상품부터 운영합니다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 B, C</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캠페인별 ROAS</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검색어 노출 확대</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브랜드 검색어는 지키고</a:t>
            </a:r>
          </a:p>
          <a:p>
            <a:pPr algn="l"/>
            <a:r>
              <a:rPr sz="1100" b="0">
                <a:solidFill>
                  <a:srgbClr val="222222"/>
                </a:solidFill>
                <a:latin typeface="에이투지체 5 Medium"/>
                <a:ea typeface="에이투지체 5 Medium"/>
                <a:cs typeface="에이투지체 5 Medium"/>
              </a:rPr>
              <a:t>대표, 경쟁사 검색어는 열어두고 성과를 봅니다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a:t>
            </a:r>
          </a:p>
          <a:p>
            <a:pPr algn="ctr"/>
            <a:r>
              <a:rPr sz="1050" b="0">
                <a:solidFill>
                  <a:srgbClr val="004F9F"/>
                </a:solidFill>
                <a:latin typeface="에이투지체 6 SemiBold"/>
                <a:ea typeface="에이투지체 6 SemiBold"/>
                <a:cs typeface="에이투지체 6 SemiBold"/>
              </a:rPr>
              <a:t>검색어 리포트</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성장 패키지 상품</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FGO에 다른 영양제를 묶은 세트를 등록해</a:t>
            </a:r>
          </a:p>
          <a:p>
            <a:pPr algn="l"/>
            <a:r>
              <a:rPr sz="1100" b="0">
                <a:solidFill>
                  <a:srgbClr val="222222"/>
                </a:solidFill>
                <a:latin typeface="에이투지체 5 Medium"/>
                <a:ea typeface="에이투지체 5 Medium"/>
                <a:cs typeface="에이투지체 5 Medium"/>
              </a:rPr>
              <a:t>어린이영양제 등 넓은 검색어까지 노출합니다</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a:t>
            </a:r>
          </a:p>
          <a:p>
            <a:pPr algn="ctr"/>
            <a:r>
              <a:rPr sz="1050" b="0">
                <a:solidFill>
                  <a:srgbClr val="004F9F"/>
                </a:solidFill>
                <a:latin typeface="에이투지체 6 SemiBold"/>
                <a:ea typeface="에이투지체 6 SemiBold"/>
                <a:cs typeface="에이투지체 6 SemiBold"/>
              </a:rPr>
              <a:t>키성장 캠페인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세트 매출</a:t>
            </a:r>
          </a:p>
          <a:p>
            <a:pPr algn="ctr"/>
            <a:r>
              <a:rPr sz="1100" b="0">
                <a:solidFill>
                  <a:srgbClr val="222222"/>
                </a:solidFill>
                <a:latin typeface="에이투지체 6 SemiBold"/>
                <a:ea typeface="에이투지체 6 SemiBold"/>
                <a:cs typeface="에이투지체 6 SemiBold"/>
              </a:rPr>
              <a:t>FGO 외 매출 비중</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행사 기간 집중</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상시 캠페인을 유지한 채</a:t>
            </a:r>
          </a:p>
          <a:p>
            <a:pPr algn="l"/>
            <a:r>
              <a:rPr sz="1100" b="0">
                <a:solidFill>
                  <a:srgbClr val="222222"/>
                </a:solidFill>
                <a:latin typeface="에이투지체 5 Medium"/>
                <a:ea typeface="에이투지체 5 Medium"/>
                <a:cs typeface="에이투지체 5 Medium"/>
              </a:rPr>
              <a:t>블프 기간 예산과 목표 ROAS만 조정합니다</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기존 캠페인 유지</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행사 기간 ROAS</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쿠팡</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핵심과제 1</a:t>
            </a:r>
            <a:r>
              <a:rPr sz="1900" b="0">
                <a:solidFill>
                  <a:srgbClr val="222222"/>
                </a:solidFill>
                <a:latin typeface="에이투지체 8 ExtraBold"/>
                <a:ea typeface="에이투지체 8 ExtraBold"/>
                <a:cs typeface="에이투지체 8 ExtraBold"/>
              </a:rPr>
              <a:t>  객단가로 캠페인을 나누는 이유</a:t>
            </a:r>
          </a:p>
          <a:p>
            <a:pPr>
              <a:lnSpc>
                <a:spcPts val="2600"/>
              </a:lnSpc>
            </a:pPr>
            <a:r>
              <a:rPr sz="1900" b="0">
                <a:solidFill>
                  <a:srgbClr val="222222"/>
                </a:solidFill>
                <a:latin typeface="에이투지체 8 ExtraBold"/>
                <a:ea typeface="에이투지체 8 ExtraBold"/>
                <a:cs typeface="에이투지체 8 ExtraBold"/>
              </a:rPr>
              <a:t>목표 ROAS로 입찰하기 때문에, 객단가가 다른 상품을 섞으면 한쪽이 밀립니다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매출 최적화 캠페인의 입찰 방식</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고가인 키성장은 단독 캠페인으로 두고, 나머지는 객단가가 비슷한 상품끼리 묶습니다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목표 ROAS 400%는 계산 예시 / 판매가: 2026.10.12 (주)두드림비엔비 쿠팡 브랜드샵 1개 구성 기준 / 판매 1건당 광고비 = 판매가 ÷ 목표 ROAS</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50-5</a:t>
            </a:r>
          </a:p>
        </p:txBody>
      </p:sp>
      <p:sp>
        <p:nvSpPr>
          <p:cNvPr id="11" name="Rounded Rectangle 10"/>
          <p:cNvSpPr/>
          <p:nvPr/>
        </p:nvSpPr>
        <p:spPr>
          <a:xfrm>
            <a:off x="548640" y="2103120"/>
            <a:ext cx="6492240" cy="3291840"/>
          </a:xfrm>
          <a:prstGeom prst="roundRect">
            <a:avLst>
              <a:gd name="adj" fmla="val 222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240280"/>
            <a:ext cx="6035040" cy="320040"/>
          </a:xfrm>
          <a:prstGeom prst="rect">
            <a:avLst/>
          </a:prstGeom>
          <a:noFill/>
        </p:spPr>
        <p:txBody>
          <a:bodyPr wrap="square" lIns="0" tIns="0" rIns="0" bIns="0" anchor="t">
            <a:spAutoFit/>
          </a:bodyPr>
          <a:lstStyle/>
          <a:p>
            <a:pPr algn="l"/>
            <a:r>
              <a:rPr sz="1400" b="0">
                <a:solidFill>
                  <a:srgbClr val="222222"/>
                </a:solidFill>
                <a:latin typeface="에이투지체 8 ExtraBold"/>
                <a:ea typeface="에이투지체 8 ExtraBold"/>
                <a:cs typeface="에이투지체 8 ExtraBold"/>
              </a:rPr>
              <a:t>목표 ROAS 400%일 때, 판매 1건에 쓸 수 있는 광고비</a:t>
            </a:r>
          </a:p>
        </p:txBody>
      </p:sp>
      <p:graphicFrame>
        <p:nvGraphicFramePr>
          <p:cNvPr id="13" name="Chart 12"/>
          <p:cNvGraphicFramePr>
            <a:graphicFrameLocks noGrp="1"/>
          </p:cNvGraphicFramePr>
          <p:nvPr/>
        </p:nvGraphicFramePr>
        <p:xfrm>
          <a:off x="685800" y="2606040"/>
          <a:ext cx="626364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777240" y="4983480"/>
            <a:ext cx="6035040" cy="320040"/>
          </a:xfrm>
          <a:prstGeom prst="rect">
            <a:avLst/>
          </a:prstGeom>
          <a:noFill/>
        </p:spPr>
        <p:txBody>
          <a:bodyPr wrap="square" lIns="0" tIns="0" rIns="0" bIns="0" anchor="t">
            <a:spAutoFit/>
          </a:bodyPr>
          <a:lstStyle/>
          <a:p>
            <a:pPr algn="l"/>
            <a:r>
              <a:rPr sz="1400" b="0">
                <a:solidFill>
                  <a:srgbClr val="004F9F"/>
                </a:solidFill>
                <a:latin typeface="에이투지체 8 ExtraBold"/>
                <a:ea typeface="에이투지체 8 ExtraBold"/>
                <a:cs typeface="에이투지체 8 ExtraBold"/>
              </a:rPr>
              <a:t>약 8.6배  </a:t>
            </a:r>
            <a:r>
              <a:rPr sz="1150" b="0">
                <a:solidFill>
                  <a:srgbClr val="222222"/>
                </a:solidFill>
                <a:latin typeface="에이투지체 6 SemiBold"/>
                <a:ea typeface="에이투지체 6 SemiBold"/>
                <a:cs typeface="에이투지체 6 SemiBold"/>
              </a:rPr>
              <a:t>FGO와 카무트 1개의 판매 1건당 광고비 차이</a:t>
            </a:r>
          </a:p>
        </p:txBody>
      </p:sp>
      <p:sp>
        <p:nvSpPr>
          <p:cNvPr id="15" name="Rounded Rectangle 14"/>
          <p:cNvSpPr/>
          <p:nvPr/>
        </p:nvSpPr>
        <p:spPr>
          <a:xfrm>
            <a:off x="7269480" y="2103120"/>
            <a:ext cx="4343400" cy="1572768"/>
          </a:xfrm>
          <a:prstGeom prst="roundRect">
            <a:avLst>
              <a:gd name="adj" fmla="val 4651"/>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212848"/>
            <a:ext cx="3931920" cy="292608"/>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한 캠페인에 섞으면</a:t>
            </a:r>
          </a:p>
        </p:txBody>
      </p:sp>
      <p:sp>
        <p:nvSpPr>
          <p:cNvPr id="17" name="TextBox 16"/>
          <p:cNvSpPr txBox="1"/>
          <p:nvPr/>
        </p:nvSpPr>
        <p:spPr>
          <a:xfrm>
            <a:off x="7498079" y="2578608"/>
            <a:ext cx="3931920" cy="1051560"/>
          </a:xfrm>
          <a:prstGeom prst="rect">
            <a:avLst/>
          </a:prstGeom>
          <a:noFill/>
        </p:spPr>
        <p:txBody>
          <a:bodyPr wrap="square" lIns="0" tIns="0" rIns="0" bIns="0" anchor="t">
            <a:spAutoFit/>
          </a:bodyPr>
          <a:lstStyle/>
          <a:p>
            <a:pPr algn="l">
              <a:spcAft>
                <a:spcPts val="200"/>
              </a:spcAft>
            </a:pPr>
            <a:r>
              <a:rPr sz="1150" b="0">
                <a:solidFill>
                  <a:srgbClr val="5C5C5C"/>
                </a:solidFill>
                <a:latin typeface="에이투지체 4 Regular"/>
                <a:ea typeface="에이투지체 4 Regular"/>
                <a:cs typeface="에이투지체 4 Regular"/>
              </a:rPr>
              <a:t>저가 상품은 쓸 수 있는 광고비가 적어</a:t>
            </a:r>
          </a:p>
          <a:p>
            <a:pPr algn="l">
              <a:spcAft>
                <a:spcPts val="200"/>
              </a:spcAft>
            </a:pPr>
            <a:r>
              <a:rPr sz="1150" b="0">
                <a:solidFill>
                  <a:srgbClr val="5C5C5C"/>
                </a:solidFill>
                <a:latin typeface="에이투지체 4 Regular"/>
                <a:ea typeface="에이투지체 4 Regular"/>
                <a:cs typeface="에이투지체 4 Regular"/>
              </a:rPr>
              <a:t>입찰에서 밀리고 노출이 줄어듭니다</a:t>
            </a:r>
          </a:p>
          <a:p>
            <a:pPr algn="l">
              <a:spcAft>
                <a:spcPts val="200"/>
              </a:spcAft>
            </a:pPr>
            <a:r>
              <a:rPr sz="1150" b="0">
                <a:solidFill>
                  <a:srgbClr val="5C5C5C"/>
                </a:solidFill>
                <a:latin typeface="에이투지체 4 Regular"/>
                <a:ea typeface="에이투지체 4 Regular"/>
                <a:cs typeface="에이투지체 4 Regular"/>
              </a:rPr>
              <a:t>캠페인 ROAS는 고가 상품 성과에 가려집니다</a:t>
            </a:r>
          </a:p>
        </p:txBody>
      </p:sp>
      <p:sp>
        <p:nvSpPr>
          <p:cNvPr id="18" name="Rounded Rectangle 17"/>
          <p:cNvSpPr/>
          <p:nvPr/>
        </p:nvSpPr>
        <p:spPr>
          <a:xfrm>
            <a:off x="7269480" y="3822191"/>
            <a:ext cx="4343400" cy="1572768"/>
          </a:xfrm>
          <a:prstGeom prst="roundRect">
            <a:avLst>
              <a:gd name="adj" fmla="val 465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79" y="3931920"/>
            <a:ext cx="3931920" cy="292608"/>
          </a:xfrm>
          <a:prstGeom prst="rect">
            <a:avLst/>
          </a:prstGeom>
          <a:noFill/>
        </p:spPr>
        <p:txBody>
          <a:bodyPr wrap="square" lIns="0" tIns="0" rIns="0" bIns="0" anchor="t">
            <a:spAutoFit/>
          </a:bodyPr>
          <a:lstStyle/>
          <a:p>
            <a:pPr algn="l"/>
            <a:r>
              <a:rPr sz="1350" b="0">
                <a:solidFill>
                  <a:srgbClr val="004F9F"/>
                </a:solidFill>
                <a:latin typeface="에이투지체 8 ExtraBold"/>
                <a:ea typeface="에이투지체 8 ExtraBold"/>
                <a:cs typeface="에이투지체 8 ExtraBold"/>
              </a:rPr>
              <a:t>객단가별로 나누면</a:t>
            </a:r>
          </a:p>
        </p:txBody>
      </p:sp>
      <p:sp>
        <p:nvSpPr>
          <p:cNvPr id="20" name="TextBox 19"/>
          <p:cNvSpPr txBox="1"/>
          <p:nvPr/>
        </p:nvSpPr>
        <p:spPr>
          <a:xfrm>
            <a:off x="7498079" y="4297680"/>
            <a:ext cx="3931920" cy="1051560"/>
          </a:xfrm>
          <a:prstGeom prst="rect">
            <a:avLst/>
          </a:prstGeom>
          <a:noFill/>
        </p:spPr>
        <p:txBody>
          <a:bodyPr wrap="square" lIns="0" tIns="0" rIns="0" bIns="0" anchor="t">
            <a:spAutoFit/>
          </a:bodyPr>
          <a:lstStyle/>
          <a:p>
            <a:pPr algn="l">
              <a:spcAft>
                <a:spcPts val="200"/>
              </a:spcAft>
            </a:pPr>
            <a:r>
              <a:rPr sz="1150" b="0">
                <a:solidFill>
                  <a:srgbClr val="222222"/>
                </a:solidFill>
                <a:latin typeface="에이투지체 4 Regular"/>
                <a:ea typeface="에이투지체 4 Regular"/>
                <a:cs typeface="에이투지체 4 Regular"/>
              </a:rPr>
              <a:t>캠페인마다 객단가에 맞는 목표 ROAS 설정</a:t>
            </a:r>
          </a:p>
          <a:p>
            <a:pPr algn="l">
              <a:spcAft>
                <a:spcPts val="200"/>
              </a:spcAft>
            </a:pPr>
            <a:r>
              <a:rPr sz="1150" b="0">
                <a:solidFill>
                  <a:srgbClr val="222222"/>
                </a:solidFill>
                <a:latin typeface="에이투지체 4 Regular"/>
                <a:ea typeface="에이투지체 4 Regular"/>
                <a:cs typeface="에이투지체 4 Regular"/>
              </a:rPr>
              <a:t>저가 상품도 학습과 노출이 유지됩니다</a:t>
            </a:r>
          </a:p>
          <a:p>
            <a:pPr algn="l">
              <a:spcAft>
                <a:spcPts val="200"/>
              </a:spcAft>
            </a:pPr>
            <a:r>
              <a:rPr sz="1150" b="0">
                <a:solidFill>
                  <a:srgbClr val="222222"/>
                </a:solidFill>
                <a:latin typeface="에이투지체 4 Regular"/>
                <a:ea typeface="에이투지체 4 Regular"/>
                <a:cs typeface="에이투지체 4 Regular"/>
              </a:rPr>
              <a:t>상품군별 성과를 따로 판단할 수 있습니다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CH 03 · NOVEMBER PLAN · 쿠팡</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50-6</a:t>
            </a:r>
          </a:p>
        </p:txBody>
      </p:sp>
      <p:sp>
        <p:nvSpPr>
          <p:cNvPr id="2" name="text-316">
            <a:extLst>
              <a:ext uri="{FF2B5EF4-FFF2-40B4-BE49-F238E27FC236}">
                <a16:creationId xmlns:a16="http://schemas.microsoft.com/office/drawing/2014/main" id="{843E8BB5-650C-4AE5-976F-1108B65F67A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고가인 키성장만 따로</a:t>
            </a:r>
            <a:r>
              <a:rPr lang="ko-KR" sz="1900" dirty="0">
                <a:solidFill>
                  <a:srgbClr val="222222"/>
                </a:solidFill>
                <a:latin typeface="에이투지체 8 ExtraBold"/>
                <a:ea typeface="에이투지체 8 ExtraBold"/>
                <a:cs typeface="에이투지체 8 ExtraBold"/>
              </a:rPr>
              <a:t> 운영하고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나머지는 상품군별로 묶어 제외 키워드를 관리합니다</a:t>
            </a:r>
            <a:endParaRPr lang="ko-KR" sz="1900" dirty="0"/>
          </a:p>
        </p:txBody>
      </p:sp>
      <p:sp>
        <p:nvSpPr>
          <p:cNvPr id="3" name="text-317">
            <a:extLst>
              <a:ext uri="{FF2B5EF4-FFF2-40B4-BE49-F238E27FC236}">
                <a16:creationId xmlns:a16="http://schemas.microsoft.com/office/drawing/2014/main" id="{B8E4258E-54B5-4DFC-8333-DCFD9F526E7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쿠팡 핵심과제 1  객단가 기준 캠페인 구성</a:t>
            </a:r>
            <a:endParaRPr lang="ko-KR" sz="1100" dirty="0"/>
          </a:p>
        </p:txBody>
      </p:sp>
      <p:sp>
        <p:nvSpPr>
          <p:cNvPr id="8" name="node-321">
            <a:extLst>
              <a:ext uri="{FF2B5EF4-FFF2-40B4-BE49-F238E27FC236}">
                <a16:creationId xmlns:a16="http://schemas.microsoft.com/office/drawing/2014/main" id="{6F8A91DE-2907-4FB2-BEDF-5F39371F9BF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322">
            <a:extLst>
              <a:ext uri="{FF2B5EF4-FFF2-40B4-BE49-F238E27FC236}">
                <a16:creationId xmlns:a16="http://schemas.microsoft.com/office/drawing/2014/main" id="{47EDEF8F-615E-460E-9002-B4E74015341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11월에는 외부몰 1억 원 중 8,500만 원 배분을 제안하며, 리뷰가 쌓인 로켓 상품부터 성과를 확인합니다</a:t>
            </a:r>
          </a:p>
        </p:txBody>
      </p:sp>
      <p:sp>
        <p:nvSpPr>
          <p:cNvPr id="15" name="Rounded Rectangle 14"/>
          <p:cNvSpPr/>
          <p:nvPr/>
        </p:nvSpPr>
        <p:spPr>
          <a:xfrm>
            <a:off x="548640" y="2103120"/>
            <a:ext cx="3447288" cy="2487168"/>
          </a:xfrm>
          <a:prstGeom prst="roundRect">
            <a:avLst>
              <a:gd name="adj" fmla="val 294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uler_FFFFFF.png"/>
          <p:cNvPicPr>
            <a:picLocks noChangeAspect="1"/>
          </p:cNvPicPr>
          <p:nvPr/>
        </p:nvPicPr>
        <p:blipFill>
          <a:blip r:embed="rId3"/>
          <a:stretch>
            <a:fillRect/>
          </a:stretch>
        </p:blipFill>
        <p:spPr>
          <a:xfrm>
            <a:off x="956096" y="2492288"/>
            <a:ext cx="245790" cy="245790"/>
          </a:xfrm>
          <a:prstGeom prst="rect">
            <a:avLst/>
          </a:prstGeom>
        </p:spPr>
      </p:pic>
      <p:sp>
        <p:nvSpPr>
          <p:cNvPr id="18" name="TextBox 17"/>
          <p:cNvSpPr txBox="1"/>
          <p:nvPr/>
        </p:nvSpPr>
        <p:spPr>
          <a:xfrm>
            <a:off x="1481328"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A</a:t>
            </a:r>
          </a:p>
        </p:txBody>
      </p:sp>
      <p:sp>
        <p:nvSpPr>
          <p:cNvPr id="19" name="TextBox 18"/>
          <p:cNvSpPr txBox="1"/>
          <p:nvPr/>
        </p:nvSpPr>
        <p:spPr>
          <a:xfrm>
            <a:off x="1481328"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키성장</a:t>
            </a:r>
          </a:p>
        </p:txBody>
      </p:sp>
      <p:sp>
        <p:nvSpPr>
          <p:cNvPr id="20" name="TextBox 19"/>
          <p:cNvSpPr txBox="1"/>
          <p:nvPr/>
        </p:nvSpPr>
        <p:spPr>
          <a:xfrm>
            <a:off x="822959"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21" name="TextBox 20"/>
          <p:cNvSpPr txBox="1"/>
          <p:nvPr/>
        </p:nvSpPr>
        <p:spPr>
          <a:xfrm>
            <a:off x="822959" y="3291839"/>
            <a:ext cx="2898648" cy="384048"/>
          </a:xfrm>
          <a:prstGeom prst="rect">
            <a:avLst/>
          </a:prstGeom>
          <a:noFill/>
        </p:spPr>
        <p:txBody>
          <a:bodyPr wrap="square" lIns="0" tIns="0" rIns="0" bIns="0" anchor="t">
            <a:spAutoFit/>
          </a:bodyPr>
          <a:lstStyle/>
          <a:p>
            <a:pPr algn="l">
              <a:spcAft>
                <a:spcPts val="300"/>
              </a:spcAft>
            </a:pPr>
            <a:r>
              <a:rPr sz="1900">
                <a:solidFill>
                  <a:srgbClr val="004F9F"/>
                </a:solidFill>
                <a:latin typeface="에이투지체 8 ExtraBold"/>
                <a:ea typeface="에이투지체 8 ExtraBold"/>
              </a:rPr>
              <a:t>13.4만 원</a:t>
            </a:r>
          </a:p>
        </p:txBody>
      </p:sp>
      <p:sp>
        <p:nvSpPr>
          <p:cNvPr id="22" name="TextBox 21"/>
          <p:cNvSpPr txBox="1"/>
          <p:nvPr/>
        </p:nvSpPr>
        <p:spPr>
          <a:xfrm>
            <a:off x="822959"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키성장 FGO 1박스</a:t>
            </a:r>
          </a:p>
        </p:txBody>
      </p:sp>
      <p:cxnSp>
        <p:nvCxnSpPr>
          <p:cNvPr id="23" name="Connector 22"/>
          <p:cNvCxnSpPr/>
          <p:nvPr/>
        </p:nvCxnSpPr>
        <p:spPr>
          <a:xfrm>
            <a:off x="822959" y="3995927"/>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59"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단독 캠페인 · 목표 ROAS 별도</a:t>
            </a:r>
          </a:p>
          <a:p>
            <a:pPr algn="l">
              <a:spcAft>
                <a:spcPts val="100"/>
              </a:spcAft>
            </a:pPr>
            <a:r>
              <a:rPr sz="950">
                <a:solidFill>
                  <a:srgbClr val="919191"/>
                </a:solidFill>
                <a:latin typeface="에이투지체 4 Regular"/>
                <a:ea typeface="에이투지체 4 Regular"/>
              </a:rPr>
              <a:t>로켓 · 리뷰 827</a:t>
            </a:r>
          </a:p>
        </p:txBody>
      </p:sp>
      <p:sp>
        <p:nvSpPr>
          <p:cNvPr id="25" name="Rounded Rectangle 24"/>
          <p:cNvSpPr/>
          <p:nvPr/>
        </p:nvSpPr>
        <p:spPr>
          <a:xfrm>
            <a:off x="4361688"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636007"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heat_FFFFFF.png"/>
          <p:cNvPicPr>
            <a:picLocks noChangeAspect="1"/>
          </p:cNvPicPr>
          <p:nvPr/>
        </p:nvPicPr>
        <p:blipFill>
          <a:blip r:embed="rId4"/>
          <a:stretch>
            <a:fillRect/>
          </a:stretch>
        </p:blipFill>
        <p:spPr>
          <a:xfrm>
            <a:off x="4769144" y="2492288"/>
            <a:ext cx="245790" cy="245790"/>
          </a:xfrm>
          <a:prstGeom prst="rect">
            <a:avLst/>
          </a:prstGeom>
        </p:spPr>
      </p:pic>
      <p:sp>
        <p:nvSpPr>
          <p:cNvPr id="28" name="TextBox 27"/>
          <p:cNvSpPr txBox="1"/>
          <p:nvPr/>
        </p:nvSpPr>
        <p:spPr>
          <a:xfrm>
            <a:off x="5294375"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B</a:t>
            </a:r>
          </a:p>
        </p:txBody>
      </p:sp>
      <p:sp>
        <p:nvSpPr>
          <p:cNvPr id="29" name="TextBox 28"/>
          <p:cNvSpPr txBox="1"/>
          <p:nvPr/>
        </p:nvSpPr>
        <p:spPr>
          <a:xfrm>
            <a:off x="5294375"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카무트 · 슬림웨이</a:t>
            </a:r>
          </a:p>
        </p:txBody>
      </p:sp>
      <p:sp>
        <p:nvSpPr>
          <p:cNvPr id="30" name="TextBox 29"/>
          <p:cNvSpPr txBox="1"/>
          <p:nvPr/>
        </p:nvSpPr>
        <p:spPr>
          <a:xfrm>
            <a:off x="4636007"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31" name="TextBox 30"/>
          <p:cNvSpPr txBox="1"/>
          <p:nvPr/>
        </p:nvSpPr>
        <p:spPr>
          <a:xfrm>
            <a:off x="4636007"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1.5~6.4만 원</a:t>
            </a:r>
          </a:p>
        </p:txBody>
      </p:sp>
      <p:sp>
        <p:nvSpPr>
          <p:cNvPr id="32" name="TextBox 31"/>
          <p:cNvSpPr txBox="1"/>
          <p:nvPr/>
        </p:nvSpPr>
        <p:spPr>
          <a:xfrm>
            <a:off x="4636007"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카무트 효소 1~6개</a:t>
            </a:r>
          </a:p>
        </p:txBody>
      </p:sp>
      <p:cxnSp>
        <p:nvCxnSpPr>
          <p:cNvPr id="33" name="Connector 32"/>
          <p:cNvCxnSpPr/>
          <p:nvPr/>
        </p:nvCxnSpPr>
        <p:spPr>
          <a:xfrm>
            <a:off x="4636007"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636007"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카무트 중심으로 효율 확보</a:t>
            </a:r>
          </a:p>
          <a:p>
            <a:pPr algn="l">
              <a:spcAft>
                <a:spcPts val="100"/>
              </a:spcAft>
            </a:pPr>
            <a:r>
              <a:rPr sz="950">
                <a:solidFill>
                  <a:srgbClr val="919191"/>
                </a:solidFill>
                <a:latin typeface="에이투지체 4 Regular"/>
                <a:ea typeface="에이투지체 4 Regular"/>
              </a:rPr>
              <a:t>로켓 · 리뷰 968</a:t>
            </a:r>
          </a:p>
        </p:txBody>
      </p:sp>
      <p:sp>
        <p:nvSpPr>
          <p:cNvPr id="35" name="Rounded Rectangle 34"/>
          <p:cNvSpPr/>
          <p:nvPr/>
        </p:nvSpPr>
        <p:spPr>
          <a:xfrm>
            <a:off x="8174736"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449056"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pill_FFFFFF.png"/>
          <p:cNvPicPr>
            <a:picLocks noChangeAspect="1"/>
          </p:cNvPicPr>
          <p:nvPr/>
        </p:nvPicPr>
        <p:blipFill>
          <a:blip r:embed="rId5"/>
          <a:stretch>
            <a:fillRect/>
          </a:stretch>
        </p:blipFill>
        <p:spPr>
          <a:xfrm>
            <a:off x="8582192" y="2492288"/>
            <a:ext cx="245790" cy="245790"/>
          </a:xfrm>
          <a:prstGeom prst="rect">
            <a:avLst/>
          </a:prstGeom>
        </p:spPr>
      </p:pic>
      <p:sp>
        <p:nvSpPr>
          <p:cNvPr id="38" name="TextBox 37"/>
          <p:cNvSpPr txBox="1"/>
          <p:nvPr/>
        </p:nvSpPr>
        <p:spPr>
          <a:xfrm>
            <a:off x="9107424"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C</a:t>
            </a:r>
          </a:p>
        </p:txBody>
      </p:sp>
      <p:sp>
        <p:nvSpPr>
          <p:cNvPr id="39" name="TextBox 38"/>
          <p:cNvSpPr txBox="1"/>
          <p:nvPr/>
        </p:nvSpPr>
        <p:spPr>
          <a:xfrm>
            <a:off x="9107424"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아이클타임 데일리</a:t>
            </a:r>
          </a:p>
        </p:txBody>
      </p:sp>
      <p:sp>
        <p:nvSpPr>
          <p:cNvPr id="40" name="TextBox 39"/>
          <p:cNvSpPr txBox="1"/>
          <p:nvPr/>
        </p:nvSpPr>
        <p:spPr>
          <a:xfrm>
            <a:off x="8449056"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41" name="TextBox 40"/>
          <p:cNvSpPr txBox="1"/>
          <p:nvPr/>
        </p:nvSpPr>
        <p:spPr>
          <a:xfrm>
            <a:off x="8449056"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1.8~4.3만 원</a:t>
            </a:r>
          </a:p>
        </p:txBody>
      </p:sp>
      <p:sp>
        <p:nvSpPr>
          <p:cNvPr id="42" name="TextBox 41"/>
          <p:cNvSpPr txBox="1"/>
          <p:nvPr/>
        </p:nvSpPr>
        <p:spPr>
          <a:xfrm>
            <a:off x="8449056"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철분 · 유산균 · 칼마디 · 멀티비타민</a:t>
            </a:r>
          </a:p>
        </p:txBody>
      </p:sp>
      <p:cxnSp>
        <p:nvCxnSpPr>
          <p:cNvPr id="43" name="Connector 42"/>
          <p:cNvCxnSpPr/>
          <p:nvPr/>
        </p:nvCxnSpPr>
        <p:spPr>
          <a:xfrm>
            <a:off x="8449056"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449056"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철분 · 유산균부터 추가</a:t>
            </a:r>
          </a:p>
          <a:p>
            <a:pPr algn="l">
              <a:spcAft>
                <a:spcPts val="100"/>
              </a:spcAft>
            </a:pPr>
            <a:r>
              <a:rPr sz="950">
                <a:solidFill>
                  <a:srgbClr val="919191"/>
                </a:solidFill>
                <a:latin typeface="에이투지체 4 Regular"/>
                <a:ea typeface="에이투지체 4 Regular"/>
              </a:rPr>
              <a:t>로켓 · 리뷰 65~588</a:t>
            </a:r>
          </a:p>
        </p:txBody>
      </p:sp>
      <p:sp>
        <p:nvSpPr>
          <p:cNvPr id="45" name="Rounded Rectangle 44"/>
          <p:cNvSpPr/>
          <p:nvPr/>
        </p:nvSpPr>
        <p:spPr>
          <a:xfrm>
            <a:off x="548640"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package_004F9F.png"/>
          <p:cNvPicPr>
            <a:picLocks noChangeAspect="1"/>
          </p:cNvPicPr>
          <p:nvPr/>
        </p:nvPicPr>
        <p:blipFill>
          <a:blip r:embed="rId6"/>
          <a:stretch>
            <a:fillRect/>
          </a:stretch>
        </p:blipFill>
        <p:spPr>
          <a:xfrm>
            <a:off x="685800" y="4837176"/>
            <a:ext cx="292608" cy="292608"/>
          </a:xfrm>
          <a:prstGeom prst="rect">
            <a:avLst/>
          </a:prstGeom>
        </p:spPr>
      </p:pic>
      <p:sp>
        <p:nvSpPr>
          <p:cNvPr id="47" name="TextBox 46"/>
          <p:cNvSpPr txBox="1"/>
          <p:nvPr/>
        </p:nvSpPr>
        <p:spPr>
          <a:xfrm>
            <a:off x="1097280"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캠페인당 상품 10개 이하</a:t>
            </a:r>
          </a:p>
        </p:txBody>
      </p:sp>
      <p:sp>
        <p:nvSpPr>
          <p:cNvPr id="48" name="Rounded Rectangle 47"/>
          <p:cNvSpPr/>
          <p:nvPr/>
        </p:nvSpPr>
        <p:spPr>
          <a:xfrm>
            <a:off x="429767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copy-x_004F9F.png"/>
          <p:cNvPicPr>
            <a:picLocks noChangeAspect="1"/>
          </p:cNvPicPr>
          <p:nvPr/>
        </p:nvPicPr>
        <p:blipFill>
          <a:blip r:embed="rId7"/>
          <a:stretch>
            <a:fillRect/>
          </a:stretch>
        </p:blipFill>
        <p:spPr>
          <a:xfrm>
            <a:off x="4434840" y="4837176"/>
            <a:ext cx="292608" cy="292608"/>
          </a:xfrm>
          <a:prstGeom prst="rect">
            <a:avLst/>
          </a:prstGeom>
        </p:spPr>
      </p:pic>
      <p:sp>
        <p:nvSpPr>
          <p:cNvPr id="50" name="TextBox 49"/>
          <p:cNvSpPr txBox="1"/>
          <p:nvPr/>
        </p:nvSpPr>
        <p:spPr>
          <a:xfrm>
            <a:off x="484631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51" name="Rounded Rectangle 50"/>
          <p:cNvSpPr/>
          <p:nvPr/>
        </p:nvSpPr>
        <p:spPr>
          <a:xfrm>
            <a:off x="804671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calendar-check_004F9F.png"/>
          <p:cNvPicPr>
            <a:picLocks noChangeAspect="1"/>
          </p:cNvPicPr>
          <p:nvPr/>
        </p:nvPicPr>
        <p:blipFill>
          <a:blip r:embed="rId8"/>
          <a:stretch>
            <a:fillRect/>
          </a:stretch>
        </p:blipFill>
        <p:spPr>
          <a:xfrm>
            <a:off x="8183879" y="4837176"/>
            <a:ext cx="292608" cy="292608"/>
          </a:xfrm>
          <a:prstGeom prst="rect">
            <a:avLst/>
          </a:prstGeom>
        </p:spPr>
      </p:pic>
      <p:sp>
        <p:nvSpPr>
          <p:cNvPr id="53" name="TextBox 52"/>
          <p:cNvSpPr txBox="1"/>
          <p:nvPr/>
        </p:nvSpPr>
        <p:spPr>
          <a:xfrm>
            <a:off x="859535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검색어 · 상품 성과 주간 점검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쿠팡</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핵심과제 2</a:t>
            </a:r>
            <a:r>
              <a:rPr sz="1900" b="0">
                <a:solidFill>
                  <a:srgbClr val="222222"/>
                </a:solidFill>
                <a:latin typeface="에이투지체 8 ExtraBold"/>
                <a:ea typeface="에이투지체 8 ExtraBold"/>
                <a:cs typeface="에이투지체 8 ExtraBold"/>
              </a:rPr>
              <a:t>  검색어 노출 확대</a:t>
            </a:r>
          </a:p>
          <a:p>
            <a:pPr>
              <a:lnSpc>
                <a:spcPts val="2600"/>
              </a:lnSpc>
            </a:pPr>
            <a:r>
              <a:rPr sz="1900" b="0">
                <a:solidFill>
                  <a:srgbClr val="222222"/>
                </a:solidFill>
                <a:latin typeface="에이투지체 8 ExtraBold"/>
                <a:ea typeface="에이투지체 8 ExtraBold"/>
                <a:cs typeface="에이투지체 8 ExtraBold"/>
              </a:rPr>
              <a:t>지킬 검색어와 넓힐 검색어를 나눠 관리합니다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검색어 유형별 운영</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검색어는 매출 최적화 캠페인의 제외 설정으로 관리하고, 성과가 확인된 검색어부터 넓힙니다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경쟁사명은 검색어로만 활용하고 상품명과 소재에는 사용하지 않습니다</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50-7</a:t>
            </a:r>
          </a:p>
        </p:txBody>
      </p:sp>
      <p:sp>
        <p:nvSpPr>
          <p:cNvPr id="11" name="Rounded Rectangle 10"/>
          <p:cNvSpPr/>
          <p:nvPr/>
        </p:nvSpPr>
        <p:spPr>
          <a:xfrm>
            <a:off x="548640"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우리 브랜드 검색어</a:t>
            </a:r>
          </a:p>
          <a:p>
            <a:pPr algn="l"/>
            <a:r>
              <a:rPr sz="1200" b="0">
                <a:solidFill>
                  <a:srgbClr val="5C5C5C"/>
                </a:solidFill>
                <a:latin typeface="에이투지체 6 SemiBold"/>
                <a:ea typeface="에이투지체 6 SemiBold"/>
                <a:cs typeface="에이투지체 6 SemiBold"/>
              </a:rPr>
              <a:t>지킵니다</a:t>
            </a:r>
          </a:p>
        </p:txBody>
      </p:sp>
      <p:sp>
        <p:nvSpPr>
          <p:cNvPr id="13" name="TextBox 12"/>
          <p:cNvSpPr txBox="1"/>
          <p:nvPr/>
        </p:nvSpPr>
        <p:spPr>
          <a:xfrm>
            <a:off x="548640"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아이클타임, 두드림, 아이클타임 키성장</a:t>
            </a:r>
          </a:p>
        </p:txBody>
      </p:sp>
      <p:sp>
        <p:nvSpPr>
          <p:cNvPr id="14" name="TextBox 13"/>
          <p:cNvSpPr txBox="1"/>
          <p:nvPr/>
        </p:nvSpPr>
        <p:spPr>
          <a:xfrm>
            <a:off x="548640"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아이클타임 첫 줄에 키움정 광고</a:t>
            </a:r>
          </a:p>
        </p:txBody>
      </p:sp>
      <p:sp>
        <p:nvSpPr>
          <p:cNvPr id="15" name="TextBox 14"/>
          <p:cNvSpPr txBox="1"/>
          <p:nvPr/>
        </p:nvSpPr>
        <p:spPr>
          <a:xfrm>
            <a:off x="548640"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없이 상시 노출</a:t>
            </a:r>
          </a:p>
          <a:p>
            <a:pPr algn="l">
              <a:spcAft>
                <a:spcPts val="200"/>
              </a:spcAft>
            </a:pPr>
            <a:r>
              <a:rPr sz="1150" b="0">
                <a:solidFill>
                  <a:srgbClr val="222222"/>
                </a:solidFill>
                <a:latin typeface="에이투지체 4 Regular"/>
                <a:ea typeface="에이투지체 4 Regular"/>
                <a:cs typeface="에이투지체 4 Regular"/>
              </a:rPr>
              <a:t>          브랜드 검색 광고 자리 주간 확인</a:t>
            </a:r>
          </a:p>
        </p:txBody>
      </p:sp>
      <p:cxnSp>
        <p:nvCxnSpPr>
          <p:cNvPr id="16" name="Connector 15"/>
          <p:cNvCxnSpPr/>
          <p:nvPr/>
        </p:nvCxnSpPr>
        <p:spPr>
          <a:xfrm>
            <a:off x="548640"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브랜드 검색어 전환</a:t>
            </a:r>
          </a:p>
        </p:txBody>
      </p:sp>
      <p:sp>
        <p:nvSpPr>
          <p:cNvPr id="18" name="Rounded Rectangle 17"/>
          <p:cNvSpPr/>
          <p:nvPr/>
        </p:nvSpPr>
        <p:spPr>
          <a:xfrm>
            <a:off x="4361688"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대표 검색어</a:t>
            </a:r>
          </a:p>
          <a:p>
            <a:pPr algn="l"/>
            <a:r>
              <a:rPr sz="1200" b="0">
                <a:solidFill>
                  <a:srgbClr val="5C5C5C"/>
                </a:solidFill>
                <a:latin typeface="에이투지체 6 SemiBold"/>
                <a:ea typeface="에이투지체 6 SemiBold"/>
                <a:cs typeface="에이투지체 6 SemiBold"/>
              </a:rPr>
              <a:t>넓힙니다</a:t>
            </a:r>
          </a:p>
        </p:txBody>
      </p:sp>
      <p:sp>
        <p:nvSpPr>
          <p:cNvPr id="20" name="TextBox 19"/>
          <p:cNvSpPr txBox="1"/>
          <p:nvPr/>
        </p:nvSpPr>
        <p:spPr>
          <a:xfrm>
            <a:off x="4361688"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키성장영양제, 키크는영양제, 카무트효소</a:t>
            </a:r>
          </a:p>
        </p:txBody>
      </p:sp>
      <p:sp>
        <p:nvSpPr>
          <p:cNvPr id="21" name="TextBox 20"/>
          <p:cNvSpPr txBox="1"/>
          <p:nvPr/>
        </p:nvSpPr>
        <p:spPr>
          <a:xfrm>
            <a:off x="4361688"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첫 화면 미노출</a:t>
            </a:r>
          </a:p>
        </p:txBody>
      </p:sp>
      <p:sp>
        <p:nvSpPr>
          <p:cNvPr id="22" name="TextBox 21"/>
          <p:cNvSpPr txBox="1"/>
          <p:nvPr/>
        </p:nvSpPr>
        <p:spPr>
          <a:xfrm>
            <a:off x="4361688"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리뷰 많은 FGO, 카무트 중심 노출</a:t>
            </a:r>
          </a:p>
          <a:p>
            <a:pPr algn="l">
              <a:spcAft>
                <a:spcPts val="200"/>
              </a:spcAft>
            </a:pPr>
            <a:r>
              <a:rPr sz="1150" b="0">
                <a:solidFill>
                  <a:srgbClr val="222222"/>
                </a:solidFill>
                <a:latin typeface="에이투지체 4 Regular"/>
                <a:ea typeface="에이투지체 4 Regular"/>
                <a:cs typeface="에이투지체 4 Regular"/>
              </a:rPr>
              <a:t>          예산과 목표 ROAS로 노출 범위 조정</a:t>
            </a:r>
          </a:p>
        </p:txBody>
      </p:sp>
      <p:cxnSp>
        <p:nvCxnSpPr>
          <p:cNvPr id="23" name="Connector 22"/>
          <p:cNvCxnSpPr/>
          <p:nvPr/>
        </p:nvCxnSpPr>
        <p:spPr>
          <a:xfrm>
            <a:off x="4361688" y="4663440"/>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대표 검색어 노출, 전환</a:t>
            </a:r>
          </a:p>
        </p:txBody>
      </p:sp>
      <p:sp>
        <p:nvSpPr>
          <p:cNvPr id="25" name="Rounded Rectangle 24"/>
          <p:cNvSpPr/>
          <p:nvPr/>
        </p:nvSpPr>
        <p:spPr>
          <a:xfrm>
            <a:off x="8174736" y="2103120"/>
            <a:ext cx="3447288" cy="868680"/>
          </a:xfrm>
          <a:prstGeom prst="roundRect">
            <a:avLst>
              <a:gd name="adj" fmla="val 842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03120"/>
            <a:ext cx="3017520" cy="868680"/>
          </a:xfrm>
          <a:prstGeom prst="rect">
            <a:avLst/>
          </a:prstGeom>
          <a:noFill/>
        </p:spPr>
        <p:txBody>
          <a:bodyPr wrap="square" lIns="0" tIns="0" rIns="0" bIns="0" anchor="ctr">
            <a:spAutoFit/>
          </a:bodyPr>
          <a:lstStyle/>
          <a:p>
            <a:pPr algn="l"/>
            <a:r>
              <a:rPr sz="1500" b="0">
                <a:solidFill>
                  <a:srgbClr val="FFFFFF"/>
                </a:solidFill>
                <a:latin typeface="에이투지체 8 ExtraBold"/>
                <a:ea typeface="에이투지체 8 ExtraBold"/>
                <a:cs typeface="에이투지체 8 ExtraBold"/>
              </a:rPr>
              <a:t>경쟁사 브랜드 검색어</a:t>
            </a:r>
          </a:p>
          <a:p>
            <a:pPr algn="l"/>
            <a:r>
              <a:rPr sz="1200" b="0">
                <a:solidFill>
                  <a:srgbClr val="C9DAEE"/>
                </a:solidFill>
                <a:latin typeface="에이투지체 6 SemiBold"/>
                <a:ea typeface="에이투지체 6 SemiBold"/>
                <a:cs typeface="에이투지체 6 SemiBold"/>
              </a:rPr>
              <a:t>열어둡니다</a:t>
            </a:r>
          </a:p>
        </p:txBody>
      </p:sp>
      <p:sp>
        <p:nvSpPr>
          <p:cNvPr id="27" name="TextBox 26"/>
          <p:cNvSpPr txBox="1"/>
          <p:nvPr/>
        </p:nvSpPr>
        <p:spPr>
          <a:xfrm>
            <a:off x="8174736"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키움정, 하우투키, 키앤이거, 키클레오</a:t>
            </a:r>
          </a:p>
        </p:txBody>
      </p:sp>
      <p:sp>
        <p:nvSpPr>
          <p:cNvPr id="28" name="TextBox 27"/>
          <p:cNvSpPr txBox="1"/>
          <p:nvPr/>
        </p:nvSpPr>
        <p:spPr>
          <a:xfrm>
            <a:off x="8174736"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두드림 노출 없음</a:t>
            </a:r>
          </a:p>
        </p:txBody>
      </p:sp>
      <p:sp>
        <p:nvSpPr>
          <p:cNvPr id="29" name="TextBox 28"/>
          <p:cNvSpPr txBox="1"/>
          <p:nvPr/>
        </p:nvSpPr>
        <p:spPr>
          <a:xfrm>
            <a:off x="8174736"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키워드로 막지 않고 성과 확인</a:t>
            </a:r>
          </a:p>
          <a:p>
            <a:pPr algn="l">
              <a:spcAft>
                <a:spcPts val="200"/>
              </a:spcAft>
            </a:pPr>
            <a:r>
              <a:rPr sz="1150" b="0">
                <a:solidFill>
                  <a:srgbClr val="222222"/>
                </a:solidFill>
                <a:latin typeface="에이투지체 4 Regular"/>
                <a:ea typeface="에이투지체 4 Regular"/>
                <a:cs typeface="에이투지체 4 Regular"/>
              </a:rPr>
              <a:t>          5클릭 이상 무전환 검색어만 제외</a:t>
            </a:r>
          </a:p>
        </p:txBody>
      </p:sp>
      <p:cxnSp>
        <p:nvCxnSpPr>
          <p:cNvPr id="30" name="Connector 29"/>
          <p:cNvCxnSpPr/>
          <p:nvPr/>
        </p:nvCxnSpPr>
        <p:spPr>
          <a:xfrm>
            <a:off x="8174736"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경쟁사 검색어 전환</a:t>
            </a:r>
          </a:p>
        </p:txBody>
      </p:sp>
      <p:sp>
        <p:nvSpPr>
          <p:cNvPr id="32" name="Rounded Rectangle 31"/>
          <p:cNvSpPr/>
          <p:nvPr/>
        </p:nvSpPr>
        <p:spPr>
          <a:xfrm>
            <a:off x="548640" y="5102352"/>
            <a:ext cx="11064240" cy="365760"/>
          </a:xfrm>
          <a:prstGeom prst="roundRect">
            <a:avLst>
              <a:gd name="adj" fmla="val 2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102352"/>
            <a:ext cx="10698480" cy="36576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확장 검토  </a:t>
            </a:r>
            <a:r>
              <a:rPr sz="1150" b="0">
                <a:solidFill>
                  <a:srgbClr val="222222"/>
                </a:solidFill>
                <a:latin typeface="에이투지체 5 Medium"/>
                <a:ea typeface="에이투지체 5 Medium"/>
                <a:cs typeface="에이투지체 5 Medium"/>
              </a:rPr>
              <a:t>경쟁사, 브랜드 검색어 성과가 확인되면 수동 성과형 캠페인 도입을 검토합니다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쿠팡</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핵심과제 3</a:t>
            </a:r>
            <a:r>
              <a:rPr sz="1900" b="0">
                <a:solidFill>
                  <a:srgbClr val="222222"/>
                </a:solidFill>
                <a:latin typeface="에이투지체 8 ExtraBold"/>
                <a:ea typeface="에이투지체 8 ExtraBold"/>
                <a:cs typeface="에이투지체 8 ExtraBold"/>
              </a:rPr>
              <a:t>  성장 패키지 상품</a:t>
            </a:r>
          </a:p>
          <a:p>
            <a:pPr>
              <a:lnSpc>
                <a:spcPts val="2600"/>
              </a:lnSpc>
            </a:pPr>
            <a:r>
              <a:rPr sz="1900" b="0">
                <a:solidFill>
                  <a:srgbClr val="222222"/>
                </a:solidFill>
                <a:latin typeface="에이투지체 8 ExtraBold"/>
                <a:ea typeface="에이투지체 8 ExtraBold"/>
                <a:cs typeface="에이투지체 8 ExtraBold"/>
              </a:rPr>
              <a:t>대표 상품에 다른 영양제를 묶어, 넓은 검색어까지 노출합니다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경쟁사 사례와 두드림 성장 패키지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FGO 고객을 다음 상품으로 넓히는 성장 패키지를, 쿠팡에서는 세트 상품으로 판매하고 광고합니다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 사례: 2026.10.13 쿠팡 "어린이영양제" 검색 결과와 상품 페이지 기준 / 패키지 구성은 GFA 핵심과제 2와 동일하며, 구성과 가격은 두드림과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50-8</a:t>
            </a:r>
          </a:p>
        </p:txBody>
      </p:sp>
      <p:sp>
        <p:nvSpPr>
          <p:cNvPr id="11" name="TextBox 10"/>
          <p:cNvSpPr txBox="1"/>
          <p:nvPr/>
        </p:nvSpPr>
        <p:spPr>
          <a:xfrm>
            <a:off x="548640" y="1993392"/>
            <a:ext cx="60350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사례  </a:t>
            </a:r>
            <a:r>
              <a:rPr sz="1250" b="0">
                <a:solidFill>
                  <a:srgbClr val="222222"/>
                </a:solidFill>
                <a:latin typeface="에이투지체 6 SemiBold"/>
                <a:ea typeface="에이투지체 6 SemiBold"/>
                <a:cs typeface="에이투지체 6 SemiBold"/>
              </a:rPr>
              <a:t>키움정 + 멀티비타민 구미젤리 특가세트</a:t>
            </a:r>
          </a:p>
        </p:txBody>
      </p:sp>
      <p:pic>
        <p:nvPicPr>
          <p:cNvPr id="12" name="Picture 11" descr="kids.png"/>
          <p:cNvPicPr>
            <a:picLocks noChangeAspect="1"/>
          </p:cNvPicPr>
          <p:nvPr/>
        </p:nvPicPr>
        <p:blipFill>
          <a:blip r:embed="rId2"/>
          <a:stretch>
            <a:fillRect/>
          </a:stretch>
        </p:blipFill>
        <p:spPr>
          <a:xfrm>
            <a:off x="548640" y="2331720"/>
            <a:ext cx="3108960" cy="3088289"/>
          </a:xfrm>
          <a:prstGeom prst="rect">
            <a:avLst/>
          </a:prstGeom>
          <a:ln w="9525">
            <a:solidFill>
              <a:srgbClr val="DDDDDD"/>
            </a:solidFill>
          </a:ln>
        </p:spPr>
      </p:pic>
      <p:pic>
        <p:nvPicPr>
          <p:cNvPr id="13" name="Picture 12" descr="kium_set.png"/>
          <p:cNvPicPr>
            <a:picLocks noChangeAspect="1"/>
          </p:cNvPicPr>
          <p:nvPr/>
        </p:nvPicPr>
        <p:blipFill>
          <a:blip r:embed="rId3"/>
          <a:stretch>
            <a:fillRect/>
          </a:stretch>
        </p:blipFill>
        <p:spPr>
          <a:xfrm>
            <a:off x="3794760" y="2331720"/>
            <a:ext cx="3017520" cy="981839"/>
          </a:xfrm>
          <a:prstGeom prst="rect">
            <a:avLst/>
          </a:prstGeom>
          <a:ln w="9525">
            <a:solidFill>
              <a:srgbClr val="DDDDDD"/>
            </a:solidFill>
          </a:ln>
        </p:spPr>
      </p:pic>
      <p:sp>
        <p:nvSpPr>
          <p:cNvPr id="14" name="TextBox 13"/>
          <p:cNvSpPr txBox="1"/>
          <p:nvPr/>
        </p:nvSpPr>
        <p:spPr>
          <a:xfrm>
            <a:off x="3794760" y="3429000"/>
            <a:ext cx="3017520" cy="201168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구성  </a:t>
            </a:r>
            <a:r>
              <a:rPr sz="1100" b="0">
                <a:solidFill>
                  <a:srgbClr val="222222"/>
                </a:solidFill>
                <a:latin typeface="에이투지체 4 Regular"/>
                <a:ea typeface="에이투지체 4 Regular"/>
                <a:cs typeface="에이투지체 4 Regular"/>
              </a:rPr>
              <a:t>키움정 1병 + 멀티비타민 구미젤리 1박스</a:t>
            </a:r>
          </a:p>
          <a:p>
            <a:pPr algn="l">
              <a:spcAft>
                <a:spcPts val="600"/>
              </a:spcAft>
            </a:pPr>
            <a:r>
              <a:rPr sz="1100" b="0">
                <a:solidFill>
                  <a:srgbClr val="004F9F"/>
                </a:solidFill>
                <a:latin typeface="에이투지체 6 SemiBold"/>
                <a:ea typeface="에이투지체 6 SemiBold"/>
                <a:cs typeface="에이투지체 6 SemiBold"/>
              </a:rPr>
              <a:t>가격  </a:t>
            </a:r>
            <a:r>
              <a:rPr sz="1100" b="0">
                <a:solidFill>
                  <a:srgbClr val="222222"/>
                </a:solidFill>
                <a:latin typeface="에이투지체 4 Regular"/>
                <a:ea typeface="에이투지체 4 Regular"/>
                <a:cs typeface="에이투지체 4 Regular"/>
              </a:rPr>
              <a:t>58,900원 (정가 대비 25% 할인)</a:t>
            </a:r>
          </a:p>
          <a:p>
            <a:pPr algn="l">
              <a:spcAft>
                <a:spcPts val="600"/>
              </a:spcAft>
            </a:pPr>
            <a:r>
              <a:rPr sz="1100" b="0">
                <a:solidFill>
                  <a:srgbClr val="004F9F"/>
                </a:solidFill>
                <a:latin typeface="에이투지체 6 SemiBold"/>
                <a:ea typeface="에이투지체 6 SemiBold"/>
                <a:cs typeface="에이투지체 6 SemiBold"/>
              </a:rPr>
              <a:t>노출  </a:t>
            </a:r>
            <a:r>
              <a:rPr sz="1100" b="0">
                <a:solidFill>
                  <a:srgbClr val="222222"/>
                </a:solidFill>
                <a:latin typeface="에이투지체 4 Regular"/>
                <a:ea typeface="에이투지체 4 Regular"/>
                <a:cs typeface="에이투지체 4 Regular"/>
              </a:rPr>
              <a:t>"어린이영양제" 첫 화면</a:t>
            </a:r>
          </a:p>
          <a:p>
            <a:pPr algn="l">
              <a:spcAft>
                <a:spcPts val="600"/>
              </a:spcAft>
            </a:pPr>
            <a:r>
              <a:rPr sz="1100" b="0">
                <a:solidFill>
                  <a:srgbClr val="004F9F"/>
                </a:solidFill>
                <a:latin typeface="에이투지체 6 SemiBold"/>
                <a:ea typeface="에이투지체 6 SemiBold"/>
                <a:cs typeface="에이투지체 6 SemiBold"/>
              </a:rPr>
              <a:t>효과  </a:t>
            </a:r>
            <a:r>
              <a:rPr sz="1100" b="0">
                <a:solidFill>
                  <a:srgbClr val="222222"/>
                </a:solidFill>
                <a:latin typeface="에이투지체 4 Regular"/>
                <a:ea typeface="에이투지체 4 Regular"/>
                <a:cs typeface="에이투지체 4 Regular"/>
              </a:rPr>
              <a:t>키 성장 검색 밖의 수요까지 대표 상품으로 연결</a:t>
            </a:r>
          </a:p>
        </p:txBody>
      </p:sp>
      <p:sp>
        <p:nvSpPr>
          <p:cNvPr id="15" name="Rounded Rectangle 14"/>
          <p:cNvSpPr/>
          <p:nvPr/>
        </p:nvSpPr>
        <p:spPr>
          <a:xfrm>
            <a:off x="7040880" y="2103120"/>
            <a:ext cx="4572000" cy="3310128"/>
          </a:xfrm>
          <a:prstGeom prst="roundRect">
            <a:avLst>
              <a:gd name="adj" fmla="val 22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9480" y="2212848"/>
            <a:ext cx="411480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두드림 성장 패키지 (쿠팡 세트 상품)</a:t>
            </a:r>
          </a:p>
        </p:txBody>
      </p:sp>
      <p:sp>
        <p:nvSpPr>
          <p:cNvPr id="17" name="Rounded Rectangle 16"/>
          <p:cNvSpPr/>
          <p:nvPr/>
        </p:nvSpPr>
        <p:spPr>
          <a:xfrm>
            <a:off x="7269480" y="2633472"/>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2633472"/>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성장 시작</a:t>
            </a:r>
          </a:p>
        </p:txBody>
      </p:sp>
      <p:sp>
        <p:nvSpPr>
          <p:cNvPr id="19" name="TextBox 18"/>
          <p:cNvSpPr txBox="1"/>
          <p:nvPr/>
        </p:nvSpPr>
        <p:spPr>
          <a:xfrm>
            <a:off x="8613648" y="2633472"/>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4~7세</a:t>
            </a:r>
          </a:p>
        </p:txBody>
      </p:sp>
      <p:sp>
        <p:nvSpPr>
          <p:cNvPr id="20" name="TextBox 19"/>
          <p:cNvSpPr txBox="1"/>
          <p:nvPr/>
        </p:nvSpPr>
        <p:spPr>
          <a:xfrm>
            <a:off x="9281160" y="2633472"/>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츄어블 칼마디</a:t>
            </a:r>
          </a:p>
        </p:txBody>
      </p:sp>
      <p:sp>
        <p:nvSpPr>
          <p:cNvPr id="21" name="Rounded Rectangle 20"/>
          <p:cNvSpPr/>
          <p:nvPr/>
        </p:nvSpPr>
        <p:spPr>
          <a:xfrm>
            <a:off x="7269480" y="3145536"/>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9480" y="3145536"/>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초등 성장</a:t>
            </a:r>
          </a:p>
        </p:txBody>
      </p:sp>
      <p:sp>
        <p:nvSpPr>
          <p:cNvPr id="23" name="TextBox 22"/>
          <p:cNvSpPr txBox="1"/>
          <p:nvPr/>
        </p:nvSpPr>
        <p:spPr>
          <a:xfrm>
            <a:off x="8613648" y="3145536"/>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8~13세</a:t>
            </a:r>
          </a:p>
        </p:txBody>
      </p:sp>
      <p:sp>
        <p:nvSpPr>
          <p:cNvPr id="24" name="TextBox 23"/>
          <p:cNvSpPr txBox="1"/>
          <p:nvPr/>
        </p:nvSpPr>
        <p:spPr>
          <a:xfrm>
            <a:off x="9281160" y="3145536"/>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칼마디 + 철분</a:t>
            </a:r>
          </a:p>
        </p:txBody>
      </p:sp>
      <p:sp>
        <p:nvSpPr>
          <p:cNvPr id="25" name="Rounded Rectangle 24"/>
          <p:cNvSpPr/>
          <p:nvPr/>
        </p:nvSpPr>
        <p:spPr>
          <a:xfrm>
            <a:off x="7269480" y="3657600"/>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69480" y="3657600"/>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청소년</a:t>
            </a:r>
          </a:p>
        </p:txBody>
      </p:sp>
      <p:sp>
        <p:nvSpPr>
          <p:cNvPr id="27" name="TextBox 26"/>
          <p:cNvSpPr txBox="1"/>
          <p:nvPr/>
        </p:nvSpPr>
        <p:spPr>
          <a:xfrm>
            <a:off x="8613648" y="3657600"/>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14~17세</a:t>
            </a:r>
          </a:p>
        </p:txBody>
      </p:sp>
      <p:sp>
        <p:nvSpPr>
          <p:cNvPr id="28" name="TextBox 27"/>
          <p:cNvSpPr txBox="1"/>
          <p:nvPr/>
        </p:nvSpPr>
        <p:spPr>
          <a:xfrm>
            <a:off x="9281160" y="3657600"/>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프로바이오키드</a:t>
            </a:r>
          </a:p>
        </p:txBody>
      </p:sp>
      <p:sp>
        <p:nvSpPr>
          <p:cNvPr id="29" name="Rounded Rectangle 28"/>
          <p:cNvSpPr/>
          <p:nvPr/>
        </p:nvSpPr>
        <p:spPr>
          <a:xfrm>
            <a:off x="7269480" y="4169664"/>
            <a:ext cx="1234440" cy="402336"/>
          </a:xfrm>
          <a:prstGeom prst="roundRect">
            <a:avLst>
              <a:gd name="adj" fmla="val 1818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69480" y="4169664"/>
            <a:ext cx="1234440" cy="402336"/>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유아 스타터</a:t>
            </a:r>
          </a:p>
        </p:txBody>
      </p:sp>
      <p:sp>
        <p:nvSpPr>
          <p:cNvPr id="31" name="TextBox 30"/>
          <p:cNvSpPr txBox="1"/>
          <p:nvPr/>
        </p:nvSpPr>
        <p:spPr>
          <a:xfrm>
            <a:off x="8613648" y="4169664"/>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2~3세</a:t>
            </a:r>
          </a:p>
        </p:txBody>
      </p:sp>
      <p:sp>
        <p:nvSpPr>
          <p:cNvPr id="32" name="TextBox 31"/>
          <p:cNvSpPr txBox="1"/>
          <p:nvPr/>
        </p:nvSpPr>
        <p:spPr>
          <a:xfrm>
            <a:off x="9281160" y="4169664"/>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멀티비타민 + 유산균 아연D + 철분</a:t>
            </a:r>
          </a:p>
        </p:txBody>
      </p:sp>
      <p:sp>
        <p:nvSpPr>
          <p:cNvPr id="33" name="TextBox 32"/>
          <p:cNvSpPr txBox="1"/>
          <p:nvPr/>
        </p:nvSpPr>
        <p:spPr>
          <a:xfrm>
            <a:off x="7269480" y="4709160"/>
            <a:ext cx="4114800" cy="640080"/>
          </a:xfrm>
          <a:prstGeom prst="rect">
            <a:avLst/>
          </a:prstGeom>
          <a:noFill/>
        </p:spPr>
        <p:txBody>
          <a:bodyPr wrap="square" lIns="0" tIns="0" rIns="0" bIns="0" anchor="t">
            <a:spAutoFit/>
          </a:bodyPr>
          <a:lstStyle/>
          <a:p>
            <a:pPr algn="l">
              <a:spcAft>
                <a:spcPts val="300"/>
              </a:spcAft>
            </a:pPr>
            <a:r>
              <a:rPr sz="1000" b="0">
                <a:solidFill>
                  <a:srgbClr val="004F9F"/>
                </a:solidFill>
                <a:latin typeface="에이투지체 6 SemiBold"/>
                <a:ea typeface="에이투지체 6 SemiBold"/>
                <a:cs typeface="에이투지체 6 SemiBold"/>
              </a:rPr>
              <a:t>이미 판매 중  </a:t>
            </a:r>
            <a:r>
              <a:rPr sz="1000" b="0">
                <a:solidFill>
                  <a:srgbClr val="5C5C5C"/>
                </a:solidFill>
                <a:latin typeface="에이투지체 4 Regular"/>
                <a:ea typeface="에이투지체 4 Regular"/>
                <a:cs typeface="에이투지체 4 Regular"/>
              </a:rPr>
              <a:t>FGO + 눈건강 루테인 세트 (리뷰 89)</a:t>
            </a:r>
          </a:p>
          <a:p>
            <a:pPr algn="l">
              <a:spcAft>
                <a:spcPts val="300"/>
              </a:spcAft>
            </a:pPr>
            <a:r>
              <a:rPr sz="1000" b="0">
                <a:solidFill>
                  <a:srgbClr val="004F9F"/>
                </a:solidFill>
                <a:latin typeface="에이투지체 6 SemiBold"/>
                <a:ea typeface="에이투지체 6 SemiBold"/>
                <a:cs typeface="에이투지체 6 SemiBold"/>
              </a:rPr>
              <a:t>운영  </a:t>
            </a:r>
            <a:r>
              <a:rPr sz="1000" b="0">
                <a:solidFill>
                  <a:srgbClr val="5C5C5C"/>
                </a:solidFill>
                <a:latin typeface="에이투지체 4 Regular"/>
                <a:ea typeface="에이투지체 4 Regular"/>
                <a:cs typeface="에이투지체 4 Regular"/>
              </a:rPr>
              <a:t>FGO 세트는 키성장 캠페인, 유아 세트는 데일리 캠페인</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지마켓은 광고 상품이 일부에 그치고</a:t>
            </a:r>
          </a:p>
          <a:p>
            <a:pPr>
              <a:lnSpc>
                <a:spcPts val="2600"/>
              </a:lnSpc>
            </a:pPr>
            <a:r>
              <a:rPr sz="1900" b="0">
                <a:solidFill>
                  <a:srgbClr val="222222"/>
                </a:solidFill>
                <a:latin typeface="에이투지체 8 ExtraBold"/>
                <a:ea typeface="에이투지체 8 ExtraBold"/>
                <a:cs typeface="에이투지체 8 ExtraBold"/>
              </a:rPr>
              <a:t>11번가는 광고 영역에 아예 보이지 않습니다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dirty="0">
                <a:solidFill>
                  <a:srgbClr val="5C5C5C"/>
                </a:solidFill>
                <a:latin typeface="에이투지체 5 Medium"/>
                <a:ea typeface="에이투지체 5 Medium"/>
                <a:cs typeface="에이투지체 5 Medium"/>
              </a:rPr>
              <a:t>지마켓·11번가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지마켓은 광고 영역을 채우는 것이, 11번가는 공식 스토어 노출을 시작하는 것이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TF 미디어믹스 가안 / 지마켓: 2026.10.13 지마켓 PC 검색 화면 기준. 검색 결과는 새로고침, 사용자별로 달라짐 / 괄호는 리뷰 수 / 11번가: 2026.10.13 11번가 PC 검색 화면 기준.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51-1</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광고 운영 중</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먼저 둘러보세요 (파워클릭)</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광고 상품은 일부만 노출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미니샵에는 아이클타임 상품 다수</a:t>
            </a:r>
          </a:p>
          <a:p>
            <a:pPr algn="l"/>
            <a:r>
              <a:rPr sz="1300" b="0">
                <a:solidFill>
                  <a:srgbClr val="5C5C5C"/>
                </a:solidFill>
                <a:latin typeface="에이투지체 4 Regular"/>
                <a:ea typeface="에이투지체 4 Regular"/>
                <a:cs typeface="에이투지체 4 Regular"/>
              </a:rPr>
              <a:t>광고 영역은 FGO, 프로바이오키드 위주</a:t>
            </a:r>
          </a:p>
          <a:p>
            <a:pPr algn="l"/>
            <a:r>
              <a:rPr sz="1300" b="0">
                <a:solidFill>
                  <a:srgbClr val="5C5C5C"/>
                </a:solidFill>
                <a:latin typeface="에이투지체 4 Regular"/>
                <a:ea typeface="에이투지체 4 Regular"/>
                <a:cs typeface="에이투지체 4 Regular"/>
              </a:rPr>
              <a:t>브랜드 검색어 광고 자리에 경쟁사</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채우기</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리뷰 7</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FGO 1박스 리뷰</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경쟁 상품과 리뷰 격차</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키움정 1개월 리뷰 102, 구매 5,161</a:t>
            </a:r>
          </a:p>
          <a:p>
            <a:pPr algn="l"/>
            <a:r>
              <a:rPr sz="1300" b="0">
                <a:solidFill>
                  <a:srgbClr val="5C5C5C"/>
                </a:solidFill>
                <a:latin typeface="에이투지체 4 Regular"/>
                <a:ea typeface="에이투지체 4 Regular"/>
                <a:cs typeface="에이투지체 4 Regular"/>
              </a:rPr>
              <a:t>그레인온 카무트 리뷰 14,274</a:t>
            </a:r>
          </a:p>
          <a:p>
            <a:pPr algn="l"/>
            <a:r>
              <a:rPr sz="1300" b="0">
                <a:solidFill>
                  <a:srgbClr val="5C5C5C"/>
                </a:solidFill>
                <a:latin typeface="에이투지체 4 Regular"/>
                <a:ea typeface="에이투지체 4 Regular"/>
                <a:cs typeface="에이투지체 4 Regular"/>
              </a:rPr>
              <a:t>슬림웨이는 리뷰 없이 구매 8</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노출돼도 선택받기 어려움</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미노출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11번가 주요 검색어 3개</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11번가 광고 자리는 경쟁사</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카무트효소 광고 전부 경쟁사</a:t>
            </a:r>
          </a:p>
          <a:p>
            <a:pPr algn="l"/>
            <a:r>
              <a:rPr sz="1300" b="0">
                <a:solidFill>
                  <a:srgbClr val="5C5C5C"/>
                </a:solidFill>
                <a:latin typeface="에이투지체 4 Regular"/>
                <a:ea typeface="에이투지체 4 Regular"/>
                <a:cs typeface="에이투지체 4 Regular"/>
              </a:rPr>
              <a:t>아이클타임 광고 자리는 리셀러</a:t>
            </a:r>
          </a:p>
          <a:p>
            <a:pPr algn="l"/>
            <a:r>
              <a:rPr sz="1300" b="0">
                <a:solidFill>
                  <a:srgbClr val="5C5C5C"/>
                </a:solidFill>
                <a:latin typeface="에이투지체 4 Regular"/>
                <a:ea typeface="에이투지체 4 Regular"/>
                <a:cs typeface="에이투지체 4 Regular"/>
              </a:rPr>
              <a:t>공식 스토어는 신규, 리뷰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공식 스토어 기반부터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우리 브랜드 검색어의 광고 영역</a:t>
            </a:r>
            <a:r>
              <a:rPr sz="1900" b="0">
                <a:solidFill>
                  <a:srgbClr val="222222"/>
                </a:solidFill>
                <a:latin typeface="에이투지체 8 ExtraBold"/>
                <a:ea typeface="에이투지체 8 ExtraBold"/>
                <a:cs typeface="에이투지체 8 ExtraBold"/>
              </a:rPr>
              <a:t>에</a:t>
            </a:r>
          </a:p>
          <a:p>
            <a:pPr>
              <a:lnSpc>
                <a:spcPts val="2600"/>
              </a:lnSpc>
            </a:pPr>
            <a:r>
              <a:rPr sz="1900" b="0">
                <a:solidFill>
                  <a:srgbClr val="222222"/>
                </a:solidFill>
                <a:latin typeface="에이투지체 8 ExtraBold"/>
                <a:ea typeface="에이투지체 8 ExtraBold"/>
                <a:cs typeface="에이투지체 8 ExtraBold"/>
              </a:rPr>
              <a:t>경쟁사 상품이 함께 노출되고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②  브랜드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검색어는 전용 그룹에 판매 상품을 모두 등록해 광고 영역까지 채우고, 입찰가는 낮게 운영하겠습니다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51-2</a:t>
            </a:r>
          </a:p>
        </p:txBody>
      </p:sp>
      <p:sp>
        <p:nvSpPr>
          <p:cNvPr id="11" name="TextBox 10"/>
          <p:cNvSpPr txBox="1"/>
          <p:nvPr/>
        </p:nvSpPr>
        <p:spPr>
          <a:xfrm>
            <a:off x="54864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"아이클타임"  </a:t>
            </a:r>
            <a:r>
              <a:rPr sz="1250" b="0">
                <a:solidFill>
                  <a:srgbClr val="222222"/>
                </a:solidFill>
                <a:latin typeface="에이투지체 6 SemiBold"/>
                <a:ea typeface="에이투지체 6 SemiBold"/>
                <a:cs typeface="에이투지체 6 SemiBold"/>
              </a:rPr>
              <a:t>우리 브랜드 검색어</a:t>
            </a:r>
          </a:p>
        </p:txBody>
      </p:sp>
      <p:pic>
        <p:nvPicPr>
          <p:cNvPr id="12" name="Picture 11" descr="g_aicle.png"/>
          <p:cNvPicPr>
            <a:picLocks noChangeAspect="1"/>
          </p:cNvPicPr>
          <p:nvPr/>
        </p:nvPicPr>
        <p:blipFill>
          <a:blip r:embed="rId2"/>
          <a:stretch>
            <a:fillRect/>
          </a:stretch>
        </p:blipFill>
        <p:spPr>
          <a:xfrm>
            <a:off x="548640" y="2331720"/>
            <a:ext cx="3246120" cy="2434590"/>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영역  </a:t>
            </a:r>
            <a:r>
              <a:rPr sz="1050" b="0">
                <a:solidFill>
                  <a:srgbClr val="222222"/>
                </a:solidFill>
                <a:latin typeface="에이투지체 4 Regular"/>
                <a:ea typeface="에이투지체 4 Regular"/>
                <a:cs typeface="에이투지체 4 Regular"/>
              </a:rPr>
              <a:t>먼저 둘러보세요 (파워클릭)</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1~3번째, FGO 5박스 76.9만 원, 4박스, 프로바이오키드</a:t>
            </a:r>
          </a:p>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4번째 뉴트리원 루테인 (362), 아래 녹십초 비타민C (1,215)</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첫 자리가 1박스가 아닌 5박스 구성</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"키움정"  </a:t>
            </a:r>
            <a:r>
              <a:rPr sz="1250" b="0">
                <a:solidFill>
                  <a:srgbClr val="222222"/>
                </a:solidFill>
                <a:latin typeface="에이투지체 6 SemiBold"/>
                <a:ea typeface="에이투지체 6 SemiBold"/>
                <a:cs typeface="에이투지체 6 SemiBold"/>
              </a:rPr>
              <a:t>경쟁사 브랜드 검색어</a:t>
            </a:r>
          </a:p>
        </p:txBody>
      </p:sp>
      <p:pic>
        <p:nvPicPr>
          <p:cNvPr id="15" name="Picture 14" descr="g_kium.png"/>
          <p:cNvPicPr>
            <a:picLocks noChangeAspect="1"/>
          </p:cNvPicPr>
          <p:nvPr/>
        </p:nvPicPr>
        <p:blipFill>
          <a:blip r:embed="rId3"/>
          <a:stretch>
            <a:fillRect/>
          </a:stretch>
        </p:blipFill>
        <p:spPr>
          <a:xfrm>
            <a:off x="6172200" y="2331720"/>
            <a:ext cx="3246120" cy="2460338"/>
          </a:xfrm>
          <a:prstGeom prst="rect">
            <a:avLst/>
          </a:prstGeom>
          <a:ln w="9525">
            <a:solidFill>
              <a:srgbClr val="DDDDDD"/>
            </a:solidFill>
          </a:ln>
        </p:spPr>
      </p:pic>
      <p:sp>
        <p:nvSpPr>
          <p:cNvPr id="16" name="TextBox 15"/>
          <p:cNvSpPr txBox="1"/>
          <p:nvPr/>
        </p:nvSpPr>
        <p:spPr>
          <a:xfrm>
            <a:off x="9582912" y="2377440"/>
            <a:ext cx="202996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광고  </a:t>
            </a:r>
            <a:r>
              <a:rPr sz="1050" b="0">
                <a:solidFill>
                  <a:srgbClr val="222222"/>
                </a:solidFill>
                <a:latin typeface="에이투지체 4 Regular"/>
                <a:ea typeface="에이투지체 4 Regular"/>
                <a:cs typeface="에이투지체 4 Regular"/>
              </a:rPr>
              <a:t>먼저 둘러보세요 5개 모두 키움정</a:t>
            </a:r>
          </a:p>
          <a:p>
            <a:pPr algn="l">
              <a:spcAft>
                <a:spcPts val="700"/>
              </a:spcAft>
            </a:pPr>
            <a:r>
              <a:rPr sz="1050" b="0">
                <a:solidFill>
                  <a:srgbClr val="004F9F"/>
                </a:solidFill>
                <a:latin typeface="에이투지체 6 SemiBold"/>
                <a:ea typeface="에이투지체 6 SemiBold"/>
                <a:cs typeface="에이투지체 6 SemiBold"/>
              </a:rPr>
              <a:t>대표  </a:t>
            </a:r>
            <a:r>
              <a:rPr sz="1050" b="0">
                <a:solidFill>
                  <a:srgbClr val="222222"/>
                </a:solidFill>
                <a:latin typeface="에이투지체 4 Regular"/>
                <a:ea typeface="에이투지체 4 Regular"/>
                <a:cs typeface="에이투지체 4 Regular"/>
              </a:rPr>
              <a:t>1개월 53,000원 (102), 구매 5,161</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노출 없음</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경쟁사는 자사 검색어 광고 자리를 모두 채움</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광고 영역에는 FGO와 프로바이오키드 위주로 노출되고</a:t>
            </a:r>
          </a:p>
          <a:p>
            <a:pPr>
              <a:lnSpc>
                <a:spcPts val="2600"/>
              </a:lnSpc>
            </a:pPr>
            <a:r>
              <a:rPr sz="1900" b="0">
                <a:solidFill>
                  <a:srgbClr val="222222"/>
                </a:solidFill>
                <a:latin typeface="에이투지체 8 ExtraBold"/>
                <a:ea typeface="에이투지체 8 ExtraBold"/>
                <a:cs typeface="에이투지체 8 ExtraBold"/>
              </a:rPr>
              <a:t>미니샵의 다른 아이클타임 상품은 대부분 빠져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③  판매 상품과 광고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판매 상품을 브랜드 검색어 그룹에 모두 등록해 광고 자리를 채우고, 낮은 입찰가로 ROAS를 높이겠습니다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(주)두드림 미니샵 내 "아이클타임" 검색 결과, 지마켓 "아이클타임" 검색 결과 기준</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51-3</a:t>
            </a:r>
          </a:p>
        </p:txBody>
      </p:sp>
      <p:sp>
        <p:nvSpPr>
          <p:cNvPr id="11" name="TextBox 10"/>
          <p:cNvSpPr txBox="1"/>
          <p:nvPr/>
        </p:nvSpPr>
        <p:spPr>
          <a:xfrm>
            <a:off x="548640" y="1993392"/>
            <a:ext cx="64008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지마켓 미니샵  </a:t>
            </a:r>
            <a:r>
              <a:rPr sz="1250" b="0">
                <a:solidFill>
                  <a:srgbClr val="222222"/>
                </a:solidFill>
                <a:latin typeface="에이투지체 6 SemiBold"/>
                <a:ea typeface="에이투지체 6 SemiBold"/>
                <a:cs typeface="에이투지체 6 SemiBold"/>
              </a:rPr>
              <a:t>(주)두드림 "아이클타임" 검색</a:t>
            </a:r>
          </a:p>
        </p:txBody>
      </p:sp>
      <p:pic>
        <p:nvPicPr>
          <p:cNvPr id="12" name="Picture 11" descr="g_mini.png"/>
          <p:cNvPicPr>
            <a:picLocks noChangeAspect="1"/>
          </p:cNvPicPr>
          <p:nvPr/>
        </p:nvPicPr>
        <p:blipFill>
          <a:blip r:embed="rId2"/>
          <a:stretch>
            <a:fillRect/>
          </a:stretch>
        </p:blipFill>
        <p:spPr>
          <a:xfrm>
            <a:off x="548640" y="2331720"/>
            <a:ext cx="6400800" cy="2901297"/>
          </a:xfrm>
          <a:prstGeom prst="rect">
            <a:avLst/>
          </a:prstGeom>
          <a:ln w="9525">
            <a:solidFill>
              <a:srgbClr val="DDDDDD"/>
            </a:solidFill>
          </a:ln>
        </p:spPr>
      </p:pic>
      <p:sp>
        <p:nvSpPr>
          <p:cNvPr id="13" name="Rounded Rectangle 12"/>
          <p:cNvSpPr/>
          <p:nvPr/>
        </p:nvSpPr>
        <p:spPr>
          <a:xfrm>
            <a:off x="7223760" y="2331720"/>
            <a:ext cx="4389120" cy="2971800"/>
          </a:xfrm>
          <a:prstGeom prst="roundRect">
            <a:avLst>
              <a:gd name="adj" fmla="val 246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2450592"/>
            <a:ext cx="393192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판매 중  vs  광고 영역 노출</a:t>
            </a:r>
          </a:p>
        </p:txBody>
      </p:sp>
      <p:sp>
        <p:nvSpPr>
          <p:cNvPr id="15" name="TextBox 14"/>
          <p:cNvSpPr txBox="1"/>
          <p:nvPr/>
        </p:nvSpPr>
        <p:spPr>
          <a:xfrm>
            <a:off x="7452360" y="2880360"/>
            <a:ext cx="3977639" cy="2377440"/>
          </a:xfrm>
          <a:prstGeom prst="rect">
            <a:avLst/>
          </a:prstGeom>
          <a:noFill/>
        </p:spPr>
        <p:txBody>
          <a:bodyPr wrap="square" lIns="0" tIns="0" rIns="0" bIns="0" anchor="t">
            <a:spAutoFit/>
          </a:bodyPr>
          <a:lstStyle/>
          <a:p>
            <a:pPr algn="l">
              <a:spcAft>
                <a:spcPts val="800"/>
              </a:spcAft>
            </a:pPr>
            <a:r>
              <a:rPr sz="1100" b="0">
                <a:solidFill>
                  <a:srgbClr val="004F9F"/>
                </a:solidFill>
                <a:latin typeface="에이투지체 6 SemiBold"/>
                <a:ea typeface="에이투지체 6 SemiBold"/>
                <a:cs typeface="에이투지체 6 SemiBold"/>
              </a:rPr>
              <a:t>판매 중  </a:t>
            </a:r>
            <a:r>
              <a:rPr sz="1100" b="0">
                <a:solidFill>
                  <a:srgbClr val="222222"/>
                </a:solidFill>
                <a:latin typeface="에이투지체 4 Regular"/>
                <a:ea typeface="에이투지체 4 Regular"/>
                <a:cs typeface="에이투지체 4 Regular"/>
              </a:rPr>
              <a:t>키성장 FGO, 츄어블 철분, 프로바이오키드, 프로바이오틱스, 멀티비타민 등</a:t>
            </a:r>
          </a:p>
          <a:p>
            <a:pPr algn="l">
              <a:spcAft>
                <a:spcPts val="800"/>
              </a:spcAft>
            </a:pPr>
            <a:r>
              <a:rPr sz="1100" b="0">
                <a:solidFill>
                  <a:srgbClr val="004F9F"/>
                </a:solidFill>
                <a:latin typeface="에이투지체 6 SemiBold"/>
                <a:ea typeface="에이투지체 6 SemiBold"/>
                <a:cs typeface="에이투지체 6 SemiBold"/>
              </a:rPr>
              <a:t>광고 노출  </a:t>
            </a:r>
            <a:r>
              <a:rPr sz="1100" b="0">
                <a:solidFill>
                  <a:srgbClr val="222222"/>
                </a:solidFill>
                <a:latin typeface="에이투지체 4 Regular"/>
                <a:ea typeface="에이투지체 4 Regular"/>
                <a:cs typeface="에이투지체 4 Regular"/>
              </a:rPr>
              <a:t>FGO 5박스, 4박스, 프로바이오키드 위주</a:t>
            </a:r>
          </a:p>
          <a:p>
            <a:pPr algn="l">
              <a:spcAft>
                <a:spcPts val="800"/>
              </a:spcAft>
            </a:pPr>
            <a:r>
              <a:rPr sz="1100" b="0">
                <a:solidFill>
                  <a:srgbClr val="004F9F"/>
                </a:solidFill>
                <a:latin typeface="에이투지체 6 SemiBold"/>
                <a:ea typeface="에이투지체 6 SemiBold"/>
                <a:cs typeface="에이투지체 6 SemiBold"/>
              </a:rPr>
              <a:t>빈 자리  </a:t>
            </a:r>
            <a:r>
              <a:rPr sz="1100" b="0">
                <a:solidFill>
                  <a:srgbClr val="222222"/>
                </a:solidFill>
                <a:latin typeface="에이투지체 4 Regular"/>
                <a:ea typeface="에이투지체 4 Regular"/>
                <a:cs typeface="에이투지체 4 Regular"/>
              </a:rPr>
              <a:t>남는 광고 자리에 뉴트리원, 녹십초 노출</a:t>
            </a:r>
          </a:p>
          <a:p>
            <a:pPr algn="l">
              <a:spcAft>
                <a:spcPts val="800"/>
              </a:spcAft>
            </a:pPr>
            <a:r>
              <a:rPr sz="1100" b="0">
                <a:solidFill>
                  <a:srgbClr val="004F9F"/>
                </a:solidFill>
                <a:latin typeface="에이투지체 6 SemiBold"/>
                <a:ea typeface="에이투지체 6 SemiBold"/>
                <a:cs typeface="에이투지체 6 SemiBold"/>
              </a:rPr>
              <a:t>운영  </a:t>
            </a:r>
            <a:r>
              <a:rPr sz="1100" b="0">
                <a:solidFill>
                  <a:srgbClr val="222222"/>
                </a:solidFill>
                <a:latin typeface="에이투지체 4 Regular"/>
                <a:ea typeface="에이투지체 4 Regular"/>
                <a:cs typeface="에이투지체 4 Regular"/>
              </a:rPr>
              <a:t>브랜드 검색어 그룹에 판매 상품 모두 등록</a:t>
            </a:r>
          </a:p>
          <a:p>
            <a:pPr algn="l">
              <a:spcAft>
                <a:spcPts val="800"/>
              </a:spcAft>
            </a:pPr>
            <a:r>
              <a:rPr sz="1100" b="0">
                <a:solidFill>
                  <a:srgbClr val="004F9F"/>
                </a:solidFill>
                <a:latin typeface="에이투지체 6 SemiBold"/>
                <a:ea typeface="에이투지체 6 SemiBold"/>
                <a:cs typeface="에이투지체 6 SemiBold"/>
              </a:rPr>
              <a:t>입찰  </a:t>
            </a:r>
            <a:r>
              <a:rPr sz="1100" b="0">
                <a:solidFill>
                  <a:srgbClr val="222222"/>
                </a:solidFill>
                <a:latin typeface="에이투지체 4 Regular"/>
                <a:ea typeface="에이투지체 4 Regular"/>
                <a:cs typeface="에이투지체 4 Regular"/>
              </a:rPr>
              <a:t>경쟁이 적은 브랜드 검색어는 입찰가를 낮게 설정해 ROAS 상승</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검색어에 노출된 두드림 상품은 리뷰가 한 자릿수이고</a:t>
            </a:r>
          </a:p>
          <a:p>
            <a:pPr>
              <a:lnSpc>
                <a:spcPts val="2600"/>
              </a:lnSpc>
            </a:pPr>
            <a:r>
              <a:rPr sz="1900" b="0">
                <a:solidFill>
                  <a:srgbClr val="222222"/>
                </a:solidFill>
                <a:latin typeface="에이투지체 8 ExtraBold"/>
                <a:ea typeface="에이투지체 8 ExtraBold"/>
                <a:cs typeface="에이투지체 8 ExtraBold"/>
              </a:rPr>
              <a:t>주변 경쟁 상품은 리뷰가 수천~수만 개입니다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④  대표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노출은 되고 있으니, 리뷰와 상품 구성을 보강해 클릭이 구매로 이어지게 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51-4</a:t>
            </a:r>
          </a:p>
        </p:txBody>
      </p:sp>
      <p:sp>
        <p:nvSpPr>
          <p:cNvPr id="11" name="TextBox 10"/>
          <p:cNvSpPr txBox="1"/>
          <p:nvPr/>
        </p:nvSpPr>
        <p:spPr>
          <a:xfrm>
            <a:off x="54864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2번째</a:t>
            </a:r>
          </a:p>
        </p:txBody>
      </p:sp>
      <p:pic>
        <p:nvPicPr>
          <p:cNvPr id="12" name="Picture 11" descr="g_kisj.png"/>
          <p:cNvPicPr>
            <a:picLocks noChangeAspect="1"/>
          </p:cNvPicPr>
          <p:nvPr/>
        </p:nvPicPr>
        <p:blipFill>
          <a:blip r:embed="rId2"/>
          <a:stretch>
            <a:fillRect/>
          </a:stretch>
        </p:blipFill>
        <p:spPr>
          <a:xfrm>
            <a:off x="548640" y="2331720"/>
            <a:ext cx="3246120" cy="2429844"/>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상단  </a:t>
            </a:r>
            <a:r>
              <a:rPr sz="1050" b="0">
                <a:solidFill>
                  <a:srgbClr val="222222"/>
                </a:solidFill>
                <a:latin typeface="에이투지체 4 Regular"/>
                <a:ea typeface="에이투지체 4 Regular"/>
                <a:cs typeface="에이투지체 4 Regular"/>
              </a:rPr>
              <a:t>오늘의 상품이에요 광고 5개 모두 경쟁사</a:t>
            </a:r>
          </a:p>
          <a:p>
            <a:pPr algn="l">
              <a:spcAft>
                <a:spcPts val="700"/>
              </a:spcAft>
            </a:pPr>
            <a:r>
              <a:rPr sz="1050" b="0">
                <a:solidFill>
                  <a:srgbClr val="222222"/>
                </a:solidFill>
                <a:latin typeface="에이투지체 4 Regular"/>
                <a:ea typeface="에이투지체 4 Regular"/>
                <a:cs typeface="에이투지체 4 Regular"/>
              </a:rPr>
              <a:t>김소형원방, PH365, 키엔탄, 키클레오</a:t>
            </a:r>
          </a:p>
          <a:p>
            <a:pPr algn="l">
              <a:spcAft>
                <a:spcPts val="700"/>
              </a:spcAft>
            </a:pPr>
            <a:r>
              <a:rPr sz="1050" b="0">
                <a:solidFill>
                  <a:srgbClr val="004F9F"/>
                </a:solidFill>
                <a:latin typeface="에이투지체 6 SemiBold"/>
                <a:ea typeface="에이투지체 6 SemiBold"/>
                <a:cs typeface="에이투지체 6 SemiBold"/>
              </a:rPr>
              <a:t>위아래  </a:t>
            </a:r>
            <a:r>
              <a:rPr sz="1050" b="0">
                <a:solidFill>
                  <a:srgbClr val="222222"/>
                </a:solidFill>
                <a:latin typeface="에이투지체 4 Regular"/>
                <a:ea typeface="에이투지체 4 Regular"/>
                <a:cs typeface="에이투지체 4 Regular"/>
              </a:rPr>
              <a:t>순수식품 칼마디 (7,426), 고려은단 칼마디 (186)</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FGO 1박스 (7), 구매 35</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5번째</a:t>
            </a:r>
          </a:p>
        </p:txBody>
      </p:sp>
      <p:pic>
        <p:nvPicPr>
          <p:cNvPr id="15" name="Picture 14" descr="g_kamut.png"/>
          <p:cNvPicPr>
            <a:picLocks noChangeAspect="1"/>
          </p:cNvPicPr>
          <p:nvPr/>
        </p:nvPicPr>
        <p:blipFill>
          <a:blip r:embed="rId3"/>
          <a:stretch>
            <a:fillRect/>
          </a:stretch>
        </p:blipFill>
        <p:spPr>
          <a:xfrm>
            <a:off x="6172200" y="2331720"/>
            <a:ext cx="2926080" cy="2700734"/>
          </a:xfrm>
          <a:prstGeom prst="rect">
            <a:avLst/>
          </a:prstGeom>
          <a:ln w="9525">
            <a:solidFill>
              <a:srgbClr val="DDDDDD"/>
            </a:solidFill>
          </a:ln>
        </p:spPr>
      </p:pic>
      <p:sp>
        <p:nvSpPr>
          <p:cNvPr id="16" name="TextBox 15"/>
          <p:cNvSpPr txBox="1"/>
          <p:nvPr/>
        </p:nvSpPr>
        <p:spPr>
          <a:xfrm>
            <a:off x="9262872" y="2377440"/>
            <a:ext cx="235000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1~4번째 중 그레인온 3개</a:t>
            </a:r>
          </a:p>
          <a:p>
            <a:pPr algn="l">
              <a:spcAft>
                <a:spcPts val="700"/>
              </a:spcAft>
            </a:pPr>
            <a:r>
              <a:rPr sz="1050" b="0">
                <a:solidFill>
                  <a:srgbClr val="222222"/>
                </a:solidFill>
                <a:latin typeface="에이투지체 4 Regular"/>
                <a:ea typeface="에이투지체 4 Regular"/>
                <a:cs typeface="에이투지체 4 Regular"/>
              </a:rPr>
              <a:t>리뷰 14,274, 9,889, 3,474</a:t>
            </a:r>
          </a:p>
          <a:p>
            <a:pPr algn="l">
              <a:spcAft>
                <a:spcPts val="700"/>
              </a:spcAft>
            </a:pPr>
            <a:r>
              <a:rPr sz="1050" b="0">
                <a:solidFill>
                  <a:srgbClr val="222222"/>
                </a:solidFill>
                <a:latin typeface="에이투지체 4 Regular"/>
                <a:ea typeface="에이투지체 4 Regular"/>
                <a:cs typeface="에이투지체 4 Regular"/>
              </a:rPr>
              <a:t>리얼메디 2+1 (502)</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슬림웨이 1박스, 리뷰 없이 구매 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추가구성을 둘러보는 구성</a:t>
            </a:r>
            <a:r>
              <a:rPr sz="1900" b="0">
                <a:solidFill>
                  <a:srgbClr val="222222"/>
                </a:solidFill>
                <a:latin typeface="에이투지체 8 ExtraBold"/>
                <a:ea typeface="에이투지체 8 ExtraBold"/>
                <a:cs typeface="에이투지체 8 ExtraBold"/>
              </a:rPr>
              <a:t>으로 바꾸면</a:t>
            </a:r>
          </a:p>
          <a:p>
            <a:pPr>
              <a:lnSpc>
                <a:spcPts val="2600"/>
              </a:lnSpc>
            </a:pPr>
            <a:r>
              <a:rPr sz="1900" b="0">
                <a:solidFill>
                  <a:srgbClr val="222222"/>
                </a:solidFill>
                <a:latin typeface="에이투지체 8 ExtraBold"/>
                <a:ea typeface="에이투지체 8 ExtraBold"/>
                <a:cs typeface="에이투지체 8 ExtraBold"/>
              </a:rPr>
              <a:t>FGO 고객이 다른 상품까지 눌러보게 할 수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⑤  상세 페이지 추가구성</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옵션을 구경하며 다른 상품도 눌러볼 수 있게, 상품별 대표 구성과 성장 패키지 중심으로 정리하겠습니다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키움정 3박스, 두드림 아이클타임 키성장 FGO 1박스 상품 페이지 기준 / 추가구성 변경은 판매 채널 담당과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51-5</a:t>
            </a:r>
          </a:p>
        </p:txBody>
      </p:sp>
      <p:sp>
        <p:nvSpPr>
          <p:cNvPr id="11" name="TextBox 10"/>
          <p:cNvSpPr txBox="1"/>
          <p:nvPr/>
        </p:nvSpPr>
        <p:spPr>
          <a:xfrm>
            <a:off x="548640" y="1993392"/>
            <a:ext cx="2651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a:t>
            </a:r>
            <a:r>
              <a:rPr sz="1250" b="0">
                <a:solidFill>
                  <a:srgbClr val="222222"/>
                </a:solidFill>
                <a:latin typeface="에이투지체 6 SemiBold"/>
                <a:ea typeface="에이투지체 6 SemiBold"/>
                <a:cs typeface="에이투지체 6 SemiBold"/>
              </a:rPr>
              <a:t>키움정 3박스</a:t>
            </a:r>
          </a:p>
        </p:txBody>
      </p:sp>
      <p:pic>
        <p:nvPicPr>
          <p:cNvPr id="12" name="Picture 11" descr="g_kium_opt.png"/>
          <p:cNvPicPr>
            <a:picLocks noChangeAspect="1"/>
          </p:cNvPicPr>
          <p:nvPr/>
        </p:nvPicPr>
        <p:blipFill>
          <a:blip r:embed="rId2"/>
          <a:stretch>
            <a:fillRect/>
          </a:stretch>
        </p:blipFill>
        <p:spPr>
          <a:xfrm>
            <a:off x="548640" y="2331720"/>
            <a:ext cx="2514600" cy="3054319"/>
          </a:xfrm>
          <a:prstGeom prst="rect">
            <a:avLst/>
          </a:prstGeom>
          <a:ln w="9525">
            <a:solidFill>
              <a:srgbClr val="DDDDDD"/>
            </a:solidFill>
          </a:ln>
        </p:spPr>
      </p:pic>
      <p:sp>
        <p:nvSpPr>
          <p:cNvPr id="13" name="TextBox 12"/>
          <p:cNvSpPr txBox="1"/>
          <p:nvPr/>
        </p:nvSpPr>
        <p:spPr>
          <a:xfrm>
            <a:off x="3291840" y="1993392"/>
            <a:ext cx="32004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두드림  </a:t>
            </a:r>
            <a:r>
              <a:rPr sz="1250" b="0">
                <a:solidFill>
                  <a:srgbClr val="222222"/>
                </a:solidFill>
                <a:latin typeface="에이투지체 6 SemiBold"/>
                <a:ea typeface="에이투지체 6 SemiBold"/>
                <a:cs typeface="에이투지체 6 SemiBold"/>
              </a:rPr>
              <a:t>키성장 FGO 1박스</a:t>
            </a:r>
          </a:p>
        </p:txBody>
      </p:sp>
      <p:pic>
        <p:nvPicPr>
          <p:cNvPr id="14" name="Picture 13" descr="dd_opt.png"/>
          <p:cNvPicPr>
            <a:picLocks noChangeAspect="1"/>
          </p:cNvPicPr>
          <p:nvPr/>
        </p:nvPicPr>
        <p:blipFill>
          <a:blip r:embed="rId3"/>
          <a:stretch>
            <a:fillRect/>
          </a:stretch>
        </p:blipFill>
        <p:spPr>
          <a:xfrm>
            <a:off x="3291840" y="2331720"/>
            <a:ext cx="3108960" cy="2366264"/>
          </a:xfrm>
          <a:prstGeom prst="rect">
            <a:avLst/>
          </a:prstGeom>
          <a:ln w="9525">
            <a:solidFill>
              <a:srgbClr val="DDDDDD"/>
            </a:solidFill>
          </a:ln>
        </p:spPr>
      </p:pic>
      <p:sp>
        <p:nvSpPr>
          <p:cNvPr id="15" name="TextBox 14"/>
          <p:cNvSpPr txBox="1"/>
          <p:nvPr/>
        </p:nvSpPr>
        <p:spPr>
          <a:xfrm>
            <a:off x="3291840" y="4800600"/>
            <a:ext cx="3154680" cy="548640"/>
          </a:xfrm>
          <a:prstGeom prst="rect">
            <a:avLst/>
          </a:prstGeom>
          <a:noFill/>
        </p:spPr>
        <p:txBody>
          <a:bodyPr wrap="square" lIns="0" tIns="0" rIns="0" bIns="0" anchor="t">
            <a:spAutoFit/>
          </a:bodyPr>
          <a:lstStyle/>
          <a:p>
            <a:pPr algn="l">
              <a:spcAft>
                <a:spcPts val="200"/>
              </a:spcAft>
            </a:pPr>
            <a:r>
              <a:rPr sz="950" b="0">
                <a:solidFill>
                  <a:srgbClr val="5C5C5C"/>
                </a:solidFill>
                <a:latin typeface="에이투지체 4 Regular"/>
                <a:ea typeface="에이투지체 4 Regular"/>
                <a:cs typeface="에이투지체 4 Regular"/>
              </a:rPr>
              <a:t>같은 상품의 박스 수 구성이 이어지는 형태</a:t>
            </a:r>
          </a:p>
          <a:p>
            <a:pPr algn="l">
              <a:spcAft>
                <a:spcPts val="200"/>
              </a:spcAft>
            </a:pPr>
            <a:r>
              <a:rPr sz="950" b="0">
                <a:solidFill>
                  <a:srgbClr val="5C5C5C"/>
                </a:solidFill>
                <a:latin typeface="에이투지체 4 Regular"/>
                <a:ea typeface="에이투지체 4 Regular"/>
                <a:cs typeface="에이투지체 4 Regular"/>
              </a:rPr>
              <a:t>(오메가3 젤리 4, 6박스 / 키즈 종합비타민 2, 3박스 등)</a:t>
            </a:r>
          </a:p>
        </p:txBody>
      </p:sp>
      <p:sp>
        <p:nvSpPr>
          <p:cNvPr id="16" name="Rounded Rectangle 15"/>
          <p:cNvSpPr/>
          <p:nvPr/>
        </p:nvSpPr>
        <p:spPr>
          <a:xfrm>
            <a:off x="6675120" y="2331720"/>
            <a:ext cx="493776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2450592"/>
            <a:ext cx="448056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추가구성 정리 방향</a:t>
            </a:r>
          </a:p>
        </p:txBody>
      </p:sp>
      <p:sp>
        <p:nvSpPr>
          <p:cNvPr id="18" name="TextBox 17"/>
          <p:cNvSpPr txBox="1"/>
          <p:nvPr/>
        </p:nvSpPr>
        <p:spPr>
          <a:xfrm>
            <a:off x="6903720" y="2880360"/>
            <a:ext cx="4526280" cy="237744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키움정  </a:t>
            </a:r>
            <a:r>
              <a:rPr sz="1100" b="0">
                <a:solidFill>
                  <a:srgbClr val="222222"/>
                </a:solidFill>
                <a:latin typeface="에이투지체 4 Regular"/>
                <a:ea typeface="에이투지체 4 Regular"/>
                <a:cs typeface="에이투지체 4 Regular"/>
              </a:rPr>
              <a:t>유산균, 멀티비타민, 구미젤리 세트 등 옵션마다 다른 상품이 보여, 구경하며 함께 눌러보게 됨</a:t>
            </a:r>
          </a:p>
          <a:p>
            <a:pPr algn="l">
              <a:spcAft>
                <a:spcPts val="600"/>
              </a:spcAft>
            </a:pPr>
            <a:r>
              <a:rPr sz="1100" b="0">
                <a:solidFill>
                  <a:srgbClr val="004F9F"/>
                </a:solidFill>
                <a:latin typeface="에이투지체 6 SemiBold"/>
                <a:ea typeface="에이투지체 6 SemiBold"/>
                <a:cs typeface="에이투지체 6 SemiBold"/>
              </a:rPr>
              <a:t>두드림  </a:t>
            </a:r>
            <a:r>
              <a:rPr sz="1100" b="0">
                <a:solidFill>
                  <a:srgbClr val="222222"/>
                </a:solidFill>
                <a:latin typeface="에이투지체 4 Regular"/>
                <a:ea typeface="에이투지체 4 Regular"/>
                <a:cs typeface="에이투지체 4 Regular"/>
              </a:rPr>
              <a:t>같은 상품의 박스 수 구성이 연달아 이어져, 다른 상품이 눈에 덜 띔</a:t>
            </a:r>
          </a:p>
          <a:p>
            <a:pPr algn="l">
              <a:spcAft>
                <a:spcPts val="600"/>
              </a:spcAft>
            </a:pPr>
            <a:r>
              <a:rPr sz="1100" b="0">
                <a:solidFill>
                  <a:srgbClr val="004F9F"/>
                </a:solidFill>
                <a:latin typeface="에이투지체 6 SemiBold"/>
                <a:ea typeface="에이투지체 6 SemiBold"/>
                <a:cs typeface="에이투지체 6 SemiBold"/>
              </a:rPr>
              <a:t>제안  </a:t>
            </a:r>
            <a:r>
              <a:rPr sz="1100" b="0">
                <a:solidFill>
                  <a:srgbClr val="222222"/>
                </a:solidFill>
                <a:latin typeface="에이투지체 4 Regular"/>
                <a:ea typeface="에이투지체 4 Regular"/>
                <a:cs typeface="에이투지체 4 Regular"/>
              </a:rPr>
              <a:t>상단에 성장 패키지 (FGO + 칼마디, FGO + 칼마디 + 철분)</a:t>
            </a:r>
          </a:p>
          <a:p>
            <a:pPr algn="l">
              <a:spcAft>
                <a:spcPts val="600"/>
              </a:spcAft>
            </a:pPr>
            <a:r>
              <a:rPr sz="1100" b="0">
                <a:solidFill>
                  <a:srgbClr val="222222"/>
                </a:solidFill>
                <a:latin typeface="에이투지체 4 Regular"/>
                <a:ea typeface="에이투지체 4 Regular"/>
                <a:cs typeface="에이투지체 4 Regular"/>
              </a:rPr>
              <a:t>      상품마다 대표 구성 1개씩, 다양한 상품이 보이게</a:t>
            </a:r>
          </a:p>
          <a:p>
            <a:pPr algn="l">
              <a:spcAft>
                <a:spcPts val="600"/>
              </a:spcAft>
            </a:pPr>
            <a:r>
              <a:rPr sz="1100" b="0">
                <a:solidFill>
                  <a:srgbClr val="222222"/>
                </a:solidFill>
                <a:latin typeface="에이투지체 4 Regular"/>
                <a:ea typeface="에이투지체 4 Regular"/>
                <a:cs typeface="에이투지체 4 Regular"/>
              </a:rPr>
              <a:t>      행사 기간 사은품 구성 검토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11번가는 주요 검색어의 광고 자리</a:t>
            </a:r>
            <a:r>
              <a:rPr sz="1900" b="0">
                <a:solidFill>
                  <a:srgbClr val="222222"/>
                </a:solidFill>
                <a:latin typeface="에이투지체 8 ExtraBold"/>
                <a:ea typeface="에이투지체 8 ExtraBold"/>
                <a:cs typeface="에이투지체 8 ExtraBold"/>
              </a:rPr>
              <a:t>를</a:t>
            </a:r>
          </a:p>
          <a:p>
            <a:pPr>
              <a:lnSpc>
                <a:spcPts val="2600"/>
              </a:lnSpc>
            </a:pPr>
            <a:r>
              <a:rPr sz="1900" b="0">
                <a:solidFill>
                  <a:srgbClr val="222222"/>
                </a:solidFill>
                <a:latin typeface="에이투지체 8 ExtraBold"/>
                <a:ea typeface="에이투지체 8 ExtraBold"/>
                <a:cs typeface="에이투지체 8 ExtraBold"/>
              </a:rPr>
              <a:t>모두 경쟁사와 판매처가 차지하고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11번가 현황 진단</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11번가는 공식 스토어 대표 상품부터 브랜드 검색어에서 보이게 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11번가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51-6</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21개 중 0</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키성장영양제 광고 자리</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 광고 전부 경쟁사</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고려은단 키즈하이 (36,858)</a:t>
            </a:r>
          </a:p>
          <a:p>
            <a:pPr algn="l"/>
            <a:r>
              <a:rPr sz="1300" b="0">
                <a:solidFill>
                  <a:srgbClr val="5C5C5C"/>
                </a:solidFill>
                <a:latin typeface="에이투지체 4 Regular"/>
                <a:ea typeface="에이투지체 4 Regular"/>
                <a:cs typeface="에이투지체 4 Regular"/>
              </a:rPr>
              <a:t>동국제약 키해피 FGO, 데일리플랜</a:t>
            </a:r>
          </a:p>
          <a:p>
            <a:pPr algn="l"/>
            <a:r>
              <a:rPr sz="1300" b="0">
                <a:solidFill>
                  <a:srgbClr val="5C5C5C"/>
                </a:solidFill>
                <a:latin typeface="에이투지체 4 Regular"/>
                <a:ea typeface="에이투지체 4 Regular"/>
                <a:cs typeface="에이투지체 4 Regular"/>
              </a:rPr>
              <a:t>키움정</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수요를 경쟁사가 가져감</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리셀러</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아이클타임 광고 자리</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검색어도 공식 스토어 미노출</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광고 5개: 고려은단 2, 리셀러 3</a:t>
            </a:r>
          </a:p>
          <a:p>
            <a:pPr algn="l"/>
            <a:r>
              <a:rPr sz="1300" b="0">
                <a:solidFill>
                  <a:srgbClr val="5C5C5C"/>
                </a:solidFill>
                <a:latin typeface="에이투지체 4 Regular"/>
                <a:ea typeface="에이투지체 4 Regular"/>
                <a:cs typeface="에이투지체 4 Regular"/>
              </a:rPr>
              <a:t>상위 30개에 공식 스토어 상품 없음</a:t>
            </a:r>
          </a:p>
          <a:p>
            <a:pPr algn="l"/>
            <a:r>
              <a:rPr sz="1300" b="0">
                <a:solidFill>
                  <a:srgbClr val="5C5C5C"/>
                </a:solidFill>
                <a:latin typeface="에이투지체 4 Regular"/>
                <a:ea typeface="에이투지체 4 Regular"/>
                <a:cs typeface="에이투지체 4 Regular"/>
              </a:rPr>
              <a:t>현대H몰, CJ, GS 등 판매처 노출</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정비</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신규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두드림 공식 스토어</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리뷰 없이 시작하는 단계</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찜 1, 리뷰 없음</a:t>
            </a:r>
          </a:p>
          <a:p>
            <a:pPr algn="l"/>
            <a:r>
              <a:rPr sz="1300" b="0">
                <a:solidFill>
                  <a:srgbClr val="5C5C5C"/>
                </a:solidFill>
                <a:latin typeface="에이투지체 4 Regular"/>
                <a:ea typeface="에이투지체 4 Regular"/>
                <a:cs typeface="에이투지체 4 Regular"/>
              </a:rPr>
              <a:t>카무트효소 광고도 전부 경쟁사</a:t>
            </a:r>
          </a:p>
          <a:p>
            <a:pPr algn="l"/>
            <a:r>
              <a:rPr sz="1300" b="0">
                <a:solidFill>
                  <a:srgbClr val="5C5C5C"/>
                </a:solidFill>
                <a:latin typeface="에이투지체 4 Regular"/>
                <a:ea typeface="에이투지체 4 Regular"/>
                <a:cs typeface="에이투지체 4 Regular"/>
              </a:rPr>
              <a:t>(뉴트리원, 그레인온, 동국제약)</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대표 상품 1~2개에 집중</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지마켓·11번가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지마켓 광고와 11번가 공식 스토어로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지마켓·11번가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지마켓·11번가는 쿠팡에서 검증된 상품과 검색어를 중심으로 예산을 늘립니다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51-7</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브랜드 검색어 채우기</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판매 상품을 브랜드 검색어 그룹에 모두 등록하고</a:t>
            </a:r>
          </a:p>
          <a:p>
            <a:pPr algn="l"/>
            <a:r>
              <a:rPr sz="1100" b="0">
                <a:solidFill>
                  <a:srgbClr val="222222"/>
                </a:solidFill>
                <a:latin typeface="에이투지체 5 Medium"/>
                <a:ea typeface="에이투지체 5 Medium"/>
                <a:cs typeface="에이투지체 5 Medium"/>
              </a:rPr>
              <a:t>입찰가는 낮게 설정해 ROAS를 높입니다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브랜드 검색어 그룹</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ROAS</a:t>
            </a:r>
          </a:p>
          <a:p>
            <a:pPr algn="ctr"/>
            <a:r>
              <a:rPr sz="1100" b="0">
                <a:solidFill>
                  <a:srgbClr val="222222"/>
                </a:solidFill>
                <a:latin typeface="에이투지체 6 SemiBold"/>
                <a:ea typeface="에이투지체 6 SemiBold"/>
                <a:cs typeface="에이투지체 6 SemiBold"/>
              </a:rPr>
              <a:t>광고 영역 점유</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상품 구성 강화</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추가구성을 상품별 대표 구성과 성장 패키지로</a:t>
            </a:r>
          </a:p>
          <a:p>
            <a:pPr algn="l"/>
            <a:r>
              <a:rPr sz="1100" b="0">
                <a:solidFill>
                  <a:srgbClr val="222222"/>
                </a:solidFill>
                <a:latin typeface="에이투지체 5 Medium"/>
                <a:ea typeface="에이투지체 5 Medium"/>
                <a:cs typeface="에이투지체 5 Medium"/>
              </a:rPr>
              <a:t>정리하고, 리뷰 이벤트로 리뷰 격차를 줄입니다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지마켓</a:t>
            </a:r>
          </a:p>
          <a:p>
            <a:pPr algn="ctr"/>
            <a:r>
              <a:rPr sz="1050" b="0">
                <a:solidFill>
                  <a:srgbClr val="004F9F"/>
                </a:solidFill>
                <a:latin typeface="에이투지체 6 SemiBold"/>
                <a:ea typeface="에이투지체 6 SemiBold"/>
                <a:cs typeface="에이투지체 6 SemiBold"/>
              </a:rPr>
              <a:t>상품 페이지</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구매 전환율</a:t>
            </a:r>
          </a:p>
          <a:p>
            <a:pPr algn="ctr"/>
            <a:r>
              <a:rPr sz="1100" b="0">
                <a:solidFill>
                  <a:srgbClr val="222222"/>
                </a:solidFill>
                <a:latin typeface="에이투지체 6 SemiBold"/>
                <a:ea typeface="에이투지체 6 SemiBold"/>
                <a:cs typeface="에이투지체 6 SemiBold"/>
              </a:rPr>
              <a:t>객단가</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검색어 노출 확대</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대표 검색어는 CPC 상한 안에서 순위 관리</a:t>
            </a:r>
          </a:p>
          <a:p>
            <a:pPr algn="l"/>
            <a:r>
              <a:rPr sz="1100" b="0">
                <a:solidFill>
                  <a:srgbClr val="222222"/>
                </a:solidFill>
                <a:latin typeface="에이투지체 5 Medium"/>
                <a:ea typeface="에이투지체 5 Medium"/>
                <a:cs typeface="에이투지체 5 Medium"/>
              </a:rPr>
              <a:t>경쟁사 검색어는 매체 정책 확인 후 테스트</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집중 운영형 (카무트)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11번가 기반 마련</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공식 스토어 대표 상품 1~2개에 집중해</a:t>
            </a:r>
          </a:p>
          <a:p>
            <a:pPr algn="l"/>
            <a:r>
              <a:rPr sz="1100" b="0">
                <a:solidFill>
                  <a:srgbClr val="222222"/>
                </a:solidFill>
                <a:latin typeface="에이투지체 5 Medium"/>
                <a:ea typeface="에이투지체 5 Medium"/>
                <a:cs typeface="에이투지체 5 Medium"/>
              </a:rPr>
              <a:t>브랜드 검색어에서 판매처보다 먼저 노출</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11번가</a:t>
            </a:r>
          </a:p>
          <a:p>
            <a:pPr algn="ctr"/>
            <a:r>
              <a:rPr sz="1050" b="0">
                <a:solidFill>
                  <a:srgbClr val="004F9F"/>
                </a:solidFill>
                <a:latin typeface="에이투지체 6 SemiBold"/>
                <a:ea typeface="에이투지체 6 SemiBold"/>
                <a:cs typeface="에이투지체 6 SemiBold"/>
              </a:rPr>
              <a:t>공식 스토어</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노출</a:t>
            </a:r>
          </a:p>
          <a:p>
            <a:pPr algn="ctr"/>
            <a:r>
              <a:rPr sz="1100" b="0">
                <a:solidFill>
                  <a:srgbClr val="222222"/>
                </a:solidFill>
                <a:latin typeface="에이투지체 6 SemiBold"/>
                <a:ea typeface="에이투지체 6 SemiBold"/>
                <a:cs typeface="에이투지체 6 SemiBold"/>
              </a:rPr>
              <a:t>스토어 리뷰</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CH 03 · NOVEMBER PLAN · 지마켓 · 11번가</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51-8</a:t>
            </a:r>
          </a:p>
        </p:txBody>
      </p:sp>
      <p:sp>
        <p:nvSpPr>
          <p:cNvPr id="2" name="text-324">
            <a:extLst>
              <a:ext uri="{FF2B5EF4-FFF2-40B4-BE49-F238E27FC236}">
                <a16:creationId xmlns:a16="http://schemas.microsoft.com/office/drawing/2014/main" id="{07031293-D46C-4A6A-816C-0B86BB67416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지마켓은 운영 중인 광고를 유형별로</a:t>
            </a:r>
            <a:r>
              <a:rPr lang="ko-KR" sz="1900" dirty="0">
                <a:solidFill>
                  <a:srgbClr val="222222"/>
                </a:solidFill>
                <a:latin typeface="에이투지체 8 ExtraBold"/>
                <a:ea typeface="에이투지체 8 ExtraBold"/>
                <a:cs typeface="에이투지체 8 ExtraBold"/>
              </a:rPr>
              <a:t> 나누고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11번가는 대표 상품부터 검증해 성과에 따라 예산을 재배분합니다</a:t>
            </a:r>
            <a:endParaRPr lang="ko-KR" sz="1900" dirty="0"/>
          </a:p>
        </p:txBody>
      </p:sp>
      <p:sp>
        <p:nvSpPr>
          <p:cNvPr id="3" name="text-325">
            <a:extLst>
              <a:ext uri="{FF2B5EF4-FFF2-40B4-BE49-F238E27FC236}">
                <a16:creationId xmlns:a16="http://schemas.microsoft.com/office/drawing/2014/main" id="{A948AE7F-2DF3-4E15-B2D2-2248EF80911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지마켓·11번가 핵심과제  매체별 운영 구조</a:t>
            </a:r>
            <a:endParaRPr lang="ko-KR" sz="1100" dirty="0"/>
          </a:p>
        </p:txBody>
      </p:sp>
      <p:sp>
        <p:nvSpPr>
          <p:cNvPr id="4" name="text-326">
            <a:extLst>
              <a:ext uri="{FF2B5EF4-FFF2-40B4-BE49-F238E27FC236}">
                <a16:creationId xmlns:a16="http://schemas.microsoft.com/office/drawing/2014/main" id="{7C081767-5B60-41BA-8A2C-C146EC9B64B7}"/>
              </a:ext>
            </a:extLst>
          </p:cNvPr>
          <p:cNvSpPr>
            <a:spLocks noGrp="1"/>
          </p:cNvSpPr>
          <p:nvPr/>
        </p:nvSpPr>
        <p:spPr>
          <a:xfrm>
            <a:off x="552450" y="2057400"/>
            <a:ext cx="6534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지마켓  AI Product Ads 유형별 역할</a:t>
            </a:r>
          </a:p>
        </p:txBody>
      </p:sp>
      <p:sp>
        <p:nvSpPr>
          <p:cNvPr id="6" name="text-327">
            <a:extLst>
              <a:ext uri="{FF2B5EF4-FFF2-40B4-BE49-F238E27FC236}">
                <a16:creationId xmlns:a16="http://schemas.microsoft.com/office/drawing/2014/main" id="{AC3D492C-1871-4ECD-A853-BECE383AB7F5}"/>
              </a:ext>
            </a:extLst>
          </p:cNvPr>
          <p:cNvSpPr>
            <a:spLocks noGrp="1"/>
          </p:cNvSpPr>
          <p:nvPr/>
        </p:nvSpPr>
        <p:spPr>
          <a:xfrm>
            <a:off x="8077200" y="2057400"/>
            <a:ext cx="35433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11번가  공식 스토어 초기 운영</a:t>
            </a:r>
          </a:p>
        </p:txBody>
      </p:sp>
      <p:sp>
        <p:nvSpPr>
          <p:cNvPr id="10" name="node-330">
            <a:extLst>
              <a:ext uri="{FF2B5EF4-FFF2-40B4-BE49-F238E27FC236}">
                <a16:creationId xmlns:a16="http://schemas.microsoft.com/office/drawing/2014/main" id="{B3C8D8D8-92C3-4EFA-A5D9-8AA0A256B2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31">
            <a:extLst>
              <a:ext uri="{FF2B5EF4-FFF2-40B4-BE49-F238E27FC236}">
                <a16:creationId xmlns:a16="http://schemas.microsoft.com/office/drawing/2014/main" id="{1FC95A3F-12DD-464E-815E-860671D9DFF4}"/>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지마켓의 CPC는 상한선으로 관리하고, 매체별 상품 ROAS가 확인된 곳에 예산을 확대합니다</a:t>
            </a:r>
          </a:p>
        </p:txBody>
      </p:sp>
      <p:sp>
        <p:nvSpPr>
          <p:cNvPr id="17" name="TextBox 16"/>
          <p:cNvSpPr txBox="1"/>
          <p:nvPr/>
        </p:nvSpPr>
        <p:spPr>
          <a:xfrm>
            <a:off x="548640" y="2432304"/>
            <a:ext cx="182880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AI 자동 운영</a:t>
            </a:r>
          </a:p>
        </p:txBody>
      </p:sp>
      <p:sp>
        <p:nvSpPr>
          <p:cNvPr id="18" name="TextBox 17"/>
          <p:cNvSpPr txBox="1"/>
          <p:nvPr/>
        </p:nvSpPr>
        <p:spPr>
          <a:xfrm>
            <a:off x="5806440" y="2432304"/>
            <a:ext cx="146304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직접 관리</a:t>
            </a:r>
          </a:p>
        </p:txBody>
      </p:sp>
      <p:cxnSp>
        <p:nvCxnSpPr>
          <p:cNvPr id="19" name="Connector 18"/>
          <p:cNvCxnSpPr/>
          <p:nvPr/>
        </p:nvCxnSpPr>
        <p:spPr>
          <a:xfrm>
            <a:off x="1600200" y="2546604"/>
            <a:ext cx="4160520" cy="0"/>
          </a:xfrm>
          <a:prstGeom prst="line">
            <a:avLst/>
          </a:prstGeom>
          <a:ln w="9525">
            <a:solidFill>
              <a:srgbClr val="004F9F"/>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5596128" y="2455164"/>
            <a:ext cx="128016" cy="182880"/>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9808"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ot_FFFFFF.png"/>
          <p:cNvPicPr>
            <a:picLocks noChangeAspect="1"/>
          </p:cNvPicPr>
          <p:nvPr/>
        </p:nvPicPr>
        <p:blipFill>
          <a:blip r:embed="rId3"/>
          <a:stretch>
            <a:fillRect/>
          </a:stretch>
        </p:blipFill>
        <p:spPr>
          <a:xfrm>
            <a:off x="859170" y="3099450"/>
            <a:ext cx="201899" cy="201899"/>
          </a:xfrm>
          <a:prstGeom prst="rect">
            <a:avLst/>
          </a:prstGeom>
        </p:spPr>
      </p:pic>
      <p:sp>
        <p:nvSpPr>
          <p:cNvPr id="24" name="TextBox 23"/>
          <p:cNvSpPr txBox="1"/>
          <p:nvPr/>
        </p:nvSpPr>
        <p:spPr>
          <a:xfrm>
            <a:off x="749808"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통합 운영형</a:t>
            </a:r>
          </a:p>
        </p:txBody>
      </p:sp>
      <p:sp>
        <p:nvSpPr>
          <p:cNvPr id="25" name="TextBox 24"/>
          <p:cNvSpPr txBox="1"/>
          <p:nvPr/>
        </p:nvSpPr>
        <p:spPr>
          <a:xfrm>
            <a:off x="749808"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입찰 모두 AI</a:t>
            </a:r>
          </a:p>
        </p:txBody>
      </p:sp>
      <p:cxnSp>
        <p:nvCxnSpPr>
          <p:cNvPr id="26" name="Connector 25"/>
          <p:cNvCxnSpPr/>
          <p:nvPr/>
        </p:nvCxnSpPr>
        <p:spPr>
          <a:xfrm>
            <a:off x="749808"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808"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28" name="TextBox 27"/>
          <p:cNvSpPr txBox="1"/>
          <p:nvPr/>
        </p:nvSpPr>
        <p:spPr>
          <a:xfrm>
            <a:off x="749808"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그 외 상품 소액 탐색</a:t>
            </a:r>
          </a:p>
        </p:txBody>
      </p:sp>
      <p:sp>
        <p:nvSpPr>
          <p:cNvPr id="29" name="Rounded Rectangle 28"/>
          <p:cNvSpPr/>
          <p:nvPr/>
        </p:nvSpPr>
        <p:spPr>
          <a:xfrm>
            <a:off x="2889504"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090672"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liders-horizontal_FFFFFF.png"/>
          <p:cNvPicPr>
            <a:picLocks noChangeAspect="1"/>
          </p:cNvPicPr>
          <p:nvPr/>
        </p:nvPicPr>
        <p:blipFill>
          <a:blip r:embed="rId4"/>
          <a:stretch>
            <a:fillRect/>
          </a:stretch>
        </p:blipFill>
        <p:spPr>
          <a:xfrm>
            <a:off x="3200034" y="3099450"/>
            <a:ext cx="201899" cy="201899"/>
          </a:xfrm>
          <a:prstGeom prst="rect">
            <a:avLst/>
          </a:prstGeom>
        </p:spPr>
      </p:pic>
      <p:sp>
        <p:nvSpPr>
          <p:cNvPr id="32" name="TextBox 31"/>
          <p:cNvSpPr txBox="1"/>
          <p:nvPr/>
        </p:nvSpPr>
        <p:spPr>
          <a:xfrm>
            <a:off x="3090672"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집중 운영형</a:t>
            </a:r>
          </a:p>
        </p:txBody>
      </p:sp>
      <p:sp>
        <p:nvSpPr>
          <p:cNvPr id="33" name="TextBox 32"/>
          <p:cNvSpPr txBox="1"/>
          <p:nvPr/>
        </p:nvSpPr>
        <p:spPr>
          <a:xfrm>
            <a:off x="3090672"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상품은 선택, 입찰은 AI</a:t>
            </a:r>
          </a:p>
        </p:txBody>
      </p:sp>
      <p:cxnSp>
        <p:nvCxnSpPr>
          <p:cNvPr id="34" name="Connector 33"/>
          <p:cNvCxnSpPr/>
          <p:nvPr/>
        </p:nvCxnSpPr>
        <p:spPr>
          <a:xfrm>
            <a:off x="3090672"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90672"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36" name="TextBox 35"/>
          <p:cNvSpPr txBox="1"/>
          <p:nvPr/>
        </p:nvSpPr>
        <p:spPr>
          <a:xfrm>
            <a:off x="3090672"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카무트 효소 성과 검증</a:t>
            </a:r>
          </a:p>
        </p:txBody>
      </p:sp>
      <p:sp>
        <p:nvSpPr>
          <p:cNvPr id="37" name="Rounded Rectangle 36"/>
          <p:cNvSpPr/>
          <p:nvPr/>
        </p:nvSpPr>
        <p:spPr>
          <a:xfrm>
            <a:off x="5230368" y="2788920"/>
            <a:ext cx="2194560" cy="1965960"/>
          </a:xfrm>
          <a:prstGeom prst="roundRect">
            <a:avLst>
              <a:gd name="adj" fmla="val 3720"/>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31536"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target_FFFFFF.png"/>
          <p:cNvPicPr>
            <a:picLocks noChangeAspect="1"/>
          </p:cNvPicPr>
          <p:nvPr/>
        </p:nvPicPr>
        <p:blipFill>
          <a:blip r:embed="rId5"/>
          <a:stretch>
            <a:fillRect/>
          </a:stretch>
        </p:blipFill>
        <p:spPr>
          <a:xfrm>
            <a:off x="5540898" y="3099450"/>
            <a:ext cx="201899" cy="201899"/>
          </a:xfrm>
          <a:prstGeom prst="rect">
            <a:avLst/>
          </a:prstGeom>
        </p:spPr>
      </p:pic>
      <p:sp>
        <p:nvSpPr>
          <p:cNvPr id="40" name="TextBox 39"/>
          <p:cNvSpPr txBox="1"/>
          <p:nvPr/>
        </p:nvSpPr>
        <p:spPr>
          <a:xfrm>
            <a:off x="5431536"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직접 운영형</a:t>
            </a:r>
          </a:p>
        </p:txBody>
      </p:sp>
      <p:sp>
        <p:nvSpPr>
          <p:cNvPr id="41" name="TextBox 40"/>
          <p:cNvSpPr txBox="1"/>
          <p:nvPr/>
        </p:nvSpPr>
        <p:spPr>
          <a:xfrm>
            <a:off x="5431536"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키워드 · 입찰가 직접</a:t>
            </a:r>
          </a:p>
        </p:txBody>
      </p:sp>
      <p:cxnSp>
        <p:nvCxnSpPr>
          <p:cNvPr id="42" name="Connector 41"/>
          <p:cNvCxnSpPr/>
          <p:nvPr/>
        </p:nvCxnSpPr>
        <p:spPr>
          <a:xfrm>
            <a:off x="5431536" y="4087368"/>
            <a:ext cx="1792223"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431536"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44" name="TextBox 43"/>
          <p:cNvSpPr txBox="1"/>
          <p:nvPr/>
        </p:nvSpPr>
        <p:spPr>
          <a:xfrm>
            <a:off x="5431536"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키성장 FGO 키워드별 CPC 상한</a:t>
            </a:r>
          </a:p>
        </p:txBody>
      </p:sp>
      <p:sp>
        <p:nvSpPr>
          <p:cNvPr id="45" name="Rounded Rectangle 44"/>
          <p:cNvSpPr/>
          <p:nvPr/>
        </p:nvSpPr>
        <p:spPr>
          <a:xfrm>
            <a:off x="8074152" y="2487168"/>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229600" y="2578608"/>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check_FFFFFF.png"/>
          <p:cNvPicPr>
            <a:picLocks noChangeAspect="1"/>
          </p:cNvPicPr>
          <p:nvPr/>
        </p:nvPicPr>
        <p:blipFill>
          <a:blip r:embed="rId6"/>
          <a:stretch>
            <a:fillRect/>
          </a:stretch>
        </p:blipFill>
        <p:spPr>
          <a:xfrm>
            <a:off x="8305678" y="2654686"/>
            <a:ext cx="140451" cy="140451"/>
          </a:xfrm>
          <a:prstGeom prst="rect">
            <a:avLst/>
          </a:prstGeom>
        </p:spPr>
      </p:pic>
      <p:sp>
        <p:nvSpPr>
          <p:cNvPr id="48" name="TextBox 47"/>
          <p:cNvSpPr txBox="1"/>
          <p:nvPr/>
        </p:nvSpPr>
        <p:spPr>
          <a:xfrm>
            <a:off x="8641080" y="2487168"/>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브랜드 키워드 우선</a:t>
            </a:r>
          </a:p>
        </p:txBody>
      </p:sp>
      <p:sp>
        <p:nvSpPr>
          <p:cNvPr id="49" name="Rounded Rectangle 48"/>
          <p:cNvSpPr/>
          <p:nvPr/>
        </p:nvSpPr>
        <p:spPr>
          <a:xfrm>
            <a:off x="8074152" y="3063240"/>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0" y="3154680"/>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check_FFFFFF.png"/>
          <p:cNvPicPr>
            <a:picLocks noChangeAspect="1"/>
          </p:cNvPicPr>
          <p:nvPr/>
        </p:nvPicPr>
        <p:blipFill>
          <a:blip r:embed="rId6"/>
          <a:stretch>
            <a:fillRect/>
          </a:stretch>
        </p:blipFill>
        <p:spPr>
          <a:xfrm>
            <a:off x="8305678" y="3230758"/>
            <a:ext cx="140451" cy="140451"/>
          </a:xfrm>
          <a:prstGeom prst="rect">
            <a:avLst/>
          </a:prstGeom>
        </p:spPr>
      </p:pic>
      <p:sp>
        <p:nvSpPr>
          <p:cNvPr id="52" name="TextBox 51"/>
          <p:cNvSpPr txBox="1"/>
          <p:nvPr/>
        </p:nvSpPr>
        <p:spPr>
          <a:xfrm>
            <a:off x="8641080" y="3063240"/>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키성장 롱테일 테스트</a:t>
            </a:r>
          </a:p>
        </p:txBody>
      </p:sp>
      <p:sp>
        <p:nvSpPr>
          <p:cNvPr id="53" name="Rounded Rectangle 52"/>
          <p:cNvSpPr/>
          <p:nvPr/>
        </p:nvSpPr>
        <p:spPr>
          <a:xfrm>
            <a:off x="8074152" y="3639312"/>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229600" y="3730752"/>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check_FFFFFF.png"/>
          <p:cNvPicPr>
            <a:picLocks noChangeAspect="1"/>
          </p:cNvPicPr>
          <p:nvPr/>
        </p:nvPicPr>
        <p:blipFill>
          <a:blip r:embed="rId6"/>
          <a:stretch>
            <a:fillRect/>
          </a:stretch>
        </p:blipFill>
        <p:spPr>
          <a:xfrm>
            <a:off x="8305678" y="3806830"/>
            <a:ext cx="140451" cy="140451"/>
          </a:xfrm>
          <a:prstGeom prst="rect">
            <a:avLst/>
          </a:prstGeom>
        </p:spPr>
      </p:pic>
      <p:sp>
        <p:nvSpPr>
          <p:cNvPr id="56" name="TextBox 55"/>
          <p:cNvSpPr txBox="1"/>
          <p:nvPr/>
        </p:nvSpPr>
        <p:spPr>
          <a:xfrm>
            <a:off x="8641080" y="3639312"/>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대표 상품 1~2개에 집중</a:t>
            </a:r>
          </a:p>
        </p:txBody>
      </p:sp>
      <p:sp>
        <p:nvSpPr>
          <p:cNvPr id="57" name="Rounded Rectangle 56"/>
          <p:cNvSpPr/>
          <p:nvPr/>
        </p:nvSpPr>
        <p:spPr>
          <a:xfrm>
            <a:off x="8074152" y="4215384"/>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229600" y="4306824"/>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check_FFFFFF.png"/>
          <p:cNvPicPr>
            <a:picLocks noChangeAspect="1"/>
          </p:cNvPicPr>
          <p:nvPr/>
        </p:nvPicPr>
        <p:blipFill>
          <a:blip r:embed="rId6"/>
          <a:stretch>
            <a:fillRect/>
          </a:stretch>
        </p:blipFill>
        <p:spPr>
          <a:xfrm>
            <a:off x="8305678" y="4382902"/>
            <a:ext cx="140451" cy="140451"/>
          </a:xfrm>
          <a:prstGeom prst="rect">
            <a:avLst/>
          </a:prstGeom>
        </p:spPr>
      </p:pic>
      <p:sp>
        <p:nvSpPr>
          <p:cNvPr id="60" name="TextBox 59"/>
          <p:cNvSpPr txBox="1"/>
          <p:nvPr/>
        </p:nvSpPr>
        <p:spPr>
          <a:xfrm>
            <a:off x="8641080" y="4215384"/>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판매처 노출 월 1회 점검</a:t>
            </a:r>
          </a:p>
        </p:txBody>
      </p:sp>
      <p:sp>
        <p:nvSpPr>
          <p:cNvPr id="61" name="Rounded Rectangle 60"/>
          <p:cNvSpPr/>
          <p:nvPr/>
        </p:nvSpPr>
        <p:spPr>
          <a:xfrm>
            <a:off x="548640"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copy-x_004F9F.png"/>
          <p:cNvPicPr>
            <a:picLocks noChangeAspect="1"/>
          </p:cNvPicPr>
          <p:nvPr/>
        </p:nvPicPr>
        <p:blipFill>
          <a:blip r:embed="rId7"/>
          <a:stretch>
            <a:fillRect/>
          </a:stretch>
        </p:blipFill>
        <p:spPr>
          <a:xfrm>
            <a:off x="685800" y="5029200"/>
            <a:ext cx="292608" cy="292608"/>
          </a:xfrm>
          <a:prstGeom prst="rect">
            <a:avLst/>
          </a:prstGeom>
        </p:spPr>
      </p:pic>
      <p:sp>
        <p:nvSpPr>
          <p:cNvPr id="63" name="TextBox 62"/>
          <p:cNvSpPr txBox="1"/>
          <p:nvPr/>
        </p:nvSpPr>
        <p:spPr>
          <a:xfrm>
            <a:off x="1097280"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64" name="Rounded Rectangle 63"/>
          <p:cNvSpPr/>
          <p:nvPr/>
        </p:nvSpPr>
        <p:spPr>
          <a:xfrm>
            <a:off x="429767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descr="search_004F9F.png"/>
          <p:cNvPicPr>
            <a:picLocks noChangeAspect="1"/>
          </p:cNvPicPr>
          <p:nvPr/>
        </p:nvPicPr>
        <p:blipFill>
          <a:blip r:embed="rId8"/>
          <a:stretch>
            <a:fillRect/>
          </a:stretch>
        </p:blipFill>
        <p:spPr>
          <a:xfrm>
            <a:off x="4434840" y="5029200"/>
            <a:ext cx="292608" cy="292608"/>
          </a:xfrm>
          <a:prstGeom prst="rect">
            <a:avLst/>
          </a:prstGeom>
        </p:spPr>
      </p:pic>
      <p:sp>
        <p:nvSpPr>
          <p:cNvPr id="66" name="TextBox 65"/>
          <p:cNvSpPr txBox="1"/>
          <p:nvPr/>
        </p:nvSpPr>
        <p:spPr>
          <a:xfrm>
            <a:off x="484631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주간 검색어 · 상품 성과 확인</a:t>
            </a:r>
          </a:p>
        </p:txBody>
      </p:sp>
      <p:sp>
        <p:nvSpPr>
          <p:cNvPr id="67" name="Rounded Rectangle 66"/>
          <p:cNvSpPr/>
          <p:nvPr/>
        </p:nvSpPr>
        <p:spPr>
          <a:xfrm>
            <a:off x="804671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trending-up_004F9F.png"/>
          <p:cNvPicPr>
            <a:picLocks noChangeAspect="1"/>
          </p:cNvPicPr>
          <p:nvPr/>
        </p:nvPicPr>
        <p:blipFill>
          <a:blip r:embed="rId9"/>
          <a:stretch>
            <a:fillRect/>
          </a:stretch>
        </p:blipFill>
        <p:spPr>
          <a:xfrm>
            <a:off x="8183879" y="5029200"/>
            <a:ext cx="292608" cy="292608"/>
          </a:xfrm>
          <a:prstGeom prst="rect">
            <a:avLst/>
          </a:prstGeom>
        </p:spPr>
      </p:pic>
      <p:sp>
        <p:nvSpPr>
          <p:cNvPr id="69" name="TextBox 68"/>
          <p:cNvSpPr txBox="1"/>
          <p:nvPr/>
        </p:nvSpPr>
        <p:spPr>
          <a:xfrm>
            <a:off x="859535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월간 매체별 ROAS 비교</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CH 03 · NOVEMBER PLAN · 지마켓 · 11번가</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같은 매체 안에서도 운영형별 ROAS가 2배 차이</a:t>
            </a:r>
            <a:r>
              <a:rPr sz="1900" b="0">
                <a:solidFill>
                  <a:srgbClr val="222222"/>
                </a:solidFill>
                <a:latin typeface="에이투지체 8 ExtraBold"/>
                <a:ea typeface="에이투지체 8 ExtraBold"/>
                <a:cs typeface="에이투지체 8 ExtraBold"/>
              </a:rPr>
              <a:t>나기 때문에</a:t>
            </a:r>
          </a:p>
          <a:p>
            <a:pPr>
              <a:lnSpc>
                <a:spcPts val="2600"/>
              </a:lnSpc>
            </a:pPr>
            <a:r>
              <a:rPr sz="1900" b="0">
                <a:solidFill>
                  <a:srgbClr val="222222"/>
                </a:solidFill>
                <a:latin typeface="에이투지체 8 ExtraBold"/>
                <a:ea typeface="에이투지체 8 ExtraBold"/>
                <a:cs typeface="에이투지체 8 ExtraBold"/>
              </a:rPr>
              <a:t>월간 리포트로 예산과 CPC 상한을 매월 조정합니다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운영 관리  사내 월간 리포트 (동종 건기식 사례)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매월 같은 기준의 리포트로 운영형별 성과를 비교하고, 성과가 확인된 곳에 예산을 옮기겠습니다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동종 건기식 광고주 지마켓 실제 운영 데이터 (월 광고비 약 1,000만 원, 링크프라이스 사내 월간 리포트) / 광고수익률 외 수치는 가림 처리</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51-9</a:t>
            </a:r>
          </a:p>
        </p:txBody>
      </p:sp>
      <p:sp>
        <p:nvSpPr>
          <p:cNvPr id="11" name="TextBox 10"/>
          <p:cNvSpPr txBox="1"/>
          <p:nvPr/>
        </p:nvSpPr>
        <p:spPr>
          <a:xfrm>
            <a:off x="548640" y="1993392"/>
            <a:ext cx="7223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동종 건기식 사례  </a:t>
            </a:r>
            <a:r>
              <a:rPr sz="1250" b="0">
                <a:solidFill>
                  <a:srgbClr val="222222"/>
                </a:solidFill>
                <a:latin typeface="에이투지체 6 SemiBold"/>
                <a:ea typeface="에이투지체 6 SemiBold"/>
                <a:cs typeface="에이투지체 6 SemiBold"/>
              </a:rPr>
              <a:t>월 광고비 약 1,000만 원, 캠페인 유형별 데이터</a:t>
            </a:r>
          </a:p>
        </p:txBody>
      </p:sp>
      <p:pic>
        <p:nvPicPr>
          <p:cNvPr id="12" name="Picture 11" descr="report.png"/>
          <p:cNvPicPr>
            <a:picLocks noChangeAspect="1"/>
          </p:cNvPicPr>
          <p:nvPr/>
        </p:nvPicPr>
        <p:blipFill>
          <a:blip r:embed="rId2"/>
          <a:stretch>
            <a:fillRect/>
          </a:stretch>
        </p:blipFill>
        <p:spPr>
          <a:xfrm>
            <a:off x="548640" y="2331720"/>
            <a:ext cx="7223760" cy="2414981"/>
          </a:xfrm>
          <a:prstGeom prst="rect">
            <a:avLst/>
          </a:prstGeom>
          <a:ln w="9525">
            <a:solidFill>
              <a:srgbClr val="DDDDDD"/>
            </a:solidFill>
          </a:ln>
        </p:spPr>
      </p:pic>
      <p:sp>
        <p:nvSpPr>
          <p:cNvPr id="13" name="Rounded Rectangle 12"/>
          <p:cNvSpPr/>
          <p:nvPr/>
        </p:nvSpPr>
        <p:spPr>
          <a:xfrm>
            <a:off x="548640" y="4846320"/>
            <a:ext cx="7223760" cy="502920"/>
          </a:xfrm>
          <a:prstGeom prst="roundRect">
            <a:avLst>
              <a:gd name="adj" fmla="val 1454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46320"/>
            <a:ext cx="6949440" cy="50292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광고수익률  </a:t>
            </a:r>
            <a:r>
              <a:rPr sz="1150" b="0">
                <a:solidFill>
                  <a:srgbClr val="222222"/>
                </a:solidFill>
                <a:latin typeface="에이투지체 6 SemiBold"/>
                <a:ea typeface="에이투지체 6 SemiBold"/>
                <a:cs typeface="에이투지체 6 SemiBold"/>
              </a:rPr>
              <a:t>통합 운영형 420%, 집중 운영형 383%, 직접 운영형 211%, 전체 291%</a:t>
            </a:r>
          </a:p>
        </p:txBody>
      </p:sp>
      <p:sp>
        <p:nvSpPr>
          <p:cNvPr id="15" name="TextBox 14"/>
          <p:cNvSpPr txBox="1"/>
          <p:nvPr/>
        </p:nvSpPr>
        <p:spPr>
          <a:xfrm>
            <a:off x="8092440" y="1993392"/>
            <a:ext cx="35204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관리에 쓰는 방식</a:t>
            </a:r>
          </a:p>
        </p:txBody>
      </p:sp>
      <p:sp>
        <p:nvSpPr>
          <p:cNvPr id="16" name="Rounded Rectangle 15"/>
          <p:cNvSpPr/>
          <p:nvPr/>
        </p:nvSpPr>
        <p:spPr>
          <a:xfrm>
            <a:off x="8092440" y="2331720"/>
            <a:ext cx="352044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2331720"/>
            <a:ext cx="411480" cy="658368"/>
          </a:xfrm>
          <a:prstGeom prst="rect">
            <a:avLst/>
          </a:prstGeom>
          <a:noFill/>
        </p:spPr>
        <p:txBody>
          <a:bodyPr wrap="square" lIns="0" tIns="0" rIns="0" bIns="0" anchor="ctr">
            <a:spAutoFit/>
          </a:bodyPr>
          <a:lstStyle/>
          <a:p>
            <a:pPr algn="l"/>
            <a:r>
              <a:rPr sz="1100" b="0">
                <a:solidFill>
                  <a:srgbClr val="FFFFFF"/>
                </a:solidFill>
                <a:latin typeface="에이투지체 6 SemiBold"/>
                <a:ea typeface="에이투지체 6 SemiBold"/>
                <a:cs typeface="에이투지체 6 SemiBold"/>
              </a:rPr>
              <a:t>01</a:t>
            </a:r>
          </a:p>
        </p:txBody>
      </p:sp>
      <p:sp>
        <p:nvSpPr>
          <p:cNvPr id="18" name="TextBox 17"/>
          <p:cNvSpPr txBox="1"/>
          <p:nvPr/>
        </p:nvSpPr>
        <p:spPr>
          <a:xfrm>
            <a:off x="8686800" y="2331720"/>
            <a:ext cx="2880360" cy="658368"/>
          </a:xfrm>
          <a:prstGeom prst="rect">
            <a:avLst/>
          </a:prstGeom>
          <a:noFill/>
        </p:spPr>
        <p:txBody>
          <a:bodyPr wrap="square" lIns="0" tIns="0" rIns="0" bIns="0" anchor="ctr">
            <a:spAutoFit/>
          </a:bodyPr>
          <a:lstStyle/>
          <a:p>
            <a:pPr algn="l"/>
            <a:r>
              <a:rPr sz="1200" b="0">
                <a:solidFill>
                  <a:srgbClr val="FFFFFF"/>
                </a:solidFill>
                <a:latin typeface="에이투지체 6 SemiBold"/>
                <a:ea typeface="에이투지체 6 SemiBold"/>
                <a:cs typeface="에이투지체 6 SemiBold"/>
              </a:rPr>
              <a:t>운영형별 ROAS 비교</a:t>
            </a:r>
          </a:p>
          <a:p>
            <a:pPr algn="l"/>
            <a:r>
              <a:rPr sz="950" b="0">
                <a:solidFill>
                  <a:srgbClr val="C9DAEE"/>
                </a:solidFill>
                <a:latin typeface="에이투지체 4 Regular"/>
                <a:ea typeface="에이투지체 4 Regular"/>
                <a:cs typeface="에이투지체 4 Regular"/>
              </a:rPr>
              <a:t>통합, 집중, 직접 운영형을 같은 기준으로 비교</a:t>
            </a:r>
          </a:p>
        </p:txBody>
      </p:sp>
      <p:sp>
        <p:nvSpPr>
          <p:cNvPr id="19" name="Rounded Rectangle 18"/>
          <p:cNvSpPr/>
          <p:nvPr/>
        </p:nvSpPr>
        <p:spPr>
          <a:xfrm>
            <a:off x="8092440" y="3099815"/>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3099815"/>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02</a:t>
            </a:r>
          </a:p>
        </p:txBody>
      </p:sp>
      <p:sp>
        <p:nvSpPr>
          <p:cNvPr id="21" name="TextBox 20"/>
          <p:cNvSpPr txBox="1"/>
          <p:nvPr/>
        </p:nvSpPr>
        <p:spPr>
          <a:xfrm>
            <a:off x="8686800" y="3099815"/>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예산 재배분</a:t>
            </a:r>
          </a:p>
          <a:p>
            <a:pPr algn="l"/>
            <a:r>
              <a:rPr sz="950" b="0">
                <a:solidFill>
                  <a:srgbClr val="5C5C5C"/>
                </a:solidFill>
                <a:latin typeface="에이투지체 4 Regular"/>
                <a:ea typeface="에이투지체 4 Regular"/>
                <a:cs typeface="에이투지체 4 Regular"/>
              </a:rPr>
              <a:t>ROAS가 확인된 운영형으로 다음 달 예산 이동</a:t>
            </a:r>
          </a:p>
        </p:txBody>
      </p:sp>
      <p:sp>
        <p:nvSpPr>
          <p:cNvPr id="22" name="Rounded Rectangle 21"/>
          <p:cNvSpPr/>
          <p:nvPr/>
        </p:nvSpPr>
        <p:spPr>
          <a:xfrm>
            <a:off x="8092440" y="3867911"/>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3867911"/>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03</a:t>
            </a:r>
          </a:p>
        </p:txBody>
      </p:sp>
      <p:sp>
        <p:nvSpPr>
          <p:cNvPr id="24" name="TextBox 23"/>
          <p:cNvSpPr txBox="1"/>
          <p:nvPr/>
        </p:nvSpPr>
        <p:spPr>
          <a:xfrm>
            <a:off x="8686800" y="3867911"/>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CPC 상한 조정</a:t>
            </a:r>
          </a:p>
          <a:p>
            <a:pPr algn="l"/>
            <a:r>
              <a:rPr sz="950" b="0">
                <a:solidFill>
                  <a:srgbClr val="5C5C5C"/>
                </a:solidFill>
                <a:latin typeface="에이투지체 4 Regular"/>
                <a:ea typeface="에이투지체 4 Regular"/>
                <a:cs typeface="에이투지체 4 Regular"/>
              </a:rPr>
              <a:t>직접 운영형 키워드별 CPC 상한 재설정</a:t>
            </a:r>
          </a:p>
        </p:txBody>
      </p:sp>
      <p:sp>
        <p:nvSpPr>
          <p:cNvPr id="25" name="Rounded Rectangle 24"/>
          <p:cNvSpPr/>
          <p:nvPr/>
        </p:nvSpPr>
        <p:spPr>
          <a:xfrm>
            <a:off x="8092440" y="4636008"/>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57031" y="4636008"/>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04</a:t>
            </a:r>
          </a:p>
        </p:txBody>
      </p:sp>
      <p:sp>
        <p:nvSpPr>
          <p:cNvPr id="27" name="TextBox 26"/>
          <p:cNvSpPr txBox="1"/>
          <p:nvPr/>
        </p:nvSpPr>
        <p:spPr>
          <a:xfrm>
            <a:off x="8686800" y="4636008"/>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상품 구성 반영</a:t>
            </a:r>
          </a:p>
          <a:p>
            <a:pPr algn="l"/>
            <a:r>
              <a:rPr sz="950" b="0">
                <a:solidFill>
                  <a:srgbClr val="5C5C5C"/>
                </a:solidFill>
                <a:latin typeface="에이투지체 4 Regular"/>
                <a:ea typeface="에이투지체 4 Regular"/>
                <a:cs typeface="에이투지체 4 Regular"/>
              </a:rPr>
              <a:t>운영형별 상품을 성과 기준으로 교체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TotalTime>
  <Words>2793</Words>
  <Application>Microsoft Office PowerPoint</Application>
  <PresentationFormat>와이드스크린</PresentationFormat>
  <Paragraphs>448</Paragraphs>
  <Slides>17</Slides>
  <Notes>2</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17</vt:i4>
      </vt:variant>
    </vt:vector>
  </HeadingPairs>
  <TitlesOfParts>
    <vt:vector size="24" baseType="lpstr">
      <vt:lpstr>에이투지체 3 Light</vt:lpstr>
      <vt:lpstr>에이투지체 4 Regular</vt:lpstr>
      <vt:lpstr>에이투지체 5 Medium</vt:lpstr>
      <vt:lpstr>에이투지체 6 SemiBold</vt:lpstr>
      <vt:lpstr>에이투지체 8 ExtraBold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LINKPRICE USER084</cp:lastModifiedBy>
  <cp:revision>37</cp:revision>
  <dcterms:created xsi:type="dcterms:W3CDTF">2026-10-07T09:08:19Z</dcterms:created>
  <dcterms:modified xsi:type="dcterms:W3CDTF">2026-10-13T08:18:16Z</dcterms:modified>
</cp:coreProperties>
</file>