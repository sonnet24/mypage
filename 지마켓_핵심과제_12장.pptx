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438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1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1D339B-5518-4220-A5EC-C17406771880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7A4A0D-F971-42FA-B832-151C9EA105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4392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0A5EFE-3F8F-5D68-421B-2B06070934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28E661E-CD00-4DCF-7002-CFCED59D19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F3A802-5BBC-5B90-3AB2-E6478A727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4271-44E2-4150-918C-2DB7E193BA46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208076-D652-25C5-C539-88C1DFBB7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369F45-D33D-07B4-C996-3F604A95E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4FD09-E3BE-48D3-9F5C-96E2B29058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5359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7DEF00-6B72-4A0F-09C7-EC3CBCEC3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84DF9E-96D1-0CB8-35E3-92FA2B2EC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9F49C4-98E1-73F9-ACFF-86BBA9A67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4271-44E2-4150-918C-2DB7E193BA46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BD3B17-B855-5178-9CD4-D5DA5615E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D87DE5-4E9C-EB3C-4FA3-60700312C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4FD09-E3BE-48D3-9F5C-96E2B29058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5833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BA7E04-47FE-99AA-58FB-864D11AAF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0363215-B775-1A9E-6307-CE09126375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B17DAF-E9D3-4C34-A80A-0A6A9202F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4271-44E2-4150-918C-2DB7E193BA46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F7F450-589C-3D96-6319-AD11F924B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F2ED9E-CDCA-7DFC-93E9-9F4524932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4FD09-E3BE-48D3-9F5C-96E2B29058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8061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3F4531-B35F-412B-B5E5-BB5D7551A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2E0DA9-4EB0-3129-2479-2E93410D0A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FED597F-FCE4-72CE-6A53-BBE99F721A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28F1CA-AD0F-642D-2F6B-16E295AD8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4271-44E2-4150-918C-2DB7E193BA46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A0DCBF0-5AD5-6BF4-BCA2-C05C59F9A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3FE4C43-3412-5FA5-B20E-57131C064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4FD09-E3BE-48D3-9F5C-96E2B29058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0215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296258-4569-42D5-DE1E-010955358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97BDDCE-E7A8-D9AC-1155-4FB437CF5E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EC3DF4C-5096-CAEE-206A-14EA3A57AD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AFE454C-FFD7-BC23-D574-8262B007CE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F2C5E07-40DD-DE09-29C5-FECBA7EFCF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A247EDB-776D-AFEF-65B6-DD0BC3000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4271-44E2-4150-918C-2DB7E193BA46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868CAF9-F212-C742-0E9C-859552DD3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F057D1E-2086-9332-A4CD-55FBF1605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4FD09-E3BE-48D3-9F5C-96E2B29058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0145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9BD9A2-8CE7-1085-F5CD-2ADB3C536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4A99087-D8E5-BBB1-006B-9E6E2EA50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4271-44E2-4150-918C-2DB7E193BA46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F48BEF3-FC78-F512-5E03-63EACD5BE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C7A1DF5-4CC6-80E3-791B-B35157836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4FD09-E3BE-48D3-9F5C-96E2B29058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9072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4F18778-9F04-DEB0-044D-3EFF10F09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4271-44E2-4150-918C-2DB7E193BA46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F72C68B-5AB2-0AA5-51ED-E6D4C426E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E56A87-1EBA-BB3B-6652-14B5D84BC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4FD09-E3BE-48D3-9F5C-96E2B29058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3851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4A2155-7D27-56EC-BB31-BD780C2EE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318B50-F0F1-B222-1CD8-AB5C274CE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6E1CBB0-8268-E44C-5777-E0F181291B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848C5A7-69B2-CDC0-C166-511D2113B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4271-44E2-4150-918C-2DB7E193BA46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BBF4C09-A9DD-D394-30CB-36A45903B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D70D902-143A-D73D-5032-C10485B99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4FD09-E3BE-48D3-9F5C-96E2B29058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5285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2216E7-1915-D845-56D4-0F1856F4B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FD51BDD-B3B3-C866-3865-10C7C89C874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8FCBB3B-7BFE-454E-E8C1-31116E89B9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F2B9CB9-E5DC-C162-97A0-7A5D7420F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4271-44E2-4150-918C-2DB7E193BA46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1B588F0-4E7A-C2C7-743C-9C955D634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272DE62-085C-2BA9-C649-64D1EA806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4FD09-E3BE-48D3-9F5C-96E2B29058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3167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3BC024-2FC8-8551-CB26-783A12343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A88B235-76CB-DE9A-262E-CFF90476B1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69E48F-D785-5CAC-6A05-9AAC93081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4271-44E2-4150-918C-2DB7E193BA46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0BF1AC-7DC3-92CE-6FE5-B3406E7F1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ADF5BC-7F34-599A-36D2-83C86753F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4FD09-E3BE-48D3-9F5C-96E2B29058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6176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5BCE91C-E350-62FA-4E73-0307AEB05B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AC05D91-D80F-D64F-C551-1A3426FB1C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AEB09B-6BEB-EC97-48DB-F09423EB0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4271-44E2-4150-918C-2DB7E193BA46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2F20EC-7BAD-F719-7083-B0FF1BF45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320B36-A953-3331-3EF5-88A9C35DD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4FD09-E3BE-48D3-9F5C-96E2B29058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11143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467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03231B9-3232-E59C-ED7F-FB99F6D40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010D45-F53A-5258-1134-4023D0C998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0096B4-7752-8B1E-BB67-E34D89EC7F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794271-44E2-4150-918C-2DB7E193BA46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FDBED7-30BC-C28B-7C48-3287B6D98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213279-39E8-34AA-0F1A-477609874B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44FD09-E3BE-48D3-9F5C-96E2B29058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6822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 spc="10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PART 2 · 11월 마케팅 전략 · 미디어믹스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9264"/>
            <a:ext cx="1106424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ts val="2600"/>
              </a:lnSpc>
            </a:pPr>
            <a:r>
              <a:rPr sz="1900" b="0">
                <a:solidFill>
                  <a:srgbClr val="FFFFFF"/>
                </a:solidFill>
                <a:highlight>
                  <a:srgbClr val="0000FF"/>
                </a:highlight>
                <a:latin typeface="에이투지체 8 ExtraBold"/>
                <a:ea typeface="에이투지체 8 ExtraBold"/>
                <a:cs typeface="에이투지체 8 ExtraBold"/>
              </a:rPr>
              <a:t>지마켓 핵심 과제</a:t>
            </a:r>
            <a:r>
              <a:rPr sz="1900" b="0">
                <a:solidFill>
                  <a:srgbClr val="222222"/>
                </a:solidFill>
                <a:latin typeface="에이투지체 8 ExtraBold"/>
                <a:ea typeface="에이투지체 8 ExtraBold"/>
                <a:cs typeface="에이투지체 8 ExtraBold"/>
              </a:rPr>
              <a:t>는 세 가지로 나누어</a:t>
            </a:r>
          </a:p>
          <a:p>
            <a:pPr>
              <a:lnSpc>
                <a:spcPts val="2600"/>
              </a:lnSpc>
            </a:pPr>
            <a:r>
              <a:rPr sz="1900" b="0">
                <a:solidFill>
                  <a:srgbClr val="222222"/>
                </a:solidFill>
                <a:latin typeface="에이투지체 8 ExtraBold"/>
                <a:ea typeface="에이투지체 8 ExtraBold"/>
                <a:cs typeface="에이투지체 8 ExtraBold"/>
              </a:rPr>
              <a:t>통합·집중·직접 운영형을 역할별로 나눠 운영하겠습니다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C5C5C"/>
                </a:solidFill>
                <a:latin typeface="에이투지체 5 Medium"/>
                <a:ea typeface="에이투지체 5 Medium"/>
                <a:cs typeface="에이투지체 5 Medium"/>
              </a:rPr>
              <a:t>지마켓 핵심 과제 정리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577840"/>
            <a:ext cx="11064240" cy="438912"/>
          </a:xfrm>
          <a:prstGeom prst="roundRect">
            <a:avLst>
              <a:gd name="adj" fmla="val 16666"/>
            </a:avLst>
          </a:prstGeom>
          <a:solidFill>
            <a:srgbClr val="EAF2FB"/>
          </a:solidFill>
          <a:ln w="9525">
            <a:solidFill>
              <a:srgbClr val="004F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0664" y="5632704"/>
            <a:ext cx="10671048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dirty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지마켓은 쿠팡에서 검증된 상품과 검색어를 중심으로 예산을 늘립니다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19191"/>
                </a:solidFill>
                <a:latin typeface="에이투지체 3 Light"/>
                <a:ea typeface="에이투지체 3 Light"/>
                <a:cs typeface="에이투지체 3 Light"/>
              </a:rPr>
              <a:t>DODREAM B&amp;B AD PROPOSAL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647395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19191"/>
                </a:solidFill>
                <a:latin typeface="에이투지체 3 Light"/>
                <a:ea typeface="에이투지체 3 Light"/>
                <a:cs typeface="에이투지체 3 Light"/>
              </a:rPr>
              <a:t>LINKPRICE · BRAND AD CENTER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222222"/>
                </a:solidFill>
                <a:latin typeface="에이투지체 6 SemiBold"/>
                <a:ea typeface="에이투지체 6 SemiBold"/>
                <a:cs typeface="에이투지체 6 SemiBold"/>
              </a:rPr>
              <a:t>47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84831"/>
            <a:ext cx="2423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919191"/>
                </a:solidFill>
                <a:latin typeface="에이투지체 6 SemiBold"/>
                <a:ea typeface="에이투지체 6 SemiBold"/>
                <a:cs typeface="에이투지체 6 SemiBold"/>
              </a:rPr>
              <a:t>핵심 과제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084831"/>
            <a:ext cx="3931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919191"/>
                </a:solidFill>
                <a:latin typeface="에이투지체 6 SemiBold"/>
                <a:ea typeface="에이투지체 6 SemiBold"/>
                <a:cs typeface="에이투지체 6 SemiBold"/>
              </a:rPr>
              <a:t>실행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2084831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919191"/>
                </a:solidFill>
                <a:latin typeface="에이투지체 6 SemiBold"/>
                <a:ea typeface="에이투지체 6 SemiBold"/>
                <a:cs typeface="에이투지체 6 SemiBold"/>
              </a:rPr>
              <a:t>운영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2084831"/>
            <a:ext cx="1645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919191"/>
                </a:solidFill>
                <a:latin typeface="에이투지체 6 SemiBold"/>
                <a:ea typeface="에이투지체 6 SemiBold"/>
                <a:cs typeface="에이투지체 6 SemiBold"/>
              </a:rPr>
              <a:t>관리 지표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395728"/>
            <a:ext cx="2423160" cy="731520"/>
          </a:xfrm>
          <a:prstGeom prst="roundRect">
            <a:avLst>
              <a:gd name="adj" fmla="val 11428"/>
            </a:avLst>
          </a:prstGeom>
          <a:solidFill>
            <a:srgbClr val="004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2395728"/>
            <a:ext cx="21488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에이투지체 6 SemiBold"/>
                <a:ea typeface="에이투지체 6 SemiBold"/>
                <a:cs typeface="에이투지체 6 SemiBold"/>
              </a:rPr>
              <a:t>01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에이투지체 6 SemiBold"/>
                <a:ea typeface="에이투지체 6 SemiBold"/>
                <a:cs typeface="에이투지체 6 SemiBold"/>
              </a:rPr>
              <a:t>브랜드 검색 시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에이투지체 6 SemiBold"/>
                <a:ea typeface="에이투지체 6 SemiBold"/>
                <a:cs typeface="에이투지체 6 SemiBold"/>
              </a:rPr>
              <a:t>광고 상품 확대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91840" y="2395728"/>
            <a:ext cx="3931920" cy="731520"/>
          </a:xfrm>
          <a:prstGeom prst="roundRect">
            <a:avLst>
              <a:gd name="adj" fmla="val 11428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93008" y="2395728"/>
            <a:ext cx="36118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판매 상품을 브랜드 검색어 그룹에 모두 등록하고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입찰가는 낮게 설정해 ROAS를 높입니다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2514600"/>
            <a:ext cx="2103120" cy="493775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9525">
            <a:solidFill>
              <a:srgbClr val="004F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35240" y="2514600"/>
            <a:ext cx="1920240" cy="493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직접 운영형</a:t>
            </a:r>
          </a:p>
          <a:p>
            <a:pPr algn="ctr"/>
            <a:r>
              <a:rPr sz="1050" b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브랜드 검색어 그룹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60" y="2395728"/>
            <a:ext cx="16459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222222"/>
                </a:solidFill>
                <a:latin typeface="에이투지체 6 SemiBold"/>
                <a:ea typeface="에이투지체 6 SemiBold"/>
                <a:cs typeface="에이투지체 6 SemiBold"/>
              </a:rPr>
              <a:t>브랜드 검색어 ROAS</a:t>
            </a:r>
          </a:p>
          <a:p>
            <a:pPr algn="ctr"/>
            <a:r>
              <a:rPr sz="1100" b="0">
                <a:solidFill>
                  <a:srgbClr val="222222"/>
                </a:solidFill>
                <a:latin typeface="에이투지체 6 SemiBold"/>
                <a:ea typeface="에이투지체 6 SemiBold"/>
                <a:cs typeface="에이투지체 6 SemiBold"/>
              </a:rPr>
              <a:t>광고 영역 점유</a:t>
            </a:r>
          </a:p>
        </p:txBody>
      </p:sp>
      <p:sp>
        <p:nvSpPr>
          <p:cNvPr id="21" name="Isosceles Triangle 20"/>
          <p:cNvSpPr/>
          <p:nvPr/>
        </p:nvSpPr>
        <p:spPr>
          <a:xfrm rot="5400000">
            <a:off x="2990088" y="2688336"/>
            <a:ext cx="201168" cy="146304"/>
          </a:xfrm>
          <a:prstGeom prst="triangle">
            <a:avLst/>
          </a:prstGeom>
          <a:solidFill>
            <a:srgbClr val="004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Isosceles Triangle 21"/>
          <p:cNvSpPr/>
          <p:nvPr/>
        </p:nvSpPr>
        <p:spPr>
          <a:xfrm rot="5400000">
            <a:off x="7242048" y="2688336"/>
            <a:ext cx="201168" cy="146304"/>
          </a:xfrm>
          <a:prstGeom prst="triangle">
            <a:avLst/>
          </a:prstGeom>
          <a:solidFill>
            <a:srgbClr val="004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Isosceles Triangle 22"/>
          <p:cNvSpPr/>
          <p:nvPr/>
        </p:nvSpPr>
        <p:spPr>
          <a:xfrm rot="5400000">
            <a:off x="9665208" y="2688336"/>
            <a:ext cx="201168" cy="146304"/>
          </a:xfrm>
          <a:prstGeom prst="triangle">
            <a:avLst/>
          </a:prstGeom>
          <a:solidFill>
            <a:srgbClr val="004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48640" y="3273552"/>
            <a:ext cx="2423160" cy="731520"/>
          </a:xfrm>
          <a:prstGeom prst="roundRect">
            <a:avLst>
              <a:gd name="adj" fmla="val 11428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3273552"/>
            <a:ext cx="21488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02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에이투지체 6 SemiBold"/>
                <a:ea typeface="에이투지체 6 SemiBold"/>
                <a:cs typeface="에이투지체 6 SemiBold"/>
              </a:rPr>
              <a:t>전환 효율 관리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91840" y="3273552"/>
            <a:ext cx="3931920" cy="731520"/>
          </a:xfrm>
          <a:prstGeom prst="roundRect">
            <a:avLst>
              <a:gd name="adj" fmla="val 11428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93008" y="3273552"/>
            <a:ext cx="36118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리뷰 수 차이가 큰 검색어는 적정 입찰가로 순위를 낮추고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추가구성 개선과 리뷰 이벤트는 두드림에 제안합니다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43800" y="3392424"/>
            <a:ext cx="2103120" cy="493775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9525">
            <a:solidFill>
              <a:srgbClr val="004F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635240" y="3392424"/>
            <a:ext cx="1920240" cy="493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직접 운영형</a:t>
            </a:r>
          </a:p>
          <a:p>
            <a:pPr algn="ctr"/>
            <a:r>
              <a:rPr sz="1050" b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두드림 협의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3273552"/>
            <a:ext cx="16459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222222"/>
                </a:solidFill>
                <a:latin typeface="에이투지체 6 SemiBold"/>
                <a:ea typeface="에이투지체 6 SemiBold"/>
                <a:cs typeface="에이투지체 6 SemiBold"/>
              </a:rPr>
              <a:t>구매 전환율</a:t>
            </a:r>
          </a:p>
          <a:p>
            <a:pPr algn="ctr"/>
            <a:r>
              <a:rPr sz="1100" b="0">
                <a:solidFill>
                  <a:srgbClr val="222222"/>
                </a:solidFill>
                <a:latin typeface="에이투지체 6 SemiBold"/>
                <a:ea typeface="에이투지체 6 SemiBold"/>
                <a:cs typeface="에이투지체 6 SemiBold"/>
              </a:rPr>
              <a:t>객단가</a:t>
            </a:r>
          </a:p>
        </p:txBody>
      </p:sp>
      <p:sp>
        <p:nvSpPr>
          <p:cNvPr id="31" name="Isosceles Triangle 30"/>
          <p:cNvSpPr/>
          <p:nvPr/>
        </p:nvSpPr>
        <p:spPr>
          <a:xfrm rot="5400000">
            <a:off x="2990088" y="3566160"/>
            <a:ext cx="201168" cy="146304"/>
          </a:xfrm>
          <a:prstGeom prst="triangle">
            <a:avLst/>
          </a:prstGeom>
          <a:solidFill>
            <a:srgbClr val="004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Isosceles Triangle 31"/>
          <p:cNvSpPr/>
          <p:nvPr/>
        </p:nvSpPr>
        <p:spPr>
          <a:xfrm rot="5400000">
            <a:off x="7242048" y="3566160"/>
            <a:ext cx="201168" cy="146304"/>
          </a:xfrm>
          <a:prstGeom prst="triangle">
            <a:avLst/>
          </a:prstGeom>
          <a:solidFill>
            <a:srgbClr val="004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Isosceles Triangle 32"/>
          <p:cNvSpPr/>
          <p:nvPr/>
        </p:nvSpPr>
        <p:spPr>
          <a:xfrm rot="5400000">
            <a:off x="9665208" y="3566160"/>
            <a:ext cx="201168" cy="146304"/>
          </a:xfrm>
          <a:prstGeom prst="triangle">
            <a:avLst/>
          </a:prstGeom>
          <a:solidFill>
            <a:srgbClr val="004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48640" y="4151376"/>
            <a:ext cx="2423160" cy="731520"/>
          </a:xfrm>
          <a:prstGeom prst="roundRect">
            <a:avLst>
              <a:gd name="adj" fmla="val 11428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1520" y="4151376"/>
            <a:ext cx="21488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03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에이투지체 6 SemiBold"/>
                <a:ea typeface="에이투지체 6 SemiBold"/>
                <a:cs typeface="에이투지체 6 SemiBold"/>
              </a:rPr>
              <a:t>검색어 노출 확대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91840" y="4151376"/>
            <a:ext cx="3931920" cy="731520"/>
          </a:xfrm>
          <a:prstGeom prst="roundRect">
            <a:avLst>
              <a:gd name="adj" fmla="val 11428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493008" y="4151376"/>
            <a:ext cx="36118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대표·세부 검색어는 통합 운영형이 찾고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카무트는 집중 운영형으로 성과를 검증합니다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543800" y="4270248"/>
            <a:ext cx="2103120" cy="493775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9525">
            <a:solidFill>
              <a:srgbClr val="004F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635240" y="4270248"/>
            <a:ext cx="1920240" cy="493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통합 운영형</a:t>
            </a:r>
          </a:p>
          <a:p>
            <a:pPr algn="ctr"/>
            <a:r>
              <a:rPr sz="1050" b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집중 운영형 (카무트)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66960" y="4151376"/>
            <a:ext cx="16459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222222"/>
                </a:solidFill>
                <a:latin typeface="에이투지체 6 SemiBold"/>
                <a:ea typeface="에이투지체 6 SemiBold"/>
                <a:cs typeface="에이투지체 6 SemiBold"/>
              </a:rPr>
              <a:t>검색어별 전환</a:t>
            </a:r>
          </a:p>
          <a:p>
            <a:pPr algn="ctr"/>
            <a:r>
              <a:rPr sz="1100" b="0">
                <a:solidFill>
                  <a:srgbClr val="222222"/>
                </a:solidFill>
                <a:latin typeface="에이투지체 6 SemiBold"/>
                <a:ea typeface="에이투지체 6 SemiBold"/>
                <a:cs typeface="에이투지체 6 SemiBold"/>
              </a:rPr>
              <a:t>무전환 비용</a:t>
            </a:r>
          </a:p>
        </p:txBody>
      </p:sp>
      <p:sp>
        <p:nvSpPr>
          <p:cNvPr id="41" name="Isosceles Triangle 40"/>
          <p:cNvSpPr/>
          <p:nvPr/>
        </p:nvSpPr>
        <p:spPr>
          <a:xfrm rot="5400000">
            <a:off x="2990088" y="4443984"/>
            <a:ext cx="201168" cy="146304"/>
          </a:xfrm>
          <a:prstGeom prst="triangle">
            <a:avLst/>
          </a:prstGeom>
          <a:solidFill>
            <a:srgbClr val="004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Isosceles Triangle 41"/>
          <p:cNvSpPr/>
          <p:nvPr/>
        </p:nvSpPr>
        <p:spPr>
          <a:xfrm rot="5400000">
            <a:off x="7242048" y="4443984"/>
            <a:ext cx="201168" cy="146304"/>
          </a:xfrm>
          <a:prstGeom prst="triangle">
            <a:avLst/>
          </a:prstGeom>
          <a:solidFill>
            <a:srgbClr val="004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Isosceles Triangle 42"/>
          <p:cNvSpPr/>
          <p:nvPr/>
        </p:nvSpPr>
        <p:spPr>
          <a:xfrm rot="5400000">
            <a:off x="9665208" y="4443984"/>
            <a:ext cx="201168" cy="146304"/>
          </a:xfrm>
          <a:prstGeom prst="triangle">
            <a:avLst/>
          </a:prstGeom>
          <a:solidFill>
            <a:srgbClr val="004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ype Note Bar"/>
          <p:cNvSpPr/>
          <p:nvPr/>
        </p:nvSpPr>
        <p:spPr>
          <a:xfrm>
            <a:off x="548640" y="5102352"/>
            <a:ext cx="1106424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ype Note Text"/>
          <p:cNvSpPr txBox="1"/>
          <p:nvPr/>
        </p:nvSpPr>
        <p:spPr>
          <a:xfrm>
            <a:off x="731520" y="5102352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운영형  </a:t>
            </a:r>
            <a:r>
              <a:rPr sz="1150" b="0">
                <a:solidFill>
                  <a:srgbClr val="222222"/>
                </a:solidFill>
                <a:latin typeface="에이투지체 5 Medium"/>
                <a:ea typeface="에이투지체 5 Medium"/>
                <a:cs typeface="에이투지체 5 Medium"/>
              </a:rPr>
              <a:t>통합: 상품·입찰 모두 AI  /  집중: 상품 선택, 입찰 AI  /  직접: 상품·키워드·입찰가 직접 설정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2019</Words>
  <Application>Microsoft Office PowerPoint</Application>
  <PresentationFormat>와이드스크린</PresentationFormat>
  <Paragraphs>330</Paragraphs>
  <Slides>14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2" baseType="lpstr">
      <vt:lpstr>맑은 고딕</vt:lpstr>
      <vt:lpstr>에이투지체 3 Light</vt:lpstr>
      <vt:lpstr>에이투지체 4 Regular</vt:lpstr>
      <vt:lpstr>에이투지체 5 Medium</vt:lpstr>
      <vt:lpstr>에이투지체 6 SemiBold</vt:lpstr>
      <vt:lpstr>에이투지체 8 ExtraBold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LINKPRICE USER084</dc:creator>
  <cp:lastModifiedBy>LINKPRICE USER084</cp:lastModifiedBy>
  <cp:revision>18</cp:revision>
  <dcterms:created xsi:type="dcterms:W3CDTF">2026-10-13T10:08:00Z</dcterms:created>
  <dcterms:modified xsi:type="dcterms:W3CDTF">2026-10-13T11:56:54Z</dcterms:modified>
</cp:coreProperties>
</file>