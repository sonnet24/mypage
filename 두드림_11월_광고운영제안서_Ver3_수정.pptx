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1.xml" ContentType="application/vnd.openxmlformats-officedocument.drawingml.chart+xml"/>
  <Override PartName="/ppt/notesSlides/notesSlide19.xml" ContentType="application/vnd.openxmlformats-officedocument.presentationml.notesSlide+xml"/>
  <Override PartName="/ppt/charts/chart2.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3.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rts/chart4.xml" ContentType="application/vnd.openxmlformats-officedocument.drawingml.chart+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rts/chart5.xml" ContentType="application/vnd.openxmlformats-officedocument.drawingml.chart+xml"/>
  <Override PartName="/ppt/charts/chart6.xml" ContentType="application/vnd.openxmlformats-officedocument.drawingml.chart+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3"/>
  </p:notesMasterIdLst>
  <p:sldIdLst>
    <p:sldId id="321" r:id="rId2"/>
    <p:sldId id="322" r:id="rId3"/>
    <p:sldId id="258" r:id="rId4"/>
    <p:sldId id="259" r:id="rId5"/>
    <p:sldId id="276" r:id="rId6"/>
    <p:sldId id="279" r:id="rId7"/>
    <p:sldId id="280" r:id="rId8"/>
    <p:sldId id="262" r:id="rId9"/>
    <p:sldId id="277" r:id="rId10"/>
    <p:sldId id="278" r:id="rId11"/>
    <p:sldId id="380" r:id="rId12"/>
    <p:sldId id="324" r:id="rId13"/>
    <p:sldId id="325" r:id="rId14"/>
    <p:sldId id="376" r:id="rId15"/>
    <p:sldId id="377" r:id="rId16"/>
    <p:sldId id="378" r:id="rId17"/>
    <p:sldId id="381" r:id="rId18"/>
    <p:sldId id="374" r:id="rId19"/>
    <p:sldId id="382" r:id="rId20"/>
    <p:sldId id="383" r:id="rId21"/>
    <p:sldId id="327" r:id="rId22"/>
    <p:sldId id="379" r:id="rId23"/>
    <p:sldId id="323" r:id="rId24"/>
    <p:sldId id="336" r:id="rId25"/>
    <p:sldId id="337" r:id="rId26"/>
    <p:sldId id="338" r:id="rId27"/>
    <p:sldId id="339" r:id="rId28"/>
    <p:sldId id="328" r:id="rId29"/>
    <p:sldId id="370" r:id="rId30"/>
    <p:sldId id="409" r:id="rId31"/>
    <p:sldId id="410" r:id="rId32"/>
    <p:sldId id="411" r:id="rId33"/>
    <p:sldId id="412" r:id="rId34"/>
    <p:sldId id="330" r:id="rId35"/>
    <p:sldId id="413" r:id="rId36"/>
    <p:sldId id="414" r:id="rId37"/>
    <p:sldId id="415" r:id="rId38"/>
    <p:sldId id="334" r:id="rId39"/>
    <p:sldId id="416" r:id="rId40"/>
    <p:sldId id="417" r:id="rId41"/>
    <p:sldId id="418" r:id="rId42"/>
    <p:sldId id="419" r:id="rId43"/>
    <p:sldId id="420" r:id="rId44"/>
    <p:sldId id="421" r:id="rId45"/>
    <p:sldId id="422" r:id="rId46"/>
    <p:sldId id="401" r:id="rId47"/>
    <p:sldId id="344" r:id="rId48"/>
    <p:sldId id="345" r:id="rId49"/>
    <p:sldId id="346" r:id="rId50"/>
    <p:sldId id="385" r:id="rId51"/>
    <p:sldId id="425" r:id="rId52"/>
    <p:sldId id="426" r:id="rId53"/>
    <p:sldId id="427" r:id="rId54"/>
    <p:sldId id="428" r:id="rId55"/>
    <p:sldId id="429" r:id="rId56"/>
    <p:sldId id="430" r:id="rId57"/>
    <p:sldId id="431" r:id="rId58"/>
    <p:sldId id="432" r:id="rId59"/>
    <p:sldId id="433" r:id="rId60"/>
    <p:sldId id="434" r:id="rId61"/>
    <p:sldId id="435" r:id="rId62"/>
    <p:sldId id="436" r:id="rId63"/>
    <p:sldId id="437" r:id="rId64"/>
    <p:sldId id="438" r:id="rId65"/>
    <p:sldId id="439" r:id="rId66"/>
    <p:sldId id="440" r:id="rId67"/>
    <p:sldId id="405" r:id="rId68"/>
    <p:sldId id="351" r:id="rId69"/>
    <p:sldId id="388" r:id="rId70"/>
    <p:sldId id="353" r:id="rId71"/>
    <p:sldId id="354" r:id="rId72"/>
    <p:sldId id="355" r:id="rId73"/>
    <p:sldId id="356" r:id="rId74"/>
    <p:sldId id="357" r:id="rId75"/>
    <p:sldId id="359" r:id="rId76"/>
    <p:sldId id="360" r:id="rId77"/>
    <p:sldId id="404" r:id="rId78"/>
    <p:sldId id="361" r:id="rId79"/>
    <p:sldId id="362" r:id="rId80"/>
    <p:sldId id="363" r:id="rId81"/>
    <p:sldId id="281" r:id="rId82"/>
    <p:sldId id="282" r:id="rId83"/>
    <p:sldId id="283" r:id="rId84"/>
    <p:sldId id="284" r:id="rId85"/>
    <p:sldId id="285" r:id="rId86"/>
    <p:sldId id="364" r:id="rId87"/>
    <p:sldId id="365" r:id="rId88"/>
    <p:sldId id="367" r:id="rId89"/>
    <p:sldId id="423" r:id="rId90"/>
    <p:sldId id="368" r:id="rId91"/>
    <p:sldId id="369" r:id="rId9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2F5C"/>
    <a:srgbClr val="0000FF"/>
    <a:srgbClr val="004F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734" autoAdjust="0"/>
    <p:restoredTop sz="94610"/>
  </p:normalViewPr>
  <p:slideViewPr>
    <p:cSldViewPr snapToGrid="0" snapToObjects="1">
      <p:cViewPr varScale="1">
        <p:scale>
          <a:sx n="82" d="100"/>
          <a:sy n="82" d="100"/>
        </p:scale>
        <p:origin x="730" y="7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lineChart>
        <c:grouping val="standard"/>
        <c:varyColors val="0"/>
        <c:ser>
          <c:idx val="0"/>
          <c:order val="0"/>
          <c:tx>
            <c:v>네이버스토어 지면</c:v>
          </c:tx>
          <c:spPr>
            <a:ln w="23813">
              <a:solidFill>
                <a:srgbClr val="004F9F"/>
              </a:solidFill>
            </a:ln>
          </c:spPr>
          <c:marker>
            <c:symbol val="circle"/>
            <c:size val="5"/>
            <c:spPr>
              <a:solidFill>
                <a:srgbClr val="004F9F"/>
              </a:solidFill>
            </c:spPr>
          </c:marker>
          <c:cat>
            <c:strRef>
              <c:f>'Chart Data'!$A$2:$A$6</c:f>
              <c:strCache>
                <c:ptCount val="5"/>
                <c:pt idx="0">
                  <c:v>5월</c:v>
                </c:pt>
                <c:pt idx="1">
                  <c:v>6월</c:v>
                </c:pt>
                <c:pt idx="2">
                  <c:v>7월</c:v>
                </c:pt>
                <c:pt idx="3">
                  <c:v>8월</c:v>
                </c:pt>
                <c:pt idx="4">
                  <c:v>9월</c:v>
                </c:pt>
              </c:strCache>
            </c:strRef>
          </c:cat>
          <c:val>
            <c:numRef>
              <c:f>'Chart Data'!$B$2:$B$6</c:f>
              <c:numCache>
                <c:formatCode>0%</c:formatCode>
                <c:ptCount val="5"/>
                <c:pt idx="0">
                  <c:v>3.8929066797999998</c:v>
                </c:pt>
                <c:pt idx="1">
                  <c:v>4.6576637729000003</c:v>
                </c:pt>
                <c:pt idx="2">
                  <c:v>4.0134237452999999</c:v>
                </c:pt>
                <c:pt idx="3">
                  <c:v>5.5441183955</c:v>
                </c:pt>
                <c:pt idx="4">
                  <c:v>6.9442045983999998</c:v>
                </c:pt>
              </c:numCache>
            </c:numRef>
          </c:val>
          <c:smooth val="0"/>
          <c:extLst>
            <c:ext xmlns:c16="http://schemas.microsoft.com/office/drawing/2014/chart" uri="{C3380CC4-5D6E-409C-BE32-E72D297353CC}">
              <c16:uniqueId val="{00000000-C391-4BD2-ADA1-55C77556BECC}"/>
            </c:ext>
          </c:extLst>
        </c:ser>
        <c:ser>
          <c:idx val="1"/>
          <c:order val="1"/>
          <c:tx>
            <c:v>이외 지면</c:v>
          </c:tx>
          <c:spPr>
            <a:ln w="19050">
              <a:solidFill>
                <a:srgbClr val="6FB0E8"/>
              </a:solidFill>
            </a:ln>
          </c:spPr>
          <c:marker>
            <c:symbol val="circle"/>
            <c:size val="5"/>
            <c:spPr>
              <a:solidFill>
                <a:srgbClr val="6FB0E8"/>
              </a:solidFill>
            </c:spPr>
          </c:marker>
          <c:cat>
            <c:strRef>
              <c:f>'Chart Data'!$C$2:$C$6</c:f>
              <c:strCache>
                <c:ptCount val="5"/>
                <c:pt idx="0">
                  <c:v>5월</c:v>
                </c:pt>
                <c:pt idx="1">
                  <c:v>6월</c:v>
                </c:pt>
                <c:pt idx="2">
                  <c:v>7월</c:v>
                </c:pt>
                <c:pt idx="3">
                  <c:v>8월</c:v>
                </c:pt>
                <c:pt idx="4">
                  <c:v>9월</c:v>
                </c:pt>
              </c:strCache>
            </c:strRef>
          </c:cat>
          <c:val>
            <c:numRef>
              <c:f>'Chart Data'!$D$2:$D$6</c:f>
              <c:numCache>
                <c:formatCode>0%</c:formatCode>
                <c:ptCount val="5"/>
                <c:pt idx="0">
                  <c:v>3.5732541997</c:v>
                </c:pt>
                <c:pt idx="1">
                  <c:v>3.0612550967000001</c:v>
                </c:pt>
                <c:pt idx="2">
                  <c:v>2.5869214491000001</c:v>
                </c:pt>
                <c:pt idx="3">
                  <c:v>2.7744067377000001</c:v>
                </c:pt>
                <c:pt idx="4">
                  <c:v>2.4951783232999998</c:v>
                </c:pt>
              </c:numCache>
            </c:numRef>
          </c:val>
          <c:smooth val="0"/>
          <c:extLst>
            <c:ext xmlns:c16="http://schemas.microsoft.com/office/drawing/2014/chart" uri="{C3380CC4-5D6E-409C-BE32-E72D297353CC}">
              <c16:uniqueId val="{00000001-C391-4BD2-ADA1-55C77556BECC}"/>
            </c:ext>
          </c:extLst>
        </c:ser>
        <c:dLbls>
          <c:showLegendKey val="0"/>
          <c:showVal val="0"/>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0D0D0"/>
            </a:solidFill>
          </a:ln>
        </c:spPr>
        <c:txPr>
          <a:bodyPr anchorCtr="1"/>
          <a:lstStyle/>
          <a:p>
            <a:pPr>
              <a:defRPr sz="1088">
                <a:solidFill>
                  <a:srgbClr val="5C5C5C"/>
                </a:solidFill>
                <a:latin typeface="에이투지체 4 Regular"/>
                <a:ea typeface="에이투지체 4 Regular"/>
                <a:cs typeface="에이투지체 4 Regular"/>
              </a:defRPr>
            </a:pPr>
            <a:endParaRPr lang="ko-KR"/>
          </a:p>
        </c:txPr>
        <c:crossAx val="48672768"/>
        <c:crosses val="autoZero"/>
        <c:auto val="1"/>
        <c:lblAlgn val="ctr"/>
        <c:lblOffset val="100"/>
        <c:noMultiLvlLbl val="1"/>
      </c:catAx>
      <c:valAx>
        <c:axId val="48672768"/>
        <c:scaling>
          <c:orientation val="minMax"/>
          <c:max val="8"/>
          <c:min val="0"/>
        </c:scaling>
        <c:delete val="0"/>
        <c:axPos val="l"/>
        <c:majorGridlines>
          <c:spPr>
            <a:ln w="4763">
              <a:solidFill>
                <a:srgbClr val="D0D0D0"/>
              </a:solidFill>
            </a:ln>
          </c:spPr>
        </c:majorGridlines>
        <c:numFmt formatCode="0%" sourceLinked="1"/>
        <c:majorTickMark val="none"/>
        <c:minorTickMark val="none"/>
        <c:tickLblPos val="nextTo"/>
        <c:spPr>
          <a:ln w="0">
            <a:noFill/>
          </a:ln>
        </c:spPr>
        <c:txPr>
          <a:bodyPr anchorCtr="1"/>
          <a:lstStyle/>
          <a:p>
            <a:pPr>
              <a:defRPr sz="1013">
                <a:solidFill>
                  <a:srgbClr val="5C5C5C"/>
                </a:solidFill>
                <a:latin typeface="에이투지체 4 Regular"/>
                <a:ea typeface="에이투지체 4 Regular"/>
                <a:cs typeface="에이투지체 4 Regular"/>
              </a:defRPr>
            </a:pPr>
            <a:endParaRPr lang="ko-KR"/>
          </a:p>
        </c:txPr>
        <c:crossAx val="48650112"/>
        <c:crosses val="autoZero"/>
        <c:crossBetween val="between"/>
      </c:valAx>
      <c:spPr>
        <a:solidFill>
          <a:srgbClr val="FFFFFF"/>
        </a:solidFill>
        <a:ln w="0">
          <a:noFill/>
        </a:ln>
      </c:spPr>
    </c:plotArea>
    <c:legend>
      <c:legendPos val="b"/>
      <c:overlay val="0"/>
      <c:txPr>
        <a:bodyPr anchorCtr="1"/>
        <a:lstStyle/>
        <a:p>
          <a:pPr>
            <a:defRPr sz="1050">
              <a:solidFill>
                <a:srgbClr val="5C5C5C"/>
              </a:solidFill>
              <a:latin typeface="에이투지체 4 Regular"/>
              <a:ea typeface="에이투지체 4 Regular"/>
              <a:cs typeface="에이투지체 4 Regular"/>
            </a:defRPr>
          </a:pPr>
          <a:endParaRPr lang="ko-KR"/>
        </a:p>
      </c:txPr>
    </c:legend>
    <c:plotVisOnly val="1"/>
    <c:dispBlanksAs val="zero"/>
    <c:showDLblsOverMax val="1"/>
  </c:chart>
  <c:spPr>
    <a:solidFill>
      <a:srgbClr val="FFFFFF"/>
    </a:solidFill>
    <a:ln w="0">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lineChart>
        <c:grouping val="standard"/>
        <c:varyColors val="0"/>
        <c:ser>
          <c:idx val="0"/>
          <c:order val="0"/>
          <c:tx>
            <c:v>대표 그룹</c:v>
          </c:tx>
          <c:spPr>
            <a:ln w="23813">
              <a:solidFill>
                <a:srgbClr val="004F9F"/>
              </a:solidFill>
            </a:ln>
          </c:spPr>
          <c:marker>
            <c:symbol val="circle"/>
            <c:size val="6"/>
            <c:spPr>
              <a:solidFill>
                <a:srgbClr val="004F9F"/>
              </a:solidFill>
            </c:spPr>
          </c:marker>
          <c:dLbls>
            <c:numFmt formatCode="0%" sourceLinked="0"/>
            <c:spPr>
              <a:noFill/>
              <a:ln>
                <a:noFill/>
              </a:ln>
              <a:effectLst/>
            </c:spPr>
            <c:txPr>
              <a:bodyPr anchorCtr="1"/>
              <a:lstStyle/>
              <a:p>
                <a:pPr>
                  <a:defRPr sz="1223" b="1">
                    <a:solidFill>
                      <a:srgbClr val="004F9F"/>
                    </a:solidFill>
                    <a:latin typeface="에이투지체 4 Regular"/>
                    <a:ea typeface="에이투지체 4 Regular"/>
                    <a:cs typeface="에이투지체 4 Regular"/>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5월</c:v>
                </c:pt>
                <c:pt idx="1">
                  <c:v>6월</c:v>
                </c:pt>
                <c:pt idx="2">
                  <c:v>7월</c:v>
                </c:pt>
              </c:strCache>
            </c:strRef>
          </c:cat>
          <c:val>
            <c:numRef>
              <c:f>'Chart Data'!$B$2:$B$4</c:f>
              <c:numCache>
                <c:formatCode>0%</c:formatCode>
                <c:ptCount val="3"/>
                <c:pt idx="0">
                  <c:v>5.74</c:v>
                </c:pt>
                <c:pt idx="1">
                  <c:v>7.07</c:v>
                </c:pt>
                <c:pt idx="2">
                  <c:v>5.61</c:v>
                </c:pt>
              </c:numCache>
            </c:numRef>
          </c:val>
          <c:smooth val="0"/>
          <c:extLst>
            <c:ext xmlns:c16="http://schemas.microsoft.com/office/drawing/2014/chart" uri="{C3380CC4-5D6E-409C-BE32-E72D297353CC}">
              <c16:uniqueId val="{00000000-89E5-4466-A326-A5E8B676A600}"/>
            </c:ext>
          </c:extLst>
        </c:ser>
        <c:dLbls>
          <c:showLegendKey val="0"/>
          <c:showVal val="1"/>
          <c:showCatName val="0"/>
          <c:showSerName val="0"/>
          <c:showPercent val="0"/>
          <c:showBubbleSize val="0"/>
        </c:dLbls>
        <c:marker val="1"/>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0D0D0"/>
            </a:solidFill>
          </a:ln>
        </c:spPr>
        <c:txPr>
          <a:bodyPr anchorCtr="1"/>
          <a:lstStyle/>
          <a:p>
            <a:pPr>
              <a:defRPr sz="1088">
                <a:solidFill>
                  <a:srgbClr val="5C5C5C"/>
                </a:solidFill>
                <a:latin typeface="에이투지체 4 Regular"/>
                <a:ea typeface="에이투지체 4 Regular"/>
                <a:cs typeface="에이투지체 4 Regular"/>
              </a:defRPr>
            </a:pPr>
            <a:endParaRPr lang="ko-KR"/>
          </a:p>
        </c:txPr>
        <c:crossAx val="48672768"/>
        <c:crosses val="autoZero"/>
        <c:auto val="1"/>
        <c:lblAlgn val="ctr"/>
        <c:lblOffset val="100"/>
        <c:noMultiLvlLbl val="1"/>
      </c:catAx>
      <c:valAx>
        <c:axId val="48672768"/>
        <c:scaling>
          <c:orientation val="minMax"/>
          <c:max val="8"/>
          <c:min val="0"/>
        </c:scaling>
        <c:delete val="1"/>
        <c:axPos val="l"/>
        <c:numFmt formatCode="0%" sourceLinked="1"/>
        <c:majorTickMark val="none"/>
        <c:minorTickMark val="none"/>
        <c:tickLblPos val="nextTo"/>
        <c:crossAx val="48650112"/>
        <c:crosses val="autoZero"/>
        <c:crossBetween val="between"/>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barChart>
        <c:barDir val="col"/>
        <c:grouping val="clustered"/>
        <c:varyColors val="0"/>
        <c:ser>
          <c:idx val="0"/>
          <c:order val="0"/>
          <c:tx>
            <c:v>구매 ROAS</c:v>
          </c:tx>
          <c:spPr>
            <a:solidFill>
              <a:srgbClr val="004F9F"/>
            </a:solidFill>
          </c:spPr>
          <c:invertIfNegative val="1"/>
          <c:dPt>
            <c:idx val="0"/>
            <c:invertIfNegative val="0"/>
            <c:bubble3D val="0"/>
            <c:spPr>
              <a:solidFill>
                <a:srgbClr val="6FB0E8"/>
              </a:solidFill>
            </c:spPr>
            <c:extLst>
              <c:ext xmlns:c16="http://schemas.microsoft.com/office/drawing/2014/chart" uri="{C3380CC4-5D6E-409C-BE32-E72D297353CC}">
                <c16:uniqueId val="{00000001-9FA8-432C-87D3-505DEB5148CF}"/>
              </c:ext>
            </c:extLst>
          </c:dPt>
          <c:dPt>
            <c:idx val="1"/>
            <c:invertIfNegative val="0"/>
            <c:bubble3D val="0"/>
            <c:extLst>
              <c:ext xmlns:c16="http://schemas.microsoft.com/office/drawing/2014/chart" uri="{C3380CC4-5D6E-409C-BE32-E72D297353CC}">
                <c16:uniqueId val="{00000003-9FA8-432C-87D3-505DEB5148CF}"/>
              </c:ext>
            </c:extLst>
          </c:dPt>
          <c:dLbls>
            <c:numFmt formatCode="0%" sourceLinked="0"/>
            <c:spPr>
              <a:noFill/>
              <a:ln>
                <a:noFill/>
              </a:ln>
              <a:effectLst/>
            </c:spPr>
            <c:txPr>
              <a:bodyPr anchorCtr="1"/>
              <a:lstStyle/>
              <a:p>
                <a:pPr>
                  <a:defRPr sz="1223" b="1">
                    <a:solidFill>
                      <a:srgbClr val="004F9F"/>
                    </a:solidFill>
                    <a:latin typeface="에이투지체 4 Regular"/>
                    <a:ea typeface="에이투지체 4 Regular"/>
                    <a:cs typeface="에이투지체 4 Regular"/>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개편 전</c:v>
                </c:pt>
                <c:pt idx="1">
                  <c:v>개편 후</c:v>
                </c:pt>
              </c:strCache>
            </c:strRef>
          </c:cat>
          <c:val>
            <c:numRef>
              <c:f>'Chart Data'!$B$2:$B$3</c:f>
              <c:numCache>
                <c:formatCode>0%</c:formatCode>
                <c:ptCount val="2"/>
                <c:pt idx="0">
                  <c:v>3.68</c:v>
                </c:pt>
                <c:pt idx="1">
                  <c:v>4.6900000000000004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9FA8-432C-87D3-505DEB5148CF}"/>
            </c:ext>
          </c:extLst>
        </c:ser>
        <c:dLbls>
          <c:dLblPos val="outEnd"/>
          <c:showLegendKey val="0"/>
          <c:showVal val="1"/>
          <c:showCatName val="0"/>
          <c:showSerName val="0"/>
          <c:showPercent val="0"/>
          <c:showBubbleSize val="0"/>
        </c:dLbls>
        <c:gapWidth val="8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0D0D0"/>
            </a:solidFill>
          </a:ln>
        </c:spPr>
        <c:txPr>
          <a:bodyPr anchorCtr="1"/>
          <a:lstStyle/>
          <a:p>
            <a:pPr>
              <a:defRPr sz="1088">
                <a:solidFill>
                  <a:srgbClr val="5C5C5C"/>
                </a:solidFill>
                <a:latin typeface="에이투지체 4 Regular"/>
                <a:ea typeface="에이투지체 4 Regular"/>
                <a:cs typeface="에이투지체 4 Regular"/>
              </a:defRPr>
            </a:pPr>
            <a:endParaRPr lang="ko-KR"/>
          </a:p>
        </c:txPr>
        <c:crossAx val="48672768"/>
        <c:crosses val="autoZero"/>
        <c:auto val="1"/>
        <c:lblAlgn val="ctr"/>
        <c:lblOffset val="100"/>
        <c:noMultiLvlLbl val="1"/>
      </c:catAx>
      <c:valAx>
        <c:axId val="48672768"/>
        <c:scaling>
          <c:orientation val="minMax"/>
          <c:max val="5.6"/>
          <c:min val="0"/>
        </c:scaling>
        <c:delete val="1"/>
        <c:axPos val="l"/>
        <c:numFmt formatCode="0%" sourceLinked="1"/>
        <c:majorTickMark val="none"/>
        <c:minorTickMark val="none"/>
        <c:tickLblPos val="nextTo"/>
        <c:crossAx val="48650112"/>
        <c:crosses val="autoZero"/>
        <c:crossBetween val="between"/>
      </c:valAx>
      <c:spPr>
        <a:solidFill>
          <a:srgbClr val="FFFFFF"/>
        </a:solidFill>
        <a:ln w="0">
          <a:noFill/>
        </a:ln>
      </c:spPr>
    </c:plotArea>
    <c:plotVisOnly val="1"/>
    <c:dispBlanksAs val="zero"/>
    <c:showDLblsOverMax val="1"/>
  </c:chart>
  <c:spPr>
    <a:solidFill>
      <a:srgbClr val="FFFFFF"/>
    </a:solidFill>
    <a:ln w="0">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bar"/>
        <c:grouping val="clustered"/>
        <c:varyColors val="1"/>
        <c:ser>
          <c:idx val="0"/>
          <c:order val="0"/>
          <c:tx>
            <c:strRef>
              <c:f>Sheet1!$B$1</c:f>
              <c:strCache>
                <c:ptCount val="1"/>
                <c:pt idx="0">
                  <c:v>광고비</c:v>
                </c:pt>
              </c:strCache>
            </c:strRef>
          </c:tx>
          <c:invertIfNegative val="1"/>
          <c:dPt>
            <c:idx val="0"/>
            <c:invertIfNegative val="1"/>
            <c:bubble3D val="0"/>
            <c:spPr>
              <a:solidFill>
                <a:srgbClr val="C9DAEE"/>
              </a:solidFill>
            </c:spPr>
            <c:extLst>
              <c:ext xmlns:c16="http://schemas.microsoft.com/office/drawing/2014/chart" uri="{C3380CC4-5D6E-409C-BE32-E72D297353CC}">
                <c16:uniqueId val="{00000001-8C06-4E72-9953-E814D500A8E3}"/>
              </c:ext>
            </c:extLst>
          </c:dPt>
          <c:dPt>
            <c:idx val="1"/>
            <c:invertIfNegative val="1"/>
            <c:bubble3D val="0"/>
            <c:spPr>
              <a:solidFill>
                <a:srgbClr val="C9DAEE"/>
              </a:solidFill>
            </c:spPr>
            <c:extLst>
              <c:ext xmlns:c16="http://schemas.microsoft.com/office/drawing/2014/chart" uri="{C3380CC4-5D6E-409C-BE32-E72D297353CC}">
                <c16:uniqueId val="{00000003-8C06-4E72-9953-E814D500A8E3}"/>
              </c:ext>
            </c:extLst>
          </c:dPt>
          <c:dPt>
            <c:idx val="2"/>
            <c:invertIfNegative val="1"/>
            <c:bubble3D val="0"/>
            <c:spPr>
              <a:solidFill>
                <a:srgbClr val="C9DAEE"/>
              </a:solidFill>
            </c:spPr>
            <c:extLst>
              <c:ext xmlns:c16="http://schemas.microsoft.com/office/drawing/2014/chart" uri="{C3380CC4-5D6E-409C-BE32-E72D297353CC}">
                <c16:uniqueId val="{00000005-8C06-4E72-9953-E814D500A8E3}"/>
              </c:ext>
            </c:extLst>
          </c:dPt>
          <c:dPt>
            <c:idx val="3"/>
            <c:invertIfNegative val="1"/>
            <c:bubble3D val="0"/>
            <c:spPr>
              <a:solidFill>
                <a:srgbClr val="004F9F"/>
              </a:solidFill>
            </c:spPr>
            <c:extLst>
              <c:ext xmlns:c16="http://schemas.microsoft.com/office/drawing/2014/chart" uri="{C3380CC4-5D6E-409C-BE32-E72D297353CC}">
                <c16:uniqueId val="{00000007-8C06-4E72-9953-E814D500A8E3}"/>
              </c:ext>
            </c:extLst>
          </c:dPt>
          <c:dLbls>
            <c:numFmt formatCode="#,##0&quot;원&quot;" sourceLinked="0"/>
            <c:spPr>
              <a:noFill/>
              <a:ln>
                <a:noFill/>
              </a:ln>
              <a:effectLst/>
            </c:spPr>
            <c:txPr>
              <a:bodyPr/>
              <a:lstStyle/>
              <a:p>
                <a:pPr>
                  <a:defRPr sz="1200" b="0">
                    <a:solidFill>
                      <a:srgbClr val="222222"/>
                    </a:solidFill>
                  </a:defRPr>
                </a:pPr>
                <a:endParaRPr lang="ko-K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카무트 효소</c:v>
                </c:pt>
                <c:pt idx="1">
                  <c:v>츄어블 철분</c:v>
                </c:pt>
                <c:pt idx="2">
                  <c:v>멀티비타민</c:v>
                </c:pt>
                <c:pt idx="3">
                  <c:v>키성장 FGO</c:v>
                </c:pt>
              </c:strCache>
            </c:strRef>
          </c:cat>
          <c:val>
            <c:numRef>
              <c:f>Sheet1!$B$2:$B$5</c:f>
              <c:numCache>
                <c:formatCode>General</c:formatCode>
                <c:ptCount val="4"/>
                <c:pt idx="0">
                  <c:v>3885</c:v>
                </c:pt>
                <c:pt idx="1">
                  <c:v>4500</c:v>
                </c:pt>
                <c:pt idx="2">
                  <c:v>4718</c:v>
                </c:pt>
                <c:pt idx="3">
                  <c:v>33525</c:v>
                </c:pt>
              </c:numCache>
            </c:numRef>
          </c:val>
          <c:extLst>
            <c:ext xmlns:c16="http://schemas.microsoft.com/office/drawing/2014/chart" uri="{C3380CC4-5D6E-409C-BE32-E72D297353CC}">
              <c16:uniqueId val="{00000008-8C06-4E72-9953-E814D500A8E3}"/>
            </c:ext>
          </c:extLst>
        </c:ser>
        <c:dLbls>
          <c:showLegendKey val="0"/>
          <c:showVal val="0"/>
          <c:showCatName val="0"/>
          <c:showSerName val="0"/>
          <c:showPercent val="0"/>
          <c:showBubbleSize val="0"/>
        </c:dLbls>
        <c:gapWidth val="45"/>
        <c:axId val="-2068027336"/>
        <c:axId val="-2113994440"/>
      </c:barChart>
      <c:catAx>
        <c:axId val="-2068027336"/>
        <c:scaling>
          <c:orientation val="minMax"/>
        </c:scaling>
        <c:delete val="0"/>
        <c:axPos val="l"/>
        <c:numFmt formatCode="General" sourceLinked="0"/>
        <c:majorTickMark val="out"/>
        <c:minorTickMark val="none"/>
        <c:tickLblPos val="nextTo"/>
        <c:spPr>
          <a:ln>
            <a:solidFill>
              <a:srgbClr val="DDDDDD"/>
            </a:solidFill>
          </a:ln>
        </c:spPr>
        <c:txPr>
          <a:bodyPr/>
          <a:lstStyle/>
          <a:p>
            <a:pPr>
              <a:defRPr sz="1200">
                <a:solidFill>
                  <a:srgbClr val="222222"/>
                </a:solidFill>
              </a:defRPr>
            </a:pPr>
            <a:endParaRPr lang="ko-KR"/>
          </a:p>
        </c:txPr>
        <c:crossAx val="-2113994440"/>
        <c:crosses val="autoZero"/>
        <c:auto val="1"/>
        <c:lblAlgn val="ctr"/>
        <c:lblOffset val="100"/>
        <c:noMultiLvlLbl val="0"/>
      </c:catAx>
      <c:valAx>
        <c:axId val="-2113994440"/>
        <c:scaling>
          <c:orientation val="minMax"/>
          <c:max val="42000"/>
          <c:min val="0"/>
        </c:scaling>
        <c:delete val="1"/>
        <c:axPos val="b"/>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100">
          <a:latin typeface="에이투지체 5 Medium"/>
          <a:ea typeface="에이투지체 5 Medium"/>
          <a:cs typeface="에이투지체 5 Medium"/>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1"/>
    <c:plotArea>
      <c:layout/>
      <c:barChart>
        <c:barDir val="col"/>
        <c:grouping val="stacked"/>
        <c:varyColors val="0"/>
        <c:ser>
          <c:idx val="0"/>
          <c:order val="0"/>
          <c:tx>
            <c:v>상시 집행 (1~19일)</c:v>
          </c:tx>
          <c:spPr>
            <a:solidFill>
              <a:srgbClr val="BFC7D2"/>
            </a:solidFill>
          </c:spPr>
          <c:invertIfNegative val="0"/>
          <c:cat>
            <c:numRef>
              <c:f>'Chart Data'!$A$2:$A$31</c:f>
              <c:numCache>
                <c:formatCode>General</c:formatCod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numCache>
            </c:numRef>
          </c:cat>
          <c:val>
            <c:numRef>
              <c:f>'Chart Data'!$B$2:$B$31</c:f>
              <c:numCache>
                <c:formatCode>General</c:formatCode>
                <c:ptCount val="30"/>
                <c:pt idx="0">
                  <c:v>513.15790000000004</c:v>
                </c:pt>
                <c:pt idx="1">
                  <c:v>513.15790000000004</c:v>
                </c:pt>
                <c:pt idx="2">
                  <c:v>513.15790000000004</c:v>
                </c:pt>
                <c:pt idx="3">
                  <c:v>513.15790000000004</c:v>
                </c:pt>
                <c:pt idx="4">
                  <c:v>513.15790000000004</c:v>
                </c:pt>
                <c:pt idx="5">
                  <c:v>513.15790000000004</c:v>
                </c:pt>
                <c:pt idx="6">
                  <c:v>513.15790000000004</c:v>
                </c:pt>
                <c:pt idx="7">
                  <c:v>513.15790000000004</c:v>
                </c:pt>
                <c:pt idx="8">
                  <c:v>513.15790000000004</c:v>
                </c:pt>
                <c:pt idx="9">
                  <c:v>513.15790000000004</c:v>
                </c:pt>
                <c:pt idx="10">
                  <c:v>513.15790000000004</c:v>
                </c:pt>
                <c:pt idx="11">
                  <c:v>513.15790000000004</c:v>
                </c:pt>
                <c:pt idx="12">
                  <c:v>513.15790000000004</c:v>
                </c:pt>
                <c:pt idx="13">
                  <c:v>513.15790000000004</c:v>
                </c:pt>
                <c:pt idx="14">
                  <c:v>513.15790000000004</c:v>
                </c:pt>
                <c:pt idx="15">
                  <c:v>513.15790000000004</c:v>
                </c:pt>
                <c:pt idx="16">
                  <c:v>513.15790000000004</c:v>
                </c:pt>
                <c:pt idx="17">
                  <c:v>513.15790000000004</c:v>
                </c:pt>
                <c:pt idx="18">
                  <c:v>513.15779999999995</c:v>
                </c:pt>
                <c:pt idx="19">
                  <c:v>0</c:v>
                </c:pt>
                <c:pt idx="20">
                  <c:v>0</c:v>
                </c:pt>
                <c:pt idx="21">
                  <c:v>0</c:v>
                </c:pt>
                <c:pt idx="22">
                  <c:v>0</c:v>
                </c:pt>
                <c:pt idx="23">
                  <c:v>0</c:v>
                </c:pt>
                <c:pt idx="24">
                  <c:v>0</c:v>
                </c:pt>
                <c:pt idx="25">
                  <c:v>0</c:v>
                </c:pt>
                <c:pt idx="26">
                  <c:v>0</c:v>
                </c:pt>
                <c:pt idx="27">
                  <c:v>0</c:v>
                </c:pt>
                <c:pt idx="28">
                  <c:v>0</c:v>
                </c:pt>
                <c:pt idx="29">
                  <c:v>0</c:v>
                </c:pt>
              </c:numCache>
            </c:numRef>
          </c:val>
          <c:extLst>
            <c:ext xmlns:c16="http://schemas.microsoft.com/office/drawing/2014/chart" uri="{C3380CC4-5D6E-409C-BE32-E72D297353CC}">
              <c16:uniqueId val="{00000000-1B37-446D-9E1E-30B721B8A667}"/>
            </c:ext>
          </c:extLst>
        </c:ser>
        <c:ser>
          <c:idx val="1"/>
          <c:order val="1"/>
          <c:tx>
            <c:v>블프 (20~26일)</c:v>
          </c:tx>
          <c:spPr>
            <a:solidFill>
              <a:srgbClr val="6FB0E8"/>
            </a:solidFill>
          </c:spPr>
          <c:invertIfNegative val="0"/>
          <c:cat>
            <c:numRef>
              <c:f>'Chart Data'!$C$2:$C$31</c:f>
              <c:numCache>
                <c:formatCode>General</c:formatCod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numCache>
            </c:numRef>
          </c:cat>
          <c:val>
            <c:numRef>
              <c:f>'Chart Data'!$D$2:$D$31</c:f>
              <c:numCache>
                <c:formatCode>General</c:formatCode>
                <c:ptCount val="3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1607.1429000000001</c:v>
                </c:pt>
                <c:pt idx="20">
                  <c:v>1607.1429000000001</c:v>
                </c:pt>
                <c:pt idx="21">
                  <c:v>1607.1429000000001</c:v>
                </c:pt>
                <c:pt idx="22">
                  <c:v>1607.1429000000001</c:v>
                </c:pt>
                <c:pt idx="23">
                  <c:v>1607.1428000000001</c:v>
                </c:pt>
                <c:pt idx="24">
                  <c:v>1607.1428000000001</c:v>
                </c:pt>
                <c:pt idx="25">
                  <c:v>1607.1428000000001</c:v>
                </c:pt>
                <c:pt idx="26">
                  <c:v>0</c:v>
                </c:pt>
                <c:pt idx="27">
                  <c:v>0</c:v>
                </c:pt>
                <c:pt idx="28">
                  <c:v>0</c:v>
                </c:pt>
                <c:pt idx="29">
                  <c:v>0</c:v>
                </c:pt>
              </c:numCache>
            </c:numRef>
          </c:val>
          <c:extLst>
            <c:ext xmlns:c16="http://schemas.microsoft.com/office/drawing/2014/chart" uri="{C3380CC4-5D6E-409C-BE32-E72D297353CC}">
              <c16:uniqueId val="{00000001-1B37-446D-9E1E-30B721B8A667}"/>
            </c:ext>
          </c:extLst>
        </c:ser>
        <c:ser>
          <c:idx val="2"/>
          <c:order val="2"/>
          <c:tx>
            <c:v>집중·연장 (27~30일)</c:v>
          </c:tx>
          <c:spPr>
            <a:solidFill>
              <a:srgbClr val="004F9F"/>
            </a:solidFill>
          </c:spPr>
          <c:invertIfNegative val="0"/>
          <c:cat>
            <c:numRef>
              <c:f>'Chart Data'!$E$2:$E$31</c:f>
              <c:numCache>
                <c:formatCode>General</c:formatCod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numCache>
            </c:numRef>
          </c:cat>
          <c:val>
            <c:numRef>
              <c:f>'Chart Data'!$F$2:$F$31</c:f>
              <c:numCache>
                <c:formatCode>General</c:formatCode>
                <c:ptCount val="3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2250</c:v>
                </c:pt>
                <c:pt idx="27">
                  <c:v>2250</c:v>
                </c:pt>
                <c:pt idx="28">
                  <c:v>2250</c:v>
                </c:pt>
                <c:pt idx="29">
                  <c:v>2250</c:v>
                </c:pt>
              </c:numCache>
            </c:numRef>
          </c:val>
          <c:extLst>
            <c:ext xmlns:c16="http://schemas.microsoft.com/office/drawing/2014/chart" uri="{C3380CC4-5D6E-409C-BE32-E72D297353CC}">
              <c16:uniqueId val="{00000002-1B37-446D-9E1E-30B721B8A667}"/>
            </c:ext>
          </c:extLst>
        </c:ser>
        <c:dLbls>
          <c:showLegendKey val="0"/>
          <c:showVal val="0"/>
          <c:showCatName val="0"/>
          <c:showSerName val="0"/>
          <c:showPercent val="0"/>
          <c:showBubbleSize val="0"/>
        </c:dLbls>
        <c:gapWidth val="65"/>
        <c:overlap val="10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CE6"/>
            </a:solidFill>
            <a:prstDash val="solid"/>
          </a:ln>
        </c:spPr>
        <c:txPr>
          <a:bodyPr anchorCtr="1"/>
          <a:lstStyle/>
          <a:p>
            <a:pPr>
              <a:defRPr sz="960">
                <a:solidFill>
                  <a:srgbClr val="222222"/>
                </a:solidFill>
                <a:latin typeface="에이투지체 5 Medium"/>
                <a:ea typeface="에이투지체 5 Medium"/>
                <a:cs typeface="에이투지체 5 Medium"/>
              </a:defRPr>
            </a:pPr>
            <a:endParaRPr lang="ko-KR"/>
          </a:p>
        </c:txPr>
        <c:crossAx val="48672768"/>
        <c:crosses val="autoZero"/>
        <c:auto val="1"/>
        <c:lblAlgn val="ctr"/>
        <c:lblOffset val="80"/>
        <c:noMultiLvlLbl val="1"/>
      </c:catAx>
      <c:valAx>
        <c:axId val="48672768"/>
        <c:scaling>
          <c:orientation val="minMax"/>
          <c:max val="2500"/>
          <c:min val="0"/>
        </c:scaling>
        <c:delete val="0"/>
        <c:axPos val="l"/>
        <c:majorGridlines>
          <c:spPr>
            <a:ln w="4763">
              <a:solidFill>
                <a:srgbClr val="E5EBF2"/>
              </a:solidFill>
              <a:prstDash val="solid"/>
            </a:ln>
          </c:spPr>
        </c:majorGridlines>
        <c:numFmt formatCode="General" sourceLinked="1"/>
        <c:majorTickMark val="none"/>
        <c:minorTickMark val="none"/>
        <c:tickLblPos val="nextTo"/>
        <c:spPr>
          <a:ln w="0">
            <a:noFill/>
            <a:prstDash val="solid"/>
          </a:ln>
        </c:spPr>
        <c:txPr>
          <a:bodyPr anchorCtr="1"/>
          <a:lstStyle/>
          <a:p>
            <a:pPr>
              <a:defRPr sz="900">
                <a:solidFill>
                  <a:srgbClr val="5C5C5C"/>
                </a:solidFill>
                <a:latin typeface="에이투지체 5 Medium"/>
                <a:ea typeface="에이투지체 5 Medium"/>
                <a:cs typeface="에이투지체 5 Medium"/>
              </a:defRPr>
            </a:pPr>
            <a:endParaRPr lang="ko-KR"/>
          </a:p>
        </c:txPr>
        <c:crossAx val="48650112"/>
        <c:crosses val="autoZero"/>
        <c:crossBetween val="between"/>
        <c:majorUnit val="500"/>
      </c:valAx>
      <c:spPr>
        <a:solidFill>
          <a:srgbClr val="FFFFFF"/>
        </a:solidFill>
        <a:ln w="0">
          <a:noFill/>
          <a:prstDash val="solid"/>
        </a:ln>
      </c:spPr>
    </c:plotArea>
    <c:legend>
      <c:legendPos val="b"/>
      <c:overlay val="0"/>
      <c:txPr>
        <a:bodyPr anchorCtr="1"/>
        <a:lstStyle/>
        <a:p>
          <a:pPr>
            <a:defRPr sz="960">
              <a:solidFill>
                <a:srgbClr val="5C5C5C"/>
              </a:solidFill>
              <a:latin typeface="에이투지체 5 Medium"/>
              <a:ea typeface="에이투지체 5 Medium"/>
              <a:cs typeface="에이투지체 5 Medium"/>
            </a:defRPr>
          </a:pPr>
          <a:endParaRPr lang="ko-KR"/>
        </a:p>
      </c:txPr>
    </c:legend>
    <c:plotVisOnly val="1"/>
    <c:dispBlanksAs val="zero"/>
    <c:showDLblsOverMax val="1"/>
  </c:chart>
  <c:spPr>
    <a:solidFill>
      <a:srgbClr val="FFFFFF"/>
    </a:solidFill>
    <a:ln w="0">
      <a:noFill/>
      <a:prstDash val="solid"/>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v>광고비</c:v>
          </c:tx>
          <c:dPt>
            <c:idx val="0"/>
            <c:bubble3D val="0"/>
            <c:spPr>
              <a:solidFill>
                <a:srgbClr val="2E6BD5"/>
              </a:solidFill>
              <a:ln w="9525">
                <a:solidFill>
                  <a:srgbClr val="FFFFFF"/>
                </a:solidFill>
                <a:prstDash val="solid"/>
              </a:ln>
            </c:spPr>
            <c:extLst>
              <c:ext xmlns:c16="http://schemas.microsoft.com/office/drawing/2014/chart" uri="{C3380CC4-5D6E-409C-BE32-E72D297353CC}">
                <c16:uniqueId val="{00000001-2D1A-4E48-9CC6-688C04230556}"/>
              </c:ext>
            </c:extLst>
          </c:dPt>
          <c:dPt>
            <c:idx val="1"/>
            <c:bubble3D val="0"/>
            <c:spPr>
              <a:solidFill>
                <a:srgbClr val="0A2F5C"/>
              </a:solidFill>
              <a:ln w="9525">
                <a:solidFill>
                  <a:srgbClr val="FFFFFF"/>
                </a:solidFill>
                <a:prstDash val="solid"/>
              </a:ln>
            </c:spPr>
            <c:extLst>
              <c:ext xmlns:c16="http://schemas.microsoft.com/office/drawing/2014/chart" uri="{C3380CC4-5D6E-409C-BE32-E72D297353CC}">
                <c16:uniqueId val="{00000003-2D1A-4E48-9CC6-688C04230556}"/>
              </c:ext>
            </c:extLst>
          </c:dPt>
          <c:dPt>
            <c:idx val="2"/>
            <c:bubble3D val="0"/>
            <c:spPr>
              <a:solidFill>
                <a:srgbClr val="6FB0E8"/>
              </a:solidFill>
              <a:ln w="9525">
                <a:solidFill>
                  <a:srgbClr val="FFFFFF"/>
                </a:solidFill>
                <a:prstDash val="solid"/>
              </a:ln>
            </c:spPr>
            <c:extLst>
              <c:ext xmlns:c16="http://schemas.microsoft.com/office/drawing/2014/chart" uri="{C3380CC4-5D6E-409C-BE32-E72D297353CC}">
                <c16:uniqueId val="{00000005-2D1A-4E48-9CC6-688C04230556}"/>
              </c:ext>
            </c:extLst>
          </c:dPt>
          <c:dPt>
            <c:idx val="3"/>
            <c:bubble3D val="0"/>
            <c:spPr>
              <a:solidFill>
                <a:srgbClr val="CADDF2"/>
              </a:solidFill>
              <a:ln w="9525">
                <a:solidFill>
                  <a:srgbClr val="FFFFFF"/>
                </a:solidFill>
                <a:prstDash val="solid"/>
              </a:ln>
            </c:spPr>
            <c:extLst>
              <c:ext xmlns:c16="http://schemas.microsoft.com/office/drawing/2014/chart" uri="{C3380CC4-5D6E-409C-BE32-E72D297353CC}">
                <c16:uniqueId val="{00000007-2D1A-4E48-9CC6-688C04230556}"/>
              </c:ext>
            </c:extLst>
          </c:dPt>
          <c:dPt>
            <c:idx val="4"/>
            <c:bubble3D val="0"/>
            <c:spPr>
              <a:solidFill>
                <a:srgbClr val="598CBF"/>
              </a:solidFill>
              <a:ln w="9525">
                <a:solidFill>
                  <a:srgbClr val="FFFFFF"/>
                </a:solidFill>
                <a:prstDash val="solid"/>
              </a:ln>
            </c:spPr>
            <c:extLst>
              <c:ext xmlns:c16="http://schemas.microsoft.com/office/drawing/2014/chart" uri="{C3380CC4-5D6E-409C-BE32-E72D297353CC}">
                <c16:uniqueId val="{00000009-2D1A-4E48-9CC6-688C04230556}"/>
              </c:ext>
            </c:extLst>
          </c:dPt>
          <c:dPt>
            <c:idx val="5"/>
            <c:bubble3D val="0"/>
            <c:spPr>
              <a:solidFill>
                <a:srgbClr val="8A9CAF"/>
              </a:solidFill>
              <a:ln w="9525">
                <a:solidFill>
                  <a:srgbClr val="FFFFFF"/>
                </a:solidFill>
                <a:prstDash val="solid"/>
              </a:ln>
            </c:spPr>
            <c:extLst>
              <c:ext xmlns:c16="http://schemas.microsoft.com/office/drawing/2014/chart" uri="{C3380CC4-5D6E-409C-BE32-E72D297353CC}">
                <c16:uniqueId val="{0000000B-2D1A-4E48-9CC6-688C04230556}"/>
              </c:ext>
            </c:extLst>
          </c:dPt>
          <c:dPt>
            <c:idx val="6"/>
            <c:bubble3D val="0"/>
            <c:spPr>
              <a:solidFill>
                <a:srgbClr val="B9C3CF"/>
              </a:solidFill>
              <a:ln w="9525">
                <a:solidFill>
                  <a:srgbClr val="FFFFFF"/>
                </a:solidFill>
                <a:prstDash val="solid"/>
              </a:ln>
            </c:spPr>
            <c:extLst>
              <c:ext xmlns:c16="http://schemas.microsoft.com/office/drawing/2014/chart" uri="{C3380CC4-5D6E-409C-BE32-E72D297353CC}">
                <c16:uniqueId val="{0000000D-2D1A-4E48-9CC6-688C04230556}"/>
              </c:ext>
            </c:extLst>
          </c:dPt>
          <c:cat>
            <c:strRef>
              <c:f>'Chart Data'!$A$2:$A$8</c:f>
              <c:strCache>
                <c:ptCount val="7"/>
                <c:pt idx="0">
                  <c:v>네이버 GFA 33.3%</c:v>
                </c:pt>
                <c:pt idx="1">
                  <c:v>네이버 쇼핑검색 29.3%</c:v>
                </c:pt>
                <c:pt idx="2">
                  <c:v>메타 협력광고 3.3%</c:v>
                </c:pt>
                <c:pt idx="3">
                  <c:v>쇼핑라이브 0.7%</c:v>
                </c:pt>
                <c:pt idx="4">
                  <c:v>쿠팡 28.3%</c:v>
                </c:pt>
                <c:pt idx="5">
                  <c:v>지마켓·11번가 3.3%</c:v>
                </c:pt>
                <c:pt idx="6">
                  <c:v>카카오 톡스토어 1.7%</c:v>
                </c:pt>
              </c:strCache>
            </c:strRef>
          </c:cat>
          <c:val>
            <c:numRef>
              <c:f>'Chart Data'!$B$2:$B$8</c:f>
              <c:numCache>
                <c:formatCode>#,##0</c:formatCode>
                <c:ptCount val="7"/>
                <c:pt idx="0">
                  <c:v>100000000</c:v>
                </c:pt>
                <c:pt idx="1">
                  <c:v>88000000</c:v>
                </c:pt>
                <c:pt idx="2">
                  <c:v>10000000</c:v>
                </c:pt>
                <c:pt idx="3">
                  <c:v>2000000</c:v>
                </c:pt>
                <c:pt idx="4">
                  <c:v>85000000</c:v>
                </c:pt>
                <c:pt idx="5">
                  <c:v>10000000</c:v>
                </c:pt>
                <c:pt idx="6">
                  <c:v>5000000</c:v>
                </c:pt>
              </c:numCache>
            </c:numRef>
          </c:val>
          <c:extLst>
            <c:ext xmlns:c16="http://schemas.microsoft.com/office/drawing/2014/chart" uri="{C3380CC4-5D6E-409C-BE32-E72D297353CC}">
              <c16:uniqueId val="{0000000E-2D1A-4E48-9CC6-688C04230556}"/>
            </c:ext>
          </c:extLst>
        </c:ser>
        <c:dLbls>
          <c:showLegendKey val="0"/>
          <c:showVal val="0"/>
          <c:showCatName val="0"/>
          <c:showSerName val="0"/>
          <c:showPercent val="0"/>
          <c:showBubbleSize val="0"/>
          <c:showLeaderLines val="1"/>
        </c:dLbls>
        <c:firstSliceAng val="105"/>
        <c:holeSize val="58"/>
      </c:doughnutChart>
      <c:spPr>
        <a:solidFill>
          <a:srgbClr val="FFFFFF"/>
        </a:solidFill>
        <a:ln w="0">
          <a:noFill/>
          <a:prstDash val="solid"/>
        </a:ln>
      </c:spPr>
    </c:plotArea>
    <c:legend>
      <c:legendPos val="b"/>
      <c:overlay val="0"/>
      <c:txPr>
        <a:bodyPr anchorCtr="1"/>
        <a:lstStyle/>
        <a:p>
          <a:pPr>
            <a:defRPr sz="998">
              <a:solidFill>
                <a:srgbClr val="444444"/>
              </a:solidFill>
              <a:latin typeface="에이투지체 5 Medium"/>
              <a:ea typeface="에이투지체 5 Medium"/>
              <a:cs typeface="에이투지체 5 Medium"/>
            </a:defRPr>
          </a:pPr>
          <a:endParaRPr lang="ko-KR"/>
        </a:p>
      </c:txPr>
    </c:legend>
    <c:plotVisOnly val="1"/>
    <c:dispBlanksAs val="zero"/>
    <c:showDLblsOverMax val="1"/>
  </c:chart>
  <c:spPr>
    <a:solidFill>
      <a:srgbClr val="FFFFFF"/>
    </a:solidFill>
    <a:ln w="0">
      <a:no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21708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두드림_11월제안서_구성가안(2).pptx 4·22페이지, 두드림_11월 운영전략_GFA·메타_RFP_261008(2).pptx 8페이지.</a:t>
            </a:r>
          </a:p>
          <a:p>
            <a:r>
              <a:t>검색·GFA 금액과 ROAS는 첨부 자료의 반올림 표기 기준. 9월 원시 보고서와 메타 9월 실적은 확보되지 않아 확인 필요로 표시. 매체 전환매출은 중복 기여 가능성이 있어 합산하지 않음.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두드림_11월제안서_구성가안(2).pptx 4·23페이지, 두드림_11월 운영전략_GFA·메타_RFP_261008(2).pptx 3·5·12·17페이지. 59%·74%는 9월 쇼핑검색 키성장 캠페인 1개의 비용·전환매출 비중. 상품 후보와 운영 구조는 제안안.</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3D81CA-A4BF-8E2D-4ED6-81CE246B97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76148A-DBF2-B4E2-571E-7A998C386B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7CFA6E-62DC-8FB3-A5AE-2CEEDAC6AFD8}"/>
              </a:ext>
            </a:extLst>
          </p:cNvPr>
          <p:cNvSpPr>
            <a:spLocks noGrp="1"/>
          </p:cNvSpPr>
          <p:nvPr>
            <p:ph type="body" idx="1"/>
          </p:nvPr>
        </p:nvSpPr>
        <p:spPr/>
        <p:txBody>
          <a:bodyPr/>
          <a:lstStyle/>
          <a:p>
            <a:r>
              <a:t>출처: 두드림_11월제안서_구성가안(2).pptx 4·23페이지, 두드림_11월 운영전략_GFA·메타_RFP_261008(2).pptx 3·5·12·17페이지. 59%·74%는 9월 쇼핑검색 키성장 캠페인 1개의 비용·전환매출 비중. 상품 후보와 운영 구조는 제안안.</a:t>
            </a:r>
          </a:p>
        </p:txBody>
      </p:sp>
      <p:sp>
        <p:nvSpPr>
          <p:cNvPr id="4" name="Slide Number Placeholder 3">
            <a:extLst>
              <a:ext uri="{FF2B5EF4-FFF2-40B4-BE49-F238E27FC236}">
                <a16:creationId xmlns:a16="http://schemas.microsoft.com/office/drawing/2014/main" id="{ECE38C13-92D3-7FF6-BCE8-883317D372A2}"/>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9832483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8DC4E7-56D4-027D-0286-3E02FD83B8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369C43-D1F4-30B7-B221-CCABE21A24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5EF3BB-222F-C8CF-F496-9B9384ED850C}"/>
              </a:ext>
            </a:extLst>
          </p:cNvPr>
          <p:cNvSpPr>
            <a:spLocks noGrp="1"/>
          </p:cNvSpPr>
          <p:nvPr>
            <p:ph type="body" idx="1"/>
          </p:nvPr>
        </p:nvSpPr>
        <p:spPr/>
        <p:txBody>
          <a:bodyPr/>
          <a:lstStyle/>
          <a:p>
            <a:r>
              <a:t>출처: 두드림_11월제안서_구성가안(2).pptx 4·23페이지, 두드림_11월 운영전략_GFA·메타_RFP_261008(2).pptx 3·5·12·17페이지. 59%·74%는 9월 쇼핑검색 키성장 캠페인 1개의 비용·전환매출 비중. 상품 후보와 운영 구조는 제안안.</a:t>
            </a:r>
          </a:p>
        </p:txBody>
      </p:sp>
      <p:sp>
        <p:nvSpPr>
          <p:cNvPr id="4" name="Slide Number Placeholder 3">
            <a:extLst>
              <a:ext uri="{FF2B5EF4-FFF2-40B4-BE49-F238E27FC236}">
                <a16:creationId xmlns:a16="http://schemas.microsoft.com/office/drawing/2014/main" id="{8A3432FC-C43E-E103-B605-0F6E88CC9BD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657919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C0FB9-E828-3663-6DCE-ED89628366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8C519D-92A5-4848-DBAC-B5F1B5D62D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E85D8-0A22-23E9-67BB-39729561D0D3}"/>
              </a:ext>
            </a:extLst>
          </p:cNvPr>
          <p:cNvSpPr>
            <a:spLocks noGrp="1"/>
          </p:cNvSpPr>
          <p:nvPr>
            <p:ph type="body" idx="1"/>
          </p:nvPr>
        </p:nvSpPr>
        <p:spPr/>
        <p:txBody>
          <a:bodyPr/>
          <a:lstStyle/>
          <a:p>
            <a:r>
              <a:t>출처: 두드림_11월제안서_구성가안(2).pptx 4·23페이지, 두드림_11월 운영전략_GFA·메타_RFP_261008(2).pptx 3·5·12·17페이지. 59%·74%는 9월 쇼핑검색 키성장 캠페인 1개의 비용·전환매출 비중. 상품 후보와 운영 구조는 제안안.</a:t>
            </a:r>
          </a:p>
        </p:txBody>
      </p:sp>
      <p:sp>
        <p:nvSpPr>
          <p:cNvPr id="4" name="Slide Number Placeholder 3">
            <a:extLst>
              <a:ext uri="{FF2B5EF4-FFF2-40B4-BE49-F238E27FC236}">
                <a16:creationId xmlns:a16="http://schemas.microsoft.com/office/drawing/2014/main" id="{964AD637-8E55-67BA-2ABC-CBF0837AE92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4387062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두드림_11월 운영전략_GFA·메타_RFP_261008(2).pptx 7페이지. 쇼핑라이브 역할은 두드림_11월제안서_구성가안(2).pptx 25·43·44페이지를 바탕으로 확장한 제안. 톡톡은 CRM 채널이며 GFA 광고 상품과 구분. ADVoost는 신규 고객 탐색을 포함하는 전환 역할로 제안.</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B87A33-77A0-383E-5CE3-2AB8B4092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C494E9-FC0F-ECAE-55EC-EC4DBF5429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CB9F44-E71D-7247-2FED-776733DBF0EB}"/>
              </a:ext>
            </a:extLst>
          </p:cNvPr>
          <p:cNvSpPr>
            <a:spLocks noGrp="1"/>
          </p:cNvSpPr>
          <p:nvPr>
            <p:ph type="body" idx="1"/>
          </p:nvPr>
        </p:nvSpPr>
        <p:spPr/>
        <p:txBody>
          <a:bodyPr/>
          <a:lstStyle/>
          <a:p>
            <a:r>
              <a:t>출처: 두드림_11월 운영전략_GFA·메타_RFP_261008(2).pptx 7페이지. 쇼핑라이브 역할은 두드림_11월제안서_구성가안(2).pptx 25·43·44페이지를 바탕으로 확장한 제안. 톡톡은 CRM 채널이며 GFA 광고 상품과 구분. ADVoost는 신규 고객 탐색을 포함하는 전환 역할로 제안.</a:t>
            </a:r>
          </a:p>
        </p:txBody>
      </p:sp>
      <p:sp>
        <p:nvSpPr>
          <p:cNvPr id="4" name="Slide Number Placeholder 3">
            <a:extLst>
              <a:ext uri="{FF2B5EF4-FFF2-40B4-BE49-F238E27FC236}">
                <a16:creationId xmlns:a16="http://schemas.microsoft.com/office/drawing/2014/main" id="{6EE51535-4EF3-8F55-F96E-21882FBCBC1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0993416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두드림_쇼핑검색_제안서(1).pptx 1·3페이지, 두드림_브랜드스토어_성공사례_쇼핑검색_261008(1).pptx 3페이지, 두드림_11월제안서_구성가안(2).pptx4·34페이지.23캠페인·97캠페인×그룹 조합(고유그룹명82).312만원/24%,183만원/187%는검색어×그룹 행 기준.약800만원/84%는키크는영양제PCMO그룹 전체로 집계범위다름.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두드림_쇼핑검색_제안서(1).pptx2·4페이지, 원본차트.브랜드명포함기준 광고비5%·전환매출46.4%·ROAS1874%,미포함ROAS114%.공통예산조기소진점검과그룹한도관리,필요시브랜드캠페인분리는제안.브랜드어정의는자료기준으로통일.</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두드림_쇼핑검색_제안서(1).pptx5·6페이지.쇼핑몰상품형 기준의운영제안.기기별노출매체설정을사용하고입찰조정은광고그룹·상품소재단위로실행.검색어별직접입찰기능으로표현하지않음.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두드림_쇼핑검색_제안서(1).pptx6·7페이지,두드림_브랜드스토어_성공사례_쇼핑검색_261008(1).pptx3·4페이지.743992원·180683원 무전환은특정검색어×그룹행.표본·전환반영기간을 고려하고일괄중단하지않는제안.행사관련검색어는 실제발생검색어와집행상품적합성확인후기존그룹에서관리.</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두드림_브랜드스토어_성공사례_쇼핑검색_261008(1).pptx 1·2페이지 및 원본 차트 데이터. ROAS 추이는 5~9월, 매출 3.3배와 292%→321%는 전년 대비 지표로 비교 기준이 다름. 사례 성과는 관찰 결과이며 두드림 예상 성과나 목표를 의미하지 않음.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두드림_브랜드스토어_성공사례_쇼핑검색_261008(1).pptx 3·4페이지. 검색어별 집중도와 ROAS는 3개월 누적 보고서 기준. 대표 그룹 ROAS 월별 원본 값 574%·707%·561%, 원본 요약 범위 560~710%. 세부 매출 7월/5월 약2배. 담당 그룹 비용 집중도는 제안 관리 지표이며 성과 보장 아님.</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A88A13-54E6-9432-055C-81BCEACA0E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E79479-B00E-905C-1F71-CFC4298267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528AE6-0D82-5723-324D-A2159EE5609D}"/>
              </a:ext>
            </a:extLst>
          </p:cNvPr>
          <p:cNvSpPr>
            <a:spLocks noGrp="1"/>
          </p:cNvSpPr>
          <p:nvPr>
            <p:ph type="body" idx="1"/>
          </p:nvPr>
        </p:nvSpPr>
        <p:spPr/>
        <p:txBody>
          <a:bodyPr/>
          <a:lstStyle/>
          <a:p>
            <a:r>
              <a:t>출처: 두드림_11월 운영전략_GFA·메타_RFP_261008(2).pptx 9·11·12페이지. 공식 네이버 도움말 https://ads.naver.com/help/faq/1867 (최종수정2026-06-29,2026-10-12확인): ADVoost 쇼핑은 캠페인/애셋그룹 구조, 상품 아이템세트와 시그널을 설정하고 타게팅은 자동 최적화. 연령을 고정 노출 제한으로 표현하지 않음. 애셋그룹별 예산이 아닌 캠페인단위 예산 구분을 위한 상품군별 캠페인 제안.</a:t>
            </a:r>
          </a:p>
        </p:txBody>
      </p:sp>
      <p:sp>
        <p:nvSpPr>
          <p:cNvPr id="4" name="Slide Number Placeholder 3">
            <a:extLst>
              <a:ext uri="{FF2B5EF4-FFF2-40B4-BE49-F238E27FC236}">
                <a16:creationId xmlns:a16="http://schemas.microsoft.com/office/drawing/2014/main" id="{18581E06-FF90-ABA8-1E11-27B7D75D740A}"/>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6280765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BD9634-27CC-34C1-A83B-9AEF368300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965B44-1CBC-56C4-B729-4C38EA7A60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254CA3-A9DF-96B7-B6F1-0722E0BBBAAE}"/>
              </a:ext>
            </a:extLst>
          </p:cNvPr>
          <p:cNvSpPr>
            <a:spLocks noGrp="1"/>
          </p:cNvSpPr>
          <p:nvPr>
            <p:ph type="body" idx="1"/>
          </p:nvPr>
        </p:nvSpPr>
        <p:spPr/>
        <p:txBody>
          <a:bodyPr/>
          <a:lstStyle/>
          <a:p>
            <a:r>
              <a:t>출처: 두드림_11월 운영전략_GFA·메타_RFP_261008(2).pptx 1·2페이지 및 원본 차트. 스토어 전체 매출 전년동월 대비1.595배(약1.6배), 알림받기25년1월~26년9월3.13배(약3.1배). ADVoost 개편전368% 개편후469%. 비교기간이 다르며 광고의 단독 인과효과로 해석하지 않음.</a:t>
            </a:r>
          </a:p>
        </p:txBody>
      </p:sp>
      <p:sp>
        <p:nvSpPr>
          <p:cNvPr id="4" name="Slide Number Placeholder 3">
            <a:extLst>
              <a:ext uri="{FF2B5EF4-FFF2-40B4-BE49-F238E27FC236}">
                <a16:creationId xmlns:a16="http://schemas.microsoft.com/office/drawing/2014/main" id="{603688CC-C000-7F39-9628-00B529B2404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640111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두드림_11월 운영전략_GFA·메타_RFP_261008(2).pptx 3~5페이지. N배송·N페이 적립·전용 구성은 제안 방향이며 두드림 적용 여부는 상품·혜택 확정 후 결정.</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6B930C-3E9B-A0FE-134F-761525CA3D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C9F0E3-3473-CB46-5D9D-2B9661313E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14A88C-C569-AF09-3F37-E1F4BD394364}"/>
              </a:ext>
            </a:extLst>
          </p:cNvPr>
          <p:cNvSpPr>
            <a:spLocks noGrp="1"/>
          </p:cNvSpPr>
          <p:nvPr>
            <p:ph type="body" idx="1"/>
          </p:nvPr>
        </p:nvSpPr>
        <p:spPr/>
        <p:txBody>
          <a:bodyPr/>
          <a:lstStyle/>
          <a:p>
            <a:r>
              <a:t>출처: 두드림_11월 운영전략_GFA·메타_RFP_261008(2).pptx 3~5페이지. N배송·N페이 적립·전용 구성은 제안 방향이며 두드림 적용 여부는 상품·혜택 확정 후 결정.</a:t>
            </a:r>
          </a:p>
        </p:txBody>
      </p:sp>
      <p:sp>
        <p:nvSpPr>
          <p:cNvPr id="4" name="Slide Number Placeholder 3">
            <a:extLst>
              <a:ext uri="{FF2B5EF4-FFF2-40B4-BE49-F238E27FC236}">
                <a16:creationId xmlns:a16="http://schemas.microsoft.com/office/drawing/2014/main" id="{F188D07E-EB93-27C2-0A2C-D5689F55DB98}"/>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9496749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EBD5C-2CE6-DFF5-29A3-348E23CCC0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BAD1D-D4AA-31C9-3134-E37A7B1806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8CA36B-BDB1-7293-D36D-FE40AF8D2F8D}"/>
              </a:ext>
            </a:extLst>
          </p:cNvPr>
          <p:cNvSpPr>
            <a:spLocks noGrp="1"/>
          </p:cNvSpPr>
          <p:nvPr>
            <p:ph type="body" idx="1"/>
          </p:nvPr>
        </p:nvSpPr>
        <p:spPr/>
        <p:txBody>
          <a:bodyPr/>
          <a:lstStyle/>
          <a:p>
            <a:r>
              <a:t>출처: 두드림_11월 운영전략_GFA·메타_RFP_261008(2).pptx 3~5페이지. N배송·N페이 적립·전용 구성은 제안 방향이며 두드림 적용 여부는 상품·혜택 확정 후 결정.</a:t>
            </a:r>
          </a:p>
        </p:txBody>
      </p:sp>
      <p:sp>
        <p:nvSpPr>
          <p:cNvPr id="4" name="Slide Number Placeholder 3">
            <a:extLst>
              <a:ext uri="{FF2B5EF4-FFF2-40B4-BE49-F238E27FC236}">
                <a16:creationId xmlns:a16="http://schemas.microsoft.com/office/drawing/2014/main" id="{D013F34B-D1AA-7D6D-7BF5-2464CD799B5C}"/>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141730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1FBD2-C811-3E6A-E675-008ED963F0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10ED1F-A1C2-2D44-7092-756DF42A25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E26A96-291D-7A34-5C14-08BC49982FE4}"/>
              </a:ext>
            </a:extLst>
          </p:cNvPr>
          <p:cNvSpPr>
            <a:spLocks noGrp="1"/>
          </p:cNvSpPr>
          <p:nvPr>
            <p:ph type="body" idx="1"/>
          </p:nvPr>
        </p:nvSpPr>
        <p:spPr/>
        <p:txBody>
          <a:bodyPr/>
          <a:lstStyle/>
          <a:p>
            <a:r>
              <a:t>출처: 두드림_11월 운영전략_GFA·메타_RFP_261008(2).pptx 13페이지. 알림받기고객 확보와 톡톡CRM·리타겟 연계는 제안. 메시지는발송대상및실제운영권한확인후집행. 구매고객과 미구매고객을 가능한데이터범위에서 구분.</a:t>
            </a:r>
          </a:p>
        </p:txBody>
      </p:sp>
      <p:sp>
        <p:nvSpPr>
          <p:cNvPr id="4" name="Slide Number Placeholder 3">
            <a:extLst>
              <a:ext uri="{FF2B5EF4-FFF2-40B4-BE49-F238E27FC236}">
                <a16:creationId xmlns:a16="http://schemas.microsoft.com/office/drawing/2014/main" id="{6A8DAAA8-FD47-5229-5D3F-38E98B0CA36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8246760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두드림_11월 운영전략_GFA·메타_RFP_261008(2).pptx 13페이지. 알림받기고객 확보와 톡톡CRM·리타겟 연계는 제안. 메시지는발송대상및실제운영권한확인후집행. 구매고객과 미구매고객을 가능한데이터범위에서 구분.</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5BE6A-97B0-DD36-9560-721FD2A637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A310F0-559F-D91E-F163-59FCB7E92C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96D586-BFBC-FD63-BED5-722A73704A99}"/>
              </a:ext>
            </a:extLst>
          </p:cNvPr>
          <p:cNvSpPr>
            <a:spLocks noGrp="1"/>
          </p:cNvSpPr>
          <p:nvPr>
            <p:ph type="body" idx="1"/>
          </p:nvPr>
        </p:nvSpPr>
        <p:spPr/>
        <p:txBody>
          <a:bodyPr/>
          <a:lstStyle/>
          <a:p>
            <a:r>
              <a:t>출처: 두드림_11월 운영전략_GFA·메타_RFP_261008(2).pptx 13페이지. 알림받기고객 확보와 톡톡CRM·리타겟 연계는 제안. 메시지는발송대상및실제운영권한확인후집행. 구매고객과 미구매고객을 가능한데이터범위에서 구분.</a:t>
            </a:r>
          </a:p>
        </p:txBody>
      </p:sp>
      <p:sp>
        <p:nvSpPr>
          <p:cNvPr id="4" name="Slide Number Placeholder 3">
            <a:extLst>
              <a:ext uri="{FF2B5EF4-FFF2-40B4-BE49-F238E27FC236}">
                <a16:creationId xmlns:a16="http://schemas.microsoft.com/office/drawing/2014/main" id="{56AD8925-755A-5CC4-78BF-086CEE52C774}"/>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8524130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두드림_11월 운영전략_GFA·메타_RFP_261008(2).pptx19페이지,두드림_11월제안서_구성가안(2).pptx4·8·42페이지.행사운영일정은D-day기준제안이며2026년행사일정·참여혜택확정전실제일자기재하지않음.6월메타17.2배는장바구니기준,9월넾쇼라GFA733%는26만원소액집행이므로일반화하지않고노트에만보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두드림_11월제안서_구성가안(2).pptx43페이지의라이브커머스소개서(0813)기재요약, [링크프라이스] 두드림BNB_사전검토자료.pdf18·26페이지.방송1000편이상·누적매출35억원이상·누적시청900만명·평균구매전환율4%는가안기재실적.소개서원본과집계기간·구매전환율산식미확인으로최종확정전원본대조필요.두드림예상성과를의미하지않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두드림_11월제안서_구성가안(2).pptx44페이지및두드림_11월 운영전략_GFA·메타_RFP_261008(2).pptx19페이지를연결한제안.제작단가Type A 회당100만원(VAT별도)·11월라이브연계예산1000만원은가안기재값으로원본견적확인필요.월예산내제작비와유입광고배분·방송횟수·VAT적용협의후확정.</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두드림_11월 운영전략_쿠팡, 오픈마켓_RFP_261012(2).pptx1·2페이지.쿠팡40%는두드림제공26년10월외부몰집행비중이며11월확정배분아님.상품가격·배송·리뷰는2026-10-12조회기준.10개이하·1상품1캠페인은제안운영원칙.5클릭무전환은원문예시를제외후보검토기준으로완화하고전환반영기간확인후적용.</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두드림_11월 운영전략_쿠팡, 오픈마켓_RFP_261012(2).pptx3~5페이지.상품·광고운영현황2026-10-12조회.지마켓AI Product Ads유형은제공상품소개서ver1.4기준이며직접운영형CPC는순위보장아닌상한.운영유형이동과대표1~2개상품검증은제안.11번가·지마켓공식대행이력은사전검토자료27페이지.</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제공 PPT 7번 요청 및 5번 기존 상품 운영 1안. 제공 7번의 '장표 3번 표'는 첨부 3번이 프로모션 자료이므로 요약 목적에 맞는 기존 상품 운영 1안을 기준으로 해석함.</a:t>
            </a:r>
          </a:p>
          <a:p>
            <a:r>
              <a:t>월 3억원, 11/20~29 60%(1.8억원), 11/27~30은 블프 예산의 50%에 해당하는 0.9억원이라는 두 수치 조건을 모두 유지. 두 구간은 27~29일에 중첩되며 30일은 연장 집중 집행일로 가정. 27~30을 주말로 표시하지 않음(2026.11.27 금~11.30 월).</a:t>
            </a:r>
          </a:p>
          <a:p>
            <a:r>
              <a:t>배분: 1~19일 9,750만원, 20~26일 11,250만원, 27~30일 9,000만원. 구간별 균등배분 후 원 단위 잔여액을 배분해 합계 300,000,000원, 20~29일 합계 180,000,000원, 27~30일 합계 90,000,000원을 맞춤. 일별 예산은 제안 시뮬레이션이며 실측 성과 또는 확정 행사 일정이 아님.</a:t>
            </a:r>
          </a:p>
          <a:p>
            <a:r>
              <a:t>매체 비중은 1안의 GFA 1억원, 쇼핑검색 8,800만원, 메타 1,000만원, 라이브 200만원, 쿠팡 8,500만원, 지마켓·11번가 1,000만원, 카카오 500만원을 월 3억원으로 나눈 값. 원형그래프 수치 데이터는 원 단위이며 일별 막대그래프는 만원 단위. 지원금은 그래프에 미반영.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제공 PPT 1~3번 슬라이드 및 카카오 공식 보도자료(2026.06.23) https://www.kakaocorp.com/page/detail/12069</a:t>
            </a:r>
          </a:p>
          <a:p>
            <a:r>
              <a:t>공식 카탈로그 가이드: https://kakaobusiness.gitbook.io/main/tool/catalog</a:t>
            </a:r>
          </a:p>
          <a:p>
            <a:r>
              <a:t>톡스토어 상품 정보와 조회·찜 등 고객 반응을 활용하는 커머스 카탈로그 광고 설명은 공식 자료를 요약함. 프로모션 참여 대상·월 최소 집행액·지원율은 제공 2번 자료 기준으로, 두드림의 실제 참여 자격은 확인 전임.</a:t>
            </a:r>
          </a:p>
          <a:p>
            <a:r>
              <a:t>지원 시뮬레이션은 월 유상 광고비 500만원(VAT 별도)을 3개월 동일 집행하고 지급 조건을 충족한다고 가정. 무상캐시는 1개월차 250만원, 2개월차 350만원, 3개월차 600만원으로 합계 1,200만원. 지급·사용 시점과 카탈로그 지원 중복 수혜 여부는 확인 전이므로 유상 미디어믹스 매출 전망에 지원금을 합산하지 않음.</a:t>
            </a:r>
          </a:p>
          <a:p>
            <a:r>
              <a:t>연동 지원 100만원: 제공 3번 자료의 VAT 포함 표기는 공식 보도자료의 VAT 별도 안내와 상충하여 공식 VAT 별도로 표기. 공식 신청 기한은 2026.09.30이며 11월 신규 참여 가능 여부 또는 기지급 쿠폰 유효기간을 확인해야 함.</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Google Ads 공식 안내(2026.10.13 확인).</a:t>
            </a:r>
          </a:p>
          <a:p>
            <a:r>
              <a:t>디맨드젠 소개: https://support.google.com/google-ads/answer/13695777?hl=ko</a:t>
            </a:r>
          </a:p>
          <a:p>
            <a:r>
              <a:t>채널 관리: https://support.google.com/google-ads/answer/15973205?hl=ko</a:t>
            </a:r>
          </a:p>
          <a:p>
            <a:r>
              <a:t>클릭수 최대화: https://support.google.com/google-ads/answer/6268626?hl=ko</a:t>
            </a:r>
          </a:p>
          <a:p>
            <a:r>
              <a:t>타겟 CPC: https://support.google.com/google-ads/answer/16262529?hl=ko</a:t>
            </a:r>
          </a:p>
          <a:p>
            <a:r>
              <a:t>두드림은 신규 브랜드를 네이버 브랜드스토어로 연결하는 웹사이트 트래픽 캠페인으로 제안. Google에서 측정 가능한 목표를 클릭·CPC로 설정하는 운영 판단이며, 브랜드스토어라는 이유만으로 전환 캠페인이 일률적으로 불가능하다고 설명하지 않음. YouTube 지면을 선택할 수 있고 이미지·영상 소재로 관심을 유도할 수 있음. 관심사·연령 타깃을 활용하되 실제 상품·소재의 정책 분류에 따른 허용 범위를 확인.</a:t>
            </a:r>
          </a:p>
          <a:p>
            <a:r>
              <a:t>CPC 100원, 월 300만원, 목표 30,000클릭은 제공 6번 미디어믹스의 계획 값이며 Google이 보장하는 성과 또는 입찰 상한이 아님. 트래픽 캠페인은 클릭수 최대화로 시작하고 실적에 따라 타겟 CPC 적용을 검토. 타 매체보다 항상 CPC가 낮다는 보장은 하지 않음.</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혈당유산균_경쟁사현황(2).pptx1~6페이지.제품성분·보장균수는제공자료의표시정보,조회가격은2026-10-11기준.가격은구성·회원조건·SKU차이가있어동일조건비교가아님.하루비용은제공자료환산값(1개월30일,배송비제외).여에스더조회가격은별도SKU.닥터린GLPlan은기능성원료확인전확장비교군으로보류.</a:t>
            </a:r>
          </a:p>
          <a:p>
            <a:r>
              <a:t>https://doubleg.co.kr/wp-content/uploads/2024/03/230215_%EB%8B%B9%ED%81%90%EB%9D%BD__%EC%84%A4%EB%AA%85%EC%84%9C_ol.pdf</a:t>
            </a:r>
          </a:p>
          <a:p>
            <a:r>
              <a:t>https://www.costco.co.kr/HealthSupplement/Probiotics/CKD-Lacto-Fit-Sugar-Intake-Care-Daily-2g-x-100/p/675384</a:t>
            </a:r>
          </a:p>
          <a:p>
            <a:r>
              <a:t>https://www.esthermall.co.kr/goods/goods_view.php?goodsNo=1000001570</a:t>
            </a:r>
          </a:p>
          <a:p>
            <a:r>
              <a:t>https://www.nutrione.co.kr/item/dtl/1000325974</a:t>
            </a:r>
          </a:p>
          <a:p>
            <a:r>
              <a:t>https://www.oliveyoung.co.kr/store/goods/getGoodsDetail.do?goodsNo=A000000242959</a:t>
            </a:r>
          </a:p>
          <a:p>
            <a:r>
              <a:t>https://www.yuhanshop.co.kr/goods/goods_search.php?keyword=당큐락</a:t>
            </a:r>
          </a:p>
          <a:p>
            <a:r>
              <a:t>https://ckdhcmall.co.kr/prdView.do?prdCode=G2311081126_0491</a:t>
            </a:r>
          </a:p>
          <a:p>
            <a:r>
              <a:t>https://m.esthermall.co.kr/goods/goods_view.php?goodsNo=1000001030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혈당유산균_경쟁사현황(2).pptx4·6~11페이지및두드림_11월제안서_구성가안(2).pptx54페이지.당큐락·락토핏광고는제공자료의대한민국·활성광고조사범위에서확인,조사시점2026-10-11.당큐락김남주2024모델활용이력은현재계약으로단정하지않음.공식몰메시지는실제DA집행과구분.두드림원료·표시·모델계약이확정된범위에서메시지구체화.</a:t>
            </a:r>
          </a:p>
          <a:p>
            <a:r>
              <a:t>https://www.facebook.com/ads/library/?id=961929843588040</a:t>
            </a:r>
          </a:p>
          <a:p>
            <a:r>
              <a:t>https://www.facebook.com/ads/library/?id=2603612373419072</a:t>
            </a:r>
          </a:p>
          <a:p>
            <a:r>
              <a:t>https://www.facebook.com/ads/library/?id=4654017414829413</a:t>
            </a:r>
          </a:p>
          <a:p>
            <a:r>
              <a:t>https://www.esthermall.co.kr/goods/goods_view.php?goodsNo=1000001570</a:t>
            </a:r>
          </a:p>
          <a:p>
            <a:r>
              <a:t>https://m.esthermall.co.kr/goods/goods_view.php?goodsNo=1000001030</a:t>
            </a:r>
          </a:p>
          <a:p>
            <a:r>
              <a:t>https://www.nutrione.co.kr/item/dtl/1000325974</a:t>
            </a:r>
          </a:p>
          <a:p>
            <a:r>
              <a:t>https://doctorlean.co.kr/</a:t>
            </a:r>
          </a:p>
          <a:p>
            <a:r>
              <a:t>https://www.oliveyoung.co.kr/store/goods/getGoodsDetail.do?goodsNo=A000000242959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두드림_혈당유산균_경쟁사현황(2).pptx11페이지의원료구성별방향,두드림_11월제안서_구성가안(2).pptx9·55페이지의40~60대·12월프리미엄혈당유산균·홈쇼핑연계브리프.세부로드맵과점검항목은제안.정확방송일·원료·상품명·모델·혜택미확정으로확정일자미기재.</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제공 PPT 5번 슬라이드 미디어믹스. 예산·전환매출·개별 목표 CPC·ROAS는 제공안을 유지. 표시 단위는 예산/매출 만원, CPC 원, 클릭 회. 클릭은 예산/목표 CPC를 정수 반올림해 재산정했으며 합계는 표시된 클릭 수를 합산. 소계·전체 CPC는 예산 합계/클릭 합계, 비중은 월 3억원 대비, ROAS는 매출/예산으로 계산.</a:t>
            </a:r>
          </a:p>
          <a:p>
            <a:r>
              <a:t>예산 3억원과 매출 목표 1,129,000,000원은 제안값. 매체 기여매출 합계로 중복 기여가 가능하며 스토어 통합 순매출과 다름. 지원 프로모션의 무상캐시는 유상 예산과 목표 매출에 미반영.</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출처: 제공 PPT 6번 슬라이드 미디어믹스. 예산·전환매출·개별 목표 CPC·ROAS는 제공안을 유지. 표시 단위는 예산/매출 만원, CPC 원, 클릭 회. 클릭은 예산/목표 CPC를 정수 반올림해 재산정했으며 합계는 표시된 클릭 수를 합산. 소계·전체 CPC는 예산 합계/클릭 합계, 비중은 월 3억원 대비, ROAS는 매출/예산으로 계산.</a:t>
            </a:r>
          </a:p>
          <a:p>
            <a:r>
              <a:t>예산 3억원과 매출 목표 1,061,500,000원은 제안값. 매체 기여매출 합계로 중복 기여가 가능하며 스토어 통합 순매출과 다름. 지원 프로모션의 무상캐시는 유상 예산과 목표 매출에 미반영.</a:t>
            </a:r>
          </a:p>
          <a:p>
            <a:r>
              <a:t>디멘드젠은 월 300만원/목표 CPC 100원/목표 30,000클릭의 트래픽 목표. 해당 행의 매출·ROAS 미설정을 유지했고 전체 ROAS 분모에는 디멘드젠 광고비를 포함. 신규 상품 예산은 4,100만원(13.7%).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1DB4B41A-1637-8958-7E11-BE5A2400B10D}"/>
              </a:ext>
            </a:extLst>
          </p:cNvPr>
          <p:cNvSpPr>
            <a:spLocks noGrp="1"/>
          </p:cNvSpPr>
          <p:nvPr>
            <p:ph type="dt" sz="half" idx="10"/>
          </p:nvPr>
        </p:nvSpPr>
        <p:spPr/>
        <p:txBody>
          <a:bodyPr/>
          <a:lstStyle/>
          <a:p>
            <a:fld id="{A5ECB4DE-46F0-4FB5-AA1B-AAB37E8DA0B9}" type="datetimeFigureOut">
              <a:rPr lang="ko-KR" altLang="en-US" smtClean="0"/>
              <a:t>2026-10-13</a:t>
            </a:fld>
            <a:endParaRPr lang="ko-KR" altLang="en-US"/>
          </a:p>
        </p:txBody>
      </p:sp>
      <p:sp>
        <p:nvSpPr>
          <p:cNvPr id="3" name="바닥글 개체 틀 2">
            <a:extLst>
              <a:ext uri="{FF2B5EF4-FFF2-40B4-BE49-F238E27FC236}">
                <a16:creationId xmlns:a16="http://schemas.microsoft.com/office/drawing/2014/main" id="{93DC8B37-7FF8-8F57-1143-0ED670E45976}"/>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EF4E5C64-53B1-521B-5A14-4EDD2605D8BC}"/>
              </a:ext>
            </a:extLst>
          </p:cNvPr>
          <p:cNvSpPr>
            <a:spLocks noGrp="1"/>
          </p:cNvSpPr>
          <p:nvPr>
            <p:ph type="sldNum" sz="quarter" idx="12"/>
          </p:nvPr>
        </p:nvSpPr>
        <p:spPr/>
        <p:txBody>
          <a:bodyPr/>
          <a:lstStyle/>
          <a:p>
            <a:fld id="{2A3F42FC-5F5F-447A-A6C6-E387B19911A0}" type="slidenum">
              <a:rPr lang="ko-KR" altLang="en-US" smtClean="0"/>
              <a:t>‹#›</a:t>
            </a:fld>
            <a:endParaRPr lang="ko-KR" altLang="en-US"/>
          </a:p>
        </p:txBody>
      </p:sp>
    </p:spTree>
    <p:extLst>
      <p:ext uri="{BB962C8B-B14F-4D97-AF65-F5344CB8AC3E}">
        <p14:creationId xmlns:p14="http://schemas.microsoft.com/office/powerpoint/2010/main" val="334751597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6.jpeg"/><Relationship Id="rId13" Type="http://schemas.openxmlformats.org/officeDocument/2006/relationships/image" Target="../media/image10.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jpeg"/><Relationship Id="rId11" Type="http://schemas.microsoft.com/office/2007/relationships/hdphoto" Target="../media/hdphoto1.wdp"/><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1.xml"/><Relationship Id="rId5" Type="http://schemas.openxmlformats.org/officeDocument/2006/relationships/image" Target="../media/image16.jpeg"/><Relationship Id="rId4" Type="http://schemas.openxmlformats.org/officeDocument/2006/relationships/image" Target="../media/image15.jpeg"/></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1.xml"/><Relationship Id="rId5" Type="http://schemas.openxmlformats.org/officeDocument/2006/relationships/image" Target="../media/image20.jpeg"/><Relationship Id="rId4" Type="http://schemas.openxmlformats.org/officeDocument/2006/relationships/image" Target="../media/image19.jpeg"/></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1.xml"/><Relationship Id="rId5" Type="http://schemas.openxmlformats.org/officeDocument/2006/relationships/image" Target="../media/image24.jpeg"/><Relationship Id="rId4" Type="http://schemas.openxmlformats.org/officeDocument/2006/relationships/image" Target="../media/image23.jpeg"/></Relationships>
</file>

<file path=ppt/slides/_rels/slide2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1.xml"/><Relationship Id="rId4" Type="http://schemas.openxmlformats.org/officeDocument/2006/relationships/image" Target="../media/image27.jpe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5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49.png"/><Relationship Id="rId7" Type="http://schemas.openxmlformats.org/officeDocument/2006/relationships/image" Target="../media/image38.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 Id="rId9" Type="http://schemas.openxmlformats.org/officeDocument/2006/relationships/image" Target="../media/image54.png"/></Relationships>
</file>

<file path=ppt/slides/_rels/slide66.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chart" Target="../charts/chart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1.xml"/><Relationship Id="rId5" Type="http://schemas.openxmlformats.org/officeDocument/2006/relationships/image" Target="../media/image66.png"/><Relationship Id="rId4" Type="http://schemas.openxmlformats.org/officeDocument/2006/relationships/image" Target="../media/image65.png"/></Relationships>
</file>

<file path=ppt/slides/_rels/slide85.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8" Type="http://schemas.openxmlformats.org/officeDocument/2006/relationships/image" Target="../media/image74.jpeg"/><Relationship Id="rId3" Type="http://schemas.openxmlformats.org/officeDocument/2006/relationships/image" Target="../media/image69.jpeg"/><Relationship Id="rId7" Type="http://schemas.openxmlformats.org/officeDocument/2006/relationships/image" Target="../media/image73.jpeg"/><Relationship Id="rId2" Type="http://schemas.openxmlformats.org/officeDocument/2006/relationships/image" Target="../media/image68.jpeg"/><Relationship Id="rId1" Type="http://schemas.openxmlformats.org/officeDocument/2006/relationships/slideLayout" Target="../slideLayouts/slideLayout1.xml"/><Relationship Id="rId6" Type="http://schemas.openxmlformats.org/officeDocument/2006/relationships/image" Target="../media/image72.jpeg"/><Relationship Id="rId11" Type="http://schemas.openxmlformats.org/officeDocument/2006/relationships/image" Target="../media/image77.jpeg"/><Relationship Id="rId5" Type="http://schemas.openxmlformats.org/officeDocument/2006/relationships/image" Target="../media/image71.jpeg"/><Relationship Id="rId10" Type="http://schemas.openxmlformats.org/officeDocument/2006/relationships/image" Target="../media/image76.jpeg"/><Relationship Id="rId4" Type="http://schemas.openxmlformats.org/officeDocument/2006/relationships/image" Target="../media/image70.jpeg"/><Relationship Id="rId9" Type="http://schemas.openxmlformats.org/officeDocument/2006/relationships/image" Target="../media/image75.jpeg"/></Relationships>
</file>

<file path=ppt/slides/_rels/slide87.xml.rels><?xml version="1.0" encoding="UTF-8" standalone="yes"?>
<Relationships xmlns="http://schemas.openxmlformats.org/package/2006/relationships"><Relationship Id="rId8" Type="http://schemas.openxmlformats.org/officeDocument/2006/relationships/image" Target="../media/image84.jpeg"/><Relationship Id="rId3" Type="http://schemas.openxmlformats.org/officeDocument/2006/relationships/image" Target="../media/image79.jpeg"/><Relationship Id="rId7" Type="http://schemas.openxmlformats.org/officeDocument/2006/relationships/image" Target="../media/image83.jpeg"/><Relationship Id="rId2" Type="http://schemas.openxmlformats.org/officeDocument/2006/relationships/image" Target="../media/image78.jpeg"/><Relationship Id="rId1" Type="http://schemas.openxmlformats.org/officeDocument/2006/relationships/slideLayout" Target="../slideLayouts/slideLayout1.xml"/><Relationship Id="rId6" Type="http://schemas.openxmlformats.org/officeDocument/2006/relationships/image" Target="../media/image82.jpeg"/><Relationship Id="rId11" Type="http://schemas.openxmlformats.org/officeDocument/2006/relationships/image" Target="../media/image87.jpeg"/><Relationship Id="rId5" Type="http://schemas.openxmlformats.org/officeDocument/2006/relationships/image" Target="../media/image81.jpeg"/><Relationship Id="rId10" Type="http://schemas.openxmlformats.org/officeDocument/2006/relationships/image" Target="../media/image86.jpeg"/><Relationship Id="rId4" Type="http://schemas.openxmlformats.org/officeDocument/2006/relationships/image" Target="../media/image80.jpeg"/><Relationship Id="rId9" Type="http://schemas.openxmlformats.org/officeDocument/2006/relationships/image" Target="../media/image85.jpe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image" Target="../media/image88.png"/><Relationship Id="rId1" Type="http://schemas.openxmlformats.org/officeDocument/2006/relationships/slideLayout" Target="../slideLayouts/slideLayout1.xml"/><Relationship Id="rId4" Type="http://schemas.openxmlformats.org/officeDocument/2006/relationships/image" Target="../media/image90.jpe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2F5C"/>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B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457200"/>
            <a:ext cx="5486400" cy="320040"/>
          </a:xfrm>
          <a:prstGeom prst="rect">
            <a:avLst/>
          </a:prstGeom>
          <a:noFill/>
        </p:spPr>
        <p:txBody>
          <a:bodyPr wrap="square" lIns="0" tIns="0" rIns="0" bIns="0" anchor="t">
            <a:spAutoFit/>
          </a:bodyPr>
          <a:lstStyle/>
          <a:p>
            <a:pPr algn="l"/>
            <a:r>
              <a:rPr sz="1000">
                <a:solidFill>
                  <a:srgbClr val="9FBBDD"/>
                </a:solidFill>
                <a:latin typeface="에이투지체 6 SemiBold"/>
              </a:rPr>
              <a:t>LINKPRICE · BRAND AD CENTER</a:t>
            </a:r>
          </a:p>
        </p:txBody>
      </p:sp>
      <p:sp>
        <p:nvSpPr>
          <p:cNvPr id="4" name="TextBox 3"/>
          <p:cNvSpPr txBox="1"/>
          <p:nvPr/>
        </p:nvSpPr>
        <p:spPr>
          <a:xfrm>
            <a:off x="548640" y="2103120"/>
            <a:ext cx="9144000" cy="411480"/>
          </a:xfrm>
          <a:prstGeom prst="rect">
            <a:avLst/>
          </a:prstGeom>
          <a:noFill/>
        </p:spPr>
        <p:txBody>
          <a:bodyPr wrap="square" lIns="0" tIns="0" rIns="0" bIns="0" anchor="t">
            <a:spAutoFit/>
          </a:bodyPr>
          <a:lstStyle/>
          <a:p>
            <a:pPr algn="l"/>
            <a:r>
              <a:rPr sz="1400">
                <a:solidFill>
                  <a:srgbClr val="6FB0E8"/>
                </a:solidFill>
                <a:latin typeface="에이투지체 6 SemiBold"/>
              </a:rPr>
              <a:t>NOVEMBER AD OPERATION</a:t>
            </a:r>
          </a:p>
        </p:txBody>
      </p:sp>
      <p:sp>
        <p:nvSpPr>
          <p:cNvPr id="5" name="TextBox 4"/>
          <p:cNvSpPr txBox="1"/>
          <p:nvPr/>
        </p:nvSpPr>
        <p:spPr>
          <a:xfrm>
            <a:off x="548640" y="2606040"/>
            <a:ext cx="11064240" cy="1783080"/>
          </a:xfrm>
          <a:prstGeom prst="rect">
            <a:avLst/>
          </a:prstGeom>
          <a:noFill/>
        </p:spPr>
        <p:txBody>
          <a:bodyPr wrap="square" lIns="0" tIns="0" rIns="0" bIns="0" anchor="t">
            <a:spAutoFit/>
          </a:bodyPr>
          <a:lstStyle/>
          <a:p>
            <a:pPr algn="l">
              <a:lnSpc>
                <a:spcPct val="115000"/>
              </a:lnSpc>
            </a:pPr>
            <a:r>
              <a:rPr sz="3600">
                <a:solidFill>
                  <a:srgbClr val="FFFFFF"/>
                </a:solidFill>
                <a:latin typeface="에이투지체 8 ExtraBold"/>
              </a:rPr>
              <a:t>두드림B&amp;B</a:t>
            </a:r>
          </a:p>
          <a:p>
            <a:pPr algn="l">
              <a:lnSpc>
                <a:spcPct val="115000"/>
              </a:lnSpc>
            </a:pPr>
            <a:r>
              <a:rPr sz="3600">
                <a:solidFill>
                  <a:srgbClr val="FFFFFF"/>
                </a:solidFill>
                <a:latin typeface="에이투지체 8 ExtraBold"/>
              </a:rPr>
              <a:t>11월 광고 운영 제안서</a:t>
            </a:r>
          </a:p>
        </p:txBody>
      </p:sp>
      <p:sp>
        <p:nvSpPr>
          <p:cNvPr id="6" name="TextBox 5"/>
          <p:cNvSpPr txBox="1"/>
          <p:nvPr/>
        </p:nvSpPr>
        <p:spPr>
          <a:xfrm>
            <a:off x="548640" y="4526280"/>
            <a:ext cx="11064240" cy="457200"/>
          </a:xfrm>
          <a:prstGeom prst="rect">
            <a:avLst/>
          </a:prstGeom>
          <a:noFill/>
        </p:spPr>
        <p:txBody>
          <a:bodyPr wrap="square" lIns="0" tIns="0" rIns="0" bIns="0" anchor="t">
            <a:spAutoFit/>
          </a:bodyPr>
          <a:lstStyle/>
          <a:p>
            <a:pPr algn="l"/>
            <a:r>
              <a:rPr sz="1500">
                <a:solidFill>
                  <a:srgbClr val="DCE8F6"/>
                </a:solidFill>
                <a:latin typeface="에이투지체 5 Medium"/>
              </a:rPr>
              <a:t>키성장 FGO 다음의 히어로 상품을 브랜드스토어에서 만듭니다</a:t>
            </a:r>
          </a:p>
        </p:txBody>
      </p:sp>
      <p:sp>
        <p:nvSpPr>
          <p:cNvPr id="7" name="TextBox 6"/>
          <p:cNvSpPr txBox="1"/>
          <p:nvPr/>
        </p:nvSpPr>
        <p:spPr>
          <a:xfrm>
            <a:off x="548640" y="5989320"/>
            <a:ext cx="7315200" cy="320040"/>
          </a:xfrm>
          <a:prstGeom prst="rect">
            <a:avLst/>
          </a:prstGeom>
          <a:noFill/>
        </p:spPr>
        <p:txBody>
          <a:bodyPr wrap="square" lIns="0" tIns="0" rIns="0" bIns="0" anchor="t">
            <a:spAutoFit/>
          </a:bodyPr>
          <a:lstStyle/>
          <a:p>
            <a:pPr algn="l"/>
            <a:r>
              <a:rPr sz="1100">
                <a:solidFill>
                  <a:srgbClr val="9FBBDD"/>
                </a:solidFill>
                <a:latin typeface="에이투지체 5 Medium"/>
              </a:rPr>
              <a:t>링크프라이스 브랜드2본부  ·  2026. 10</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a:solidFill>
                  <a:srgbClr val="004F9F"/>
                </a:solidFill>
                <a:latin typeface="에이투지체 6 SemiBold"/>
              </a:rPr>
              <a:t>INDEX</a:t>
            </a:r>
          </a:p>
        </p:txBody>
      </p:sp>
      <p:sp>
        <p:nvSpPr>
          <p:cNvPr id="5" name="TextBox 4"/>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6" name="TextBox 5"/>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7"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02</a:t>
            </a:r>
          </a:p>
        </p:txBody>
      </p:sp>
      <p:sp>
        <p:nvSpPr>
          <p:cNvPr id="8" name="Rectangle 7"/>
          <p:cNvSpPr/>
          <p:nvPr/>
        </p:nvSpPr>
        <p:spPr>
          <a:xfrm>
            <a:off x="548640" y="771579"/>
            <a:ext cx="11064240" cy="603504"/>
          </a:xfrm>
          <a:prstGeom prst="rect">
            <a:avLst/>
          </a:prstGeom>
          <a:solidFill>
            <a:srgbClr val="FFFFFF"/>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22960" y="936171"/>
            <a:ext cx="1097280" cy="292608"/>
          </a:xfrm>
          <a:prstGeom prst="rect">
            <a:avLst/>
          </a:prstGeom>
          <a:noFill/>
        </p:spPr>
        <p:txBody>
          <a:bodyPr wrap="square" lIns="0" tIns="0" rIns="0" bIns="0" anchor="t">
            <a:spAutoFit/>
          </a:bodyPr>
          <a:lstStyle/>
          <a:p>
            <a:pPr algn="l"/>
            <a:r>
              <a:rPr sz="1200">
                <a:solidFill>
                  <a:srgbClr val="004F9F"/>
                </a:solidFill>
                <a:latin typeface="에이투지체 8 ExtraBold"/>
              </a:rPr>
              <a:t>PART 1</a:t>
            </a:r>
          </a:p>
        </p:txBody>
      </p:sp>
      <p:sp>
        <p:nvSpPr>
          <p:cNvPr id="10" name="TextBox 9"/>
          <p:cNvSpPr txBox="1"/>
          <p:nvPr/>
        </p:nvSpPr>
        <p:spPr>
          <a:xfrm>
            <a:off x="2057400" y="936171"/>
            <a:ext cx="4206240" cy="292608"/>
          </a:xfrm>
          <a:prstGeom prst="rect">
            <a:avLst/>
          </a:prstGeom>
          <a:noFill/>
        </p:spPr>
        <p:txBody>
          <a:bodyPr wrap="square" lIns="0" tIns="0" rIns="0" bIns="0" anchor="t">
            <a:spAutoFit/>
          </a:bodyPr>
          <a:lstStyle/>
          <a:p>
            <a:pPr algn="l"/>
            <a:r>
              <a:rPr sz="1150">
                <a:solidFill>
                  <a:srgbClr val="222222"/>
                </a:solidFill>
                <a:latin typeface="에이투지체 6 SemiBold"/>
              </a:rPr>
              <a:t>회사 소개</a:t>
            </a:r>
          </a:p>
        </p:txBody>
      </p:sp>
      <p:sp>
        <p:nvSpPr>
          <p:cNvPr id="11" name="TextBox 10"/>
          <p:cNvSpPr txBox="1"/>
          <p:nvPr/>
        </p:nvSpPr>
        <p:spPr>
          <a:xfrm>
            <a:off x="6400800" y="954459"/>
            <a:ext cx="5029200" cy="292608"/>
          </a:xfrm>
          <a:prstGeom prst="rect">
            <a:avLst/>
          </a:prstGeom>
          <a:noFill/>
        </p:spPr>
        <p:txBody>
          <a:bodyPr wrap="square" lIns="0" tIns="0" rIns="0" bIns="0" anchor="t">
            <a:spAutoFit/>
          </a:bodyPr>
          <a:lstStyle/>
          <a:p>
            <a:pPr algn="l"/>
            <a:r>
              <a:rPr sz="950">
                <a:solidFill>
                  <a:srgbClr val="5C5C5C"/>
                </a:solidFill>
                <a:latin typeface="에이투지체 4 Regular"/>
              </a:rPr>
              <a:t>회사 현황, 연혁, 조직, 매체 공식 파트너십</a:t>
            </a:r>
          </a:p>
        </p:txBody>
      </p:sp>
      <p:sp>
        <p:nvSpPr>
          <p:cNvPr id="12" name="Rectangle 11"/>
          <p:cNvSpPr/>
          <p:nvPr/>
        </p:nvSpPr>
        <p:spPr>
          <a:xfrm>
            <a:off x="548640" y="1439091"/>
            <a:ext cx="11064240" cy="60350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60" y="1603683"/>
            <a:ext cx="1097280" cy="292608"/>
          </a:xfrm>
          <a:prstGeom prst="rect">
            <a:avLst/>
          </a:prstGeom>
          <a:noFill/>
        </p:spPr>
        <p:txBody>
          <a:bodyPr wrap="square" lIns="0" tIns="0" rIns="0" bIns="0" anchor="t">
            <a:spAutoFit/>
          </a:bodyPr>
          <a:lstStyle/>
          <a:p>
            <a:pPr algn="l"/>
            <a:r>
              <a:rPr sz="1200">
                <a:solidFill>
                  <a:srgbClr val="004F9F"/>
                </a:solidFill>
                <a:latin typeface="에이투지체 8 ExtraBold"/>
              </a:rPr>
              <a:t>PART 2</a:t>
            </a:r>
          </a:p>
        </p:txBody>
      </p:sp>
      <p:sp>
        <p:nvSpPr>
          <p:cNvPr id="14" name="TextBox 13"/>
          <p:cNvSpPr txBox="1"/>
          <p:nvPr/>
        </p:nvSpPr>
        <p:spPr>
          <a:xfrm>
            <a:off x="2057400" y="1603683"/>
            <a:ext cx="4206240" cy="292608"/>
          </a:xfrm>
          <a:prstGeom prst="rect">
            <a:avLst/>
          </a:prstGeom>
          <a:noFill/>
        </p:spPr>
        <p:txBody>
          <a:bodyPr wrap="square" lIns="0" tIns="0" rIns="0" bIns="0" anchor="t">
            <a:spAutoFit/>
          </a:bodyPr>
          <a:lstStyle/>
          <a:p>
            <a:pPr algn="l"/>
            <a:r>
              <a:rPr sz="1150">
                <a:solidFill>
                  <a:srgbClr val="222222"/>
                </a:solidFill>
                <a:latin typeface="에이투지체 6 SemiBold"/>
              </a:rPr>
              <a:t>11월 마케팅 전략 · 미디어믹스</a:t>
            </a:r>
          </a:p>
        </p:txBody>
      </p:sp>
      <p:sp>
        <p:nvSpPr>
          <p:cNvPr id="15" name="TextBox 14"/>
          <p:cNvSpPr txBox="1"/>
          <p:nvPr/>
        </p:nvSpPr>
        <p:spPr>
          <a:xfrm>
            <a:off x="6400800" y="1621971"/>
            <a:ext cx="5029200" cy="292608"/>
          </a:xfrm>
          <a:prstGeom prst="rect">
            <a:avLst/>
          </a:prstGeom>
          <a:noFill/>
        </p:spPr>
        <p:txBody>
          <a:bodyPr wrap="square" lIns="0" tIns="0" rIns="0" bIns="0" anchor="t">
            <a:spAutoFit/>
          </a:bodyPr>
          <a:lstStyle/>
          <a:p>
            <a:pPr algn="l"/>
            <a:r>
              <a:rPr sz="950">
                <a:solidFill>
                  <a:srgbClr val="5C5C5C"/>
                </a:solidFill>
                <a:latin typeface="에이투지체 4 Regular"/>
              </a:rPr>
              <a:t>현황 진단, Growth Funnel과 운영 사례, 매체별 운영안과 노출 시안, 행사 연동, 라이브, 외부몰</a:t>
            </a:r>
          </a:p>
        </p:txBody>
      </p:sp>
      <p:sp>
        <p:nvSpPr>
          <p:cNvPr id="16" name="Rectangle 15"/>
          <p:cNvSpPr/>
          <p:nvPr/>
        </p:nvSpPr>
        <p:spPr>
          <a:xfrm>
            <a:off x="548640" y="2106603"/>
            <a:ext cx="11064240" cy="603504"/>
          </a:xfrm>
          <a:prstGeom prst="rect">
            <a:avLst/>
          </a:prstGeom>
          <a:solidFill>
            <a:srgbClr val="FFFFFF"/>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2960" y="2271195"/>
            <a:ext cx="1097280" cy="292608"/>
          </a:xfrm>
          <a:prstGeom prst="rect">
            <a:avLst/>
          </a:prstGeom>
          <a:noFill/>
        </p:spPr>
        <p:txBody>
          <a:bodyPr wrap="square" lIns="0" tIns="0" rIns="0" bIns="0" anchor="t">
            <a:spAutoFit/>
          </a:bodyPr>
          <a:lstStyle/>
          <a:p>
            <a:pPr algn="l"/>
            <a:r>
              <a:rPr sz="1200">
                <a:solidFill>
                  <a:srgbClr val="004F9F"/>
                </a:solidFill>
                <a:latin typeface="에이투지체 8 ExtraBold"/>
              </a:rPr>
              <a:t>PART 3</a:t>
            </a:r>
          </a:p>
        </p:txBody>
      </p:sp>
      <p:sp>
        <p:nvSpPr>
          <p:cNvPr id="18" name="TextBox 17"/>
          <p:cNvSpPr txBox="1"/>
          <p:nvPr/>
        </p:nvSpPr>
        <p:spPr>
          <a:xfrm>
            <a:off x="2057400" y="2271195"/>
            <a:ext cx="4206240" cy="292608"/>
          </a:xfrm>
          <a:prstGeom prst="rect">
            <a:avLst/>
          </a:prstGeom>
          <a:noFill/>
        </p:spPr>
        <p:txBody>
          <a:bodyPr wrap="square" lIns="0" tIns="0" rIns="0" bIns="0" anchor="t">
            <a:spAutoFit/>
          </a:bodyPr>
          <a:lstStyle/>
          <a:p>
            <a:pPr algn="l"/>
            <a:r>
              <a:rPr sz="1150">
                <a:solidFill>
                  <a:srgbClr val="222222"/>
                </a:solidFill>
                <a:latin typeface="에이투지체 6 SemiBold"/>
              </a:rPr>
              <a:t>신규 광고 매체 제안</a:t>
            </a:r>
          </a:p>
        </p:txBody>
      </p:sp>
      <p:sp>
        <p:nvSpPr>
          <p:cNvPr id="19" name="TextBox 18"/>
          <p:cNvSpPr txBox="1"/>
          <p:nvPr/>
        </p:nvSpPr>
        <p:spPr>
          <a:xfrm>
            <a:off x="6400800" y="2289483"/>
            <a:ext cx="5029200" cy="292608"/>
          </a:xfrm>
          <a:prstGeom prst="rect">
            <a:avLst/>
          </a:prstGeom>
          <a:noFill/>
        </p:spPr>
        <p:txBody>
          <a:bodyPr wrap="square" lIns="0" tIns="0" rIns="0" bIns="0" anchor="t">
            <a:spAutoFit/>
          </a:bodyPr>
          <a:lstStyle/>
          <a:p>
            <a:pPr algn="l"/>
            <a:r>
              <a:rPr sz="950">
                <a:solidFill>
                  <a:srgbClr val="5C5C5C"/>
                </a:solidFill>
                <a:latin typeface="에이투지체 4 Regular"/>
              </a:rPr>
              <a:t>카카오, 유튜브 테스트 설계와 측정 기준</a:t>
            </a:r>
          </a:p>
        </p:txBody>
      </p:sp>
      <p:sp>
        <p:nvSpPr>
          <p:cNvPr id="20" name="Rectangle 19"/>
          <p:cNvSpPr/>
          <p:nvPr/>
        </p:nvSpPr>
        <p:spPr>
          <a:xfrm>
            <a:off x="548640" y="2774115"/>
            <a:ext cx="11064240" cy="60350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60" y="2938707"/>
            <a:ext cx="1097280" cy="292608"/>
          </a:xfrm>
          <a:prstGeom prst="rect">
            <a:avLst/>
          </a:prstGeom>
          <a:noFill/>
        </p:spPr>
        <p:txBody>
          <a:bodyPr wrap="square" lIns="0" tIns="0" rIns="0" bIns="0" anchor="t">
            <a:spAutoFit/>
          </a:bodyPr>
          <a:lstStyle/>
          <a:p>
            <a:pPr algn="l"/>
            <a:r>
              <a:rPr sz="1200">
                <a:solidFill>
                  <a:srgbClr val="004F9F"/>
                </a:solidFill>
                <a:latin typeface="에이투지체 8 ExtraBold"/>
              </a:rPr>
              <a:t>PART 4</a:t>
            </a:r>
          </a:p>
        </p:txBody>
      </p:sp>
      <p:sp>
        <p:nvSpPr>
          <p:cNvPr id="22" name="TextBox 21"/>
          <p:cNvSpPr txBox="1"/>
          <p:nvPr/>
        </p:nvSpPr>
        <p:spPr>
          <a:xfrm>
            <a:off x="2057400" y="2938707"/>
            <a:ext cx="4206240" cy="292608"/>
          </a:xfrm>
          <a:prstGeom prst="rect">
            <a:avLst/>
          </a:prstGeom>
          <a:noFill/>
        </p:spPr>
        <p:txBody>
          <a:bodyPr wrap="square" lIns="0" tIns="0" rIns="0" bIns="0" anchor="t">
            <a:spAutoFit/>
          </a:bodyPr>
          <a:lstStyle/>
          <a:p>
            <a:pPr algn="l"/>
            <a:r>
              <a:rPr sz="1150">
                <a:solidFill>
                  <a:srgbClr val="222222"/>
                </a:solidFill>
                <a:latin typeface="에이투지체 6 SemiBold"/>
              </a:rPr>
              <a:t>40~60대 신규 브랜드 론칭</a:t>
            </a:r>
          </a:p>
        </p:txBody>
      </p:sp>
      <p:sp>
        <p:nvSpPr>
          <p:cNvPr id="23" name="TextBox 22"/>
          <p:cNvSpPr txBox="1"/>
          <p:nvPr/>
        </p:nvSpPr>
        <p:spPr>
          <a:xfrm>
            <a:off x="6400800" y="2956995"/>
            <a:ext cx="5029200" cy="292608"/>
          </a:xfrm>
          <a:prstGeom prst="rect">
            <a:avLst/>
          </a:prstGeom>
          <a:noFill/>
        </p:spPr>
        <p:txBody>
          <a:bodyPr wrap="square" lIns="0" tIns="0" rIns="0" bIns="0" anchor="t">
            <a:spAutoFit/>
          </a:bodyPr>
          <a:lstStyle/>
          <a:p>
            <a:pPr algn="l"/>
            <a:r>
              <a:rPr sz="950">
                <a:solidFill>
                  <a:srgbClr val="5C5C5C"/>
                </a:solidFill>
                <a:latin typeface="에이투지체 4 Regular"/>
              </a:rPr>
              <a:t>혈당 유산균 시장, 론칭 로드맵, 론칭 미디어믹스</a:t>
            </a:r>
          </a:p>
        </p:txBody>
      </p:sp>
      <p:sp>
        <p:nvSpPr>
          <p:cNvPr id="24" name="Rectangle 23"/>
          <p:cNvSpPr/>
          <p:nvPr/>
        </p:nvSpPr>
        <p:spPr>
          <a:xfrm>
            <a:off x="548640" y="3441627"/>
            <a:ext cx="11064240" cy="603504"/>
          </a:xfrm>
          <a:prstGeom prst="rect">
            <a:avLst/>
          </a:prstGeom>
          <a:solidFill>
            <a:srgbClr val="FFFFFF"/>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22960" y="3606219"/>
            <a:ext cx="1097280" cy="292608"/>
          </a:xfrm>
          <a:prstGeom prst="rect">
            <a:avLst/>
          </a:prstGeom>
          <a:noFill/>
        </p:spPr>
        <p:txBody>
          <a:bodyPr wrap="square" lIns="0" tIns="0" rIns="0" bIns="0" anchor="t">
            <a:spAutoFit/>
          </a:bodyPr>
          <a:lstStyle/>
          <a:p>
            <a:pPr algn="l"/>
            <a:r>
              <a:rPr sz="1200">
                <a:solidFill>
                  <a:srgbClr val="004F9F"/>
                </a:solidFill>
                <a:latin typeface="에이투지체 8 ExtraBold"/>
              </a:rPr>
              <a:t>PART 5</a:t>
            </a:r>
          </a:p>
        </p:txBody>
      </p:sp>
      <p:sp>
        <p:nvSpPr>
          <p:cNvPr id="26" name="TextBox 25"/>
          <p:cNvSpPr txBox="1"/>
          <p:nvPr/>
        </p:nvSpPr>
        <p:spPr>
          <a:xfrm>
            <a:off x="2057400" y="3606219"/>
            <a:ext cx="4206240" cy="292608"/>
          </a:xfrm>
          <a:prstGeom prst="rect">
            <a:avLst/>
          </a:prstGeom>
          <a:noFill/>
        </p:spPr>
        <p:txBody>
          <a:bodyPr wrap="square" lIns="0" tIns="0" rIns="0" bIns="0" anchor="t">
            <a:spAutoFit/>
          </a:bodyPr>
          <a:lstStyle/>
          <a:p>
            <a:pPr algn="l"/>
            <a:r>
              <a:rPr sz="1150">
                <a:solidFill>
                  <a:srgbClr val="222222"/>
                </a:solidFill>
                <a:latin typeface="에이투지체 6 SemiBold"/>
              </a:rPr>
              <a:t>3억 통합 미디어믹스</a:t>
            </a:r>
          </a:p>
        </p:txBody>
      </p:sp>
      <p:sp>
        <p:nvSpPr>
          <p:cNvPr id="27" name="TextBox 26"/>
          <p:cNvSpPr txBox="1"/>
          <p:nvPr/>
        </p:nvSpPr>
        <p:spPr>
          <a:xfrm>
            <a:off x="6400800" y="3624507"/>
            <a:ext cx="5029200" cy="292608"/>
          </a:xfrm>
          <a:prstGeom prst="rect">
            <a:avLst/>
          </a:prstGeom>
          <a:noFill/>
        </p:spPr>
        <p:txBody>
          <a:bodyPr wrap="square" lIns="0" tIns="0" rIns="0" bIns="0" anchor="t">
            <a:spAutoFit/>
          </a:bodyPr>
          <a:lstStyle/>
          <a:p>
            <a:pPr algn="l"/>
            <a:r>
              <a:rPr sz="950">
                <a:solidFill>
                  <a:srgbClr val="5C5C5C"/>
                </a:solidFill>
                <a:latin typeface="에이투지체 4 Regular"/>
              </a:rPr>
              <a:t>11월·12월 매체별 예산과 KPI</a:t>
            </a:r>
          </a:p>
        </p:txBody>
      </p:sp>
      <p:sp>
        <p:nvSpPr>
          <p:cNvPr id="28" name="Rectangle 27"/>
          <p:cNvSpPr/>
          <p:nvPr/>
        </p:nvSpPr>
        <p:spPr>
          <a:xfrm>
            <a:off x="548640" y="4109139"/>
            <a:ext cx="11064240" cy="603504"/>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60" y="4273730"/>
            <a:ext cx="1097280" cy="292608"/>
          </a:xfrm>
          <a:prstGeom prst="rect">
            <a:avLst/>
          </a:prstGeom>
          <a:noFill/>
        </p:spPr>
        <p:txBody>
          <a:bodyPr wrap="square" lIns="0" tIns="0" rIns="0" bIns="0" anchor="t">
            <a:spAutoFit/>
          </a:bodyPr>
          <a:lstStyle/>
          <a:p>
            <a:pPr algn="l"/>
            <a:r>
              <a:rPr sz="1200">
                <a:solidFill>
                  <a:srgbClr val="004F9F"/>
                </a:solidFill>
                <a:latin typeface="에이투지체 8 ExtraBold"/>
              </a:rPr>
              <a:t>PART 6</a:t>
            </a:r>
          </a:p>
        </p:txBody>
      </p:sp>
      <p:sp>
        <p:nvSpPr>
          <p:cNvPr id="30" name="TextBox 29"/>
          <p:cNvSpPr txBox="1"/>
          <p:nvPr/>
        </p:nvSpPr>
        <p:spPr>
          <a:xfrm>
            <a:off x="2057400" y="4273730"/>
            <a:ext cx="4206240" cy="292608"/>
          </a:xfrm>
          <a:prstGeom prst="rect">
            <a:avLst/>
          </a:prstGeom>
          <a:noFill/>
        </p:spPr>
        <p:txBody>
          <a:bodyPr wrap="square" lIns="0" tIns="0" rIns="0" bIns="0" anchor="t">
            <a:spAutoFit/>
          </a:bodyPr>
          <a:lstStyle/>
          <a:p>
            <a:pPr algn="l"/>
            <a:r>
              <a:rPr sz="1150">
                <a:solidFill>
                  <a:srgbClr val="222222"/>
                </a:solidFill>
                <a:latin typeface="에이투지체 6 SemiBold"/>
              </a:rPr>
              <a:t>링크프라이스 강점</a:t>
            </a:r>
          </a:p>
        </p:txBody>
      </p:sp>
      <p:sp>
        <p:nvSpPr>
          <p:cNvPr id="31" name="TextBox 30"/>
          <p:cNvSpPr txBox="1"/>
          <p:nvPr/>
        </p:nvSpPr>
        <p:spPr>
          <a:xfrm>
            <a:off x="6400800" y="4292019"/>
            <a:ext cx="5029200" cy="292608"/>
          </a:xfrm>
          <a:prstGeom prst="rect">
            <a:avLst/>
          </a:prstGeom>
          <a:noFill/>
        </p:spPr>
        <p:txBody>
          <a:bodyPr wrap="square" lIns="0" tIns="0" rIns="0" bIns="0" anchor="t">
            <a:spAutoFit/>
          </a:bodyPr>
          <a:lstStyle/>
          <a:p>
            <a:pPr algn="l"/>
            <a:r>
              <a:rPr sz="950">
                <a:solidFill>
                  <a:srgbClr val="5C5C5C"/>
                </a:solidFill>
                <a:latin typeface="에이투지체 4 Regular"/>
              </a:rPr>
              <a:t>전담 TF, 제작 체계, 운영 솔루션, 레퍼런스, 글로벌</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2F5C"/>
        </a:solidFill>
        <a:effectLst/>
      </p:bgPr>
    </p:bg>
    <p:spTree>
      <p:nvGrpSpPr>
        <p:cNvPr id="1" name=""/>
        <p:cNvGrpSpPr/>
        <p:nvPr/>
      </p:nvGrpSpPr>
      <p:grpSpPr>
        <a:xfrm>
          <a:off x="0" y="0"/>
          <a:ext cx="0" cy="0"/>
          <a:chOff x="0" y="0"/>
          <a:chExt cx="0" cy="0"/>
        </a:xfrm>
      </p:grpSpPr>
      <p:sp>
        <p:nvSpPr>
          <p:cNvPr id="2" name="Text 0"/>
          <p:cNvSpPr/>
          <p:nvPr/>
        </p:nvSpPr>
        <p:spPr>
          <a:xfrm>
            <a:off x="548640" y="1737360"/>
            <a:ext cx="5486400" cy="548640"/>
          </a:xfrm>
          <a:prstGeom prst="rect">
            <a:avLst/>
          </a:prstGeom>
          <a:noFill/>
          <a:ln/>
        </p:spPr>
        <p:txBody>
          <a:bodyPr wrap="square" lIns="0" tIns="0" rIns="0" bIns="0" rtlCol="0" anchor="ctr"/>
          <a:lstStyle/>
          <a:p>
            <a:pPr marL="0" indent="0">
              <a:buNone/>
            </a:pPr>
            <a:r>
              <a:rPr lang="en-US" sz="1600" kern="0" spc="300" dirty="0">
                <a:solidFill>
                  <a:srgbClr val="6FB0E8"/>
                </a:solidFill>
                <a:latin typeface="에이투지체 6 SemiBold" pitchFamily="34" charset="0"/>
                <a:ea typeface="에이투지체 6 SemiBold" pitchFamily="34" charset="-122"/>
                <a:cs typeface="에이투지체 6 SemiBold" pitchFamily="34" charset="-120"/>
              </a:rPr>
              <a:t>PART 1</a:t>
            </a:r>
            <a:endParaRPr lang="en-US" sz="1600" dirty="0"/>
          </a:p>
        </p:txBody>
      </p:sp>
      <p:sp>
        <p:nvSpPr>
          <p:cNvPr id="3" name="Text 1"/>
          <p:cNvSpPr/>
          <p:nvPr/>
        </p:nvSpPr>
        <p:spPr>
          <a:xfrm>
            <a:off x="548640" y="2286000"/>
            <a:ext cx="11064240" cy="914400"/>
          </a:xfrm>
          <a:prstGeom prst="rect">
            <a:avLst/>
          </a:prstGeom>
          <a:noFill/>
          <a:ln/>
        </p:spPr>
        <p:txBody>
          <a:bodyPr wrap="square" lIns="0" tIns="0" rIns="0" bIns="0" rtlCol="0" anchor="ctr"/>
          <a:lstStyle/>
          <a:p>
            <a:pPr marL="0" indent="0">
              <a:buNone/>
            </a:pPr>
            <a:r>
              <a:rPr lang="en-US" sz="4000" dirty="0">
                <a:solidFill>
                  <a:srgbClr val="FFFFFF"/>
                </a:solidFill>
                <a:latin typeface="에이투지체 8 ExtraBold" pitchFamily="34" charset="0"/>
                <a:ea typeface="에이투지체 8 ExtraBold" pitchFamily="34" charset="-122"/>
                <a:cs typeface="에이투지체 8 ExtraBold" pitchFamily="34" charset="-120"/>
              </a:rPr>
              <a:t>Link Price</a:t>
            </a:r>
            <a:endParaRPr lang="en-US" sz="4000" dirty="0"/>
          </a:p>
        </p:txBody>
      </p:sp>
      <p:sp>
        <p:nvSpPr>
          <p:cNvPr id="4" name="Text 2"/>
          <p:cNvSpPr/>
          <p:nvPr/>
        </p:nvSpPr>
        <p:spPr>
          <a:xfrm>
            <a:off x="548640" y="3310128"/>
            <a:ext cx="11064240" cy="548640"/>
          </a:xfrm>
          <a:prstGeom prst="rect">
            <a:avLst/>
          </a:prstGeom>
          <a:noFill/>
          <a:ln/>
        </p:spPr>
        <p:txBody>
          <a:bodyPr wrap="square" lIns="0" tIns="0" rIns="0" bIns="0" rtlCol="0" anchor="ctr"/>
          <a:lstStyle/>
          <a:p>
            <a:pPr marL="0" indent="0">
              <a:buNone/>
            </a:pPr>
            <a:r>
              <a:rPr lang="en-US" sz="1800" dirty="0">
                <a:solidFill>
                  <a:srgbClr val="FFFFFF"/>
                </a:solidFill>
                <a:latin typeface="에이투지체 6 SemiBold" pitchFamily="34" charset="0"/>
                <a:ea typeface="에이투지체 6 SemiBold" pitchFamily="34" charset="-122"/>
                <a:cs typeface="에이투지체 6 SemiBold" pitchFamily="34" charset="-120"/>
              </a:rPr>
              <a:t>회사 소개</a:t>
            </a:r>
            <a:endParaRPr lang="en-US" sz="1800" dirty="0"/>
          </a:p>
        </p:txBody>
      </p:sp>
      <p:sp>
        <p:nvSpPr>
          <p:cNvPr id="5" name="Text 3"/>
          <p:cNvSpPr/>
          <p:nvPr/>
        </p:nvSpPr>
        <p:spPr>
          <a:xfrm>
            <a:off x="548640" y="3931920"/>
            <a:ext cx="11064240" cy="457200"/>
          </a:xfrm>
          <a:prstGeom prst="rect">
            <a:avLst/>
          </a:prstGeom>
          <a:noFill/>
          <a:ln/>
        </p:spPr>
        <p:txBody>
          <a:bodyPr wrap="square" lIns="0" tIns="0" rIns="0" bIns="0" rtlCol="0" anchor="ctr"/>
          <a:lstStyle/>
          <a:p>
            <a:pPr marL="0" indent="0">
              <a:buNone/>
            </a:pPr>
            <a:r>
              <a:rPr lang="en-US" sz="1200" dirty="0">
                <a:solidFill>
                  <a:srgbClr val="9FBBDD"/>
                </a:solidFill>
                <a:latin typeface="에이투지체 5 Medium" pitchFamily="34" charset="0"/>
                <a:ea typeface="에이투지체 5 Medium" pitchFamily="34" charset="-122"/>
                <a:cs typeface="에이투지체 5 Medium" pitchFamily="34" charset="-120"/>
              </a:rPr>
              <a:t>규모와 경력, 재무까지 검증된 디지털 광고 파트너</a:t>
            </a:r>
            <a:endParaRPr lang="en-US" sz="1200" dirty="0"/>
          </a:p>
        </p:txBody>
      </p:sp>
      <p:sp>
        <p:nvSpPr>
          <p:cNvPr id="6" name="Text 4"/>
          <p:cNvSpPr/>
          <p:nvPr/>
        </p:nvSpPr>
        <p:spPr>
          <a:xfrm>
            <a:off x="548640" y="6473952"/>
            <a:ext cx="4206240" cy="274320"/>
          </a:xfrm>
          <a:prstGeom prst="rect">
            <a:avLst/>
          </a:prstGeom>
          <a:noFill/>
          <a:ln/>
        </p:spPr>
        <p:txBody>
          <a:bodyPr wrap="square" lIns="0" tIns="0" rIns="0" bIns="0" rtlCol="0" anchor="ctr"/>
          <a:lstStyle/>
          <a:p>
            <a:pPr marL="0" indent="0">
              <a:buNone/>
            </a:pPr>
            <a:r>
              <a:rPr lang="en-US" sz="800" dirty="0">
                <a:solidFill>
                  <a:srgbClr val="9FBBDD"/>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7" name="Text 5"/>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FBBDD"/>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8" name="Text 6"/>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FFFFFF"/>
                </a:solidFill>
                <a:latin typeface="에이투지체 6 SemiBold" pitchFamily="34" charset="0"/>
                <a:ea typeface="에이투지체 6 SemiBold" pitchFamily="34" charset="-122"/>
                <a:cs typeface="에이투지체 6 SemiBold" pitchFamily="34" charset="-120"/>
              </a:rPr>
              <a:t>03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1 · 회사 소개</a:t>
            </a:r>
            <a:endParaRPr lang="en-US" sz="9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marL="0" indent="0">
              <a:lnSpc>
                <a:spcPts val="2600"/>
              </a:lnSpc>
              <a:buNone/>
            </a:pPr>
            <a:r>
              <a:rPr lang="en-US" sz="1900" dirty="0" err="1">
                <a:solidFill>
                  <a:srgbClr val="222222"/>
                </a:solidFill>
                <a:latin typeface="에이투지체 8 ExtraBold" pitchFamily="34" charset="0"/>
                <a:ea typeface="에이투지체 8 ExtraBold" pitchFamily="34" charset="-122"/>
                <a:cs typeface="에이투지체 8 ExtraBold" pitchFamily="34" charset="-120"/>
              </a:rPr>
              <a:t>규모와</a:t>
            </a:r>
            <a:r>
              <a:rPr lang="en-US" sz="1900" dirty="0">
                <a:solidFill>
                  <a:srgbClr val="222222"/>
                </a:solidFill>
                <a:latin typeface="에이투지체 8 ExtraBold" pitchFamily="34" charset="0"/>
                <a:ea typeface="에이투지체 8 ExtraBold" pitchFamily="34" charset="-122"/>
                <a:cs typeface="에이투지체 8 ExtraBold" pitchFamily="34" charset="-120"/>
              </a:rPr>
              <a:t> 경력, 재무 모두 검증된 파트너입니다</a:t>
            </a:r>
            <a:endParaRPr lang="en-US" sz="1900" dirty="0"/>
          </a:p>
        </p:txBody>
      </p:sp>
      <p:sp>
        <p:nvSpPr>
          <p:cNvPr id="4" name="Text 2"/>
          <p:cNvSpPr/>
          <p:nvPr/>
        </p:nvSpPr>
        <p:spPr>
          <a:xfrm>
            <a:off x="548640" y="1517904"/>
            <a:ext cx="11064240" cy="365760"/>
          </a:xfrm>
          <a:prstGeom prst="rect">
            <a:avLst/>
          </a:prstGeom>
          <a:noFill/>
          <a:ln/>
        </p:spPr>
        <p:txBody>
          <a:bodyPr wrap="square" lIns="0" tIns="0" rIns="0" bIns="0" rtlCol="0" anchor="ctr"/>
          <a:lstStyle/>
          <a:p>
            <a:pPr marL="0" indent="0">
              <a:buNone/>
            </a:pPr>
            <a:r>
              <a:rPr lang="en-US" sz="1100" dirty="0">
                <a:solidFill>
                  <a:srgbClr val="5C5C5C"/>
                </a:solidFill>
                <a:latin typeface="에이투지체 5 Medium" pitchFamily="34" charset="0"/>
                <a:ea typeface="에이투지체 5 Medium" pitchFamily="34" charset="-122"/>
                <a:cs typeface="에이투지체 5 Medium" pitchFamily="34" charset="-120"/>
              </a:rPr>
              <a:t>링크프라이스 일반 현황</a:t>
            </a:r>
            <a:endParaRPr lang="en-US" sz="1100" dirty="0"/>
          </a:p>
        </p:txBody>
      </p:sp>
      <p:sp>
        <p:nvSpPr>
          <p:cNvPr id="5" name="Text 3"/>
          <p:cNvSpPr/>
          <p:nvPr/>
        </p:nvSpPr>
        <p:spPr>
          <a:xfrm>
            <a:off x="548640" y="6473952"/>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6" name="Text 4"/>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7" name="Text 5"/>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222222"/>
                </a:solidFill>
                <a:latin typeface="에이투지체 6 SemiBold" pitchFamily="34" charset="0"/>
                <a:ea typeface="에이투지체 6 SemiBold" pitchFamily="34" charset="-122"/>
                <a:cs typeface="에이투지체 6 SemiBold" pitchFamily="34" charset="-120"/>
              </a:rPr>
              <a:t>04</a:t>
            </a:r>
            <a:endParaRPr lang="en-US" sz="800" dirty="0"/>
          </a:p>
        </p:txBody>
      </p:sp>
      <p:sp>
        <p:nvSpPr>
          <p:cNvPr id="8" name="Shape 6"/>
          <p:cNvSpPr/>
          <p:nvPr/>
        </p:nvSpPr>
        <p:spPr>
          <a:xfrm>
            <a:off x="548640" y="2103120"/>
            <a:ext cx="6400800" cy="3931920"/>
          </a:xfrm>
          <a:prstGeom prst="roundRect">
            <a:avLst>
              <a:gd name="adj" fmla="val 1860"/>
            </a:avLst>
          </a:prstGeom>
          <a:solidFill>
            <a:srgbClr val="F5F5F5"/>
          </a:solidFill>
          <a:ln w="12700">
            <a:solidFill>
              <a:srgbClr val="F5F5F5"/>
            </a:solidFill>
            <a:prstDash val="solid"/>
          </a:ln>
        </p:spPr>
        <p:txBody>
          <a:bodyPr/>
          <a:lstStyle/>
          <a:p>
            <a:endParaRPr lang="ko-KR" altLang="en-US"/>
          </a:p>
        </p:txBody>
      </p:sp>
      <p:sp>
        <p:nvSpPr>
          <p:cNvPr id="9" name="Text 7"/>
          <p:cNvSpPr/>
          <p:nvPr/>
        </p:nvSpPr>
        <p:spPr>
          <a:xfrm>
            <a:off x="914400" y="2395728"/>
            <a:ext cx="1371600" cy="292608"/>
          </a:xfrm>
          <a:prstGeom prst="rect">
            <a:avLst/>
          </a:prstGeom>
          <a:noFill/>
          <a:ln/>
        </p:spPr>
        <p:txBody>
          <a:bodyPr wrap="square" lIns="0" tIns="0" rIns="0" bIns="0" rtlCol="0" anchor="ctr"/>
          <a:lstStyle/>
          <a:p>
            <a:pPr marL="0" indent="0">
              <a:buNone/>
            </a:pPr>
            <a:r>
              <a:rPr lang="en-US" sz="1200" dirty="0">
                <a:solidFill>
                  <a:srgbClr val="004F9F"/>
                </a:solidFill>
                <a:latin typeface="에이투지체 6 SemiBold" pitchFamily="34" charset="0"/>
                <a:ea typeface="에이투지체 6 SemiBold" pitchFamily="34" charset="-122"/>
                <a:cs typeface="에이투지체 6 SemiBold" pitchFamily="34" charset="-120"/>
              </a:rPr>
              <a:t>회사명</a:t>
            </a:r>
            <a:endParaRPr lang="en-US" sz="1200" dirty="0"/>
          </a:p>
        </p:txBody>
      </p:sp>
      <p:sp>
        <p:nvSpPr>
          <p:cNvPr id="10" name="Text 8"/>
          <p:cNvSpPr/>
          <p:nvPr/>
        </p:nvSpPr>
        <p:spPr>
          <a:xfrm>
            <a:off x="2377440" y="2395728"/>
            <a:ext cx="4389120" cy="502920"/>
          </a:xfrm>
          <a:prstGeom prst="rect">
            <a:avLst/>
          </a:prstGeom>
          <a:noFill/>
          <a:ln/>
        </p:spPr>
        <p:txBody>
          <a:bodyPr wrap="square" lIns="0" tIns="0" rIns="0" bIns="0" rtlCol="0" anchor="ctr"/>
          <a:lstStyle/>
          <a:p>
            <a:pPr marL="0" indent="0">
              <a:lnSpc>
                <a:spcPts val="1400"/>
              </a:lnSpc>
              <a:buNone/>
            </a:pPr>
            <a:r>
              <a:rPr lang="en-US" sz="1200" dirty="0">
                <a:solidFill>
                  <a:srgbClr val="222222"/>
                </a:solidFill>
                <a:latin typeface="에이투지체 5 Medium" pitchFamily="34" charset="0"/>
                <a:ea typeface="에이투지체 5 Medium" pitchFamily="34" charset="-122"/>
                <a:cs typeface="에이투지체 5 Medium" pitchFamily="34" charset="-120"/>
              </a:rPr>
              <a:t>㈜링크프라이스 LinkPrice Inc.</a:t>
            </a:r>
            <a:endParaRPr lang="en-US" sz="1200" dirty="0"/>
          </a:p>
        </p:txBody>
      </p:sp>
      <p:sp>
        <p:nvSpPr>
          <p:cNvPr id="11" name="Shape 9"/>
          <p:cNvSpPr/>
          <p:nvPr/>
        </p:nvSpPr>
        <p:spPr>
          <a:xfrm>
            <a:off x="914400" y="2825496"/>
            <a:ext cx="5669280" cy="0"/>
          </a:xfrm>
          <a:prstGeom prst="line">
            <a:avLst/>
          </a:prstGeom>
          <a:noFill/>
          <a:ln w="6350">
            <a:solidFill>
              <a:srgbClr val="D0D0D0"/>
            </a:solidFill>
            <a:prstDash val="solid"/>
          </a:ln>
        </p:spPr>
        <p:txBody>
          <a:bodyPr/>
          <a:lstStyle/>
          <a:p>
            <a:endParaRPr lang="ko-KR" altLang="en-US" sz="2400"/>
          </a:p>
        </p:txBody>
      </p:sp>
      <p:sp>
        <p:nvSpPr>
          <p:cNvPr id="12" name="Text 10"/>
          <p:cNvSpPr/>
          <p:nvPr/>
        </p:nvSpPr>
        <p:spPr>
          <a:xfrm>
            <a:off x="914400" y="2971800"/>
            <a:ext cx="1371600" cy="292608"/>
          </a:xfrm>
          <a:prstGeom prst="rect">
            <a:avLst/>
          </a:prstGeom>
          <a:noFill/>
          <a:ln/>
        </p:spPr>
        <p:txBody>
          <a:bodyPr wrap="square" lIns="0" tIns="0" rIns="0" bIns="0" rtlCol="0" anchor="ctr"/>
          <a:lstStyle/>
          <a:p>
            <a:pPr marL="0" indent="0">
              <a:buNone/>
            </a:pPr>
            <a:r>
              <a:rPr lang="en-US" sz="1200" dirty="0">
                <a:solidFill>
                  <a:srgbClr val="004F9F"/>
                </a:solidFill>
                <a:latin typeface="에이투지체 6 SemiBold" pitchFamily="34" charset="0"/>
                <a:ea typeface="에이투지체 6 SemiBold" pitchFamily="34" charset="-122"/>
                <a:cs typeface="에이투지체 6 SemiBold" pitchFamily="34" charset="-120"/>
              </a:rPr>
              <a:t>대표이사</a:t>
            </a:r>
            <a:endParaRPr lang="en-US" sz="1200" dirty="0"/>
          </a:p>
        </p:txBody>
      </p:sp>
      <p:sp>
        <p:nvSpPr>
          <p:cNvPr id="13" name="Text 11"/>
          <p:cNvSpPr/>
          <p:nvPr/>
        </p:nvSpPr>
        <p:spPr>
          <a:xfrm>
            <a:off x="2377440" y="2971800"/>
            <a:ext cx="4389120" cy="502920"/>
          </a:xfrm>
          <a:prstGeom prst="rect">
            <a:avLst/>
          </a:prstGeom>
          <a:noFill/>
          <a:ln/>
        </p:spPr>
        <p:txBody>
          <a:bodyPr wrap="square" lIns="0" tIns="0" rIns="0" bIns="0" rtlCol="0" anchor="ctr"/>
          <a:lstStyle/>
          <a:p>
            <a:pPr marL="0" indent="0">
              <a:lnSpc>
                <a:spcPts val="1400"/>
              </a:lnSpc>
              <a:buNone/>
            </a:pPr>
            <a:r>
              <a:rPr lang="en-US" sz="1200" dirty="0">
                <a:solidFill>
                  <a:srgbClr val="222222"/>
                </a:solidFill>
                <a:latin typeface="에이투지체 5 Medium" pitchFamily="34" charset="0"/>
                <a:ea typeface="에이투지체 5 Medium" pitchFamily="34" charset="-122"/>
                <a:cs typeface="에이투지체 5 Medium" pitchFamily="34" charset="-120"/>
              </a:rPr>
              <a:t>이병헌</a:t>
            </a:r>
            <a:endParaRPr lang="en-US" sz="1200" dirty="0"/>
          </a:p>
        </p:txBody>
      </p:sp>
      <p:sp>
        <p:nvSpPr>
          <p:cNvPr id="14" name="Shape 12"/>
          <p:cNvSpPr/>
          <p:nvPr/>
        </p:nvSpPr>
        <p:spPr>
          <a:xfrm>
            <a:off x="914400" y="3401568"/>
            <a:ext cx="5669280" cy="0"/>
          </a:xfrm>
          <a:prstGeom prst="line">
            <a:avLst/>
          </a:prstGeom>
          <a:noFill/>
          <a:ln w="6350">
            <a:solidFill>
              <a:srgbClr val="D0D0D0"/>
            </a:solidFill>
            <a:prstDash val="solid"/>
          </a:ln>
        </p:spPr>
        <p:txBody>
          <a:bodyPr/>
          <a:lstStyle/>
          <a:p>
            <a:endParaRPr lang="ko-KR" altLang="en-US" sz="2400"/>
          </a:p>
        </p:txBody>
      </p:sp>
      <p:sp>
        <p:nvSpPr>
          <p:cNvPr id="15" name="Text 13"/>
          <p:cNvSpPr/>
          <p:nvPr/>
        </p:nvSpPr>
        <p:spPr>
          <a:xfrm>
            <a:off x="914400" y="3547872"/>
            <a:ext cx="1371600" cy="292608"/>
          </a:xfrm>
          <a:prstGeom prst="rect">
            <a:avLst/>
          </a:prstGeom>
          <a:noFill/>
          <a:ln/>
        </p:spPr>
        <p:txBody>
          <a:bodyPr wrap="square" lIns="0" tIns="0" rIns="0" bIns="0" rtlCol="0" anchor="ctr"/>
          <a:lstStyle/>
          <a:p>
            <a:pPr marL="0" indent="0">
              <a:buNone/>
            </a:pPr>
            <a:r>
              <a:rPr lang="en-US" sz="1200" dirty="0">
                <a:solidFill>
                  <a:srgbClr val="004F9F"/>
                </a:solidFill>
                <a:latin typeface="에이투지체 6 SemiBold" pitchFamily="34" charset="0"/>
                <a:ea typeface="에이투지체 6 SemiBold" pitchFamily="34" charset="-122"/>
                <a:cs typeface="에이투지체 6 SemiBold" pitchFamily="34" charset="-120"/>
              </a:rPr>
              <a:t>설립일</a:t>
            </a:r>
            <a:endParaRPr lang="en-US" sz="1200" dirty="0"/>
          </a:p>
        </p:txBody>
      </p:sp>
      <p:sp>
        <p:nvSpPr>
          <p:cNvPr id="16" name="Text 14"/>
          <p:cNvSpPr/>
          <p:nvPr/>
        </p:nvSpPr>
        <p:spPr>
          <a:xfrm>
            <a:off x="2377440" y="3547872"/>
            <a:ext cx="4389120" cy="502920"/>
          </a:xfrm>
          <a:prstGeom prst="rect">
            <a:avLst/>
          </a:prstGeom>
          <a:noFill/>
          <a:ln/>
        </p:spPr>
        <p:txBody>
          <a:bodyPr wrap="square" lIns="0" tIns="0" rIns="0" bIns="0" rtlCol="0" anchor="ctr"/>
          <a:lstStyle/>
          <a:p>
            <a:pPr marL="0" indent="0">
              <a:lnSpc>
                <a:spcPts val="1400"/>
              </a:lnSpc>
              <a:buNone/>
            </a:pPr>
            <a:r>
              <a:rPr lang="en-US" sz="1200" dirty="0">
                <a:solidFill>
                  <a:srgbClr val="222222"/>
                </a:solidFill>
                <a:latin typeface="에이투지체 5 Medium" pitchFamily="34" charset="0"/>
                <a:ea typeface="에이투지체 5 Medium" pitchFamily="34" charset="-122"/>
                <a:cs typeface="에이투지체 5 Medium" pitchFamily="34" charset="-120"/>
              </a:rPr>
              <a:t>2000년 5월 (법인분리 2006년 5월)</a:t>
            </a:r>
            <a:endParaRPr lang="en-US" sz="1200" dirty="0"/>
          </a:p>
        </p:txBody>
      </p:sp>
      <p:sp>
        <p:nvSpPr>
          <p:cNvPr id="17" name="Shape 15"/>
          <p:cNvSpPr/>
          <p:nvPr/>
        </p:nvSpPr>
        <p:spPr>
          <a:xfrm>
            <a:off x="914400" y="3977640"/>
            <a:ext cx="5669280" cy="0"/>
          </a:xfrm>
          <a:prstGeom prst="line">
            <a:avLst/>
          </a:prstGeom>
          <a:noFill/>
          <a:ln w="6350">
            <a:solidFill>
              <a:srgbClr val="D0D0D0"/>
            </a:solidFill>
            <a:prstDash val="solid"/>
          </a:ln>
        </p:spPr>
        <p:txBody>
          <a:bodyPr/>
          <a:lstStyle/>
          <a:p>
            <a:endParaRPr lang="ko-KR" altLang="en-US" sz="2400"/>
          </a:p>
        </p:txBody>
      </p:sp>
      <p:sp>
        <p:nvSpPr>
          <p:cNvPr id="18" name="Text 16"/>
          <p:cNvSpPr/>
          <p:nvPr/>
        </p:nvSpPr>
        <p:spPr>
          <a:xfrm>
            <a:off x="914400" y="4123944"/>
            <a:ext cx="1371600" cy="292608"/>
          </a:xfrm>
          <a:prstGeom prst="rect">
            <a:avLst/>
          </a:prstGeom>
          <a:noFill/>
          <a:ln/>
        </p:spPr>
        <p:txBody>
          <a:bodyPr wrap="square" lIns="0" tIns="0" rIns="0" bIns="0" rtlCol="0" anchor="ctr"/>
          <a:lstStyle/>
          <a:p>
            <a:pPr marL="0" indent="0">
              <a:buNone/>
            </a:pPr>
            <a:r>
              <a:rPr lang="en-US" sz="1200" dirty="0">
                <a:solidFill>
                  <a:srgbClr val="004F9F"/>
                </a:solidFill>
                <a:latin typeface="에이투지체 6 SemiBold" pitchFamily="34" charset="0"/>
                <a:ea typeface="에이투지체 6 SemiBold" pitchFamily="34" charset="-122"/>
                <a:cs typeface="에이투지체 6 SemiBold" pitchFamily="34" charset="-120"/>
              </a:rPr>
              <a:t>임직원</a:t>
            </a:r>
            <a:endParaRPr lang="en-US" sz="1200" dirty="0"/>
          </a:p>
        </p:txBody>
      </p:sp>
      <p:sp>
        <p:nvSpPr>
          <p:cNvPr id="19" name="Text 17"/>
          <p:cNvSpPr/>
          <p:nvPr/>
        </p:nvSpPr>
        <p:spPr>
          <a:xfrm>
            <a:off x="2377440" y="4123944"/>
            <a:ext cx="4389120" cy="502920"/>
          </a:xfrm>
          <a:prstGeom prst="rect">
            <a:avLst/>
          </a:prstGeom>
          <a:noFill/>
          <a:ln/>
        </p:spPr>
        <p:txBody>
          <a:bodyPr wrap="square" lIns="0" tIns="0" rIns="0" bIns="0" rtlCol="0" anchor="ctr"/>
          <a:lstStyle/>
          <a:p>
            <a:pPr marL="0" indent="0">
              <a:lnSpc>
                <a:spcPts val="1400"/>
              </a:lnSpc>
              <a:buNone/>
            </a:pPr>
            <a:r>
              <a:rPr lang="en-US" sz="1200" dirty="0">
                <a:solidFill>
                  <a:srgbClr val="222222"/>
                </a:solidFill>
                <a:latin typeface="에이투지체 5 Medium" pitchFamily="34" charset="0"/>
                <a:ea typeface="에이투지체 5 Medium" pitchFamily="34" charset="-122"/>
                <a:cs typeface="에이투지체 5 Medium" pitchFamily="34" charset="-120"/>
              </a:rPr>
              <a:t>380명</a:t>
            </a:r>
            <a:endParaRPr lang="en-US" sz="1200" dirty="0"/>
          </a:p>
        </p:txBody>
      </p:sp>
      <p:sp>
        <p:nvSpPr>
          <p:cNvPr id="20" name="Shape 18"/>
          <p:cNvSpPr/>
          <p:nvPr/>
        </p:nvSpPr>
        <p:spPr>
          <a:xfrm>
            <a:off x="914400" y="4553712"/>
            <a:ext cx="5669280" cy="0"/>
          </a:xfrm>
          <a:prstGeom prst="line">
            <a:avLst/>
          </a:prstGeom>
          <a:noFill/>
          <a:ln w="6350">
            <a:solidFill>
              <a:srgbClr val="D0D0D0"/>
            </a:solidFill>
            <a:prstDash val="solid"/>
          </a:ln>
        </p:spPr>
        <p:txBody>
          <a:bodyPr/>
          <a:lstStyle/>
          <a:p>
            <a:endParaRPr lang="ko-KR" altLang="en-US" sz="2400"/>
          </a:p>
        </p:txBody>
      </p:sp>
      <p:sp>
        <p:nvSpPr>
          <p:cNvPr id="21" name="Text 19"/>
          <p:cNvSpPr/>
          <p:nvPr/>
        </p:nvSpPr>
        <p:spPr>
          <a:xfrm>
            <a:off x="914400" y="4700016"/>
            <a:ext cx="1371600" cy="292608"/>
          </a:xfrm>
          <a:prstGeom prst="rect">
            <a:avLst/>
          </a:prstGeom>
          <a:noFill/>
          <a:ln/>
        </p:spPr>
        <p:txBody>
          <a:bodyPr wrap="square" lIns="0" tIns="0" rIns="0" bIns="0" rtlCol="0" anchor="ctr"/>
          <a:lstStyle/>
          <a:p>
            <a:pPr marL="0" indent="0">
              <a:buNone/>
            </a:pPr>
            <a:r>
              <a:rPr lang="en-US" sz="1200" dirty="0">
                <a:solidFill>
                  <a:srgbClr val="004F9F"/>
                </a:solidFill>
                <a:latin typeface="에이투지체 6 SemiBold" pitchFamily="34" charset="0"/>
                <a:ea typeface="에이투지체 6 SemiBold" pitchFamily="34" charset="-122"/>
                <a:cs typeface="에이투지체 6 SemiBold" pitchFamily="34" charset="-120"/>
              </a:rPr>
              <a:t>주소</a:t>
            </a:r>
            <a:endParaRPr lang="en-US" sz="1200" dirty="0"/>
          </a:p>
        </p:txBody>
      </p:sp>
      <p:sp>
        <p:nvSpPr>
          <p:cNvPr id="22" name="Text 20"/>
          <p:cNvSpPr/>
          <p:nvPr/>
        </p:nvSpPr>
        <p:spPr>
          <a:xfrm>
            <a:off x="2377440" y="4700016"/>
            <a:ext cx="4389120" cy="502920"/>
          </a:xfrm>
          <a:prstGeom prst="rect">
            <a:avLst/>
          </a:prstGeom>
          <a:noFill/>
          <a:ln/>
        </p:spPr>
        <p:txBody>
          <a:bodyPr wrap="square" lIns="0" tIns="0" rIns="0" bIns="0" rtlCol="0" anchor="ctr"/>
          <a:lstStyle/>
          <a:p>
            <a:pPr marL="0" indent="0">
              <a:lnSpc>
                <a:spcPts val="1400"/>
              </a:lnSpc>
              <a:buNone/>
            </a:pPr>
            <a:r>
              <a:rPr lang="en-US" sz="1200" dirty="0">
                <a:solidFill>
                  <a:srgbClr val="222222"/>
                </a:solidFill>
                <a:latin typeface="에이투지체 5 Medium" pitchFamily="34" charset="0"/>
                <a:ea typeface="에이투지체 5 Medium" pitchFamily="34" charset="-122"/>
                <a:cs typeface="에이투지체 5 Medium" pitchFamily="34" charset="-120"/>
              </a:rPr>
              <a:t>서울 금천구 가산디지털1로 205-28 / 부산 동구 자성공원로 23</a:t>
            </a:r>
            <a:endParaRPr lang="en-US" sz="1200" dirty="0"/>
          </a:p>
        </p:txBody>
      </p:sp>
      <p:sp>
        <p:nvSpPr>
          <p:cNvPr id="23" name="Shape 21"/>
          <p:cNvSpPr/>
          <p:nvPr/>
        </p:nvSpPr>
        <p:spPr>
          <a:xfrm>
            <a:off x="914400" y="5129784"/>
            <a:ext cx="5669280" cy="0"/>
          </a:xfrm>
          <a:prstGeom prst="line">
            <a:avLst/>
          </a:prstGeom>
          <a:noFill/>
          <a:ln w="6350">
            <a:solidFill>
              <a:srgbClr val="D0D0D0"/>
            </a:solidFill>
            <a:prstDash val="solid"/>
          </a:ln>
        </p:spPr>
        <p:txBody>
          <a:bodyPr/>
          <a:lstStyle/>
          <a:p>
            <a:endParaRPr lang="ko-KR" altLang="en-US" sz="2400"/>
          </a:p>
        </p:txBody>
      </p:sp>
      <p:sp>
        <p:nvSpPr>
          <p:cNvPr id="24" name="Text 22"/>
          <p:cNvSpPr/>
          <p:nvPr/>
        </p:nvSpPr>
        <p:spPr>
          <a:xfrm>
            <a:off x="914400" y="5276088"/>
            <a:ext cx="1371600" cy="292608"/>
          </a:xfrm>
          <a:prstGeom prst="rect">
            <a:avLst/>
          </a:prstGeom>
          <a:noFill/>
          <a:ln/>
        </p:spPr>
        <p:txBody>
          <a:bodyPr wrap="square" lIns="0" tIns="0" rIns="0" bIns="0" rtlCol="0" anchor="ctr"/>
          <a:lstStyle/>
          <a:p>
            <a:pPr marL="0" indent="0">
              <a:buNone/>
            </a:pPr>
            <a:r>
              <a:rPr lang="en-US" sz="1200" dirty="0">
                <a:solidFill>
                  <a:srgbClr val="004F9F"/>
                </a:solidFill>
                <a:latin typeface="에이투지체 6 SemiBold" pitchFamily="34" charset="0"/>
                <a:ea typeface="에이투지체 6 SemiBold" pitchFamily="34" charset="-122"/>
                <a:cs typeface="에이투지체 6 SemiBold" pitchFamily="34" charset="-120"/>
              </a:rPr>
              <a:t>홈페이지</a:t>
            </a:r>
            <a:endParaRPr lang="en-US" sz="1200" dirty="0"/>
          </a:p>
        </p:txBody>
      </p:sp>
      <p:sp>
        <p:nvSpPr>
          <p:cNvPr id="25" name="Text 23"/>
          <p:cNvSpPr/>
          <p:nvPr/>
        </p:nvSpPr>
        <p:spPr>
          <a:xfrm>
            <a:off x="2377440" y="5276088"/>
            <a:ext cx="4389120" cy="502920"/>
          </a:xfrm>
          <a:prstGeom prst="rect">
            <a:avLst/>
          </a:prstGeom>
          <a:noFill/>
          <a:ln/>
        </p:spPr>
        <p:txBody>
          <a:bodyPr wrap="square" lIns="0" tIns="0" rIns="0" bIns="0" rtlCol="0" anchor="ctr"/>
          <a:lstStyle/>
          <a:p>
            <a:pPr marL="0" indent="0">
              <a:lnSpc>
                <a:spcPts val="1400"/>
              </a:lnSpc>
              <a:buNone/>
            </a:pPr>
            <a:r>
              <a:rPr lang="en-US" sz="1200" dirty="0">
                <a:solidFill>
                  <a:srgbClr val="222222"/>
                </a:solidFill>
                <a:latin typeface="에이투지체 5 Medium" pitchFamily="34" charset="0"/>
                <a:ea typeface="에이투지체 5 Medium" pitchFamily="34" charset="-122"/>
                <a:cs typeface="에이투지체 5 Medium" pitchFamily="34" charset="-120"/>
              </a:rPr>
              <a:t>www.linkprice.com</a:t>
            </a:r>
            <a:endParaRPr lang="en-US" sz="1200" dirty="0"/>
          </a:p>
        </p:txBody>
      </p:sp>
      <p:sp>
        <p:nvSpPr>
          <p:cNvPr id="26" name="Shape 24"/>
          <p:cNvSpPr/>
          <p:nvPr/>
        </p:nvSpPr>
        <p:spPr>
          <a:xfrm>
            <a:off x="7223760" y="2103120"/>
            <a:ext cx="4389120" cy="1207008"/>
          </a:xfrm>
          <a:prstGeom prst="roundRect">
            <a:avLst>
              <a:gd name="adj" fmla="val 6061"/>
            </a:avLst>
          </a:prstGeom>
          <a:solidFill>
            <a:srgbClr val="F5F5F5"/>
          </a:solidFill>
          <a:ln w="12700">
            <a:solidFill>
              <a:srgbClr val="F5F5F5"/>
            </a:solidFill>
            <a:prstDash val="solid"/>
          </a:ln>
        </p:spPr>
        <p:txBody>
          <a:bodyPr/>
          <a:lstStyle/>
          <a:p>
            <a:endParaRPr lang="ko-KR" altLang="en-US" sz="2000"/>
          </a:p>
        </p:txBody>
      </p:sp>
      <p:sp>
        <p:nvSpPr>
          <p:cNvPr id="27" name="Text 25"/>
          <p:cNvSpPr/>
          <p:nvPr/>
        </p:nvSpPr>
        <p:spPr>
          <a:xfrm>
            <a:off x="7543800" y="2304288"/>
            <a:ext cx="2194560" cy="548640"/>
          </a:xfrm>
          <a:prstGeom prst="rect">
            <a:avLst/>
          </a:prstGeom>
          <a:noFill/>
          <a:ln/>
        </p:spPr>
        <p:txBody>
          <a:bodyPr wrap="square" lIns="0" tIns="0" rIns="0" bIns="0" rtlCol="0" anchor="ctr"/>
          <a:lstStyle/>
          <a:p>
            <a:pPr marL="0" indent="0">
              <a:buNone/>
            </a:pPr>
            <a:r>
              <a:rPr lang="en-US" sz="2800" dirty="0">
                <a:solidFill>
                  <a:srgbClr val="0000FF"/>
                </a:solidFill>
                <a:latin typeface="에이투지체 8 ExtraBold" pitchFamily="34" charset="0"/>
                <a:ea typeface="에이투지체 8 ExtraBold" pitchFamily="34" charset="-122"/>
                <a:cs typeface="에이투지체 8 ExtraBold" pitchFamily="34" charset="-120"/>
              </a:rPr>
              <a:t>중견기업</a:t>
            </a:r>
            <a:endParaRPr lang="en-US" sz="2800" dirty="0">
              <a:solidFill>
                <a:srgbClr val="0000FF"/>
              </a:solidFill>
            </a:endParaRPr>
          </a:p>
        </p:txBody>
      </p:sp>
      <p:sp>
        <p:nvSpPr>
          <p:cNvPr id="28" name="Text 26"/>
          <p:cNvSpPr/>
          <p:nvPr/>
        </p:nvSpPr>
        <p:spPr>
          <a:xfrm>
            <a:off x="7543800" y="2880360"/>
            <a:ext cx="3840480" cy="292608"/>
          </a:xfrm>
          <a:prstGeom prst="rect">
            <a:avLst/>
          </a:prstGeom>
          <a:noFill/>
          <a:ln/>
        </p:spPr>
        <p:txBody>
          <a:bodyPr wrap="square" lIns="0" tIns="0" rIns="0" bIns="0" rtlCol="0" anchor="ctr"/>
          <a:lstStyle/>
          <a:p>
            <a:pPr marL="0" indent="0">
              <a:buNone/>
            </a:pPr>
            <a:r>
              <a:rPr lang="en-US" sz="1050" dirty="0">
                <a:solidFill>
                  <a:srgbClr val="5C5C5C"/>
                </a:solidFill>
                <a:latin typeface="에이투지체 5 Medium" pitchFamily="34" charset="0"/>
                <a:ea typeface="에이투지체 5 Medium" pitchFamily="34" charset="-122"/>
                <a:cs typeface="에이투지체 5 Medium" pitchFamily="34" charset="-120"/>
              </a:rPr>
              <a:t>한국중견기업연합회 인증</a:t>
            </a:r>
            <a:endParaRPr lang="en-US" sz="1050" dirty="0"/>
          </a:p>
        </p:txBody>
      </p:sp>
      <p:sp>
        <p:nvSpPr>
          <p:cNvPr id="29" name="Shape 27"/>
          <p:cNvSpPr/>
          <p:nvPr/>
        </p:nvSpPr>
        <p:spPr>
          <a:xfrm>
            <a:off x="7223760" y="3474720"/>
            <a:ext cx="4389120" cy="1207008"/>
          </a:xfrm>
          <a:prstGeom prst="roundRect">
            <a:avLst>
              <a:gd name="adj" fmla="val 6061"/>
            </a:avLst>
          </a:prstGeom>
          <a:solidFill>
            <a:srgbClr val="EAF2FB"/>
          </a:solidFill>
          <a:ln w="12700">
            <a:solidFill>
              <a:srgbClr val="EAF2FB"/>
            </a:solidFill>
            <a:prstDash val="solid"/>
          </a:ln>
        </p:spPr>
        <p:txBody>
          <a:bodyPr/>
          <a:lstStyle/>
          <a:p>
            <a:endParaRPr lang="ko-KR" altLang="en-US" sz="2000"/>
          </a:p>
        </p:txBody>
      </p:sp>
      <p:sp>
        <p:nvSpPr>
          <p:cNvPr id="30" name="Text 28"/>
          <p:cNvSpPr/>
          <p:nvPr/>
        </p:nvSpPr>
        <p:spPr>
          <a:xfrm>
            <a:off x="7543800" y="3675888"/>
            <a:ext cx="2194560" cy="548640"/>
          </a:xfrm>
          <a:prstGeom prst="rect">
            <a:avLst/>
          </a:prstGeom>
          <a:noFill/>
          <a:ln/>
        </p:spPr>
        <p:txBody>
          <a:bodyPr wrap="square" lIns="0" tIns="0" rIns="0" bIns="0" rtlCol="0" anchor="ctr"/>
          <a:lstStyle/>
          <a:p>
            <a:pPr marL="0" indent="0">
              <a:buNone/>
            </a:pPr>
            <a:r>
              <a:rPr lang="en-US" sz="2800" dirty="0">
                <a:solidFill>
                  <a:srgbClr val="0000FF"/>
                </a:solidFill>
                <a:latin typeface="에이투지체 8 ExtraBold" pitchFamily="34" charset="0"/>
                <a:ea typeface="에이투지체 8 ExtraBold" pitchFamily="34" charset="-122"/>
                <a:cs typeface="에이투지체 8 ExtraBold" pitchFamily="34" charset="-120"/>
              </a:rPr>
              <a:t>26년</a:t>
            </a:r>
            <a:endParaRPr lang="en-US" sz="2800" dirty="0">
              <a:solidFill>
                <a:srgbClr val="0000FF"/>
              </a:solidFill>
            </a:endParaRPr>
          </a:p>
        </p:txBody>
      </p:sp>
      <p:sp>
        <p:nvSpPr>
          <p:cNvPr id="31" name="Text 29"/>
          <p:cNvSpPr/>
          <p:nvPr/>
        </p:nvSpPr>
        <p:spPr>
          <a:xfrm>
            <a:off x="7543800" y="4251960"/>
            <a:ext cx="3840480" cy="292608"/>
          </a:xfrm>
          <a:prstGeom prst="rect">
            <a:avLst/>
          </a:prstGeom>
          <a:noFill/>
          <a:ln/>
        </p:spPr>
        <p:txBody>
          <a:bodyPr wrap="square" lIns="0" tIns="0" rIns="0" bIns="0" rtlCol="0" anchor="ctr"/>
          <a:lstStyle/>
          <a:p>
            <a:pPr marL="0" indent="0">
              <a:buNone/>
            </a:pPr>
            <a:r>
              <a:rPr lang="en-US" sz="1050" dirty="0">
                <a:solidFill>
                  <a:srgbClr val="5C5C5C"/>
                </a:solidFill>
                <a:latin typeface="에이투지체 5 Medium" pitchFamily="34" charset="0"/>
                <a:ea typeface="에이투지체 5 Medium" pitchFamily="34" charset="-122"/>
                <a:cs typeface="에이투지체 5 Medium" pitchFamily="34" charset="-120"/>
              </a:rPr>
              <a:t>운영 경력 2000 ~ 2026</a:t>
            </a:r>
            <a:endParaRPr lang="en-US" sz="1050" dirty="0"/>
          </a:p>
        </p:txBody>
      </p:sp>
      <p:sp>
        <p:nvSpPr>
          <p:cNvPr id="32" name="Shape 30"/>
          <p:cNvSpPr/>
          <p:nvPr/>
        </p:nvSpPr>
        <p:spPr>
          <a:xfrm>
            <a:off x="7223760" y="4846320"/>
            <a:ext cx="4389120" cy="1207008"/>
          </a:xfrm>
          <a:prstGeom prst="roundRect">
            <a:avLst>
              <a:gd name="adj" fmla="val 6061"/>
            </a:avLst>
          </a:prstGeom>
          <a:solidFill>
            <a:srgbClr val="F5F5F5"/>
          </a:solidFill>
          <a:ln w="12700">
            <a:solidFill>
              <a:srgbClr val="F5F5F5"/>
            </a:solidFill>
            <a:prstDash val="solid"/>
          </a:ln>
        </p:spPr>
        <p:txBody>
          <a:bodyPr/>
          <a:lstStyle/>
          <a:p>
            <a:endParaRPr lang="ko-KR" altLang="en-US" sz="2000"/>
          </a:p>
        </p:txBody>
      </p:sp>
      <p:sp>
        <p:nvSpPr>
          <p:cNvPr id="33" name="Text 31"/>
          <p:cNvSpPr/>
          <p:nvPr/>
        </p:nvSpPr>
        <p:spPr>
          <a:xfrm>
            <a:off x="7543800" y="5047488"/>
            <a:ext cx="2194560" cy="548640"/>
          </a:xfrm>
          <a:prstGeom prst="rect">
            <a:avLst/>
          </a:prstGeom>
          <a:noFill/>
          <a:ln/>
        </p:spPr>
        <p:txBody>
          <a:bodyPr wrap="square" lIns="0" tIns="0" rIns="0" bIns="0" rtlCol="0" anchor="ctr"/>
          <a:lstStyle/>
          <a:p>
            <a:pPr marL="0" indent="0">
              <a:buNone/>
            </a:pPr>
            <a:r>
              <a:rPr lang="en-US" sz="2800" dirty="0">
                <a:solidFill>
                  <a:srgbClr val="0000FF"/>
                </a:solidFill>
                <a:latin typeface="에이투지체 8 ExtraBold" pitchFamily="34" charset="0"/>
                <a:ea typeface="에이투지체 8 ExtraBold" pitchFamily="34" charset="-122"/>
                <a:cs typeface="에이투지체 8 ExtraBold" pitchFamily="34" charset="-120"/>
              </a:rPr>
              <a:t>A+</a:t>
            </a:r>
            <a:endParaRPr lang="en-US" sz="2800" dirty="0">
              <a:solidFill>
                <a:srgbClr val="0000FF"/>
              </a:solidFill>
            </a:endParaRPr>
          </a:p>
        </p:txBody>
      </p:sp>
      <p:sp>
        <p:nvSpPr>
          <p:cNvPr id="34" name="Text 32"/>
          <p:cNvSpPr/>
          <p:nvPr/>
        </p:nvSpPr>
        <p:spPr>
          <a:xfrm>
            <a:off x="7543800" y="5623560"/>
            <a:ext cx="3840480" cy="292608"/>
          </a:xfrm>
          <a:prstGeom prst="rect">
            <a:avLst/>
          </a:prstGeom>
          <a:noFill/>
          <a:ln/>
        </p:spPr>
        <p:txBody>
          <a:bodyPr wrap="square" lIns="0" tIns="0" rIns="0" bIns="0" rtlCol="0" anchor="ctr"/>
          <a:lstStyle/>
          <a:p>
            <a:pPr marL="0" indent="0">
              <a:buNone/>
            </a:pPr>
            <a:r>
              <a:rPr lang="en-US" sz="1050" dirty="0">
                <a:solidFill>
                  <a:srgbClr val="5C5C5C"/>
                </a:solidFill>
                <a:latin typeface="에이투지체 5 Medium" pitchFamily="34" charset="0"/>
                <a:ea typeface="에이투지체 5 Medium" pitchFamily="34" charset="-122"/>
                <a:cs typeface="에이투지체 5 Medium" pitchFamily="34" charset="-120"/>
              </a:rPr>
              <a:t>신용등급, 2025년 상향</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1 · 회사 소개</a:t>
            </a:r>
            <a:endParaRPr lang="en-US" sz="9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marL="0" indent="0">
              <a:lnSpc>
                <a:spcPts val="2600"/>
              </a:lnSpc>
              <a:buNone/>
            </a:pPr>
            <a:r>
              <a:rPr lang="en-US" sz="1900" dirty="0" err="1">
                <a:solidFill>
                  <a:schemeClr val="bg1"/>
                </a:solidFill>
                <a:highlight>
                  <a:srgbClr val="0000FF"/>
                </a:highlight>
                <a:latin typeface="에이투지체 8 ExtraBold" pitchFamily="34" charset="0"/>
                <a:ea typeface="에이투지체 8 ExtraBold" pitchFamily="34" charset="-122"/>
                <a:cs typeface="에이투지체 8 ExtraBold" pitchFamily="34" charset="-120"/>
              </a:rPr>
              <a:t>누적</a:t>
            </a:r>
            <a:r>
              <a:rPr lang="en-US" sz="1900" dirty="0">
                <a:solidFill>
                  <a:schemeClr val="bg1"/>
                </a:solidFill>
                <a:highlight>
                  <a:srgbClr val="0000FF"/>
                </a:highlight>
                <a:latin typeface="에이투지체 8 ExtraBold" pitchFamily="34" charset="0"/>
                <a:ea typeface="에이투지체 8 ExtraBold" pitchFamily="34" charset="-122"/>
                <a:cs typeface="에이투지체 8 ExtraBold" pitchFamily="34" charset="-120"/>
              </a:rPr>
              <a:t> 광고취급고 국내 1위</a:t>
            </a:r>
            <a:endParaRPr lang="en-US" sz="1900" dirty="0">
              <a:solidFill>
                <a:schemeClr val="bg1"/>
              </a:solidFill>
              <a:highlight>
                <a:srgbClr val="0000FF"/>
              </a:highlight>
            </a:endParaRPr>
          </a:p>
          <a:p>
            <a:pPr marL="0" indent="0">
              <a:lnSpc>
                <a:spcPts val="2600"/>
              </a:lnSpc>
              <a:buNone/>
            </a:pPr>
            <a:r>
              <a:rPr lang="ko-KR" altLang="en-US" sz="1900" dirty="0">
                <a:solidFill>
                  <a:srgbClr val="222222"/>
                </a:solidFill>
                <a:latin typeface="에이투지체 8 ExtraBold" pitchFamily="34" charset="0"/>
                <a:ea typeface="에이투지체 8 ExtraBold" pitchFamily="34" charset="-122"/>
                <a:cs typeface="에이투지체 8 ExtraBold" pitchFamily="34" charset="-120"/>
              </a:rPr>
              <a:t>안정적인</a:t>
            </a:r>
            <a:r>
              <a:rPr lang="en-US" sz="1900" dirty="0">
                <a:solidFill>
                  <a:srgbClr val="222222"/>
                </a:solidFill>
                <a:latin typeface="에이투지체 8 ExtraBold" pitchFamily="34" charset="0"/>
                <a:ea typeface="에이투지체 8 ExtraBold" pitchFamily="34" charset="-122"/>
                <a:cs typeface="에이투지체 8 ExtraBold" pitchFamily="34" charset="-120"/>
              </a:rPr>
              <a:t> </a:t>
            </a:r>
            <a:r>
              <a:rPr lang="en-US" sz="1900" dirty="0" err="1">
                <a:solidFill>
                  <a:srgbClr val="222222"/>
                </a:solidFill>
                <a:latin typeface="에이투지체 8 ExtraBold" pitchFamily="34" charset="0"/>
                <a:ea typeface="에이투지체 8 ExtraBold" pitchFamily="34" charset="-122"/>
                <a:cs typeface="에이투지체 8 ExtraBold" pitchFamily="34" charset="-120"/>
              </a:rPr>
              <a:t>재무로</a:t>
            </a:r>
            <a:r>
              <a:rPr lang="en-US" sz="1900" dirty="0">
                <a:solidFill>
                  <a:srgbClr val="222222"/>
                </a:solidFill>
                <a:latin typeface="에이투지체 8 ExtraBold" pitchFamily="34" charset="0"/>
                <a:ea typeface="에이투지체 8 ExtraBold" pitchFamily="34" charset="-122"/>
                <a:cs typeface="에이투지체 8 ExtraBold" pitchFamily="34" charset="-120"/>
              </a:rPr>
              <a:t> </a:t>
            </a:r>
            <a:r>
              <a:rPr lang="en-US" sz="1900" dirty="0" err="1">
                <a:solidFill>
                  <a:srgbClr val="222222"/>
                </a:solidFill>
                <a:latin typeface="에이투지체 8 ExtraBold" pitchFamily="34" charset="0"/>
                <a:ea typeface="에이투지체 8 ExtraBold" pitchFamily="34" charset="-122"/>
                <a:cs typeface="에이투지체 8 ExtraBold" pitchFamily="34" charset="-120"/>
              </a:rPr>
              <a:t>안정적인</a:t>
            </a:r>
            <a:r>
              <a:rPr lang="en-US" sz="1900" dirty="0">
                <a:solidFill>
                  <a:srgbClr val="222222"/>
                </a:solidFill>
                <a:latin typeface="에이투지체 8 ExtraBold" pitchFamily="34" charset="0"/>
                <a:ea typeface="에이투지체 8 ExtraBold" pitchFamily="34" charset="-122"/>
                <a:cs typeface="에이투지체 8 ExtraBold" pitchFamily="34" charset="-120"/>
              </a:rPr>
              <a:t> </a:t>
            </a:r>
            <a:r>
              <a:rPr lang="en-US" sz="1900" dirty="0" err="1">
                <a:solidFill>
                  <a:srgbClr val="222222"/>
                </a:solidFill>
                <a:latin typeface="에이투지체 8 ExtraBold" pitchFamily="34" charset="0"/>
                <a:ea typeface="에이투지체 8 ExtraBold" pitchFamily="34" charset="-122"/>
                <a:cs typeface="에이투지체 8 ExtraBold" pitchFamily="34" charset="-120"/>
              </a:rPr>
              <a:t>운영을</a:t>
            </a:r>
            <a:r>
              <a:rPr lang="en-US" sz="1900" dirty="0">
                <a:solidFill>
                  <a:srgbClr val="222222"/>
                </a:solidFill>
                <a:latin typeface="에이투지체 8 ExtraBold" pitchFamily="34" charset="0"/>
                <a:ea typeface="에이투지체 8 ExtraBold" pitchFamily="34" charset="-122"/>
                <a:cs typeface="에이투지체 8 ExtraBold" pitchFamily="34" charset="-120"/>
              </a:rPr>
              <a:t> </a:t>
            </a:r>
            <a:r>
              <a:rPr lang="en-US" sz="1900" dirty="0" err="1">
                <a:solidFill>
                  <a:srgbClr val="222222"/>
                </a:solidFill>
                <a:latin typeface="에이투지체 8 ExtraBold" pitchFamily="34" charset="0"/>
                <a:ea typeface="에이투지체 8 ExtraBold" pitchFamily="34" charset="-122"/>
                <a:cs typeface="에이투지체 8 ExtraBold" pitchFamily="34" charset="-120"/>
              </a:rPr>
              <a:t>뒷받침합니다</a:t>
            </a:r>
            <a:endParaRPr lang="en-US" sz="1900" dirty="0"/>
          </a:p>
        </p:txBody>
      </p:sp>
      <p:sp>
        <p:nvSpPr>
          <p:cNvPr id="4" name="Text 2"/>
          <p:cNvSpPr/>
          <p:nvPr/>
        </p:nvSpPr>
        <p:spPr>
          <a:xfrm>
            <a:off x="548640" y="1517904"/>
            <a:ext cx="11064240" cy="365760"/>
          </a:xfrm>
          <a:prstGeom prst="rect">
            <a:avLst/>
          </a:prstGeom>
          <a:noFill/>
          <a:ln/>
        </p:spPr>
        <p:txBody>
          <a:bodyPr wrap="square" lIns="0" tIns="0" rIns="0" bIns="0" rtlCol="0" anchor="ctr"/>
          <a:lstStyle/>
          <a:p>
            <a:pPr marL="0" indent="0">
              <a:buNone/>
            </a:pPr>
            <a:r>
              <a:rPr lang="en-US" sz="1100" dirty="0">
                <a:solidFill>
                  <a:srgbClr val="5C5C5C"/>
                </a:solidFill>
                <a:latin typeface="에이투지체 5 Medium" pitchFamily="34" charset="0"/>
                <a:ea typeface="에이투지체 5 Medium" pitchFamily="34" charset="-122"/>
                <a:cs typeface="에이투지체 5 Medium" pitchFamily="34" charset="-120"/>
              </a:rPr>
              <a:t>주요 실적과 3년 재무 추이</a:t>
            </a:r>
            <a:endParaRPr lang="en-US" sz="1100" dirty="0"/>
          </a:p>
        </p:txBody>
      </p:sp>
      <p:sp>
        <p:nvSpPr>
          <p:cNvPr id="5" name="Text 3"/>
          <p:cNvSpPr/>
          <p:nvPr/>
        </p:nvSpPr>
        <p:spPr>
          <a:xfrm>
            <a:off x="548640" y="6473952"/>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6" name="Text 4"/>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7" name="Text 5"/>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222222"/>
                </a:solidFill>
                <a:latin typeface="에이투지체 6 SemiBold" pitchFamily="34" charset="0"/>
                <a:ea typeface="에이투지체 6 SemiBold" pitchFamily="34" charset="-122"/>
                <a:cs typeface="에이투지체 6 SemiBold" pitchFamily="34" charset="-120"/>
              </a:rPr>
              <a:t>05</a:t>
            </a:r>
            <a:endParaRPr lang="en-US" sz="800" dirty="0"/>
          </a:p>
        </p:txBody>
      </p:sp>
      <p:sp>
        <p:nvSpPr>
          <p:cNvPr id="8" name="Shape 6"/>
          <p:cNvSpPr/>
          <p:nvPr/>
        </p:nvSpPr>
        <p:spPr>
          <a:xfrm>
            <a:off x="548640" y="2240280"/>
            <a:ext cx="2057400" cy="1737360"/>
          </a:xfrm>
          <a:prstGeom prst="roundRect">
            <a:avLst>
              <a:gd name="adj" fmla="val 4211"/>
            </a:avLst>
          </a:prstGeom>
          <a:solidFill>
            <a:srgbClr val="EAF2FB"/>
          </a:solidFill>
          <a:ln w="12700">
            <a:solidFill>
              <a:srgbClr val="EAF2FB"/>
            </a:solidFill>
            <a:prstDash val="solid"/>
          </a:ln>
        </p:spPr>
        <p:txBody>
          <a:bodyPr/>
          <a:lstStyle/>
          <a:p>
            <a:endParaRPr lang="ko-KR" altLang="en-US"/>
          </a:p>
        </p:txBody>
      </p:sp>
      <p:sp>
        <p:nvSpPr>
          <p:cNvPr id="9" name="Text 7"/>
          <p:cNvSpPr/>
          <p:nvPr/>
        </p:nvSpPr>
        <p:spPr>
          <a:xfrm>
            <a:off x="685800" y="2606040"/>
            <a:ext cx="1783080" cy="548640"/>
          </a:xfrm>
          <a:prstGeom prst="rect">
            <a:avLst/>
          </a:prstGeom>
          <a:noFill/>
          <a:ln/>
        </p:spPr>
        <p:txBody>
          <a:bodyPr wrap="square" lIns="0" tIns="0" rIns="0" bIns="0" rtlCol="0" anchor="ctr"/>
          <a:lstStyle/>
          <a:p>
            <a:pPr marL="0" indent="0" algn="ctr">
              <a:buNone/>
            </a:pPr>
            <a:r>
              <a:rPr lang="en-US" sz="2400" dirty="0">
                <a:solidFill>
                  <a:srgbClr val="0000FF"/>
                </a:solidFill>
                <a:latin typeface="에이투지체 8 ExtraBold" pitchFamily="34" charset="0"/>
                <a:ea typeface="에이투지체 8 ExtraBold" pitchFamily="34" charset="-122"/>
                <a:cs typeface="에이투지체 8 ExtraBold" pitchFamily="34" charset="-120"/>
              </a:rPr>
              <a:t>국내 1위</a:t>
            </a:r>
            <a:endParaRPr lang="en-US" sz="2400" dirty="0">
              <a:solidFill>
                <a:srgbClr val="0000FF"/>
              </a:solidFill>
            </a:endParaRPr>
          </a:p>
        </p:txBody>
      </p:sp>
      <p:sp>
        <p:nvSpPr>
          <p:cNvPr id="10" name="Text 8"/>
          <p:cNvSpPr/>
          <p:nvPr/>
        </p:nvSpPr>
        <p:spPr>
          <a:xfrm>
            <a:off x="685800" y="3246120"/>
            <a:ext cx="1783080" cy="320040"/>
          </a:xfrm>
          <a:prstGeom prst="rect">
            <a:avLst/>
          </a:prstGeom>
          <a:noFill/>
          <a:ln/>
        </p:spPr>
        <p:txBody>
          <a:bodyPr wrap="square" lIns="0" tIns="0" rIns="0" bIns="0" rtlCol="0" anchor="ctr"/>
          <a:lstStyle/>
          <a:p>
            <a:pPr marL="0" indent="0" algn="ctr">
              <a:buNone/>
            </a:pPr>
            <a:r>
              <a:rPr lang="en-US" sz="1000" dirty="0">
                <a:latin typeface="에이투지체 5 Medium" pitchFamily="34" charset="0"/>
                <a:ea typeface="에이투지체 5 Medium" pitchFamily="34" charset="-122"/>
                <a:cs typeface="에이투지체 5 Medium" pitchFamily="34" charset="-120"/>
              </a:rPr>
              <a:t>누적 광고취급고</a:t>
            </a:r>
            <a:endParaRPr lang="en-US" sz="1000" dirty="0"/>
          </a:p>
        </p:txBody>
      </p:sp>
      <p:sp>
        <p:nvSpPr>
          <p:cNvPr id="11" name="Shape 9"/>
          <p:cNvSpPr/>
          <p:nvPr/>
        </p:nvSpPr>
        <p:spPr>
          <a:xfrm>
            <a:off x="2788920" y="2240280"/>
            <a:ext cx="2057400" cy="1737360"/>
          </a:xfrm>
          <a:prstGeom prst="roundRect">
            <a:avLst>
              <a:gd name="adj" fmla="val 4211"/>
            </a:avLst>
          </a:prstGeom>
          <a:solidFill>
            <a:srgbClr val="F5F5F5"/>
          </a:solidFill>
          <a:ln w="12700">
            <a:solidFill>
              <a:srgbClr val="F5F5F5"/>
            </a:solidFill>
            <a:prstDash val="solid"/>
          </a:ln>
        </p:spPr>
        <p:txBody>
          <a:bodyPr/>
          <a:lstStyle/>
          <a:p>
            <a:endParaRPr lang="ko-KR" altLang="en-US"/>
          </a:p>
        </p:txBody>
      </p:sp>
      <p:sp>
        <p:nvSpPr>
          <p:cNvPr id="12" name="Text 10"/>
          <p:cNvSpPr/>
          <p:nvPr/>
        </p:nvSpPr>
        <p:spPr>
          <a:xfrm>
            <a:off x="2926080" y="2606040"/>
            <a:ext cx="1783080" cy="548640"/>
          </a:xfrm>
          <a:prstGeom prst="rect">
            <a:avLst/>
          </a:prstGeom>
          <a:noFill/>
          <a:ln/>
        </p:spPr>
        <p:txBody>
          <a:bodyPr wrap="square" lIns="0" tIns="0" rIns="0" bIns="0" rtlCol="0" anchor="ctr"/>
          <a:lstStyle/>
          <a:p>
            <a:pPr marL="0" indent="0" algn="ctr">
              <a:buNone/>
            </a:pPr>
            <a:r>
              <a:rPr lang="en-US" sz="2400" dirty="0">
                <a:solidFill>
                  <a:srgbClr val="0000FF"/>
                </a:solidFill>
                <a:latin typeface="에이투지체 8 ExtraBold" pitchFamily="34" charset="0"/>
                <a:ea typeface="에이투지체 8 ExtraBold" pitchFamily="34" charset="-122"/>
                <a:cs typeface="에이투지체 8 ExtraBold" pitchFamily="34" charset="-120"/>
              </a:rPr>
              <a:t>A+</a:t>
            </a:r>
            <a:endParaRPr lang="en-US" sz="2400" dirty="0">
              <a:solidFill>
                <a:srgbClr val="0000FF"/>
              </a:solidFill>
            </a:endParaRPr>
          </a:p>
        </p:txBody>
      </p:sp>
      <p:sp>
        <p:nvSpPr>
          <p:cNvPr id="13" name="Text 11"/>
          <p:cNvSpPr/>
          <p:nvPr/>
        </p:nvSpPr>
        <p:spPr>
          <a:xfrm>
            <a:off x="2926080" y="3246120"/>
            <a:ext cx="1783080" cy="320040"/>
          </a:xfrm>
          <a:prstGeom prst="rect">
            <a:avLst/>
          </a:prstGeom>
          <a:noFill/>
          <a:ln/>
        </p:spPr>
        <p:txBody>
          <a:bodyPr wrap="square" lIns="0" tIns="0" rIns="0" bIns="0" rtlCol="0" anchor="ctr"/>
          <a:lstStyle/>
          <a:p>
            <a:pPr marL="0" indent="0" algn="ctr">
              <a:buNone/>
            </a:pPr>
            <a:r>
              <a:rPr lang="en-US" sz="1000" dirty="0">
                <a:latin typeface="에이투지체 5 Medium" pitchFamily="34" charset="0"/>
                <a:ea typeface="에이투지체 5 Medium" pitchFamily="34" charset="-122"/>
                <a:cs typeface="에이투지체 5 Medium" pitchFamily="34" charset="-120"/>
              </a:rPr>
              <a:t>신용평가등급</a:t>
            </a:r>
            <a:endParaRPr lang="en-US" sz="1000" dirty="0"/>
          </a:p>
        </p:txBody>
      </p:sp>
      <p:sp>
        <p:nvSpPr>
          <p:cNvPr id="14" name="Shape 12"/>
          <p:cNvSpPr/>
          <p:nvPr/>
        </p:nvSpPr>
        <p:spPr>
          <a:xfrm>
            <a:off x="5029200" y="2240280"/>
            <a:ext cx="2057400" cy="1737360"/>
          </a:xfrm>
          <a:prstGeom prst="roundRect">
            <a:avLst>
              <a:gd name="adj" fmla="val 4211"/>
            </a:avLst>
          </a:prstGeom>
          <a:solidFill>
            <a:srgbClr val="F5F5F5"/>
          </a:solidFill>
          <a:ln w="12700">
            <a:solidFill>
              <a:srgbClr val="F5F5F5"/>
            </a:solidFill>
            <a:prstDash val="solid"/>
          </a:ln>
        </p:spPr>
        <p:txBody>
          <a:bodyPr/>
          <a:lstStyle/>
          <a:p>
            <a:endParaRPr lang="ko-KR" altLang="en-US"/>
          </a:p>
        </p:txBody>
      </p:sp>
      <p:sp>
        <p:nvSpPr>
          <p:cNvPr id="15" name="Text 13"/>
          <p:cNvSpPr/>
          <p:nvPr/>
        </p:nvSpPr>
        <p:spPr>
          <a:xfrm>
            <a:off x="5166360" y="2606040"/>
            <a:ext cx="1783080" cy="548640"/>
          </a:xfrm>
          <a:prstGeom prst="rect">
            <a:avLst/>
          </a:prstGeom>
          <a:noFill/>
          <a:ln/>
        </p:spPr>
        <p:txBody>
          <a:bodyPr wrap="square" lIns="0" tIns="0" rIns="0" bIns="0" rtlCol="0" anchor="ctr"/>
          <a:lstStyle/>
          <a:p>
            <a:pPr marL="0" indent="0" algn="ctr">
              <a:buNone/>
            </a:pPr>
            <a:r>
              <a:rPr lang="en-US" sz="2400" dirty="0">
                <a:solidFill>
                  <a:srgbClr val="0000FF"/>
                </a:solidFill>
                <a:latin typeface="에이투지체 8 ExtraBold" pitchFamily="34" charset="0"/>
                <a:ea typeface="에이투지체 8 ExtraBold" pitchFamily="34" charset="-122"/>
                <a:cs typeface="에이투지체 8 ExtraBold" pitchFamily="34" charset="-120"/>
              </a:rPr>
              <a:t>15EA</a:t>
            </a:r>
            <a:endParaRPr lang="en-US" sz="2400" dirty="0">
              <a:solidFill>
                <a:srgbClr val="0000FF"/>
              </a:solidFill>
            </a:endParaRPr>
          </a:p>
        </p:txBody>
      </p:sp>
      <p:sp>
        <p:nvSpPr>
          <p:cNvPr id="16" name="Text 14"/>
          <p:cNvSpPr/>
          <p:nvPr/>
        </p:nvSpPr>
        <p:spPr>
          <a:xfrm>
            <a:off x="5166360" y="3246120"/>
            <a:ext cx="1783080" cy="320040"/>
          </a:xfrm>
          <a:prstGeom prst="rect">
            <a:avLst/>
          </a:prstGeom>
          <a:noFill/>
          <a:ln/>
        </p:spPr>
        <p:txBody>
          <a:bodyPr wrap="square" lIns="0" tIns="0" rIns="0" bIns="0" rtlCol="0" anchor="ctr"/>
          <a:lstStyle/>
          <a:p>
            <a:pPr marL="0" indent="0" algn="ctr">
              <a:buNone/>
            </a:pPr>
            <a:r>
              <a:rPr lang="en-US" sz="1000" dirty="0">
                <a:latin typeface="에이투지체 5 Medium" pitchFamily="34" charset="0"/>
                <a:ea typeface="에이투지체 5 Medium" pitchFamily="34" charset="-122"/>
                <a:cs typeface="에이투지체 5 Medium" pitchFamily="34" charset="-120"/>
              </a:rPr>
              <a:t>보유 광고 솔루션</a:t>
            </a:r>
            <a:endParaRPr lang="en-US" sz="1000" dirty="0"/>
          </a:p>
        </p:txBody>
      </p:sp>
      <p:sp>
        <p:nvSpPr>
          <p:cNvPr id="17" name="Text 15"/>
          <p:cNvSpPr/>
          <p:nvPr/>
        </p:nvSpPr>
        <p:spPr>
          <a:xfrm>
            <a:off x="649877" y="4614672"/>
            <a:ext cx="4809309" cy="731520"/>
          </a:xfrm>
          <a:prstGeom prst="rect">
            <a:avLst/>
          </a:prstGeom>
          <a:noFill/>
          <a:ln/>
        </p:spPr>
        <p:txBody>
          <a:bodyPr wrap="square" lIns="0" tIns="0" rIns="0" bIns="0" rtlCol="0" anchor="ctr"/>
          <a:lstStyle/>
          <a:p>
            <a:pPr marL="0" indent="0">
              <a:lnSpc>
                <a:spcPct val="150000"/>
              </a:lnSpc>
              <a:buNone/>
            </a:pPr>
            <a:r>
              <a:rPr lang="en-US" sz="1600" dirty="0">
                <a:solidFill>
                  <a:srgbClr val="222222"/>
                </a:solidFill>
                <a:latin typeface="에이투지체 5 Medium" pitchFamily="34" charset="0"/>
                <a:ea typeface="에이투지체 5 Medium" pitchFamily="34" charset="-122"/>
                <a:cs typeface="에이투지체 5 Medium" pitchFamily="34" charset="-120"/>
              </a:rPr>
              <a:t>광고 생태계의 주도권을 강화하여 </a:t>
            </a:r>
            <a:r>
              <a:rPr lang="en-US" sz="1600" dirty="0" err="1">
                <a:solidFill>
                  <a:srgbClr val="222222"/>
                </a:solidFill>
                <a:latin typeface="에이투지체 5 Medium" pitchFamily="34" charset="0"/>
                <a:ea typeface="에이투지체 5 Medium" pitchFamily="34" charset="-122"/>
                <a:cs typeface="에이투지체 5 Medium" pitchFamily="34" charset="-120"/>
              </a:rPr>
              <a:t>파트너와</a:t>
            </a:r>
            <a:r>
              <a:rPr lang="en-US" sz="1600" dirty="0">
                <a:solidFill>
                  <a:srgbClr val="222222"/>
                </a:solidFill>
                <a:latin typeface="에이투지체 5 Medium" pitchFamily="34" charset="0"/>
                <a:ea typeface="에이투지체 5 Medium" pitchFamily="34" charset="-122"/>
                <a:cs typeface="에이투지체 5 Medium" pitchFamily="34" charset="-120"/>
              </a:rPr>
              <a:t> </a:t>
            </a:r>
          </a:p>
          <a:p>
            <a:pPr marL="0" indent="0">
              <a:lnSpc>
                <a:spcPct val="150000"/>
              </a:lnSpc>
              <a:buNone/>
            </a:pPr>
            <a:r>
              <a:rPr lang="en-US" sz="1600" dirty="0" err="1">
                <a:solidFill>
                  <a:srgbClr val="222222"/>
                </a:solidFill>
                <a:latin typeface="에이투지체 5 Medium" pitchFamily="34" charset="0"/>
                <a:ea typeface="에이투지체 5 Medium" pitchFamily="34" charset="-122"/>
                <a:cs typeface="에이투지체 5 Medium" pitchFamily="34" charset="-120"/>
              </a:rPr>
              <a:t>고객사에</a:t>
            </a:r>
            <a:r>
              <a:rPr lang="en-US" sz="1600" dirty="0">
                <a:solidFill>
                  <a:srgbClr val="222222"/>
                </a:solidFill>
                <a:latin typeface="에이투지체 5 Medium" pitchFamily="34" charset="0"/>
                <a:ea typeface="에이투지체 5 Medium" pitchFamily="34" charset="-122"/>
                <a:cs typeface="에이투지체 5 Medium" pitchFamily="34" charset="-120"/>
              </a:rPr>
              <a:t> </a:t>
            </a:r>
            <a:r>
              <a:rPr lang="en-US" sz="1600" dirty="0" err="1">
                <a:solidFill>
                  <a:schemeClr val="bg1"/>
                </a:solidFill>
                <a:highlight>
                  <a:srgbClr val="0000FF"/>
                </a:highlight>
                <a:latin typeface="에이투지체 5 Medium" pitchFamily="34" charset="0"/>
                <a:ea typeface="에이투지체 5 Medium" pitchFamily="34" charset="-122"/>
                <a:cs typeface="에이투지체 5 Medium" pitchFamily="34" charset="-120"/>
              </a:rPr>
              <a:t>더욱</a:t>
            </a:r>
            <a:r>
              <a:rPr lang="en-US" sz="1600" dirty="0">
                <a:solidFill>
                  <a:schemeClr val="bg1"/>
                </a:solidFill>
                <a:highlight>
                  <a:srgbClr val="0000FF"/>
                </a:highlight>
                <a:latin typeface="에이투지체 5 Medium" pitchFamily="34" charset="0"/>
                <a:ea typeface="에이투지체 5 Medium" pitchFamily="34" charset="-122"/>
                <a:cs typeface="에이투지체 5 Medium" pitchFamily="34" charset="-120"/>
              </a:rPr>
              <a:t> 효과적이고 효율적인 가치를 창출합니다</a:t>
            </a:r>
            <a:endParaRPr lang="en-US" sz="1600" dirty="0">
              <a:solidFill>
                <a:schemeClr val="bg1"/>
              </a:solidFill>
              <a:highlight>
                <a:srgbClr val="0000FF"/>
              </a:highlight>
            </a:endParaRPr>
          </a:p>
        </p:txBody>
      </p:sp>
      <p:sp>
        <p:nvSpPr>
          <p:cNvPr id="18" name="Shape 16"/>
          <p:cNvSpPr/>
          <p:nvPr/>
        </p:nvSpPr>
        <p:spPr>
          <a:xfrm>
            <a:off x="7498080" y="2240280"/>
            <a:ext cx="4114800" cy="3749040"/>
          </a:xfrm>
          <a:prstGeom prst="roundRect">
            <a:avLst>
              <a:gd name="adj" fmla="val 1951"/>
            </a:avLst>
          </a:prstGeom>
          <a:solidFill>
            <a:srgbClr val="F5F5F5"/>
          </a:solidFill>
          <a:ln w="12700">
            <a:solidFill>
              <a:srgbClr val="F5F5F5"/>
            </a:solidFill>
            <a:prstDash val="solid"/>
          </a:ln>
        </p:spPr>
        <p:txBody>
          <a:bodyPr/>
          <a:lstStyle/>
          <a:p>
            <a:endParaRPr lang="ko-KR" altLang="en-US"/>
          </a:p>
        </p:txBody>
      </p:sp>
      <p:sp>
        <p:nvSpPr>
          <p:cNvPr id="19" name="Text 17"/>
          <p:cNvSpPr/>
          <p:nvPr/>
        </p:nvSpPr>
        <p:spPr>
          <a:xfrm>
            <a:off x="7818120" y="2450592"/>
            <a:ext cx="3474720" cy="274320"/>
          </a:xfrm>
          <a:prstGeom prst="rect">
            <a:avLst/>
          </a:prstGeom>
          <a:noFill/>
          <a:ln/>
        </p:spPr>
        <p:txBody>
          <a:bodyPr wrap="square" lIns="0" tIns="0" rIns="0" bIns="0" rtlCol="0" anchor="ctr"/>
          <a:lstStyle/>
          <a:p>
            <a:pPr marL="0" indent="0">
              <a:buNone/>
            </a:pPr>
            <a:r>
              <a:rPr lang="en-US" sz="1050" dirty="0">
                <a:solidFill>
                  <a:srgbClr val="222222"/>
                </a:solidFill>
                <a:latin typeface="에이투지체 6 SemiBold" pitchFamily="34" charset="0"/>
                <a:ea typeface="에이투지체 6 SemiBold" pitchFamily="34" charset="-122"/>
                <a:cs typeface="에이투지체 6 SemiBold" pitchFamily="34" charset="-120"/>
              </a:rPr>
              <a:t>총자산 추이, 단위 억 원</a:t>
            </a:r>
            <a:endParaRPr lang="en-US" sz="1050" dirty="0"/>
          </a:p>
        </p:txBody>
      </p:sp>
      <p:sp>
        <p:nvSpPr>
          <p:cNvPr id="20" name="Shape 18"/>
          <p:cNvSpPr/>
          <p:nvPr/>
        </p:nvSpPr>
        <p:spPr>
          <a:xfrm>
            <a:off x="8001000" y="4001638"/>
            <a:ext cx="731520" cy="1256162"/>
          </a:xfrm>
          <a:prstGeom prst="rect">
            <a:avLst/>
          </a:prstGeom>
          <a:solidFill>
            <a:srgbClr val="8FB4DC"/>
          </a:solidFill>
          <a:ln w="12700">
            <a:solidFill>
              <a:srgbClr val="8FB4DC"/>
            </a:solidFill>
            <a:prstDash val="solid"/>
          </a:ln>
        </p:spPr>
        <p:txBody>
          <a:bodyPr/>
          <a:lstStyle/>
          <a:p>
            <a:endParaRPr lang="ko-KR" altLang="en-US"/>
          </a:p>
        </p:txBody>
      </p:sp>
      <p:sp>
        <p:nvSpPr>
          <p:cNvPr id="21" name="Text 19"/>
          <p:cNvSpPr/>
          <p:nvPr/>
        </p:nvSpPr>
        <p:spPr>
          <a:xfrm>
            <a:off x="7818120" y="3709030"/>
            <a:ext cx="1097280" cy="256032"/>
          </a:xfrm>
          <a:prstGeom prst="rect">
            <a:avLst/>
          </a:prstGeom>
          <a:noFill/>
          <a:ln/>
        </p:spPr>
        <p:txBody>
          <a:bodyPr wrap="square" lIns="0" tIns="0" rIns="0" bIns="0" rtlCol="0" anchor="ctr"/>
          <a:lstStyle/>
          <a:p>
            <a:pPr marL="0" indent="0" algn="ctr">
              <a:buNone/>
            </a:pPr>
            <a:r>
              <a:rPr lang="en-US" sz="1100" dirty="0">
                <a:solidFill>
                  <a:srgbClr val="5C5C5C"/>
                </a:solidFill>
                <a:latin typeface="에이투지체 8 ExtraBold" pitchFamily="34" charset="0"/>
                <a:ea typeface="에이투지체 8 ExtraBold" pitchFamily="34" charset="-122"/>
                <a:cs typeface="에이투지체 8 ExtraBold" pitchFamily="34" charset="-120"/>
              </a:rPr>
              <a:t>396</a:t>
            </a:r>
            <a:endParaRPr lang="en-US" sz="1100" dirty="0"/>
          </a:p>
        </p:txBody>
      </p:sp>
      <p:sp>
        <p:nvSpPr>
          <p:cNvPr id="22" name="Text 20"/>
          <p:cNvSpPr/>
          <p:nvPr/>
        </p:nvSpPr>
        <p:spPr>
          <a:xfrm>
            <a:off x="7818120" y="5330952"/>
            <a:ext cx="1097280" cy="256032"/>
          </a:xfrm>
          <a:prstGeom prst="rect">
            <a:avLst/>
          </a:prstGeom>
          <a:noFill/>
          <a:ln/>
        </p:spPr>
        <p:txBody>
          <a:bodyPr wrap="square" lIns="0" tIns="0" rIns="0" bIns="0" rtlCol="0" anchor="ctr"/>
          <a:lstStyle/>
          <a:p>
            <a:pPr marL="0" indent="0" algn="ctr">
              <a:buNone/>
            </a:pPr>
            <a:r>
              <a:rPr lang="en-US" sz="1000" dirty="0">
                <a:solidFill>
                  <a:srgbClr val="5C5C5C"/>
                </a:solidFill>
                <a:latin typeface="에이투지체 5 Medium" pitchFamily="34" charset="0"/>
                <a:ea typeface="에이투지체 5 Medium" pitchFamily="34" charset="-122"/>
                <a:cs typeface="에이투지체 5 Medium" pitchFamily="34" charset="-120"/>
              </a:rPr>
              <a:t>2023</a:t>
            </a:r>
            <a:endParaRPr lang="en-US" sz="1000" dirty="0"/>
          </a:p>
        </p:txBody>
      </p:sp>
      <p:sp>
        <p:nvSpPr>
          <p:cNvPr id="23" name="Shape 21"/>
          <p:cNvSpPr/>
          <p:nvPr/>
        </p:nvSpPr>
        <p:spPr>
          <a:xfrm>
            <a:off x="9189720" y="3627327"/>
            <a:ext cx="731520" cy="1630473"/>
          </a:xfrm>
          <a:prstGeom prst="rect">
            <a:avLst/>
          </a:prstGeom>
          <a:solidFill>
            <a:srgbClr val="4E8AC8"/>
          </a:solidFill>
          <a:ln w="12700">
            <a:solidFill>
              <a:srgbClr val="4E8AC8"/>
            </a:solidFill>
            <a:prstDash val="solid"/>
          </a:ln>
        </p:spPr>
        <p:txBody>
          <a:bodyPr/>
          <a:lstStyle/>
          <a:p>
            <a:endParaRPr lang="ko-KR" altLang="en-US"/>
          </a:p>
        </p:txBody>
      </p:sp>
      <p:sp>
        <p:nvSpPr>
          <p:cNvPr id="24" name="Text 22"/>
          <p:cNvSpPr/>
          <p:nvPr/>
        </p:nvSpPr>
        <p:spPr>
          <a:xfrm>
            <a:off x="9006840" y="3334719"/>
            <a:ext cx="1097280" cy="256032"/>
          </a:xfrm>
          <a:prstGeom prst="rect">
            <a:avLst/>
          </a:prstGeom>
          <a:noFill/>
          <a:ln/>
        </p:spPr>
        <p:txBody>
          <a:bodyPr wrap="square" lIns="0" tIns="0" rIns="0" bIns="0" rtlCol="0" anchor="ctr"/>
          <a:lstStyle/>
          <a:p>
            <a:pPr marL="0" indent="0" algn="ctr">
              <a:buNone/>
            </a:pPr>
            <a:r>
              <a:rPr lang="en-US" sz="1100" dirty="0">
                <a:solidFill>
                  <a:srgbClr val="5C5C5C"/>
                </a:solidFill>
                <a:latin typeface="에이투지체 8 ExtraBold" pitchFamily="34" charset="0"/>
                <a:ea typeface="에이투지체 8 ExtraBold" pitchFamily="34" charset="-122"/>
                <a:cs typeface="에이투지체 8 ExtraBold" pitchFamily="34" charset="-120"/>
              </a:rPr>
              <a:t>514</a:t>
            </a:r>
            <a:endParaRPr lang="en-US" sz="1100" dirty="0"/>
          </a:p>
        </p:txBody>
      </p:sp>
      <p:sp>
        <p:nvSpPr>
          <p:cNvPr id="25" name="Text 23"/>
          <p:cNvSpPr/>
          <p:nvPr/>
        </p:nvSpPr>
        <p:spPr>
          <a:xfrm>
            <a:off x="9006840" y="5330952"/>
            <a:ext cx="1097280" cy="256032"/>
          </a:xfrm>
          <a:prstGeom prst="rect">
            <a:avLst/>
          </a:prstGeom>
          <a:noFill/>
          <a:ln/>
        </p:spPr>
        <p:txBody>
          <a:bodyPr wrap="square" lIns="0" tIns="0" rIns="0" bIns="0" rtlCol="0" anchor="ctr"/>
          <a:lstStyle/>
          <a:p>
            <a:pPr marL="0" indent="0" algn="ctr">
              <a:buNone/>
            </a:pPr>
            <a:r>
              <a:rPr lang="en-US" sz="1000" dirty="0">
                <a:solidFill>
                  <a:srgbClr val="5C5C5C"/>
                </a:solidFill>
                <a:latin typeface="에이투지체 5 Medium" pitchFamily="34" charset="0"/>
                <a:ea typeface="에이투지체 5 Medium" pitchFamily="34" charset="-122"/>
                <a:cs typeface="에이투지체 5 Medium" pitchFamily="34" charset="-120"/>
              </a:rPr>
              <a:t>2024</a:t>
            </a:r>
            <a:endParaRPr lang="en-US" sz="1000" dirty="0"/>
          </a:p>
        </p:txBody>
      </p:sp>
      <p:sp>
        <p:nvSpPr>
          <p:cNvPr id="26" name="Shape 24"/>
          <p:cNvSpPr/>
          <p:nvPr/>
        </p:nvSpPr>
        <p:spPr>
          <a:xfrm>
            <a:off x="10378440" y="3154680"/>
            <a:ext cx="731520" cy="2103120"/>
          </a:xfrm>
          <a:prstGeom prst="rect">
            <a:avLst/>
          </a:prstGeom>
          <a:solidFill>
            <a:srgbClr val="004F9F"/>
          </a:solidFill>
          <a:ln w="12700">
            <a:solidFill>
              <a:srgbClr val="004F9F"/>
            </a:solidFill>
            <a:prstDash val="solid"/>
          </a:ln>
        </p:spPr>
        <p:txBody>
          <a:bodyPr/>
          <a:lstStyle/>
          <a:p>
            <a:endParaRPr lang="ko-KR" altLang="en-US"/>
          </a:p>
        </p:txBody>
      </p:sp>
      <p:sp>
        <p:nvSpPr>
          <p:cNvPr id="27" name="Text 25"/>
          <p:cNvSpPr/>
          <p:nvPr/>
        </p:nvSpPr>
        <p:spPr>
          <a:xfrm>
            <a:off x="10195560" y="2862072"/>
            <a:ext cx="1097280" cy="256032"/>
          </a:xfrm>
          <a:prstGeom prst="rect">
            <a:avLst/>
          </a:prstGeom>
          <a:noFill/>
          <a:ln/>
        </p:spPr>
        <p:txBody>
          <a:bodyPr wrap="square" lIns="0" tIns="0" rIns="0" bIns="0" rtlCol="0" anchor="ctr"/>
          <a:lstStyle/>
          <a:p>
            <a:pPr marL="0" indent="0" algn="ctr">
              <a:buNone/>
            </a:pPr>
            <a:r>
              <a:rPr lang="en-US" sz="1100" dirty="0">
                <a:solidFill>
                  <a:srgbClr val="004F9F"/>
                </a:solidFill>
                <a:latin typeface="에이투지체 8 ExtraBold" pitchFamily="34" charset="0"/>
                <a:ea typeface="에이투지체 8 ExtraBold" pitchFamily="34" charset="-122"/>
                <a:cs typeface="에이투지체 8 ExtraBold" pitchFamily="34" charset="-120"/>
              </a:rPr>
              <a:t>663</a:t>
            </a:r>
            <a:endParaRPr lang="en-US" sz="1100" dirty="0"/>
          </a:p>
        </p:txBody>
      </p:sp>
      <p:sp>
        <p:nvSpPr>
          <p:cNvPr id="28" name="Text 26"/>
          <p:cNvSpPr/>
          <p:nvPr/>
        </p:nvSpPr>
        <p:spPr>
          <a:xfrm>
            <a:off x="10195560" y="5330952"/>
            <a:ext cx="1097280" cy="256032"/>
          </a:xfrm>
          <a:prstGeom prst="rect">
            <a:avLst/>
          </a:prstGeom>
          <a:noFill/>
          <a:ln/>
        </p:spPr>
        <p:txBody>
          <a:bodyPr wrap="square" lIns="0" tIns="0" rIns="0" bIns="0" rtlCol="0" anchor="ctr"/>
          <a:lstStyle/>
          <a:p>
            <a:pPr marL="0" indent="0" algn="ctr">
              <a:buNone/>
            </a:pPr>
            <a:r>
              <a:rPr lang="en-US" sz="1000" dirty="0">
                <a:solidFill>
                  <a:srgbClr val="5C5C5C"/>
                </a:solidFill>
                <a:latin typeface="에이투지체 5 Medium" pitchFamily="34" charset="0"/>
                <a:ea typeface="에이투지체 5 Medium" pitchFamily="34" charset="-122"/>
                <a:cs typeface="에이투지체 5 Medium" pitchFamily="34" charset="-120"/>
              </a:rPr>
              <a:t>2025</a:t>
            </a:r>
            <a:endParaRPr lang="en-US" sz="1000" dirty="0"/>
          </a:p>
        </p:txBody>
      </p:sp>
      <p:sp>
        <p:nvSpPr>
          <p:cNvPr id="29" name="Text 27"/>
          <p:cNvSpPr/>
          <p:nvPr/>
        </p:nvSpPr>
        <p:spPr>
          <a:xfrm>
            <a:off x="7818120" y="5596128"/>
            <a:ext cx="3566160" cy="274320"/>
          </a:xfrm>
          <a:prstGeom prst="rect">
            <a:avLst/>
          </a:prstGeom>
          <a:noFill/>
          <a:ln/>
        </p:spPr>
        <p:txBody>
          <a:bodyPr wrap="square" lIns="0" tIns="0" rIns="0" bIns="0" rtlCol="0" anchor="ctr"/>
          <a:lstStyle/>
          <a:p>
            <a:pPr marL="0" indent="0">
              <a:buNone/>
            </a:pPr>
            <a:r>
              <a:rPr lang="en-US" sz="900" dirty="0">
                <a:solidFill>
                  <a:srgbClr val="5C5C5C"/>
                </a:solidFill>
                <a:latin typeface="에이투지체 4 Regular" pitchFamily="34" charset="0"/>
                <a:ea typeface="에이투지체 4 Regular" pitchFamily="34" charset="-122"/>
                <a:cs typeface="에이투지체 4 Regular" pitchFamily="34" charset="-120"/>
              </a:rPr>
              <a:t>3년 연속 자산 성장, 2025년 총자산 663억 원</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1 · 회사 소개</a:t>
            </a:r>
            <a:endParaRPr lang="en-US" sz="9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marL="0" indent="0">
              <a:lnSpc>
                <a:spcPts val="2600"/>
              </a:lnSpc>
              <a:buNone/>
            </a:pPr>
            <a:r>
              <a:rPr lang="en-US" sz="1900" dirty="0">
                <a:solidFill>
                  <a:schemeClr val="bg1"/>
                </a:solidFill>
                <a:highlight>
                  <a:srgbClr val="0000FF"/>
                </a:highlight>
                <a:latin typeface="에이투지체 8 ExtraBold" pitchFamily="34" charset="0"/>
                <a:ea typeface="에이투지체 8 ExtraBold" pitchFamily="34" charset="-122"/>
                <a:cs typeface="에이투지체 8 ExtraBold" pitchFamily="34" charset="-120"/>
              </a:rPr>
              <a:t>약 3만여 곳의 고객사와 함께 걸어온 26년,</a:t>
            </a:r>
            <a:endParaRPr lang="en-US" sz="1900" dirty="0">
              <a:solidFill>
                <a:schemeClr val="bg1"/>
              </a:solidFill>
              <a:highlight>
                <a:srgbClr val="0000FF"/>
              </a:highlight>
            </a:endParaRPr>
          </a:p>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고객과 완벽한 동행을 위한 발자취였습니다</a:t>
            </a:r>
            <a:endParaRPr lang="en-US" sz="1900" dirty="0"/>
          </a:p>
        </p:txBody>
      </p:sp>
      <p:sp>
        <p:nvSpPr>
          <p:cNvPr id="4" name="Text 2"/>
          <p:cNvSpPr/>
          <p:nvPr/>
        </p:nvSpPr>
        <p:spPr>
          <a:xfrm>
            <a:off x="548640" y="6473952"/>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5" name="Text 3"/>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6" name="Text 4"/>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222222"/>
                </a:solidFill>
                <a:latin typeface="에이투지체 6 SemiBold" pitchFamily="34" charset="0"/>
                <a:ea typeface="에이투지체 6 SemiBold" pitchFamily="34" charset="-122"/>
                <a:cs typeface="에이투지체 6 SemiBold" pitchFamily="34" charset="-120"/>
              </a:rPr>
              <a:t>06</a:t>
            </a:r>
            <a:endParaRPr lang="en-US" sz="800" dirty="0"/>
          </a:p>
        </p:txBody>
      </p:sp>
      <p:sp>
        <p:nvSpPr>
          <p:cNvPr id="7" name="Text 5"/>
          <p:cNvSpPr/>
          <p:nvPr/>
        </p:nvSpPr>
        <p:spPr>
          <a:xfrm>
            <a:off x="548640" y="1874520"/>
            <a:ext cx="1273759" cy="292608"/>
          </a:xfrm>
          <a:prstGeom prst="rect">
            <a:avLst/>
          </a:prstGeom>
          <a:noFill/>
          <a:ln/>
        </p:spPr>
        <p:txBody>
          <a:bodyPr wrap="square" lIns="0" tIns="0" rIns="0" bIns="0" rtlCol="0" anchor="ctr"/>
          <a:lstStyle/>
          <a:p>
            <a:pPr marL="0" indent="0">
              <a:buNone/>
            </a:pPr>
            <a:r>
              <a:rPr lang="en-US" sz="1400" dirty="0">
                <a:solidFill>
                  <a:srgbClr val="222222"/>
                </a:solidFill>
                <a:latin typeface="에이투지체 8 ExtraBold" pitchFamily="34" charset="0"/>
                <a:ea typeface="에이투지체 8 ExtraBold" pitchFamily="34" charset="-122"/>
                <a:cs typeface="에이투지체 8 ExtraBold" pitchFamily="34" charset="-120"/>
              </a:rPr>
              <a:t>2000'~</a:t>
            </a:r>
            <a:endParaRPr lang="en-US" sz="1400" dirty="0"/>
          </a:p>
        </p:txBody>
      </p:sp>
      <p:sp>
        <p:nvSpPr>
          <p:cNvPr id="8" name="Shape 6"/>
          <p:cNvSpPr/>
          <p:nvPr/>
        </p:nvSpPr>
        <p:spPr>
          <a:xfrm>
            <a:off x="548640" y="2212848"/>
            <a:ext cx="1218895" cy="32004"/>
          </a:xfrm>
          <a:prstGeom prst="rect">
            <a:avLst/>
          </a:prstGeom>
          <a:solidFill>
            <a:srgbClr val="1B74C8"/>
          </a:solidFill>
          <a:ln w="12700">
            <a:solidFill>
              <a:srgbClr val="1B74C8"/>
            </a:solidFill>
            <a:prstDash val="solid"/>
          </a:ln>
        </p:spPr>
        <p:txBody>
          <a:bodyPr/>
          <a:lstStyle/>
          <a:p>
            <a:endParaRPr sz="2000"/>
          </a:p>
        </p:txBody>
      </p:sp>
      <p:sp>
        <p:nvSpPr>
          <p:cNvPr id="9" name="Text 7"/>
          <p:cNvSpPr/>
          <p:nvPr/>
        </p:nvSpPr>
        <p:spPr>
          <a:xfrm>
            <a:off x="548640" y="2340864"/>
            <a:ext cx="1273759" cy="3977640"/>
          </a:xfrm>
          <a:prstGeom prst="rect">
            <a:avLst/>
          </a:prstGeom>
          <a:noFill/>
          <a:ln/>
        </p:spPr>
        <p:txBody>
          <a:bodyPr wrap="square" lIns="0" tIns="0" rIns="0" bIns="0" rtlCol="0" anchor="t"/>
          <a:lstStyle/>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2000.03</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㈜코리안클릭 설립</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2000.04</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KoreanClick 서비스</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공식 출시</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2000.08</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제휴마케팅 서비스</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LinkPrice 서비스 시작</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2005.04</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㈜엘피에스 설립</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출자회사</a:t>
            </a:r>
            <a:endParaRPr lang="en-US" sz="800" dirty="0"/>
          </a:p>
        </p:txBody>
      </p:sp>
      <p:sp>
        <p:nvSpPr>
          <p:cNvPr id="10" name="Text 8"/>
          <p:cNvSpPr/>
          <p:nvPr/>
        </p:nvSpPr>
        <p:spPr>
          <a:xfrm>
            <a:off x="1932127" y="1874520"/>
            <a:ext cx="1273759" cy="292608"/>
          </a:xfrm>
          <a:prstGeom prst="rect">
            <a:avLst/>
          </a:prstGeom>
          <a:noFill/>
          <a:ln/>
        </p:spPr>
        <p:txBody>
          <a:bodyPr wrap="square" lIns="0" tIns="0" rIns="0" bIns="0" rtlCol="0" anchor="ctr"/>
          <a:lstStyle/>
          <a:p>
            <a:pPr marL="0" indent="0">
              <a:buNone/>
            </a:pPr>
            <a:r>
              <a:rPr lang="en-US" sz="1400" dirty="0">
                <a:solidFill>
                  <a:srgbClr val="222222"/>
                </a:solidFill>
                <a:latin typeface="에이투지체 8 ExtraBold" pitchFamily="34" charset="0"/>
                <a:ea typeface="에이투지체 8 ExtraBold" pitchFamily="34" charset="-122"/>
                <a:cs typeface="에이투지체 8 ExtraBold" pitchFamily="34" charset="-120"/>
              </a:rPr>
              <a:t>2006'~</a:t>
            </a:r>
            <a:endParaRPr lang="en-US" sz="1400" dirty="0"/>
          </a:p>
        </p:txBody>
      </p:sp>
      <p:sp>
        <p:nvSpPr>
          <p:cNvPr id="11" name="Shape 9"/>
          <p:cNvSpPr/>
          <p:nvPr/>
        </p:nvSpPr>
        <p:spPr>
          <a:xfrm>
            <a:off x="1932127" y="2212848"/>
            <a:ext cx="1218895" cy="32004"/>
          </a:xfrm>
          <a:prstGeom prst="rect">
            <a:avLst/>
          </a:prstGeom>
          <a:solidFill>
            <a:srgbClr val="1B74C8"/>
          </a:solidFill>
          <a:ln w="12700">
            <a:solidFill>
              <a:srgbClr val="1B74C8"/>
            </a:solidFill>
            <a:prstDash val="solid"/>
          </a:ln>
        </p:spPr>
        <p:txBody>
          <a:bodyPr/>
          <a:lstStyle/>
          <a:p>
            <a:endParaRPr sz="2000"/>
          </a:p>
        </p:txBody>
      </p:sp>
      <p:sp>
        <p:nvSpPr>
          <p:cNvPr id="12" name="Text 10"/>
          <p:cNvSpPr/>
          <p:nvPr/>
        </p:nvSpPr>
        <p:spPr>
          <a:xfrm>
            <a:off x="1932127" y="2340864"/>
            <a:ext cx="1273759" cy="3977640"/>
          </a:xfrm>
          <a:prstGeom prst="rect">
            <a:avLst/>
          </a:prstGeom>
          <a:noFill/>
          <a:ln/>
        </p:spPr>
        <p:txBody>
          <a:bodyPr wrap="square" lIns="0" tIns="0" rIns="0" bIns="0" rtlCol="0" anchor="t"/>
          <a:lstStyle/>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2006.05</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㈜링크프라이스</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제휴마케팅사업부 법인분리</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2006.12</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해외 자본 유치</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(HIKIRI JAPAN)</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2008.01</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Daum&amp;Overture</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전문 대행사 등록</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2009.06</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㈜에이전시더블유</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전략적 협의 (MOU) 체결</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2011.01</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SK컴즈 전문 대행사 등록</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2012.01</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E-bay 공식 광고 대행사 선정</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2013.01</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E-bay 1위 대행사 선정</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SK컴즈 최우수 대행사 선정</a:t>
            </a:r>
            <a:endParaRPr lang="en-US" sz="800" dirty="0"/>
          </a:p>
        </p:txBody>
      </p:sp>
      <p:sp>
        <p:nvSpPr>
          <p:cNvPr id="13" name="Shape 11"/>
          <p:cNvSpPr/>
          <p:nvPr/>
        </p:nvSpPr>
        <p:spPr>
          <a:xfrm>
            <a:off x="1877263" y="1920240"/>
            <a:ext cx="0" cy="4297680"/>
          </a:xfrm>
          <a:prstGeom prst="line">
            <a:avLst/>
          </a:prstGeom>
          <a:noFill/>
          <a:ln w="9525">
            <a:solidFill>
              <a:srgbClr val="E4E4E4"/>
            </a:solidFill>
            <a:prstDash val="solid"/>
          </a:ln>
        </p:spPr>
        <p:txBody>
          <a:bodyPr/>
          <a:lstStyle/>
          <a:p>
            <a:endParaRPr/>
          </a:p>
        </p:txBody>
      </p:sp>
      <p:sp>
        <p:nvSpPr>
          <p:cNvPr id="14" name="Text 12"/>
          <p:cNvSpPr/>
          <p:nvPr/>
        </p:nvSpPr>
        <p:spPr>
          <a:xfrm>
            <a:off x="3315614" y="1874520"/>
            <a:ext cx="1273759" cy="292608"/>
          </a:xfrm>
          <a:prstGeom prst="rect">
            <a:avLst/>
          </a:prstGeom>
          <a:noFill/>
          <a:ln/>
        </p:spPr>
        <p:txBody>
          <a:bodyPr wrap="square" lIns="0" tIns="0" rIns="0" bIns="0" rtlCol="0" anchor="ctr"/>
          <a:lstStyle/>
          <a:p>
            <a:pPr marL="0" indent="0">
              <a:buNone/>
            </a:pPr>
            <a:r>
              <a:rPr lang="en-US" sz="1400" dirty="0">
                <a:solidFill>
                  <a:srgbClr val="222222"/>
                </a:solidFill>
                <a:latin typeface="에이투지체 8 ExtraBold" pitchFamily="34" charset="0"/>
                <a:ea typeface="에이투지체 8 ExtraBold" pitchFamily="34" charset="-122"/>
                <a:cs typeface="에이투지체 8 ExtraBold" pitchFamily="34" charset="-120"/>
              </a:rPr>
              <a:t>2014'~</a:t>
            </a:r>
            <a:endParaRPr lang="en-US" sz="1400" dirty="0"/>
          </a:p>
        </p:txBody>
      </p:sp>
      <p:sp>
        <p:nvSpPr>
          <p:cNvPr id="15" name="Shape 13"/>
          <p:cNvSpPr/>
          <p:nvPr/>
        </p:nvSpPr>
        <p:spPr>
          <a:xfrm>
            <a:off x="3315614" y="2212848"/>
            <a:ext cx="1218895" cy="32004"/>
          </a:xfrm>
          <a:prstGeom prst="rect">
            <a:avLst/>
          </a:prstGeom>
          <a:solidFill>
            <a:srgbClr val="1B74C8"/>
          </a:solidFill>
          <a:ln w="12700">
            <a:solidFill>
              <a:srgbClr val="1B74C8"/>
            </a:solidFill>
            <a:prstDash val="solid"/>
          </a:ln>
        </p:spPr>
        <p:txBody>
          <a:bodyPr/>
          <a:lstStyle/>
          <a:p>
            <a:endParaRPr sz="2000"/>
          </a:p>
        </p:txBody>
      </p:sp>
      <p:sp>
        <p:nvSpPr>
          <p:cNvPr id="16" name="Text 14"/>
          <p:cNvSpPr/>
          <p:nvPr/>
        </p:nvSpPr>
        <p:spPr>
          <a:xfrm>
            <a:off x="3315614" y="2340864"/>
            <a:ext cx="1273759" cy="3977640"/>
          </a:xfrm>
          <a:prstGeom prst="rect">
            <a:avLst/>
          </a:prstGeom>
          <a:noFill/>
          <a:ln/>
        </p:spPr>
        <p:txBody>
          <a:bodyPr wrap="square" lIns="0" tIns="0" rIns="0" bIns="0" rtlCol="0" anchor="t"/>
          <a:lstStyle/>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2014.01</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베트남 현지 서비스 론칭</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(하노이)</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중국 현지 법인 취득</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11번가 공식 대행사 선정</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2015.01</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키워드사업부 부산센터</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신규 확장 오픈</a:t>
            </a:r>
            <a:endParaRPr lang="en-US" sz="800" dirty="0"/>
          </a:p>
        </p:txBody>
      </p:sp>
      <p:sp>
        <p:nvSpPr>
          <p:cNvPr id="17" name="Shape 15"/>
          <p:cNvSpPr/>
          <p:nvPr/>
        </p:nvSpPr>
        <p:spPr>
          <a:xfrm>
            <a:off x="3260750" y="1920240"/>
            <a:ext cx="0" cy="4297680"/>
          </a:xfrm>
          <a:prstGeom prst="line">
            <a:avLst/>
          </a:prstGeom>
          <a:noFill/>
          <a:ln w="9525">
            <a:solidFill>
              <a:srgbClr val="E4E4E4"/>
            </a:solidFill>
            <a:prstDash val="solid"/>
          </a:ln>
        </p:spPr>
        <p:txBody>
          <a:bodyPr/>
          <a:lstStyle/>
          <a:p>
            <a:endParaRPr/>
          </a:p>
        </p:txBody>
      </p:sp>
      <p:sp>
        <p:nvSpPr>
          <p:cNvPr id="18" name="Text 16"/>
          <p:cNvSpPr/>
          <p:nvPr/>
        </p:nvSpPr>
        <p:spPr>
          <a:xfrm>
            <a:off x="4699102" y="1874520"/>
            <a:ext cx="1273759" cy="292608"/>
          </a:xfrm>
          <a:prstGeom prst="rect">
            <a:avLst/>
          </a:prstGeom>
          <a:noFill/>
          <a:ln/>
        </p:spPr>
        <p:txBody>
          <a:bodyPr wrap="square" lIns="0" tIns="0" rIns="0" bIns="0" rtlCol="0" anchor="ctr"/>
          <a:lstStyle/>
          <a:p>
            <a:pPr marL="0" indent="0">
              <a:buNone/>
            </a:pPr>
            <a:r>
              <a:rPr lang="en-US" sz="1400" dirty="0">
                <a:solidFill>
                  <a:srgbClr val="222222"/>
                </a:solidFill>
                <a:latin typeface="에이투지체 8 ExtraBold" pitchFamily="34" charset="0"/>
                <a:ea typeface="에이투지체 8 ExtraBold" pitchFamily="34" charset="-122"/>
                <a:cs typeface="에이투지체 8 ExtraBold" pitchFamily="34" charset="-120"/>
              </a:rPr>
              <a:t>2016'~</a:t>
            </a:r>
            <a:endParaRPr lang="en-US" sz="1400" dirty="0"/>
          </a:p>
        </p:txBody>
      </p:sp>
      <p:sp>
        <p:nvSpPr>
          <p:cNvPr id="19" name="Shape 17"/>
          <p:cNvSpPr/>
          <p:nvPr/>
        </p:nvSpPr>
        <p:spPr>
          <a:xfrm>
            <a:off x="4699102" y="2212848"/>
            <a:ext cx="1218895" cy="32004"/>
          </a:xfrm>
          <a:prstGeom prst="rect">
            <a:avLst/>
          </a:prstGeom>
          <a:solidFill>
            <a:srgbClr val="1B74C8"/>
          </a:solidFill>
          <a:ln w="12700">
            <a:solidFill>
              <a:srgbClr val="1B74C8"/>
            </a:solidFill>
            <a:prstDash val="solid"/>
          </a:ln>
        </p:spPr>
        <p:txBody>
          <a:bodyPr/>
          <a:lstStyle/>
          <a:p>
            <a:endParaRPr sz="2000"/>
          </a:p>
        </p:txBody>
      </p:sp>
      <p:sp>
        <p:nvSpPr>
          <p:cNvPr id="20" name="Text 18"/>
          <p:cNvSpPr/>
          <p:nvPr/>
        </p:nvSpPr>
        <p:spPr>
          <a:xfrm>
            <a:off x="4699102" y="2340864"/>
            <a:ext cx="1273759" cy="3977640"/>
          </a:xfrm>
          <a:prstGeom prst="rect">
            <a:avLst/>
          </a:prstGeom>
          <a:noFill/>
          <a:ln/>
        </p:spPr>
        <p:txBody>
          <a:bodyPr wrap="square" lIns="0" tIns="0" rIns="0" bIns="0" rtlCol="0" anchor="t"/>
          <a:lstStyle/>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2016.08</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모바일 캐시백서비스</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라스트세이브 런칭</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2017.09</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위메프 공식대행사 선정</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인터파크 공식대행사 선정</a:t>
            </a:r>
            <a:endParaRPr lang="en-US" sz="800" dirty="0"/>
          </a:p>
        </p:txBody>
      </p:sp>
      <p:sp>
        <p:nvSpPr>
          <p:cNvPr id="21" name="Shape 19"/>
          <p:cNvSpPr/>
          <p:nvPr/>
        </p:nvSpPr>
        <p:spPr>
          <a:xfrm>
            <a:off x="4644238" y="1920240"/>
            <a:ext cx="0" cy="4297680"/>
          </a:xfrm>
          <a:prstGeom prst="line">
            <a:avLst/>
          </a:prstGeom>
          <a:noFill/>
          <a:ln w="9525">
            <a:solidFill>
              <a:srgbClr val="E4E4E4"/>
            </a:solidFill>
            <a:prstDash val="solid"/>
          </a:ln>
        </p:spPr>
        <p:txBody>
          <a:bodyPr/>
          <a:lstStyle/>
          <a:p>
            <a:endParaRPr/>
          </a:p>
        </p:txBody>
      </p:sp>
      <p:sp>
        <p:nvSpPr>
          <p:cNvPr id="22" name="Text 20"/>
          <p:cNvSpPr/>
          <p:nvPr/>
        </p:nvSpPr>
        <p:spPr>
          <a:xfrm>
            <a:off x="6082589" y="1874520"/>
            <a:ext cx="1273759" cy="292608"/>
          </a:xfrm>
          <a:prstGeom prst="rect">
            <a:avLst/>
          </a:prstGeom>
          <a:noFill/>
          <a:ln/>
        </p:spPr>
        <p:txBody>
          <a:bodyPr wrap="square" lIns="0" tIns="0" rIns="0" bIns="0" rtlCol="0" anchor="ctr"/>
          <a:lstStyle/>
          <a:p>
            <a:pPr marL="0" indent="0">
              <a:buNone/>
            </a:pPr>
            <a:r>
              <a:rPr lang="en-US" sz="1400" dirty="0">
                <a:solidFill>
                  <a:srgbClr val="222222"/>
                </a:solidFill>
                <a:latin typeface="에이투지체 8 ExtraBold" pitchFamily="34" charset="0"/>
                <a:ea typeface="에이투지체 8 ExtraBold" pitchFamily="34" charset="-122"/>
                <a:cs typeface="에이투지체 8 ExtraBold" pitchFamily="34" charset="-120"/>
              </a:rPr>
              <a:t>2018'~</a:t>
            </a:r>
            <a:endParaRPr lang="en-US" sz="1400" dirty="0"/>
          </a:p>
        </p:txBody>
      </p:sp>
      <p:sp>
        <p:nvSpPr>
          <p:cNvPr id="23" name="Shape 21"/>
          <p:cNvSpPr/>
          <p:nvPr/>
        </p:nvSpPr>
        <p:spPr>
          <a:xfrm>
            <a:off x="6082589" y="2212848"/>
            <a:ext cx="1218895" cy="32004"/>
          </a:xfrm>
          <a:prstGeom prst="rect">
            <a:avLst/>
          </a:prstGeom>
          <a:solidFill>
            <a:srgbClr val="1B74C8"/>
          </a:solidFill>
          <a:ln w="12700">
            <a:solidFill>
              <a:srgbClr val="1B74C8"/>
            </a:solidFill>
            <a:prstDash val="solid"/>
          </a:ln>
        </p:spPr>
        <p:txBody>
          <a:bodyPr/>
          <a:lstStyle/>
          <a:p>
            <a:endParaRPr sz="2000"/>
          </a:p>
        </p:txBody>
      </p:sp>
      <p:sp>
        <p:nvSpPr>
          <p:cNvPr id="24" name="Text 22"/>
          <p:cNvSpPr/>
          <p:nvPr/>
        </p:nvSpPr>
        <p:spPr>
          <a:xfrm>
            <a:off x="6082589" y="2340864"/>
            <a:ext cx="1273759" cy="3977640"/>
          </a:xfrm>
          <a:prstGeom prst="rect">
            <a:avLst/>
          </a:prstGeom>
          <a:noFill/>
          <a:ln/>
        </p:spPr>
        <p:txBody>
          <a:bodyPr wrap="square" lIns="0" tIns="0" rIns="0" bIns="0" rtlCol="0" anchor="t"/>
          <a:lstStyle/>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2018.03</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링크 애드엑스 DSP 런칭</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2019.06</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네이버 쇼핑박스</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공식대행사 선정</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KOA 광고산업발전</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대통령 표창 (업계 첫 수상)</a:t>
            </a:r>
            <a:endParaRPr lang="en-US" sz="800" dirty="0"/>
          </a:p>
        </p:txBody>
      </p:sp>
      <p:sp>
        <p:nvSpPr>
          <p:cNvPr id="25" name="Shape 23"/>
          <p:cNvSpPr/>
          <p:nvPr/>
        </p:nvSpPr>
        <p:spPr>
          <a:xfrm>
            <a:off x="6027725" y="1920240"/>
            <a:ext cx="0" cy="4297680"/>
          </a:xfrm>
          <a:prstGeom prst="line">
            <a:avLst/>
          </a:prstGeom>
          <a:noFill/>
          <a:ln w="9525">
            <a:solidFill>
              <a:srgbClr val="E4E4E4"/>
            </a:solidFill>
            <a:prstDash val="solid"/>
          </a:ln>
        </p:spPr>
        <p:txBody>
          <a:bodyPr/>
          <a:lstStyle/>
          <a:p>
            <a:endParaRPr/>
          </a:p>
        </p:txBody>
      </p:sp>
      <p:sp>
        <p:nvSpPr>
          <p:cNvPr id="26" name="Text 24"/>
          <p:cNvSpPr/>
          <p:nvPr/>
        </p:nvSpPr>
        <p:spPr>
          <a:xfrm>
            <a:off x="7466076" y="1874520"/>
            <a:ext cx="1273759" cy="292608"/>
          </a:xfrm>
          <a:prstGeom prst="rect">
            <a:avLst/>
          </a:prstGeom>
          <a:noFill/>
          <a:ln/>
        </p:spPr>
        <p:txBody>
          <a:bodyPr wrap="square" lIns="0" tIns="0" rIns="0" bIns="0" rtlCol="0" anchor="ctr"/>
          <a:lstStyle/>
          <a:p>
            <a:pPr marL="0" indent="0">
              <a:buNone/>
            </a:pPr>
            <a:r>
              <a:rPr lang="en-US" sz="1400" dirty="0">
                <a:solidFill>
                  <a:srgbClr val="222222"/>
                </a:solidFill>
                <a:latin typeface="에이투지체 8 ExtraBold" pitchFamily="34" charset="0"/>
                <a:ea typeface="에이투지체 8 ExtraBold" pitchFamily="34" charset="-122"/>
                <a:cs typeface="에이투지체 8 ExtraBold" pitchFamily="34" charset="-120"/>
              </a:rPr>
              <a:t>2020'~</a:t>
            </a:r>
            <a:endParaRPr lang="en-US" sz="1400" dirty="0"/>
          </a:p>
        </p:txBody>
      </p:sp>
      <p:sp>
        <p:nvSpPr>
          <p:cNvPr id="27" name="Shape 25"/>
          <p:cNvSpPr/>
          <p:nvPr/>
        </p:nvSpPr>
        <p:spPr>
          <a:xfrm>
            <a:off x="7466076" y="2212848"/>
            <a:ext cx="1218895" cy="32004"/>
          </a:xfrm>
          <a:prstGeom prst="rect">
            <a:avLst/>
          </a:prstGeom>
          <a:solidFill>
            <a:srgbClr val="1B74C8"/>
          </a:solidFill>
          <a:ln w="12700">
            <a:solidFill>
              <a:srgbClr val="1B74C8"/>
            </a:solidFill>
            <a:prstDash val="solid"/>
          </a:ln>
        </p:spPr>
        <p:txBody>
          <a:bodyPr/>
          <a:lstStyle/>
          <a:p>
            <a:endParaRPr sz="2000"/>
          </a:p>
        </p:txBody>
      </p:sp>
      <p:sp>
        <p:nvSpPr>
          <p:cNvPr id="28" name="Text 26"/>
          <p:cNvSpPr/>
          <p:nvPr/>
        </p:nvSpPr>
        <p:spPr>
          <a:xfrm>
            <a:off x="7466076" y="2340864"/>
            <a:ext cx="1273759" cy="3977640"/>
          </a:xfrm>
          <a:prstGeom prst="rect">
            <a:avLst/>
          </a:prstGeom>
          <a:noFill/>
          <a:ln/>
        </p:spPr>
        <p:txBody>
          <a:bodyPr wrap="square" lIns="0" tIns="0" rIns="0" bIns="0" rtlCol="0" anchor="t"/>
          <a:lstStyle/>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2020.01</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네이버 검색광고</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공식대행사 선정</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2020.02</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카카오광고</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공식대행사 선정</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2020.03</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㈜코리아센터 MOU</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계약체결</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2021.03</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종합광고사업부 신설</a:t>
            </a:r>
            <a:endParaRPr lang="en-US" sz="800" dirty="0"/>
          </a:p>
        </p:txBody>
      </p:sp>
      <p:sp>
        <p:nvSpPr>
          <p:cNvPr id="29" name="Shape 27"/>
          <p:cNvSpPr/>
          <p:nvPr/>
        </p:nvSpPr>
        <p:spPr>
          <a:xfrm>
            <a:off x="7411212" y="1920240"/>
            <a:ext cx="0" cy="4297680"/>
          </a:xfrm>
          <a:prstGeom prst="line">
            <a:avLst/>
          </a:prstGeom>
          <a:noFill/>
          <a:ln w="9525">
            <a:solidFill>
              <a:srgbClr val="E4E4E4"/>
            </a:solidFill>
            <a:prstDash val="solid"/>
          </a:ln>
        </p:spPr>
        <p:txBody>
          <a:bodyPr/>
          <a:lstStyle/>
          <a:p>
            <a:endParaRPr/>
          </a:p>
        </p:txBody>
      </p:sp>
      <p:sp>
        <p:nvSpPr>
          <p:cNvPr id="30" name="Text 28"/>
          <p:cNvSpPr/>
          <p:nvPr/>
        </p:nvSpPr>
        <p:spPr>
          <a:xfrm>
            <a:off x="8849563" y="1874520"/>
            <a:ext cx="1273759" cy="292608"/>
          </a:xfrm>
          <a:prstGeom prst="rect">
            <a:avLst/>
          </a:prstGeom>
          <a:noFill/>
          <a:ln/>
        </p:spPr>
        <p:txBody>
          <a:bodyPr wrap="square" lIns="0" tIns="0" rIns="0" bIns="0" rtlCol="0" anchor="ctr"/>
          <a:lstStyle/>
          <a:p>
            <a:pPr marL="0" indent="0">
              <a:buNone/>
            </a:pPr>
            <a:r>
              <a:rPr lang="en-US" sz="1400" dirty="0">
                <a:solidFill>
                  <a:srgbClr val="222222"/>
                </a:solidFill>
                <a:latin typeface="에이투지체 8 ExtraBold" pitchFamily="34" charset="0"/>
                <a:ea typeface="에이투지체 8 ExtraBold" pitchFamily="34" charset="-122"/>
                <a:cs typeface="에이투지체 8 ExtraBold" pitchFamily="34" charset="-120"/>
              </a:rPr>
              <a:t>2022'~</a:t>
            </a:r>
            <a:endParaRPr lang="en-US" sz="1400" dirty="0"/>
          </a:p>
        </p:txBody>
      </p:sp>
      <p:sp>
        <p:nvSpPr>
          <p:cNvPr id="31" name="Shape 29"/>
          <p:cNvSpPr/>
          <p:nvPr/>
        </p:nvSpPr>
        <p:spPr>
          <a:xfrm>
            <a:off x="8849563" y="2212848"/>
            <a:ext cx="1218895" cy="32004"/>
          </a:xfrm>
          <a:prstGeom prst="rect">
            <a:avLst/>
          </a:prstGeom>
          <a:solidFill>
            <a:srgbClr val="1B74C8"/>
          </a:solidFill>
          <a:ln w="12700">
            <a:solidFill>
              <a:srgbClr val="1B74C8"/>
            </a:solidFill>
            <a:prstDash val="solid"/>
          </a:ln>
        </p:spPr>
        <p:txBody>
          <a:bodyPr/>
          <a:lstStyle/>
          <a:p>
            <a:endParaRPr sz="2000"/>
          </a:p>
        </p:txBody>
      </p:sp>
      <p:sp>
        <p:nvSpPr>
          <p:cNvPr id="32" name="Text 30"/>
          <p:cNvSpPr/>
          <p:nvPr/>
        </p:nvSpPr>
        <p:spPr>
          <a:xfrm>
            <a:off x="8849563" y="2340864"/>
            <a:ext cx="1273759" cy="3977640"/>
          </a:xfrm>
          <a:prstGeom prst="rect">
            <a:avLst/>
          </a:prstGeom>
          <a:noFill/>
          <a:ln/>
        </p:spPr>
        <p:txBody>
          <a:bodyPr wrap="square" lIns="0" tIns="0" rIns="0" bIns="0" rtlCol="0" anchor="t"/>
          <a:lstStyle/>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2022.10</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에이블리</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공식대행사 체결</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2022.11</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네이버 원쁠딜</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공식대행사 체결</a:t>
            </a:r>
            <a:endParaRPr lang="en-US" sz="800" dirty="0"/>
          </a:p>
        </p:txBody>
      </p:sp>
      <p:sp>
        <p:nvSpPr>
          <p:cNvPr id="33" name="Shape 31"/>
          <p:cNvSpPr/>
          <p:nvPr/>
        </p:nvSpPr>
        <p:spPr>
          <a:xfrm>
            <a:off x="8794699" y="1920240"/>
            <a:ext cx="0" cy="4297680"/>
          </a:xfrm>
          <a:prstGeom prst="line">
            <a:avLst/>
          </a:prstGeom>
          <a:noFill/>
          <a:ln w="9525">
            <a:solidFill>
              <a:srgbClr val="E4E4E4"/>
            </a:solidFill>
            <a:prstDash val="solid"/>
          </a:ln>
        </p:spPr>
        <p:txBody>
          <a:bodyPr/>
          <a:lstStyle/>
          <a:p>
            <a:endParaRPr/>
          </a:p>
        </p:txBody>
      </p:sp>
      <p:sp>
        <p:nvSpPr>
          <p:cNvPr id="34" name="Text 32"/>
          <p:cNvSpPr/>
          <p:nvPr/>
        </p:nvSpPr>
        <p:spPr>
          <a:xfrm>
            <a:off x="10233050" y="1874520"/>
            <a:ext cx="1273759" cy="292608"/>
          </a:xfrm>
          <a:prstGeom prst="rect">
            <a:avLst/>
          </a:prstGeom>
          <a:noFill/>
          <a:ln/>
        </p:spPr>
        <p:txBody>
          <a:bodyPr wrap="square" lIns="0" tIns="0" rIns="0" bIns="0" rtlCol="0" anchor="ctr"/>
          <a:lstStyle/>
          <a:p>
            <a:pPr marL="0" indent="0">
              <a:buNone/>
            </a:pPr>
            <a:r>
              <a:rPr lang="en-US" sz="1400" dirty="0">
                <a:solidFill>
                  <a:srgbClr val="004F9F"/>
                </a:solidFill>
                <a:latin typeface="에이투지체 8 ExtraBold" pitchFamily="34" charset="0"/>
                <a:ea typeface="에이투지체 8 ExtraBold" pitchFamily="34" charset="-122"/>
                <a:cs typeface="에이투지체 8 ExtraBold" pitchFamily="34" charset="-120"/>
              </a:rPr>
              <a:t>~ 2026'</a:t>
            </a:r>
            <a:endParaRPr lang="en-US" sz="1400" dirty="0"/>
          </a:p>
        </p:txBody>
      </p:sp>
      <p:sp>
        <p:nvSpPr>
          <p:cNvPr id="35" name="Shape 33"/>
          <p:cNvSpPr/>
          <p:nvPr/>
        </p:nvSpPr>
        <p:spPr>
          <a:xfrm>
            <a:off x="10233050" y="2212848"/>
            <a:ext cx="1218895" cy="32004"/>
          </a:xfrm>
          <a:prstGeom prst="rect">
            <a:avLst/>
          </a:prstGeom>
          <a:solidFill>
            <a:srgbClr val="004F9F"/>
          </a:solidFill>
          <a:ln w="12700">
            <a:solidFill>
              <a:srgbClr val="004F9F"/>
            </a:solidFill>
            <a:prstDash val="solid"/>
          </a:ln>
        </p:spPr>
        <p:txBody>
          <a:bodyPr/>
          <a:lstStyle/>
          <a:p>
            <a:endParaRPr sz="2000"/>
          </a:p>
        </p:txBody>
      </p:sp>
      <p:sp>
        <p:nvSpPr>
          <p:cNvPr id="36" name="Text 34"/>
          <p:cNvSpPr/>
          <p:nvPr/>
        </p:nvSpPr>
        <p:spPr>
          <a:xfrm>
            <a:off x="10233050" y="2340864"/>
            <a:ext cx="1273759" cy="3977640"/>
          </a:xfrm>
          <a:prstGeom prst="rect">
            <a:avLst/>
          </a:prstGeom>
          <a:noFill/>
          <a:ln/>
        </p:spPr>
        <p:txBody>
          <a:bodyPr wrap="square" lIns="0" tIns="0" rIns="0" bIns="0" rtlCol="0" anchor="t"/>
          <a:lstStyle/>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2023.01</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쿠팡 공식 대행사 체결</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2024.08</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메이크샵 광고사업부 합병</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2025.01</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META 공식 파트너사 선정</a:t>
            </a:r>
            <a:endParaRPr lang="en-US" sz="800" dirty="0"/>
          </a:p>
          <a:p>
            <a:pPr marL="0" indent="0">
              <a:lnSpc>
                <a:spcPts val="900"/>
              </a:lnSpc>
              <a:spcBef>
                <a:spcPts val="600"/>
              </a:spcBef>
              <a:buNone/>
            </a:pPr>
            <a:r>
              <a:rPr lang="en-US" sz="800" dirty="0">
                <a:solidFill>
                  <a:srgbClr val="004F9F"/>
                </a:solidFill>
                <a:latin typeface="에이투지체 6 SemiBold" pitchFamily="34" charset="0"/>
                <a:ea typeface="에이투지체 6 SemiBold" pitchFamily="34" charset="-122"/>
                <a:cs typeface="에이투지체 6 SemiBold" pitchFamily="34" charset="-120"/>
              </a:rPr>
              <a:t>2025.01</a:t>
            </a:r>
            <a:endParaRPr lang="en-US" sz="800" dirty="0"/>
          </a:p>
          <a:p>
            <a:pPr marL="0" indent="0">
              <a:lnSpc>
                <a:spcPts val="900"/>
              </a:lnSpc>
              <a:spcBef>
                <a:spcPts val="100"/>
              </a:spcBef>
              <a:buNone/>
            </a:pPr>
            <a:r>
              <a:rPr lang="en-US" sz="800" dirty="0">
                <a:solidFill>
                  <a:srgbClr val="5C5C5C"/>
                </a:solidFill>
                <a:latin typeface="에이투지체 4 Regular" pitchFamily="34" charset="0"/>
                <a:ea typeface="에이투지체 4 Regular" pitchFamily="34" charset="-122"/>
                <a:cs typeface="에이투지체 4 Regular" pitchFamily="34" charset="-120"/>
              </a:rPr>
              <a:t>크리테오 공식 파트너사 선정</a:t>
            </a:r>
            <a:endParaRPr lang="en-US" sz="800" dirty="0"/>
          </a:p>
        </p:txBody>
      </p:sp>
      <p:sp>
        <p:nvSpPr>
          <p:cNvPr id="37" name="Shape 35"/>
          <p:cNvSpPr/>
          <p:nvPr/>
        </p:nvSpPr>
        <p:spPr>
          <a:xfrm>
            <a:off x="10178186" y="1920240"/>
            <a:ext cx="0" cy="4297680"/>
          </a:xfrm>
          <a:prstGeom prst="line">
            <a:avLst/>
          </a:prstGeom>
          <a:noFill/>
          <a:ln w="9525">
            <a:solidFill>
              <a:srgbClr val="E4E4E4"/>
            </a:solidFill>
            <a:prstDash val="solid"/>
          </a:ln>
        </p:spPr>
        <p:txBody>
          <a:bodyPr/>
          <a:lstStyle/>
          <a:p>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1 · 회사 소개</a:t>
            </a:r>
            <a:endParaRPr lang="en-US" sz="9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marL="0" indent="0">
              <a:lnSpc>
                <a:spcPts val="2600"/>
              </a:lnSpc>
              <a:buNone/>
            </a:pPr>
            <a:r>
              <a:rPr lang="en-US" sz="1900" dirty="0" err="1">
                <a:solidFill>
                  <a:srgbClr val="222222"/>
                </a:solidFill>
                <a:latin typeface="에이투지체 8 ExtraBold" pitchFamily="34" charset="0"/>
                <a:ea typeface="에이투지체 8 ExtraBold" pitchFamily="34" charset="-122"/>
                <a:cs typeface="에이투지체 8 ExtraBold" pitchFamily="34" charset="-120"/>
              </a:rPr>
              <a:t>광고사업부</a:t>
            </a:r>
            <a:r>
              <a:rPr lang="en-US" sz="1900" dirty="0">
                <a:solidFill>
                  <a:srgbClr val="222222"/>
                </a:solidFill>
                <a:latin typeface="에이투지체 8 ExtraBold" pitchFamily="34" charset="0"/>
                <a:ea typeface="에이투지체 8 ExtraBold" pitchFamily="34" charset="-122"/>
                <a:cs typeface="에이투지체 8 ExtraBold" pitchFamily="34" charset="-120"/>
              </a:rPr>
              <a:t> 직속 브랜드광고센터가</a:t>
            </a:r>
            <a:endParaRPr lang="en-US" sz="1900" dirty="0"/>
          </a:p>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두드림B&amp;B 과업을 전담해 수행합니다</a:t>
            </a:r>
            <a:endParaRPr lang="en-US" sz="1900" dirty="0"/>
          </a:p>
        </p:txBody>
      </p:sp>
      <p:sp>
        <p:nvSpPr>
          <p:cNvPr id="4" name="Text 2"/>
          <p:cNvSpPr/>
          <p:nvPr/>
        </p:nvSpPr>
        <p:spPr>
          <a:xfrm>
            <a:off x="548640" y="6473952"/>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5" name="Text 3"/>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6" name="Text 4"/>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222222"/>
                </a:solidFill>
                <a:latin typeface="에이투지체 6 SemiBold" pitchFamily="34" charset="0"/>
                <a:ea typeface="에이투지체 6 SemiBold" pitchFamily="34" charset="-122"/>
                <a:cs typeface="에이투지체 6 SemiBold" pitchFamily="34" charset="-120"/>
              </a:rPr>
              <a:t>07</a:t>
            </a:r>
            <a:endParaRPr lang="en-US" sz="800" dirty="0"/>
          </a:p>
        </p:txBody>
      </p:sp>
      <p:sp>
        <p:nvSpPr>
          <p:cNvPr id="7" name="Text 5"/>
          <p:cNvSpPr/>
          <p:nvPr/>
        </p:nvSpPr>
        <p:spPr>
          <a:xfrm>
            <a:off x="548640" y="2286000"/>
            <a:ext cx="4114800" cy="1371600"/>
          </a:xfrm>
          <a:prstGeom prst="rect">
            <a:avLst/>
          </a:prstGeom>
          <a:noFill/>
          <a:ln/>
        </p:spPr>
        <p:txBody>
          <a:bodyPr wrap="square" lIns="0" tIns="0" rIns="0" bIns="0" rtlCol="0" anchor="t"/>
          <a:lstStyle/>
          <a:p>
            <a:pPr marL="0" indent="0">
              <a:lnSpc>
                <a:spcPts val="2400"/>
              </a:lnSpc>
              <a:buNone/>
            </a:pPr>
            <a:r>
              <a:rPr lang="en-US" sz="1600" dirty="0">
                <a:solidFill>
                  <a:srgbClr val="222222"/>
                </a:solidFill>
                <a:latin typeface="에이투지체 8 ExtraBold" pitchFamily="34" charset="0"/>
                <a:ea typeface="에이투지체 8 ExtraBold" pitchFamily="34" charset="-122"/>
                <a:cs typeface="에이투지체 8 ExtraBold" pitchFamily="34" charset="-120"/>
              </a:rPr>
              <a:t>링크프라이스 브랜드광고센터는
성장으로 이어지는
</a:t>
            </a:r>
            <a:r>
              <a:rPr lang="en-US" dirty="0">
                <a:solidFill>
                  <a:schemeClr val="bg1"/>
                </a:solidFill>
                <a:highlight>
                  <a:srgbClr val="0000FF"/>
                </a:highlight>
                <a:latin typeface="에이투지체 8 ExtraBold" pitchFamily="34" charset="0"/>
                <a:ea typeface="에이투지체 8 ExtraBold" pitchFamily="34" charset="-122"/>
                <a:cs typeface="에이투지체 8 ExtraBold" pitchFamily="34" charset="-120"/>
              </a:rPr>
              <a:t>성과 중심 통합 마케팅</a:t>
            </a:r>
            <a:r>
              <a:rPr lang="en-US" sz="1600" dirty="0">
                <a:solidFill>
                  <a:srgbClr val="222222"/>
                </a:solidFill>
                <a:latin typeface="에이투지체 8 ExtraBold" pitchFamily="34" charset="0"/>
                <a:ea typeface="에이투지체 8 ExtraBold" pitchFamily="34" charset="-122"/>
                <a:cs typeface="에이투지체 8 ExtraBold" pitchFamily="34" charset="-120"/>
              </a:rPr>
              <a:t>을 제공하며</a:t>
            </a:r>
            <a:endParaRPr lang="en-US" sz="1600" dirty="0"/>
          </a:p>
        </p:txBody>
      </p:sp>
      <p:sp>
        <p:nvSpPr>
          <p:cNvPr id="8" name="Text 6"/>
          <p:cNvSpPr/>
          <p:nvPr/>
        </p:nvSpPr>
        <p:spPr>
          <a:xfrm>
            <a:off x="548640" y="3794760"/>
            <a:ext cx="4114800" cy="1371600"/>
          </a:xfrm>
          <a:prstGeom prst="rect">
            <a:avLst/>
          </a:prstGeom>
          <a:noFill/>
          <a:ln/>
        </p:spPr>
        <p:txBody>
          <a:bodyPr wrap="square" lIns="0" tIns="0" rIns="0" bIns="0" rtlCol="0" anchor="t"/>
          <a:lstStyle/>
          <a:p>
            <a:pPr marL="0" indent="0">
              <a:lnSpc>
                <a:spcPts val="2400"/>
              </a:lnSpc>
              <a:buNone/>
            </a:pPr>
            <a:r>
              <a:rPr lang="en-US" sz="1600" dirty="0">
                <a:solidFill>
                  <a:srgbClr val="222222"/>
                </a:solidFill>
                <a:latin typeface="에이투지체 8 ExtraBold" pitchFamily="34" charset="0"/>
                <a:ea typeface="에이투지체 8 ExtraBold" pitchFamily="34" charset="-122"/>
                <a:cs typeface="에이투지체 8 ExtraBold" pitchFamily="34" charset="-120"/>
              </a:rPr>
              <a:t>퍼포먼스 마케팅에 기반한
</a:t>
            </a:r>
            <a:r>
              <a:rPr lang="en-US" dirty="0">
                <a:solidFill>
                  <a:schemeClr val="bg1"/>
                </a:solidFill>
                <a:highlight>
                  <a:srgbClr val="0000FF"/>
                </a:highlight>
                <a:latin typeface="에이투지체 8 ExtraBold" pitchFamily="34" charset="0"/>
                <a:ea typeface="에이투지체 8 ExtraBold" pitchFamily="34" charset="-122"/>
                <a:cs typeface="에이투지체 8 ExtraBold" pitchFamily="34" charset="-120"/>
              </a:rPr>
              <a:t>풀-퍼널 토탈 마케팅</a:t>
            </a:r>
            <a:r>
              <a:rPr lang="en-US" sz="1600" dirty="0">
                <a:solidFill>
                  <a:srgbClr val="222222"/>
                </a:solidFill>
                <a:latin typeface="에이투지체 8 ExtraBold" pitchFamily="34" charset="0"/>
                <a:ea typeface="에이투지체 8 ExtraBold" pitchFamily="34" charset="-122"/>
                <a:cs typeface="에이투지체 8 ExtraBold" pitchFamily="34" charset="-120"/>
              </a:rPr>
              <a:t>을</a:t>
            </a:r>
            <a:endParaRPr lang="en-US" sz="1600" dirty="0"/>
          </a:p>
          <a:p>
            <a:pPr marL="0" indent="0">
              <a:lnSpc>
                <a:spcPts val="2400"/>
              </a:lnSpc>
              <a:buNone/>
            </a:pPr>
            <a:r>
              <a:rPr lang="en-US" sz="1600" dirty="0">
                <a:solidFill>
                  <a:srgbClr val="222222"/>
                </a:solidFill>
                <a:latin typeface="에이투지체 8 ExtraBold" pitchFamily="34" charset="0"/>
                <a:ea typeface="에이투지체 8 ExtraBold" pitchFamily="34" charset="-122"/>
                <a:cs typeface="에이투지체 8 ExtraBold" pitchFamily="34" charset="-120"/>
              </a:rPr>
              <a:t>추구합니다</a:t>
            </a:r>
            <a:endParaRPr lang="en-US" sz="1600" dirty="0"/>
          </a:p>
        </p:txBody>
      </p:sp>
      <p:sp>
        <p:nvSpPr>
          <p:cNvPr id="9" name="Shape 7"/>
          <p:cNvSpPr/>
          <p:nvPr/>
        </p:nvSpPr>
        <p:spPr>
          <a:xfrm>
            <a:off x="7040880" y="1920240"/>
            <a:ext cx="1645920" cy="475488"/>
          </a:xfrm>
          <a:prstGeom prst="roundRect">
            <a:avLst>
              <a:gd name="adj" fmla="val 15385"/>
            </a:avLst>
          </a:prstGeom>
          <a:solidFill>
            <a:srgbClr val="0A2F5C"/>
          </a:solidFill>
          <a:ln w="12700">
            <a:solidFill>
              <a:srgbClr val="0A2F5C"/>
            </a:solidFill>
            <a:prstDash val="solid"/>
          </a:ln>
        </p:spPr>
        <p:txBody>
          <a:bodyPr/>
          <a:lstStyle/>
          <a:p>
            <a:endParaRPr/>
          </a:p>
        </p:txBody>
      </p:sp>
      <p:sp>
        <p:nvSpPr>
          <p:cNvPr id="10" name="Text 8"/>
          <p:cNvSpPr/>
          <p:nvPr/>
        </p:nvSpPr>
        <p:spPr>
          <a:xfrm>
            <a:off x="7040880" y="1920240"/>
            <a:ext cx="1645920" cy="475488"/>
          </a:xfrm>
          <a:prstGeom prst="rect">
            <a:avLst/>
          </a:prstGeom>
          <a:noFill/>
          <a:ln/>
        </p:spPr>
        <p:txBody>
          <a:bodyPr wrap="square" lIns="0" tIns="0" rIns="0" bIns="0" rtlCol="0" anchor="ctr"/>
          <a:lstStyle/>
          <a:p>
            <a:pPr marL="0" indent="0" algn="ctr">
              <a:buNone/>
            </a:pPr>
            <a:r>
              <a:rPr lang="en-US" sz="1200" dirty="0">
                <a:solidFill>
                  <a:srgbClr val="FFFFFF"/>
                </a:solidFill>
                <a:latin typeface="에이투지체 8 ExtraBold" pitchFamily="34" charset="0"/>
                <a:ea typeface="에이투지체 8 ExtraBold" pitchFamily="34" charset="-122"/>
                <a:cs typeface="에이투지체 8 ExtraBold" pitchFamily="34" charset="-120"/>
              </a:rPr>
              <a:t>대표이사</a:t>
            </a:r>
            <a:endParaRPr lang="en-US" sz="1200" dirty="0"/>
          </a:p>
        </p:txBody>
      </p:sp>
      <p:sp>
        <p:nvSpPr>
          <p:cNvPr id="11" name="Shape 9"/>
          <p:cNvSpPr/>
          <p:nvPr/>
        </p:nvSpPr>
        <p:spPr>
          <a:xfrm>
            <a:off x="7863840" y="2395728"/>
            <a:ext cx="0" cy="201168"/>
          </a:xfrm>
          <a:prstGeom prst="line">
            <a:avLst/>
          </a:prstGeom>
          <a:noFill/>
          <a:ln w="12700">
            <a:solidFill>
              <a:srgbClr val="D0D0D0"/>
            </a:solidFill>
            <a:prstDash val="solid"/>
          </a:ln>
        </p:spPr>
        <p:txBody>
          <a:bodyPr/>
          <a:lstStyle/>
          <a:p>
            <a:endParaRPr/>
          </a:p>
        </p:txBody>
      </p:sp>
      <p:sp>
        <p:nvSpPr>
          <p:cNvPr id="12" name="Shape 10"/>
          <p:cNvSpPr/>
          <p:nvPr/>
        </p:nvSpPr>
        <p:spPr>
          <a:xfrm>
            <a:off x="5577840" y="2596896"/>
            <a:ext cx="4572000" cy="0"/>
          </a:xfrm>
          <a:prstGeom prst="line">
            <a:avLst/>
          </a:prstGeom>
          <a:noFill/>
          <a:ln w="12700">
            <a:solidFill>
              <a:srgbClr val="D0D0D0"/>
            </a:solidFill>
            <a:prstDash val="solid"/>
          </a:ln>
        </p:spPr>
        <p:txBody>
          <a:bodyPr/>
          <a:lstStyle/>
          <a:p>
            <a:endParaRPr/>
          </a:p>
        </p:txBody>
      </p:sp>
      <p:sp>
        <p:nvSpPr>
          <p:cNvPr id="13" name="Shape 11"/>
          <p:cNvSpPr/>
          <p:nvPr/>
        </p:nvSpPr>
        <p:spPr>
          <a:xfrm>
            <a:off x="5577840" y="2596896"/>
            <a:ext cx="0" cy="182880"/>
          </a:xfrm>
          <a:prstGeom prst="line">
            <a:avLst/>
          </a:prstGeom>
          <a:noFill/>
          <a:ln w="12700">
            <a:solidFill>
              <a:srgbClr val="D0D0D0"/>
            </a:solidFill>
            <a:prstDash val="solid"/>
          </a:ln>
        </p:spPr>
        <p:txBody>
          <a:bodyPr/>
          <a:lstStyle/>
          <a:p>
            <a:endParaRPr/>
          </a:p>
        </p:txBody>
      </p:sp>
      <p:sp>
        <p:nvSpPr>
          <p:cNvPr id="14" name="Shape 12"/>
          <p:cNvSpPr/>
          <p:nvPr/>
        </p:nvSpPr>
        <p:spPr>
          <a:xfrm>
            <a:off x="7863840" y="2596896"/>
            <a:ext cx="0" cy="182880"/>
          </a:xfrm>
          <a:prstGeom prst="line">
            <a:avLst/>
          </a:prstGeom>
          <a:noFill/>
          <a:ln w="12700">
            <a:solidFill>
              <a:srgbClr val="D0D0D0"/>
            </a:solidFill>
            <a:prstDash val="solid"/>
          </a:ln>
        </p:spPr>
        <p:txBody>
          <a:bodyPr/>
          <a:lstStyle/>
          <a:p>
            <a:endParaRPr/>
          </a:p>
        </p:txBody>
      </p:sp>
      <p:sp>
        <p:nvSpPr>
          <p:cNvPr id="15" name="Shape 13"/>
          <p:cNvSpPr/>
          <p:nvPr/>
        </p:nvSpPr>
        <p:spPr>
          <a:xfrm>
            <a:off x="10149840" y="2596896"/>
            <a:ext cx="0" cy="182880"/>
          </a:xfrm>
          <a:prstGeom prst="line">
            <a:avLst/>
          </a:prstGeom>
          <a:noFill/>
          <a:ln w="12700">
            <a:solidFill>
              <a:srgbClr val="D0D0D0"/>
            </a:solidFill>
            <a:prstDash val="solid"/>
          </a:ln>
        </p:spPr>
        <p:txBody>
          <a:bodyPr/>
          <a:lstStyle/>
          <a:p>
            <a:endParaRPr/>
          </a:p>
        </p:txBody>
      </p:sp>
      <p:sp>
        <p:nvSpPr>
          <p:cNvPr id="16" name="Shape 14"/>
          <p:cNvSpPr/>
          <p:nvPr/>
        </p:nvSpPr>
        <p:spPr>
          <a:xfrm>
            <a:off x="4526280" y="2779776"/>
            <a:ext cx="2103120" cy="475488"/>
          </a:xfrm>
          <a:prstGeom prst="roundRect">
            <a:avLst>
              <a:gd name="adj" fmla="val 15385"/>
            </a:avLst>
          </a:prstGeom>
          <a:solidFill>
            <a:srgbClr val="0E3A72"/>
          </a:solidFill>
          <a:ln w="12700">
            <a:solidFill>
              <a:srgbClr val="0E3A72"/>
            </a:solidFill>
            <a:prstDash val="solid"/>
          </a:ln>
        </p:spPr>
        <p:txBody>
          <a:bodyPr/>
          <a:lstStyle/>
          <a:p>
            <a:endParaRPr/>
          </a:p>
        </p:txBody>
      </p:sp>
      <p:sp>
        <p:nvSpPr>
          <p:cNvPr id="17" name="Text 15"/>
          <p:cNvSpPr/>
          <p:nvPr/>
        </p:nvSpPr>
        <p:spPr>
          <a:xfrm>
            <a:off x="4526280" y="2779776"/>
            <a:ext cx="2103120" cy="475488"/>
          </a:xfrm>
          <a:prstGeom prst="rect">
            <a:avLst/>
          </a:prstGeom>
          <a:noFill/>
          <a:ln/>
        </p:spPr>
        <p:txBody>
          <a:bodyPr wrap="square" lIns="0" tIns="0" rIns="0" bIns="0" rtlCol="0" anchor="ctr"/>
          <a:lstStyle/>
          <a:p>
            <a:pPr marL="0" indent="0" algn="ctr">
              <a:buNone/>
            </a:pPr>
            <a:r>
              <a:rPr lang="en-US" sz="1150" dirty="0">
                <a:solidFill>
                  <a:srgbClr val="FFFFFF"/>
                </a:solidFill>
                <a:latin typeface="에이투지체 6 SemiBold" pitchFamily="34" charset="0"/>
                <a:ea typeface="에이투지체 6 SemiBold" pitchFamily="34" charset="-122"/>
                <a:cs typeface="에이투지체 6 SemiBold" pitchFamily="34" charset="-120"/>
              </a:rPr>
              <a:t>경영관리본부</a:t>
            </a:r>
            <a:endParaRPr lang="en-US" sz="1150" dirty="0"/>
          </a:p>
        </p:txBody>
      </p:sp>
      <p:sp>
        <p:nvSpPr>
          <p:cNvPr id="18" name="Shape 16"/>
          <p:cNvSpPr/>
          <p:nvPr/>
        </p:nvSpPr>
        <p:spPr>
          <a:xfrm>
            <a:off x="5577840" y="3255264"/>
            <a:ext cx="0" cy="201168"/>
          </a:xfrm>
          <a:prstGeom prst="line">
            <a:avLst/>
          </a:prstGeom>
          <a:noFill/>
          <a:ln w="12700">
            <a:solidFill>
              <a:srgbClr val="D0D0D0"/>
            </a:solidFill>
            <a:prstDash val="solid"/>
          </a:ln>
        </p:spPr>
        <p:txBody>
          <a:bodyPr/>
          <a:lstStyle/>
          <a:p>
            <a:endParaRPr/>
          </a:p>
        </p:txBody>
      </p:sp>
      <p:sp>
        <p:nvSpPr>
          <p:cNvPr id="19" name="Shape 17"/>
          <p:cNvSpPr/>
          <p:nvPr/>
        </p:nvSpPr>
        <p:spPr>
          <a:xfrm>
            <a:off x="4526280" y="3456432"/>
            <a:ext cx="2103120" cy="475488"/>
          </a:xfrm>
          <a:prstGeom prst="roundRect">
            <a:avLst>
              <a:gd name="adj" fmla="val 15385"/>
            </a:avLst>
          </a:prstGeom>
          <a:solidFill>
            <a:srgbClr val="FFFFFF"/>
          </a:solidFill>
          <a:ln w="12700">
            <a:solidFill>
              <a:srgbClr val="D0D0D0"/>
            </a:solidFill>
            <a:prstDash val="solid"/>
          </a:ln>
        </p:spPr>
        <p:txBody>
          <a:bodyPr/>
          <a:lstStyle/>
          <a:p>
            <a:endParaRPr/>
          </a:p>
        </p:txBody>
      </p:sp>
      <p:sp>
        <p:nvSpPr>
          <p:cNvPr id="20" name="Text 18"/>
          <p:cNvSpPr/>
          <p:nvPr/>
        </p:nvSpPr>
        <p:spPr>
          <a:xfrm>
            <a:off x="4526280" y="3456432"/>
            <a:ext cx="2103120" cy="475488"/>
          </a:xfrm>
          <a:prstGeom prst="rect">
            <a:avLst/>
          </a:prstGeom>
          <a:noFill/>
          <a:ln/>
        </p:spPr>
        <p:txBody>
          <a:bodyPr wrap="square" lIns="0" tIns="0" rIns="0" bIns="0" rtlCol="0" anchor="ctr"/>
          <a:lstStyle/>
          <a:p>
            <a:pPr marL="0" indent="0" algn="ctr">
              <a:buNone/>
            </a:pPr>
            <a:r>
              <a:rPr lang="en-US" sz="1100" dirty="0">
                <a:solidFill>
                  <a:srgbClr val="222222"/>
                </a:solidFill>
                <a:latin typeface="에이투지체 5 Medium" pitchFamily="34" charset="0"/>
                <a:ea typeface="에이투지체 5 Medium" pitchFamily="34" charset="-122"/>
                <a:cs typeface="에이투지체 5 Medium" pitchFamily="34" charset="-120"/>
              </a:rPr>
              <a:t>재무회계팀</a:t>
            </a:r>
            <a:endParaRPr lang="en-US" sz="1100" dirty="0"/>
          </a:p>
        </p:txBody>
      </p:sp>
      <p:sp>
        <p:nvSpPr>
          <p:cNvPr id="21" name="Shape 19"/>
          <p:cNvSpPr/>
          <p:nvPr/>
        </p:nvSpPr>
        <p:spPr>
          <a:xfrm>
            <a:off x="5577840" y="3931920"/>
            <a:ext cx="0" cy="201168"/>
          </a:xfrm>
          <a:prstGeom prst="line">
            <a:avLst/>
          </a:prstGeom>
          <a:noFill/>
          <a:ln w="12700">
            <a:solidFill>
              <a:srgbClr val="D0D0D0"/>
            </a:solidFill>
            <a:prstDash val="solid"/>
          </a:ln>
        </p:spPr>
        <p:txBody>
          <a:bodyPr/>
          <a:lstStyle/>
          <a:p>
            <a:endParaRPr/>
          </a:p>
        </p:txBody>
      </p:sp>
      <p:sp>
        <p:nvSpPr>
          <p:cNvPr id="22" name="Shape 20"/>
          <p:cNvSpPr/>
          <p:nvPr/>
        </p:nvSpPr>
        <p:spPr>
          <a:xfrm>
            <a:off x="4526280" y="4133088"/>
            <a:ext cx="2103120" cy="475488"/>
          </a:xfrm>
          <a:prstGeom prst="roundRect">
            <a:avLst>
              <a:gd name="adj" fmla="val 15385"/>
            </a:avLst>
          </a:prstGeom>
          <a:solidFill>
            <a:srgbClr val="FFFFFF"/>
          </a:solidFill>
          <a:ln w="12700">
            <a:solidFill>
              <a:srgbClr val="D0D0D0"/>
            </a:solidFill>
            <a:prstDash val="solid"/>
          </a:ln>
        </p:spPr>
        <p:txBody>
          <a:bodyPr/>
          <a:lstStyle/>
          <a:p>
            <a:endParaRPr/>
          </a:p>
        </p:txBody>
      </p:sp>
      <p:sp>
        <p:nvSpPr>
          <p:cNvPr id="23" name="Text 21"/>
          <p:cNvSpPr/>
          <p:nvPr/>
        </p:nvSpPr>
        <p:spPr>
          <a:xfrm>
            <a:off x="4526280" y="4133088"/>
            <a:ext cx="2103120" cy="475488"/>
          </a:xfrm>
          <a:prstGeom prst="rect">
            <a:avLst/>
          </a:prstGeom>
          <a:noFill/>
          <a:ln/>
        </p:spPr>
        <p:txBody>
          <a:bodyPr wrap="square" lIns="0" tIns="0" rIns="0" bIns="0" rtlCol="0" anchor="ctr"/>
          <a:lstStyle/>
          <a:p>
            <a:pPr marL="0" indent="0" algn="ctr">
              <a:buNone/>
            </a:pPr>
            <a:r>
              <a:rPr lang="en-US" sz="1100" dirty="0">
                <a:solidFill>
                  <a:srgbClr val="222222"/>
                </a:solidFill>
                <a:latin typeface="에이투지체 5 Medium" pitchFamily="34" charset="0"/>
                <a:ea typeface="에이투지체 5 Medium" pitchFamily="34" charset="-122"/>
                <a:cs typeface="에이투지체 5 Medium" pitchFamily="34" charset="-120"/>
              </a:rPr>
              <a:t>경영지원팀</a:t>
            </a:r>
            <a:endParaRPr lang="en-US" sz="1100" dirty="0"/>
          </a:p>
        </p:txBody>
      </p:sp>
      <p:sp>
        <p:nvSpPr>
          <p:cNvPr id="24" name="Shape 22"/>
          <p:cNvSpPr/>
          <p:nvPr/>
        </p:nvSpPr>
        <p:spPr>
          <a:xfrm>
            <a:off x="5577840" y="4608576"/>
            <a:ext cx="0" cy="201168"/>
          </a:xfrm>
          <a:prstGeom prst="line">
            <a:avLst/>
          </a:prstGeom>
          <a:noFill/>
          <a:ln w="12700">
            <a:solidFill>
              <a:srgbClr val="D0D0D0"/>
            </a:solidFill>
            <a:prstDash val="solid"/>
          </a:ln>
        </p:spPr>
        <p:txBody>
          <a:bodyPr/>
          <a:lstStyle/>
          <a:p>
            <a:endParaRPr/>
          </a:p>
        </p:txBody>
      </p:sp>
      <p:sp>
        <p:nvSpPr>
          <p:cNvPr id="25" name="Shape 23"/>
          <p:cNvSpPr/>
          <p:nvPr/>
        </p:nvSpPr>
        <p:spPr>
          <a:xfrm>
            <a:off x="4526280" y="4809744"/>
            <a:ext cx="2103120" cy="475488"/>
          </a:xfrm>
          <a:prstGeom prst="roundRect">
            <a:avLst>
              <a:gd name="adj" fmla="val 15385"/>
            </a:avLst>
          </a:prstGeom>
          <a:solidFill>
            <a:srgbClr val="FFFFFF"/>
          </a:solidFill>
          <a:ln w="12700">
            <a:solidFill>
              <a:srgbClr val="D0D0D0"/>
            </a:solidFill>
            <a:prstDash val="solid"/>
          </a:ln>
        </p:spPr>
        <p:txBody>
          <a:bodyPr/>
          <a:lstStyle/>
          <a:p>
            <a:endParaRPr/>
          </a:p>
        </p:txBody>
      </p:sp>
      <p:sp>
        <p:nvSpPr>
          <p:cNvPr id="26" name="Text 24"/>
          <p:cNvSpPr/>
          <p:nvPr/>
        </p:nvSpPr>
        <p:spPr>
          <a:xfrm>
            <a:off x="4526280" y="4809744"/>
            <a:ext cx="2103120" cy="475488"/>
          </a:xfrm>
          <a:prstGeom prst="rect">
            <a:avLst/>
          </a:prstGeom>
          <a:noFill/>
          <a:ln/>
        </p:spPr>
        <p:txBody>
          <a:bodyPr wrap="square" lIns="0" tIns="0" rIns="0" bIns="0" rtlCol="0" anchor="ctr"/>
          <a:lstStyle/>
          <a:p>
            <a:pPr marL="0" indent="0" algn="ctr">
              <a:buNone/>
            </a:pPr>
            <a:r>
              <a:rPr lang="en-US" sz="1100" dirty="0">
                <a:solidFill>
                  <a:srgbClr val="222222"/>
                </a:solidFill>
                <a:latin typeface="에이투지체 5 Medium" pitchFamily="34" charset="0"/>
                <a:ea typeface="에이투지체 5 Medium" pitchFamily="34" charset="-122"/>
                <a:cs typeface="에이투지체 5 Medium" pitchFamily="34" charset="-120"/>
              </a:rPr>
              <a:t>HR팀</a:t>
            </a:r>
            <a:endParaRPr lang="en-US" sz="1100" dirty="0"/>
          </a:p>
        </p:txBody>
      </p:sp>
      <p:sp>
        <p:nvSpPr>
          <p:cNvPr id="27" name="Shape 25"/>
          <p:cNvSpPr/>
          <p:nvPr/>
        </p:nvSpPr>
        <p:spPr>
          <a:xfrm>
            <a:off x="6812280" y="2779776"/>
            <a:ext cx="2103120" cy="475488"/>
          </a:xfrm>
          <a:prstGeom prst="roundRect">
            <a:avLst>
              <a:gd name="adj" fmla="val 15385"/>
            </a:avLst>
          </a:prstGeom>
          <a:solidFill>
            <a:srgbClr val="0E3A72"/>
          </a:solidFill>
          <a:ln w="12700">
            <a:solidFill>
              <a:srgbClr val="0E3A72"/>
            </a:solidFill>
            <a:prstDash val="solid"/>
          </a:ln>
        </p:spPr>
        <p:txBody>
          <a:bodyPr/>
          <a:lstStyle/>
          <a:p>
            <a:endParaRPr/>
          </a:p>
        </p:txBody>
      </p:sp>
      <p:sp>
        <p:nvSpPr>
          <p:cNvPr id="28" name="Text 26"/>
          <p:cNvSpPr/>
          <p:nvPr/>
        </p:nvSpPr>
        <p:spPr>
          <a:xfrm>
            <a:off x="6812280" y="2779776"/>
            <a:ext cx="2103120" cy="475488"/>
          </a:xfrm>
          <a:prstGeom prst="rect">
            <a:avLst/>
          </a:prstGeom>
          <a:noFill/>
          <a:ln/>
        </p:spPr>
        <p:txBody>
          <a:bodyPr wrap="square" lIns="0" tIns="0" rIns="0" bIns="0" rtlCol="0" anchor="ctr"/>
          <a:lstStyle/>
          <a:p>
            <a:pPr marL="0" indent="0" algn="ctr">
              <a:buNone/>
            </a:pPr>
            <a:r>
              <a:rPr lang="en-US" sz="1150" dirty="0">
                <a:solidFill>
                  <a:srgbClr val="FFFFFF"/>
                </a:solidFill>
                <a:latin typeface="에이투지체 6 SemiBold" pitchFamily="34" charset="0"/>
                <a:ea typeface="에이투지체 6 SemiBold" pitchFamily="34" charset="-122"/>
                <a:cs typeface="에이투지체 6 SemiBold" pitchFamily="34" charset="-120"/>
              </a:rPr>
              <a:t>광고사업부</a:t>
            </a:r>
            <a:endParaRPr lang="en-US" sz="1150" dirty="0"/>
          </a:p>
        </p:txBody>
      </p:sp>
      <p:sp>
        <p:nvSpPr>
          <p:cNvPr id="29" name="Shape 27"/>
          <p:cNvSpPr/>
          <p:nvPr/>
        </p:nvSpPr>
        <p:spPr>
          <a:xfrm>
            <a:off x="7863840" y="3255264"/>
            <a:ext cx="0" cy="201168"/>
          </a:xfrm>
          <a:prstGeom prst="line">
            <a:avLst/>
          </a:prstGeom>
          <a:noFill/>
          <a:ln w="12700">
            <a:solidFill>
              <a:srgbClr val="D0D0D0"/>
            </a:solidFill>
            <a:prstDash val="solid"/>
          </a:ln>
        </p:spPr>
        <p:txBody>
          <a:bodyPr/>
          <a:lstStyle/>
          <a:p>
            <a:endParaRPr/>
          </a:p>
        </p:txBody>
      </p:sp>
      <p:sp>
        <p:nvSpPr>
          <p:cNvPr id="30" name="Shape 28"/>
          <p:cNvSpPr/>
          <p:nvPr/>
        </p:nvSpPr>
        <p:spPr>
          <a:xfrm>
            <a:off x="6812280" y="3456432"/>
            <a:ext cx="2103120" cy="475488"/>
          </a:xfrm>
          <a:prstGeom prst="roundRect">
            <a:avLst>
              <a:gd name="adj" fmla="val 15385"/>
            </a:avLst>
          </a:prstGeom>
          <a:solidFill>
            <a:srgbClr val="EAF2FB"/>
          </a:solidFill>
          <a:ln w="12700">
            <a:solidFill>
              <a:srgbClr val="004F9F"/>
            </a:solidFill>
            <a:prstDash val="solid"/>
          </a:ln>
        </p:spPr>
        <p:txBody>
          <a:bodyPr/>
          <a:lstStyle/>
          <a:p>
            <a:endParaRPr sz="2000"/>
          </a:p>
        </p:txBody>
      </p:sp>
      <p:sp>
        <p:nvSpPr>
          <p:cNvPr id="31" name="Text 29"/>
          <p:cNvSpPr/>
          <p:nvPr/>
        </p:nvSpPr>
        <p:spPr>
          <a:xfrm>
            <a:off x="6812280" y="3456432"/>
            <a:ext cx="2103120" cy="475488"/>
          </a:xfrm>
          <a:prstGeom prst="rect">
            <a:avLst/>
          </a:prstGeom>
          <a:noFill/>
          <a:ln/>
        </p:spPr>
        <p:txBody>
          <a:bodyPr wrap="square" lIns="0" tIns="0" rIns="0" bIns="0" rtlCol="0" anchor="ctr"/>
          <a:lstStyle/>
          <a:p>
            <a:pPr marL="0" indent="0" algn="ctr">
              <a:buNone/>
            </a:pPr>
            <a:r>
              <a:rPr lang="en-US" sz="1200" dirty="0">
                <a:solidFill>
                  <a:srgbClr val="004F9F"/>
                </a:solidFill>
                <a:latin typeface="에이투지체 8 ExtraBold" pitchFamily="34" charset="0"/>
                <a:ea typeface="에이투지체 8 ExtraBold" pitchFamily="34" charset="-122"/>
                <a:cs typeface="에이투지체 8 ExtraBold" pitchFamily="34" charset="-120"/>
              </a:rPr>
              <a:t>브랜드광고센터</a:t>
            </a:r>
            <a:endParaRPr lang="en-US" sz="1200" dirty="0"/>
          </a:p>
        </p:txBody>
      </p:sp>
      <p:sp>
        <p:nvSpPr>
          <p:cNvPr id="32" name="Shape 30"/>
          <p:cNvSpPr/>
          <p:nvPr/>
        </p:nvSpPr>
        <p:spPr>
          <a:xfrm>
            <a:off x="7863840" y="3931920"/>
            <a:ext cx="0" cy="201168"/>
          </a:xfrm>
          <a:prstGeom prst="line">
            <a:avLst/>
          </a:prstGeom>
          <a:noFill/>
          <a:ln w="12700">
            <a:solidFill>
              <a:srgbClr val="D0D0D0"/>
            </a:solidFill>
            <a:prstDash val="solid"/>
          </a:ln>
        </p:spPr>
        <p:txBody>
          <a:bodyPr/>
          <a:lstStyle/>
          <a:p>
            <a:endParaRPr/>
          </a:p>
        </p:txBody>
      </p:sp>
      <p:sp>
        <p:nvSpPr>
          <p:cNvPr id="33" name="Shape 31"/>
          <p:cNvSpPr/>
          <p:nvPr/>
        </p:nvSpPr>
        <p:spPr>
          <a:xfrm>
            <a:off x="6812280" y="4133088"/>
            <a:ext cx="2103120" cy="475488"/>
          </a:xfrm>
          <a:prstGeom prst="roundRect">
            <a:avLst>
              <a:gd name="adj" fmla="val 15385"/>
            </a:avLst>
          </a:prstGeom>
          <a:solidFill>
            <a:srgbClr val="FFFFFF"/>
          </a:solidFill>
          <a:ln w="12700">
            <a:solidFill>
              <a:srgbClr val="D0D0D0"/>
            </a:solidFill>
            <a:prstDash val="solid"/>
          </a:ln>
        </p:spPr>
        <p:txBody>
          <a:bodyPr/>
          <a:lstStyle/>
          <a:p>
            <a:endParaRPr/>
          </a:p>
        </p:txBody>
      </p:sp>
      <p:sp>
        <p:nvSpPr>
          <p:cNvPr id="34" name="Text 32"/>
          <p:cNvSpPr/>
          <p:nvPr/>
        </p:nvSpPr>
        <p:spPr>
          <a:xfrm>
            <a:off x="6812280" y="4133088"/>
            <a:ext cx="2103120" cy="475488"/>
          </a:xfrm>
          <a:prstGeom prst="rect">
            <a:avLst/>
          </a:prstGeom>
          <a:noFill/>
          <a:ln/>
        </p:spPr>
        <p:txBody>
          <a:bodyPr wrap="square" lIns="0" tIns="0" rIns="0" bIns="0" rtlCol="0" anchor="ctr"/>
          <a:lstStyle/>
          <a:p>
            <a:pPr marL="0" indent="0" algn="ctr">
              <a:buNone/>
            </a:pPr>
            <a:r>
              <a:rPr lang="en-US" sz="1100" dirty="0">
                <a:solidFill>
                  <a:srgbClr val="222222"/>
                </a:solidFill>
                <a:latin typeface="에이투지체 5 Medium" pitchFamily="34" charset="0"/>
                <a:ea typeface="에이투지체 5 Medium" pitchFamily="34" charset="-122"/>
                <a:cs typeface="에이투지체 5 Medium" pitchFamily="34" charset="-120"/>
              </a:rPr>
              <a:t>서울센터</a:t>
            </a:r>
            <a:endParaRPr lang="en-US" sz="1100" dirty="0"/>
          </a:p>
        </p:txBody>
      </p:sp>
      <p:sp>
        <p:nvSpPr>
          <p:cNvPr id="35" name="Shape 33"/>
          <p:cNvSpPr/>
          <p:nvPr/>
        </p:nvSpPr>
        <p:spPr>
          <a:xfrm>
            <a:off x="7863840" y="4608576"/>
            <a:ext cx="0" cy="201168"/>
          </a:xfrm>
          <a:prstGeom prst="line">
            <a:avLst/>
          </a:prstGeom>
          <a:noFill/>
          <a:ln w="12700">
            <a:solidFill>
              <a:srgbClr val="D0D0D0"/>
            </a:solidFill>
            <a:prstDash val="solid"/>
          </a:ln>
        </p:spPr>
        <p:txBody>
          <a:bodyPr/>
          <a:lstStyle/>
          <a:p>
            <a:endParaRPr/>
          </a:p>
        </p:txBody>
      </p:sp>
      <p:sp>
        <p:nvSpPr>
          <p:cNvPr id="36" name="Shape 34"/>
          <p:cNvSpPr/>
          <p:nvPr/>
        </p:nvSpPr>
        <p:spPr>
          <a:xfrm>
            <a:off x="6812280" y="4809744"/>
            <a:ext cx="2103120" cy="475488"/>
          </a:xfrm>
          <a:prstGeom prst="roundRect">
            <a:avLst>
              <a:gd name="adj" fmla="val 15385"/>
            </a:avLst>
          </a:prstGeom>
          <a:solidFill>
            <a:srgbClr val="FFFFFF"/>
          </a:solidFill>
          <a:ln w="12700">
            <a:solidFill>
              <a:srgbClr val="D0D0D0"/>
            </a:solidFill>
            <a:prstDash val="solid"/>
          </a:ln>
        </p:spPr>
        <p:txBody>
          <a:bodyPr/>
          <a:lstStyle/>
          <a:p>
            <a:endParaRPr/>
          </a:p>
        </p:txBody>
      </p:sp>
      <p:sp>
        <p:nvSpPr>
          <p:cNvPr id="37" name="Text 35"/>
          <p:cNvSpPr/>
          <p:nvPr/>
        </p:nvSpPr>
        <p:spPr>
          <a:xfrm>
            <a:off x="6812280" y="4809744"/>
            <a:ext cx="2103120" cy="475488"/>
          </a:xfrm>
          <a:prstGeom prst="rect">
            <a:avLst/>
          </a:prstGeom>
          <a:noFill/>
          <a:ln/>
        </p:spPr>
        <p:txBody>
          <a:bodyPr wrap="square" lIns="0" tIns="0" rIns="0" bIns="0" rtlCol="0" anchor="ctr"/>
          <a:lstStyle/>
          <a:p>
            <a:pPr marL="0" indent="0" algn="ctr">
              <a:buNone/>
            </a:pPr>
            <a:r>
              <a:rPr lang="en-US" sz="1100" dirty="0">
                <a:solidFill>
                  <a:srgbClr val="222222"/>
                </a:solidFill>
                <a:latin typeface="에이투지체 5 Medium" pitchFamily="34" charset="0"/>
                <a:ea typeface="에이투지체 5 Medium" pitchFamily="34" charset="-122"/>
                <a:cs typeface="에이투지체 5 Medium" pitchFamily="34" charset="-120"/>
              </a:rPr>
              <a:t>부산센터</a:t>
            </a:r>
            <a:endParaRPr lang="en-US" sz="1100" dirty="0"/>
          </a:p>
        </p:txBody>
      </p:sp>
      <p:sp>
        <p:nvSpPr>
          <p:cNvPr id="38" name="Shape 36"/>
          <p:cNvSpPr/>
          <p:nvPr/>
        </p:nvSpPr>
        <p:spPr>
          <a:xfrm>
            <a:off x="9098280" y="2779776"/>
            <a:ext cx="2103120" cy="475488"/>
          </a:xfrm>
          <a:prstGeom prst="roundRect">
            <a:avLst>
              <a:gd name="adj" fmla="val 15385"/>
            </a:avLst>
          </a:prstGeom>
          <a:solidFill>
            <a:srgbClr val="0E3A72"/>
          </a:solidFill>
          <a:ln w="12700">
            <a:solidFill>
              <a:srgbClr val="0E3A72"/>
            </a:solidFill>
            <a:prstDash val="solid"/>
          </a:ln>
        </p:spPr>
        <p:txBody>
          <a:bodyPr/>
          <a:lstStyle/>
          <a:p>
            <a:endParaRPr/>
          </a:p>
        </p:txBody>
      </p:sp>
      <p:sp>
        <p:nvSpPr>
          <p:cNvPr id="39" name="Text 37"/>
          <p:cNvSpPr/>
          <p:nvPr/>
        </p:nvSpPr>
        <p:spPr>
          <a:xfrm>
            <a:off x="9098280" y="2779776"/>
            <a:ext cx="2103120" cy="475488"/>
          </a:xfrm>
          <a:prstGeom prst="rect">
            <a:avLst/>
          </a:prstGeom>
          <a:noFill/>
          <a:ln/>
        </p:spPr>
        <p:txBody>
          <a:bodyPr wrap="square" lIns="0" tIns="0" rIns="0" bIns="0" rtlCol="0" anchor="ctr"/>
          <a:lstStyle/>
          <a:p>
            <a:pPr marL="0" indent="0" algn="ctr">
              <a:buNone/>
            </a:pPr>
            <a:r>
              <a:rPr lang="en-US" sz="1150" dirty="0">
                <a:solidFill>
                  <a:srgbClr val="FFFFFF"/>
                </a:solidFill>
                <a:latin typeface="에이투지체 6 SemiBold" pitchFamily="34" charset="0"/>
                <a:ea typeface="에이투지체 6 SemiBold" pitchFamily="34" charset="-122"/>
                <a:cs typeface="에이투지체 6 SemiBold" pitchFamily="34" charset="-120"/>
              </a:rPr>
              <a:t>제휴사업부</a:t>
            </a:r>
            <a:endParaRPr lang="en-US" sz="1150" dirty="0"/>
          </a:p>
        </p:txBody>
      </p:sp>
      <p:sp>
        <p:nvSpPr>
          <p:cNvPr id="40" name="Shape 38"/>
          <p:cNvSpPr/>
          <p:nvPr/>
        </p:nvSpPr>
        <p:spPr>
          <a:xfrm>
            <a:off x="10149840" y="3255264"/>
            <a:ext cx="0" cy="201168"/>
          </a:xfrm>
          <a:prstGeom prst="line">
            <a:avLst/>
          </a:prstGeom>
          <a:noFill/>
          <a:ln w="12700">
            <a:solidFill>
              <a:srgbClr val="D0D0D0"/>
            </a:solidFill>
            <a:prstDash val="solid"/>
          </a:ln>
        </p:spPr>
        <p:txBody>
          <a:bodyPr/>
          <a:lstStyle/>
          <a:p>
            <a:endParaRPr/>
          </a:p>
        </p:txBody>
      </p:sp>
      <p:sp>
        <p:nvSpPr>
          <p:cNvPr id="41" name="Shape 39"/>
          <p:cNvSpPr/>
          <p:nvPr/>
        </p:nvSpPr>
        <p:spPr>
          <a:xfrm>
            <a:off x="9098280" y="3456432"/>
            <a:ext cx="2103120" cy="475488"/>
          </a:xfrm>
          <a:prstGeom prst="roundRect">
            <a:avLst>
              <a:gd name="adj" fmla="val 15385"/>
            </a:avLst>
          </a:prstGeom>
          <a:solidFill>
            <a:srgbClr val="FFFFFF"/>
          </a:solidFill>
          <a:ln w="12700">
            <a:solidFill>
              <a:srgbClr val="D0D0D0"/>
            </a:solidFill>
            <a:prstDash val="solid"/>
          </a:ln>
        </p:spPr>
        <p:txBody>
          <a:bodyPr/>
          <a:lstStyle/>
          <a:p>
            <a:endParaRPr/>
          </a:p>
        </p:txBody>
      </p:sp>
      <p:sp>
        <p:nvSpPr>
          <p:cNvPr id="42" name="Text 40"/>
          <p:cNvSpPr/>
          <p:nvPr/>
        </p:nvSpPr>
        <p:spPr>
          <a:xfrm>
            <a:off x="9098280" y="3456432"/>
            <a:ext cx="2103120" cy="475488"/>
          </a:xfrm>
          <a:prstGeom prst="rect">
            <a:avLst/>
          </a:prstGeom>
          <a:noFill/>
          <a:ln/>
        </p:spPr>
        <p:txBody>
          <a:bodyPr wrap="square" lIns="0" tIns="0" rIns="0" bIns="0" rtlCol="0" anchor="ctr"/>
          <a:lstStyle/>
          <a:p>
            <a:pPr marL="0" indent="0" algn="ctr">
              <a:buNone/>
            </a:pPr>
            <a:r>
              <a:rPr lang="en-US" sz="1100" dirty="0">
                <a:solidFill>
                  <a:srgbClr val="222222"/>
                </a:solidFill>
                <a:latin typeface="에이투지체 5 Medium" pitchFamily="34" charset="0"/>
                <a:ea typeface="에이투지체 5 Medium" pitchFamily="34" charset="-122"/>
                <a:cs typeface="에이투지체 5 Medium" pitchFamily="34" charset="-120"/>
              </a:rPr>
              <a:t>제휴전략본부</a:t>
            </a:r>
            <a:endParaRPr lang="en-US" sz="1100" dirty="0"/>
          </a:p>
        </p:txBody>
      </p:sp>
      <p:sp>
        <p:nvSpPr>
          <p:cNvPr id="43" name="Shape 41"/>
          <p:cNvSpPr/>
          <p:nvPr/>
        </p:nvSpPr>
        <p:spPr>
          <a:xfrm>
            <a:off x="10149840" y="3931920"/>
            <a:ext cx="0" cy="201168"/>
          </a:xfrm>
          <a:prstGeom prst="line">
            <a:avLst/>
          </a:prstGeom>
          <a:noFill/>
          <a:ln w="12700">
            <a:solidFill>
              <a:srgbClr val="D0D0D0"/>
            </a:solidFill>
            <a:prstDash val="solid"/>
          </a:ln>
        </p:spPr>
        <p:txBody>
          <a:bodyPr/>
          <a:lstStyle/>
          <a:p>
            <a:endParaRPr/>
          </a:p>
        </p:txBody>
      </p:sp>
      <p:sp>
        <p:nvSpPr>
          <p:cNvPr id="44" name="Shape 42"/>
          <p:cNvSpPr/>
          <p:nvPr/>
        </p:nvSpPr>
        <p:spPr>
          <a:xfrm>
            <a:off x="9098280" y="4133088"/>
            <a:ext cx="2103120" cy="475488"/>
          </a:xfrm>
          <a:prstGeom prst="roundRect">
            <a:avLst>
              <a:gd name="adj" fmla="val 15385"/>
            </a:avLst>
          </a:prstGeom>
          <a:solidFill>
            <a:srgbClr val="FFFFFF"/>
          </a:solidFill>
          <a:ln w="12700">
            <a:solidFill>
              <a:srgbClr val="D0D0D0"/>
            </a:solidFill>
            <a:prstDash val="solid"/>
          </a:ln>
        </p:spPr>
        <p:txBody>
          <a:bodyPr/>
          <a:lstStyle/>
          <a:p>
            <a:endParaRPr/>
          </a:p>
        </p:txBody>
      </p:sp>
      <p:sp>
        <p:nvSpPr>
          <p:cNvPr id="45" name="Text 43"/>
          <p:cNvSpPr/>
          <p:nvPr/>
        </p:nvSpPr>
        <p:spPr>
          <a:xfrm>
            <a:off x="9098280" y="4133088"/>
            <a:ext cx="2103120" cy="475488"/>
          </a:xfrm>
          <a:prstGeom prst="rect">
            <a:avLst/>
          </a:prstGeom>
          <a:noFill/>
          <a:ln/>
        </p:spPr>
        <p:txBody>
          <a:bodyPr wrap="square" lIns="0" tIns="0" rIns="0" bIns="0" rtlCol="0" anchor="ctr"/>
          <a:lstStyle/>
          <a:p>
            <a:pPr marL="0" indent="0" algn="ctr">
              <a:buNone/>
            </a:pPr>
            <a:r>
              <a:rPr lang="en-US" sz="1100" dirty="0">
                <a:solidFill>
                  <a:srgbClr val="222222"/>
                </a:solidFill>
                <a:latin typeface="에이투지체 5 Medium" pitchFamily="34" charset="0"/>
                <a:ea typeface="에이투지체 5 Medium" pitchFamily="34" charset="-122"/>
                <a:cs typeface="에이투지체 5 Medium" pitchFamily="34" charset="-120"/>
              </a:rPr>
              <a:t>제휴마케팅본부</a:t>
            </a:r>
            <a:endParaRPr lang="en-US" sz="1100" dirty="0"/>
          </a:p>
        </p:txBody>
      </p:sp>
      <p:sp>
        <p:nvSpPr>
          <p:cNvPr id="46" name="Shape 44"/>
          <p:cNvSpPr/>
          <p:nvPr/>
        </p:nvSpPr>
        <p:spPr>
          <a:xfrm>
            <a:off x="10149840" y="4608576"/>
            <a:ext cx="0" cy="201168"/>
          </a:xfrm>
          <a:prstGeom prst="line">
            <a:avLst/>
          </a:prstGeom>
          <a:noFill/>
          <a:ln w="12700">
            <a:solidFill>
              <a:srgbClr val="D0D0D0"/>
            </a:solidFill>
            <a:prstDash val="solid"/>
          </a:ln>
        </p:spPr>
        <p:txBody>
          <a:bodyPr/>
          <a:lstStyle/>
          <a:p>
            <a:endParaRPr/>
          </a:p>
        </p:txBody>
      </p:sp>
      <p:sp>
        <p:nvSpPr>
          <p:cNvPr id="47" name="Shape 45"/>
          <p:cNvSpPr/>
          <p:nvPr/>
        </p:nvSpPr>
        <p:spPr>
          <a:xfrm>
            <a:off x="9098280" y="4809744"/>
            <a:ext cx="2103120" cy="475488"/>
          </a:xfrm>
          <a:prstGeom prst="roundRect">
            <a:avLst>
              <a:gd name="adj" fmla="val 15385"/>
            </a:avLst>
          </a:prstGeom>
          <a:solidFill>
            <a:srgbClr val="FFFFFF"/>
          </a:solidFill>
          <a:ln w="12700">
            <a:solidFill>
              <a:srgbClr val="D0D0D0"/>
            </a:solidFill>
            <a:prstDash val="solid"/>
          </a:ln>
        </p:spPr>
        <p:txBody>
          <a:bodyPr/>
          <a:lstStyle/>
          <a:p>
            <a:endParaRPr/>
          </a:p>
        </p:txBody>
      </p:sp>
      <p:sp>
        <p:nvSpPr>
          <p:cNvPr id="48" name="Text 46"/>
          <p:cNvSpPr/>
          <p:nvPr/>
        </p:nvSpPr>
        <p:spPr>
          <a:xfrm>
            <a:off x="9098280" y="4809744"/>
            <a:ext cx="2103120" cy="475488"/>
          </a:xfrm>
          <a:prstGeom prst="rect">
            <a:avLst/>
          </a:prstGeom>
          <a:noFill/>
          <a:ln/>
        </p:spPr>
        <p:txBody>
          <a:bodyPr wrap="square" lIns="0" tIns="0" rIns="0" bIns="0" rtlCol="0" anchor="ctr"/>
          <a:lstStyle/>
          <a:p>
            <a:pPr marL="0" indent="0" algn="ctr">
              <a:buNone/>
            </a:pPr>
            <a:r>
              <a:rPr lang="en-US" sz="1100" dirty="0">
                <a:solidFill>
                  <a:srgbClr val="222222"/>
                </a:solidFill>
                <a:latin typeface="에이투지체 5 Medium" pitchFamily="34" charset="0"/>
                <a:ea typeface="에이투지체 5 Medium" pitchFamily="34" charset="-122"/>
                <a:cs typeface="에이투지체 5 Medium" pitchFamily="34" charset="-120"/>
              </a:rPr>
              <a:t>개발본부</a:t>
            </a:r>
            <a:endParaRPr lang="en-US" sz="1100" dirty="0"/>
          </a:p>
        </p:txBody>
      </p:sp>
      <p:sp>
        <p:nvSpPr>
          <p:cNvPr id="49" name="Text 47"/>
          <p:cNvSpPr/>
          <p:nvPr/>
        </p:nvSpPr>
        <p:spPr>
          <a:xfrm>
            <a:off x="548640" y="5989320"/>
            <a:ext cx="11064240" cy="274320"/>
          </a:xfrm>
          <a:prstGeom prst="rect">
            <a:avLst/>
          </a:prstGeom>
          <a:noFill/>
          <a:ln/>
        </p:spPr>
        <p:txBody>
          <a:bodyPr wrap="square" lIns="0" tIns="0" rIns="0" bIns="0" rtlCol="0" anchor="ctr"/>
          <a:lstStyle/>
          <a:p>
            <a:pPr marL="0" indent="0">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브랜드광고센터는 유입부터 전환까지 풀퍼널 운영을 전담하는 조직으로, 두드림B&amp;B 과업의 수행 주체입니다</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1 · 회사 소개</a:t>
            </a:r>
            <a:endParaRPr lang="en-US" sz="900" dirty="0"/>
          </a:p>
        </p:txBody>
      </p:sp>
      <p:sp>
        <p:nvSpPr>
          <p:cNvPr id="5" name="Text 3"/>
          <p:cNvSpPr/>
          <p:nvPr/>
        </p:nvSpPr>
        <p:spPr>
          <a:xfrm>
            <a:off x="548640" y="6473952"/>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6" name="Text 4"/>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7" name="Text 5"/>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222222"/>
                </a:solidFill>
                <a:latin typeface="에이투지체 6 SemiBold" pitchFamily="34" charset="0"/>
                <a:ea typeface="에이투지체 6 SemiBold" pitchFamily="34" charset="-122"/>
                <a:cs typeface="에이투지체 6 SemiBold" pitchFamily="34" charset="-120"/>
              </a:rPr>
              <a:t>08</a:t>
            </a:r>
            <a:endParaRPr lang="en-US" sz="800" dirty="0"/>
          </a:p>
        </p:txBody>
      </p:sp>
      <p:sp>
        <p:nvSpPr>
          <p:cNvPr id="23" name="Text 21"/>
          <p:cNvSpPr/>
          <p:nvPr/>
        </p:nvSpPr>
        <p:spPr>
          <a:xfrm>
            <a:off x="411480" y="804903"/>
            <a:ext cx="11064240" cy="686535"/>
          </a:xfrm>
          <a:prstGeom prst="rect">
            <a:avLst/>
          </a:prstGeom>
          <a:noFill/>
          <a:ln/>
        </p:spPr>
        <p:txBody>
          <a:bodyPr wrap="square" lIns="0" tIns="0" rIns="0" bIns="0" rtlCol="0" anchor="ctr"/>
          <a:lstStyle/>
          <a:p>
            <a:pPr defTabSz="914446">
              <a:lnSpc>
                <a:spcPct val="112000"/>
              </a:lnSpc>
              <a:defRPr/>
            </a:pPr>
            <a:r>
              <a:rPr lang="ko-KR" altLang="en-US" spc="-80" dirty="0">
                <a:solidFill>
                  <a:schemeClr val="bg1"/>
                </a:solidFill>
                <a:highlight>
                  <a:srgbClr val="0000FF"/>
                </a:highlight>
                <a:latin typeface="에이투지체 8 ExtraBold" pitchFamily="50" charset="-127"/>
                <a:ea typeface="에이투지체 8 ExtraBold" pitchFamily="50" charset="-127"/>
                <a:cs typeface="에이투지체 6 SemiBold" panose="02000703000000020004" pitchFamily="2" charset="-127"/>
              </a:rPr>
              <a:t>국내외 전반적인 온라인 플랫폼의 공식 및 프리미엄 파트너사</a:t>
            </a:r>
            <a:r>
              <a:rPr lang="ko-KR" altLang="en-US" spc="-80" dirty="0">
                <a:solidFill>
                  <a:schemeClr val="bg1"/>
                </a:solidFill>
                <a:latin typeface="에이투지체 8 ExtraBold" pitchFamily="50" charset="-127"/>
                <a:ea typeface="에이투지체 8 ExtraBold" pitchFamily="50" charset="-127"/>
                <a:cs typeface="에이투지체 6 SemiBold" panose="02000703000000020004" pitchFamily="2" charset="-127"/>
              </a:rPr>
              <a:t>로</a:t>
            </a:r>
            <a:endParaRPr lang="en-US" altLang="ko-KR" sz="2400" spc="-80" dirty="0">
              <a:solidFill>
                <a:schemeClr val="bg1"/>
              </a:solidFill>
              <a:latin typeface="에이투지체 8 ExtraBold" pitchFamily="50" charset="-127"/>
              <a:ea typeface="에이투지체 8 ExtraBold" pitchFamily="50" charset="-127"/>
              <a:cs typeface="에이투지체 6 SemiBold" panose="02000703000000020004" pitchFamily="2" charset="-127"/>
            </a:endParaRPr>
          </a:p>
          <a:p>
            <a:pPr lvl="0">
              <a:lnSpc>
                <a:spcPct val="112000"/>
              </a:lnSpc>
              <a:defRPr/>
            </a:pPr>
            <a:r>
              <a:rPr lang="ko-KR" altLang="en-US" spc="-80" dirty="0">
                <a:latin typeface="에이투지체 8 ExtraBold" pitchFamily="50" charset="-127"/>
                <a:ea typeface="에이투지체 8 ExtraBold" pitchFamily="50" charset="-127"/>
                <a:cs typeface="에이투지체 6 SemiBold" panose="02000703000000020004" pitchFamily="2" charset="-127"/>
              </a:rPr>
              <a:t>컨설팅</a:t>
            </a:r>
            <a:r>
              <a:rPr lang="en-US" altLang="ko-KR" spc="-80" dirty="0">
                <a:latin typeface="에이투지체 8 ExtraBold" pitchFamily="50" charset="-127"/>
                <a:ea typeface="에이투지체 8 ExtraBold" pitchFamily="50" charset="-127"/>
                <a:cs typeface="에이투지체 6 SemiBold" panose="02000703000000020004" pitchFamily="2" charset="-127"/>
              </a:rPr>
              <a:t>, </a:t>
            </a:r>
            <a:r>
              <a:rPr lang="ko-KR" altLang="en-US" spc="-80" dirty="0">
                <a:latin typeface="에이투지체 8 ExtraBold" pitchFamily="50" charset="-127"/>
                <a:ea typeface="에이투지체 8 ExtraBold" pitchFamily="50" charset="-127"/>
                <a:cs typeface="에이투지체 6 SemiBold" panose="02000703000000020004" pitchFamily="2" charset="-127"/>
              </a:rPr>
              <a:t>세미나를 통하여  </a:t>
            </a:r>
            <a:r>
              <a:rPr lang="ko-KR" altLang="en-US" spc="-80" dirty="0">
                <a:latin typeface="에이투지체 8 ExtraBold" pitchFamily="50" charset="-127"/>
                <a:ea typeface="에이투지체 8 ExtraBold" pitchFamily="50" charset="-127"/>
              </a:rPr>
              <a:t>광고 성과 창출</a:t>
            </a:r>
            <a:r>
              <a:rPr lang="ko-KR" altLang="en-US" spc="-80" dirty="0">
                <a:latin typeface="에이투지체 8 ExtraBold" pitchFamily="50" charset="-127"/>
                <a:ea typeface="에이투지체 8 ExtraBold" pitchFamily="50" charset="-127"/>
                <a:cs typeface="에이투지체 6 SemiBold" panose="02000703000000020004" pitchFamily="2" charset="-127"/>
              </a:rPr>
              <a:t>을 위해 협력합니다</a:t>
            </a:r>
            <a:r>
              <a:rPr lang="en-US" altLang="ko-KR" spc="-80" dirty="0">
                <a:latin typeface="에이투지체 8 ExtraBold" pitchFamily="50" charset="-127"/>
                <a:ea typeface="에이투지체 8 ExtraBold" pitchFamily="50" charset="-127"/>
                <a:cs typeface="에이투지체 6 SemiBold" panose="02000703000000020004" pitchFamily="2" charset="-127"/>
              </a:rPr>
              <a:t>.</a:t>
            </a:r>
            <a:endParaRPr lang="ko-KR" altLang="en-US" sz="2400" spc="-80" dirty="0">
              <a:latin typeface="에이투지체 8 ExtraBold" pitchFamily="50" charset="-127"/>
              <a:ea typeface="에이투지체 8 ExtraBold" pitchFamily="50" charset="-127"/>
              <a:cs typeface="에이투지체 6 SemiBold" panose="02000703000000020004" pitchFamily="2" charset="-127"/>
            </a:endParaRPr>
          </a:p>
        </p:txBody>
      </p:sp>
      <p:grpSp>
        <p:nvGrpSpPr>
          <p:cNvPr id="102" name="그룹 101">
            <a:extLst>
              <a:ext uri="{FF2B5EF4-FFF2-40B4-BE49-F238E27FC236}">
                <a16:creationId xmlns:a16="http://schemas.microsoft.com/office/drawing/2014/main" id="{1D6F4525-7AA5-A15C-9A0E-0E830C5CF4B4}"/>
              </a:ext>
            </a:extLst>
          </p:cNvPr>
          <p:cNvGrpSpPr/>
          <p:nvPr/>
        </p:nvGrpSpPr>
        <p:grpSpPr>
          <a:xfrm>
            <a:off x="-530536" y="1972707"/>
            <a:ext cx="13253072" cy="3255858"/>
            <a:chOff x="-53637" y="2645420"/>
            <a:chExt cx="12299273" cy="3021540"/>
          </a:xfrm>
        </p:grpSpPr>
        <p:sp>
          <p:nvSpPr>
            <p:cNvPr id="10" name="Text 8"/>
            <p:cNvSpPr/>
            <p:nvPr/>
          </p:nvSpPr>
          <p:spPr>
            <a:xfrm>
              <a:off x="634661" y="4004262"/>
              <a:ext cx="1847088" cy="731520"/>
            </a:xfrm>
            <a:prstGeom prst="rect">
              <a:avLst/>
            </a:prstGeom>
            <a:noFill/>
            <a:ln/>
          </p:spPr>
          <p:txBody>
            <a:bodyPr wrap="square" lIns="0" tIns="0" rIns="0" bIns="0" rtlCol="0" anchor="ctr"/>
            <a:lstStyle/>
            <a:p>
              <a:pPr marL="0" indent="0" algn="ctr">
                <a:lnSpc>
                  <a:spcPts val="1300"/>
                </a:lnSpc>
                <a:buNone/>
              </a:pPr>
              <a:r>
                <a:rPr lang="en-US" sz="950" dirty="0">
                  <a:solidFill>
                    <a:srgbClr val="5C5C5C"/>
                  </a:solidFill>
                  <a:latin typeface="에이투지체 5 Medium" pitchFamily="34" charset="0"/>
                  <a:ea typeface="에이투지체 5 Medium" pitchFamily="34" charset="-122"/>
                  <a:cs typeface="에이투지체 5 Medium" pitchFamily="34" charset="-120"/>
                </a:rPr>
                <a:t>검색 · 쇼핑 · 디스플레이</a:t>
              </a:r>
              <a:endParaRPr lang="en-US" sz="950" dirty="0"/>
            </a:p>
            <a:p>
              <a:pPr marL="0" indent="0" algn="ctr">
                <a:lnSpc>
                  <a:spcPts val="1300"/>
                </a:lnSpc>
                <a:buNone/>
              </a:pPr>
              <a:r>
                <a:rPr lang="en-US" sz="950" dirty="0">
                  <a:solidFill>
                    <a:srgbClr val="5C5C5C"/>
                  </a:solidFill>
                  <a:latin typeface="에이투지체 5 Medium" pitchFamily="34" charset="0"/>
                  <a:ea typeface="에이투지체 5 Medium" pitchFamily="34" charset="-122"/>
                  <a:cs typeface="에이투지체 5 Medium" pitchFamily="34" charset="-120"/>
                </a:rPr>
                <a:t>공식 광고 파트너</a:t>
              </a:r>
              <a:endParaRPr lang="en-US" sz="950" dirty="0"/>
            </a:p>
          </p:txBody>
        </p:sp>
        <p:sp>
          <p:nvSpPr>
            <p:cNvPr id="13" name="Text 11"/>
            <p:cNvSpPr/>
            <p:nvPr/>
          </p:nvSpPr>
          <p:spPr>
            <a:xfrm>
              <a:off x="2975525" y="4004262"/>
              <a:ext cx="1847088" cy="731520"/>
            </a:xfrm>
            <a:prstGeom prst="rect">
              <a:avLst/>
            </a:prstGeom>
            <a:noFill/>
            <a:ln/>
          </p:spPr>
          <p:txBody>
            <a:bodyPr wrap="square" lIns="0" tIns="0" rIns="0" bIns="0" rtlCol="0" anchor="ctr"/>
            <a:lstStyle/>
            <a:p>
              <a:pPr marL="0" indent="0" algn="ctr">
                <a:lnSpc>
                  <a:spcPts val="1300"/>
                </a:lnSpc>
                <a:buNone/>
              </a:pPr>
              <a:r>
                <a:rPr lang="en-US" sz="950" dirty="0">
                  <a:solidFill>
                    <a:srgbClr val="5C5C5C"/>
                  </a:solidFill>
                  <a:latin typeface="에이투지체 5 Medium" pitchFamily="34" charset="0"/>
                  <a:ea typeface="에이투지체 5 Medium" pitchFamily="34" charset="-122"/>
                  <a:cs typeface="에이투지체 5 Medium" pitchFamily="34" charset="-120"/>
                </a:rPr>
                <a:t>비즈니스 파트너</a:t>
              </a:r>
              <a:endParaRPr lang="en-US" sz="950" dirty="0"/>
            </a:p>
            <a:p>
              <a:pPr marL="0" indent="0" algn="ctr">
                <a:lnSpc>
                  <a:spcPts val="1300"/>
                </a:lnSpc>
                <a:buNone/>
              </a:pPr>
              <a:r>
                <a:rPr lang="en-US" sz="950" dirty="0">
                  <a:solidFill>
                    <a:srgbClr val="5C5C5C"/>
                  </a:solidFill>
                  <a:latin typeface="에이투지체 5 Medium" pitchFamily="34" charset="0"/>
                  <a:ea typeface="에이투지체 5 Medium" pitchFamily="34" charset="-122"/>
                  <a:cs typeface="에이투지체 5 Medium" pitchFamily="34" charset="-120"/>
                </a:rPr>
                <a:t>BUSINESS PARTNER</a:t>
              </a:r>
              <a:endParaRPr lang="en-US" sz="950" dirty="0"/>
            </a:p>
          </p:txBody>
        </p:sp>
        <p:sp>
          <p:nvSpPr>
            <p:cNvPr id="16" name="Text 14"/>
            <p:cNvSpPr/>
            <p:nvPr/>
          </p:nvSpPr>
          <p:spPr>
            <a:xfrm>
              <a:off x="5316389" y="4004262"/>
              <a:ext cx="1847088" cy="731520"/>
            </a:xfrm>
            <a:prstGeom prst="rect">
              <a:avLst/>
            </a:prstGeom>
            <a:noFill/>
            <a:ln/>
          </p:spPr>
          <p:txBody>
            <a:bodyPr wrap="square" lIns="0" tIns="0" rIns="0" bIns="0" rtlCol="0" anchor="ctr"/>
            <a:lstStyle/>
            <a:p>
              <a:pPr marL="0" indent="0" algn="ctr">
                <a:lnSpc>
                  <a:spcPts val="1300"/>
                </a:lnSpc>
                <a:buNone/>
              </a:pPr>
              <a:r>
                <a:rPr lang="en-US" sz="950" dirty="0">
                  <a:solidFill>
                    <a:srgbClr val="5C5C5C"/>
                  </a:solidFill>
                  <a:latin typeface="에이투지체 5 Medium" pitchFamily="34" charset="0"/>
                  <a:ea typeface="에이투지체 5 Medium" pitchFamily="34" charset="-122"/>
                  <a:cs typeface="에이투지체 5 Medium" pitchFamily="34" charset="-120"/>
                </a:rPr>
                <a:t>프리미어 파트너</a:t>
              </a:r>
              <a:endParaRPr lang="en-US" sz="950" dirty="0"/>
            </a:p>
            <a:p>
              <a:pPr marL="0" indent="0" algn="ctr">
                <a:lnSpc>
                  <a:spcPts val="1300"/>
                </a:lnSpc>
                <a:buNone/>
              </a:pPr>
              <a:r>
                <a:rPr lang="en-US" sz="950" dirty="0">
                  <a:solidFill>
                    <a:srgbClr val="5C5C5C"/>
                  </a:solidFill>
                  <a:latin typeface="에이투지체 5 Medium" pitchFamily="34" charset="0"/>
                  <a:ea typeface="에이투지체 5 Medium" pitchFamily="34" charset="-122"/>
                  <a:cs typeface="에이투지체 5 Medium" pitchFamily="34" charset="-120"/>
                </a:rPr>
                <a:t>PREMIER PARTNER</a:t>
              </a:r>
              <a:endParaRPr lang="en-US" sz="950" dirty="0"/>
            </a:p>
          </p:txBody>
        </p:sp>
        <p:sp>
          <p:nvSpPr>
            <p:cNvPr id="19" name="Text 17"/>
            <p:cNvSpPr/>
            <p:nvPr/>
          </p:nvSpPr>
          <p:spPr>
            <a:xfrm>
              <a:off x="7657253" y="4004262"/>
              <a:ext cx="1847088" cy="731520"/>
            </a:xfrm>
            <a:prstGeom prst="rect">
              <a:avLst/>
            </a:prstGeom>
            <a:noFill/>
            <a:ln/>
          </p:spPr>
          <p:txBody>
            <a:bodyPr wrap="square" lIns="0" tIns="0" rIns="0" bIns="0" rtlCol="0" anchor="ctr"/>
            <a:lstStyle/>
            <a:p>
              <a:pPr marL="0" indent="0" algn="ctr">
                <a:lnSpc>
                  <a:spcPts val="1300"/>
                </a:lnSpc>
                <a:buNone/>
              </a:pPr>
              <a:r>
                <a:rPr lang="en-US" sz="950" dirty="0">
                  <a:solidFill>
                    <a:srgbClr val="5C5C5C"/>
                  </a:solidFill>
                  <a:latin typeface="에이투지체 5 Medium" pitchFamily="34" charset="0"/>
                  <a:ea typeface="에이투지체 5 Medium" pitchFamily="34" charset="-122"/>
                  <a:cs typeface="에이투지체 5 Medium" pitchFamily="34" charset="-120"/>
                </a:rPr>
                <a:t>프리미엄 파트너</a:t>
              </a:r>
              <a:endParaRPr lang="en-US" sz="950" dirty="0"/>
            </a:p>
            <a:p>
              <a:pPr marL="0" indent="0" algn="ctr">
                <a:lnSpc>
                  <a:spcPts val="1300"/>
                </a:lnSpc>
                <a:buNone/>
              </a:pPr>
              <a:r>
                <a:rPr lang="en-US" sz="950" dirty="0">
                  <a:solidFill>
                    <a:srgbClr val="5C5C5C"/>
                  </a:solidFill>
                  <a:latin typeface="에이투지체 5 Medium" pitchFamily="34" charset="0"/>
                  <a:ea typeface="에이투지체 5 Medium" pitchFamily="34" charset="-122"/>
                  <a:cs typeface="에이투지체 5 Medium" pitchFamily="34" charset="-120"/>
                </a:rPr>
                <a:t>PREMIUM PARTNER</a:t>
              </a:r>
              <a:endParaRPr lang="en-US" sz="950" dirty="0"/>
            </a:p>
          </p:txBody>
        </p:sp>
        <p:grpSp>
          <p:nvGrpSpPr>
            <p:cNvPr id="46" name="그룹 45">
              <a:extLst>
                <a:ext uri="{FF2B5EF4-FFF2-40B4-BE49-F238E27FC236}">
                  <a16:creationId xmlns:a16="http://schemas.microsoft.com/office/drawing/2014/main" id="{6267C965-A320-453A-B493-2DBA24934A8E}"/>
                </a:ext>
              </a:extLst>
            </p:cNvPr>
            <p:cNvGrpSpPr/>
            <p:nvPr/>
          </p:nvGrpSpPr>
          <p:grpSpPr>
            <a:xfrm>
              <a:off x="647090" y="2651838"/>
              <a:ext cx="10808395" cy="2027430"/>
              <a:chOff x="735292" y="2987166"/>
              <a:chExt cx="10808395" cy="2027430"/>
            </a:xfrm>
          </p:grpSpPr>
          <p:sp>
            <p:nvSpPr>
              <p:cNvPr id="47" name="TextBox 46">
                <a:extLst>
                  <a:ext uri="{FF2B5EF4-FFF2-40B4-BE49-F238E27FC236}">
                    <a16:creationId xmlns:a16="http://schemas.microsoft.com/office/drawing/2014/main" id="{22964162-21D6-EB25-F3B9-A8B454F447DA}"/>
                  </a:ext>
                </a:extLst>
              </p:cNvPr>
              <p:cNvSpPr txBox="1"/>
              <p:nvPr/>
            </p:nvSpPr>
            <p:spPr>
              <a:xfrm>
                <a:off x="2909735" y="2997270"/>
                <a:ext cx="1913655" cy="307777"/>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ko-KR" altLang="en-US"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rPr>
                  <a:t>구글</a:t>
                </a:r>
                <a:r>
                  <a:rPr lang="en-US" altLang="ko-KR"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rPr>
                  <a:t> </a:t>
                </a:r>
                <a:r>
                  <a:rPr lang="ko-KR" altLang="en-US"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rPr>
                  <a:t>프리미어 파트너</a:t>
                </a:r>
                <a:endParaRPr lang="en-US" altLang="ko-KR"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endParaRPr>
              </a:p>
            </p:txBody>
          </p:sp>
          <p:sp>
            <p:nvSpPr>
              <p:cNvPr id="48" name="TextBox 47">
                <a:extLst>
                  <a:ext uri="{FF2B5EF4-FFF2-40B4-BE49-F238E27FC236}">
                    <a16:creationId xmlns:a16="http://schemas.microsoft.com/office/drawing/2014/main" id="{75268150-7DA6-BF07-270B-BFD2258E9160}"/>
                  </a:ext>
                </a:extLst>
              </p:cNvPr>
              <p:cNvSpPr txBox="1"/>
              <p:nvPr/>
            </p:nvSpPr>
            <p:spPr>
              <a:xfrm>
                <a:off x="735292" y="2987166"/>
                <a:ext cx="1734531" cy="307777"/>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en-US" altLang="ko-KR"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rPr>
                  <a:t>META BP </a:t>
                </a:r>
                <a:r>
                  <a:rPr lang="ko-KR" altLang="en-US"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rPr>
                  <a:t>취득</a:t>
                </a:r>
                <a:endParaRPr lang="en-US" altLang="ko-KR"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endParaRPr>
              </a:p>
            </p:txBody>
          </p:sp>
          <p:sp>
            <p:nvSpPr>
              <p:cNvPr id="49" name="TextBox 48">
                <a:extLst>
                  <a:ext uri="{FF2B5EF4-FFF2-40B4-BE49-F238E27FC236}">
                    <a16:creationId xmlns:a16="http://schemas.microsoft.com/office/drawing/2014/main" id="{1D72A55E-01D9-3CBE-B328-75C75706B126}"/>
                  </a:ext>
                </a:extLst>
              </p:cNvPr>
              <p:cNvSpPr txBox="1"/>
              <p:nvPr/>
            </p:nvSpPr>
            <p:spPr>
              <a:xfrm>
                <a:off x="4992135" y="2988416"/>
                <a:ext cx="2225655" cy="307777"/>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ko-KR" altLang="en-US"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rPr>
                  <a:t>네이버</a:t>
                </a:r>
                <a:r>
                  <a:rPr lang="en-US" altLang="ko-KR"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rPr>
                  <a:t> </a:t>
                </a:r>
                <a:r>
                  <a:rPr lang="ko-KR" altLang="en-US"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rPr>
                  <a:t>공식 광고 파트너</a:t>
                </a:r>
                <a:endParaRPr lang="en-US" altLang="ko-KR"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endParaRPr>
              </a:p>
            </p:txBody>
          </p:sp>
          <p:sp>
            <p:nvSpPr>
              <p:cNvPr id="50" name="TextBox 49">
                <a:extLst>
                  <a:ext uri="{FF2B5EF4-FFF2-40B4-BE49-F238E27FC236}">
                    <a16:creationId xmlns:a16="http://schemas.microsoft.com/office/drawing/2014/main" id="{1EB543E6-7EE4-E7BB-6CCD-80149982246A}"/>
                  </a:ext>
                </a:extLst>
              </p:cNvPr>
              <p:cNvSpPr txBox="1"/>
              <p:nvPr/>
            </p:nvSpPr>
            <p:spPr>
              <a:xfrm>
                <a:off x="7285139" y="2997270"/>
                <a:ext cx="2200584" cy="307777"/>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ko-KR" altLang="en-US"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rPr>
                  <a:t>카카오</a:t>
                </a:r>
                <a:r>
                  <a:rPr lang="en-US" altLang="ko-KR"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rPr>
                  <a:t> </a:t>
                </a:r>
                <a:r>
                  <a:rPr lang="ko-KR" altLang="en-US"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rPr>
                  <a:t>프리미엄 파트너</a:t>
                </a:r>
                <a:endParaRPr lang="en-US" altLang="ko-KR" sz="1400" dirty="0">
                  <a:solidFill>
                    <a:schemeClr val="bg1"/>
                  </a:solidFill>
                  <a:latin typeface="에이투지체 5 Medium" panose="02000603000000020004" pitchFamily="2" charset="-127"/>
                  <a:ea typeface="에이투지체 5 Medium" panose="02000603000000020004" pitchFamily="2" charset="-127"/>
                  <a:cs typeface="에이투지체 4 Regular" panose="02000503000000020004" pitchFamily="2" charset="-127"/>
                </a:endParaRPr>
              </a:p>
            </p:txBody>
          </p:sp>
          <p:grpSp>
            <p:nvGrpSpPr>
              <p:cNvPr id="52" name="그룹 51">
                <a:extLst>
                  <a:ext uri="{FF2B5EF4-FFF2-40B4-BE49-F238E27FC236}">
                    <a16:creationId xmlns:a16="http://schemas.microsoft.com/office/drawing/2014/main" id="{B9C61DD6-04AA-3736-5525-52A95F6E5AF6}"/>
                  </a:ext>
                </a:extLst>
              </p:cNvPr>
              <p:cNvGrpSpPr/>
              <p:nvPr/>
            </p:nvGrpSpPr>
            <p:grpSpPr>
              <a:xfrm>
                <a:off x="793197" y="3305045"/>
                <a:ext cx="10750490" cy="1709551"/>
                <a:chOff x="793197" y="3305045"/>
                <a:chExt cx="10750490" cy="1709551"/>
              </a:xfrm>
            </p:grpSpPr>
            <p:sp>
              <p:nvSpPr>
                <p:cNvPr id="53" name="사각형: 둥근 모서리 52">
                  <a:extLst>
                    <a:ext uri="{FF2B5EF4-FFF2-40B4-BE49-F238E27FC236}">
                      <a16:creationId xmlns:a16="http://schemas.microsoft.com/office/drawing/2014/main" id="{155EC0B3-0579-0ADC-E28E-C4486ACE3599}"/>
                    </a:ext>
                  </a:extLst>
                </p:cNvPr>
                <p:cNvSpPr/>
                <p:nvPr/>
              </p:nvSpPr>
              <p:spPr>
                <a:xfrm>
                  <a:off x="793197" y="3305045"/>
                  <a:ext cx="1734531" cy="1709551"/>
                </a:xfrm>
                <a:prstGeom prst="roundRect">
                  <a:avLst>
                    <a:gd name="adj" fmla="val 8171"/>
                  </a:avLst>
                </a:prstGeom>
                <a:solidFill>
                  <a:schemeClr val="bg1"/>
                </a:solidFill>
                <a:ln>
                  <a:noFill/>
                </a:ln>
                <a:effectLst>
                  <a:outerShdw blurRad="2540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46">
                    <a:defRPr/>
                  </a:pPr>
                  <a:endParaRPr lang="ko-KR" altLang="en-US" dirty="0">
                    <a:solidFill>
                      <a:prstClr val="white"/>
                    </a:solidFill>
                    <a:latin typeface="맑은 고딕" panose="02110004020202020204"/>
                    <a:ea typeface="맑은 고딕" panose="020B0503020000020004" pitchFamily="50" charset="-127"/>
                  </a:endParaRPr>
                </a:p>
              </p:txBody>
            </p:sp>
            <p:sp>
              <p:nvSpPr>
                <p:cNvPr id="54" name="사각형: 둥근 모서리 53">
                  <a:extLst>
                    <a:ext uri="{FF2B5EF4-FFF2-40B4-BE49-F238E27FC236}">
                      <a16:creationId xmlns:a16="http://schemas.microsoft.com/office/drawing/2014/main" id="{22661C45-397F-41F8-7E4A-06478E97ED79}"/>
                    </a:ext>
                  </a:extLst>
                </p:cNvPr>
                <p:cNvSpPr/>
                <p:nvPr/>
              </p:nvSpPr>
              <p:spPr>
                <a:xfrm>
                  <a:off x="3047187" y="3305045"/>
                  <a:ext cx="1734531" cy="1709551"/>
                </a:xfrm>
                <a:prstGeom prst="roundRect">
                  <a:avLst>
                    <a:gd name="adj" fmla="val 8171"/>
                  </a:avLst>
                </a:prstGeom>
                <a:solidFill>
                  <a:schemeClr val="bg1"/>
                </a:solidFill>
                <a:ln>
                  <a:noFill/>
                </a:ln>
                <a:effectLst>
                  <a:outerShdw blurRad="2540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46">
                    <a:defRPr/>
                  </a:pPr>
                  <a:endParaRPr lang="ko-KR" altLang="en-US" dirty="0">
                    <a:solidFill>
                      <a:prstClr val="white"/>
                    </a:solidFill>
                    <a:latin typeface="맑은 고딕" panose="02110004020202020204"/>
                    <a:ea typeface="맑은 고딕" panose="020B0503020000020004" pitchFamily="50" charset="-127"/>
                  </a:endParaRPr>
                </a:p>
              </p:txBody>
            </p:sp>
            <p:sp>
              <p:nvSpPr>
                <p:cNvPr id="55" name="사각형: 둥근 모서리 54">
                  <a:extLst>
                    <a:ext uri="{FF2B5EF4-FFF2-40B4-BE49-F238E27FC236}">
                      <a16:creationId xmlns:a16="http://schemas.microsoft.com/office/drawing/2014/main" id="{65AA8805-0BCC-19A4-2F29-E7476406DB67}"/>
                    </a:ext>
                  </a:extLst>
                </p:cNvPr>
                <p:cNvSpPr/>
                <p:nvPr/>
              </p:nvSpPr>
              <p:spPr>
                <a:xfrm>
                  <a:off x="5301177" y="3305045"/>
                  <a:ext cx="1734531" cy="1709551"/>
                </a:xfrm>
                <a:prstGeom prst="roundRect">
                  <a:avLst>
                    <a:gd name="adj" fmla="val 8171"/>
                  </a:avLst>
                </a:prstGeom>
                <a:solidFill>
                  <a:schemeClr val="bg1"/>
                </a:solidFill>
                <a:ln>
                  <a:noFill/>
                </a:ln>
                <a:effectLst>
                  <a:outerShdw blurRad="2540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46">
                    <a:defRPr/>
                  </a:pPr>
                  <a:endParaRPr lang="ko-KR" altLang="en-US" dirty="0">
                    <a:solidFill>
                      <a:prstClr val="white"/>
                    </a:solidFill>
                    <a:latin typeface="맑은 고딕" panose="02110004020202020204"/>
                    <a:ea typeface="맑은 고딕" panose="020B0503020000020004" pitchFamily="50" charset="-127"/>
                  </a:endParaRPr>
                </a:p>
              </p:txBody>
            </p:sp>
            <p:sp>
              <p:nvSpPr>
                <p:cNvPr id="56" name="사각형: 둥근 모서리 55">
                  <a:extLst>
                    <a:ext uri="{FF2B5EF4-FFF2-40B4-BE49-F238E27FC236}">
                      <a16:creationId xmlns:a16="http://schemas.microsoft.com/office/drawing/2014/main" id="{AB11AFD0-287C-6853-DD18-8B7CA919EC88}"/>
                    </a:ext>
                  </a:extLst>
                </p:cNvPr>
                <p:cNvSpPr/>
                <p:nvPr/>
              </p:nvSpPr>
              <p:spPr>
                <a:xfrm>
                  <a:off x="9809156" y="3305045"/>
                  <a:ext cx="1734531" cy="1709551"/>
                </a:xfrm>
                <a:prstGeom prst="roundRect">
                  <a:avLst>
                    <a:gd name="adj" fmla="val 8171"/>
                  </a:avLst>
                </a:prstGeom>
                <a:solidFill>
                  <a:schemeClr val="bg1"/>
                </a:solidFill>
                <a:ln>
                  <a:noFill/>
                </a:ln>
                <a:effectLst>
                  <a:outerShdw blurRad="2540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46">
                    <a:defRPr/>
                  </a:pPr>
                  <a:endParaRPr lang="ko-KR" altLang="en-US" dirty="0">
                    <a:solidFill>
                      <a:prstClr val="white"/>
                    </a:solidFill>
                    <a:latin typeface="맑은 고딕" panose="02110004020202020204"/>
                    <a:ea typeface="맑은 고딕" panose="020B0503020000020004" pitchFamily="50" charset="-127"/>
                  </a:endParaRPr>
                </a:p>
              </p:txBody>
            </p:sp>
            <p:sp>
              <p:nvSpPr>
                <p:cNvPr id="57" name="사각형: 둥근 모서리 56">
                  <a:extLst>
                    <a:ext uri="{FF2B5EF4-FFF2-40B4-BE49-F238E27FC236}">
                      <a16:creationId xmlns:a16="http://schemas.microsoft.com/office/drawing/2014/main" id="{FB6EAEC1-48C2-9EA7-53E0-6E66BFD07005}"/>
                    </a:ext>
                  </a:extLst>
                </p:cNvPr>
                <p:cNvSpPr/>
                <p:nvPr/>
              </p:nvSpPr>
              <p:spPr>
                <a:xfrm>
                  <a:off x="7555167" y="3305045"/>
                  <a:ext cx="1734531" cy="1709551"/>
                </a:xfrm>
                <a:prstGeom prst="roundRect">
                  <a:avLst>
                    <a:gd name="adj" fmla="val 8171"/>
                  </a:avLst>
                </a:prstGeom>
                <a:solidFill>
                  <a:schemeClr val="bg1"/>
                </a:solidFill>
                <a:ln>
                  <a:noFill/>
                </a:ln>
                <a:effectLst>
                  <a:outerShdw blurRad="254000" sx="102000" sy="102000" algn="ctr" rotWithShape="0">
                    <a:prstClr val="black">
                      <a:alpha val="1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446">
                    <a:defRPr/>
                  </a:pPr>
                  <a:endParaRPr lang="ko-KR" altLang="en-US" dirty="0">
                    <a:solidFill>
                      <a:prstClr val="white"/>
                    </a:solidFill>
                    <a:latin typeface="맑은 고딕" panose="02110004020202020204"/>
                    <a:ea typeface="맑은 고딕" panose="020B0503020000020004" pitchFamily="50" charset="-127"/>
                  </a:endParaRPr>
                </a:p>
              </p:txBody>
            </p:sp>
          </p:grpSp>
        </p:grpSp>
        <p:pic>
          <p:nvPicPr>
            <p:cNvPr id="58" name="그림 57" descr="텍스트, 스크린샷, 폰트, 로고이(가) 표시된 사진&#10;&#10;자동 생성된 설명">
              <a:extLst>
                <a:ext uri="{FF2B5EF4-FFF2-40B4-BE49-F238E27FC236}">
                  <a16:creationId xmlns:a16="http://schemas.microsoft.com/office/drawing/2014/main" id="{92778BF9-05D5-FD6D-D8B3-23D800E09A75}"/>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3451079" y="3406249"/>
              <a:ext cx="702576" cy="546449"/>
            </a:xfrm>
            <a:prstGeom prst="rect">
              <a:avLst/>
            </a:prstGeom>
          </p:spPr>
        </p:pic>
        <p:grpSp>
          <p:nvGrpSpPr>
            <p:cNvPr id="59" name="그룹 58">
              <a:extLst>
                <a:ext uri="{FF2B5EF4-FFF2-40B4-BE49-F238E27FC236}">
                  <a16:creationId xmlns:a16="http://schemas.microsoft.com/office/drawing/2014/main" id="{14E8E2D0-C5D2-4DCF-E5C1-17BB30B47DA1}"/>
                </a:ext>
              </a:extLst>
            </p:cNvPr>
            <p:cNvGrpSpPr/>
            <p:nvPr/>
          </p:nvGrpSpPr>
          <p:grpSpPr>
            <a:xfrm>
              <a:off x="706589" y="3277495"/>
              <a:ext cx="1677225" cy="1017367"/>
              <a:chOff x="861658" y="3345793"/>
              <a:chExt cx="1174534" cy="712446"/>
            </a:xfrm>
          </p:grpSpPr>
          <p:pic>
            <p:nvPicPr>
              <p:cNvPr id="60" name="그림 59">
                <a:extLst>
                  <a:ext uri="{FF2B5EF4-FFF2-40B4-BE49-F238E27FC236}">
                    <a16:creationId xmlns:a16="http://schemas.microsoft.com/office/drawing/2014/main" id="{99A233D4-53F5-630C-3CA2-2969E17EC592}"/>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61658" y="3345793"/>
                <a:ext cx="439242" cy="712446"/>
              </a:xfrm>
              <a:prstGeom prst="rect">
                <a:avLst/>
              </a:prstGeom>
            </p:spPr>
          </p:pic>
          <p:pic>
            <p:nvPicPr>
              <p:cNvPr id="61" name="그림 60">
                <a:extLst>
                  <a:ext uri="{FF2B5EF4-FFF2-40B4-BE49-F238E27FC236}">
                    <a16:creationId xmlns:a16="http://schemas.microsoft.com/office/drawing/2014/main" id="{FC9EFD4C-B657-B867-5842-0FE3C3C46AF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596950" y="3345793"/>
                <a:ext cx="439242" cy="712446"/>
              </a:xfrm>
              <a:prstGeom prst="rect">
                <a:avLst/>
              </a:prstGeom>
            </p:spPr>
          </p:pic>
        </p:grpSp>
        <p:pic>
          <p:nvPicPr>
            <p:cNvPr id="62" name="그림 61" descr="텍스트, 폰트, 스크린샷, 로고이(가) 표시된 사진&#10;&#10;자동 생성된 설명">
              <a:extLst>
                <a:ext uri="{FF2B5EF4-FFF2-40B4-BE49-F238E27FC236}">
                  <a16:creationId xmlns:a16="http://schemas.microsoft.com/office/drawing/2014/main" id="{640D3592-0473-623A-4E54-284C50CF360F}"/>
                </a:ext>
              </a:extLst>
            </p:cNvPr>
            <p:cNvPicPr>
              <a:picLocks noChangeAspect="1"/>
            </p:cNvPicPr>
            <p:nvPr/>
          </p:nvPicPr>
          <p:blipFill rotWithShape="1">
            <a:blip r:embed="rId6" cstate="screen">
              <a:extLst>
                <a:ext uri="{28A0092B-C50C-407E-A947-70E740481C1C}">
                  <a14:useLocalDpi xmlns:a14="http://schemas.microsoft.com/office/drawing/2010/main"/>
                </a:ext>
              </a:extLst>
            </a:blip>
            <a:srcRect/>
            <a:stretch/>
          </p:blipFill>
          <p:spPr>
            <a:xfrm>
              <a:off x="1139165" y="3605970"/>
              <a:ext cx="812070" cy="237234"/>
            </a:xfrm>
            <a:prstGeom prst="rect">
              <a:avLst/>
            </a:prstGeom>
            <a:ln>
              <a:noFill/>
            </a:ln>
          </p:spPr>
        </p:pic>
        <p:grpSp>
          <p:nvGrpSpPr>
            <p:cNvPr id="63" name="그룹 62">
              <a:extLst>
                <a:ext uri="{FF2B5EF4-FFF2-40B4-BE49-F238E27FC236}">
                  <a16:creationId xmlns:a16="http://schemas.microsoft.com/office/drawing/2014/main" id="{FA4D3E96-B27A-6F11-DE1B-2BC5135C2022}"/>
                </a:ext>
              </a:extLst>
            </p:cNvPr>
            <p:cNvGrpSpPr/>
            <p:nvPr/>
          </p:nvGrpSpPr>
          <p:grpSpPr>
            <a:xfrm>
              <a:off x="2992640" y="3277495"/>
              <a:ext cx="1677225" cy="1017367"/>
              <a:chOff x="861658" y="3345793"/>
              <a:chExt cx="1174534" cy="712446"/>
            </a:xfrm>
          </p:grpSpPr>
          <p:pic>
            <p:nvPicPr>
              <p:cNvPr id="64" name="그림 63">
                <a:extLst>
                  <a:ext uri="{FF2B5EF4-FFF2-40B4-BE49-F238E27FC236}">
                    <a16:creationId xmlns:a16="http://schemas.microsoft.com/office/drawing/2014/main" id="{8AF56A8F-D90A-D058-9012-14211DC10FE3}"/>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61658" y="3345793"/>
                <a:ext cx="439242" cy="712446"/>
              </a:xfrm>
              <a:prstGeom prst="rect">
                <a:avLst/>
              </a:prstGeom>
            </p:spPr>
          </p:pic>
          <p:pic>
            <p:nvPicPr>
              <p:cNvPr id="65" name="그림 64">
                <a:extLst>
                  <a:ext uri="{FF2B5EF4-FFF2-40B4-BE49-F238E27FC236}">
                    <a16:creationId xmlns:a16="http://schemas.microsoft.com/office/drawing/2014/main" id="{B164DF8E-067C-C2E3-016E-B6F6127E34F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596950" y="3345793"/>
                <a:ext cx="439242" cy="712446"/>
              </a:xfrm>
              <a:prstGeom prst="rect">
                <a:avLst/>
              </a:prstGeom>
            </p:spPr>
          </p:pic>
        </p:grpSp>
        <p:pic>
          <p:nvPicPr>
            <p:cNvPr id="66" name="그림 65">
              <a:extLst>
                <a:ext uri="{FF2B5EF4-FFF2-40B4-BE49-F238E27FC236}">
                  <a16:creationId xmlns:a16="http://schemas.microsoft.com/office/drawing/2014/main" id="{DE48FC58-28FE-565E-E62F-6130CBF664E3}"/>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l="13876" t="52796" r="22753" b="17978"/>
            <a:stretch/>
          </p:blipFill>
          <p:spPr>
            <a:xfrm>
              <a:off x="5456613" y="3542100"/>
              <a:ext cx="1250040" cy="282856"/>
            </a:xfrm>
            <a:prstGeom prst="rect">
              <a:avLst/>
            </a:prstGeom>
          </p:spPr>
        </p:pic>
        <p:grpSp>
          <p:nvGrpSpPr>
            <p:cNvPr id="67" name="그룹 66">
              <a:extLst>
                <a:ext uri="{FF2B5EF4-FFF2-40B4-BE49-F238E27FC236}">
                  <a16:creationId xmlns:a16="http://schemas.microsoft.com/office/drawing/2014/main" id="{40422C7B-B1DB-B588-D302-B2ED392660B7}"/>
                </a:ext>
              </a:extLst>
            </p:cNvPr>
            <p:cNvGrpSpPr/>
            <p:nvPr/>
          </p:nvGrpSpPr>
          <p:grpSpPr>
            <a:xfrm>
              <a:off x="5254517" y="3277495"/>
              <a:ext cx="1677225" cy="1017367"/>
              <a:chOff x="861658" y="3345793"/>
              <a:chExt cx="1174534" cy="712446"/>
            </a:xfrm>
          </p:grpSpPr>
          <p:pic>
            <p:nvPicPr>
              <p:cNvPr id="68" name="그림 67">
                <a:extLst>
                  <a:ext uri="{FF2B5EF4-FFF2-40B4-BE49-F238E27FC236}">
                    <a16:creationId xmlns:a16="http://schemas.microsoft.com/office/drawing/2014/main" id="{A3F51628-CE8F-8CCC-D91D-995E885FDA1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61658" y="3345793"/>
                <a:ext cx="439242" cy="712446"/>
              </a:xfrm>
              <a:prstGeom prst="rect">
                <a:avLst/>
              </a:prstGeom>
            </p:spPr>
          </p:pic>
          <p:pic>
            <p:nvPicPr>
              <p:cNvPr id="69" name="그림 68">
                <a:extLst>
                  <a:ext uri="{FF2B5EF4-FFF2-40B4-BE49-F238E27FC236}">
                    <a16:creationId xmlns:a16="http://schemas.microsoft.com/office/drawing/2014/main" id="{3E4FCF17-F642-3D49-C7C2-DBFF7802B30E}"/>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596950" y="3345793"/>
                <a:ext cx="439242" cy="712446"/>
              </a:xfrm>
              <a:prstGeom prst="rect">
                <a:avLst/>
              </a:prstGeom>
            </p:spPr>
          </p:pic>
        </p:grpSp>
        <p:pic>
          <p:nvPicPr>
            <p:cNvPr id="70" name="그림 69">
              <a:extLst>
                <a:ext uri="{FF2B5EF4-FFF2-40B4-BE49-F238E27FC236}">
                  <a16:creationId xmlns:a16="http://schemas.microsoft.com/office/drawing/2014/main" id="{368A3EAF-6274-92A8-6AB8-F4148039100F}"/>
                </a:ext>
              </a:extLst>
            </p:cNvPr>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7779967" y="3449335"/>
              <a:ext cx="1022053" cy="466864"/>
            </a:xfrm>
            <a:prstGeom prst="rect">
              <a:avLst/>
            </a:prstGeom>
          </p:spPr>
        </p:pic>
        <p:grpSp>
          <p:nvGrpSpPr>
            <p:cNvPr id="71" name="그룹 70">
              <a:extLst>
                <a:ext uri="{FF2B5EF4-FFF2-40B4-BE49-F238E27FC236}">
                  <a16:creationId xmlns:a16="http://schemas.microsoft.com/office/drawing/2014/main" id="{A055DE6C-0EAD-75DD-5897-49081FA360D7}"/>
                </a:ext>
              </a:extLst>
            </p:cNvPr>
            <p:cNvGrpSpPr/>
            <p:nvPr/>
          </p:nvGrpSpPr>
          <p:grpSpPr>
            <a:xfrm>
              <a:off x="7452381" y="3277495"/>
              <a:ext cx="1677225" cy="1017367"/>
              <a:chOff x="861658" y="3345793"/>
              <a:chExt cx="1174534" cy="712446"/>
            </a:xfrm>
          </p:grpSpPr>
          <p:pic>
            <p:nvPicPr>
              <p:cNvPr id="72" name="그림 71">
                <a:extLst>
                  <a:ext uri="{FF2B5EF4-FFF2-40B4-BE49-F238E27FC236}">
                    <a16:creationId xmlns:a16="http://schemas.microsoft.com/office/drawing/2014/main" id="{A9708F47-77DE-60EC-03B1-BBE6F6FCEA5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61658" y="3345793"/>
                <a:ext cx="439242" cy="712446"/>
              </a:xfrm>
              <a:prstGeom prst="rect">
                <a:avLst/>
              </a:prstGeom>
            </p:spPr>
          </p:pic>
          <p:pic>
            <p:nvPicPr>
              <p:cNvPr id="73" name="그림 72">
                <a:extLst>
                  <a:ext uri="{FF2B5EF4-FFF2-40B4-BE49-F238E27FC236}">
                    <a16:creationId xmlns:a16="http://schemas.microsoft.com/office/drawing/2014/main" id="{C0447217-5073-58E2-3506-351835F10FA1}"/>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596950" y="3345793"/>
                <a:ext cx="439242" cy="712446"/>
              </a:xfrm>
              <a:prstGeom prst="rect">
                <a:avLst/>
              </a:prstGeom>
            </p:spPr>
          </p:pic>
        </p:grpSp>
        <p:grpSp>
          <p:nvGrpSpPr>
            <p:cNvPr id="74" name="그룹 73">
              <a:extLst>
                <a:ext uri="{FF2B5EF4-FFF2-40B4-BE49-F238E27FC236}">
                  <a16:creationId xmlns:a16="http://schemas.microsoft.com/office/drawing/2014/main" id="{E86D2703-503C-70D6-A7F3-C546B9B9E967}"/>
                </a:ext>
              </a:extLst>
            </p:cNvPr>
            <p:cNvGrpSpPr/>
            <p:nvPr/>
          </p:nvGrpSpPr>
          <p:grpSpPr>
            <a:xfrm>
              <a:off x="9720954" y="3277495"/>
              <a:ext cx="1677225" cy="1017367"/>
              <a:chOff x="9523216" y="2793672"/>
              <a:chExt cx="1677225" cy="1017367"/>
            </a:xfrm>
          </p:grpSpPr>
          <p:pic>
            <p:nvPicPr>
              <p:cNvPr id="75" name="그림 74">
                <a:extLst>
                  <a:ext uri="{FF2B5EF4-FFF2-40B4-BE49-F238E27FC236}">
                    <a16:creationId xmlns:a16="http://schemas.microsoft.com/office/drawing/2014/main" id="{280D7A0C-24CD-741C-F724-8932A489EEC5}"/>
                  </a:ext>
                </a:extLst>
              </p:cNvPr>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a:off x="9705710" y="2938395"/>
                <a:ext cx="1312237" cy="550356"/>
              </a:xfrm>
              <a:prstGeom prst="rect">
                <a:avLst/>
              </a:prstGeom>
            </p:spPr>
          </p:pic>
          <p:grpSp>
            <p:nvGrpSpPr>
              <p:cNvPr id="76" name="그룹 75">
                <a:extLst>
                  <a:ext uri="{FF2B5EF4-FFF2-40B4-BE49-F238E27FC236}">
                    <a16:creationId xmlns:a16="http://schemas.microsoft.com/office/drawing/2014/main" id="{87693637-988F-ED88-3DAC-BBE3C910D60B}"/>
                  </a:ext>
                </a:extLst>
              </p:cNvPr>
              <p:cNvGrpSpPr/>
              <p:nvPr/>
            </p:nvGrpSpPr>
            <p:grpSpPr>
              <a:xfrm>
                <a:off x="9523216" y="2793672"/>
                <a:ext cx="1677225" cy="1017367"/>
                <a:chOff x="861658" y="3345793"/>
                <a:chExt cx="1174534" cy="712446"/>
              </a:xfrm>
            </p:grpSpPr>
            <p:pic>
              <p:nvPicPr>
                <p:cNvPr id="77" name="그림 76">
                  <a:extLst>
                    <a:ext uri="{FF2B5EF4-FFF2-40B4-BE49-F238E27FC236}">
                      <a16:creationId xmlns:a16="http://schemas.microsoft.com/office/drawing/2014/main" id="{7D9C1E6D-9350-16BF-564A-8CC5105799B1}"/>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61658" y="3345793"/>
                  <a:ext cx="439242" cy="712446"/>
                </a:xfrm>
                <a:prstGeom prst="rect">
                  <a:avLst/>
                </a:prstGeom>
              </p:spPr>
            </p:pic>
            <p:pic>
              <p:nvPicPr>
                <p:cNvPr id="78" name="그림 77">
                  <a:extLst>
                    <a:ext uri="{FF2B5EF4-FFF2-40B4-BE49-F238E27FC236}">
                      <a16:creationId xmlns:a16="http://schemas.microsoft.com/office/drawing/2014/main" id="{2BA4BCBB-3031-8906-2BAA-C71C4D6CEA1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596950" y="3345793"/>
                  <a:ext cx="439242" cy="712446"/>
                </a:xfrm>
                <a:prstGeom prst="rect">
                  <a:avLst/>
                </a:prstGeom>
              </p:spPr>
            </p:pic>
          </p:grpSp>
        </p:grpSp>
        <p:sp>
          <p:nvSpPr>
            <p:cNvPr id="80" name="TextBox 79">
              <a:extLst>
                <a:ext uri="{FF2B5EF4-FFF2-40B4-BE49-F238E27FC236}">
                  <a16:creationId xmlns:a16="http://schemas.microsoft.com/office/drawing/2014/main" id="{93E0ADFF-4A37-7C3A-5403-EF7F4221E0A7}"/>
                </a:ext>
              </a:extLst>
            </p:cNvPr>
            <p:cNvSpPr txBox="1"/>
            <p:nvPr/>
          </p:nvSpPr>
          <p:spPr>
            <a:xfrm>
              <a:off x="2809104" y="2655525"/>
              <a:ext cx="1913655" cy="285627"/>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ko-KR" altLang="en-US"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구글</a:t>
              </a:r>
              <a:r>
                <a:rPr lang="en-US" altLang="ko-KR"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 </a:t>
              </a:r>
              <a:r>
                <a:rPr lang="ko-KR" altLang="en-US"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프리미어 파트너</a:t>
              </a:r>
              <a:endParaRPr lang="en-US" altLang="ko-KR"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endParaRPr>
            </a:p>
          </p:txBody>
        </p:sp>
        <p:sp>
          <p:nvSpPr>
            <p:cNvPr id="82" name="TextBox 81">
              <a:extLst>
                <a:ext uri="{FF2B5EF4-FFF2-40B4-BE49-F238E27FC236}">
                  <a16:creationId xmlns:a16="http://schemas.microsoft.com/office/drawing/2014/main" id="{57998873-70C6-71AC-AC78-CEE6F83D9343}"/>
                </a:ext>
              </a:extLst>
            </p:cNvPr>
            <p:cNvSpPr txBox="1"/>
            <p:nvPr/>
          </p:nvSpPr>
          <p:spPr>
            <a:xfrm>
              <a:off x="634661" y="2645420"/>
              <a:ext cx="1734531" cy="285627"/>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en-US" altLang="ko-KR"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META BP </a:t>
              </a:r>
              <a:r>
                <a:rPr lang="ko-KR" altLang="en-US"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취득</a:t>
              </a:r>
              <a:endParaRPr lang="en-US" altLang="ko-KR"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endParaRPr>
            </a:p>
          </p:txBody>
        </p:sp>
        <p:sp>
          <p:nvSpPr>
            <p:cNvPr id="84" name="TextBox 83">
              <a:extLst>
                <a:ext uri="{FF2B5EF4-FFF2-40B4-BE49-F238E27FC236}">
                  <a16:creationId xmlns:a16="http://schemas.microsoft.com/office/drawing/2014/main" id="{9DC4C6A9-0A9D-34FB-BD01-8DC120F5F3DD}"/>
                </a:ext>
              </a:extLst>
            </p:cNvPr>
            <p:cNvSpPr txBox="1"/>
            <p:nvPr/>
          </p:nvSpPr>
          <p:spPr>
            <a:xfrm>
              <a:off x="4891504" y="2646670"/>
              <a:ext cx="2225655" cy="285627"/>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ko-KR" altLang="en-US"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네이버</a:t>
              </a:r>
              <a:r>
                <a:rPr lang="en-US" altLang="ko-KR"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 </a:t>
              </a:r>
              <a:r>
                <a:rPr lang="ko-KR" altLang="en-US"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공식 광고 파트너</a:t>
              </a:r>
              <a:endParaRPr lang="en-US" altLang="ko-KR"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endParaRPr>
            </a:p>
          </p:txBody>
        </p:sp>
        <p:sp>
          <p:nvSpPr>
            <p:cNvPr id="86" name="TextBox 85">
              <a:extLst>
                <a:ext uri="{FF2B5EF4-FFF2-40B4-BE49-F238E27FC236}">
                  <a16:creationId xmlns:a16="http://schemas.microsoft.com/office/drawing/2014/main" id="{51E481A9-41C3-36CC-58CB-676927ECAF9E}"/>
                </a:ext>
              </a:extLst>
            </p:cNvPr>
            <p:cNvSpPr txBox="1"/>
            <p:nvPr/>
          </p:nvSpPr>
          <p:spPr>
            <a:xfrm>
              <a:off x="7184508" y="2655525"/>
              <a:ext cx="2200584" cy="285627"/>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ko-KR" altLang="en-US"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카카오</a:t>
              </a:r>
              <a:r>
                <a:rPr lang="en-US" altLang="ko-KR"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 </a:t>
              </a:r>
              <a:r>
                <a:rPr lang="ko-KR" altLang="en-US"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프리미엄 파트너</a:t>
              </a:r>
              <a:endParaRPr lang="en-US" altLang="ko-KR"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endParaRPr>
            </a:p>
          </p:txBody>
        </p:sp>
        <p:sp>
          <p:nvSpPr>
            <p:cNvPr id="88" name="TextBox 87">
              <a:extLst>
                <a:ext uri="{FF2B5EF4-FFF2-40B4-BE49-F238E27FC236}">
                  <a16:creationId xmlns:a16="http://schemas.microsoft.com/office/drawing/2014/main" id="{6250722D-E339-BEEF-BD66-C83532D78715}"/>
                </a:ext>
              </a:extLst>
            </p:cNvPr>
            <p:cNvSpPr txBox="1"/>
            <p:nvPr/>
          </p:nvSpPr>
          <p:spPr>
            <a:xfrm>
              <a:off x="9301401" y="2646670"/>
              <a:ext cx="2522875" cy="285627"/>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ko-KR" altLang="en-US" sz="1400" dirty="0" err="1">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크리테오</a:t>
              </a:r>
              <a:r>
                <a:rPr lang="en-US" altLang="ko-KR"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 </a:t>
              </a:r>
              <a:r>
                <a:rPr lang="ko-KR" altLang="en-US"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rPr>
                <a:t>올해의 대행사 선정</a:t>
              </a:r>
              <a:endParaRPr lang="en-US" altLang="ko-KR" sz="1400" dirty="0">
                <a:solidFill>
                  <a:srgbClr val="004F9F"/>
                </a:solidFill>
                <a:latin typeface="에스코어 드림 6 Bold" panose="020B0703030302020204" pitchFamily="34" charset="-127"/>
                <a:ea typeface="에스코어 드림 6 Bold" panose="020B0703030302020204" pitchFamily="34" charset="-127"/>
                <a:cs typeface="에이투지체 4 Regular" panose="02000503000000020004" pitchFamily="2" charset="-127"/>
              </a:endParaRPr>
            </a:p>
          </p:txBody>
        </p:sp>
        <p:grpSp>
          <p:nvGrpSpPr>
            <p:cNvPr id="89" name="그룹 88">
              <a:extLst>
                <a:ext uri="{FF2B5EF4-FFF2-40B4-BE49-F238E27FC236}">
                  <a16:creationId xmlns:a16="http://schemas.microsoft.com/office/drawing/2014/main" id="{701D4754-5B10-AE7F-B476-EBDBA891CFC8}"/>
                </a:ext>
              </a:extLst>
            </p:cNvPr>
            <p:cNvGrpSpPr/>
            <p:nvPr/>
          </p:nvGrpSpPr>
          <p:grpSpPr>
            <a:xfrm>
              <a:off x="-53637" y="4122730"/>
              <a:ext cx="12299273" cy="1544230"/>
              <a:chOff x="-40598" y="4619983"/>
              <a:chExt cx="12299273" cy="1544230"/>
            </a:xfrm>
          </p:grpSpPr>
          <p:pic>
            <p:nvPicPr>
              <p:cNvPr id="90" name="그림 89">
                <a:extLst>
                  <a:ext uri="{FF2B5EF4-FFF2-40B4-BE49-F238E27FC236}">
                    <a16:creationId xmlns:a16="http://schemas.microsoft.com/office/drawing/2014/main" id="{B99BB0ED-E4A5-97D3-0748-E1AF726196E6}"/>
                  </a:ext>
                </a:extLst>
              </p:cNvPr>
              <p:cNvPicPr>
                <a:picLocks noChangeAspect="1"/>
              </p:cNvPicPr>
              <p:nvPr/>
            </p:nvPicPr>
            <p:blipFill>
              <a:blip r:embed="rId10" cstate="screen">
                <a:extLst>
                  <a:ext uri="{BEBA8EAE-BF5A-486C-A8C5-ECC9F3942E4B}">
                    <a14:imgProps xmlns:a14="http://schemas.microsoft.com/office/drawing/2010/main">
                      <a14:imgLayer r:embed="rId11">
                        <a14:imgEffect>
                          <a14:brightnessContrast bright="49000"/>
                        </a14:imgEffect>
                      </a14:imgLayer>
                    </a14:imgProps>
                  </a:ext>
                  <a:ext uri="{28A0092B-C50C-407E-A947-70E740481C1C}">
                    <a14:useLocalDpi xmlns:a14="http://schemas.microsoft.com/office/drawing/2010/main"/>
                  </a:ext>
                </a:extLst>
              </a:blip>
              <a:stretch>
                <a:fillRect/>
              </a:stretch>
            </p:blipFill>
            <p:spPr>
              <a:xfrm>
                <a:off x="-40598" y="4619983"/>
                <a:ext cx="3263268" cy="1544230"/>
              </a:xfrm>
              <a:prstGeom prst="rect">
                <a:avLst/>
              </a:prstGeom>
            </p:spPr>
          </p:pic>
          <p:pic>
            <p:nvPicPr>
              <p:cNvPr id="91" name="그림 90">
                <a:extLst>
                  <a:ext uri="{FF2B5EF4-FFF2-40B4-BE49-F238E27FC236}">
                    <a16:creationId xmlns:a16="http://schemas.microsoft.com/office/drawing/2014/main" id="{033E6613-1E83-EA82-1B3F-7BAE1224033D}"/>
                  </a:ext>
                </a:extLst>
              </p:cNvPr>
              <p:cNvPicPr>
                <a:picLocks noChangeAspect="1"/>
              </p:cNvPicPr>
              <p:nvPr/>
            </p:nvPicPr>
            <p:blipFill>
              <a:blip r:embed="rId10" cstate="screen">
                <a:extLst>
                  <a:ext uri="{BEBA8EAE-BF5A-486C-A8C5-ECC9F3942E4B}">
                    <a14:imgProps xmlns:a14="http://schemas.microsoft.com/office/drawing/2010/main">
                      <a14:imgLayer r:embed="rId11">
                        <a14:imgEffect>
                          <a14:brightnessContrast bright="49000"/>
                        </a14:imgEffect>
                      </a14:imgLayer>
                    </a14:imgProps>
                  </a:ext>
                  <a:ext uri="{28A0092B-C50C-407E-A947-70E740481C1C}">
                    <a14:useLocalDpi xmlns:a14="http://schemas.microsoft.com/office/drawing/2010/main"/>
                  </a:ext>
                </a:extLst>
              </a:blip>
              <a:stretch>
                <a:fillRect/>
              </a:stretch>
            </p:blipFill>
            <p:spPr>
              <a:xfrm>
                <a:off x="2218403" y="4619983"/>
                <a:ext cx="3263268" cy="1544230"/>
              </a:xfrm>
              <a:prstGeom prst="rect">
                <a:avLst/>
              </a:prstGeom>
            </p:spPr>
          </p:pic>
          <p:pic>
            <p:nvPicPr>
              <p:cNvPr id="92" name="그림 91">
                <a:extLst>
                  <a:ext uri="{FF2B5EF4-FFF2-40B4-BE49-F238E27FC236}">
                    <a16:creationId xmlns:a16="http://schemas.microsoft.com/office/drawing/2014/main" id="{7A8AD180-2274-A5D0-AAB3-AFA9ABB0D625}"/>
                  </a:ext>
                </a:extLst>
              </p:cNvPr>
              <p:cNvPicPr>
                <a:picLocks noChangeAspect="1"/>
              </p:cNvPicPr>
              <p:nvPr/>
            </p:nvPicPr>
            <p:blipFill>
              <a:blip r:embed="rId10" cstate="screen">
                <a:extLst>
                  <a:ext uri="{BEBA8EAE-BF5A-486C-A8C5-ECC9F3942E4B}">
                    <a14:imgProps xmlns:a14="http://schemas.microsoft.com/office/drawing/2010/main">
                      <a14:imgLayer r:embed="rId11">
                        <a14:imgEffect>
                          <a14:brightnessContrast bright="49000"/>
                        </a14:imgEffect>
                      </a14:imgLayer>
                    </a14:imgProps>
                  </a:ext>
                  <a:ext uri="{28A0092B-C50C-407E-A947-70E740481C1C}">
                    <a14:useLocalDpi xmlns:a14="http://schemas.microsoft.com/office/drawing/2010/main"/>
                  </a:ext>
                </a:extLst>
              </a:blip>
              <a:stretch>
                <a:fillRect/>
              </a:stretch>
            </p:blipFill>
            <p:spPr>
              <a:xfrm>
                <a:off x="4477404" y="4619983"/>
                <a:ext cx="3263268" cy="1544230"/>
              </a:xfrm>
              <a:prstGeom prst="rect">
                <a:avLst/>
              </a:prstGeom>
            </p:spPr>
          </p:pic>
          <p:pic>
            <p:nvPicPr>
              <p:cNvPr id="93" name="그림 92">
                <a:extLst>
                  <a:ext uri="{FF2B5EF4-FFF2-40B4-BE49-F238E27FC236}">
                    <a16:creationId xmlns:a16="http://schemas.microsoft.com/office/drawing/2014/main" id="{1E99B193-5BE7-105F-1A3D-2F0F72E18EE9}"/>
                  </a:ext>
                </a:extLst>
              </p:cNvPr>
              <p:cNvPicPr>
                <a:picLocks noChangeAspect="1"/>
              </p:cNvPicPr>
              <p:nvPr/>
            </p:nvPicPr>
            <p:blipFill>
              <a:blip r:embed="rId10" cstate="screen">
                <a:extLst>
                  <a:ext uri="{BEBA8EAE-BF5A-486C-A8C5-ECC9F3942E4B}">
                    <a14:imgProps xmlns:a14="http://schemas.microsoft.com/office/drawing/2010/main">
                      <a14:imgLayer r:embed="rId11">
                        <a14:imgEffect>
                          <a14:brightnessContrast bright="49000"/>
                        </a14:imgEffect>
                      </a14:imgLayer>
                    </a14:imgProps>
                  </a:ext>
                  <a:ext uri="{28A0092B-C50C-407E-A947-70E740481C1C}">
                    <a14:useLocalDpi xmlns:a14="http://schemas.microsoft.com/office/drawing/2010/main"/>
                  </a:ext>
                </a:extLst>
              </a:blip>
              <a:stretch>
                <a:fillRect/>
              </a:stretch>
            </p:blipFill>
            <p:spPr>
              <a:xfrm>
                <a:off x="6736405" y="4619983"/>
                <a:ext cx="3263268" cy="1544230"/>
              </a:xfrm>
              <a:prstGeom prst="rect">
                <a:avLst/>
              </a:prstGeom>
            </p:spPr>
          </p:pic>
          <p:pic>
            <p:nvPicPr>
              <p:cNvPr id="94" name="그림 93">
                <a:extLst>
                  <a:ext uri="{FF2B5EF4-FFF2-40B4-BE49-F238E27FC236}">
                    <a16:creationId xmlns:a16="http://schemas.microsoft.com/office/drawing/2014/main" id="{DBF70624-35E1-D50B-F683-BDF96EB0F635}"/>
                  </a:ext>
                </a:extLst>
              </p:cNvPr>
              <p:cNvPicPr>
                <a:picLocks noChangeAspect="1"/>
              </p:cNvPicPr>
              <p:nvPr/>
            </p:nvPicPr>
            <p:blipFill>
              <a:blip r:embed="rId10" cstate="screen">
                <a:extLst>
                  <a:ext uri="{BEBA8EAE-BF5A-486C-A8C5-ECC9F3942E4B}">
                    <a14:imgProps xmlns:a14="http://schemas.microsoft.com/office/drawing/2010/main">
                      <a14:imgLayer r:embed="rId11">
                        <a14:imgEffect>
                          <a14:brightnessContrast bright="49000"/>
                        </a14:imgEffect>
                      </a14:imgLayer>
                    </a14:imgProps>
                  </a:ext>
                  <a:ext uri="{28A0092B-C50C-407E-A947-70E740481C1C}">
                    <a14:useLocalDpi xmlns:a14="http://schemas.microsoft.com/office/drawing/2010/main"/>
                  </a:ext>
                </a:extLst>
              </a:blip>
              <a:stretch>
                <a:fillRect/>
              </a:stretch>
            </p:blipFill>
            <p:spPr>
              <a:xfrm>
                <a:off x="8995407" y="4619983"/>
                <a:ext cx="3263268" cy="1544230"/>
              </a:xfrm>
              <a:prstGeom prst="rect">
                <a:avLst/>
              </a:prstGeom>
            </p:spPr>
          </p:pic>
          <p:sp>
            <p:nvSpPr>
              <p:cNvPr id="95" name="TextBox 94">
                <a:extLst>
                  <a:ext uri="{FF2B5EF4-FFF2-40B4-BE49-F238E27FC236}">
                    <a16:creationId xmlns:a16="http://schemas.microsoft.com/office/drawing/2014/main" id="{771B3B93-CE95-1D37-C134-C363CC3831F5}"/>
                  </a:ext>
                </a:extLst>
              </p:cNvPr>
              <p:cNvSpPr txBox="1"/>
              <p:nvPr/>
            </p:nvSpPr>
            <p:spPr>
              <a:xfrm>
                <a:off x="698228" y="5193845"/>
                <a:ext cx="1771595" cy="485565"/>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en-US" altLang="ko-KR" sz="1400" spc="-70" dirty="0">
                    <a:solidFill>
                      <a:srgbClr val="004F9F"/>
                    </a:solidFill>
                    <a:latin typeface="에이투지체 6 SemiBold" pitchFamily="50" charset="-127"/>
                    <a:ea typeface="에이투지체 6 SemiBold" pitchFamily="50" charset="-127"/>
                    <a:cs typeface="에이투지체 4 Regular" panose="02000503000000020004" pitchFamily="2" charset="-127"/>
                  </a:rPr>
                  <a:t>BUSINESS</a:t>
                </a:r>
              </a:p>
              <a:p>
                <a:r>
                  <a:rPr lang="en-US" altLang="ko-KR" sz="1400" spc="-70" dirty="0">
                    <a:solidFill>
                      <a:srgbClr val="004F9F"/>
                    </a:solidFill>
                    <a:latin typeface="에이투지체 6 SemiBold" pitchFamily="50" charset="-127"/>
                    <a:ea typeface="에이투지체 6 SemiBold" pitchFamily="50" charset="-127"/>
                    <a:cs typeface="에이투지체 4 Regular" panose="02000503000000020004" pitchFamily="2" charset="-127"/>
                  </a:rPr>
                  <a:t>PARTNER</a:t>
                </a:r>
              </a:p>
            </p:txBody>
          </p:sp>
          <p:sp>
            <p:nvSpPr>
              <p:cNvPr id="96" name="TextBox 95">
                <a:extLst>
                  <a:ext uri="{FF2B5EF4-FFF2-40B4-BE49-F238E27FC236}">
                    <a16:creationId xmlns:a16="http://schemas.microsoft.com/office/drawing/2014/main" id="{2BA4557B-5F37-7023-7362-C910CC44912D}"/>
                  </a:ext>
                </a:extLst>
              </p:cNvPr>
              <p:cNvSpPr txBox="1"/>
              <p:nvPr/>
            </p:nvSpPr>
            <p:spPr>
              <a:xfrm>
                <a:off x="4776531" y="5222405"/>
                <a:ext cx="2619798" cy="428440"/>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en-US" altLang="ko-KR" sz="1200" spc="-70" dirty="0">
                    <a:solidFill>
                      <a:srgbClr val="004F9F"/>
                    </a:solidFill>
                    <a:latin typeface="에이투지체 6 SemiBold" pitchFamily="50" charset="-127"/>
                    <a:ea typeface="에이투지체 6 SemiBold" pitchFamily="50" charset="-127"/>
                    <a:cs typeface="에이투지체 4 Regular" panose="02000503000000020004" pitchFamily="2" charset="-127"/>
                  </a:rPr>
                  <a:t>SEARCH/SHOPPING/</a:t>
                </a:r>
              </a:p>
              <a:p>
                <a:r>
                  <a:rPr lang="en-US" altLang="ko-KR" sz="1200" spc="-70" dirty="0">
                    <a:solidFill>
                      <a:srgbClr val="004F9F"/>
                    </a:solidFill>
                    <a:latin typeface="에이투지체 6 SemiBold" pitchFamily="50" charset="-127"/>
                    <a:ea typeface="에이투지체 6 SemiBold" pitchFamily="50" charset="-127"/>
                    <a:cs typeface="에이투지체 4 Regular" panose="02000503000000020004" pitchFamily="2" charset="-127"/>
                  </a:rPr>
                  <a:t>DISPLAY AD PARTNER</a:t>
                </a:r>
              </a:p>
            </p:txBody>
          </p:sp>
          <p:sp>
            <p:nvSpPr>
              <p:cNvPr id="97" name="TextBox 96">
                <a:extLst>
                  <a:ext uri="{FF2B5EF4-FFF2-40B4-BE49-F238E27FC236}">
                    <a16:creationId xmlns:a16="http://schemas.microsoft.com/office/drawing/2014/main" id="{B76C0FE3-AD47-7917-FA23-A87910FBBCFF}"/>
                  </a:ext>
                </a:extLst>
              </p:cNvPr>
              <p:cNvSpPr txBox="1"/>
              <p:nvPr/>
            </p:nvSpPr>
            <p:spPr>
              <a:xfrm>
                <a:off x="7470638" y="5193844"/>
                <a:ext cx="1792522" cy="485565"/>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en-US" altLang="ko-KR" sz="1400" spc="-70" dirty="0">
                    <a:solidFill>
                      <a:srgbClr val="004F9F"/>
                    </a:solidFill>
                    <a:latin typeface="에이투지체 6 SemiBold" pitchFamily="50" charset="-127"/>
                    <a:ea typeface="에이투지체 6 SemiBold" pitchFamily="50" charset="-127"/>
                    <a:cs typeface="에이투지체 4 Regular" panose="02000503000000020004" pitchFamily="2" charset="-127"/>
                  </a:rPr>
                  <a:t>PREMIUM</a:t>
                </a:r>
              </a:p>
              <a:p>
                <a:r>
                  <a:rPr lang="en-US" altLang="ko-KR" sz="1400" spc="-70" dirty="0">
                    <a:solidFill>
                      <a:srgbClr val="004F9F"/>
                    </a:solidFill>
                    <a:latin typeface="에이투지체 6 SemiBold" pitchFamily="50" charset="-127"/>
                    <a:ea typeface="에이투지체 6 SemiBold" pitchFamily="50" charset="-127"/>
                    <a:cs typeface="에이투지체 4 Regular" panose="02000503000000020004" pitchFamily="2" charset="-127"/>
                  </a:rPr>
                  <a:t>PARTNER</a:t>
                </a:r>
              </a:p>
            </p:txBody>
          </p:sp>
          <p:sp>
            <p:nvSpPr>
              <p:cNvPr id="98" name="TextBox 97">
                <a:extLst>
                  <a:ext uri="{FF2B5EF4-FFF2-40B4-BE49-F238E27FC236}">
                    <a16:creationId xmlns:a16="http://schemas.microsoft.com/office/drawing/2014/main" id="{B9B6B525-52BA-9A80-7C8F-E4C0FE78BF8B}"/>
                  </a:ext>
                </a:extLst>
              </p:cNvPr>
              <p:cNvSpPr txBox="1"/>
              <p:nvPr/>
            </p:nvSpPr>
            <p:spPr>
              <a:xfrm>
                <a:off x="9743784" y="5193844"/>
                <a:ext cx="1792522" cy="485565"/>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en-US" altLang="ko-KR" sz="1400" spc="-70" dirty="0">
                    <a:solidFill>
                      <a:srgbClr val="004F9F"/>
                    </a:solidFill>
                    <a:latin typeface="에이투지체 6 SemiBold" pitchFamily="50" charset="-127"/>
                    <a:ea typeface="에이투지체 6 SemiBold" pitchFamily="50" charset="-127"/>
                    <a:cs typeface="에이투지체 4 Regular" panose="02000503000000020004" pitchFamily="2" charset="-127"/>
                  </a:rPr>
                  <a:t>AGENCY</a:t>
                </a:r>
              </a:p>
              <a:p>
                <a:r>
                  <a:rPr lang="en-US" altLang="ko-KR" sz="1400" spc="-70" dirty="0">
                    <a:solidFill>
                      <a:srgbClr val="004F9F"/>
                    </a:solidFill>
                    <a:latin typeface="에이투지체 6 SemiBold" pitchFamily="50" charset="-127"/>
                    <a:ea typeface="에이투지체 6 SemiBold" pitchFamily="50" charset="-127"/>
                    <a:cs typeface="에이투지체 4 Regular" panose="02000503000000020004" pitchFamily="2" charset="-127"/>
                  </a:rPr>
                  <a:t>OF THE YEAR</a:t>
                </a:r>
              </a:p>
            </p:txBody>
          </p:sp>
          <p:sp>
            <p:nvSpPr>
              <p:cNvPr id="99" name="TextBox 98">
                <a:extLst>
                  <a:ext uri="{FF2B5EF4-FFF2-40B4-BE49-F238E27FC236}">
                    <a16:creationId xmlns:a16="http://schemas.microsoft.com/office/drawing/2014/main" id="{FBB3B9AD-B95F-E6EE-75B9-02260A12A0DA}"/>
                  </a:ext>
                </a:extLst>
              </p:cNvPr>
              <p:cNvSpPr txBox="1"/>
              <p:nvPr/>
            </p:nvSpPr>
            <p:spPr>
              <a:xfrm>
                <a:off x="2951769" y="5193844"/>
                <a:ext cx="1792522" cy="485565"/>
              </a:xfrm>
              <a:prstGeom prst="rect">
                <a:avLst/>
              </a:prstGeom>
              <a:noFill/>
            </p:spPr>
            <p:txBody>
              <a:bodyPr wrap="square" rtlCol="0" anchor="ctr">
                <a:spAutoFit/>
              </a:bodyPr>
              <a:lstStyle>
                <a:defPPr>
                  <a:defRPr lang="ko-KR"/>
                </a:defPPr>
                <a:lvl1pPr algn="ctr">
                  <a:defRPr spc="-150">
                    <a:ea typeface="에스코어 드림 3 Light" panose="020B0303030302020204"/>
                    <a:cs typeface="에이투지체 5 Medium" panose="02000003000000020004" pitchFamily="2" charset="-127"/>
                  </a:defRPr>
                </a:lvl1pPr>
              </a:lstStyle>
              <a:p>
                <a:r>
                  <a:rPr lang="en-US" altLang="ko-KR" sz="1400" spc="-70" dirty="0">
                    <a:solidFill>
                      <a:srgbClr val="004F9F"/>
                    </a:solidFill>
                    <a:latin typeface="에이투지체 6 SemiBold" pitchFamily="50" charset="-127"/>
                    <a:ea typeface="에이투지체 6 SemiBold" pitchFamily="50" charset="-127"/>
                    <a:cs typeface="에이투지체 4 Regular" panose="02000503000000020004" pitchFamily="2" charset="-127"/>
                  </a:rPr>
                  <a:t>PREMIER</a:t>
                </a:r>
              </a:p>
              <a:p>
                <a:r>
                  <a:rPr lang="en-US" altLang="ko-KR" sz="1400" spc="-70" dirty="0">
                    <a:solidFill>
                      <a:srgbClr val="004F9F"/>
                    </a:solidFill>
                    <a:latin typeface="에이투지체 6 SemiBold" pitchFamily="50" charset="-127"/>
                    <a:ea typeface="에이투지체 6 SemiBold" pitchFamily="50" charset="-127"/>
                    <a:cs typeface="에이투지체 4 Regular" panose="02000503000000020004" pitchFamily="2" charset="-127"/>
                  </a:rPr>
                  <a:t>PARTNER</a:t>
                </a:r>
              </a:p>
            </p:txBody>
          </p:sp>
        </p:grpSp>
      </p:grpSp>
      <p:grpSp>
        <p:nvGrpSpPr>
          <p:cNvPr id="106" name="그룹 105">
            <a:extLst>
              <a:ext uri="{FF2B5EF4-FFF2-40B4-BE49-F238E27FC236}">
                <a16:creationId xmlns:a16="http://schemas.microsoft.com/office/drawing/2014/main" id="{40EBF578-F19B-6D71-EF37-C1555060B617}"/>
              </a:ext>
            </a:extLst>
          </p:cNvPr>
          <p:cNvGrpSpPr/>
          <p:nvPr/>
        </p:nvGrpSpPr>
        <p:grpSpPr>
          <a:xfrm>
            <a:off x="1167728" y="5226474"/>
            <a:ext cx="9545518" cy="905039"/>
            <a:chOff x="-3166" y="5253026"/>
            <a:chExt cx="11874276" cy="1125836"/>
          </a:xfrm>
        </p:grpSpPr>
        <p:pic>
          <p:nvPicPr>
            <p:cNvPr id="104" name="그림 103">
              <a:extLst>
                <a:ext uri="{FF2B5EF4-FFF2-40B4-BE49-F238E27FC236}">
                  <a16:creationId xmlns:a16="http://schemas.microsoft.com/office/drawing/2014/main" id="{40977677-E9A5-88E7-C5CD-9FBEB6475DE5}"/>
                </a:ext>
              </a:extLst>
            </p:cNvPr>
            <p:cNvPicPr>
              <a:picLocks noChangeAspect="1"/>
            </p:cNvPicPr>
            <p:nvPr/>
          </p:nvPicPr>
          <p:blipFill>
            <a:blip r:embed="rId12" cstate="screen">
              <a:extLst>
                <a:ext uri="{28A0092B-C50C-407E-A947-70E740481C1C}">
                  <a14:useLocalDpi xmlns:a14="http://schemas.microsoft.com/office/drawing/2010/main"/>
                </a:ext>
              </a:extLst>
            </a:blip>
            <a:srcRect/>
            <a:stretch>
              <a:fillRect/>
            </a:stretch>
          </p:blipFill>
          <p:spPr>
            <a:xfrm>
              <a:off x="-3166" y="5253027"/>
              <a:ext cx="5820854" cy="1125835"/>
            </a:xfrm>
            <a:prstGeom prst="rect">
              <a:avLst/>
            </a:prstGeom>
          </p:spPr>
        </p:pic>
        <p:pic>
          <p:nvPicPr>
            <p:cNvPr id="105" name="그림 104">
              <a:extLst>
                <a:ext uri="{FF2B5EF4-FFF2-40B4-BE49-F238E27FC236}">
                  <a16:creationId xmlns:a16="http://schemas.microsoft.com/office/drawing/2014/main" id="{190EF535-DE8A-2A4D-993A-16AAA98135AC}"/>
                </a:ext>
              </a:extLst>
            </p:cNvPr>
            <p:cNvPicPr>
              <a:picLocks noChangeAspect="1"/>
            </p:cNvPicPr>
            <p:nvPr/>
          </p:nvPicPr>
          <p:blipFill>
            <a:blip r:embed="rId13" cstate="screen">
              <a:extLst>
                <a:ext uri="{28A0092B-C50C-407E-A947-70E740481C1C}">
                  <a14:useLocalDpi xmlns:a14="http://schemas.microsoft.com/office/drawing/2010/main"/>
                </a:ext>
              </a:extLst>
            </a:blip>
            <a:srcRect/>
            <a:stretch>
              <a:fillRect/>
            </a:stretch>
          </p:blipFill>
          <p:spPr>
            <a:xfrm>
              <a:off x="5787087" y="5253026"/>
              <a:ext cx="6084023" cy="1125836"/>
            </a:xfrm>
            <a:prstGeom prst="rect">
              <a:avLst/>
            </a:prstGeom>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1 · 회사 소개</a:t>
            </a:r>
            <a:endParaRPr lang="en-US" sz="9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marL="0" indent="0">
              <a:lnSpc>
                <a:spcPts val="2600"/>
              </a:lnSpc>
              <a:buNone/>
            </a:pPr>
            <a:r>
              <a:rPr lang="en-US" sz="1900" dirty="0" err="1">
                <a:solidFill>
                  <a:srgbClr val="222222"/>
                </a:solidFill>
                <a:latin typeface="에이투지체 8 ExtraBold" pitchFamily="34" charset="0"/>
                <a:ea typeface="에이투지체 8 ExtraBold" pitchFamily="34" charset="-122"/>
                <a:cs typeface="에이투지체 8 ExtraBold" pitchFamily="34" charset="-120"/>
              </a:rPr>
              <a:t>네이버</a:t>
            </a:r>
            <a:r>
              <a:rPr lang="en-US" sz="1900" dirty="0">
                <a:solidFill>
                  <a:srgbClr val="222222"/>
                </a:solidFill>
                <a:latin typeface="에이투지체 8 ExtraBold" pitchFamily="34" charset="0"/>
                <a:ea typeface="에이투지체 8 ExtraBold" pitchFamily="34" charset="-122"/>
                <a:cs typeface="에이투지체 8 ExtraBold" pitchFamily="34" charset="-120"/>
              </a:rPr>
              <a:t> 광고 </a:t>
            </a:r>
            <a:r>
              <a:rPr lang="en-US" sz="1900" dirty="0">
                <a:solidFill>
                  <a:schemeClr val="bg1"/>
                </a:solidFill>
                <a:highlight>
                  <a:srgbClr val="0000FF"/>
                </a:highlight>
                <a:latin typeface="에이투지체 8 ExtraBold" pitchFamily="34" charset="0"/>
                <a:ea typeface="에이투지체 8 ExtraBold" pitchFamily="34" charset="-122"/>
                <a:cs typeface="에이투지체 8 ExtraBold" pitchFamily="34" charset="-120"/>
              </a:rPr>
              <a:t>공식 파트너 3개 부문을 동시 보유해</a:t>
            </a:r>
            <a:endParaRPr lang="en-US" sz="1900" dirty="0">
              <a:solidFill>
                <a:schemeClr val="bg1"/>
              </a:solidFill>
              <a:highlight>
                <a:srgbClr val="0000FF"/>
              </a:highlight>
            </a:endParaRPr>
          </a:p>
          <a:p>
            <a:pPr marL="0" indent="0">
              <a:lnSpc>
                <a:spcPts val="2600"/>
              </a:lnSpc>
              <a:buNone/>
            </a:pPr>
            <a:r>
              <a:rPr lang="en-US" sz="1900" dirty="0">
                <a:solidFill>
                  <a:schemeClr val="bg1"/>
                </a:solidFill>
                <a:highlight>
                  <a:srgbClr val="0000FF"/>
                </a:highlight>
                <a:latin typeface="에이투지체 8 ExtraBold" pitchFamily="34" charset="0"/>
                <a:ea typeface="에이투지체 8 ExtraBold" pitchFamily="34" charset="-122"/>
                <a:cs typeface="에이투지체 8 ExtraBold" pitchFamily="34" charset="-120"/>
              </a:rPr>
              <a:t>검색, 쇼핑, 디스플레이 전 영역을 최상위 등급으로 운영합니다</a:t>
            </a:r>
            <a:endParaRPr lang="en-US" sz="1900" dirty="0">
              <a:solidFill>
                <a:schemeClr val="bg1"/>
              </a:solidFill>
              <a:highlight>
                <a:srgbClr val="0000FF"/>
              </a:highlight>
            </a:endParaRPr>
          </a:p>
        </p:txBody>
      </p:sp>
      <p:sp>
        <p:nvSpPr>
          <p:cNvPr id="4" name="Text 2"/>
          <p:cNvSpPr/>
          <p:nvPr/>
        </p:nvSpPr>
        <p:spPr>
          <a:xfrm>
            <a:off x="548640" y="1517904"/>
            <a:ext cx="11064240" cy="365760"/>
          </a:xfrm>
          <a:prstGeom prst="rect">
            <a:avLst/>
          </a:prstGeom>
          <a:noFill/>
          <a:ln/>
        </p:spPr>
        <p:txBody>
          <a:bodyPr wrap="square" lIns="0" tIns="0" rIns="0" bIns="0" rtlCol="0" anchor="ctr"/>
          <a:lstStyle/>
          <a:p>
            <a:pPr marL="0" indent="0">
              <a:buNone/>
            </a:pPr>
            <a:r>
              <a:rPr lang="en-US" sz="1100" dirty="0">
                <a:solidFill>
                  <a:srgbClr val="5C5C5C"/>
                </a:solidFill>
                <a:latin typeface="에이투지체 5 Medium" pitchFamily="34" charset="0"/>
                <a:ea typeface="에이투지체 5 Medium" pitchFamily="34" charset="-122"/>
                <a:cs typeface="에이투지체 5 Medium" pitchFamily="34" charset="-120"/>
              </a:rPr>
              <a:t>네이버 광고주센터 공식 파트너사 안내 기준입니다</a:t>
            </a:r>
            <a:endParaRPr lang="en-US" sz="1100" dirty="0"/>
          </a:p>
        </p:txBody>
      </p:sp>
      <p:sp>
        <p:nvSpPr>
          <p:cNvPr id="5" name="Text 3"/>
          <p:cNvSpPr/>
          <p:nvPr/>
        </p:nvSpPr>
        <p:spPr>
          <a:xfrm>
            <a:off x="548640" y="6291072"/>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6" name="Text 4"/>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7" name="Text 5"/>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222222"/>
                </a:solidFill>
                <a:latin typeface="에이투지체 6 SemiBold" pitchFamily="34" charset="0"/>
                <a:ea typeface="에이투지체 6 SemiBold" pitchFamily="34" charset="-122"/>
                <a:cs typeface="에이투지체 6 SemiBold" pitchFamily="34" charset="-120"/>
              </a:rPr>
              <a:t>09</a:t>
            </a:r>
            <a:endParaRPr lang="en-US" sz="800" dirty="0"/>
          </a:p>
        </p:txBody>
      </p:sp>
      <p:sp>
        <p:nvSpPr>
          <p:cNvPr id="8" name="Shape 6"/>
          <p:cNvSpPr/>
          <p:nvPr/>
        </p:nvSpPr>
        <p:spPr>
          <a:xfrm>
            <a:off x="548640" y="1965960"/>
            <a:ext cx="5760720" cy="1371600"/>
          </a:xfrm>
          <a:prstGeom prst="roundRect">
            <a:avLst>
              <a:gd name="adj" fmla="val 5333"/>
            </a:avLst>
          </a:prstGeom>
          <a:solidFill>
            <a:srgbClr val="EAF2FB"/>
          </a:solidFill>
          <a:ln w="12700">
            <a:solidFill>
              <a:srgbClr val="EAF2FB"/>
            </a:solidFill>
            <a:prstDash val="solid"/>
          </a:ln>
        </p:spPr>
        <p:txBody>
          <a:bodyPr/>
          <a:lstStyle/>
          <a:p>
            <a:endParaRPr lang="ko-KR" altLang="en-US"/>
          </a:p>
        </p:txBody>
      </p:sp>
      <p:sp>
        <p:nvSpPr>
          <p:cNvPr id="9" name="Text 7"/>
          <p:cNvSpPr/>
          <p:nvPr/>
        </p:nvSpPr>
        <p:spPr>
          <a:xfrm>
            <a:off x="841248" y="2148840"/>
            <a:ext cx="5120640" cy="320040"/>
          </a:xfrm>
          <a:prstGeom prst="rect">
            <a:avLst/>
          </a:prstGeom>
          <a:noFill/>
          <a:ln/>
        </p:spPr>
        <p:txBody>
          <a:bodyPr wrap="square" lIns="0" tIns="0" rIns="0" bIns="0" rtlCol="0" anchor="ctr"/>
          <a:lstStyle/>
          <a:p>
            <a:pPr marL="0" indent="0">
              <a:buNone/>
            </a:pPr>
            <a:r>
              <a:rPr lang="en-US" sz="1300" dirty="0">
                <a:solidFill>
                  <a:srgbClr val="004F9F"/>
                </a:solidFill>
                <a:latin typeface="에이투지체 8 ExtraBold" pitchFamily="34" charset="0"/>
                <a:ea typeface="에이투지체 8 ExtraBold" pitchFamily="34" charset="-122"/>
                <a:cs typeface="에이투지체 8 ExtraBold" pitchFamily="34" charset="-120"/>
              </a:rPr>
              <a:t>3개 부문 동시 보유</a:t>
            </a:r>
            <a:endParaRPr lang="en-US" sz="1300" dirty="0"/>
          </a:p>
        </p:txBody>
      </p:sp>
      <p:sp>
        <p:nvSpPr>
          <p:cNvPr id="10" name="Text 8"/>
          <p:cNvSpPr/>
          <p:nvPr/>
        </p:nvSpPr>
        <p:spPr>
          <a:xfrm>
            <a:off x="841248" y="2514600"/>
            <a:ext cx="5257800" cy="731520"/>
          </a:xfrm>
          <a:prstGeom prst="rect">
            <a:avLst/>
          </a:prstGeom>
          <a:noFill/>
          <a:ln/>
        </p:spPr>
        <p:txBody>
          <a:bodyPr wrap="square" lIns="0" tIns="0" rIns="0" bIns="0" rtlCol="0" anchor="ctr"/>
          <a:lstStyle/>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네이버 광고 공식 파트너사 중 프리미어 파트너, SME Growth 파트너,</a:t>
            </a:r>
            <a:endParaRPr lang="en-US" sz="1000" dirty="0"/>
          </a:p>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어워즈 수상 파트너 자격을 모두 보유하고 있습니다</a:t>
            </a:r>
            <a:endParaRPr lang="en-US" sz="1000" dirty="0"/>
          </a:p>
        </p:txBody>
      </p:sp>
      <p:sp>
        <p:nvSpPr>
          <p:cNvPr id="11" name="Shape 9"/>
          <p:cNvSpPr/>
          <p:nvPr/>
        </p:nvSpPr>
        <p:spPr>
          <a:xfrm>
            <a:off x="548640" y="3538728"/>
            <a:ext cx="5760720" cy="1600200"/>
          </a:xfrm>
          <a:prstGeom prst="roundRect">
            <a:avLst>
              <a:gd name="adj" fmla="val 4571"/>
            </a:avLst>
          </a:prstGeom>
          <a:solidFill>
            <a:srgbClr val="F5F5F5"/>
          </a:solidFill>
          <a:ln w="12700">
            <a:solidFill>
              <a:srgbClr val="F5F5F5"/>
            </a:solidFill>
            <a:prstDash val="solid"/>
          </a:ln>
        </p:spPr>
        <p:txBody>
          <a:bodyPr/>
          <a:lstStyle/>
          <a:p>
            <a:endParaRPr lang="ko-KR" altLang="en-US"/>
          </a:p>
        </p:txBody>
      </p:sp>
      <p:sp>
        <p:nvSpPr>
          <p:cNvPr id="12" name="Text 10"/>
          <p:cNvSpPr/>
          <p:nvPr/>
        </p:nvSpPr>
        <p:spPr>
          <a:xfrm>
            <a:off x="841248" y="3721608"/>
            <a:ext cx="5120640" cy="320040"/>
          </a:xfrm>
          <a:prstGeom prst="rect">
            <a:avLst/>
          </a:prstGeom>
          <a:noFill/>
          <a:ln/>
        </p:spPr>
        <p:txBody>
          <a:bodyPr wrap="square" lIns="0" tIns="0" rIns="0" bIns="0" rtlCol="0" anchor="ctr"/>
          <a:lstStyle/>
          <a:p>
            <a:pPr marL="0" indent="0">
              <a:buNone/>
            </a:pPr>
            <a:r>
              <a:rPr lang="en-US" sz="1300" dirty="0">
                <a:solidFill>
                  <a:srgbClr val="222222"/>
                </a:solidFill>
                <a:latin typeface="에이투지체 8 ExtraBold" pitchFamily="34" charset="0"/>
                <a:ea typeface="에이투지체 8 ExtraBold" pitchFamily="34" charset="-122"/>
                <a:cs typeface="에이투지체 8 ExtraBold" pitchFamily="34" charset="-120"/>
              </a:rPr>
              <a:t>인증 의미</a:t>
            </a:r>
            <a:endParaRPr lang="en-US" sz="1300" dirty="0"/>
          </a:p>
        </p:txBody>
      </p:sp>
      <p:sp>
        <p:nvSpPr>
          <p:cNvPr id="13" name="Text 11"/>
          <p:cNvSpPr/>
          <p:nvPr/>
        </p:nvSpPr>
        <p:spPr>
          <a:xfrm>
            <a:off x="841248" y="4087368"/>
            <a:ext cx="5257800" cy="960120"/>
          </a:xfrm>
          <a:prstGeom prst="rect">
            <a:avLst/>
          </a:prstGeom>
          <a:noFill/>
          <a:ln/>
        </p:spPr>
        <p:txBody>
          <a:bodyPr wrap="square" lIns="0" tIns="0" rIns="0" bIns="0" rtlCol="0" anchor="ctr"/>
          <a:lstStyle/>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프리미어 파트너, 네이버 광고 분야의 최상위 등급 파트너</a:t>
            </a:r>
            <a:endParaRPr lang="en-US" sz="1000" dirty="0"/>
          </a:p>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SME Growth 파트너, 중소 광고주 성장 지원에 특화된 공식 파트너</a:t>
            </a:r>
            <a:endParaRPr lang="en-US" sz="1000" dirty="0"/>
          </a:p>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어워즈 수상 파트너, 우수한 광고 성과를 인정받은 수상 파트너</a:t>
            </a:r>
            <a:endParaRPr lang="en-US" sz="1000" dirty="0"/>
          </a:p>
        </p:txBody>
      </p:sp>
      <p:sp>
        <p:nvSpPr>
          <p:cNvPr id="14" name="Shape 12"/>
          <p:cNvSpPr/>
          <p:nvPr/>
        </p:nvSpPr>
        <p:spPr>
          <a:xfrm>
            <a:off x="548640" y="5340096"/>
            <a:ext cx="5760720" cy="1371600"/>
          </a:xfrm>
          <a:prstGeom prst="roundRect">
            <a:avLst>
              <a:gd name="adj" fmla="val 5333"/>
            </a:avLst>
          </a:prstGeom>
          <a:solidFill>
            <a:srgbClr val="F5F5F5"/>
          </a:solidFill>
          <a:ln w="12700">
            <a:solidFill>
              <a:srgbClr val="F5F5F5"/>
            </a:solidFill>
            <a:prstDash val="solid"/>
          </a:ln>
        </p:spPr>
        <p:txBody>
          <a:bodyPr/>
          <a:lstStyle/>
          <a:p>
            <a:endParaRPr lang="ko-KR" altLang="en-US"/>
          </a:p>
        </p:txBody>
      </p:sp>
      <p:sp>
        <p:nvSpPr>
          <p:cNvPr id="15" name="Text 13"/>
          <p:cNvSpPr/>
          <p:nvPr/>
        </p:nvSpPr>
        <p:spPr>
          <a:xfrm>
            <a:off x="841248" y="5522976"/>
            <a:ext cx="5120640" cy="320040"/>
          </a:xfrm>
          <a:prstGeom prst="rect">
            <a:avLst/>
          </a:prstGeom>
          <a:noFill/>
          <a:ln/>
        </p:spPr>
        <p:txBody>
          <a:bodyPr wrap="square" lIns="0" tIns="0" rIns="0" bIns="0" rtlCol="0" anchor="ctr"/>
          <a:lstStyle/>
          <a:p>
            <a:pPr marL="0" indent="0">
              <a:buNone/>
            </a:pPr>
            <a:r>
              <a:rPr lang="en-US" sz="1300" dirty="0">
                <a:solidFill>
                  <a:srgbClr val="222222"/>
                </a:solidFill>
                <a:latin typeface="에이투지체 8 ExtraBold" pitchFamily="34" charset="0"/>
                <a:ea typeface="에이투지체 8 ExtraBold" pitchFamily="34" charset="-122"/>
                <a:cs typeface="에이투지체 8 ExtraBold" pitchFamily="34" charset="-120"/>
              </a:rPr>
              <a:t>핵심 메시지</a:t>
            </a:r>
            <a:endParaRPr lang="en-US" sz="1300" dirty="0"/>
          </a:p>
        </p:txBody>
      </p:sp>
      <p:sp>
        <p:nvSpPr>
          <p:cNvPr id="16" name="Text 14"/>
          <p:cNvSpPr/>
          <p:nvPr/>
        </p:nvSpPr>
        <p:spPr>
          <a:xfrm>
            <a:off x="841248" y="5888736"/>
            <a:ext cx="5257800" cy="731520"/>
          </a:xfrm>
          <a:prstGeom prst="rect">
            <a:avLst/>
          </a:prstGeom>
          <a:noFill/>
          <a:ln/>
        </p:spPr>
        <p:txBody>
          <a:bodyPr wrap="square" lIns="0" tIns="0" rIns="0" bIns="0" rtlCol="0" anchor="ctr"/>
          <a:lstStyle/>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광고 운영 역량과 성장 지원 전문성, 성과 경쟁력을 동시에 인정받은</a:t>
            </a:r>
            <a:endParaRPr lang="en-US" sz="1000" dirty="0"/>
          </a:p>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상위권 디지털 마케팅 파트너입니다</a:t>
            </a:r>
            <a:endParaRPr lang="en-US" sz="1000" dirty="0"/>
          </a:p>
        </p:txBody>
      </p:sp>
      <p:pic>
        <p:nvPicPr>
          <p:cNvPr id="17" name="Image 0" descr="naver_badge.png"/>
          <p:cNvPicPr>
            <a:picLocks noChangeAspect="1"/>
          </p:cNvPicPr>
          <p:nvPr/>
        </p:nvPicPr>
        <p:blipFill>
          <a:blip r:embed="rId3"/>
          <a:stretch>
            <a:fillRect/>
          </a:stretch>
        </p:blipFill>
        <p:spPr>
          <a:xfrm>
            <a:off x="6675120" y="2148840"/>
            <a:ext cx="4937760" cy="39044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1 · 회사 소개</a:t>
            </a:r>
            <a:endParaRPr lang="en-US" sz="9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marL="0" indent="0">
              <a:lnSpc>
                <a:spcPts val="2600"/>
              </a:lnSpc>
              <a:buNone/>
            </a:pPr>
            <a:r>
              <a:rPr lang="en-US" sz="1900" dirty="0">
                <a:solidFill>
                  <a:schemeClr val="bg1"/>
                </a:solidFill>
                <a:highlight>
                  <a:srgbClr val="0000FF"/>
                </a:highlight>
                <a:latin typeface="에이투지체 8 ExtraBold" pitchFamily="34" charset="0"/>
                <a:ea typeface="에이투지체 8 ExtraBold" pitchFamily="34" charset="-122"/>
                <a:cs typeface="에이투지체 8 ExtraBold" pitchFamily="34" charset="-120"/>
              </a:rPr>
              <a:t>카카오 KPP 파트너사에 3년 연속 선정</a:t>
            </a:r>
            <a:r>
              <a:rPr lang="en-US" sz="1900" dirty="0">
                <a:solidFill>
                  <a:srgbClr val="222222"/>
                </a:solidFill>
                <a:latin typeface="에이투지체 8 ExtraBold" pitchFamily="34" charset="0"/>
                <a:ea typeface="에이투지체 8 ExtraBold" pitchFamily="34" charset="-122"/>
                <a:cs typeface="에이투지체 8 ExtraBold" pitchFamily="34" charset="-120"/>
              </a:rPr>
              <a:t>되어</a:t>
            </a:r>
            <a:endParaRPr lang="en-US" sz="1900" dirty="0"/>
          </a:p>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카카오 광고 운영 전문성을 공식 인증받았습니다</a:t>
            </a:r>
            <a:endParaRPr lang="en-US" sz="1900" dirty="0"/>
          </a:p>
        </p:txBody>
      </p:sp>
      <p:sp>
        <p:nvSpPr>
          <p:cNvPr id="4" name="Text 2"/>
          <p:cNvSpPr/>
          <p:nvPr/>
        </p:nvSpPr>
        <p:spPr>
          <a:xfrm>
            <a:off x="548640" y="1517904"/>
            <a:ext cx="11064240" cy="365760"/>
          </a:xfrm>
          <a:prstGeom prst="rect">
            <a:avLst/>
          </a:prstGeom>
          <a:noFill/>
          <a:ln/>
        </p:spPr>
        <p:txBody>
          <a:bodyPr wrap="square" lIns="0" tIns="0" rIns="0" bIns="0" rtlCol="0" anchor="ctr"/>
          <a:lstStyle/>
          <a:p>
            <a:pPr marL="0" indent="0">
              <a:buNone/>
            </a:pPr>
            <a:r>
              <a:rPr lang="en-US" sz="1100" dirty="0">
                <a:solidFill>
                  <a:srgbClr val="5C5C5C"/>
                </a:solidFill>
                <a:latin typeface="에이투지체 5 Medium" pitchFamily="34" charset="0"/>
                <a:ea typeface="에이투지체 5 Medium" pitchFamily="34" charset="-122"/>
                <a:cs typeface="에이투지체 5 Medium" pitchFamily="34" charset="-120"/>
              </a:rPr>
              <a:t>머니투데이 기사 및 공개 발표 내용 기준입니다</a:t>
            </a:r>
            <a:endParaRPr lang="en-US" sz="1100" dirty="0"/>
          </a:p>
        </p:txBody>
      </p:sp>
      <p:sp>
        <p:nvSpPr>
          <p:cNvPr id="5" name="Text 3"/>
          <p:cNvSpPr/>
          <p:nvPr/>
        </p:nvSpPr>
        <p:spPr>
          <a:xfrm>
            <a:off x="548640" y="6327648"/>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6" name="Text 4"/>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7" name="Text 5"/>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222222"/>
                </a:solidFill>
                <a:latin typeface="에이투지체 6 SemiBold" pitchFamily="34" charset="0"/>
                <a:ea typeface="에이투지체 6 SemiBold" pitchFamily="34" charset="-122"/>
                <a:cs typeface="에이투지체 6 SemiBold" pitchFamily="34" charset="-120"/>
              </a:rPr>
              <a:t>10</a:t>
            </a:r>
            <a:endParaRPr lang="en-US" sz="800" dirty="0"/>
          </a:p>
        </p:txBody>
      </p:sp>
      <p:sp>
        <p:nvSpPr>
          <p:cNvPr id="8" name="Shape 6"/>
          <p:cNvSpPr/>
          <p:nvPr/>
        </p:nvSpPr>
        <p:spPr>
          <a:xfrm>
            <a:off x="548640" y="2002536"/>
            <a:ext cx="5760720" cy="1371600"/>
          </a:xfrm>
          <a:prstGeom prst="roundRect">
            <a:avLst>
              <a:gd name="adj" fmla="val 5333"/>
            </a:avLst>
          </a:prstGeom>
          <a:solidFill>
            <a:srgbClr val="EAF2FB"/>
          </a:solidFill>
          <a:ln w="12700">
            <a:solidFill>
              <a:srgbClr val="EAF2FB"/>
            </a:solidFill>
            <a:prstDash val="solid"/>
          </a:ln>
        </p:spPr>
        <p:txBody>
          <a:bodyPr/>
          <a:lstStyle/>
          <a:p>
            <a:endParaRPr lang="ko-KR" altLang="en-US"/>
          </a:p>
        </p:txBody>
      </p:sp>
      <p:sp>
        <p:nvSpPr>
          <p:cNvPr id="9" name="Text 7"/>
          <p:cNvSpPr/>
          <p:nvPr/>
        </p:nvSpPr>
        <p:spPr>
          <a:xfrm>
            <a:off x="841248" y="2185416"/>
            <a:ext cx="5120640" cy="320040"/>
          </a:xfrm>
          <a:prstGeom prst="rect">
            <a:avLst/>
          </a:prstGeom>
          <a:noFill/>
          <a:ln/>
        </p:spPr>
        <p:txBody>
          <a:bodyPr wrap="square" lIns="0" tIns="0" rIns="0" bIns="0" rtlCol="0" anchor="ctr"/>
          <a:lstStyle/>
          <a:p>
            <a:pPr marL="0" indent="0">
              <a:buNone/>
            </a:pPr>
            <a:r>
              <a:rPr lang="en-US" sz="1300" dirty="0">
                <a:solidFill>
                  <a:srgbClr val="004F9F"/>
                </a:solidFill>
                <a:latin typeface="에이투지체 8 ExtraBold" pitchFamily="34" charset="0"/>
                <a:ea typeface="에이투지체 8 ExtraBold" pitchFamily="34" charset="-122"/>
                <a:cs typeface="에이투지체 8 ExtraBold" pitchFamily="34" charset="-120"/>
              </a:rPr>
              <a:t>3년 연속 선정</a:t>
            </a:r>
            <a:endParaRPr lang="en-US" sz="1300" dirty="0"/>
          </a:p>
        </p:txBody>
      </p:sp>
      <p:sp>
        <p:nvSpPr>
          <p:cNvPr id="10" name="Text 8"/>
          <p:cNvSpPr/>
          <p:nvPr/>
        </p:nvSpPr>
        <p:spPr>
          <a:xfrm>
            <a:off x="841248" y="2551176"/>
            <a:ext cx="5257800" cy="731520"/>
          </a:xfrm>
          <a:prstGeom prst="rect">
            <a:avLst/>
          </a:prstGeom>
          <a:noFill/>
          <a:ln/>
        </p:spPr>
        <p:txBody>
          <a:bodyPr wrap="square" lIns="0" tIns="0" rIns="0" bIns="0" rtlCol="0" anchor="ctr"/>
          <a:lstStyle/>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카카오 공식 파트너십 프로그램 KPP(Kakao Premier Partner)</a:t>
            </a:r>
            <a:endParaRPr lang="en-US" sz="1000" dirty="0"/>
          </a:p>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2026년 파트너사로 3년 연속 선정되었습니다</a:t>
            </a:r>
            <a:endParaRPr lang="en-US" sz="1000" dirty="0"/>
          </a:p>
        </p:txBody>
      </p:sp>
      <p:sp>
        <p:nvSpPr>
          <p:cNvPr id="11" name="Shape 9"/>
          <p:cNvSpPr/>
          <p:nvPr/>
        </p:nvSpPr>
        <p:spPr>
          <a:xfrm>
            <a:off x="548640" y="3575304"/>
            <a:ext cx="5760720" cy="1600200"/>
          </a:xfrm>
          <a:prstGeom prst="roundRect">
            <a:avLst>
              <a:gd name="adj" fmla="val 4571"/>
            </a:avLst>
          </a:prstGeom>
          <a:solidFill>
            <a:srgbClr val="F5F5F5"/>
          </a:solidFill>
          <a:ln w="12700">
            <a:solidFill>
              <a:srgbClr val="F5F5F5"/>
            </a:solidFill>
            <a:prstDash val="solid"/>
          </a:ln>
        </p:spPr>
        <p:txBody>
          <a:bodyPr/>
          <a:lstStyle/>
          <a:p>
            <a:endParaRPr lang="ko-KR" altLang="en-US"/>
          </a:p>
        </p:txBody>
      </p:sp>
      <p:sp>
        <p:nvSpPr>
          <p:cNvPr id="12" name="Text 10"/>
          <p:cNvSpPr/>
          <p:nvPr/>
        </p:nvSpPr>
        <p:spPr>
          <a:xfrm>
            <a:off x="841248" y="3758184"/>
            <a:ext cx="5120640" cy="320040"/>
          </a:xfrm>
          <a:prstGeom prst="rect">
            <a:avLst/>
          </a:prstGeom>
          <a:noFill/>
          <a:ln/>
        </p:spPr>
        <p:txBody>
          <a:bodyPr wrap="square" lIns="0" tIns="0" rIns="0" bIns="0" rtlCol="0" anchor="ctr"/>
          <a:lstStyle/>
          <a:p>
            <a:pPr marL="0" indent="0">
              <a:buNone/>
            </a:pPr>
            <a:r>
              <a:rPr lang="en-US" sz="1300" dirty="0">
                <a:solidFill>
                  <a:srgbClr val="222222"/>
                </a:solidFill>
                <a:latin typeface="에이투지체 8 ExtraBold" pitchFamily="34" charset="0"/>
                <a:ea typeface="에이투지체 8 ExtraBold" pitchFamily="34" charset="-122"/>
                <a:cs typeface="에이투지체 8 ExtraBold" pitchFamily="34" charset="-120"/>
              </a:rPr>
              <a:t>선정 기준과 의미</a:t>
            </a:r>
            <a:endParaRPr lang="en-US" sz="1300" dirty="0"/>
          </a:p>
        </p:txBody>
      </p:sp>
      <p:sp>
        <p:nvSpPr>
          <p:cNvPr id="13" name="Text 11"/>
          <p:cNvSpPr/>
          <p:nvPr/>
        </p:nvSpPr>
        <p:spPr>
          <a:xfrm>
            <a:off x="841248" y="4123944"/>
            <a:ext cx="5257800" cy="960120"/>
          </a:xfrm>
          <a:prstGeom prst="rect">
            <a:avLst/>
          </a:prstGeom>
          <a:noFill/>
          <a:ln/>
        </p:spPr>
        <p:txBody>
          <a:bodyPr wrap="square" lIns="0" tIns="0" rIns="0" bIns="0" rtlCol="0" anchor="ctr"/>
          <a:lstStyle/>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카카오모먼트 공식 대행사 중 우수 파트너를 선정하는 제도</a:t>
            </a:r>
            <a:endParaRPr lang="en-US" sz="1000" dirty="0"/>
          </a:p>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매출과 성장률, 운영 역량, 성공사례, 협업 가능성을 종합 평가</a:t>
            </a:r>
            <a:endParaRPr lang="en-US" sz="1000" dirty="0"/>
          </a:p>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카카오 광고 운영 전문성과 지속 성장 역량을 인정받은 파트너</a:t>
            </a:r>
            <a:endParaRPr lang="en-US" sz="1000" dirty="0"/>
          </a:p>
        </p:txBody>
      </p:sp>
      <p:sp>
        <p:nvSpPr>
          <p:cNvPr id="14" name="Shape 12"/>
          <p:cNvSpPr/>
          <p:nvPr/>
        </p:nvSpPr>
        <p:spPr>
          <a:xfrm>
            <a:off x="548640" y="5376672"/>
            <a:ext cx="5760720" cy="1371600"/>
          </a:xfrm>
          <a:prstGeom prst="roundRect">
            <a:avLst>
              <a:gd name="adj" fmla="val 5333"/>
            </a:avLst>
          </a:prstGeom>
          <a:solidFill>
            <a:srgbClr val="F5F5F5"/>
          </a:solidFill>
          <a:ln w="12700">
            <a:solidFill>
              <a:srgbClr val="F5F5F5"/>
            </a:solidFill>
            <a:prstDash val="solid"/>
          </a:ln>
        </p:spPr>
        <p:txBody>
          <a:bodyPr/>
          <a:lstStyle/>
          <a:p>
            <a:endParaRPr lang="ko-KR" altLang="en-US"/>
          </a:p>
        </p:txBody>
      </p:sp>
      <p:sp>
        <p:nvSpPr>
          <p:cNvPr id="15" name="Text 13"/>
          <p:cNvSpPr/>
          <p:nvPr/>
        </p:nvSpPr>
        <p:spPr>
          <a:xfrm>
            <a:off x="841248" y="5559552"/>
            <a:ext cx="5120640" cy="320040"/>
          </a:xfrm>
          <a:prstGeom prst="rect">
            <a:avLst/>
          </a:prstGeom>
          <a:noFill/>
          <a:ln/>
        </p:spPr>
        <p:txBody>
          <a:bodyPr wrap="square" lIns="0" tIns="0" rIns="0" bIns="0" rtlCol="0" anchor="ctr"/>
          <a:lstStyle/>
          <a:p>
            <a:pPr marL="0" indent="0">
              <a:buNone/>
            </a:pPr>
            <a:r>
              <a:rPr lang="en-US" sz="1300" dirty="0">
                <a:solidFill>
                  <a:srgbClr val="222222"/>
                </a:solidFill>
                <a:latin typeface="에이투지체 8 ExtraBold" pitchFamily="34" charset="0"/>
                <a:ea typeface="에이투지체 8 ExtraBold" pitchFamily="34" charset="-122"/>
                <a:cs typeface="에이투지체 8 ExtraBold" pitchFamily="34" charset="-120"/>
              </a:rPr>
              <a:t>주요 혜택과 성과</a:t>
            </a:r>
            <a:endParaRPr lang="en-US" sz="1300" dirty="0"/>
          </a:p>
        </p:txBody>
      </p:sp>
      <p:sp>
        <p:nvSpPr>
          <p:cNvPr id="16" name="Text 14"/>
          <p:cNvSpPr/>
          <p:nvPr/>
        </p:nvSpPr>
        <p:spPr>
          <a:xfrm>
            <a:off x="841248" y="5925312"/>
            <a:ext cx="5257800" cy="731520"/>
          </a:xfrm>
          <a:prstGeom prst="rect">
            <a:avLst/>
          </a:prstGeom>
          <a:noFill/>
          <a:ln/>
        </p:spPr>
        <p:txBody>
          <a:bodyPr wrap="square" lIns="0" tIns="0" rIns="0" bIns="0" rtlCol="0" anchor="ctr"/>
          <a:lstStyle/>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KPP 인증마크 부여, 퍼포먼스 정기 미팅과 캠페인 컨설팅 지원</a:t>
            </a:r>
            <a:endParaRPr lang="en-US" sz="1000" dirty="0"/>
          </a:p>
          <a:p>
            <a:pPr marL="0" indent="0">
              <a:lnSpc>
                <a:spcPts val="1450"/>
              </a:lnSpc>
              <a:buNone/>
            </a:pPr>
            <a:r>
              <a:rPr lang="en-US" sz="1000" dirty="0">
                <a:solidFill>
                  <a:srgbClr val="5C5C5C"/>
                </a:solidFill>
                <a:latin typeface="에이투지체 4 Regular" pitchFamily="34" charset="0"/>
                <a:ea typeface="에이투지체 4 Regular" pitchFamily="34" charset="-122"/>
                <a:cs typeface="에이투지체 4 Regular" pitchFamily="34" charset="-120"/>
              </a:rPr>
              <a:t>2025 카카오 파트너스 커넥트 우수 파트너십 부문 수상</a:t>
            </a:r>
            <a:endParaRPr lang="en-US" sz="1000" dirty="0"/>
          </a:p>
        </p:txBody>
      </p:sp>
      <p:pic>
        <p:nvPicPr>
          <p:cNvPr id="17" name="Image 0" descr="kpp_badge.png"/>
          <p:cNvPicPr>
            <a:picLocks noChangeAspect="1"/>
          </p:cNvPicPr>
          <p:nvPr/>
        </p:nvPicPr>
        <p:blipFill>
          <a:blip r:embed="rId3"/>
          <a:stretch>
            <a:fillRect/>
          </a:stretch>
        </p:blipFill>
        <p:spPr>
          <a:xfrm>
            <a:off x="6675120" y="2240280"/>
            <a:ext cx="4937760" cy="363931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2F5C"/>
        </a:solidFill>
        <a:effectLst/>
      </p:bgPr>
    </p:bg>
    <p:spTree>
      <p:nvGrpSpPr>
        <p:cNvPr id="1" name="">
          <a:extLst>
            <a:ext uri="{FF2B5EF4-FFF2-40B4-BE49-F238E27FC236}">
              <a16:creationId xmlns:a16="http://schemas.microsoft.com/office/drawing/2014/main" id="{AABE6796-8FED-5C13-0957-5602B61AD919}"/>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3EA28A6-8D49-958D-5583-5E253C56083E}"/>
              </a:ext>
            </a:extLst>
          </p:cNvPr>
          <p:cNvSpPr/>
          <p:nvPr/>
        </p:nvSpPr>
        <p:spPr>
          <a:xfrm>
            <a:off x="0" y="0"/>
            <a:ext cx="164592" cy="6858000"/>
          </a:xfrm>
          <a:prstGeom prst="rect">
            <a:avLst/>
          </a:prstGeom>
          <a:solidFill>
            <a:srgbClr val="1B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767EBE90-B8DB-1E62-CE92-BB951202EF29}"/>
              </a:ext>
            </a:extLst>
          </p:cNvPr>
          <p:cNvSpPr txBox="1"/>
          <p:nvPr/>
        </p:nvSpPr>
        <p:spPr>
          <a:xfrm>
            <a:off x="548640" y="1737360"/>
            <a:ext cx="5486400" cy="246221"/>
          </a:xfrm>
          <a:prstGeom prst="rect">
            <a:avLst/>
          </a:prstGeom>
          <a:noFill/>
        </p:spPr>
        <p:txBody>
          <a:bodyPr wrap="square" lIns="0" tIns="0" rIns="0" bIns="0" anchor="t">
            <a:spAutoFit/>
          </a:bodyPr>
          <a:lstStyle/>
          <a:p>
            <a:pPr algn="l"/>
            <a:r>
              <a:rPr sz="1600" dirty="0">
                <a:solidFill>
                  <a:srgbClr val="6FB0E8"/>
                </a:solidFill>
                <a:latin typeface="에이투지체 6 SemiBold"/>
              </a:rPr>
              <a:t>PART 2</a:t>
            </a:r>
          </a:p>
        </p:txBody>
      </p:sp>
      <p:sp>
        <p:nvSpPr>
          <p:cNvPr id="4" name="TextBox 3">
            <a:extLst>
              <a:ext uri="{FF2B5EF4-FFF2-40B4-BE49-F238E27FC236}">
                <a16:creationId xmlns:a16="http://schemas.microsoft.com/office/drawing/2014/main" id="{33F3C835-1300-B28A-883C-E9C45FE03BA8}"/>
              </a:ext>
            </a:extLst>
          </p:cNvPr>
          <p:cNvSpPr txBox="1"/>
          <p:nvPr/>
        </p:nvSpPr>
        <p:spPr>
          <a:xfrm>
            <a:off x="548640" y="2286000"/>
            <a:ext cx="11064240" cy="615553"/>
          </a:xfrm>
          <a:prstGeom prst="rect">
            <a:avLst/>
          </a:prstGeom>
          <a:noFill/>
        </p:spPr>
        <p:txBody>
          <a:bodyPr wrap="square" lIns="0" tIns="0" rIns="0" bIns="0" anchor="t">
            <a:spAutoFit/>
          </a:bodyPr>
          <a:lstStyle/>
          <a:p>
            <a:pPr algn="l"/>
            <a:r>
              <a:rPr lang="ko-KR" altLang="en-US" sz="4000" dirty="0">
                <a:solidFill>
                  <a:srgbClr val="FFFFFF"/>
                </a:solidFill>
                <a:latin typeface="에이투지체 8 ExtraBold" pitchFamily="2" charset="-127"/>
                <a:ea typeface="에이투지체 8 ExtraBold" pitchFamily="2" charset="-127"/>
              </a:rPr>
              <a:t>현황 진단</a:t>
            </a:r>
            <a:endParaRPr sz="4000" dirty="0">
              <a:solidFill>
                <a:srgbClr val="FFFFFF"/>
              </a:solidFill>
              <a:latin typeface="에이투지체 8 ExtraBold" pitchFamily="2" charset="-127"/>
              <a:ea typeface="에이투지체 8 ExtraBold" pitchFamily="2" charset="-127"/>
            </a:endParaRPr>
          </a:p>
        </p:txBody>
      </p:sp>
      <p:sp>
        <p:nvSpPr>
          <p:cNvPr id="5" name="TextBox 4">
            <a:extLst>
              <a:ext uri="{FF2B5EF4-FFF2-40B4-BE49-F238E27FC236}">
                <a16:creationId xmlns:a16="http://schemas.microsoft.com/office/drawing/2014/main" id="{03C93891-3181-A8FC-8BC5-002485E7E987}"/>
              </a:ext>
            </a:extLst>
          </p:cNvPr>
          <p:cNvSpPr txBox="1"/>
          <p:nvPr/>
        </p:nvSpPr>
        <p:spPr>
          <a:xfrm>
            <a:off x="548640" y="3310128"/>
            <a:ext cx="11064240" cy="276999"/>
          </a:xfrm>
          <a:prstGeom prst="rect">
            <a:avLst/>
          </a:prstGeom>
          <a:noFill/>
        </p:spPr>
        <p:txBody>
          <a:bodyPr wrap="square" lIns="0" tIns="0" rIns="0" bIns="0" anchor="t">
            <a:spAutoFit/>
          </a:bodyPr>
          <a:lstStyle/>
          <a:p>
            <a:pPr algn="l"/>
            <a:r>
              <a:rPr lang="ko-KR" altLang="en-US" sz="1800" dirty="0">
                <a:solidFill>
                  <a:srgbClr val="FFFFFF"/>
                </a:solidFill>
                <a:latin typeface="에이투지체 6 SemiBold" pitchFamily="2" charset="-127"/>
                <a:ea typeface="에이투지체 6 SemiBold" pitchFamily="2" charset="-127"/>
              </a:rPr>
              <a:t>11월 마케팅 전략 · 미디어믹스</a:t>
            </a:r>
            <a:endParaRPr sz="1800" dirty="0">
              <a:solidFill>
                <a:srgbClr val="FFFFFF"/>
              </a:solidFill>
              <a:latin typeface="에이투지체 6 SemiBold" pitchFamily="2" charset="-127"/>
              <a:ea typeface="에이투지체 6 SemiBold" pitchFamily="2" charset="-127"/>
            </a:endParaRPr>
          </a:p>
        </p:txBody>
      </p:sp>
      <p:sp>
        <p:nvSpPr>
          <p:cNvPr id="7" name="TextBox 6">
            <a:extLst>
              <a:ext uri="{FF2B5EF4-FFF2-40B4-BE49-F238E27FC236}">
                <a16:creationId xmlns:a16="http://schemas.microsoft.com/office/drawing/2014/main" id="{569D0264-0410-DDC3-8441-17DA0E010FF5}"/>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FBBDD"/>
                </a:solidFill>
                <a:latin typeface="에이투지체 3 Light"/>
              </a:rPr>
              <a:t>DODREAM B&amp;B AD PROPOSAL · 2026</a:t>
            </a:r>
          </a:p>
        </p:txBody>
      </p:sp>
      <p:sp>
        <p:nvSpPr>
          <p:cNvPr id="8" name="TextBox 7">
            <a:extLst>
              <a:ext uri="{FF2B5EF4-FFF2-40B4-BE49-F238E27FC236}">
                <a16:creationId xmlns:a16="http://schemas.microsoft.com/office/drawing/2014/main" id="{D96F950E-BA7E-D73D-E3DD-D4CF0A5CA83C}"/>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FBBDD"/>
                </a:solidFill>
                <a:latin typeface="에이투지체 3 Light"/>
              </a:rPr>
              <a:t>LINKPRICE · BRAND AD CENTER</a:t>
            </a:r>
          </a:p>
        </p:txBody>
      </p:sp>
      <p:sp>
        <p:nvSpPr>
          <p:cNvPr id="9" name="PGNO">
            <a:extLst>
              <a:ext uri="{FF2B5EF4-FFF2-40B4-BE49-F238E27FC236}">
                <a16:creationId xmlns:a16="http://schemas.microsoft.com/office/drawing/2014/main" id="{E34EACA3-C428-E5A8-DE2F-478642949E86}"/>
              </a:ext>
            </a:extLst>
          </p:cNvPr>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FFFFFF"/>
                </a:solidFill>
                <a:latin typeface="에이투지체 6 SemiBold"/>
              </a:rPr>
              <a:t>11</a:t>
            </a:r>
          </a:p>
        </p:txBody>
      </p:sp>
    </p:spTree>
    <p:extLst>
      <p:ext uri="{BB962C8B-B14F-4D97-AF65-F5344CB8AC3E}">
        <p14:creationId xmlns:p14="http://schemas.microsoft.com/office/powerpoint/2010/main" val="1109121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9"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0"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1"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12</a:t>
            </a:r>
          </a:p>
        </p:txBody>
      </p:sp>
      <p:sp>
        <p:nvSpPr>
          <p:cNvPr id="2" name="text-1">
            <a:extLst>
              <a:ext uri="{FF2B5EF4-FFF2-40B4-BE49-F238E27FC236}">
                <a16:creationId xmlns:a16="http://schemas.microsoft.com/office/drawing/2014/main" id="{A387A80D-620D-4772-85CF-DE72AFCA9804}"/>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en-US" altLang="ko-KR" sz="1900" dirty="0">
                <a:solidFill>
                  <a:schemeClr val="bg1"/>
                </a:solidFill>
                <a:highlight>
                  <a:srgbClr val="0000FF"/>
                </a:highlight>
                <a:latin typeface="에이투지체 8 ExtraBold"/>
                <a:ea typeface="에이투지체 8 ExtraBold"/>
                <a:cs typeface="에이투지체 8 ExtraBold"/>
              </a:rPr>
              <a:t>11</a:t>
            </a:r>
            <a:r>
              <a:rPr lang="ko-KR" altLang="en-US" sz="1900" dirty="0">
                <a:solidFill>
                  <a:schemeClr val="bg1"/>
                </a:solidFill>
                <a:highlight>
                  <a:srgbClr val="0000FF"/>
                </a:highlight>
                <a:latin typeface="에이투지체 8 ExtraBold"/>
                <a:ea typeface="에이투지체 8 ExtraBold"/>
                <a:cs typeface="에이투지체 8 ExtraBold"/>
              </a:rPr>
              <a:t>월은 </a:t>
            </a:r>
            <a:r>
              <a:rPr lang="ko-KR" sz="1900" dirty="0">
                <a:solidFill>
                  <a:schemeClr val="bg1"/>
                </a:solidFill>
                <a:highlight>
                  <a:srgbClr val="0000FF"/>
                </a:highlight>
                <a:latin typeface="에이투지체 8 ExtraBold"/>
                <a:ea typeface="에이투지체 8 ExtraBold"/>
                <a:cs typeface="에이투지체 8 ExtraBold"/>
              </a:rPr>
              <a:t>쇼핑검색 </a:t>
            </a:r>
            <a:r>
              <a:rPr lang="ko-KR" altLang="en-US" sz="1900" dirty="0">
                <a:solidFill>
                  <a:schemeClr val="bg1"/>
                </a:solidFill>
                <a:highlight>
                  <a:srgbClr val="0000FF"/>
                </a:highlight>
                <a:latin typeface="에이투지체 8 ExtraBold"/>
                <a:ea typeface="에이투지체 8 ExtraBold"/>
                <a:cs typeface="에이투지체 8 ExtraBold"/>
              </a:rPr>
              <a:t>및</a:t>
            </a:r>
            <a:r>
              <a:rPr lang="ko-KR" sz="1900" dirty="0">
                <a:solidFill>
                  <a:schemeClr val="bg1"/>
                </a:solidFill>
                <a:highlight>
                  <a:srgbClr val="0000FF"/>
                </a:highlight>
                <a:latin typeface="에이투지체 8 ExtraBold"/>
                <a:ea typeface="에이투지체 8 ExtraBold"/>
                <a:cs typeface="에이투지체 8 ExtraBold"/>
              </a:rPr>
              <a:t> </a:t>
            </a:r>
            <a:r>
              <a:rPr lang="ko-KR" sz="1900" dirty="0" err="1">
                <a:solidFill>
                  <a:schemeClr val="bg1"/>
                </a:solidFill>
                <a:highlight>
                  <a:srgbClr val="0000FF"/>
                </a:highlight>
                <a:latin typeface="에이투지체 8 ExtraBold"/>
                <a:ea typeface="에이투지체 8 ExtraBold"/>
                <a:cs typeface="에이투지체 8 ExtraBold"/>
              </a:rPr>
              <a:t>GFA</a:t>
            </a:r>
            <a:r>
              <a:rPr lang="ko-KR" sz="1900" dirty="0" err="1">
                <a:solidFill>
                  <a:srgbClr val="222222"/>
                </a:solidFill>
                <a:latin typeface="에이투지체 8 ExtraBold"/>
                <a:ea typeface="에이투지체 8 ExtraBold"/>
                <a:cs typeface="에이투지체 8 ExtraBold"/>
              </a:rPr>
              <a:t>의</a:t>
            </a:r>
            <a:r>
              <a:rPr lang="ko-KR" sz="1900" dirty="0">
                <a:solidFill>
                  <a:srgbClr val="222222"/>
                </a:solidFill>
                <a:latin typeface="에이투지체 8 ExtraBold"/>
                <a:ea typeface="에이투지체 8 ExtraBold"/>
                <a:cs typeface="에이투지체 8 ExtraBold"/>
              </a:rPr>
              <a:t> </a:t>
            </a:r>
            <a:r>
              <a:rPr lang="ko-KR" altLang="en-US" sz="1900" dirty="0">
                <a:solidFill>
                  <a:srgbClr val="222222"/>
                </a:solidFill>
                <a:latin typeface="에이투지체 8 ExtraBold"/>
                <a:ea typeface="에이투지체 8 ExtraBold"/>
                <a:cs typeface="에이투지체 8 ExtraBold"/>
              </a:rPr>
              <a:t>기존 </a:t>
            </a:r>
            <a:r>
              <a:rPr lang="ko-KR" sz="1900" dirty="0">
                <a:solidFill>
                  <a:srgbClr val="222222"/>
                </a:solidFill>
                <a:latin typeface="에이투지체 8 ExtraBold"/>
                <a:ea typeface="에이투지체 8 ExtraBold"/>
                <a:cs typeface="에이투지체 8 ExtraBold"/>
              </a:rPr>
              <a:t>성과를 지키며</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매체별 우선 </a:t>
            </a:r>
            <a:r>
              <a:rPr lang="ko-KR" altLang="en-US" sz="1900" dirty="0">
                <a:solidFill>
                  <a:srgbClr val="222222"/>
                </a:solidFill>
                <a:latin typeface="에이투지체 8 ExtraBold"/>
                <a:ea typeface="에이투지체 8 ExtraBold"/>
                <a:cs typeface="에이투지체 8 ExtraBold"/>
              </a:rPr>
              <a:t>해결 </a:t>
            </a:r>
            <a:r>
              <a:rPr lang="ko-KR" sz="1900" dirty="0">
                <a:solidFill>
                  <a:srgbClr val="222222"/>
                </a:solidFill>
                <a:latin typeface="에이투지체 8 ExtraBold"/>
                <a:ea typeface="에이투지체 8 ExtraBold"/>
                <a:cs typeface="에이투지체 8 ExtraBold"/>
              </a:rPr>
              <a:t>과제를 </a:t>
            </a:r>
            <a:r>
              <a:rPr lang="ko-KR" altLang="en-US" sz="1900" dirty="0">
                <a:solidFill>
                  <a:srgbClr val="222222"/>
                </a:solidFill>
                <a:latin typeface="에이투지체 8 ExtraBold"/>
                <a:ea typeface="에이투지체 8 ExtraBold"/>
                <a:cs typeface="에이투지체 8 ExtraBold"/>
              </a:rPr>
              <a:t>빠르게 </a:t>
            </a:r>
            <a:r>
              <a:rPr lang="ko-KR" sz="1900" dirty="0">
                <a:solidFill>
                  <a:srgbClr val="222222"/>
                </a:solidFill>
                <a:latin typeface="에이투지체 8 ExtraBold"/>
                <a:ea typeface="에이투지체 8 ExtraBold"/>
                <a:cs typeface="에이투지체 8 ExtraBold"/>
              </a:rPr>
              <a:t>운영에 반영합니다</a:t>
            </a:r>
            <a:endParaRPr lang="ko-KR" sz="1900" dirty="0"/>
          </a:p>
        </p:txBody>
      </p:sp>
      <p:sp>
        <p:nvSpPr>
          <p:cNvPr id="3" name="text-2">
            <a:extLst>
              <a:ext uri="{FF2B5EF4-FFF2-40B4-BE49-F238E27FC236}">
                <a16:creationId xmlns:a16="http://schemas.microsoft.com/office/drawing/2014/main" id="{C1A29916-9EFA-483A-8D50-F96A9DA9706F}"/>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두드림 현황 요약  9월 브랜드스토어 성과와 11월 우선 과제</a:t>
            </a:r>
            <a:endParaRPr lang="ko-KR" sz="1100" dirty="0"/>
          </a:p>
        </p:txBody>
      </p:sp>
      <p:sp>
        <p:nvSpPr>
          <p:cNvPr id="5" name="node-3">
            <a:extLst>
              <a:ext uri="{FF2B5EF4-FFF2-40B4-BE49-F238E27FC236}">
                <a16:creationId xmlns:a16="http://schemas.microsoft.com/office/drawing/2014/main" id="{58DD09F2-5003-4CD1-97F3-12075915999C}"/>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6" name="text-4">
            <a:extLst>
              <a:ext uri="{FF2B5EF4-FFF2-40B4-BE49-F238E27FC236}">
                <a16:creationId xmlns:a16="http://schemas.microsoft.com/office/drawing/2014/main" id="{4107C92C-DF84-465D-9564-910C0DC57BEA}"/>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dirty="0">
                <a:solidFill>
                  <a:srgbClr val="004F9F"/>
                </a:solidFill>
                <a:latin typeface="에이투지체 6 SemiBold"/>
                <a:ea typeface="에이투지체 6 SemiBold"/>
                <a:cs typeface="에이투지체 6 SemiBold"/>
              </a:rPr>
              <a:t>11월 </a:t>
            </a:r>
            <a:r>
              <a:rPr sz="1358" dirty="0" err="1">
                <a:solidFill>
                  <a:srgbClr val="004F9F"/>
                </a:solidFill>
                <a:latin typeface="에이투지체 6 SemiBold"/>
                <a:ea typeface="에이투지체 6 SemiBold"/>
                <a:cs typeface="에이투지체 6 SemiBold"/>
              </a:rPr>
              <a:t>운영</a:t>
            </a:r>
            <a:r>
              <a:rPr lang="ko-KR" altLang="en-US" sz="1358" dirty="0">
                <a:solidFill>
                  <a:srgbClr val="004F9F"/>
                </a:solidFill>
                <a:latin typeface="에이투지체 6 SemiBold"/>
                <a:ea typeface="에이투지체 6 SemiBold"/>
                <a:cs typeface="에이투지체 6 SemiBold"/>
              </a:rPr>
              <a:t>의 궁극적인</a:t>
            </a:r>
            <a:r>
              <a:rPr lang="en-US" sz="1358" dirty="0">
                <a:solidFill>
                  <a:srgbClr val="004F9F"/>
                </a:solidFill>
                <a:latin typeface="에이투지체 6 SemiBold"/>
                <a:ea typeface="에이투지체 6 SemiBold"/>
                <a:cs typeface="에이투지체 6 SemiBold"/>
              </a:rPr>
              <a:t> </a:t>
            </a:r>
            <a:r>
              <a:rPr lang="ko-KR" altLang="en-US" sz="1358" dirty="0">
                <a:solidFill>
                  <a:srgbClr val="004F9F"/>
                </a:solidFill>
                <a:latin typeface="에이투지체 6 SemiBold"/>
                <a:ea typeface="에이투지체 6 SemiBold"/>
                <a:cs typeface="에이투지체 6 SemiBold"/>
              </a:rPr>
              <a:t>목적</a:t>
            </a:r>
            <a:r>
              <a:rPr sz="1358" dirty="0">
                <a:solidFill>
                  <a:srgbClr val="004F9F"/>
                </a:solidFill>
                <a:latin typeface="에이투지체 6 SemiBold"/>
                <a:ea typeface="에이투지체 6 SemiBold"/>
                <a:cs typeface="에이투지체 6 SemiBold"/>
              </a:rPr>
              <a:t>은 </a:t>
            </a:r>
            <a:r>
              <a:rPr sz="1358" dirty="0" err="1">
                <a:solidFill>
                  <a:srgbClr val="004F9F"/>
                </a:solidFill>
                <a:latin typeface="에이투지체 6 SemiBold"/>
                <a:ea typeface="에이투지체 6 SemiBold"/>
                <a:cs typeface="에이투지체 6 SemiBold"/>
              </a:rPr>
              <a:t>브랜드스토어</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매출</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확대와</a:t>
            </a:r>
            <a:r>
              <a:rPr sz="1358" dirty="0">
                <a:solidFill>
                  <a:srgbClr val="004F9F"/>
                </a:solidFill>
                <a:latin typeface="에이투지체 6 SemiBold"/>
                <a:ea typeface="에이투지체 6 SemiBold"/>
                <a:cs typeface="에이투지체 6 SemiBold"/>
              </a:rPr>
              <a:t> FGO 외 </a:t>
            </a:r>
            <a:r>
              <a:rPr sz="1358" dirty="0" err="1">
                <a:solidFill>
                  <a:srgbClr val="004F9F"/>
                </a:solidFill>
                <a:latin typeface="에이투지체 6 SemiBold"/>
                <a:ea typeface="에이투지체 6 SemiBold"/>
                <a:cs typeface="에이투지체 6 SemiBold"/>
              </a:rPr>
              <a:t>히어로</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상품</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발굴입니다</a:t>
            </a:r>
            <a:endParaRPr sz="1358" dirty="0">
              <a:solidFill>
                <a:srgbClr val="FFFFFF"/>
              </a:solidFill>
              <a:latin typeface="에이투지체 6 SemiBold"/>
              <a:ea typeface="에이투지체 6 SemiBold"/>
              <a:cs typeface="에이투지체 6 SemiBold"/>
            </a:endParaRPr>
          </a:p>
        </p:txBody>
      </p:sp>
      <p:sp>
        <p:nvSpPr>
          <p:cNvPr id="12" name="Rounded Rectangle 11"/>
          <p:cNvSpPr/>
          <p:nvPr/>
        </p:nvSpPr>
        <p:spPr>
          <a:xfrm>
            <a:off x="548640" y="2103120"/>
            <a:ext cx="3447288" cy="3246120"/>
          </a:xfrm>
          <a:prstGeom prst="roundRect">
            <a:avLst>
              <a:gd name="adj" fmla="val 225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2959" y="2331720"/>
            <a:ext cx="2898648" cy="320040"/>
          </a:xfrm>
          <a:prstGeom prst="rect">
            <a:avLst/>
          </a:prstGeom>
          <a:noFill/>
        </p:spPr>
        <p:txBody>
          <a:bodyPr wrap="square" lIns="0" tIns="0" rIns="0" bIns="0" anchor="t">
            <a:spAutoFit/>
          </a:bodyPr>
          <a:lstStyle/>
          <a:p>
            <a:pPr algn="l">
              <a:spcAft>
                <a:spcPts val="300"/>
              </a:spcAft>
            </a:pPr>
            <a:r>
              <a:rPr sz="1300">
                <a:solidFill>
                  <a:srgbClr val="004F9F"/>
                </a:solidFill>
                <a:latin typeface="에이투지체 6 SemiBold"/>
                <a:ea typeface="에이투지체 6 SemiBold"/>
              </a:rPr>
              <a:t>네이버 쇼핑검색</a:t>
            </a:r>
          </a:p>
        </p:txBody>
      </p:sp>
      <p:sp>
        <p:nvSpPr>
          <p:cNvPr id="14" name="TextBox 13"/>
          <p:cNvSpPr txBox="1"/>
          <p:nvPr/>
        </p:nvSpPr>
        <p:spPr>
          <a:xfrm>
            <a:off x="822959" y="2761487"/>
            <a:ext cx="1463040" cy="228600"/>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9월 광고비</a:t>
            </a:r>
          </a:p>
        </p:txBody>
      </p:sp>
      <p:sp>
        <p:nvSpPr>
          <p:cNvPr id="15" name="TextBox 14"/>
          <p:cNvSpPr txBox="1"/>
          <p:nvPr/>
        </p:nvSpPr>
        <p:spPr>
          <a:xfrm>
            <a:off x="2331720" y="2761487"/>
            <a:ext cx="1554480" cy="228600"/>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9월 구매 ROAS</a:t>
            </a:r>
          </a:p>
        </p:txBody>
      </p:sp>
      <p:sp>
        <p:nvSpPr>
          <p:cNvPr id="16" name="TextBox 15"/>
          <p:cNvSpPr txBox="1"/>
          <p:nvPr/>
        </p:nvSpPr>
        <p:spPr>
          <a:xfrm>
            <a:off x="822959" y="2999232"/>
            <a:ext cx="1508760" cy="457200"/>
          </a:xfrm>
          <a:prstGeom prst="rect">
            <a:avLst/>
          </a:prstGeom>
          <a:noFill/>
        </p:spPr>
        <p:txBody>
          <a:bodyPr wrap="square" lIns="0" tIns="0" rIns="0" bIns="0" anchor="ctr">
            <a:spAutoFit/>
          </a:bodyPr>
          <a:lstStyle/>
          <a:p>
            <a:pPr algn="l">
              <a:spcAft>
                <a:spcPts val="300"/>
              </a:spcAft>
            </a:pPr>
            <a:r>
              <a:rPr sz="1900">
                <a:solidFill>
                  <a:srgbClr val="222222"/>
                </a:solidFill>
                <a:latin typeface="에이투지체 8 ExtraBold"/>
                <a:ea typeface="에이투지체 8 ExtraBold"/>
              </a:rPr>
              <a:t>3,447만 원</a:t>
            </a:r>
          </a:p>
        </p:txBody>
      </p:sp>
      <p:sp>
        <p:nvSpPr>
          <p:cNvPr id="17" name="TextBox 16"/>
          <p:cNvSpPr txBox="1"/>
          <p:nvPr/>
        </p:nvSpPr>
        <p:spPr>
          <a:xfrm>
            <a:off x="2331720" y="2999232"/>
            <a:ext cx="1463040" cy="457200"/>
          </a:xfrm>
          <a:prstGeom prst="rect">
            <a:avLst/>
          </a:prstGeom>
          <a:noFill/>
        </p:spPr>
        <p:txBody>
          <a:bodyPr wrap="square" lIns="0" tIns="0" rIns="0" bIns="0" anchor="ctr">
            <a:spAutoFit/>
          </a:bodyPr>
          <a:lstStyle/>
          <a:p>
            <a:pPr algn="l">
              <a:spcAft>
                <a:spcPts val="300"/>
              </a:spcAft>
            </a:pPr>
            <a:r>
              <a:rPr sz="1900">
                <a:solidFill>
                  <a:srgbClr val="004F9F"/>
                </a:solidFill>
                <a:latin typeface="에이투지체 8 ExtraBold"/>
                <a:ea typeface="에이투지체 8 ExtraBold"/>
              </a:rPr>
              <a:t>234%</a:t>
            </a:r>
          </a:p>
        </p:txBody>
      </p:sp>
      <p:cxnSp>
        <p:nvCxnSpPr>
          <p:cNvPr id="18" name="Connector 17"/>
          <p:cNvCxnSpPr/>
          <p:nvPr/>
        </p:nvCxnSpPr>
        <p:spPr>
          <a:xfrm>
            <a:off x="822959" y="3703320"/>
            <a:ext cx="2898649"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22959" y="3886200"/>
            <a:ext cx="2898648" cy="274320"/>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11월 우선 과제</a:t>
            </a:r>
          </a:p>
        </p:txBody>
      </p:sp>
      <p:sp>
        <p:nvSpPr>
          <p:cNvPr id="20" name="Oval 19"/>
          <p:cNvSpPr/>
          <p:nvPr/>
        </p:nvSpPr>
        <p:spPr>
          <a:xfrm>
            <a:off x="822959" y="4261104"/>
            <a:ext cx="256032" cy="256032"/>
          </a:xfrm>
          <a:prstGeom prst="ellipse">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2959" y="4261104"/>
            <a:ext cx="256032" cy="256032"/>
          </a:xfrm>
          <a:prstGeom prst="rect">
            <a:avLst/>
          </a:prstGeom>
          <a:noFill/>
        </p:spPr>
        <p:txBody>
          <a:bodyPr wrap="square" lIns="0" tIns="0" rIns="0" bIns="0" anchor="ctr">
            <a:spAutoFit/>
          </a:bodyPr>
          <a:lstStyle/>
          <a:p>
            <a:pPr algn="ctr">
              <a:spcAft>
                <a:spcPts val="300"/>
              </a:spcAft>
            </a:pPr>
            <a:r>
              <a:rPr sz="950">
                <a:solidFill>
                  <a:srgbClr val="004F9F"/>
                </a:solidFill>
                <a:latin typeface="에이투지체 6 SemiBold"/>
                <a:ea typeface="에이투지체 6 SemiBold"/>
              </a:rPr>
              <a:t>1</a:t>
            </a:r>
          </a:p>
        </p:txBody>
      </p:sp>
      <p:sp>
        <p:nvSpPr>
          <p:cNvPr id="22" name="TextBox 21"/>
          <p:cNvSpPr txBox="1"/>
          <p:nvPr/>
        </p:nvSpPr>
        <p:spPr>
          <a:xfrm>
            <a:off x="1207007" y="4296787"/>
            <a:ext cx="2532888" cy="184666"/>
          </a:xfrm>
          <a:prstGeom prst="rect">
            <a:avLst/>
          </a:prstGeom>
          <a:noFill/>
        </p:spPr>
        <p:txBody>
          <a:bodyPr wrap="square" lIns="0" tIns="0" rIns="0" bIns="0" anchor="ctr">
            <a:spAutoFit/>
          </a:bodyPr>
          <a:lstStyle/>
          <a:p>
            <a:pPr algn="l">
              <a:spcAft>
                <a:spcPts val="300"/>
              </a:spcAft>
            </a:pPr>
            <a:r>
              <a:rPr lang="en-US" sz="1200" dirty="0">
                <a:solidFill>
                  <a:srgbClr val="222222"/>
                </a:solidFill>
                <a:latin typeface="에이투지체 5 Medium"/>
                <a:ea typeface="에이투지체 5 Medium"/>
              </a:rPr>
              <a:t>PC/MO </a:t>
            </a:r>
            <a:r>
              <a:rPr lang="ko-KR" altLang="en-US" sz="1200" dirty="0">
                <a:solidFill>
                  <a:srgbClr val="222222"/>
                </a:solidFill>
                <a:latin typeface="에이투지체 5 Medium"/>
                <a:ea typeface="에이투지체 5 Medium"/>
              </a:rPr>
              <a:t>캠페인 분리</a:t>
            </a:r>
            <a:endParaRPr sz="1200" dirty="0">
              <a:solidFill>
                <a:srgbClr val="222222"/>
              </a:solidFill>
              <a:latin typeface="에이투지체 5 Medium"/>
              <a:ea typeface="에이투지체 5 Medium"/>
            </a:endParaRPr>
          </a:p>
        </p:txBody>
      </p:sp>
      <p:sp>
        <p:nvSpPr>
          <p:cNvPr id="23" name="Oval 22"/>
          <p:cNvSpPr/>
          <p:nvPr/>
        </p:nvSpPr>
        <p:spPr>
          <a:xfrm>
            <a:off x="822959" y="4700016"/>
            <a:ext cx="256032" cy="256032"/>
          </a:xfrm>
          <a:prstGeom prst="ellipse">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22959" y="4700016"/>
            <a:ext cx="256032" cy="256032"/>
          </a:xfrm>
          <a:prstGeom prst="rect">
            <a:avLst/>
          </a:prstGeom>
          <a:noFill/>
        </p:spPr>
        <p:txBody>
          <a:bodyPr wrap="square" lIns="0" tIns="0" rIns="0" bIns="0" anchor="ctr">
            <a:spAutoFit/>
          </a:bodyPr>
          <a:lstStyle/>
          <a:p>
            <a:pPr algn="ctr">
              <a:spcAft>
                <a:spcPts val="300"/>
              </a:spcAft>
            </a:pPr>
            <a:r>
              <a:rPr sz="950">
                <a:solidFill>
                  <a:srgbClr val="004F9F"/>
                </a:solidFill>
                <a:latin typeface="에이투지체 6 SemiBold"/>
                <a:ea typeface="에이투지체 6 SemiBold"/>
              </a:rPr>
              <a:t>2</a:t>
            </a:r>
          </a:p>
        </p:txBody>
      </p:sp>
      <p:sp>
        <p:nvSpPr>
          <p:cNvPr id="25" name="TextBox 24"/>
          <p:cNvSpPr txBox="1"/>
          <p:nvPr/>
        </p:nvSpPr>
        <p:spPr>
          <a:xfrm>
            <a:off x="1207007" y="4681727"/>
            <a:ext cx="2532888" cy="292608"/>
          </a:xfrm>
          <a:prstGeom prst="rect">
            <a:avLst/>
          </a:prstGeom>
          <a:noFill/>
        </p:spPr>
        <p:txBody>
          <a:bodyPr wrap="square" lIns="0" tIns="0" rIns="0" bIns="0" anchor="ctr">
            <a:spAutoFit/>
          </a:bodyPr>
          <a:lstStyle/>
          <a:p>
            <a:pPr algn="l">
              <a:spcAft>
                <a:spcPts val="300"/>
              </a:spcAft>
            </a:pPr>
            <a:r>
              <a:rPr sz="1200">
                <a:solidFill>
                  <a:srgbClr val="222222"/>
                </a:solidFill>
                <a:latin typeface="에이투지체 5 Medium"/>
                <a:ea typeface="에이투지체 5 Medium"/>
              </a:rPr>
              <a:t>중복 검색어와 저효율 조합 정리</a:t>
            </a:r>
          </a:p>
        </p:txBody>
      </p:sp>
      <p:sp>
        <p:nvSpPr>
          <p:cNvPr id="26" name="Rounded Rectangle 25"/>
          <p:cNvSpPr/>
          <p:nvPr/>
        </p:nvSpPr>
        <p:spPr>
          <a:xfrm>
            <a:off x="4361688" y="2103120"/>
            <a:ext cx="3447288" cy="3246120"/>
          </a:xfrm>
          <a:prstGeom prst="roundRect">
            <a:avLst>
              <a:gd name="adj" fmla="val 225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636007" y="2331720"/>
            <a:ext cx="2898648" cy="320040"/>
          </a:xfrm>
          <a:prstGeom prst="rect">
            <a:avLst/>
          </a:prstGeom>
          <a:noFill/>
        </p:spPr>
        <p:txBody>
          <a:bodyPr wrap="square" lIns="0" tIns="0" rIns="0" bIns="0" anchor="t">
            <a:spAutoFit/>
          </a:bodyPr>
          <a:lstStyle/>
          <a:p>
            <a:pPr algn="l">
              <a:spcAft>
                <a:spcPts val="300"/>
              </a:spcAft>
            </a:pPr>
            <a:r>
              <a:rPr sz="1300">
                <a:solidFill>
                  <a:srgbClr val="004F9F"/>
                </a:solidFill>
                <a:latin typeface="에이투지체 6 SemiBold"/>
                <a:ea typeface="에이투지체 6 SemiBold"/>
              </a:rPr>
              <a:t>네이버 GFA</a:t>
            </a:r>
          </a:p>
        </p:txBody>
      </p:sp>
      <p:sp>
        <p:nvSpPr>
          <p:cNvPr id="28" name="TextBox 27"/>
          <p:cNvSpPr txBox="1"/>
          <p:nvPr/>
        </p:nvSpPr>
        <p:spPr>
          <a:xfrm>
            <a:off x="4636007" y="2761487"/>
            <a:ext cx="1463040" cy="228600"/>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9월 광고비</a:t>
            </a:r>
          </a:p>
        </p:txBody>
      </p:sp>
      <p:sp>
        <p:nvSpPr>
          <p:cNvPr id="29" name="TextBox 28"/>
          <p:cNvSpPr txBox="1"/>
          <p:nvPr/>
        </p:nvSpPr>
        <p:spPr>
          <a:xfrm>
            <a:off x="6144768" y="2761487"/>
            <a:ext cx="1554480" cy="228600"/>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9월 구매 ROAS</a:t>
            </a:r>
          </a:p>
        </p:txBody>
      </p:sp>
      <p:sp>
        <p:nvSpPr>
          <p:cNvPr id="30" name="TextBox 29"/>
          <p:cNvSpPr txBox="1"/>
          <p:nvPr/>
        </p:nvSpPr>
        <p:spPr>
          <a:xfrm>
            <a:off x="4636007" y="2999232"/>
            <a:ext cx="1508760" cy="457200"/>
          </a:xfrm>
          <a:prstGeom prst="rect">
            <a:avLst/>
          </a:prstGeom>
          <a:noFill/>
        </p:spPr>
        <p:txBody>
          <a:bodyPr wrap="square" lIns="0" tIns="0" rIns="0" bIns="0" anchor="ctr">
            <a:spAutoFit/>
          </a:bodyPr>
          <a:lstStyle/>
          <a:p>
            <a:pPr algn="l">
              <a:spcAft>
                <a:spcPts val="300"/>
              </a:spcAft>
            </a:pPr>
            <a:r>
              <a:rPr sz="1900">
                <a:solidFill>
                  <a:srgbClr val="222222"/>
                </a:solidFill>
                <a:latin typeface="에이투지체 8 ExtraBold"/>
                <a:ea typeface="에이투지체 8 ExtraBold"/>
              </a:rPr>
              <a:t>3,193만 원</a:t>
            </a:r>
          </a:p>
        </p:txBody>
      </p:sp>
      <p:sp>
        <p:nvSpPr>
          <p:cNvPr id="31" name="TextBox 30"/>
          <p:cNvSpPr txBox="1"/>
          <p:nvPr/>
        </p:nvSpPr>
        <p:spPr>
          <a:xfrm>
            <a:off x="6144768" y="2999232"/>
            <a:ext cx="1463040" cy="457200"/>
          </a:xfrm>
          <a:prstGeom prst="rect">
            <a:avLst/>
          </a:prstGeom>
          <a:noFill/>
        </p:spPr>
        <p:txBody>
          <a:bodyPr wrap="square" lIns="0" tIns="0" rIns="0" bIns="0" anchor="ctr">
            <a:spAutoFit/>
          </a:bodyPr>
          <a:lstStyle/>
          <a:p>
            <a:pPr algn="l">
              <a:spcAft>
                <a:spcPts val="300"/>
              </a:spcAft>
            </a:pPr>
            <a:r>
              <a:rPr sz="1900">
                <a:solidFill>
                  <a:srgbClr val="004F9F"/>
                </a:solidFill>
                <a:latin typeface="에이투지체 8 ExtraBold"/>
                <a:ea typeface="에이투지체 8 ExtraBold"/>
              </a:rPr>
              <a:t>329%</a:t>
            </a:r>
          </a:p>
        </p:txBody>
      </p:sp>
      <p:cxnSp>
        <p:nvCxnSpPr>
          <p:cNvPr id="32" name="Connector 31"/>
          <p:cNvCxnSpPr/>
          <p:nvPr/>
        </p:nvCxnSpPr>
        <p:spPr>
          <a:xfrm>
            <a:off x="4636007" y="3703320"/>
            <a:ext cx="2898648"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4636007" y="3886200"/>
            <a:ext cx="2898648" cy="274320"/>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11월 우선 과제</a:t>
            </a:r>
          </a:p>
        </p:txBody>
      </p:sp>
      <p:sp>
        <p:nvSpPr>
          <p:cNvPr id="34" name="Oval 33"/>
          <p:cNvSpPr/>
          <p:nvPr/>
        </p:nvSpPr>
        <p:spPr>
          <a:xfrm>
            <a:off x="4636007" y="4261104"/>
            <a:ext cx="256032" cy="256032"/>
          </a:xfrm>
          <a:prstGeom prst="ellipse">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636007" y="4261104"/>
            <a:ext cx="256032" cy="256032"/>
          </a:xfrm>
          <a:prstGeom prst="rect">
            <a:avLst/>
          </a:prstGeom>
          <a:noFill/>
        </p:spPr>
        <p:txBody>
          <a:bodyPr wrap="square" lIns="0" tIns="0" rIns="0" bIns="0" anchor="ctr">
            <a:spAutoFit/>
          </a:bodyPr>
          <a:lstStyle/>
          <a:p>
            <a:pPr algn="ctr">
              <a:spcAft>
                <a:spcPts val="300"/>
              </a:spcAft>
            </a:pPr>
            <a:r>
              <a:rPr sz="950">
                <a:solidFill>
                  <a:srgbClr val="004F9F"/>
                </a:solidFill>
                <a:latin typeface="에이투지체 6 SemiBold"/>
                <a:ea typeface="에이투지체 6 SemiBold"/>
              </a:rPr>
              <a:t>1</a:t>
            </a:r>
          </a:p>
        </p:txBody>
      </p:sp>
      <p:sp>
        <p:nvSpPr>
          <p:cNvPr id="36" name="TextBox 35"/>
          <p:cNvSpPr txBox="1"/>
          <p:nvPr/>
        </p:nvSpPr>
        <p:spPr>
          <a:xfrm>
            <a:off x="5020055" y="4242816"/>
            <a:ext cx="2532888" cy="292608"/>
          </a:xfrm>
          <a:prstGeom prst="rect">
            <a:avLst/>
          </a:prstGeom>
          <a:noFill/>
        </p:spPr>
        <p:txBody>
          <a:bodyPr wrap="square" lIns="0" tIns="0" rIns="0" bIns="0" anchor="ctr">
            <a:spAutoFit/>
          </a:bodyPr>
          <a:lstStyle/>
          <a:p>
            <a:pPr algn="l">
              <a:spcAft>
                <a:spcPts val="300"/>
              </a:spcAft>
            </a:pPr>
            <a:r>
              <a:rPr sz="1200" dirty="0" err="1">
                <a:solidFill>
                  <a:srgbClr val="222222"/>
                </a:solidFill>
                <a:latin typeface="에이투지체 5 Medium"/>
                <a:ea typeface="에이투지체 5 Medium"/>
              </a:rPr>
              <a:t>ADVoost</a:t>
            </a:r>
            <a:r>
              <a:rPr sz="1200" dirty="0">
                <a:solidFill>
                  <a:srgbClr val="222222"/>
                </a:solidFill>
                <a:latin typeface="에이투지체 5 Medium"/>
                <a:ea typeface="에이투지체 5 Medium"/>
              </a:rPr>
              <a:t> </a:t>
            </a:r>
            <a:r>
              <a:rPr sz="1200" dirty="0" err="1">
                <a:solidFill>
                  <a:srgbClr val="222222"/>
                </a:solidFill>
                <a:latin typeface="에이투지체 5 Medium"/>
                <a:ea typeface="에이투지체 5 Medium"/>
              </a:rPr>
              <a:t>쇼핑</a:t>
            </a:r>
            <a:r>
              <a:rPr sz="1200" dirty="0">
                <a:solidFill>
                  <a:srgbClr val="222222"/>
                </a:solidFill>
                <a:latin typeface="에이투지체 5 Medium"/>
                <a:ea typeface="에이투지체 5 Medium"/>
              </a:rPr>
              <a:t> </a:t>
            </a:r>
            <a:r>
              <a:rPr sz="1200" dirty="0" err="1">
                <a:solidFill>
                  <a:srgbClr val="222222"/>
                </a:solidFill>
                <a:latin typeface="에이투지체 5 Medium"/>
                <a:ea typeface="에이투지체 5 Medium"/>
              </a:rPr>
              <a:t>중심</a:t>
            </a:r>
            <a:r>
              <a:rPr sz="1200" dirty="0">
                <a:solidFill>
                  <a:srgbClr val="222222"/>
                </a:solidFill>
                <a:latin typeface="에이투지체 5 Medium"/>
                <a:ea typeface="에이투지체 5 Medium"/>
              </a:rPr>
              <a:t> </a:t>
            </a:r>
            <a:r>
              <a:rPr sz="1200" dirty="0" err="1">
                <a:solidFill>
                  <a:srgbClr val="222222"/>
                </a:solidFill>
                <a:latin typeface="에이투지체 5 Medium"/>
                <a:ea typeface="에이투지체 5 Medium"/>
              </a:rPr>
              <a:t>성과</a:t>
            </a:r>
            <a:endParaRPr sz="1200" dirty="0">
              <a:solidFill>
                <a:srgbClr val="222222"/>
              </a:solidFill>
              <a:latin typeface="에이투지체 5 Medium"/>
              <a:ea typeface="에이투지체 5 Medium"/>
            </a:endParaRPr>
          </a:p>
        </p:txBody>
      </p:sp>
      <p:sp>
        <p:nvSpPr>
          <p:cNvPr id="37" name="Oval 36"/>
          <p:cNvSpPr/>
          <p:nvPr/>
        </p:nvSpPr>
        <p:spPr>
          <a:xfrm>
            <a:off x="4636007" y="4700016"/>
            <a:ext cx="256032" cy="256032"/>
          </a:xfrm>
          <a:prstGeom prst="ellipse">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4636007" y="4700016"/>
            <a:ext cx="256032" cy="256032"/>
          </a:xfrm>
          <a:prstGeom prst="rect">
            <a:avLst/>
          </a:prstGeom>
          <a:noFill/>
        </p:spPr>
        <p:txBody>
          <a:bodyPr wrap="square" lIns="0" tIns="0" rIns="0" bIns="0" anchor="ctr">
            <a:spAutoFit/>
          </a:bodyPr>
          <a:lstStyle/>
          <a:p>
            <a:pPr algn="ctr">
              <a:spcAft>
                <a:spcPts val="300"/>
              </a:spcAft>
            </a:pPr>
            <a:r>
              <a:rPr sz="950">
                <a:solidFill>
                  <a:srgbClr val="004F9F"/>
                </a:solidFill>
                <a:latin typeface="에이투지체 6 SemiBold"/>
                <a:ea typeface="에이투지체 6 SemiBold"/>
              </a:rPr>
              <a:t>2</a:t>
            </a:r>
          </a:p>
        </p:txBody>
      </p:sp>
      <p:sp>
        <p:nvSpPr>
          <p:cNvPr id="39" name="TextBox 38"/>
          <p:cNvSpPr txBox="1"/>
          <p:nvPr/>
        </p:nvSpPr>
        <p:spPr>
          <a:xfrm>
            <a:off x="5020055" y="4681727"/>
            <a:ext cx="2532888" cy="292608"/>
          </a:xfrm>
          <a:prstGeom prst="rect">
            <a:avLst/>
          </a:prstGeom>
          <a:noFill/>
        </p:spPr>
        <p:txBody>
          <a:bodyPr wrap="square" lIns="0" tIns="0" rIns="0" bIns="0" anchor="ctr">
            <a:spAutoFit/>
          </a:bodyPr>
          <a:lstStyle/>
          <a:p>
            <a:pPr algn="l">
              <a:spcAft>
                <a:spcPts val="300"/>
              </a:spcAft>
            </a:pPr>
            <a:r>
              <a:rPr sz="1200">
                <a:solidFill>
                  <a:srgbClr val="222222"/>
                </a:solidFill>
                <a:latin typeface="에이투지체 5 Medium"/>
                <a:ea typeface="에이투지체 5 Medium"/>
              </a:rPr>
              <a:t>상품군별 학습과 상시 소재 확대</a:t>
            </a:r>
          </a:p>
        </p:txBody>
      </p:sp>
      <p:sp>
        <p:nvSpPr>
          <p:cNvPr id="40" name="Rounded Rectangle 39"/>
          <p:cNvSpPr/>
          <p:nvPr/>
        </p:nvSpPr>
        <p:spPr>
          <a:xfrm>
            <a:off x="8174736" y="2103120"/>
            <a:ext cx="3447288" cy="3246120"/>
          </a:xfrm>
          <a:prstGeom prst="roundRect">
            <a:avLst>
              <a:gd name="adj" fmla="val 225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449056" y="2331720"/>
            <a:ext cx="2898648" cy="320040"/>
          </a:xfrm>
          <a:prstGeom prst="rect">
            <a:avLst/>
          </a:prstGeom>
          <a:noFill/>
        </p:spPr>
        <p:txBody>
          <a:bodyPr wrap="square" lIns="0" tIns="0" rIns="0" bIns="0" anchor="t">
            <a:spAutoFit/>
          </a:bodyPr>
          <a:lstStyle/>
          <a:p>
            <a:pPr algn="l">
              <a:spcAft>
                <a:spcPts val="300"/>
              </a:spcAft>
            </a:pPr>
            <a:r>
              <a:rPr sz="1300">
                <a:solidFill>
                  <a:srgbClr val="004F9F"/>
                </a:solidFill>
                <a:latin typeface="에이투지체 6 SemiBold"/>
                <a:ea typeface="에이투지체 6 SemiBold"/>
              </a:rPr>
              <a:t>메타 협력광고</a:t>
            </a:r>
          </a:p>
        </p:txBody>
      </p:sp>
      <p:sp>
        <p:nvSpPr>
          <p:cNvPr id="42" name="TextBox 41"/>
          <p:cNvSpPr txBox="1"/>
          <p:nvPr/>
        </p:nvSpPr>
        <p:spPr>
          <a:xfrm>
            <a:off x="8449056" y="2761487"/>
            <a:ext cx="1463040" cy="228600"/>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3분기 월평균 광고비</a:t>
            </a:r>
          </a:p>
        </p:txBody>
      </p:sp>
      <p:sp>
        <p:nvSpPr>
          <p:cNvPr id="43" name="TextBox 42"/>
          <p:cNvSpPr txBox="1"/>
          <p:nvPr/>
        </p:nvSpPr>
        <p:spPr>
          <a:xfrm>
            <a:off x="9957814" y="2761487"/>
            <a:ext cx="1655065" cy="146194"/>
          </a:xfrm>
          <a:prstGeom prst="rect">
            <a:avLst/>
          </a:prstGeom>
          <a:noFill/>
        </p:spPr>
        <p:txBody>
          <a:bodyPr wrap="square" lIns="0" tIns="0" rIns="0" bIns="0" anchor="t">
            <a:spAutoFit/>
          </a:bodyPr>
          <a:lstStyle/>
          <a:p>
            <a:pPr algn="l">
              <a:spcAft>
                <a:spcPts val="300"/>
              </a:spcAft>
            </a:pPr>
            <a:r>
              <a:rPr sz="950" dirty="0" err="1">
                <a:solidFill>
                  <a:srgbClr val="5C5C5C"/>
                </a:solidFill>
                <a:latin typeface="에이투지체 5 Medium"/>
                <a:ea typeface="에이투지체 5 Medium"/>
              </a:rPr>
              <a:t>구매</a:t>
            </a:r>
            <a:r>
              <a:rPr sz="950" dirty="0">
                <a:solidFill>
                  <a:srgbClr val="5C5C5C"/>
                </a:solidFill>
                <a:latin typeface="에이투지체 5 Medium"/>
                <a:ea typeface="에이투지체 5 Medium"/>
              </a:rPr>
              <a:t> ROAS (</a:t>
            </a:r>
            <a:r>
              <a:rPr lang="ko-KR" altLang="en-US" sz="950" dirty="0">
                <a:solidFill>
                  <a:srgbClr val="5C5C5C"/>
                </a:solidFill>
                <a:latin typeface="에이투지체 5 Medium"/>
                <a:ea typeface="에이투지체 5 Medium"/>
              </a:rPr>
              <a:t>장바구니</a:t>
            </a:r>
            <a:r>
              <a:rPr sz="950" dirty="0">
                <a:solidFill>
                  <a:srgbClr val="5C5C5C"/>
                </a:solidFill>
                <a:latin typeface="에이투지체 5 Medium"/>
                <a:ea typeface="에이투지체 5 Medium"/>
              </a:rPr>
              <a:t> </a:t>
            </a:r>
            <a:r>
              <a:rPr sz="950" dirty="0" err="1">
                <a:solidFill>
                  <a:srgbClr val="5C5C5C"/>
                </a:solidFill>
                <a:latin typeface="에이투지체 5 Medium"/>
                <a:ea typeface="에이투지체 5 Medium"/>
              </a:rPr>
              <a:t>최적화</a:t>
            </a:r>
            <a:r>
              <a:rPr sz="950" dirty="0">
                <a:solidFill>
                  <a:srgbClr val="5C5C5C"/>
                </a:solidFill>
                <a:latin typeface="에이투지체 5 Medium"/>
                <a:ea typeface="에이투지체 5 Medium"/>
              </a:rPr>
              <a:t>)</a:t>
            </a:r>
          </a:p>
        </p:txBody>
      </p:sp>
      <p:sp>
        <p:nvSpPr>
          <p:cNvPr id="44" name="TextBox 43"/>
          <p:cNvSpPr txBox="1"/>
          <p:nvPr/>
        </p:nvSpPr>
        <p:spPr>
          <a:xfrm>
            <a:off x="8449056" y="2999232"/>
            <a:ext cx="1508760" cy="457200"/>
          </a:xfrm>
          <a:prstGeom prst="rect">
            <a:avLst/>
          </a:prstGeom>
          <a:noFill/>
        </p:spPr>
        <p:txBody>
          <a:bodyPr wrap="square" lIns="0" tIns="0" rIns="0" bIns="0" anchor="ctr">
            <a:spAutoFit/>
          </a:bodyPr>
          <a:lstStyle/>
          <a:p>
            <a:pPr algn="l">
              <a:spcAft>
                <a:spcPts val="300"/>
              </a:spcAft>
            </a:pPr>
            <a:r>
              <a:rPr sz="1900">
                <a:solidFill>
                  <a:srgbClr val="222222"/>
                </a:solidFill>
                <a:latin typeface="에이투지체 8 ExtraBold"/>
                <a:ea typeface="에이투지체 8 ExtraBold"/>
              </a:rPr>
              <a:t>1,004만 원</a:t>
            </a:r>
          </a:p>
        </p:txBody>
      </p:sp>
      <p:sp>
        <p:nvSpPr>
          <p:cNvPr id="45" name="TextBox 44"/>
          <p:cNvSpPr txBox="1"/>
          <p:nvPr/>
        </p:nvSpPr>
        <p:spPr>
          <a:xfrm>
            <a:off x="9957815" y="2999232"/>
            <a:ext cx="1463040" cy="457200"/>
          </a:xfrm>
          <a:prstGeom prst="rect">
            <a:avLst/>
          </a:prstGeom>
          <a:noFill/>
        </p:spPr>
        <p:txBody>
          <a:bodyPr wrap="square" lIns="0" tIns="0" rIns="0" bIns="0" anchor="ctr">
            <a:spAutoFit/>
          </a:bodyPr>
          <a:lstStyle/>
          <a:p>
            <a:pPr algn="l">
              <a:spcAft>
                <a:spcPts val="300"/>
              </a:spcAft>
            </a:pPr>
            <a:r>
              <a:rPr sz="1900">
                <a:solidFill>
                  <a:srgbClr val="004F9F"/>
                </a:solidFill>
                <a:latin typeface="에이투지체 8 ExtraBold"/>
                <a:ea typeface="에이투지체 8 ExtraBold"/>
              </a:rPr>
              <a:t>583%</a:t>
            </a:r>
          </a:p>
        </p:txBody>
      </p:sp>
      <p:cxnSp>
        <p:nvCxnSpPr>
          <p:cNvPr id="46" name="Connector 45"/>
          <p:cNvCxnSpPr/>
          <p:nvPr/>
        </p:nvCxnSpPr>
        <p:spPr>
          <a:xfrm>
            <a:off x="8449056" y="3703320"/>
            <a:ext cx="2898648"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8449056" y="3886200"/>
            <a:ext cx="2898648" cy="274320"/>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11월 우선 과제</a:t>
            </a:r>
          </a:p>
        </p:txBody>
      </p:sp>
      <p:sp>
        <p:nvSpPr>
          <p:cNvPr id="48" name="Oval 47"/>
          <p:cNvSpPr/>
          <p:nvPr/>
        </p:nvSpPr>
        <p:spPr>
          <a:xfrm>
            <a:off x="8449056" y="4261104"/>
            <a:ext cx="256032" cy="256032"/>
          </a:xfrm>
          <a:prstGeom prst="ellipse">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449056" y="4261104"/>
            <a:ext cx="256032" cy="256032"/>
          </a:xfrm>
          <a:prstGeom prst="rect">
            <a:avLst/>
          </a:prstGeom>
          <a:noFill/>
        </p:spPr>
        <p:txBody>
          <a:bodyPr wrap="square" lIns="0" tIns="0" rIns="0" bIns="0" anchor="ctr">
            <a:spAutoFit/>
          </a:bodyPr>
          <a:lstStyle/>
          <a:p>
            <a:pPr algn="ctr">
              <a:spcAft>
                <a:spcPts val="300"/>
              </a:spcAft>
            </a:pPr>
            <a:r>
              <a:rPr sz="950">
                <a:solidFill>
                  <a:srgbClr val="004F9F"/>
                </a:solidFill>
                <a:latin typeface="에이투지체 6 SemiBold"/>
                <a:ea typeface="에이투지체 6 SemiBold"/>
              </a:rPr>
              <a:t>1</a:t>
            </a:r>
          </a:p>
        </p:txBody>
      </p:sp>
      <p:sp>
        <p:nvSpPr>
          <p:cNvPr id="50" name="TextBox 49"/>
          <p:cNvSpPr txBox="1"/>
          <p:nvPr/>
        </p:nvSpPr>
        <p:spPr>
          <a:xfrm>
            <a:off x="8833104" y="4296787"/>
            <a:ext cx="2532888" cy="184666"/>
          </a:xfrm>
          <a:prstGeom prst="rect">
            <a:avLst/>
          </a:prstGeom>
          <a:noFill/>
        </p:spPr>
        <p:txBody>
          <a:bodyPr wrap="square" lIns="0" tIns="0" rIns="0" bIns="0" anchor="ctr">
            <a:spAutoFit/>
          </a:bodyPr>
          <a:lstStyle/>
          <a:p>
            <a:pPr algn="l">
              <a:spcAft>
                <a:spcPts val="300"/>
              </a:spcAft>
            </a:pPr>
            <a:r>
              <a:rPr lang="ko-KR" altLang="en-US" sz="1200" dirty="0">
                <a:solidFill>
                  <a:srgbClr val="222222"/>
                </a:solidFill>
                <a:latin typeface="에이투지체 5 Medium"/>
                <a:ea typeface="에이투지체 5 Medium"/>
              </a:rPr>
              <a:t>전환 목표 변경</a:t>
            </a:r>
            <a:r>
              <a:rPr lang="en-US" altLang="ko-KR" sz="1200" dirty="0">
                <a:solidFill>
                  <a:srgbClr val="222222"/>
                </a:solidFill>
                <a:latin typeface="에이투지체 5 Medium"/>
                <a:ea typeface="에이투지체 5 Medium"/>
              </a:rPr>
              <a:t>: </a:t>
            </a:r>
            <a:r>
              <a:rPr lang="ko-KR" altLang="en-US" sz="1200" dirty="0">
                <a:solidFill>
                  <a:srgbClr val="222222"/>
                </a:solidFill>
                <a:latin typeface="에이투지체 5 Medium"/>
                <a:ea typeface="에이투지체 5 Medium"/>
              </a:rPr>
              <a:t>장바구니 </a:t>
            </a:r>
            <a:r>
              <a:rPr lang="en-US" altLang="ko-KR" sz="1200" dirty="0">
                <a:solidFill>
                  <a:srgbClr val="222222"/>
                </a:solidFill>
                <a:latin typeface="에이투지체 5 Medium"/>
                <a:ea typeface="에이투지체 5 Medium"/>
              </a:rPr>
              <a:t>&gt; </a:t>
            </a:r>
            <a:r>
              <a:rPr lang="ko-KR" altLang="en-US" sz="1200" dirty="0">
                <a:solidFill>
                  <a:srgbClr val="222222"/>
                </a:solidFill>
                <a:latin typeface="에이투지체 5 Medium"/>
                <a:ea typeface="에이투지체 5 Medium"/>
              </a:rPr>
              <a:t>구매전환</a:t>
            </a:r>
            <a:endParaRPr sz="1200" dirty="0">
              <a:solidFill>
                <a:srgbClr val="222222"/>
              </a:solidFill>
              <a:latin typeface="에이투지체 5 Medium"/>
              <a:ea typeface="에이투지체 5 Medium"/>
            </a:endParaRPr>
          </a:p>
        </p:txBody>
      </p:sp>
      <p:sp>
        <p:nvSpPr>
          <p:cNvPr id="51" name="Oval 50"/>
          <p:cNvSpPr/>
          <p:nvPr/>
        </p:nvSpPr>
        <p:spPr>
          <a:xfrm>
            <a:off x="8449056" y="4700016"/>
            <a:ext cx="256032" cy="256032"/>
          </a:xfrm>
          <a:prstGeom prst="ellipse">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449056" y="4700016"/>
            <a:ext cx="256032" cy="256032"/>
          </a:xfrm>
          <a:prstGeom prst="rect">
            <a:avLst/>
          </a:prstGeom>
          <a:noFill/>
        </p:spPr>
        <p:txBody>
          <a:bodyPr wrap="square" lIns="0" tIns="0" rIns="0" bIns="0" anchor="ctr">
            <a:spAutoFit/>
          </a:bodyPr>
          <a:lstStyle/>
          <a:p>
            <a:pPr algn="ctr">
              <a:spcAft>
                <a:spcPts val="300"/>
              </a:spcAft>
            </a:pPr>
            <a:r>
              <a:rPr sz="950">
                <a:solidFill>
                  <a:srgbClr val="004F9F"/>
                </a:solidFill>
                <a:latin typeface="에이투지체 6 SemiBold"/>
                <a:ea typeface="에이투지체 6 SemiBold"/>
              </a:rPr>
              <a:t>2</a:t>
            </a:r>
          </a:p>
        </p:txBody>
      </p:sp>
      <p:sp>
        <p:nvSpPr>
          <p:cNvPr id="53" name="TextBox 52"/>
          <p:cNvSpPr txBox="1"/>
          <p:nvPr/>
        </p:nvSpPr>
        <p:spPr>
          <a:xfrm>
            <a:off x="8833104" y="4735698"/>
            <a:ext cx="2532888" cy="184666"/>
          </a:xfrm>
          <a:prstGeom prst="rect">
            <a:avLst/>
          </a:prstGeom>
          <a:noFill/>
        </p:spPr>
        <p:txBody>
          <a:bodyPr wrap="square" lIns="0" tIns="0" rIns="0" bIns="0" anchor="ctr">
            <a:spAutoFit/>
          </a:bodyPr>
          <a:lstStyle/>
          <a:p>
            <a:pPr algn="l">
              <a:spcAft>
                <a:spcPts val="300"/>
              </a:spcAft>
            </a:pPr>
            <a:r>
              <a:rPr lang="en-US" sz="1200" dirty="0">
                <a:solidFill>
                  <a:srgbClr val="222222"/>
                </a:solidFill>
                <a:latin typeface="에이투지체 5 Medium"/>
                <a:ea typeface="에이투지체 5 Medium"/>
              </a:rPr>
              <a:t>FGO </a:t>
            </a:r>
            <a:r>
              <a:rPr lang="ko-KR" altLang="en-US" sz="1200" dirty="0">
                <a:solidFill>
                  <a:srgbClr val="222222"/>
                </a:solidFill>
                <a:latin typeface="에이투지체 5 Medium"/>
                <a:ea typeface="에이투지체 5 Medium"/>
              </a:rPr>
              <a:t>상품 고객 </a:t>
            </a:r>
            <a:r>
              <a:rPr sz="1200" dirty="0" err="1">
                <a:solidFill>
                  <a:srgbClr val="222222"/>
                </a:solidFill>
                <a:latin typeface="에이투지체 5 Medium"/>
                <a:ea typeface="에이투지체 5 Medium"/>
              </a:rPr>
              <a:t>확대</a:t>
            </a:r>
            <a:endParaRPr sz="1200" dirty="0">
              <a:solidFill>
                <a:srgbClr val="222222"/>
              </a:solidFill>
              <a:latin typeface="에이투지체 5 Medium"/>
              <a:ea typeface="에이투지체 5 Medium"/>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28"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9"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30"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13</a:t>
            </a:r>
          </a:p>
        </p:txBody>
      </p:sp>
      <p:sp>
        <p:nvSpPr>
          <p:cNvPr id="7" name="text-6">
            <a:extLst>
              <a:ext uri="{FF2B5EF4-FFF2-40B4-BE49-F238E27FC236}">
                <a16:creationId xmlns:a16="http://schemas.microsoft.com/office/drawing/2014/main" id="{8E5F3772-5C6C-4BE7-BD9D-7A46F1DC971E}"/>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매출은 키성장 FGO 상품</a:t>
            </a:r>
            <a:r>
              <a:rPr lang="ko-KR" sz="1900" dirty="0">
                <a:solidFill>
                  <a:srgbClr val="222222"/>
                </a:solidFill>
                <a:latin typeface="에이투지체 8 ExtraBold"/>
                <a:ea typeface="에이투지체 8 ExtraBold"/>
                <a:cs typeface="에이투지체 8 ExtraBold"/>
              </a:rPr>
              <a:t>이 </a:t>
            </a:r>
            <a:r>
              <a:rPr lang="ko-KR" altLang="en-US" sz="1900" dirty="0">
                <a:solidFill>
                  <a:srgbClr val="222222"/>
                </a:solidFill>
                <a:latin typeface="에이투지체 8 ExtraBold"/>
                <a:ea typeface="에이투지체 8 ExtraBold"/>
                <a:cs typeface="에이투지체 8 ExtraBold"/>
              </a:rPr>
              <a:t>주로 </a:t>
            </a:r>
            <a:r>
              <a:rPr lang="ko-KR" sz="1900" dirty="0">
                <a:solidFill>
                  <a:srgbClr val="222222"/>
                </a:solidFill>
                <a:latin typeface="에이투지체 8 ExtraBold"/>
                <a:ea typeface="에이투지체 8 ExtraBold"/>
                <a:cs typeface="에이투지체 8 ExtraBold"/>
              </a:rPr>
              <a:t>이끌고 있고</a:t>
            </a:r>
            <a:endParaRPr lang="ko-KR" sz="1900" dirty="0"/>
          </a:p>
          <a:p>
            <a:pPr marL="0" indent="0">
              <a:lnSpc>
                <a:spcPts val="2600"/>
              </a:lnSpc>
              <a:buNone/>
            </a:pPr>
            <a:r>
              <a:rPr lang="ko-KR" sz="1900" dirty="0" err="1">
                <a:solidFill>
                  <a:srgbClr val="222222"/>
                </a:solidFill>
                <a:latin typeface="에이투지체 8 ExtraBold"/>
                <a:ea typeface="에이투지체 8 ExtraBold"/>
                <a:cs typeface="에이투지체 8 ExtraBold"/>
              </a:rPr>
              <a:t>FGO를</a:t>
            </a:r>
            <a:r>
              <a:rPr lang="ko-KR" sz="1900" dirty="0">
                <a:solidFill>
                  <a:srgbClr val="222222"/>
                </a:solidFill>
                <a:latin typeface="에이투지체 8 ExtraBold"/>
                <a:ea typeface="에이투지체 8 ExtraBold"/>
                <a:cs typeface="에이투지체 8 ExtraBold"/>
              </a:rPr>
              <a:t> </a:t>
            </a:r>
            <a:r>
              <a:rPr lang="ko-KR" altLang="en-US" sz="1900" dirty="0">
                <a:solidFill>
                  <a:srgbClr val="222222"/>
                </a:solidFill>
                <a:latin typeface="에이투지체 8 ExtraBold"/>
                <a:ea typeface="에이투지체 8 ExtraBold"/>
                <a:cs typeface="에이투지체 8 ExtraBold"/>
              </a:rPr>
              <a:t>구매하는</a:t>
            </a:r>
            <a:r>
              <a:rPr lang="ko-KR" sz="1900" dirty="0">
                <a:solidFill>
                  <a:srgbClr val="222222"/>
                </a:solidFill>
                <a:latin typeface="에이투지체 8 ExtraBold"/>
                <a:ea typeface="에이투지체 8 ExtraBold"/>
                <a:cs typeface="에이투지체 8 ExtraBold"/>
              </a:rPr>
              <a:t> 부모는 이미 아이 성장에 지출하</a:t>
            </a:r>
            <a:r>
              <a:rPr lang="ko-KR" altLang="en-US" sz="1900" dirty="0">
                <a:solidFill>
                  <a:srgbClr val="222222"/>
                </a:solidFill>
                <a:latin typeface="에이투지체 8 ExtraBold"/>
                <a:ea typeface="에이투지체 8 ExtraBold"/>
                <a:cs typeface="에이투지체 8 ExtraBold"/>
              </a:rPr>
              <a:t>고 있</a:t>
            </a:r>
            <a:r>
              <a:rPr lang="ko-KR" sz="1900" dirty="0">
                <a:solidFill>
                  <a:srgbClr val="222222"/>
                </a:solidFill>
                <a:latin typeface="에이투지체 8 ExtraBold"/>
                <a:ea typeface="에이투지체 8 ExtraBold"/>
                <a:cs typeface="에이투지체 8 ExtraBold"/>
              </a:rPr>
              <a:t>는 고객입니다</a:t>
            </a:r>
            <a:endParaRPr lang="ko-KR" sz="1900" dirty="0"/>
          </a:p>
        </p:txBody>
      </p:sp>
      <p:sp>
        <p:nvSpPr>
          <p:cNvPr id="8" name="text-7">
            <a:extLst>
              <a:ext uri="{FF2B5EF4-FFF2-40B4-BE49-F238E27FC236}">
                <a16:creationId xmlns:a16="http://schemas.microsoft.com/office/drawing/2014/main" id="{E6D19BED-576A-4844-B325-A75815534558}"/>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핵심 과제  브랜드스토어 매출 구조와 고객 인사이트</a:t>
            </a:r>
            <a:endParaRPr lang="ko-KR" sz="1100" dirty="0"/>
          </a:p>
        </p:txBody>
      </p:sp>
      <p:sp>
        <p:nvSpPr>
          <p:cNvPr id="24" name="node-23">
            <a:extLst>
              <a:ext uri="{FF2B5EF4-FFF2-40B4-BE49-F238E27FC236}">
                <a16:creationId xmlns:a16="http://schemas.microsoft.com/office/drawing/2014/main" id="{291C5A9D-2ED5-4D2A-B33E-ABB1B78DB0BD}"/>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25" name="text-24">
            <a:extLst>
              <a:ext uri="{FF2B5EF4-FFF2-40B4-BE49-F238E27FC236}">
                <a16:creationId xmlns:a16="http://schemas.microsoft.com/office/drawing/2014/main" id="{53BE8847-B6EB-4B9D-BAB3-F894DCEAE798}"/>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defRPr sz="1358">
                <a:solidFill>
                  <a:srgbClr val="FFFFFF"/>
                </a:solidFill>
                <a:latin typeface="에이투지체 6 SemiBold"/>
                <a:ea typeface="에이투지체 6 SemiBold"/>
                <a:cs typeface="에이투지체 6 SemiBold"/>
              </a:defRPr>
            </a:pPr>
            <a:r>
              <a:rPr lang="ko-KR" altLang="en-US" sz="1358" dirty="0">
                <a:solidFill>
                  <a:srgbClr val="004F9F"/>
                </a:solidFill>
                <a:latin typeface="에이투지체 6 SemiBold"/>
                <a:ea typeface="에이투지체 6 SemiBold"/>
                <a:cs typeface="에이투지체 6 SemiBold"/>
              </a:rPr>
              <a:t>저희가 제시한 목표인 히어로 상품 발굴은 새로운 고객보다 </a:t>
            </a:r>
            <a:r>
              <a:rPr lang="en-US" altLang="ko-KR" sz="1358" dirty="0">
                <a:solidFill>
                  <a:srgbClr val="004F9F"/>
                </a:solidFill>
                <a:latin typeface="에이투지체 6 SemiBold"/>
                <a:ea typeface="에이투지체 6 SemiBold"/>
                <a:cs typeface="에이투지체 6 SemiBold"/>
              </a:rPr>
              <a:t>FGO</a:t>
            </a:r>
            <a:r>
              <a:rPr lang="ko-KR" altLang="en-US" sz="1358" dirty="0">
                <a:solidFill>
                  <a:srgbClr val="004F9F"/>
                </a:solidFill>
                <a:latin typeface="에이투지체 6 SemiBold"/>
                <a:ea typeface="에이투지체 6 SemiBold"/>
                <a:cs typeface="에이투지체 6 SemiBold"/>
              </a:rPr>
              <a:t>를 먼저 경험한</a:t>
            </a:r>
            <a:r>
              <a:rPr lang="en-US" altLang="ko-KR" sz="1358" dirty="0">
                <a:solidFill>
                  <a:srgbClr val="004F9F"/>
                </a:solidFill>
                <a:latin typeface="에이투지체 6 SemiBold"/>
                <a:ea typeface="에이투지체 6 SemiBold"/>
                <a:cs typeface="에이투지체 6 SemiBold"/>
              </a:rPr>
              <a:t> </a:t>
            </a:r>
            <a:r>
              <a:rPr lang="ko-KR" altLang="en-US" sz="1358" dirty="0">
                <a:solidFill>
                  <a:srgbClr val="004F9F"/>
                </a:solidFill>
                <a:latin typeface="에이투지체 6 SemiBold"/>
                <a:ea typeface="에이투지체 6 SemiBold"/>
                <a:cs typeface="에이투지체 6 SemiBold"/>
              </a:rPr>
              <a:t>고객으로 부터 출발할 수 있습니다</a:t>
            </a:r>
            <a:r>
              <a:rPr lang="en-US" altLang="ko-KR" sz="1358" dirty="0">
                <a:solidFill>
                  <a:srgbClr val="004F9F"/>
                </a:solidFill>
                <a:latin typeface="에이투지체 6 SemiBold"/>
                <a:ea typeface="에이투지체 6 SemiBold"/>
                <a:cs typeface="에이투지체 6 SemiBold"/>
              </a:rPr>
              <a:t>.</a:t>
            </a:r>
            <a:endParaRPr sz="1358" dirty="0">
              <a:solidFill>
                <a:srgbClr val="FFFFFF"/>
              </a:solidFill>
              <a:latin typeface="에이투지체 6 SemiBold"/>
              <a:ea typeface="에이투지체 6 SemiBold"/>
              <a:cs typeface="에이투지체 6 SemiBold"/>
            </a:endParaRPr>
          </a:p>
        </p:txBody>
      </p:sp>
      <p:grpSp>
        <p:nvGrpSpPr>
          <p:cNvPr id="33" name="그룹 32">
            <a:extLst>
              <a:ext uri="{FF2B5EF4-FFF2-40B4-BE49-F238E27FC236}">
                <a16:creationId xmlns:a16="http://schemas.microsoft.com/office/drawing/2014/main" id="{5EA8B713-0CC3-77FC-9F02-90A513519AA1}"/>
              </a:ext>
            </a:extLst>
          </p:cNvPr>
          <p:cNvGrpSpPr/>
          <p:nvPr/>
        </p:nvGrpSpPr>
        <p:grpSpPr>
          <a:xfrm>
            <a:off x="548640" y="2057400"/>
            <a:ext cx="11064240" cy="3324225"/>
            <a:chOff x="548640" y="2057400"/>
            <a:chExt cx="11064240" cy="3749040"/>
          </a:xfrm>
        </p:grpSpPr>
        <p:sp>
          <p:nvSpPr>
            <p:cNvPr id="34" name="Rectangle 7">
              <a:extLst>
                <a:ext uri="{FF2B5EF4-FFF2-40B4-BE49-F238E27FC236}">
                  <a16:creationId xmlns:a16="http://schemas.microsoft.com/office/drawing/2014/main" id="{694114DA-026A-5D87-397D-A1A786818404}"/>
                </a:ext>
              </a:extLst>
            </p:cNvPr>
            <p:cNvSpPr/>
            <p:nvPr/>
          </p:nvSpPr>
          <p:spPr>
            <a:xfrm>
              <a:off x="548640" y="2057400"/>
              <a:ext cx="3566160" cy="1783080"/>
            </a:xfrm>
            <a:prstGeom prst="roundRect">
              <a:avLst>
                <a:gd name="adj" fmla="val 4102"/>
              </a:avLst>
            </a:prstGeom>
            <a:solidFill>
              <a:srgbClr val="EAF2FB"/>
            </a:solidFill>
            <a:ln w="12700">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a:extLst>
                <a:ext uri="{FF2B5EF4-FFF2-40B4-BE49-F238E27FC236}">
                  <a16:creationId xmlns:a16="http://schemas.microsoft.com/office/drawing/2014/main" id="{88E5D8AA-4B51-3D2F-C480-E8180E71F09D}"/>
                </a:ext>
              </a:extLst>
            </p:cNvPr>
            <p:cNvSpPr txBox="1"/>
            <p:nvPr/>
          </p:nvSpPr>
          <p:spPr>
            <a:xfrm>
              <a:off x="777240" y="2212848"/>
              <a:ext cx="3108960" cy="1554480"/>
            </a:xfrm>
            <a:prstGeom prst="rect">
              <a:avLst/>
            </a:prstGeom>
            <a:noFill/>
          </p:spPr>
          <p:txBody>
            <a:bodyPr wrap="square" lIns="0" tIns="0" rIns="0" bIns="0" anchor="t">
              <a:spAutoFit/>
            </a:bodyPr>
            <a:lstStyle/>
            <a:p>
              <a:pPr algn="l">
                <a:spcAft>
                  <a:spcPts val="400"/>
                </a:spcAft>
              </a:pPr>
              <a:r>
                <a:rPr sz="1000" dirty="0">
                  <a:solidFill>
                    <a:srgbClr val="004F9F"/>
                  </a:solidFill>
                  <a:latin typeface="에이투지체 6 SemiBold"/>
                  <a:ea typeface="에이투지체 6 SemiBold"/>
                </a:rPr>
                <a:t> </a:t>
              </a:r>
              <a:r>
                <a:rPr sz="1000" dirty="0" err="1">
                  <a:solidFill>
                    <a:srgbClr val="004F9F"/>
                  </a:solidFill>
                  <a:latin typeface="에이투지체 6 SemiBold"/>
                  <a:ea typeface="에이투지체 6 SemiBold"/>
                </a:rPr>
                <a:t>쇼핑검색</a:t>
              </a:r>
              <a:r>
                <a:rPr sz="1000" dirty="0">
                  <a:solidFill>
                    <a:srgbClr val="004F9F"/>
                  </a:solidFill>
                  <a:latin typeface="에이투지체 6 SemiBold"/>
                  <a:ea typeface="에이투지체 6 SemiBold"/>
                </a:rPr>
                <a:t> · 9월</a:t>
              </a:r>
            </a:p>
            <a:p>
              <a:pPr algn="l">
                <a:spcAft>
                  <a:spcPts val="400"/>
                </a:spcAft>
              </a:pPr>
              <a:r>
                <a:rPr sz="3000" dirty="0">
                  <a:solidFill>
                    <a:srgbClr val="004F9F"/>
                  </a:solidFill>
                  <a:latin typeface="에이투지체 8 ExtraBold"/>
                  <a:ea typeface="에이투지체 8 ExtraBold"/>
                </a:rPr>
                <a:t>59% · 74%</a:t>
              </a:r>
            </a:p>
            <a:p>
              <a:pPr algn="l">
                <a:spcAft>
                  <a:spcPts val="400"/>
                </a:spcAft>
              </a:pPr>
              <a:r>
                <a:rPr sz="1050" dirty="0" err="1">
                  <a:solidFill>
                    <a:srgbClr val="5C5C5C"/>
                  </a:solidFill>
                  <a:latin typeface="에이투지체 5 Medium"/>
                  <a:ea typeface="에이투지체 5 Medium"/>
                </a:rPr>
                <a:t>키성장</a:t>
              </a:r>
              <a:r>
                <a:rPr sz="1050" dirty="0">
                  <a:solidFill>
                    <a:srgbClr val="5C5C5C"/>
                  </a:solidFill>
                  <a:latin typeface="에이투지체 5 Medium"/>
                  <a:ea typeface="에이투지체 5 Medium"/>
                </a:rPr>
                <a:t> </a:t>
              </a:r>
              <a:r>
                <a:rPr sz="1050" dirty="0" err="1">
                  <a:solidFill>
                    <a:srgbClr val="5C5C5C"/>
                  </a:solidFill>
                  <a:latin typeface="에이투지체 5 Medium"/>
                  <a:ea typeface="에이투지체 5 Medium"/>
                </a:rPr>
                <a:t>캠페인</a:t>
              </a:r>
              <a:r>
                <a:rPr sz="1050" dirty="0">
                  <a:solidFill>
                    <a:srgbClr val="5C5C5C"/>
                  </a:solidFill>
                  <a:latin typeface="에이투지체 5 Medium"/>
                  <a:ea typeface="에이투지체 5 Medium"/>
                </a:rPr>
                <a:t> 1개가 </a:t>
              </a:r>
              <a:r>
                <a:rPr sz="1050" dirty="0" err="1">
                  <a:solidFill>
                    <a:srgbClr val="5C5C5C"/>
                  </a:solidFill>
                  <a:latin typeface="에이투지체 5 Medium"/>
                  <a:ea typeface="에이투지체 5 Medium"/>
                </a:rPr>
                <a:t>차지하는</a:t>
              </a:r>
              <a:endParaRPr sz="1050" dirty="0">
                <a:solidFill>
                  <a:srgbClr val="5C5C5C"/>
                </a:solidFill>
                <a:latin typeface="에이투지체 5 Medium"/>
                <a:ea typeface="에이투지체 5 Medium"/>
              </a:endParaRPr>
            </a:p>
            <a:p>
              <a:pPr algn="l">
                <a:spcAft>
                  <a:spcPts val="400"/>
                </a:spcAft>
              </a:pPr>
              <a:r>
                <a:rPr sz="1050" dirty="0" err="1">
                  <a:solidFill>
                    <a:srgbClr val="5C5C5C"/>
                  </a:solidFill>
                  <a:latin typeface="에이투지체 5 Medium"/>
                  <a:ea typeface="에이투지체 5 Medium"/>
                </a:rPr>
                <a:t>쇼핑검색</a:t>
              </a:r>
              <a:r>
                <a:rPr sz="1050" dirty="0">
                  <a:solidFill>
                    <a:srgbClr val="5C5C5C"/>
                  </a:solidFill>
                  <a:latin typeface="에이투지체 5 Medium"/>
                  <a:ea typeface="에이투지체 5 Medium"/>
                </a:rPr>
                <a:t> </a:t>
              </a:r>
              <a:r>
                <a:rPr sz="1050" dirty="0" err="1">
                  <a:solidFill>
                    <a:srgbClr val="5C5C5C"/>
                  </a:solidFill>
                  <a:latin typeface="에이투지체 5 Medium"/>
                  <a:ea typeface="에이투지체 5 Medium"/>
                </a:rPr>
                <a:t>비용</a:t>
              </a:r>
              <a:r>
                <a:rPr sz="1050" dirty="0">
                  <a:solidFill>
                    <a:srgbClr val="5C5C5C"/>
                  </a:solidFill>
                  <a:latin typeface="에이투지체 5 Medium"/>
                  <a:ea typeface="에이투지체 5 Medium"/>
                </a:rPr>
                <a:t> · </a:t>
              </a:r>
              <a:r>
                <a:rPr sz="1050" dirty="0" err="1">
                  <a:solidFill>
                    <a:srgbClr val="5C5C5C"/>
                  </a:solidFill>
                  <a:latin typeface="에이투지체 5 Medium"/>
                  <a:ea typeface="에이투지체 5 Medium"/>
                </a:rPr>
                <a:t>전환매출</a:t>
              </a:r>
              <a:r>
                <a:rPr sz="1050" dirty="0">
                  <a:solidFill>
                    <a:srgbClr val="5C5C5C"/>
                  </a:solidFill>
                  <a:latin typeface="에이투지체 5 Medium"/>
                  <a:ea typeface="에이투지체 5 Medium"/>
                </a:rPr>
                <a:t> </a:t>
              </a:r>
              <a:r>
                <a:rPr sz="1050" dirty="0" err="1">
                  <a:solidFill>
                    <a:srgbClr val="5C5C5C"/>
                  </a:solidFill>
                  <a:latin typeface="에이투지체 5 Medium"/>
                  <a:ea typeface="에이투지체 5 Medium"/>
                </a:rPr>
                <a:t>비중</a:t>
              </a:r>
              <a:endParaRPr sz="1050" dirty="0">
                <a:solidFill>
                  <a:srgbClr val="5C5C5C"/>
                </a:solidFill>
                <a:latin typeface="에이투지체 5 Medium"/>
                <a:ea typeface="에이투지체 5 Medium"/>
              </a:endParaRPr>
            </a:p>
          </p:txBody>
        </p:sp>
        <p:sp>
          <p:nvSpPr>
            <p:cNvPr id="36" name="Rectangle 9">
              <a:extLst>
                <a:ext uri="{FF2B5EF4-FFF2-40B4-BE49-F238E27FC236}">
                  <a16:creationId xmlns:a16="http://schemas.microsoft.com/office/drawing/2014/main" id="{E0EDEA04-513B-CF54-A474-52192C64E5D3}"/>
                </a:ext>
              </a:extLst>
            </p:cNvPr>
            <p:cNvSpPr/>
            <p:nvPr/>
          </p:nvSpPr>
          <p:spPr>
            <a:xfrm>
              <a:off x="548640" y="4023360"/>
              <a:ext cx="3566160" cy="1783080"/>
            </a:xfrm>
            <a:prstGeom prst="roundRect">
              <a:avLst>
                <a:gd name="adj" fmla="val 4102"/>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a:extLst>
                <a:ext uri="{FF2B5EF4-FFF2-40B4-BE49-F238E27FC236}">
                  <a16:creationId xmlns:a16="http://schemas.microsoft.com/office/drawing/2014/main" id="{3AE5D965-0C6C-D81F-F131-DED1DA04D59B}"/>
                </a:ext>
              </a:extLst>
            </p:cNvPr>
            <p:cNvSpPr txBox="1"/>
            <p:nvPr/>
          </p:nvSpPr>
          <p:spPr>
            <a:xfrm>
              <a:off x="777240" y="4178808"/>
              <a:ext cx="3108960" cy="1554480"/>
            </a:xfrm>
            <a:prstGeom prst="rect">
              <a:avLst/>
            </a:prstGeom>
            <a:noFill/>
          </p:spPr>
          <p:txBody>
            <a:bodyPr wrap="square" lIns="0" tIns="0" rIns="0" bIns="0" anchor="t">
              <a:spAutoFit/>
            </a:bodyPr>
            <a:lstStyle/>
            <a:p>
              <a:pPr algn="l">
                <a:spcAft>
                  <a:spcPts val="400"/>
                </a:spcAft>
              </a:pPr>
              <a:r>
                <a:rPr sz="1000" dirty="0">
                  <a:solidFill>
                    <a:srgbClr val="5C5C5C"/>
                  </a:solidFill>
                  <a:latin typeface="에이투지체 6 SemiBold"/>
                  <a:ea typeface="에이투지체 6 SemiBold"/>
                </a:rPr>
                <a:t> GFA </a:t>
              </a:r>
              <a:r>
                <a:rPr sz="1000" dirty="0" err="1">
                  <a:solidFill>
                    <a:srgbClr val="5C5C5C"/>
                  </a:solidFill>
                  <a:latin typeface="에이투지체 6 SemiBold"/>
                  <a:ea typeface="에이투지체 6 SemiBold"/>
                </a:rPr>
                <a:t>배너</a:t>
              </a:r>
              <a:r>
                <a:rPr sz="1000" dirty="0">
                  <a:solidFill>
                    <a:srgbClr val="5C5C5C"/>
                  </a:solidFill>
                  <a:latin typeface="에이투지체 6 SemiBold"/>
                  <a:ea typeface="에이투지체 6 SemiBold"/>
                </a:rPr>
                <a:t> · 9월</a:t>
              </a:r>
            </a:p>
            <a:p>
              <a:pPr algn="l">
                <a:spcAft>
                  <a:spcPts val="400"/>
                </a:spcAft>
              </a:pPr>
              <a:r>
                <a:rPr sz="3000" dirty="0">
                  <a:solidFill>
                    <a:srgbClr val="222222"/>
                  </a:solidFill>
                  <a:latin typeface="에이투지체 8 ExtraBold"/>
                  <a:ea typeface="에이투지체 8 ExtraBold"/>
                </a:rPr>
                <a:t>68%</a:t>
              </a:r>
            </a:p>
            <a:p>
              <a:pPr algn="l">
                <a:spcAft>
                  <a:spcPts val="400"/>
                </a:spcAft>
              </a:pPr>
              <a:r>
                <a:rPr sz="1050" dirty="0" err="1">
                  <a:solidFill>
                    <a:srgbClr val="5C5C5C"/>
                  </a:solidFill>
                  <a:latin typeface="에이투지체 5 Medium"/>
                  <a:ea typeface="에이투지체 5 Medium"/>
                </a:rPr>
                <a:t>배너</a:t>
              </a:r>
              <a:r>
                <a:rPr sz="1050" dirty="0">
                  <a:solidFill>
                    <a:srgbClr val="5C5C5C"/>
                  </a:solidFill>
                  <a:latin typeface="에이투지체 5 Medium"/>
                  <a:ea typeface="에이투지체 5 Medium"/>
                </a:rPr>
                <a:t> </a:t>
              </a:r>
              <a:r>
                <a:rPr sz="1050" dirty="0" err="1">
                  <a:solidFill>
                    <a:srgbClr val="5C5C5C"/>
                  </a:solidFill>
                  <a:latin typeface="에이투지체 5 Medium"/>
                  <a:ea typeface="에이투지체 5 Medium"/>
                </a:rPr>
                <a:t>광고비</a:t>
              </a:r>
              <a:r>
                <a:rPr sz="1050" dirty="0">
                  <a:solidFill>
                    <a:srgbClr val="5C5C5C"/>
                  </a:solidFill>
                  <a:latin typeface="에이투지체 5 Medium"/>
                  <a:ea typeface="에이투지체 5 Medium"/>
                </a:rPr>
                <a:t> 중</a:t>
              </a:r>
            </a:p>
            <a:p>
              <a:pPr algn="l">
                <a:spcAft>
                  <a:spcPts val="400"/>
                </a:spcAft>
              </a:pPr>
              <a:r>
                <a:rPr sz="1050" dirty="0" err="1">
                  <a:solidFill>
                    <a:srgbClr val="5C5C5C"/>
                  </a:solidFill>
                  <a:latin typeface="에이투지체 5 Medium"/>
                  <a:ea typeface="에이투지체 5 Medium"/>
                </a:rPr>
                <a:t>키성장</a:t>
              </a:r>
              <a:r>
                <a:rPr sz="1050" dirty="0">
                  <a:solidFill>
                    <a:srgbClr val="5C5C5C"/>
                  </a:solidFill>
                  <a:latin typeface="에이투지체 5 Medium"/>
                  <a:ea typeface="에이투지체 5 Medium"/>
                </a:rPr>
                <a:t> FGO </a:t>
              </a:r>
              <a:r>
                <a:rPr sz="1050" dirty="0" err="1">
                  <a:solidFill>
                    <a:srgbClr val="5C5C5C"/>
                  </a:solidFill>
                  <a:latin typeface="에이투지체 5 Medium"/>
                  <a:ea typeface="에이투지체 5 Medium"/>
                </a:rPr>
                <a:t>비중</a:t>
              </a:r>
              <a:endParaRPr sz="1050" dirty="0">
                <a:solidFill>
                  <a:srgbClr val="5C5C5C"/>
                </a:solidFill>
                <a:latin typeface="에이투지체 5 Medium"/>
                <a:ea typeface="에이투지체 5 Medium"/>
              </a:endParaRPr>
            </a:p>
          </p:txBody>
        </p:sp>
        <p:sp>
          <p:nvSpPr>
            <p:cNvPr id="38" name="Right Arrow 11">
              <a:extLst>
                <a:ext uri="{FF2B5EF4-FFF2-40B4-BE49-F238E27FC236}">
                  <a16:creationId xmlns:a16="http://schemas.microsoft.com/office/drawing/2014/main" id="{4DC3FF42-0076-75AF-0554-EAA9E3A0AA5C}"/>
                </a:ext>
              </a:extLst>
            </p:cNvPr>
            <p:cNvSpPr/>
            <p:nvPr/>
          </p:nvSpPr>
          <p:spPr>
            <a:xfrm>
              <a:off x="4279392" y="3785615"/>
              <a:ext cx="365760" cy="329184"/>
            </a:xfrm>
            <a:prstGeom prst="rightArrow">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12">
              <a:extLst>
                <a:ext uri="{FF2B5EF4-FFF2-40B4-BE49-F238E27FC236}">
                  <a16:creationId xmlns:a16="http://schemas.microsoft.com/office/drawing/2014/main" id="{0355266F-A7AF-5E84-0405-A98766F370B9}"/>
                </a:ext>
              </a:extLst>
            </p:cNvPr>
            <p:cNvSpPr/>
            <p:nvPr/>
          </p:nvSpPr>
          <p:spPr>
            <a:xfrm>
              <a:off x="4800600" y="2057400"/>
              <a:ext cx="6812280" cy="3749039"/>
            </a:xfrm>
            <a:prstGeom prst="roundRect">
              <a:avLst>
                <a:gd name="adj" fmla="val 1951"/>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4E3E9875-2714-55F6-E771-193589084DC6}"/>
                </a:ext>
              </a:extLst>
            </p:cNvPr>
            <p:cNvSpPr txBox="1"/>
            <p:nvPr/>
          </p:nvSpPr>
          <p:spPr>
            <a:xfrm>
              <a:off x="5120640" y="2240280"/>
              <a:ext cx="6217920" cy="365760"/>
            </a:xfrm>
            <a:prstGeom prst="rect">
              <a:avLst/>
            </a:prstGeom>
            <a:noFill/>
          </p:spPr>
          <p:txBody>
            <a:bodyPr wrap="square" lIns="0" tIns="0" rIns="0" bIns="0" anchor="t">
              <a:spAutoFit/>
            </a:bodyPr>
            <a:lstStyle/>
            <a:p>
              <a:pPr algn="l">
                <a:spcAft>
                  <a:spcPts val="400"/>
                </a:spcAft>
              </a:pPr>
              <a:r>
                <a:rPr sz="1100">
                  <a:solidFill>
                    <a:srgbClr val="004F9F"/>
                  </a:solidFill>
                  <a:latin typeface="에이투지체 8 ExtraBold"/>
                  <a:ea typeface="에이투지체 8 ExtraBold"/>
                </a:rPr>
                <a:t>INSIGHT</a:t>
              </a:r>
            </a:p>
          </p:txBody>
        </p:sp>
        <p:sp>
          <p:nvSpPr>
            <p:cNvPr id="41" name="TextBox 40">
              <a:extLst>
                <a:ext uri="{FF2B5EF4-FFF2-40B4-BE49-F238E27FC236}">
                  <a16:creationId xmlns:a16="http://schemas.microsoft.com/office/drawing/2014/main" id="{10D115F2-008D-E355-1A44-93A2D2179348}"/>
                </a:ext>
              </a:extLst>
            </p:cNvPr>
            <p:cNvSpPr txBox="1"/>
            <p:nvPr/>
          </p:nvSpPr>
          <p:spPr>
            <a:xfrm>
              <a:off x="5120640" y="2697480"/>
              <a:ext cx="548640" cy="457200"/>
            </a:xfrm>
            <a:prstGeom prst="rect">
              <a:avLst/>
            </a:prstGeom>
            <a:noFill/>
          </p:spPr>
          <p:txBody>
            <a:bodyPr wrap="square" lIns="0" tIns="0" rIns="0" bIns="0" anchor="t">
              <a:spAutoFit/>
            </a:bodyPr>
            <a:lstStyle/>
            <a:p>
              <a:pPr algn="l">
                <a:spcAft>
                  <a:spcPts val="400"/>
                </a:spcAft>
              </a:pPr>
              <a:r>
                <a:rPr sz="1800">
                  <a:solidFill>
                    <a:srgbClr val="004F9F"/>
                  </a:solidFill>
                  <a:latin typeface="에이투지체 8 ExtraBold"/>
                  <a:ea typeface="에이투지체 8 ExtraBold"/>
                </a:rPr>
                <a:t>01</a:t>
              </a:r>
            </a:p>
          </p:txBody>
        </p:sp>
        <p:sp>
          <p:nvSpPr>
            <p:cNvPr id="42" name="TextBox 41">
              <a:extLst>
                <a:ext uri="{FF2B5EF4-FFF2-40B4-BE49-F238E27FC236}">
                  <a16:creationId xmlns:a16="http://schemas.microsoft.com/office/drawing/2014/main" id="{7B7E6627-3ADF-A8F7-F4C3-B5C6744F57E7}"/>
                </a:ext>
              </a:extLst>
            </p:cNvPr>
            <p:cNvSpPr txBox="1"/>
            <p:nvPr/>
          </p:nvSpPr>
          <p:spPr>
            <a:xfrm>
              <a:off x="5715000" y="2715768"/>
              <a:ext cx="5669280" cy="822960"/>
            </a:xfrm>
            <a:prstGeom prst="rect">
              <a:avLst/>
            </a:prstGeom>
            <a:noFill/>
          </p:spPr>
          <p:txBody>
            <a:bodyPr wrap="square" lIns="0" tIns="0" rIns="0" bIns="0" anchor="t">
              <a:spAutoFit/>
            </a:bodyPr>
            <a:lstStyle/>
            <a:p>
              <a:pPr algn="l">
                <a:spcAft>
                  <a:spcPts val="400"/>
                </a:spcAft>
              </a:pPr>
              <a:r>
                <a:rPr sz="1400" dirty="0" err="1">
                  <a:solidFill>
                    <a:srgbClr val="222222"/>
                  </a:solidFill>
                  <a:latin typeface="에이투지체 6 SemiBold"/>
                  <a:ea typeface="에이투지체 6 SemiBold"/>
                </a:rPr>
                <a:t>구매자는</a:t>
              </a:r>
              <a:r>
                <a:rPr sz="1400" dirty="0">
                  <a:solidFill>
                    <a:srgbClr val="222222"/>
                  </a:solidFill>
                  <a:latin typeface="에이투지체 6 SemiBold"/>
                  <a:ea typeface="에이투지체 6 SemiBold"/>
                </a:rPr>
                <a:t> </a:t>
              </a:r>
              <a:r>
                <a:rPr sz="1400" dirty="0" err="1">
                  <a:solidFill>
                    <a:srgbClr val="222222"/>
                  </a:solidFill>
                  <a:latin typeface="에이투지체 6 SemiBold"/>
                  <a:ea typeface="에이투지체 6 SemiBold"/>
                </a:rPr>
                <a:t>아이가</a:t>
              </a:r>
              <a:r>
                <a:rPr sz="1400" dirty="0">
                  <a:solidFill>
                    <a:srgbClr val="222222"/>
                  </a:solidFill>
                  <a:latin typeface="에이투지체 6 SemiBold"/>
                  <a:ea typeface="에이투지체 6 SemiBold"/>
                </a:rPr>
                <a:t> </a:t>
              </a:r>
              <a:r>
                <a:rPr sz="1400" dirty="0" err="1">
                  <a:solidFill>
                    <a:srgbClr val="222222"/>
                  </a:solidFill>
                  <a:latin typeface="에이투지체 6 SemiBold"/>
                  <a:ea typeface="에이투지체 6 SemiBold"/>
                </a:rPr>
                <a:t>아니라</a:t>
              </a:r>
              <a:r>
                <a:rPr sz="1400" dirty="0">
                  <a:solidFill>
                    <a:srgbClr val="222222"/>
                  </a:solidFill>
                  <a:latin typeface="에이투지체 6 SemiBold"/>
                  <a:ea typeface="에이투지체 6 SemiBold"/>
                </a:rPr>
                <a:t> </a:t>
              </a:r>
              <a:r>
                <a:rPr sz="1400" dirty="0" err="1">
                  <a:solidFill>
                    <a:srgbClr val="222222"/>
                  </a:solidFill>
                  <a:latin typeface="에이투지체 6 SemiBold"/>
                  <a:ea typeface="에이투지체 6 SemiBold"/>
                </a:rPr>
                <a:t>부모입니다</a:t>
              </a:r>
              <a:endParaRPr sz="1400" dirty="0">
                <a:solidFill>
                  <a:srgbClr val="222222"/>
                </a:solidFill>
                <a:latin typeface="에이투지체 6 SemiBold"/>
                <a:ea typeface="에이투지체 6 SemiBold"/>
              </a:endParaRPr>
            </a:p>
            <a:p>
              <a:pPr algn="l">
                <a:spcAft>
                  <a:spcPts val="400"/>
                </a:spcAft>
              </a:pPr>
              <a:r>
                <a:rPr sz="1100" dirty="0" err="1">
                  <a:solidFill>
                    <a:srgbClr val="5C5C5C"/>
                  </a:solidFill>
                  <a:latin typeface="에이투지체 4 Regular"/>
                  <a:ea typeface="에이투지체 4 Regular"/>
                </a:rPr>
                <a:t>부모는</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아이의</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성장</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단계에</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맞춰</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영양을</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챙깁니다</a:t>
              </a:r>
              <a:endParaRPr sz="1100" dirty="0">
                <a:solidFill>
                  <a:srgbClr val="5C5C5C"/>
                </a:solidFill>
                <a:latin typeface="에이투지체 4 Regular"/>
                <a:ea typeface="에이투지체 4 Regular"/>
              </a:endParaRPr>
            </a:p>
          </p:txBody>
        </p:sp>
        <p:sp>
          <p:nvSpPr>
            <p:cNvPr id="43" name="TextBox 42">
              <a:extLst>
                <a:ext uri="{FF2B5EF4-FFF2-40B4-BE49-F238E27FC236}">
                  <a16:creationId xmlns:a16="http://schemas.microsoft.com/office/drawing/2014/main" id="{4972B80B-0A6F-1122-5781-DC2427CA81D1}"/>
                </a:ext>
              </a:extLst>
            </p:cNvPr>
            <p:cNvSpPr txBox="1"/>
            <p:nvPr/>
          </p:nvSpPr>
          <p:spPr>
            <a:xfrm>
              <a:off x="5120640" y="3703320"/>
              <a:ext cx="548640" cy="457200"/>
            </a:xfrm>
            <a:prstGeom prst="rect">
              <a:avLst/>
            </a:prstGeom>
            <a:noFill/>
          </p:spPr>
          <p:txBody>
            <a:bodyPr wrap="square" lIns="0" tIns="0" rIns="0" bIns="0" anchor="t">
              <a:spAutoFit/>
            </a:bodyPr>
            <a:lstStyle/>
            <a:p>
              <a:pPr algn="l">
                <a:spcAft>
                  <a:spcPts val="400"/>
                </a:spcAft>
              </a:pPr>
              <a:r>
                <a:rPr sz="1800">
                  <a:solidFill>
                    <a:srgbClr val="004F9F"/>
                  </a:solidFill>
                  <a:latin typeface="에이투지체 8 ExtraBold"/>
                  <a:ea typeface="에이투지체 8 ExtraBold"/>
                </a:rPr>
                <a:t>02</a:t>
              </a:r>
            </a:p>
          </p:txBody>
        </p:sp>
        <p:sp>
          <p:nvSpPr>
            <p:cNvPr id="44" name="TextBox 43">
              <a:extLst>
                <a:ext uri="{FF2B5EF4-FFF2-40B4-BE49-F238E27FC236}">
                  <a16:creationId xmlns:a16="http://schemas.microsoft.com/office/drawing/2014/main" id="{12429362-3596-E9CB-5D5C-E1CF27F700AE}"/>
                </a:ext>
              </a:extLst>
            </p:cNvPr>
            <p:cNvSpPr txBox="1"/>
            <p:nvPr/>
          </p:nvSpPr>
          <p:spPr>
            <a:xfrm>
              <a:off x="5715000" y="3721608"/>
              <a:ext cx="5669280" cy="491737"/>
            </a:xfrm>
            <a:prstGeom prst="rect">
              <a:avLst/>
            </a:prstGeom>
            <a:noFill/>
          </p:spPr>
          <p:txBody>
            <a:bodyPr wrap="square" lIns="0" tIns="0" rIns="0" bIns="0" anchor="t">
              <a:spAutoFit/>
            </a:bodyPr>
            <a:lstStyle/>
            <a:p>
              <a:pPr algn="l">
                <a:spcAft>
                  <a:spcPts val="400"/>
                </a:spcAft>
              </a:pPr>
              <a:r>
                <a:rPr sz="1400" dirty="0">
                  <a:solidFill>
                    <a:srgbClr val="222222"/>
                  </a:solidFill>
                  <a:latin typeface="에이투지체 6 SemiBold"/>
                  <a:ea typeface="에이투지체 6 SemiBold"/>
                </a:rPr>
                <a:t>FGO </a:t>
              </a:r>
              <a:r>
                <a:rPr sz="1400" dirty="0" err="1">
                  <a:solidFill>
                    <a:srgbClr val="222222"/>
                  </a:solidFill>
                  <a:latin typeface="에이투지체 6 SemiBold"/>
                  <a:ea typeface="에이투지체 6 SemiBold"/>
                </a:rPr>
                <a:t>고객은</a:t>
              </a:r>
              <a:r>
                <a:rPr sz="1400" dirty="0">
                  <a:solidFill>
                    <a:srgbClr val="222222"/>
                  </a:solidFill>
                  <a:latin typeface="에이투지체 6 SemiBold"/>
                  <a:ea typeface="에이투지체 6 SemiBold"/>
                </a:rPr>
                <a:t> </a:t>
              </a:r>
              <a:r>
                <a:rPr sz="1400" dirty="0" err="1">
                  <a:solidFill>
                    <a:srgbClr val="222222"/>
                  </a:solidFill>
                  <a:latin typeface="에이투지체 6 SemiBold"/>
                  <a:ea typeface="에이투지체 6 SemiBold"/>
                </a:rPr>
                <a:t>이미</a:t>
              </a:r>
              <a:r>
                <a:rPr sz="1400" dirty="0">
                  <a:solidFill>
                    <a:srgbClr val="222222"/>
                  </a:solidFill>
                  <a:latin typeface="에이투지체 6 SemiBold"/>
                  <a:ea typeface="에이투지체 6 SemiBold"/>
                </a:rPr>
                <a:t> </a:t>
              </a:r>
              <a:r>
                <a:rPr lang="ko-KR" altLang="en-US" sz="1400" dirty="0">
                  <a:solidFill>
                    <a:srgbClr val="222222"/>
                  </a:solidFill>
                  <a:latin typeface="에이투지체 6 SemiBold"/>
                  <a:ea typeface="에이투지체 6 SemiBold"/>
                </a:rPr>
                <a:t>영양제 상품</a:t>
              </a:r>
              <a:r>
                <a:rPr sz="1400" dirty="0">
                  <a:solidFill>
                    <a:srgbClr val="222222"/>
                  </a:solidFill>
                  <a:latin typeface="에이투지체 6 SemiBold"/>
                  <a:ea typeface="에이투지체 6 SemiBold"/>
                </a:rPr>
                <a:t>에 </a:t>
              </a:r>
              <a:r>
                <a:rPr lang="ko-KR" altLang="en-US" sz="1400" dirty="0">
                  <a:solidFill>
                    <a:srgbClr val="222222"/>
                  </a:solidFill>
                  <a:latin typeface="에이투지체 6 SemiBold"/>
                  <a:ea typeface="에이투지체 6 SemiBold"/>
                </a:rPr>
                <a:t>구매의도를 가지고 있는</a:t>
              </a:r>
              <a:r>
                <a:rPr sz="1400" dirty="0">
                  <a:solidFill>
                    <a:srgbClr val="222222"/>
                  </a:solidFill>
                  <a:latin typeface="에이투지체 6 SemiBold"/>
                  <a:ea typeface="에이투지체 6 SemiBold"/>
                </a:rPr>
                <a:t> </a:t>
              </a:r>
              <a:r>
                <a:rPr sz="1400" dirty="0" err="1">
                  <a:solidFill>
                    <a:srgbClr val="222222"/>
                  </a:solidFill>
                  <a:latin typeface="에이투지체 6 SemiBold"/>
                  <a:ea typeface="에이투지체 6 SemiBold"/>
                </a:rPr>
                <a:t>고객입니다</a:t>
              </a:r>
              <a:endParaRPr sz="1400" dirty="0">
                <a:solidFill>
                  <a:srgbClr val="222222"/>
                </a:solidFill>
                <a:latin typeface="에이투지체 6 SemiBold"/>
                <a:ea typeface="에이투지체 6 SemiBold"/>
              </a:endParaRPr>
            </a:p>
            <a:p>
              <a:pPr algn="l">
                <a:spcAft>
                  <a:spcPts val="400"/>
                </a:spcAft>
              </a:pPr>
              <a:r>
                <a:rPr lang="en-US" sz="1100" dirty="0">
                  <a:solidFill>
                    <a:srgbClr val="5C5C5C"/>
                  </a:solidFill>
                  <a:latin typeface="에이투지체 4 Regular"/>
                  <a:ea typeface="에이투지체 4 Regular"/>
                </a:rPr>
                <a:t>FGO </a:t>
              </a:r>
              <a:r>
                <a:rPr lang="ko-KR" altLang="en-US" sz="1100" dirty="0">
                  <a:solidFill>
                    <a:srgbClr val="5C5C5C"/>
                  </a:solidFill>
                  <a:latin typeface="에이투지체 4 Regular"/>
                  <a:ea typeface="에이투지체 4 Regular"/>
                </a:rPr>
                <a:t>이외의 다른</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영양제</a:t>
              </a:r>
              <a:r>
                <a:rPr lang="en-US" sz="1100" dirty="0">
                  <a:solidFill>
                    <a:srgbClr val="5C5C5C"/>
                  </a:solidFill>
                  <a:latin typeface="에이투지체 4 Regular"/>
                  <a:ea typeface="에이투지체 4 Regular"/>
                </a:rPr>
                <a:t> </a:t>
              </a:r>
              <a:r>
                <a:rPr lang="ko-KR" altLang="en-US" sz="1100" dirty="0">
                  <a:solidFill>
                    <a:srgbClr val="5C5C5C"/>
                  </a:solidFill>
                  <a:latin typeface="에이투지체 4 Regular"/>
                  <a:ea typeface="에이투지체 4 Regular"/>
                </a:rPr>
                <a:t>상품 구매의도가 가장 높은</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고객입니다</a:t>
              </a:r>
              <a:endParaRPr sz="1100" dirty="0">
                <a:solidFill>
                  <a:srgbClr val="5C5C5C"/>
                </a:solidFill>
                <a:latin typeface="에이투지체 4 Regular"/>
                <a:ea typeface="에이투지체 4 Regular"/>
              </a:endParaRPr>
            </a:p>
          </p:txBody>
        </p:sp>
        <p:sp>
          <p:nvSpPr>
            <p:cNvPr id="45" name="TextBox 44">
              <a:extLst>
                <a:ext uri="{FF2B5EF4-FFF2-40B4-BE49-F238E27FC236}">
                  <a16:creationId xmlns:a16="http://schemas.microsoft.com/office/drawing/2014/main" id="{AFAC6CAC-55F8-A30F-19D2-0C8B97853E73}"/>
                </a:ext>
              </a:extLst>
            </p:cNvPr>
            <p:cNvSpPr txBox="1"/>
            <p:nvPr/>
          </p:nvSpPr>
          <p:spPr>
            <a:xfrm>
              <a:off x="5120640" y="4709160"/>
              <a:ext cx="548640" cy="457200"/>
            </a:xfrm>
            <a:prstGeom prst="rect">
              <a:avLst/>
            </a:prstGeom>
            <a:noFill/>
          </p:spPr>
          <p:txBody>
            <a:bodyPr wrap="square" lIns="0" tIns="0" rIns="0" bIns="0" anchor="t">
              <a:spAutoFit/>
            </a:bodyPr>
            <a:lstStyle/>
            <a:p>
              <a:pPr algn="l">
                <a:spcAft>
                  <a:spcPts val="400"/>
                </a:spcAft>
              </a:pPr>
              <a:r>
                <a:rPr sz="1800">
                  <a:solidFill>
                    <a:srgbClr val="004F9F"/>
                  </a:solidFill>
                  <a:latin typeface="에이투지체 8 ExtraBold"/>
                  <a:ea typeface="에이투지체 8 ExtraBold"/>
                </a:rPr>
                <a:t>03</a:t>
              </a:r>
            </a:p>
          </p:txBody>
        </p:sp>
        <p:sp>
          <p:nvSpPr>
            <p:cNvPr id="46" name="TextBox 45">
              <a:extLst>
                <a:ext uri="{FF2B5EF4-FFF2-40B4-BE49-F238E27FC236}">
                  <a16:creationId xmlns:a16="http://schemas.microsoft.com/office/drawing/2014/main" id="{FC1000D9-ABCC-805F-0EA8-6A0ED39125E9}"/>
                </a:ext>
              </a:extLst>
            </p:cNvPr>
            <p:cNvSpPr txBox="1"/>
            <p:nvPr/>
          </p:nvSpPr>
          <p:spPr>
            <a:xfrm>
              <a:off x="5715000" y="4727448"/>
              <a:ext cx="5669280" cy="822960"/>
            </a:xfrm>
            <a:prstGeom prst="rect">
              <a:avLst/>
            </a:prstGeom>
            <a:noFill/>
          </p:spPr>
          <p:txBody>
            <a:bodyPr wrap="square" lIns="0" tIns="0" rIns="0" bIns="0" anchor="t">
              <a:spAutoFit/>
            </a:bodyPr>
            <a:lstStyle/>
            <a:p>
              <a:pPr algn="l">
                <a:spcAft>
                  <a:spcPts val="400"/>
                </a:spcAft>
              </a:pPr>
              <a:r>
                <a:rPr sz="1400" dirty="0">
                  <a:solidFill>
                    <a:srgbClr val="222222"/>
                  </a:solidFill>
                  <a:latin typeface="에이투지체 6 SemiBold"/>
                  <a:ea typeface="에이투지체 6 SemiBold"/>
                </a:rPr>
                <a:t>FGO </a:t>
              </a:r>
              <a:r>
                <a:rPr sz="1400" dirty="0" err="1">
                  <a:solidFill>
                    <a:srgbClr val="222222"/>
                  </a:solidFill>
                  <a:latin typeface="에이투지체 6 SemiBold"/>
                  <a:ea typeface="에이투지체 6 SemiBold"/>
                </a:rPr>
                <a:t>수요는</a:t>
              </a:r>
              <a:r>
                <a:rPr sz="1400" dirty="0">
                  <a:solidFill>
                    <a:srgbClr val="222222"/>
                  </a:solidFill>
                  <a:latin typeface="에이투지체 6 SemiBold"/>
                  <a:ea typeface="에이투지체 6 SemiBold"/>
                </a:rPr>
                <a:t> </a:t>
              </a:r>
              <a:r>
                <a:rPr sz="1400" dirty="0" err="1">
                  <a:solidFill>
                    <a:srgbClr val="222222"/>
                  </a:solidFill>
                  <a:latin typeface="에이투지체 6 SemiBold"/>
                  <a:ea typeface="에이투지체 6 SemiBold"/>
                </a:rPr>
                <a:t>히어로</a:t>
              </a:r>
              <a:r>
                <a:rPr sz="1400" dirty="0">
                  <a:solidFill>
                    <a:srgbClr val="222222"/>
                  </a:solidFill>
                  <a:latin typeface="에이투지체 6 SemiBold"/>
                  <a:ea typeface="에이투지체 6 SemiBold"/>
                </a:rPr>
                <a:t> </a:t>
              </a:r>
              <a:r>
                <a:rPr sz="1400" dirty="0" err="1">
                  <a:solidFill>
                    <a:srgbClr val="222222"/>
                  </a:solidFill>
                  <a:latin typeface="에이투지체 6 SemiBold"/>
                  <a:ea typeface="에이투지체 6 SemiBold"/>
                </a:rPr>
                <a:t>상품의</a:t>
              </a:r>
              <a:r>
                <a:rPr sz="1400" dirty="0">
                  <a:solidFill>
                    <a:srgbClr val="222222"/>
                  </a:solidFill>
                  <a:latin typeface="에이투지체 6 SemiBold"/>
                  <a:ea typeface="에이투지체 6 SemiBold"/>
                </a:rPr>
                <a:t> </a:t>
              </a:r>
              <a:r>
                <a:rPr sz="1400" dirty="0" err="1">
                  <a:solidFill>
                    <a:srgbClr val="222222"/>
                  </a:solidFill>
                  <a:latin typeface="에이투지체 6 SemiBold"/>
                  <a:ea typeface="에이투지체 6 SemiBold"/>
                </a:rPr>
                <a:t>입구가</a:t>
              </a:r>
              <a:r>
                <a:rPr sz="1400" dirty="0">
                  <a:solidFill>
                    <a:srgbClr val="222222"/>
                  </a:solidFill>
                  <a:latin typeface="에이투지체 6 SemiBold"/>
                  <a:ea typeface="에이투지체 6 SemiBold"/>
                </a:rPr>
                <a:t> </a:t>
              </a:r>
              <a:r>
                <a:rPr sz="1400" dirty="0" err="1">
                  <a:solidFill>
                    <a:srgbClr val="222222"/>
                  </a:solidFill>
                  <a:latin typeface="에이투지체 6 SemiBold"/>
                  <a:ea typeface="에이투지체 6 SemiBold"/>
                </a:rPr>
                <a:t>됩니다</a:t>
              </a:r>
              <a:endParaRPr sz="1400" dirty="0">
                <a:solidFill>
                  <a:srgbClr val="222222"/>
                </a:solidFill>
                <a:latin typeface="에이투지체 6 SemiBold"/>
                <a:ea typeface="에이투지체 6 SemiBold"/>
              </a:endParaRPr>
            </a:p>
            <a:p>
              <a:pPr algn="l">
                <a:spcAft>
                  <a:spcPts val="400"/>
                </a:spcAft>
              </a:pPr>
              <a:r>
                <a:rPr sz="1100" dirty="0">
                  <a:solidFill>
                    <a:srgbClr val="5C5C5C"/>
                  </a:solidFill>
                  <a:latin typeface="에이투지체 4 Regular"/>
                  <a:ea typeface="에이투지체 4 Regular"/>
                </a:rPr>
                <a:t>FGO </a:t>
              </a:r>
              <a:r>
                <a:rPr sz="1100" dirty="0" err="1">
                  <a:solidFill>
                    <a:srgbClr val="5C5C5C"/>
                  </a:solidFill>
                  <a:latin typeface="에이투지체 4 Regular"/>
                  <a:ea typeface="에이투지체 4 Regular"/>
                </a:rPr>
                <a:t>검색과</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구매에서</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다른</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상품으로</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넓힐</a:t>
              </a:r>
              <a:r>
                <a:rPr sz="1100" dirty="0">
                  <a:solidFill>
                    <a:srgbClr val="5C5C5C"/>
                  </a:solidFill>
                  <a:latin typeface="에이투지체 4 Regular"/>
                  <a:ea typeface="에이투지체 4 Regular"/>
                </a:rPr>
                <a:t> 수 </a:t>
              </a:r>
              <a:r>
                <a:rPr sz="1100" dirty="0" err="1">
                  <a:solidFill>
                    <a:srgbClr val="5C5C5C"/>
                  </a:solidFill>
                  <a:latin typeface="에이투지체 4 Regular"/>
                  <a:ea typeface="에이투지체 4 Regular"/>
                </a:rPr>
                <a:t>있습니다</a:t>
              </a:r>
              <a:endParaRPr sz="1100" dirty="0">
                <a:solidFill>
                  <a:srgbClr val="5C5C5C"/>
                </a:solidFill>
                <a:latin typeface="에이투지체 4 Regular"/>
                <a:ea typeface="에이투지체 4 Regul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8982E-E928-423F-1059-F0BF63DA7F3B}"/>
            </a:ext>
          </a:extLst>
        </p:cNvPr>
        <p:cNvGrpSpPr/>
        <p:nvPr/>
      </p:nvGrpSpPr>
      <p:grpSpPr>
        <a:xfrm>
          <a:off x="0" y="0"/>
          <a:ext cx="0" cy="0"/>
          <a:chOff x="0" y="0"/>
          <a:chExt cx="0" cy="0"/>
        </a:xfrm>
      </p:grpSpPr>
      <p:sp>
        <p:nvSpPr>
          <p:cNvPr id="27" name="TextBox 1">
            <a:extLst>
              <a:ext uri="{FF2B5EF4-FFF2-40B4-BE49-F238E27FC236}">
                <a16:creationId xmlns:a16="http://schemas.microsoft.com/office/drawing/2014/main" id="{B0F02BC7-9731-6A45-876B-84EFAFBB8BCA}"/>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28" name="TextBox 7">
            <a:extLst>
              <a:ext uri="{FF2B5EF4-FFF2-40B4-BE49-F238E27FC236}">
                <a16:creationId xmlns:a16="http://schemas.microsoft.com/office/drawing/2014/main" id="{1CCD4AEF-91F9-63E4-3F9E-ECE458B922D2}"/>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9" name="TextBox 8">
            <a:extLst>
              <a:ext uri="{FF2B5EF4-FFF2-40B4-BE49-F238E27FC236}">
                <a16:creationId xmlns:a16="http://schemas.microsoft.com/office/drawing/2014/main" id="{73AC0D08-1E26-8A3E-9644-465655A2867C}"/>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30" name="PGNO">
            <a:extLst>
              <a:ext uri="{FF2B5EF4-FFF2-40B4-BE49-F238E27FC236}">
                <a16:creationId xmlns:a16="http://schemas.microsoft.com/office/drawing/2014/main" id="{EDE9B906-45DD-F283-72FB-48439EBA7C53}"/>
              </a:ext>
            </a:extLst>
          </p:cNvPr>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14</a:t>
            </a:r>
          </a:p>
        </p:txBody>
      </p:sp>
      <p:sp>
        <p:nvSpPr>
          <p:cNvPr id="7" name="text-6">
            <a:extLst>
              <a:ext uri="{FF2B5EF4-FFF2-40B4-BE49-F238E27FC236}">
                <a16:creationId xmlns:a16="http://schemas.microsoft.com/office/drawing/2014/main" id="{D6AA7D14-30DB-D934-7076-6FDEF02130C7}"/>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FGO 수요를 입구로 삼아</a:t>
            </a:r>
            <a:endParaRPr lang="ko-KR" sz="1900" dirty="0"/>
          </a:p>
          <a:p>
            <a:pPr marL="0" indent="0">
              <a:lnSpc>
                <a:spcPts val="2600"/>
              </a:lnSpc>
              <a:buNone/>
            </a:pPr>
            <a:r>
              <a:rPr lang="ko-KR" altLang="en-US" sz="1900" dirty="0">
                <a:solidFill>
                  <a:srgbClr val="222222"/>
                </a:solidFill>
                <a:latin typeface="에이투지체 8 ExtraBold"/>
                <a:ea typeface="에이투지체 8 ExtraBold"/>
                <a:cs typeface="에이투지체 8 ExtraBold"/>
              </a:rPr>
              <a:t>다른 영양제를 </a:t>
            </a:r>
            <a:r>
              <a:rPr lang="ko-KR" sz="1900" dirty="0">
                <a:solidFill>
                  <a:srgbClr val="222222"/>
                </a:solidFill>
                <a:latin typeface="에이투지체 8 ExtraBold"/>
                <a:ea typeface="에이투지체 8 ExtraBold"/>
                <a:cs typeface="에이투지체 8 ExtraBold"/>
              </a:rPr>
              <a:t>함께 먹을 이유와 함께 </a:t>
            </a:r>
            <a:r>
              <a:rPr lang="ko-KR" altLang="en-US" sz="1900" dirty="0">
                <a:solidFill>
                  <a:srgbClr val="222222"/>
                </a:solidFill>
                <a:latin typeface="에이투지체 8 ExtraBold"/>
                <a:ea typeface="에이투지체 8 ExtraBold"/>
                <a:cs typeface="에이투지체 8 ExtraBold"/>
              </a:rPr>
              <a:t>구매할 수 있는</a:t>
            </a:r>
            <a:r>
              <a:rPr lang="ko-KR" sz="1900" dirty="0">
                <a:solidFill>
                  <a:srgbClr val="222222"/>
                </a:solidFill>
                <a:latin typeface="에이투지체 8 ExtraBold"/>
                <a:ea typeface="에이투지체 8 ExtraBold"/>
                <a:cs typeface="에이투지체 8 ExtraBold"/>
              </a:rPr>
              <a:t> 구성을 만듭니다</a:t>
            </a:r>
            <a:endParaRPr lang="ko-KR" sz="1900" dirty="0"/>
          </a:p>
        </p:txBody>
      </p:sp>
      <p:sp>
        <p:nvSpPr>
          <p:cNvPr id="8" name="text-7">
            <a:extLst>
              <a:ext uri="{FF2B5EF4-FFF2-40B4-BE49-F238E27FC236}">
                <a16:creationId xmlns:a16="http://schemas.microsoft.com/office/drawing/2014/main" id="{EE0189B9-F4BA-1AC0-1CB9-0EA04FE5915C}"/>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핵심 과제  FGO 고객 확장 · 성장 단계별 큐레이션 · 브랜드스토어 전용 패키지</a:t>
            </a:r>
            <a:endParaRPr lang="ko-KR" sz="1100" dirty="0"/>
          </a:p>
        </p:txBody>
      </p:sp>
      <p:sp>
        <p:nvSpPr>
          <p:cNvPr id="24" name="node-23">
            <a:extLst>
              <a:ext uri="{FF2B5EF4-FFF2-40B4-BE49-F238E27FC236}">
                <a16:creationId xmlns:a16="http://schemas.microsoft.com/office/drawing/2014/main" id="{F7DCBB24-A09F-CA26-C530-EF5442A482D0}"/>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25" name="text-24">
            <a:extLst>
              <a:ext uri="{FF2B5EF4-FFF2-40B4-BE49-F238E27FC236}">
                <a16:creationId xmlns:a16="http://schemas.microsoft.com/office/drawing/2014/main" id="{2185F6FC-3EFC-C126-737C-B818DD6A49E3}"/>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defRPr sz="1358">
                <a:solidFill>
                  <a:srgbClr val="FFFFFF"/>
                </a:solidFill>
                <a:latin typeface="에이투지체 6 SemiBold"/>
                <a:ea typeface="에이투지체 6 SemiBold"/>
                <a:cs typeface="에이투지체 6 SemiBold"/>
              </a:defRPr>
            </a:pPr>
            <a:r>
              <a:rPr lang="ko-KR" altLang="en-US" sz="1358" dirty="0" err="1">
                <a:solidFill>
                  <a:srgbClr val="004F9F"/>
                </a:solidFill>
                <a:latin typeface="에이투지체 6 SemiBold"/>
                <a:ea typeface="에이투지체 6 SemiBold"/>
                <a:cs typeface="에이투지체 6 SemiBold"/>
              </a:rPr>
              <a:t>키성장</a:t>
            </a:r>
            <a:r>
              <a:rPr lang="ko-KR" altLang="en-US" sz="1358" dirty="0">
                <a:solidFill>
                  <a:srgbClr val="004F9F"/>
                </a:solidFill>
                <a:latin typeface="에이투지체 6 SemiBold"/>
                <a:ea typeface="에이투지체 6 SemiBold"/>
                <a:cs typeface="에이투지체 6 SemiBold"/>
              </a:rPr>
              <a:t> </a:t>
            </a:r>
            <a:r>
              <a:rPr lang="en-US" altLang="ko-KR" sz="1358" dirty="0">
                <a:solidFill>
                  <a:srgbClr val="004F9F"/>
                </a:solidFill>
                <a:latin typeface="에이투지체 6 SemiBold"/>
                <a:ea typeface="에이투지체 6 SemiBold"/>
                <a:cs typeface="에이투지체 6 SemiBold"/>
              </a:rPr>
              <a:t>FGO </a:t>
            </a:r>
            <a:r>
              <a:rPr lang="ko-KR" altLang="en-US" sz="1358" dirty="0">
                <a:solidFill>
                  <a:srgbClr val="004F9F"/>
                </a:solidFill>
                <a:latin typeface="에이투지체 6 SemiBold"/>
                <a:ea typeface="에이투지체 6 SemiBold"/>
                <a:cs typeface="에이투지체 6 SemiBold"/>
              </a:rPr>
              <a:t>다음의 히어로 상품을 브랜드스토어에서 만들기 위해 세 가지 과제에 집중합니다</a:t>
            </a:r>
            <a:endParaRPr sz="1358" dirty="0">
              <a:solidFill>
                <a:srgbClr val="FFFFFF"/>
              </a:solidFill>
              <a:latin typeface="에이투지체 6 SemiBold"/>
              <a:ea typeface="에이투지체 6 SemiBold"/>
              <a:cs typeface="에이투지체 6 SemiBold"/>
            </a:endParaRPr>
          </a:p>
        </p:txBody>
      </p:sp>
      <p:grpSp>
        <p:nvGrpSpPr>
          <p:cNvPr id="2" name="그룹 1">
            <a:extLst>
              <a:ext uri="{FF2B5EF4-FFF2-40B4-BE49-F238E27FC236}">
                <a16:creationId xmlns:a16="http://schemas.microsoft.com/office/drawing/2014/main" id="{20A8C406-AD10-42C5-1A9C-7967DB51B883}"/>
              </a:ext>
            </a:extLst>
          </p:cNvPr>
          <p:cNvGrpSpPr/>
          <p:nvPr/>
        </p:nvGrpSpPr>
        <p:grpSpPr>
          <a:xfrm>
            <a:off x="548640" y="2057400"/>
            <a:ext cx="11064239" cy="3324225"/>
            <a:chOff x="548640" y="2057400"/>
            <a:chExt cx="11064239" cy="3749040"/>
          </a:xfrm>
        </p:grpSpPr>
        <p:sp>
          <p:nvSpPr>
            <p:cNvPr id="3" name="Rectangle 7">
              <a:extLst>
                <a:ext uri="{FF2B5EF4-FFF2-40B4-BE49-F238E27FC236}">
                  <a16:creationId xmlns:a16="http://schemas.microsoft.com/office/drawing/2014/main" id="{D657D717-B6FD-19E8-C9E6-A7382D944C6A}"/>
                </a:ext>
              </a:extLst>
            </p:cNvPr>
            <p:cNvSpPr/>
            <p:nvPr/>
          </p:nvSpPr>
          <p:spPr>
            <a:xfrm>
              <a:off x="548640" y="2057400"/>
              <a:ext cx="3566160" cy="2743200"/>
            </a:xfrm>
            <a:prstGeom prst="roundRect">
              <a:avLst>
                <a:gd name="adj" fmla="val 2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B91B7C54-4FCF-6CC3-3080-CD79565D82DB}"/>
                </a:ext>
              </a:extLst>
            </p:cNvPr>
            <p:cNvSpPr txBox="1"/>
            <p:nvPr/>
          </p:nvSpPr>
          <p:spPr>
            <a:xfrm>
              <a:off x="777240" y="2240280"/>
              <a:ext cx="3108960" cy="2468880"/>
            </a:xfrm>
            <a:prstGeom prst="rect">
              <a:avLst/>
            </a:prstGeom>
            <a:noFill/>
          </p:spPr>
          <p:txBody>
            <a:bodyPr wrap="square" lIns="0" tIns="0" rIns="0" bIns="0" anchor="t">
              <a:spAutoFit/>
            </a:bodyPr>
            <a:lstStyle/>
            <a:p>
              <a:pPr algn="l">
                <a:spcAft>
                  <a:spcPts val="400"/>
                </a:spcAft>
              </a:pPr>
              <a:r>
                <a:rPr sz="2400" dirty="0">
                  <a:solidFill>
                    <a:srgbClr val="004F9F"/>
                  </a:solidFill>
                  <a:latin typeface="에이투지체 8 ExtraBold"/>
                  <a:ea typeface="에이투지체 8 ExtraBold"/>
                </a:rPr>
                <a:t>01</a:t>
              </a:r>
            </a:p>
            <a:p>
              <a:pPr algn="l">
                <a:spcAft>
                  <a:spcPts val="400"/>
                </a:spcAft>
              </a:pPr>
              <a:r>
                <a:rPr sz="1600" dirty="0">
                  <a:solidFill>
                    <a:srgbClr val="222222"/>
                  </a:solidFill>
                  <a:latin typeface="에이투지체 8 ExtraBold"/>
                  <a:ea typeface="에이투지체 8 ExtraBold"/>
                </a:rPr>
                <a:t>FGO </a:t>
              </a:r>
              <a:r>
                <a:rPr sz="1600" dirty="0" err="1">
                  <a:solidFill>
                    <a:srgbClr val="222222"/>
                  </a:solidFill>
                  <a:latin typeface="에이투지체 8 ExtraBold"/>
                  <a:ea typeface="에이투지체 8 ExtraBold"/>
                </a:rPr>
                <a:t>고객</a:t>
              </a:r>
              <a:r>
                <a:rPr sz="1600" dirty="0">
                  <a:solidFill>
                    <a:srgbClr val="222222"/>
                  </a:solidFill>
                  <a:latin typeface="에이투지체 8 ExtraBold"/>
                  <a:ea typeface="에이투지체 8 ExtraBold"/>
                </a:rPr>
                <a:t> </a:t>
              </a:r>
              <a:r>
                <a:rPr sz="1600" dirty="0" err="1">
                  <a:solidFill>
                    <a:srgbClr val="222222"/>
                  </a:solidFill>
                  <a:latin typeface="에이투지체 8 ExtraBold"/>
                  <a:ea typeface="에이투지체 8 ExtraBold"/>
                </a:rPr>
                <a:t>확장</a:t>
              </a:r>
              <a:endParaRPr sz="1600" dirty="0">
                <a:solidFill>
                  <a:srgbClr val="222222"/>
                </a:solidFill>
                <a:latin typeface="에이투지체 8 ExtraBold"/>
                <a:ea typeface="에이투지체 8 ExtraBold"/>
              </a:endParaRPr>
            </a:p>
            <a:p>
              <a:pPr algn="l">
                <a:spcAft>
                  <a:spcPts val="400"/>
                </a:spcAft>
              </a:pPr>
              <a:endParaRPr sz="1600" dirty="0">
                <a:solidFill>
                  <a:srgbClr val="222222"/>
                </a:solidFill>
                <a:latin typeface="에이투지체 8 ExtraBold"/>
                <a:ea typeface="에이투지체 8 ExtraBold"/>
              </a:endParaRPr>
            </a:p>
            <a:p>
              <a:pPr algn="l">
                <a:spcAft>
                  <a:spcPts val="400"/>
                </a:spcAft>
              </a:pPr>
              <a:r>
                <a:rPr sz="1100" dirty="0" err="1">
                  <a:solidFill>
                    <a:srgbClr val="5C5C5C"/>
                  </a:solidFill>
                  <a:latin typeface="에이투지체 4 Regular"/>
                  <a:ea typeface="에이투지체 4 Regular"/>
                </a:rPr>
                <a:t>FGO를</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검색하고</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구매한</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부모에게</a:t>
              </a:r>
              <a:endParaRPr sz="1100" dirty="0">
                <a:solidFill>
                  <a:srgbClr val="5C5C5C"/>
                </a:solidFill>
                <a:latin typeface="에이투지체 4 Regular"/>
                <a:ea typeface="에이투지체 4 Regular"/>
              </a:endParaRPr>
            </a:p>
            <a:p>
              <a:pPr algn="l">
                <a:spcAft>
                  <a:spcPts val="400"/>
                </a:spcAft>
              </a:pPr>
              <a:r>
                <a:rPr sz="1100" dirty="0" err="1">
                  <a:solidFill>
                    <a:srgbClr val="5C5C5C"/>
                  </a:solidFill>
                  <a:latin typeface="에이투지체 4 Regular"/>
                  <a:ea typeface="에이투지체 4 Regular"/>
                </a:rPr>
                <a:t>함께</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먹을</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영양제를</a:t>
              </a:r>
              <a:r>
                <a:rPr sz="1100" dirty="0">
                  <a:solidFill>
                    <a:srgbClr val="5C5C5C"/>
                  </a:solidFill>
                  <a:latin typeface="에이투지체 4 Regular"/>
                  <a:ea typeface="에이투지체 4 Regular"/>
                </a:rPr>
                <a:t> </a:t>
              </a:r>
              <a:r>
                <a:rPr sz="1100" dirty="0" err="1">
                  <a:solidFill>
                    <a:srgbClr val="5C5C5C"/>
                  </a:solidFill>
                  <a:latin typeface="에이투지체 4 Regular"/>
                  <a:ea typeface="에이투지체 4 Regular"/>
                </a:rPr>
                <a:t>제안합니다</a:t>
              </a:r>
              <a:endParaRPr sz="1100" dirty="0">
                <a:solidFill>
                  <a:srgbClr val="5C5C5C"/>
                </a:solidFill>
                <a:latin typeface="에이투지체 4 Regular"/>
                <a:ea typeface="에이투지체 4 Regular"/>
              </a:endParaRPr>
            </a:p>
          </p:txBody>
        </p:sp>
        <p:sp>
          <p:nvSpPr>
            <p:cNvPr id="5" name="Rectangle 9">
              <a:extLst>
                <a:ext uri="{FF2B5EF4-FFF2-40B4-BE49-F238E27FC236}">
                  <a16:creationId xmlns:a16="http://schemas.microsoft.com/office/drawing/2014/main" id="{0178BC08-4945-D38D-7FEB-7E2AB8BE466B}"/>
                </a:ext>
              </a:extLst>
            </p:cNvPr>
            <p:cNvSpPr/>
            <p:nvPr/>
          </p:nvSpPr>
          <p:spPr>
            <a:xfrm>
              <a:off x="548640" y="4800600"/>
              <a:ext cx="3566160" cy="1005840"/>
            </a:xfrm>
            <a:prstGeom prst="roundRect">
              <a:avLst>
                <a:gd name="adj" fmla="val 7272"/>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C26A813D-22C6-38C3-6E61-BFD727055D58}"/>
                </a:ext>
              </a:extLst>
            </p:cNvPr>
            <p:cNvSpPr txBox="1"/>
            <p:nvPr/>
          </p:nvSpPr>
          <p:spPr>
            <a:xfrm>
              <a:off x="777240" y="4892040"/>
              <a:ext cx="3108960" cy="868680"/>
            </a:xfrm>
            <a:prstGeom prst="rect">
              <a:avLst/>
            </a:prstGeom>
            <a:noFill/>
          </p:spPr>
          <p:txBody>
            <a:bodyPr wrap="square" lIns="0" tIns="0" rIns="0" bIns="0" anchor="t">
              <a:spAutoFit/>
            </a:bodyPr>
            <a:lstStyle/>
            <a:p>
              <a:pPr algn="l">
                <a:spcAft>
                  <a:spcPts val="200"/>
                </a:spcAft>
              </a:pPr>
              <a:r>
                <a:rPr sz="1000">
                  <a:solidFill>
                    <a:srgbClr val="6FB0E8"/>
                  </a:solidFill>
                  <a:latin typeface="에이투지체 8 ExtraBold"/>
                  <a:ea typeface="에이투지체 8 ExtraBold"/>
                </a:rPr>
                <a:t>실행</a:t>
              </a:r>
            </a:p>
            <a:p>
              <a:pPr algn="l">
                <a:spcAft>
                  <a:spcPts val="200"/>
                </a:spcAft>
              </a:pPr>
              <a:r>
                <a:rPr sz="1050">
                  <a:solidFill>
                    <a:srgbClr val="FFFFFF"/>
                  </a:solidFill>
                  <a:latin typeface="에이투지체 5 Medium"/>
                  <a:ea typeface="에이투지체 5 Medium"/>
                </a:rPr>
                <a:t>FGO 구매 · 방문 고객 리타겟</a:t>
              </a:r>
            </a:p>
            <a:p>
              <a:pPr algn="l">
                <a:spcAft>
                  <a:spcPts val="200"/>
                </a:spcAft>
              </a:pPr>
              <a:r>
                <a:rPr sz="1050">
                  <a:solidFill>
                    <a:srgbClr val="FFFFFF"/>
                  </a:solidFill>
                  <a:latin typeface="에이투지체 5 Medium"/>
                  <a:ea typeface="에이투지체 5 Medium"/>
                </a:rPr>
                <a:t>교차 제안 소재</a:t>
              </a:r>
            </a:p>
          </p:txBody>
        </p:sp>
        <p:sp>
          <p:nvSpPr>
            <p:cNvPr id="9" name="Rectangle 11">
              <a:extLst>
                <a:ext uri="{FF2B5EF4-FFF2-40B4-BE49-F238E27FC236}">
                  <a16:creationId xmlns:a16="http://schemas.microsoft.com/office/drawing/2014/main" id="{03F72FC1-6299-FE67-2D1B-8BEF0A268068}"/>
                </a:ext>
              </a:extLst>
            </p:cNvPr>
            <p:cNvSpPr/>
            <p:nvPr/>
          </p:nvSpPr>
          <p:spPr>
            <a:xfrm>
              <a:off x="4297679" y="2057400"/>
              <a:ext cx="3566160" cy="2743200"/>
            </a:xfrm>
            <a:prstGeom prst="roundRect">
              <a:avLst>
                <a:gd name="adj" fmla="val 2666"/>
              </a:avLst>
            </a:prstGeom>
            <a:solidFill>
              <a:srgbClr val="EAF2FB"/>
            </a:solidFill>
            <a:ln w="12700">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C24A4776-0D24-2750-9809-BFFCEEEBB285}"/>
                </a:ext>
              </a:extLst>
            </p:cNvPr>
            <p:cNvSpPr txBox="1"/>
            <p:nvPr/>
          </p:nvSpPr>
          <p:spPr>
            <a:xfrm>
              <a:off x="4526279" y="2240280"/>
              <a:ext cx="3108960" cy="2468880"/>
            </a:xfrm>
            <a:prstGeom prst="rect">
              <a:avLst/>
            </a:prstGeom>
            <a:noFill/>
          </p:spPr>
          <p:txBody>
            <a:bodyPr wrap="square" lIns="0" tIns="0" rIns="0" bIns="0" anchor="t">
              <a:spAutoFit/>
            </a:bodyPr>
            <a:lstStyle/>
            <a:p>
              <a:pPr algn="l">
                <a:spcAft>
                  <a:spcPts val="400"/>
                </a:spcAft>
              </a:pPr>
              <a:r>
                <a:rPr sz="2400">
                  <a:solidFill>
                    <a:srgbClr val="004F9F"/>
                  </a:solidFill>
                  <a:latin typeface="에이투지체 8 ExtraBold"/>
                  <a:ea typeface="에이투지체 8 ExtraBold"/>
                </a:rPr>
                <a:t>02</a:t>
              </a:r>
            </a:p>
            <a:p>
              <a:pPr algn="l">
                <a:spcAft>
                  <a:spcPts val="400"/>
                </a:spcAft>
              </a:pPr>
              <a:r>
                <a:rPr sz="1600">
                  <a:solidFill>
                    <a:srgbClr val="222222"/>
                  </a:solidFill>
                  <a:latin typeface="에이투지체 8 ExtraBold"/>
                  <a:ea typeface="에이투지체 8 ExtraBold"/>
                </a:rPr>
                <a:t>성장 단계별 큐레이션</a:t>
              </a:r>
            </a:p>
            <a:p>
              <a:pPr algn="l">
                <a:spcAft>
                  <a:spcPts val="400"/>
                </a:spcAft>
              </a:pPr>
              <a:endParaRPr sz="1600">
                <a:solidFill>
                  <a:srgbClr val="222222"/>
                </a:solidFill>
                <a:latin typeface="에이투지체 8 ExtraBold"/>
                <a:ea typeface="에이투지체 8 ExtraBold"/>
              </a:endParaRPr>
            </a:p>
            <a:p>
              <a:pPr algn="l">
                <a:spcAft>
                  <a:spcPts val="400"/>
                </a:spcAft>
              </a:pPr>
              <a:r>
                <a:rPr sz="1100">
                  <a:solidFill>
                    <a:srgbClr val="5C5C5C"/>
                  </a:solidFill>
                  <a:latin typeface="에이투지체 4 Regular"/>
                  <a:ea typeface="에이투지체 4 Regular"/>
                </a:rPr>
                <a:t>아이 나이에 맞춰 필요한 영양제를</a:t>
              </a:r>
            </a:p>
            <a:p>
              <a:pPr algn="l">
                <a:spcAft>
                  <a:spcPts val="400"/>
                </a:spcAft>
              </a:pPr>
              <a:r>
                <a:rPr sz="1100">
                  <a:solidFill>
                    <a:srgbClr val="5C5C5C"/>
                  </a:solidFill>
                  <a:latin typeface="에이투지체 4 Regular"/>
                  <a:ea typeface="에이투지체 4 Regular"/>
                </a:rPr>
                <a:t>한눈에 고를 수 있게 정리합니다</a:t>
              </a:r>
            </a:p>
          </p:txBody>
        </p:sp>
        <p:sp>
          <p:nvSpPr>
            <p:cNvPr id="11" name="Rectangle 13">
              <a:extLst>
                <a:ext uri="{FF2B5EF4-FFF2-40B4-BE49-F238E27FC236}">
                  <a16:creationId xmlns:a16="http://schemas.microsoft.com/office/drawing/2014/main" id="{8BFE34D2-D3D2-4DFF-07A7-23EDA850D484}"/>
                </a:ext>
              </a:extLst>
            </p:cNvPr>
            <p:cNvSpPr/>
            <p:nvPr/>
          </p:nvSpPr>
          <p:spPr>
            <a:xfrm>
              <a:off x="4297679" y="4800600"/>
              <a:ext cx="3566160" cy="1005840"/>
            </a:xfrm>
            <a:prstGeom prst="roundRect">
              <a:avLst>
                <a:gd name="adj" fmla="val 7272"/>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8BE155E1-EC3D-B914-5421-3BFDCDBC0909}"/>
                </a:ext>
              </a:extLst>
            </p:cNvPr>
            <p:cNvSpPr txBox="1"/>
            <p:nvPr/>
          </p:nvSpPr>
          <p:spPr>
            <a:xfrm>
              <a:off x="4526279" y="4892040"/>
              <a:ext cx="3108960" cy="868680"/>
            </a:xfrm>
            <a:prstGeom prst="rect">
              <a:avLst/>
            </a:prstGeom>
            <a:noFill/>
          </p:spPr>
          <p:txBody>
            <a:bodyPr wrap="square" lIns="0" tIns="0" rIns="0" bIns="0" anchor="t">
              <a:spAutoFit/>
            </a:bodyPr>
            <a:lstStyle/>
            <a:p>
              <a:pPr algn="l">
                <a:spcAft>
                  <a:spcPts val="200"/>
                </a:spcAft>
              </a:pPr>
              <a:r>
                <a:rPr sz="1000">
                  <a:solidFill>
                    <a:srgbClr val="6FB0E8"/>
                  </a:solidFill>
                  <a:latin typeface="에이투지체 8 ExtraBold"/>
                  <a:ea typeface="에이투지체 8 ExtraBold"/>
                </a:rPr>
                <a:t>실행</a:t>
              </a:r>
            </a:p>
            <a:p>
              <a:pPr algn="l">
                <a:spcAft>
                  <a:spcPts val="200"/>
                </a:spcAft>
              </a:pPr>
              <a:r>
                <a:rPr sz="1050">
                  <a:solidFill>
                    <a:srgbClr val="FFFFFF"/>
                  </a:solidFill>
                  <a:latin typeface="에이투지체 5 Medium"/>
                  <a:ea typeface="에이투지체 5 Medium"/>
                </a:rPr>
                <a:t>브랜드스토어 큐레이션 카테고리</a:t>
              </a:r>
            </a:p>
            <a:p>
              <a:pPr algn="l">
                <a:spcAft>
                  <a:spcPts val="200"/>
                </a:spcAft>
              </a:pPr>
              <a:r>
                <a:rPr sz="1050">
                  <a:solidFill>
                    <a:srgbClr val="FFFFFF"/>
                  </a:solidFill>
                  <a:latin typeface="에이투지체 5 Medium"/>
                  <a:ea typeface="에이투지체 5 Medium"/>
                </a:rPr>
                <a:t>메타 정보성 슬라이드 소재</a:t>
              </a:r>
            </a:p>
          </p:txBody>
        </p:sp>
        <p:sp>
          <p:nvSpPr>
            <p:cNvPr id="13" name="Rectangle 15">
              <a:extLst>
                <a:ext uri="{FF2B5EF4-FFF2-40B4-BE49-F238E27FC236}">
                  <a16:creationId xmlns:a16="http://schemas.microsoft.com/office/drawing/2014/main" id="{DDCF09F2-66E3-036C-97F7-53C5019E8239}"/>
                </a:ext>
              </a:extLst>
            </p:cNvPr>
            <p:cNvSpPr/>
            <p:nvPr/>
          </p:nvSpPr>
          <p:spPr>
            <a:xfrm>
              <a:off x="8046719" y="2057400"/>
              <a:ext cx="3566160" cy="2743200"/>
            </a:xfrm>
            <a:prstGeom prst="roundRect">
              <a:avLst>
                <a:gd name="adj" fmla="val 2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7CBE3A0F-D0AF-3E43-33D8-CDA2C9B3D602}"/>
                </a:ext>
              </a:extLst>
            </p:cNvPr>
            <p:cNvSpPr txBox="1"/>
            <p:nvPr/>
          </p:nvSpPr>
          <p:spPr>
            <a:xfrm>
              <a:off x="8275319" y="2240280"/>
              <a:ext cx="3108960" cy="2468880"/>
            </a:xfrm>
            <a:prstGeom prst="rect">
              <a:avLst/>
            </a:prstGeom>
            <a:noFill/>
          </p:spPr>
          <p:txBody>
            <a:bodyPr wrap="square" lIns="0" tIns="0" rIns="0" bIns="0" anchor="t">
              <a:spAutoFit/>
            </a:bodyPr>
            <a:lstStyle/>
            <a:p>
              <a:pPr algn="l">
                <a:spcAft>
                  <a:spcPts val="400"/>
                </a:spcAft>
              </a:pPr>
              <a:r>
                <a:rPr sz="2400">
                  <a:solidFill>
                    <a:srgbClr val="004F9F"/>
                  </a:solidFill>
                  <a:latin typeface="에이투지체 8 ExtraBold"/>
                  <a:ea typeface="에이투지체 8 ExtraBold"/>
                </a:rPr>
                <a:t>03</a:t>
              </a:r>
            </a:p>
            <a:p>
              <a:pPr algn="l">
                <a:spcAft>
                  <a:spcPts val="400"/>
                </a:spcAft>
              </a:pPr>
              <a:r>
                <a:rPr sz="1600">
                  <a:solidFill>
                    <a:srgbClr val="222222"/>
                  </a:solidFill>
                  <a:latin typeface="에이투지체 8 ExtraBold"/>
                  <a:ea typeface="에이투지체 8 ExtraBold"/>
                </a:rPr>
                <a:t>브랜드스토어 전용 패키지</a:t>
              </a:r>
            </a:p>
            <a:p>
              <a:pPr algn="l">
                <a:spcAft>
                  <a:spcPts val="400"/>
                </a:spcAft>
              </a:pPr>
              <a:endParaRPr sz="1600">
                <a:solidFill>
                  <a:srgbClr val="222222"/>
                </a:solidFill>
                <a:latin typeface="에이투지체 8 ExtraBold"/>
                <a:ea typeface="에이투지체 8 ExtraBold"/>
              </a:endParaRPr>
            </a:p>
            <a:p>
              <a:pPr algn="l">
                <a:spcAft>
                  <a:spcPts val="400"/>
                </a:spcAft>
              </a:pPr>
              <a:r>
                <a:rPr sz="1100">
                  <a:solidFill>
                    <a:srgbClr val="5C5C5C"/>
                  </a:solidFill>
                  <a:latin typeface="에이투지체 4 Regular"/>
                  <a:ea typeface="에이투지체 4 Regular"/>
                </a:rPr>
                <a:t>FGO와 다른 영양제를 묶어</a:t>
              </a:r>
            </a:p>
            <a:p>
              <a:pPr algn="l">
                <a:spcAft>
                  <a:spcPts val="400"/>
                </a:spcAft>
              </a:pPr>
              <a:r>
                <a:rPr sz="1100">
                  <a:solidFill>
                    <a:srgbClr val="5C5C5C"/>
                  </a:solidFill>
                  <a:latin typeface="에이투지체 4 Regular"/>
                  <a:ea typeface="에이투지체 4 Regular"/>
                </a:rPr>
                <a:t>브랜드스토어에서만 사는 구성을 만듭니다</a:t>
              </a:r>
            </a:p>
          </p:txBody>
        </p:sp>
        <p:sp>
          <p:nvSpPr>
            <p:cNvPr id="15" name="Rectangle 17">
              <a:extLst>
                <a:ext uri="{FF2B5EF4-FFF2-40B4-BE49-F238E27FC236}">
                  <a16:creationId xmlns:a16="http://schemas.microsoft.com/office/drawing/2014/main" id="{0DF419D4-5A13-23F3-5C10-8AEBB21412D1}"/>
                </a:ext>
              </a:extLst>
            </p:cNvPr>
            <p:cNvSpPr/>
            <p:nvPr/>
          </p:nvSpPr>
          <p:spPr>
            <a:xfrm>
              <a:off x="8046719" y="4800600"/>
              <a:ext cx="3566160" cy="1005840"/>
            </a:xfrm>
            <a:prstGeom prst="roundRect">
              <a:avLst>
                <a:gd name="adj" fmla="val 7272"/>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a:extLst>
                <a:ext uri="{FF2B5EF4-FFF2-40B4-BE49-F238E27FC236}">
                  <a16:creationId xmlns:a16="http://schemas.microsoft.com/office/drawing/2014/main" id="{EEE28025-C4A7-7751-FAF8-8DF970544584}"/>
                </a:ext>
              </a:extLst>
            </p:cNvPr>
            <p:cNvSpPr txBox="1"/>
            <p:nvPr/>
          </p:nvSpPr>
          <p:spPr>
            <a:xfrm>
              <a:off x="8275319" y="4892040"/>
              <a:ext cx="3108960" cy="868680"/>
            </a:xfrm>
            <a:prstGeom prst="rect">
              <a:avLst/>
            </a:prstGeom>
            <a:noFill/>
          </p:spPr>
          <p:txBody>
            <a:bodyPr wrap="square" lIns="0" tIns="0" rIns="0" bIns="0" anchor="t">
              <a:spAutoFit/>
            </a:bodyPr>
            <a:lstStyle/>
            <a:p>
              <a:pPr algn="l">
                <a:spcAft>
                  <a:spcPts val="200"/>
                </a:spcAft>
              </a:pPr>
              <a:r>
                <a:rPr sz="1000">
                  <a:solidFill>
                    <a:srgbClr val="6FB0E8"/>
                  </a:solidFill>
                  <a:latin typeface="에이투지체 8 ExtraBold"/>
                  <a:ea typeface="에이투지체 8 ExtraBold"/>
                </a:rPr>
                <a:t>실행</a:t>
              </a:r>
            </a:p>
            <a:p>
              <a:pPr algn="l">
                <a:spcAft>
                  <a:spcPts val="200"/>
                </a:spcAft>
              </a:pPr>
              <a:r>
                <a:rPr sz="1050">
                  <a:solidFill>
                    <a:srgbClr val="FFFFFF"/>
                  </a:solidFill>
                  <a:latin typeface="에이투지체 5 Medium"/>
                  <a:ea typeface="에이투지체 5 Medium"/>
                </a:rPr>
                <a:t>단계별 패키지 · FGO 묶음 구성</a:t>
              </a:r>
            </a:p>
            <a:p>
              <a:pPr algn="l">
                <a:spcAft>
                  <a:spcPts val="200"/>
                </a:spcAft>
              </a:pPr>
              <a:r>
                <a:rPr sz="1050">
                  <a:solidFill>
                    <a:srgbClr val="FFFFFF"/>
                  </a:solidFill>
                  <a:latin typeface="에이투지체 5 Medium"/>
                  <a:ea typeface="에이투지체 5 Medium"/>
                </a:rPr>
                <a:t>행사 기간 패키지 혜택</a:t>
              </a:r>
            </a:p>
          </p:txBody>
        </p:sp>
      </p:grpSp>
    </p:spTree>
    <p:extLst>
      <p:ext uri="{BB962C8B-B14F-4D97-AF65-F5344CB8AC3E}">
        <p14:creationId xmlns:p14="http://schemas.microsoft.com/office/powerpoint/2010/main" val="34094625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3C53E-9A99-12C7-EAA4-2F0DDC1D283D}"/>
            </a:ext>
          </a:extLst>
        </p:cNvPr>
        <p:cNvGrpSpPr/>
        <p:nvPr/>
      </p:nvGrpSpPr>
      <p:grpSpPr>
        <a:xfrm>
          <a:off x="0" y="0"/>
          <a:ext cx="0" cy="0"/>
          <a:chOff x="0" y="0"/>
          <a:chExt cx="0" cy="0"/>
        </a:xfrm>
      </p:grpSpPr>
      <p:sp>
        <p:nvSpPr>
          <p:cNvPr id="27" name="TextBox 1">
            <a:extLst>
              <a:ext uri="{FF2B5EF4-FFF2-40B4-BE49-F238E27FC236}">
                <a16:creationId xmlns:a16="http://schemas.microsoft.com/office/drawing/2014/main" id="{35593BB6-195D-495C-0B6E-29D2FC9654A1}"/>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28" name="TextBox 7">
            <a:extLst>
              <a:ext uri="{FF2B5EF4-FFF2-40B4-BE49-F238E27FC236}">
                <a16:creationId xmlns:a16="http://schemas.microsoft.com/office/drawing/2014/main" id="{AFF6287A-F7F9-B9BA-F030-7F36C53C3509}"/>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9" name="TextBox 8">
            <a:extLst>
              <a:ext uri="{FF2B5EF4-FFF2-40B4-BE49-F238E27FC236}">
                <a16:creationId xmlns:a16="http://schemas.microsoft.com/office/drawing/2014/main" id="{34A5B34B-DA48-A18F-6ADF-B60BC969F36B}"/>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30" name="PGNO">
            <a:extLst>
              <a:ext uri="{FF2B5EF4-FFF2-40B4-BE49-F238E27FC236}">
                <a16:creationId xmlns:a16="http://schemas.microsoft.com/office/drawing/2014/main" id="{4FB2BB2D-DA56-5538-95B6-A177D2B57192}"/>
              </a:ext>
            </a:extLst>
          </p:cNvPr>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15</a:t>
            </a:r>
          </a:p>
        </p:txBody>
      </p:sp>
      <p:sp>
        <p:nvSpPr>
          <p:cNvPr id="7" name="text-6">
            <a:extLst>
              <a:ext uri="{FF2B5EF4-FFF2-40B4-BE49-F238E27FC236}">
                <a16:creationId xmlns:a16="http://schemas.microsoft.com/office/drawing/2014/main" id="{5C1AA1DA-34CE-3F1D-8E05-551EBF21F6AE}"/>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아이 성장 </a:t>
            </a:r>
            <a:r>
              <a:rPr lang="ko-KR" altLang="en-US" sz="1900" dirty="0">
                <a:solidFill>
                  <a:schemeClr val="bg1"/>
                </a:solidFill>
                <a:highlight>
                  <a:srgbClr val="0000FF"/>
                </a:highlight>
                <a:latin typeface="에이투지체 8 ExtraBold"/>
                <a:ea typeface="에이투지체 8 ExtraBold"/>
                <a:cs typeface="에이투지체 8 ExtraBold"/>
              </a:rPr>
              <a:t>단계에 맞는</a:t>
            </a:r>
            <a:r>
              <a:rPr lang="ko-KR" sz="1900" dirty="0">
                <a:solidFill>
                  <a:srgbClr val="222222"/>
                </a:solidFill>
                <a:latin typeface="에이투지체 8 ExtraBold"/>
                <a:ea typeface="에이투지체 8 ExtraBold"/>
                <a:cs typeface="에이투지체 8 ExtraBold"/>
              </a:rPr>
              <a:t> </a:t>
            </a:r>
            <a:r>
              <a:rPr lang="ko-KR" altLang="en-US" sz="1900" dirty="0">
                <a:solidFill>
                  <a:srgbClr val="222222"/>
                </a:solidFill>
                <a:latin typeface="에이투지체 8 ExtraBold"/>
                <a:ea typeface="에이투지체 8 ExtraBold"/>
                <a:cs typeface="에이투지체 8 ExtraBold"/>
              </a:rPr>
              <a:t>제품을 제안해</a:t>
            </a:r>
            <a:endParaRPr lang="ko-KR" sz="1900" dirty="0"/>
          </a:p>
          <a:p>
            <a:pPr marL="0" indent="0">
              <a:lnSpc>
                <a:spcPts val="2600"/>
              </a:lnSpc>
              <a:buNone/>
            </a:pPr>
            <a:r>
              <a:rPr lang="ko-KR" altLang="en-US" sz="1900" dirty="0">
                <a:solidFill>
                  <a:srgbClr val="222222"/>
                </a:solidFill>
                <a:latin typeface="에이투지체 8 ExtraBold"/>
                <a:ea typeface="에이투지체 8 ExtraBold"/>
                <a:cs typeface="에이투지체 8 ExtraBold"/>
              </a:rPr>
              <a:t>다음 성장 단계에서도 두드림을 선택하도록 합니다</a:t>
            </a:r>
            <a:r>
              <a:rPr lang="en-US" altLang="ko-KR" sz="1900" dirty="0">
                <a:solidFill>
                  <a:srgbClr val="222222"/>
                </a:solidFill>
                <a:latin typeface="에이투지체 8 ExtraBold"/>
                <a:ea typeface="에이투지체 8 ExtraBold"/>
                <a:cs typeface="에이투지체 8 ExtraBold"/>
              </a:rPr>
              <a:t>.</a:t>
            </a:r>
            <a:endParaRPr lang="ko-KR" sz="1900" dirty="0"/>
          </a:p>
        </p:txBody>
      </p:sp>
      <p:sp>
        <p:nvSpPr>
          <p:cNvPr id="24" name="node-23">
            <a:extLst>
              <a:ext uri="{FF2B5EF4-FFF2-40B4-BE49-F238E27FC236}">
                <a16:creationId xmlns:a16="http://schemas.microsoft.com/office/drawing/2014/main" id="{565C323C-5629-1435-AD83-94297D4457B3}"/>
              </a:ext>
            </a:extLst>
          </p:cNvPr>
          <p:cNvSpPr>
            <a:spLocks noGrp="1"/>
          </p:cNvSpPr>
          <p:nvPr/>
        </p:nvSpPr>
        <p:spPr>
          <a:xfrm>
            <a:off x="548640" y="541020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25" name="text-24">
            <a:extLst>
              <a:ext uri="{FF2B5EF4-FFF2-40B4-BE49-F238E27FC236}">
                <a16:creationId xmlns:a16="http://schemas.microsoft.com/office/drawing/2014/main" id="{1DC247AB-03E6-589F-913A-95225BA04852}"/>
              </a:ext>
            </a:extLst>
          </p:cNvPr>
          <p:cNvSpPr>
            <a:spLocks noGrp="1"/>
          </p:cNvSpPr>
          <p:nvPr/>
        </p:nvSpPr>
        <p:spPr>
          <a:xfrm>
            <a:off x="742950" y="545782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defRPr sz="1358">
                <a:solidFill>
                  <a:srgbClr val="FFFFFF"/>
                </a:solidFill>
                <a:latin typeface="에이투지체 6 SemiBold"/>
                <a:ea typeface="에이투지체 6 SemiBold"/>
                <a:cs typeface="에이투지체 6 SemiBold"/>
              </a:defRPr>
            </a:pPr>
            <a:r>
              <a:rPr lang="ko-KR" altLang="en-US" sz="1358" dirty="0">
                <a:solidFill>
                  <a:srgbClr val="004F9F"/>
                </a:solidFill>
                <a:latin typeface="에이투지체 6 SemiBold"/>
                <a:ea typeface="에이투지체 6 SemiBold"/>
                <a:cs typeface="에이투지체 6 SemiBold"/>
              </a:rPr>
              <a:t>유아 단계 고객은 </a:t>
            </a:r>
            <a:r>
              <a:rPr lang="en-US" altLang="ko-KR" sz="1358" dirty="0">
                <a:solidFill>
                  <a:srgbClr val="004F9F"/>
                </a:solidFill>
                <a:latin typeface="에이투지체 6 SemiBold"/>
                <a:ea typeface="에이투지체 6 SemiBold"/>
                <a:cs typeface="에이투지체 6 SemiBold"/>
              </a:rPr>
              <a:t>FGO</a:t>
            </a:r>
            <a:r>
              <a:rPr lang="ko-KR" altLang="en-US" sz="1358" dirty="0">
                <a:solidFill>
                  <a:srgbClr val="004F9F"/>
                </a:solidFill>
                <a:latin typeface="에이투지체 6 SemiBold"/>
                <a:ea typeface="에이투지체 6 SemiBold"/>
                <a:cs typeface="에이투지체 6 SemiBold"/>
              </a:rPr>
              <a:t>로</a:t>
            </a:r>
            <a:r>
              <a:rPr lang="en-US" altLang="ko-KR" sz="1358" dirty="0">
                <a:solidFill>
                  <a:srgbClr val="004F9F"/>
                </a:solidFill>
                <a:latin typeface="에이투지체 6 SemiBold"/>
                <a:ea typeface="에이투지체 6 SemiBold"/>
                <a:cs typeface="에이투지체 6 SemiBold"/>
              </a:rPr>
              <a:t>, FGO </a:t>
            </a:r>
            <a:r>
              <a:rPr lang="ko-KR" altLang="en-US" sz="1358" dirty="0">
                <a:solidFill>
                  <a:srgbClr val="004F9F"/>
                </a:solidFill>
                <a:latin typeface="에이투지체 6 SemiBold"/>
                <a:ea typeface="에이투지체 6 SemiBold"/>
                <a:cs typeface="에이투지체 6 SemiBold"/>
              </a:rPr>
              <a:t>고객은 함께 먹을 영양제와 다음 단계 구성으로 연결합니다</a:t>
            </a:r>
            <a:endParaRPr sz="1358" dirty="0">
              <a:solidFill>
                <a:srgbClr val="FFFFFF"/>
              </a:solidFill>
              <a:latin typeface="에이투지체 6 SemiBold"/>
              <a:ea typeface="에이투지체 6 SemiBold"/>
              <a:cs typeface="에이투지체 6 SemiBold"/>
            </a:endParaRPr>
          </a:p>
        </p:txBody>
      </p:sp>
      <p:grpSp>
        <p:nvGrpSpPr>
          <p:cNvPr id="17" name="그룹 16">
            <a:extLst>
              <a:ext uri="{FF2B5EF4-FFF2-40B4-BE49-F238E27FC236}">
                <a16:creationId xmlns:a16="http://schemas.microsoft.com/office/drawing/2014/main" id="{BD45DC04-621D-29FA-4B13-FD9D354F827D}"/>
              </a:ext>
            </a:extLst>
          </p:cNvPr>
          <p:cNvGrpSpPr/>
          <p:nvPr/>
        </p:nvGrpSpPr>
        <p:grpSpPr>
          <a:xfrm>
            <a:off x="548640" y="2010156"/>
            <a:ext cx="11100816" cy="3108960"/>
            <a:chOff x="548640" y="2057400"/>
            <a:chExt cx="11100816" cy="3108960"/>
          </a:xfrm>
        </p:grpSpPr>
        <p:sp>
          <p:nvSpPr>
            <p:cNvPr id="18" name="Rectangle 7">
              <a:extLst>
                <a:ext uri="{FF2B5EF4-FFF2-40B4-BE49-F238E27FC236}">
                  <a16:creationId xmlns:a16="http://schemas.microsoft.com/office/drawing/2014/main" id="{6386A49B-F999-2CF2-1A86-CD7053E463A8}"/>
                </a:ext>
              </a:extLst>
            </p:cNvPr>
            <p:cNvSpPr/>
            <p:nvPr/>
          </p:nvSpPr>
          <p:spPr>
            <a:xfrm>
              <a:off x="548640" y="2057400"/>
              <a:ext cx="2651760" cy="777240"/>
            </a:xfrm>
            <a:prstGeom prst="roundRect">
              <a:avLst>
                <a:gd name="adj" fmla="val 9411"/>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a:extLst>
                <a:ext uri="{FF2B5EF4-FFF2-40B4-BE49-F238E27FC236}">
                  <a16:creationId xmlns:a16="http://schemas.microsoft.com/office/drawing/2014/main" id="{CF33D556-B26E-1F5C-0A2D-968E3516BD40}"/>
                </a:ext>
              </a:extLst>
            </p:cNvPr>
            <p:cNvSpPr txBox="1"/>
            <p:nvPr/>
          </p:nvSpPr>
          <p:spPr>
            <a:xfrm>
              <a:off x="548640" y="2057400"/>
              <a:ext cx="2651760" cy="777240"/>
            </a:xfrm>
            <a:prstGeom prst="rect">
              <a:avLst/>
            </a:prstGeom>
            <a:noFill/>
          </p:spPr>
          <p:txBody>
            <a:bodyPr wrap="square" lIns="0" tIns="0" rIns="0" bIns="0" anchor="ctr">
              <a:spAutoFit/>
            </a:bodyPr>
            <a:lstStyle/>
            <a:p>
              <a:pPr algn="ctr">
                <a:spcAft>
                  <a:spcPts val="200"/>
                </a:spcAft>
              </a:pPr>
              <a:r>
                <a:rPr sz="1500">
                  <a:solidFill>
                    <a:srgbClr val="FFFFFF"/>
                  </a:solidFill>
                  <a:latin typeface="에이투지체 8 ExtraBold"/>
                  <a:ea typeface="에이투지체 8 ExtraBold"/>
                </a:rPr>
                <a:t>유아</a:t>
              </a:r>
            </a:p>
            <a:p>
              <a:pPr algn="ctr">
                <a:spcAft>
                  <a:spcPts val="200"/>
                </a:spcAft>
              </a:pPr>
              <a:r>
                <a:rPr sz="1050">
                  <a:solidFill>
                    <a:srgbClr val="FFFFFF"/>
                  </a:solidFill>
                  <a:latin typeface="에이투지체 5 Medium"/>
                  <a:ea typeface="에이투지체 5 Medium"/>
                </a:rPr>
                <a:t>만 2~3세</a:t>
              </a:r>
            </a:p>
          </p:txBody>
        </p:sp>
        <p:sp>
          <p:nvSpPr>
            <p:cNvPr id="20" name="Rectangle 9">
              <a:extLst>
                <a:ext uri="{FF2B5EF4-FFF2-40B4-BE49-F238E27FC236}">
                  <a16:creationId xmlns:a16="http://schemas.microsoft.com/office/drawing/2014/main" id="{0A902AFA-EE4F-47F7-E8C2-88CED84585C8}"/>
                </a:ext>
              </a:extLst>
            </p:cNvPr>
            <p:cNvSpPr/>
            <p:nvPr/>
          </p:nvSpPr>
          <p:spPr>
            <a:xfrm>
              <a:off x="548640" y="2834640"/>
              <a:ext cx="2651760" cy="2331720"/>
            </a:xfrm>
            <a:prstGeom prst="roundRect">
              <a:avLst>
                <a:gd name="adj" fmla="val 3137"/>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10">
              <a:extLst>
                <a:ext uri="{FF2B5EF4-FFF2-40B4-BE49-F238E27FC236}">
                  <a16:creationId xmlns:a16="http://schemas.microsoft.com/office/drawing/2014/main" id="{C9805E17-B404-CCBE-34C2-4026A68A63C6}"/>
                </a:ext>
              </a:extLst>
            </p:cNvPr>
            <p:cNvSpPr/>
            <p:nvPr/>
          </p:nvSpPr>
          <p:spPr>
            <a:xfrm>
              <a:off x="731520" y="3017520"/>
              <a:ext cx="2286000" cy="530352"/>
            </a:xfrm>
            <a:prstGeom prst="roundRect">
              <a:avLst>
                <a:gd name="adj" fmla="val 1379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B6D54614-99B7-B400-E795-2409B5BB693A}"/>
                </a:ext>
              </a:extLst>
            </p:cNvPr>
            <p:cNvSpPr txBox="1"/>
            <p:nvPr/>
          </p:nvSpPr>
          <p:spPr>
            <a:xfrm>
              <a:off x="731520" y="3017520"/>
              <a:ext cx="2286000" cy="530352"/>
            </a:xfrm>
            <a:prstGeom prst="rect">
              <a:avLst/>
            </a:prstGeom>
            <a:noFill/>
          </p:spPr>
          <p:txBody>
            <a:bodyPr wrap="square" lIns="0" tIns="0" rIns="0" bIns="0" anchor="ctr">
              <a:spAutoFit/>
            </a:bodyPr>
            <a:lstStyle/>
            <a:p>
              <a:pPr algn="ctr">
                <a:spcAft>
                  <a:spcPts val="400"/>
                </a:spcAft>
              </a:pPr>
              <a:r>
                <a:rPr sz="1150">
                  <a:solidFill>
                    <a:srgbClr val="222222"/>
                  </a:solidFill>
                  <a:latin typeface="에이투지체 5 Medium"/>
                  <a:ea typeface="에이투지체 5 Medium"/>
                </a:rPr>
                <a:t>멀티비타민 밸런스</a:t>
              </a:r>
            </a:p>
          </p:txBody>
        </p:sp>
        <p:sp>
          <p:nvSpPr>
            <p:cNvPr id="23" name="Rectangle 12">
              <a:extLst>
                <a:ext uri="{FF2B5EF4-FFF2-40B4-BE49-F238E27FC236}">
                  <a16:creationId xmlns:a16="http://schemas.microsoft.com/office/drawing/2014/main" id="{B9C16567-09A1-9E89-605E-D1081A993DF7}"/>
                </a:ext>
              </a:extLst>
            </p:cNvPr>
            <p:cNvSpPr/>
            <p:nvPr/>
          </p:nvSpPr>
          <p:spPr>
            <a:xfrm>
              <a:off x="731520" y="3675887"/>
              <a:ext cx="2286000" cy="530352"/>
            </a:xfrm>
            <a:prstGeom prst="roundRect">
              <a:avLst>
                <a:gd name="adj" fmla="val 1379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82764E95-6EBF-3C5B-6F81-268ED5FBD66A}"/>
                </a:ext>
              </a:extLst>
            </p:cNvPr>
            <p:cNvSpPr txBox="1"/>
            <p:nvPr/>
          </p:nvSpPr>
          <p:spPr>
            <a:xfrm>
              <a:off x="731520" y="3675887"/>
              <a:ext cx="2286000" cy="530352"/>
            </a:xfrm>
            <a:prstGeom prst="rect">
              <a:avLst/>
            </a:prstGeom>
            <a:noFill/>
          </p:spPr>
          <p:txBody>
            <a:bodyPr wrap="square" lIns="0" tIns="0" rIns="0" bIns="0" anchor="ctr">
              <a:spAutoFit/>
            </a:bodyPr>
            <a:lstStyle/>
            <a:p>
              <a:pPr algn="ctr">
                <a:spcAft>
                  <a:spcPts val="400"/>
                </a:spcAft>
              </a:pPr>
              <a:r>
                <a:rPr sz="1150">
                  <a:solidFill>
                    <a:srgbClr val="222222"/>
                  </a:solidFill>
                  <a:latin typeface="에이투지체 5 Medium"/>
                  <a:ea typeface="에이투지체 5 Medium"/>
                </a:rPr>
                <a:t>프로바이오틱스 유산균 아연D</a:t>
              </a:r>
            </a:p>
          </p:txBody>
        </p:sp>
        <p:sp>
          <p:nvSpPr>
            <p:cNvPr id="31" name="Rectangle 14">
              <a:extLst>
                <a:ext uri="{FF2B5EF4-FFF2-40B4-BE49-F238E27FC236}">
                  <a16:creationId xmlns:a16="http://schemas.microsoft.com/office/drawing/2014/main" id="{28C2DEB4-5CD8-27AD-098E-3D56CCC4F5B4}"/>
                </a:ext>
              </a:extLst>
            </p:cNvPr>
            <p:cNvSpPr/>
            <p:nvPr/>
          </p:nvSpPr>
          <p:spPr>
            <a:xfrm>
              <a:off x="731520" y="4334256"/>
              <a:ext cx="2286000" cy="530352"/>
            </a:xfrm>
            <a:prstGeom prst="roundRect">
              <a:avLst>
                <a:gd name="adj" fmla="val 1379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a:extLst>
                <a:ext uri="{FF2B5EF4-FFF2-40B4-BE49-F238E27FC236}">
                  <a16:creationId xmlns:a16="http://schemas.microsoft.com/office/drawing/2014/main" id="{602323F1-26CD-2F19-272E-7F79704E1BAA}"/>
                </a:ext>
              </a:extLst>
            </p:cNvPr>
            <p:cNvSpPr txBox="1"/>
            <p:nvPr/>
          </p:nvSpPr>
          <p:spPr>
            <a:xfrm>
              <a:off x="731520" y="4334256"/>
              <a:ext cx="2286000" cy="530352"/>
            </a:xfrm>
            <a:prstGeom prst="rect">
              <a:avLst/>
            </a:prstGeom>
            <a:noFill/>
          </p:spPr>
          <p:txBody>
            <a:bodyPr wrap="square" lIns="0" tIns="0" rIns="0" bIns="0" anchor="ctr">
              <a:spAutoFit/>
            </a:bodyPr>
            <a:lstStyle/>
            <a:p>
              <a:pPr algn="ctr">
                <a:spcAft>
                  <a:spcPts val="400"/>
                </a:spcAft>
              </a:pPr>
              <a:r>
                <a:rPr sz="1150">
                  <a:solidFill>
                    <a:srgbClr val="222222"/>
                  </a:solidFill>
                  <a:latin typeface="에이투지체 5 Medium"/>
                  <a:ea typeface="에이투지체 5 Medium"/>
                </a:rPr>
                <a:t>츄어블 철분</a:t>
              </a:r>
            </a:p>
          </p:txBody>
        </p:sp>
        <p:sp>
          <p:nvSpPr>
            <p:cNvPr id="33" name="Right Arrow 16">
              <a:extLst>
                <a:ext uri="{FF2B5EF4-FFF2-40B4-BE49-F238E27FC236}">
                  <a16:creationId xmlns:a16="http://schemas.microsoft.com/office/drawing/2014/main" id="{9488683E-5AA1-A9A8-9CF2-55244F18E8CD}"/>
                </a:ext>
              </a:extLst>
            </p:cNvPr>
            <p:cNvSpPr/>
            <p:nvPr/>
          </p:nvSpPr>
          <p:spPr>
            <a:xfrm>
              <a:off x="3209544" y="2788920"/>
              <a:ext cx="155448" cy="201168"/>
            </a:xfrm>
            <a:prstGeom prst="rightArrow">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17">
              <a:extLst>
                <a:ext uri="{FF2B5EF4-FFF2-40B4-BE49-F238E27FC236}">
                  <a16:creationId xmlns:a16="http://schemas.microsoft.com/office/drawing/2014/main" id="{BD5B400A-20FD-9517-D0D5-3BFC6A5593A7}"/>
                </a:ext>
              </a:extLst>
            </p:cNvPr>
            <p:cNvSpPr/>
            <p:nvPr/>
          </p:nvSpPr>
          <p:spPr>
            <a:xfrm>
              <a:off x="3364992" y="2057400"/>
              <a:ext cx="2651760" cy="777240"/>
            </a:xfrm>
            <a:prstGeom prst="roundRect">
              <a:avLst>
                <a:gd name="adj" fmla="val 9411"/>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a:extLst>
                <a:ext uri="{FF2B5EF4-FFF2-40B4-BE49-F238E27FC236}">
                  <a16:creationId xmlns:a16="http://schemas.microsoft.com/office/drawing/2014/main" id="{6C4025DA-E15D-D100-EE5F-8855B6C40B26}"/>
                </a:ext>
              </a:extLst>
            </p:cNvPr>
            <p:cNvSpPr txBox="1"/>
            <p:nvPr/>
          </p:nvSpPr>
          <p:spPr>
            <a:xfrm>
              <a:off x="3364992" y="2057400"/>
              <a:ext cx="2651760" cy="777240"/>
            </a:xfrm>
            <a:prstGeom prst="rect">
              <a:avLst/>
            </a:prstGeom>
            <a:noFill/>
          </p:spPr>
          <p:txBody>
            <a:bodyPr wrap="square" lIns="0" tIns="0" rIns="0" bIns="0" anchor="ctr">
              <a:spAutoFit/>
            </a:bodyPr>
            <a:lstStyle/>
            <a:p>
              <a:pPr algn="ctr">
                <a:spcAft>
                  <a:spcPts val="200"/>
                </a:spcAft>
              </a:pPr>
              <a:r>
                <a:rPr sz="1500">
                  <a:solidFill>
                    <a:srgbClr val="FFFFFF"/>
                  </a:solidFill>
                  <a:latin typeface="에이투지체 8 ExtraBold"/>
                  <a:ea typeface="에이투지체 8 ExtraBold"/>
                </a:rPr>
                <a:t>성장기 진입</a:t>
              </a:r>
            </a:p>
            <a:p>
              <a:pPr algn="ctr">
                <a:spcAft>
                  <a:spcPts val="200"/>
                </a:spcAft>
              </a:pPr>
              <a:r>
                <a:rPr sz="1050">
                  <a:solidFill>
                    <a:srgbClr val="6FB0E8"/>
                  </a:solidFill>
                  <a:latin typeface="에이투지체 5 Medium"/>
                  <a:ea typeface="에이투지체 5 Medium"/>
                </a:rPr>
                <a:t>4~7세</a:t>
              </a:r>
            </a:p>
          </p:txBody>
        </p:sp>
        <p:sp>
          <p:nvSpPr>
            <p:cNvPr id="36" name="Rectangle 19">
              <a:extLst>
                <a:ext uri="{FF2B5EF4-FFF2-40B4-BE49-F238E27FC236}">
                  <a16:creationId xmlns:a16="http://schemas.microsoft.com/office/drawing/2014/main" id="{A2E7EFAA-656D-8340-2E02-7712027F3489}"/>
                </a:ext>
              </a:extLst>
            </p:cNvPr>
            <p:cNvSpPr/>
            <p:nvPr/>
          </p:nvSpPr>
          <p:spPr>
            <a:xfrm>
              <a:off x="3364992" y="2834640"/>
              <a:ext cx="2651760" cy="2331720"/>
            </a:xfrm>
            <a:prstGeom prst="roundRect">
              <a:avLst>
                <a:gd name="adj" fmla="val 3137"/>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20">
              <a:extLst>
                <a:ext uri="{FF2B5EF4-FFF2-40B4-BE49-F238E27FC236}">
                  <a16:creationId xmlns:a16="http://schemas.microsoft.com/office/drawing/2014/main" id="{2B6769CF-2FEC-79C3-B38B-F8530481C27B}"/>
                </a:ext>
              </a:extLst>
            </p:cNvPr>
            <p:cNvSpPr/>
            <p:nvPr/>
          </p:nvSpPr>
          <p:spPr>
            <a:xfrm>
              <a:off x="3547872" y="3017520"/>
              <a:ext cx="2286000" cy="530352"/>
            </a:xfrm>
            <a:prstGeom prst="roundRect">
              <a:avLst>
                <a:gd name="adj" fmla="val 13793"/>
              </a:avLst>
            </a:prstGeom>
            <a:solidFill>
              <a:srgbClr val="EAF2FB"/>
            </a:solidFill>
            <a:ln w="12700">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a:extLst>
                <a:ext uri="{FF2B5EF4-FFF2-40B4-BE49-F238E27FC236}">
                  <a16:creationId xmlns:a16="http://schemas.microsoft.com/office/drawing/2014/main" id="{9600B99E-2C9E-85ED-40D7-3B84037C4417}"/>
                </a:ext>
              </a:extLst>
            </p:cNvPr>
            <p:cNvSpPr txBox="1"/>
            <p:nvPr/>
          </p:nvSpPr>
          <p:spPr>
            <a:xfrm>
              <a:off x="3547872" y="3017520"/>
              <a:ext cx="2286000" cy="530352"/>
            </a:xfrm>
            <a:prstGeom prst="rect">
              <a:avLst/>
            </a:prstGeom>
            <a:noFill/>
          </p:spPr>
          <p:txBody>
            <a:bodyPr wrap="square" lIns="0" tIns="0" rIns="0" bIns="0" anchor="ctr">
              <a:spAutoFit/>
            </a:bodyPr>
            <a:lstStyle/>
            <a:p>
              <a:pPr algn="ctr">
                <a:spcAft>
                  <a:spcPts val="400"/>
                </a:spcAft>
              </a:pPr>
              <a:r>
                <a:rPr sz="1150">
                  <a:solidFill>
                    <a:srgbClr val="004F9F"/>
                  </a:solidFill>
                  <a:latin typeface="에이투지체 8 ExtraBold"/>
                  <a:ea typeface="에이투지체 8 ExtraBold"/>
                </a:rPr>
                <a:t>키성장 FGO</a:t>
              </a:r>
            </a:p>
          </p:txBody>
        </p:sp>
        <p:sp>
          <p:nvSpPr>
            <p:cNvPr id="39" name="Rectangle 22">
              <a:extLst>
                <a:ext uri="{FF2B5EF4-FFF2-40B4-BE49-F238E27FC236}">
                  <a16:creationId xmlns:a16="http://schemas.microsoft.com/office/drawing/2014/main" id="{644E2D36-9FD6-FA60-C0F5-A9C533D8AD8B}"/>
                </a:ext>
              </a:extLst>
            </p:cNvPr>
            <p:cNvSpPr/>
            <p:nvPr/>
          </p:nvSpPr>
          <p:spPr>
            <a:xfrm>
              <a:off x="3547872" y="3675887"/>
              <a:ext cx="2286000" cy="530352"/>
            </a:xfrm>
            <a:prstGeom prst="roundRect">
              <a:avLst>
                <a:gd name="adj" fmla="val 1379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DB59CB09-3C85-0AAE-D59C-703D6FDC21E7}"/>
                </a:ext>
              </a:extLst>
            </p:cNvPr>
            <p:cNvSpPr txBox="1"/>
            <p:nvPr/>
          </p:nvSpPr>
          <p:spPr>
            <a:xfrm>
              <a:off x="3547872" y="3675887"/>
              <a:ext cx="2286000" cy="530352"/>
            </a:xfrm>
            <a:prstGeom prst="rect">
              <a:avLst/>
            </a:prstGeom>
            <a:noFill/>
          </p:spPr>
          <p:txBody>
            <a:bodyPr wrap="square" lIns="0" tIns="0" rIns="0" bIns="0" anchor="ctr">
              <a:spAutoFit/>
            </a:bodyPr>
            <a:lstStyle/>
            <a:p>
              <a:pPr algn="ctr">
                <a:spcAft>
                  <a:spcPts val="400"/>
                </a:spcAft>
              </a:pPr>
              <a:r>
                <a:rPr sz="1150">
                  <a:solidFill>
                    <a:srgbClr val="222222"/>
                  </a:solidFill>
                  <a:latin typeface="에이투지체 5 Medium"/>
                  <a:ea typeface="에이투지체 5 Medium"/>
                </a:rPr>
                <a:t>츄어블 칼마디</a:t>
              </a:r>
            </a:p>
          </p:txBody>
        </p:sp>
        <p:sp>
          <p:nvSpPr>
            <p:cNvPr id="41" name="Rectangle 24">
              <a:extLst>
                <a:ext uri="{FF2B5EF4-FFF2-40B4-BE49-F238E27FC236}">
                  <a16:creationId xmlns:a16="http://schemas.microsoft.com/office/drawing/2014/main" id="{A715834A-1976-29B9-7C05-2F792395D64C}"/>
                </a:ext>
              </a:extLst>
            </p:cNvPr>
            <p:cNvSpPr/>
            <p:nvPr/>
          </p:nvSpPr>
          <p:spPr>
            <a:xfrm>
              <a:off x="3547872" y="4334256"/>
              <a:ext cx="2286000" cy="530352"/>
            </a:xfrm>
            <a:prstGeom prst="roundRect">
              <a:avLst>
                <a:gd name="adj" fmla="val 1379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a:extLst>
                <a:ext uri="{FF2B5EF4-FFF2-40B4-BE49-F238E27FC236}">
                  <a16:creationId xmlns:a16="http://schemas.microsoft.com/office/drawing/2014/main" id="{A1687983-CCC0-EFA9-6832-A0CDCCFD543F}"/>
                </a:ext>
              </a:extLst>
            </p:cNvPr>
            <p:cNvSpPr txBox="1"/>
            <p:nvPr/>
          </p:nvSpPr>
          <p:spPr>
            <a:xfrm>
              <a:off x="3547872" y="4334256"/>
              <a:ext cx="2286000" cy="530352"/>
            </a:xfrm>
            <a:prstGeom prst="rect">
              <a:avLst/>
            </a:prstGeom>
            <a:noFill/>
          </p:spPr>
          <p:txBody>
            <a:bodyPr wrap="square" lIns="0" tIns="0" rIns="0" bIns="0" anchor="ctr">
              <a:spAutoFit/>
            </a:bodyPr>
            <a:lstStyle/>
            <a:p>
              <a:pPr algn="ctr">
                <a:spcAft>
                  <a:spcPts val="400"/>
                </a:spcAft>
              </a:pPr>
              <a:r>
                <a:rPr sz="1150">
                  <a:solidFill>
                    <a:srgbClr val="222222"/>
                  </a:solidFill>
                  <a:latin typeface="에이투지체 5 Medium"/>
                  <a:ea typeface="에이투지체 5 Medium"/>
                </a:rPr>
                <a:t>멀티비타민 밸런스</a:t>
              </a:r>
            </a:p>
          </p:txBody>
        </p:sp>
        <p:sp>
          <p:nvSpPr>
            <p:cNvPr id="43" name="Right Arrow 26">
              <a:extLst>
                <a:ext uri="{FF2B5EF4-FFF2-40B4-BE49-F238E27FC236}">
                  <a16:creationId xmlns:a16="http://schemas.microsoft.com/office/drawing/2014/main" id="{FB7C5A81-0657-2F62-305E-C74DC53CB049}"/>
                </a:ext>
              </a:extLst>
            </p:cNvPr>
            <p:cNvSpPr/>
            <p:nvPr/>
          </p:nvSpPr>
          <p:spPr>
            <a:xfrm>
              <a:off x="6025896" y="2788920"/>
              <a:ext cx="155448" cy="201168"/>
            </a:xfrm>
            <a:prstGeom prst="rightArrow">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27">
              <a:extLst>
                <a:ext uri="{FF2B5EF4-FFF2-40B4-BE49-F238E27FC236}">
                  <a16:creationId xmlns:a16="http://schemas.microsoft.com/office/drawing/2014/main" id="{42AC83D2-EA1D-68FF-DF46-FE26F444F7C6}"/>
                </a:ext>
              </a:extLst>
            </p:cNvPr>
            <p:cNvSpPr/>
            <p:nvPr/>
          </p:nvSpPr>
          <p:spPr>
            <a:xfrm>
              <a:off x="6181344" y="2057400"/>
              <a:ext cx="2651760" cy="777240"/>
            </a:xfrm>
            <a:prstGeom prst="roundRect">
              <a:avLst>
                <a:gd name="adj" fmla="val 9411"/>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a:extLst>
                <a:ext uri="{FF2B5EF4-FFF2-40B4-BE49-F238E27FC236}">
                  <a16:creationId xmlns:a16="http://schemas.microsoft.com/office/drawing/2014/main" id="{EC50827D-831E-E4E1-9941-7D0022489973}"/>
                </a:ext>
              </a:extLst>
            </p:cNvPr>
            <p:cNvSpPr txBox="1"/>
            <p:nvPr/>
          </p:nvSpPr>
          <p:spPr>
            <a:xfrm>
              <a:off x="6181344" y="2057400"/>
              <a:ext cx="2651760" cy="777240"/>
            </a:xfrm>
            <a:prstGeom prst="rect">
              <a:avLst/>
            </a:prstGeom>
            <a:noFill/>
          </p:spPr>
          <p:txBody>
            <a:bodyPr wrap="square" lIns="0" tIns="0" rIns="0" bIns="0" anchor="ctr">
              <a:spAutoFit/>
            </a:bodyPr>
            <a:lstStyle/>
            <a:p>
              <a:pPr algn="ctr">
                <a:spcAft>
                  <a:spcPts val="200"/>
                </a:spcAft>
              </a:pPr>
              <a:r>
                <a:rPr sz="1500">
                  <a:solidFill>
                    <a:srgbClr val="FFFFFF"/>
                  </a:solidFill>
                  <a:latin typeface="에이투지체 8 ExtraBold"/>
                  <a:ea typeface="에이투지체 8 ExtraBold"/>
                </a:rPr>
                <a:t>초등</a:t>
              </a:r>
            </a:p>
            <a:p>
              <a:pPr algn="ctr">
                <a:spcAft>
                  <a:spcPts val="200"/>
                </a:spcAft>
              </a:pPr>
              <a:r>
                <a:rPr sz="1050">
                  <a:solidFill>
                    <a:srgbClr val="6FB0E8"/>
                  </a:solidFill>
                  <a:latin typeface="에이투지체 5 Medium"/>
                  <a:ea typeface="에이투지체 5 Medium"/>
                </a:rPr>
                <a:t>8~13세</a:t>
              </a:r>
            </a:p>
          </p:txBody>
        </p:sp>
        <p:sp>
          <p:nvSpPr>
            <p:cNvPr id="46" name="Rectangle 29">
              <a:extLst>
                <a:ext uri="{FF2B5EF4-FFF2-40B4-BE49-F238E27FC236}">
                  <a16:creationId xmlns:a16="http://schemas.microsoft.com/office/drawing/2014/main" id="{6260359D-D96A-CBA6-8767-EA4ACE7B491A}"/>
                </a:ext>
              </a:extLst>
            </p:cNvPr>
            <p:cNvSpPr/>
            <p:nvPr/>
          </p:nvSpPr>
          <p:spPr>
            <a:xfrm>
              <a:off x="6181344" y="2834640"/>
              <a:ext cx="2651760" cy="2331720"/>
            </a:xfrm>
            <a:prstGeom prst="roundRect">
              <a:avLst>
                <a:gd name="adj" fmla="val 3137"/>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30">
              <a:extLst>
                <a:ext uri="{FF2B5EF4-FFF2-40B4-BE49-F238E27FC236}">
                  <a16:creationId xmlns:a16="http://schemas.microsoft.com/office/drawing/2014/main" id="{D6F92FA3-6044-2DB5-0750-7E7B21067FAC}"/>
                </a:ext>
              </a:extLst>
            </p:cNvPr>
            <p:cNvSpPr/>
            <p:nvPr/>
          </p:nvSpPr>
          <p:spPr>
            <a:xfrm>
              <a:off x="6364224" y="3017520"/>
              <a:ext cx="2286000" cy="530352"/>
            </a:xfrm>
            <a:prstGeom prst="roundRect">
              <a:avLst>
                <a:gd name="adj" fmla="val 13793"/>
              </a:avLst>
            </a:prstGeom>
            <a:solidFill>
              <a:srgbClr val="EAF2FB"/>
            </a:solidFill>
            <a:ln w="12700">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a:extLst>
                <a:ext uri="{FF2B5EF4-FFF2-40B4-BE49-F238E27FC236}">
                  <a16:creationId xmlns:a16="http://schemas.microsoft.com/office/drawing/2014/main" id="{7046FDEB-3130-F790-D68F-35D445ED25C4}"/>
                </a:ext>
              </a:extLst>
            </p:cNvPr>
            <p:cNvSpPr txBox="1"/>
            <p:nvPr/>
          </p:nvSpPr>
          <p:spPr>
            <a:xfrm>
              <a:off x="6364224" y="3017520"/>
              <a:ext cx="2286000" cy="530352"/>
            </a:xfrm>
            <a:prstGeom prst="rect">
              <a:avLst/>
            </a:prstGeom>
            <a:noFill/>
          </p:spPr>
          <p:txBody>
            <a:bodyPr wrap="square" lIns="0" tIns="0" rIns="0" bIns="0" anchor="ctr">
              <a:spAutoFit/>
            </a:bodyPr>
            <a:lstStyle/>
            <a:p>
              <a:pPr algn="ctr">
                <a:spcAft>
                  <a:spcPts val="400"/>
                </a:spcAft>
              </a:pPr>
              <a:r>
                <a:rPr sz="1150">
                  <a:solidFill>
                    <a:srgbClr val="004F9F"/>
                  </a:solidFill>
                  <a:latin typeface="에이투지체 8 ExtraBold"/>
                  <a:ea typeface="에이투지체 8 ExtraBold"/>
                </a:rPr>
                <a:t>키성장 FGO</a:t>
              </a:r>
            </a:p>
          </p:txBody>
        </p:sp>
        <p:sp>
          <p:nvSpPr>
            <p:cNvPr id="49" name="Rectangle 32">
              <a:extLst>
                <a:ext uri="{FF2B5EF4-FFF2-40B4-BE49-F238E27FC236}">
                  <a16:creationId xmlns:a16="http://schemas.microsoft.com/office/drawing/2014/main" id="{16A76331-74DD-EDA3-77EC-0DCF28DE5EB6}"/>
                </a:ext>
              </a:extLst>
            </p:cNvPr>
            <p:cNvSpPr/>
            <p:nvPr/>
          </p:nvSpPr>
          <p:spPr>
            <a:xfrm>
              <a:off x="6364224" y="3675887"/>
              <a:ext cx="2286000" cy="530352"/>
            </a:xfrm>
            <a:prstGeom prst="roundRect">
              <a:avLst>
                <a:gd name="adj" fmla="val 1379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a:extLst>
                <a:ext uri="{FF2B5EF4-FFF2-40B4-BE49-F238E27FC236}">
                  <a16:creationId xmlns:a16="http://schemas.microsoft.com/office/drawing/2014/main" id="{B2BBDD14-BBE3-CBCF-EF28-8CEDB507E0A2}"/>
                </a:ext>
              </a:extLst>
            </p:cNvPr>
            <p:cNvSpPr txBox="1"/>
            <p:nvPr/>
          </p:nvSpPr>
          <p:spPr>
            <a:xfrm>
              <a:off x="6364224" y="3675887"/>
              <a:ext cx="2286000" cy="530352"/>
            </a:xfrm>
            <a:prstGeom prst="rect">
              <a:avLst/>
            </a:prstGeom>
            <a:noFill/>
          </p:spPr>
          <p:txBody>
            <a:bodyPr wrap="square" lIns="0" tIns="0" rIns="0" bIns="0" anchor="ctr">
              <a:spAutoFit/>
            </a:bodyPr>
            <a:lstStyle/>
            <a:p>
              <a:pPr algn="ctr">
                <a:spcAft>
                  <a:spcPts val="400"/>
                </a:spcAft>
              </a:pPr>
              <a:r>
                <a:rPr sz="1150">
                  <a:solidFill>
                    <a:srgbClr val="222222"/>
                  </a:solidFill>
                  <a:latin typeface="에이투지체 5 Medium"/>
                  <a:ea typeface="에이투지체 5 Medium"/>
                </a:rPr>
                <a:t>츄어블 칼마디</a:t>
              </a:r>
            </a:p>
          </p:txBody>
        </p:sp>
        <p:sp>
          <p:nvSpPr>
            <p:cNvPr id="51" name="Rectangle 34">
              <a:extLst>
                <a:ext uri="{FF2B5EF4-FFF2-40B4-BE49-F238E27FC236}">
                  <a16:creationId xmlns:a16="http://schemas.microsoft.com/office/drawing/2014/main" id="{CF58E705-BFA6-DB0A-82FE-C48F4357C13F}"/>
                </a:ext>
              </a:extLst>
            </p:cNvPr>
            <p:cNvSpPr/>
            <p:nvPr/>
          </p:nvSpPr>
          <p:spPr>
            <a:xfrm>
              <a:off x="6364224" y="4334256"/>
              <a:ext cx="2286000" cy="530352"/>
            </a:xfrm>
            <a:prstGeom prst="roundRect">
              <a:avLst>
                <a:gd name="adj" fmla="val 1379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a:extLst>
                <a:ext uri="{FF2B5EF4-FFF2-40B4-BE49-F238E27FC236}">
                  <a16:creationId xmlns:a16="http://schemas.microsoft.com/office/drawing/2014/main" id="{6C44508E-C3C7-A09B-98F0-C8F619AF8D38}"/>
                </a:ext>
              </a:extLst>
            </p:cNvPr>
            <p:cNvSpPr txBox="1"/>
            <p:nvPr/>
          </p:nvSpPr>
          <p:spPr>
            <a:xfrm>
              <a:off x="6364224" y="4334256"/>
              <a:ext cx="2286000" cy="530352"/>
            </a:xfrm>
            <a:prstGeom prst="rect">
              <a:avLst/>
            </a:prstGeom>
            <a:noFill/>
          </p:spPr>
          <p:txBody>
            <a:bodyPr wrap="square" lIns="0" tIns="0" rIns="0" bIns="0" anchor="ctr">
              <a:spAutoFit/>
            </a:bodyPr>
            <a:lstStyle/>
            <a:p>
              <a:pPr algn="ctr">
                <a:spcAft>
                  <a:spcPts val="400"/>
                </a:spcAft>
              </a:pPr>
              <a:r>
                <a:rPr sz="1150">
                  <a:solidFill>
                    <a:srgbClr val="222222"/>
                  </a:solidFill>
                  <a:latin typeface="에이투지체 5 Medium"/>
                  <a:ea typeface="에이투지체 5 Medium"/>
                </a:rPr>
                <a:t>츄어블 철분</a:t>
              </a:r>
            </a:p>
          </p:txBody>
        </p:sp>
        <p:sp>
          <p:nvSpPr>
            <p:cNvPr id="53" name="Right Arrow 36">
              <a:extLst>
                <a:ext uri="{FF2B5EF4-FFF2-40B4-BE49-F238E27FC236}">
                  <a16:creationId xmlns:a16="http://schemas.microsoft.com/office/drawing/2014/main" id="{0830D2A4-1FFC-FB32-60F4-B47683B2CC0D}"/>
                </a:ext>
              </a:extLst>
            </p:cNvPr>
            <p:cNvSpPr/>
            <p:nvPr/>
          </p:nvSpPr>
          <p:spPr>
            <a:xfrm>
              <a:off x="8842248" y="2788920"/>
              <a:ext cx="155448" cy="201168"/>
            </a:xfrm>
            <a:prstGeom prst="rightArrow">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37">
              <a:extLst>
                <a:ext uri="{FF2B5EF4-FFF2-40B4-BE49-F238E27FC236}">
                  <a16:creationId xmlns:a16="http://schemas.microsoft.com/office/drawing/2014/main" id="{FC933CFD-D085-80FB-F413-DAA8D55A87FE}"/>
                </a:ext>
              </a:extLst>
            </p:cNvPr>
            <p:cNvSpPr/>
            <p:nvPr/>
          </p:nvSpPr>
          <p:spPr>
            <a:xfrm>
              <a:off x="8997696" y="2057400"/>
              <a:ext cx="2651760" cy="777240"/>
            </a:xfrm>
            <a:prstGeom prst="roundRect">
              <a:avLst>
                <a:gd name="adj" fmla="val 9411"/>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a:extLst>
                <a:ext uri="{FF2B5EF4-FFF2-40B4-BE49-F238E27FC236}">
                  <a16:creationId xmlns:a16="http://schemas.microsoft.com/office/drawing/2014/main" id="{539312D4-BFB8-3F53-ECE4-49A3E3F1DDC5}"/>
                </a:ext>
              </a:extLst>
            </p:cNvPr>
            <p:cNvSpPr txBox="1"/>
            <p:nvPr/>
          </p:nvSpPr>
          <p:spPr>
            <a:xfrm>
              <a:off x="8997696" y="2057400"/>
              <a:ext cx="2651760" cy="777240"/>
            </a:xfrm>
            <a:prstGeom prst="rect">
              <a:avLst/>
            </a:prstGeom>
            <a:noFill/>
          </p:spPr>
          <p:txBody>
            <a:bodyPr wrap="square" lIns="0" tIns="0" rIns="0" bIns="0" anchor="ctr">
              <a:spAutoFit/>
            </a:bodyPr>
            <a:lstStyle/>
            <a:p>
              <a:pPr algn="ctr">
                <a:spcAft>
                  <a:spcPts val="200"/>
                </a:spcAft>
              </a:pPr>
              <a:r>
                <a:rPr sz="1500">
                  <a:solidFill>
                    <a:srgbClr val="FFFFFF"/>
                  </a:solidFill>
                  <a:latin typeface="에이투지체 8 ExtraBold"/>
                  <a:ea typeface="에이투지체 8 ExtraBold"/>
                </a:rPr>
                <a:t>청소년</a:t>
              </a:r>
            </a:p>
            <a:p>
              <a:pPr algn="ctr">
                <a:spcAft>
                  <a:spcPts val="200"/>
                </a:spcAft>
              </a:pPr>
              <a:r>
                <a:rPr sz="1050">
                  <a:solidFill>
                    <a:srgbClr val="6FB0E8"/>
                  </a:solidFill>
                  <a:latin typeface="에이투지체 5 Medium"/>
                  <a:ea typeface="에이투지체 5 Medium"/>
                </a:rPr>
                <a:t>14~17세</a:t>
              </a:r>
            </a:p>
          </p:txBody>
        </p:sp>
        <p:sp>
          <p:nvSpPr>
            <p:cNvPr id="56" name="Rectangle 39">
              <a:extLst>
                <a:ext uri="{FF2B5EF4-FFF2-40B4-BE49-F238E27FC236}">
                  <a16:creationId xmlns:a16="http://schemas.microsoft.com/office/drawing/2014/main" id="{54D8C75B-2E3F-0B18-3F9E-9A0E70E23262}"/>
                </a:ext>
              </a:extLst>
            </p:cNvPr>
            <p:cNvSpPr/>
            <p:nvPr/>
          </p:nvSpPr>
          <p:spPr>
            <a:xfrm>
              <a:off x="8997696" y="2834640"/>
              <a:ext cx="2651760" cy="2331720"/>
            </a:xfrm>
            <a:prstGeom prst="roundRect">
              <a:avLst>
                <a:gd name="adj" fmla="val 3137"/>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40">
              <a:extLst>
                <a:ext uri="{FF2B5EF4-FFF2-40B4-BE49-F238E27FC236}">
                  <a16:creationId xmlns:a16="http://schemas.microsoft.com/office/drawing/2014/main" id="{41EB29D8-D166-2104-5E0C-EB8F34651319}"/>
                </a:ext>
              </a:extLst>
            </p:cNvPr>
            <p:cNvSpPr/>
            <p:nvPr/>
          </p:nvSpPr>
          <p:spPr>
            <a:xfrm>
              <a:off x="9180576" y="3017520"/>
              <a:ext cx="2286000" cy="530352"/>
            </a:xfrm>
            <a:prstGeom prst="roundRect">
              <a:avLst>
                <a:gd name="adj" fmla="val 13793"/>
              </a:avLst>
            </a:prstGeom>
            <a:solidFill>
              <a:srgbClr val="EAF2FB"/>
            </a:solidFill>
            <a:ln w="12700">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a:extLst>
                <a:ext uri="{FF2B5EF4-FFF2-40B4-BE49-F238E27FC236}">
                  <a16:creationId xmlns:a16="http://schemas.microsoft.com/office/drawing/2014/main" id="{4FEF70BF-CD53-F347-BD63-FB0FCB622154}"/>
                </a:ext>
              </a:extLst>
            </p:cNvPr>
            <p:cNvSpPr txBox="1"/>
            <p:nvPr/>
          </p:nvSpPr>
          <p:spPr>
            <a:xfrm>
              <a:off x="9180576" y="3017520"/>
              <a:ext cx="2286000" cy="530352"/>
            </a:xfrm>
            <a:prstGeom prst="rect">
              <a:avLst/>
            </a:prstGeom>
            <a:noFill/>
          </p:spPr>
          <p:txBody>
            <a:bodyPr wrap="square" lIns="0" tIns="0" rIns="0" bIns="0" anchor="ctr">
              <a:spAutoFit/>
            </a:bodyPr>
            <a:lstStyle/>
            <a:p>
              <a:pPr algn="ctr">
                <a:spcAft>
                  <a:spcPts val="400"/>
                </a:spcAft>
              </a:pPr>
              <a:r>
                <a:rPr sz="1150">
                  <a:solidFill>
                    <a:srgbClr val="004F9F"/>
                  </a:solidFill>
                  <a:latin typeface="에이투지체 8 ExtraBold"/>
                  <a:ea typeface="에이투지체 8 ExtraBold"/>
                </a:rPr>
                <a:t>키성장 FGO</a:t>
              </a:r>
            </a:p>
          </p:txBody>
        </p:sp>
        <p:sp>
          <p:nvSpPr>
            <p:cNvPr id="59" name="Rectangle 42">
              <a:extLst>
                <a:ext uri="{FF2B5EF4-FFF2-40B4-BE49-F238E27FC236}">
                  <a16:creationId xmlns:a16="http://schemas.microsoft.com/office/drawing/2014/main" id="{A8A3E01D-3A9A-EA2A-A2DC-8D4ACAFA5CFF}"/>
                </a:ext>
              </a:extLst>
            </p:cNvPr>
            <p:cNvSpPr/>
            <p:nvPr/>
          </p:nvSpPr>
          <p:spPr>
            <a:xfrm>
              <a:off x="9180576" y="3675887"/>
              <a:ext cx="2286000" cy="530352"/>
            </a:xfrm>
            <a:prstGeom prst="roundRect">
              <a:avLst>
                <a:gd name="adj" fmla="val 13793"/>
              </a:avLst>
            </a:prstGeom>
            <a:solidFill>
              <a:srgbClr val="FFFFFF"/>
            </a:solidFill>
            <a:ln w="12700">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a:extLst>
                <a:ext uri="{FF2B5EF4-FFF2-40B4-BE49-F238E27FC236}">
                  <a16:creationId xmlns:a16="http://schemas.microsoft.com/office/drawing/2014/main" id="{A7A0F086-7C35-35D2-739E-892433321190}"/>
                </a:ext>
              </a:extLst>
            </p:cNvPr>
            <p:cNvSpPr txBox="1"/>
            <p:nvPr/>
          </p:nvSpPr>
          <p:spPr>
            <a:xfrm>
              <a:off x="9180576" y="3675887"/>
              <a:ext cx="2286000" cy="530352"/>
            </a:xfrm>
            <a:prstGeom prst="rect">
              <a:avLst/>
            </a:prstGeom>
            <a:noFill/>
          </p:spPr>
          <p:txBody>
            <a:bodyPr wrap="square" lIns="0" tIns="0" rIns="0" bIns="0" anchor="ctr">
              <a:spAutoFit/>
            </a:bodyPr>
            <a:lstStyle/>
            <a:p>
              <a:pPr algn="ctr">
                <a:spcAft>
                  <a:spcPts val="400"/>
                </a:spcAft>
              </a:pPr>
              <a:r>
                <a:rPr sz="1150">
                  <a:solidFill>
                    <a:srgbClr val="222222"/>
                  </a:solidFill>
                  <a:latin typeface="에이투지체 5 Medium"/>
                  <a:ea typeface="에이투지체 5 Medium"/>
                </a:rPr>
                <a:t>프로바이오키드 캡슐</a:t>
              </a:r>
            </a:p>
          </p:txBody>
        </p:sp>
      </p:grpSp>
      <p:sp>
        <p:nvSpPr>
          <p:cNvPr id="4" name="직사각형 3">
            <a:extLst>
              <a:ext uri="{FF2B5EF4-FFF2-40B4-BE49-F238E27FC236}">
                <a16:creationId xmlns:a16="http://schemas.microsoft.com/office/drawing/2014/main" id="{6BACF158-63CF-99DA-5C4E-1652543E48E8}"/>
              </a:ext>
            </a:extLst>
          </p:cNvPr>
          <p:cNvSpPr/>
          <p:nvPr/>
        </p:nvSpPr>
        <p:spPr>
          <a:xfrm>
            <a:off x="548640" y="5301996"/>
            <a:ext cx="7219406" cy="74066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951587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6AF06-A43C-72C8-885E-0D569C31EF04}"/>
            </a:ext>
          </a:extLst>
        </p:cNvPr>
        <p:cNvGrpSpPr/>
        <p:nvPr/>
      </p:nvGrpSpPr>
      <p:grpSpPr>
        <a:xfrm>
          <a:off x="0" y="0"/>
          <a:ext cx="0" cy="0"/>
          <a:chOff x="0" y="0"/>
          <a:chExt cx="0" cy="0"/>
        </a:xfrm>
      </p:grpSpPr>
      <p:sp>
        <p:nvSpPr>
          <p:cNvPr id="27" name="TextBox 1">
            <a:extLst>
              <a:ext uri="{FF2B5EF4-FFF2-40B4-BE49-F238E27FC236}">
                <a16:creationId xmlns:a16="http://schemas.microsoft.com/office/drawing/2014/main" id="{F627B61D-98A6-A12E-2331-DC59F8655935}"/>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28" name="TextBox 7">
            <a:extLst>
              <a:ext uri="{FF2B5EF4-FFF2-40B4-BE49-F238E27FC236}">
                <a16:creationId xmlns:a16="http://schemas.microsoft.com/office/drawing/2014/main" id="{3026C513-AD9C-B848-1F9C-56227A51D0C6}"/>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9" name="TextBox 8">
            <a:extLst>
              <a:ext uri="{FF2B5EF4-FFF2-40B4-BE49-F238E27FC236}">
                <a16:creationId xmlns:a16="http://schemas.microsoft.com/office/drawing/2014/main" id="{7EED0361-F990-94B8-FD74-E29B7DA95FD9}"/>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30" name="PGNO">
            <a:extLst>
              <a:ext uri="{FF2B5EF4-FFF2-40B4-BE49-F238E27FC236}">
                <a16:creationId xmlns:a16="http://schemas.microsoft.com/office/drawing/2014/main" id="{4EDCF412-9E56-5C8B-4398-05095246D452}"/>
              </a:ext>
            </a:extLst>
          </p:cNvPr>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16</a:t>
            </a:r>
          </a:p>
        </p:txBody>
      </p:sp>
      <p:sp>
        <p:nvSpPr>
          <p:cNvPr id="7" name="text-6">
            <a:extLst>
              <a:ext uri="{FF2B5EF4-FFF2-40B4-BE49-F238E27FC236}">
                <a16:creationId xmlns:a16="http://schemas.microsoft.com/office/drawing/2014/main" id="{8082680D-B270-F0D5-0ED4-0CD48F06CE15}"/>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큐레이션을 구매 단위로</a:t>
            </a:r>
            <a:r>
              <a:rPr lang="ko-KR" sz="1900" dirty="0">
                <a:solidFill>
                  <a:srgbClr val="222222"/>
                </a:solidFill>
                <a:latin typeface="에이투지체 8 ExtraBold"/>
                <a:ea typeface="에이투지체 8 ExtraBold"/>
                <a:cs typeface="에이투지체 8 ExtraBold"/>
              </a:rPr>
              <a:t> 바꾸면</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브랜드스토어에서만 살 수 있는 패키지가 됩니다</a:t>
            </a:r>
            <a:endParaRPr lang="ko-KR" sz="1900" dirty="0"/>
          </a:p>
        </p:txBody>
      </p:sp>
      <p:sp>
        <p:nvSpPr>
          <p:cNvPr id="8" name="text-7">
            <a:extLst>
              <a:ext uri="{FF2B5EF4-FFF2-40B4-BE49-F238E27FC236}">
                <a16:creationId xmlns:a16="http://schemas.microsoft.com/office/drawing/2014/main" id="{3BED214B-E82E-5EF6-C1A9-47CE69AAEA7D}"/>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키성장 FGO에 단계별 영양제를 더해, </a:t>
            </a:r>
            <a:r>
              <a:rPr lang="ko-KR" altLang="en-US" sz="1100" dirty="0">
                <a:solidFill>
                  <a:srgbClr val="5C5C5C"/>
                </a:solidFill>
                <a:latin typeface="에이투지체 5 Medium"/>
                <a:ea typeface="에이투지체 5 Medium"/>
                <a:cs typeface="에이투지체 5 Medium"/>
              </a:rPr>
              <a:t>패키지 </a:t>
            </a:r>
            <a:r>
              <a:rPr lang="ko-KR" sz="1100" dirty="0">
                <a:solidFill>
                  <a:srgbClr val="5C5C5C"/>
                </a:solidFill>
                <a:latin typeface="에이투지체 5 Medium"/>
                <a:ea typeface="에이투지체 5 Medium"/>
                <a:cs typeface="에이투지체 5 Medium"/>
              </a:rPr>
              <a:t>구성으로 선택받게 합니다</a:t>
            </a:r>
            <a:endParaRPr lang="ko-KR" sz="1100" dirty="0"/>
          </a:p>
        </p:txBody>
      </p:sp>
      <p:sp>
        <p:nvSpPr>
          <p:cNvPr id="24" name="node-23">
            <a:extLst>
              <a:ext uri="{FF2B5EF4-FFF2-40B4-BE49-F238E27FC236}">
                <a16:creationId xmlns:a16="http://schemas.microsoft.com/office/drawing/2014/main" id="{E141183D-2B0F-5C2B-D639-35413FEF1087}"/>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dirty="0"/>
          </a:p>
        </p:txBody>
      </p:sp>
      <p:sp>
        <p:nvSpPr>
          <p:cNvPr id="25" name="text-24">
            <a:extLst>
              <a:ext uri="{FF2B5EF4-FFF2-40B4-BE49-F238E27FC236}">
                <a16:creationId xmlns:a16="http://schemas.microsoft.com/office/drawing/2014/main" id="{E67F93D9-14A2-C68B-4017-D7DCC61B4BBB}"/>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defRPr sz="1358">
                <a:solidFill>
                  <a:srgbClr val="FFFFFF"/>
                </a:solidFill>
                <a:latin typeface="에이투지체 6 SemiBold"/>
                <a:ea typeface="에이투지체 6 SemiBold"/>
                <a:cs typeface="에이투지체 6 SemiBold"/>
              </a:defRPr>
            </a:pPr>
            <a:r>
              <a:rPr lang="en-US" altLang="ko-KR" sz="1358" dirty="0">
                <a:solidFill>
                  <a:srgbClr val="004F9F"/>
                </a:solidFill>
                <a:latin typeface="에이투지체 6 SemiBold"/>
                <a:ea typeface="에이투지체 6 SemiBold"/>
                <a:cs typeface="에이투지체 6 SemiBold"/>
              </a:rPr>
              <a:t>FGO </a:t>
            </a:r>
            <a:r>
              <a:rPr lang="ko-KR" altLang="en-US" sz="1358" dirty="0">
                <a:solidFill>
                  <a:srgbClr val="004F9F"/>
                </a:solidFill>
                <a:latin typeface="에이투지체 6 SemiBold"/>
                <a:ea typeface="에이투지체 6 SemiBold"/>
                <a:cs typeface="에이투지체 6 SemiBold"/>
              </a:rPr>
              <a:t>외 상품 매출  </a:t>
            </a:r>
            <a:r>
              <a:rPr lang="en-US" altLang="ko-KR" sz="1358" dirty="0">
                <a:solidFill>
                  <a:srgbClr val="004F9F"/>
                </a:solidFill>
                <a:latin typeface="에이투지체 6 SemiBold"/>
                <a:ea typeface="에이투지체 6 SemiBold"/>
                <a:cs typeface="에이투지체 6 SemiBold"/>
              </a:rPr>
              <a:t>·  </a:t>
            </a:r>
            <a:r>
              <a:rPr lang="ko-KR" altLang="en-US" sz="1358" dirty="0" err="1">
                <a:solidFill>
                  <a:srgbClr val="004F9F"/>
                </a:solidFill>
                <a:latin typeface="에이투지체 6 SemiBold"/>
                <a:ea typeface="에이투지체 6 SemiBold"/>
                <a:cs typeface="에이투지체 6 SemiBold"/>
              </a:rPr>
              <a:t>객단가</a:t>
            </a:r>
            <a:r>
              <a:rPr lang="ko-KR" altLang="en-US" sz="1358" dirty="0">
                <a:solidFill>
                  <a:srgbClr val="004F9F"/>
                </a:solidFill>
                <a:latin typeface="에이투지체 6 SemiBold"/>
                <a:ea typeface="에이투지체 6 SemiBold"/>
                <a:cs typeface="에이투지체 6 SemiBold"/>
              </a:rPr>
              <a:t> 상승  </a:t>
            </a:r>
            <a:r>
              <a:rPr lang="en-US" altLang="ko-KR" sz="1358" dirty="0">
                <a:solidFill>
                  <a:srgbClr val="004F9F"/>
                </a:solidFill>
                <a:latin typeface="에이투지체 6 SemiBold"/>
                <a:ea typeface="에이투지체 6 SemiBold"/>
                <a:cs typeface="에이투지체 6 SemiBold"/>
              </a:rPr>
              <a:t>·  </a:t>
            </a:r>
            <a:r>
              <a:rPr lang="ko-KR" altLang="en-US" sz="1358" dirty="0">
                <a:solidFill>
                  <a:srgbClr val="004F9F"/>
                </a:solidFill>
                <a:latin typeface="에이투지체 6 SemiBold"/>
                <a:ea typeface="에이투지체 6 SemiBold"/>
                <a:cs typeface="에이투지체 6 SemiBold"/>
              </a:rPr>
              <a:t>브랜드스토어 전용 구성으로 타 플랫폼으로의 이탈을 방어합니다</a:t>
            </a:r>
            <a:endParaRPr sz="1358" dirty="0">
              <a:solidFill>
                <a:srgbClr val="FFFFFF"/>
              </a:solidFill>
              <a:latin typeface="에이투지체 6 SemiBold"/>
              <a:ea typeface="에이투지체 6 SemiBold"/>
              <a:cs typeface="에이투지체 6 SemiBold"/>
            </a:endParaRPr>
          </a:p>
        </p:txBody>
      </p:sp>
      <p:grpSp>
        <p:nvGrpSpPr>
          <p:cNvPr id="4" name="그룹 3">
            <a:extLst>
              <a:ext uri="{FF2B5EF4-FFF2-40B4-BE49-F238E27FC236}">
                <a16:creationId xmlns:a16="http://schemas.microsoft.com/office/drawing/2014/main" id="{2670C3C3-21E1-08E8-54B0-58C7CC3DE0CE}"/>
              </a:ext>
            </a:extLst>
          </p:cNvPr>
          <p:cNvGrpSpPr/>
          <p:nvPr/>
        </p:nvGrpSpPr>
        <p:grpSpPr>
          <a:xfrm>
            <a:off x="548640" y="2057400"/>
            <a:ext cx="11064240" cy="3108960"/>
            <a:chOff x="548640" y="2057400"/>
            <a:chExt cx="11064240" cy="3108960"/>
          </a:xfrm>
        </p:grpSpPr>
        <p:sp>
          <p:nvSpPr>
            <p:cNvPr id="5" name="Rectangle 7">
              <a:extLst>
                <a:ext uri="{FF2B5EF4-FFF2-40B4-BE49-F238E27FC236}">
                  <a16:creationId xmlns:a16="http://schemas.microsoft.com/office/drawing/2014/main" id="{22004170-43AB-B890-6028-2AEFADB50D09}"/>
                </a:ext>
              </a:extLst>
            </p:cNvPr>
            <p:cNvSpPr/>
            <p:nvPr/>
          </p:nvSpPr>
          <p:spPr>
            <a:xfrm>
              <a:off x="548640" y="2057400"/>
              <a:ext cx="3154680" cy="1234440"/>
            </a:xfrm>
            <a:prstGeom prst="roundRect">
              <a:avLst>
                <a:gd name="adj" fmla="val 5925"/>
              </a:avLst>
            </a:prstGeom>
            <a:solidFill>
              <a:srgbClr val="EAF2FB"/>
            </a:solidFill>
            <a:ln w="12700">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4975B726-7804-A0DC-BDA8-D9E7B15AFAD2}"/>
                </a:ext>
              </a:extLst>
            </p:cNvPr>
            <p:cNvSpPr txBox="1"/>
            <p:nvPr/>
          </p:nvSpPr>
          <p:spPr>
            <a:xfrm>
              <a:off x="548640" y="2057400"/>
              <a:ext cx="3154680" cy="1234440"/>
            </a:xfrm>
            <a:prstGeom prst="rect">
              <a:avLst/>
            </a:prstGeom>
            <a:noFill/>
          </p:spPr>
          <p:txBody>
            <a:bodyPr wrap="square" lIns="0" tIns="0" rIns="0" bIns="0" anchor="ctr">
              <a:spAutoFit/>
            </a:bodyPr>
            <a:lstStyle/>
            <a:p>
              <a:pPr algn="ctr">
                <a:spcAft>
                  <a:spcPts val="300"/>
                </a:spcAft>
              </a:pPr>
              <a:r>
                <a:rPr sz="1600">
                  <a:solidFill>
                    <a:srgbClr val="004F9F"/>
                  </a:solidFill>
                  <a:latin typeface="에이투지체 8 ExtraBold"/>
                  <a:ea typeface="에이투지체 8 ExtraBold"/>
                </a:rPr>
                <a:t>키성장 FGO</a:t>
              </a:r>
            </a:p>
            <a:p>
              <a:pPr algn="ctr">
                <a:spcAft>
                  <a:spcPts val="300"/>
                </a:spcAft>
              </a:pPr>
              <a:r>
                <a:rPr sz="1050">
                  <a:solidFill>
                    <a:srgbClr val="5C5C5C"/>
                  </a:solidFill>
                  <a:latin typeface="에이투지체 5 Medium"/>
                  <a:ea typeface="에이투지체 5 Medium"/>
                </a:rPr>
                <a:t>구매 수요의 입구</a:t>
              </a:r>
            </a:p>
          </p:txBody>
        </p:sp>
        <p:sp>
          <p:nvSpPr>
            <p:cNvPr id="9" name="Rectangle 9">
              <a:extLst>
                <a:ext uri="{FF2B5EF4-FFF2-40B4-BE49-F238E27FC236}">
                  <a16:creationId xmlns:a16="http://schemas.microsoft.com/office/drawing/2014/main" id="{1033774D-C185-8AC0-962D-E64533414666}"/>
                </a:ext>
              </a:extLst>
            </p:cNvPr>
            <p:cNvSpPr/>
            <p:nvPr/>
          </p:nvSpPr>
          <p:spPr>
            <a:xfrm>
              <a:off x="4160520" y="2057400"/>
              <a:ext cx="3154680" cy="1234440"/>
            </a:xfrm>
            <a:prstGeom prst="roundRect">
              <a:avLst>
                <a:gd name="adj" fmla="val 592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7EB3908B-CC74-FA26-0FA0-FE88395AD820}"/>
                </a:ext>
              </a:extLst>
            </p:cNvPr>
            <p:cNvSpPr txBox="1"/>
            <p:nvPr/>
          </p:nvSpPr>
          <p:spPr>
            <a:xfrm>
              <a:off x="4160520" y="2057400"/>
              <a:ext cx="3154680" cy="1234440"/>
            </a:xfrm>
            <a:prstGeom prst="rect">
              <a:avLst/>
            </a:prstGeom>
            <a:noFill/>
          </p:spPr>
          <p:txBody>
            <a:bodyPr wrap="square" lIns="0" tIns="0" rIns="0" bIns="0" anchor="ctr">
              <a:spAutoFit/>
            </a:bodyPr>
            <a:lstStyle/>
            <a:p>
              <a:pPr algn="ctr">
                <a:spcAft>
                  <a:spcPts val="300"/>
                </a:spcAft>
              </a:pPr>
              <a:r>
                <a:rPr sz="1600">
                  <a:solidFill>
                    <a:srgbClr val="222222"/>
                  </a:solidFill>
                  <a:latin typeface="에이투지체 8 ExtraBold"/>
                  <a:ea typeface="에이투지체 8 ExtraBold"/>
                </a:rPr>
                <a:t>단계별 영양제</a:t>
              </a:r>
            </a:p>
            <a:p>
              <a:pPr algn="ctr">
                <a:spcAft>
                  <a:spcPts val="300"/>
                </a:spcAft>
              </a:pPr>
              <a:r>
                <a:rPr sz="1050">
                  <a:solidFill>
                    <a:srgbClr val="5C5C5C"/>
                  </a:solidFill>
                  <a:latin typeface="에이투지체 5 Medium"/>
                  <a:ea typeface="에이투지체 5 Medium"/>
                </a:rPr>
                <a:t>칼마디 · 멀티비타민 · 철분 · 유산균</a:t>
              </a:r>
            </a:p>
          </p:txBody>
        </p:sp>
        <p:sp>
          <p:nvSpPr>
            <p:cNvPr id="11" name="Rectangle 11">
              <a:extLst>
                <a:ext uri="{FF2B5EF4-FFF2-40B4-BE49-F238E27FC236}">
                  <a16:creationId xmlns:a16="http://schemas.microsoft.com/office/drawing/2014/main" id="{85FAF8AE-0855-3FA0-0BCB-6685C5A11F40}"/>
                </a:ext>
              </a:extLst>
            </p:cNvPr>
            <p:cNvSpPr/>
            <p:nvPr/>
          </p:nvSpPr>
          <p:spPr>
            <a:xfrm>
              <a:off x="7772400" y="2057400"/>
              <a:ext cx="3840480" cy="1234440"/>
            </a:xfrm>
            <a:prstGeom prst="roundRect">
              <a:avLst>
                <a:gd name="adj" fmla="val 5925"/>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66AF25C7-FB9E-F9A0-0B45-6FD6DC9EC0CE}"/>
                </a:ext>
              </a:extLst>
            </p:cNvPr>
            <p:cNvSpPr txBox="1"/>
            <p:nvPr/>
          </p:nvSpPr>
          <p:spPr>
            <a:xfrm>
              <a:off x="7772400" y="2057400"/>
              <a:ext cx="3840480" cy="1234440"/>
            </a:xfrm>
            <a:prstGeom prst="rect">
              <a:avLst/>
            </a:prstGeom>
            <a:noFill/>
          </p:spPr>
          <p:txBody>
            <a:bodyPr wrap="square" lIns="0" tIns="0" rIns="0" bIns="0" anchor="ctr">
              <a:spAutoFit/>
            </a:bodyPr>
            <a:lstStyle/>
            <a:p>
              <a:pPr algn="ctr">
                <a:spcAft>
                  <a:spcPts val="300"/>
                </a:spcAft>
              </a:pPr>
              <a:r>
                <a:rPr sz="1600">
                  <a:solidFill>
                    <a:srgbClr val="FFFFFF"/>
                  </a:solidFill>
                  <a:latin typeface="에이투지체 8 ExtraBold"/>
                  <a:ea typeface="에이투지체 8 ExtraBold"/>
                </a:rPr>
                <a:t>브랜드스토어 전용 패키지</a:t>
              </a:r>
            </a:p>
            <a:p>
              <a:pPr algn="ctr">
                <a:spcAft>
                  <a:spcPts val="300"/>
                </a:spcAft>
              </a:pPr>
              <a:r>
                <a:rPr sz="1050">
                  <a:solidFill>
                    <a:srgbClr val="6FB0E8"/>
                  </a:solidFill>
                  <a:latin typeface="에이투지체 5 Medium"/>
                  <a:ea typeface="에이투지체 5 Medium"/>
                </a:rPr>
                <a:t>브랜드스토어에서 사야 하는 이유</a:t>
              </a:r>
            </a:p>
          </p:txBody>
        </p:sp>
        <p:sp>
          <p:nvSpPr>
            <p:cNvPr id="13" name="TextBox 12">
              <a:extLst>
                <a:ext uri="{FF2B5EF4-FFF2-40B4-BE49-F238E27FC236}">
                  <a16:creationId xmlns:a16="http://schemas.microsoft.com/office/drawing/2014/main" id="{3802CB8F-334B-41CF-4CA6-D04F37179584}"/>
                </a:ext>
              </a:extLst>
            </p:cNvPr>
            <p:cNvSpPr txBox="1"/>
            <p:nvPr/>
          </p:nvSpPr>
          <p:spPr>
            <a:xfrm>
              <a:off x="3703320" y="2331720"/>
              <a:ext cx="457200" cy="640080"/>
            </a:xfrm>
            <a:prstGeom prst="rect">
              <a:avLst/>
            </a:prstGeom>
            <a:noFill/>
          </p:spPr>
          <p:txBody>
            <a:bodyPr wrap="square" lIns="0" tIns="0" rIns="0" bIns="0" anchor="ctr">
              <a:spAutoFit/>
            </a:bodyPr>
            <a:lstStyle/>
            <a:p>
              <a:pPr algn="ctr">
                <a:spcAft>
                  <a:spcPts val="400"/>
                </a:spcAft>
              </a:pPr>
              <a:r>
                <a:rPr sz="2600">
                  <a:solidFill>
                    <a:srgbClr val="004F9F"/>
                  </a:solidFill>
                  <a:latin typeface="에이투지체 8 ExtraBold"/>
                  <a:ea typeface="에이투지체 8 ExtraBold"/>
                </a:rPr>
                <a:t>+</a:t>
              </a:r>
            </a:p>
          </p:txBody>
        </p:sp>
        <p:sp>
          <p:nvSpPr>
            <p:cNvPr id="14" name="TextBox 13">
              <a:extLst>
                <a:ext uri="{FF2B5EF4-FFF2-40B4-BE49-F238E27FC236}">
                  <a16:creationId xmlns:a16="http://schemas.microsoft.com/office/drawing/2014/main" id="{EED52F59-74AB-475A-CC22-1D358C95B0CB}"/>
                </a:ext>
              </a:extLst>
            </p:cNvPr>
            <p:cNvSpPr txBox="1"/>
            <p:nvPr/>
          </p:nvSpPr>
          <p:spPr>
            <a:xfrm>
              <a:off x="7315200" y="2331720"/>
              <a:ext cx="457200" cy="640080"/>
            </a:xfrm>
            <a:prstGeom prst="rect">
              <a:avLst/>
            </a:prstGeom>
            <a:noFill/>
          </p:spPr>
          <p:txBody>
            <a:bodyPr wrap="square" lIns="0" tIns="0" rIns="0" bIns="0" anchor="ctr">
              <a:spAutoFit/>
            </a:bodyPr>
            <a:lstStyle/>
            <a:p>
              <a:pPr algn="ctr">
                <a:spcAft>
                  <a:spcPts val="400"/>
                </a:spcAft>
              </a:pPr>
              <a:r>
                <a:rPr sz="2600">
                  <a:solidFill>
                    <a:srgbClr val="004F9F"/>
                  </a:solidFill>
                  <a:latin typeface="에이투지체 8 ExtraBold"/>
                  <a:ea typeface="에이투지체 8 ExtraBold"/>
                </a:rPr>
                <a:t>=</a:t>
              </a:r>
            </a:p>
          </p:txBody>
        </p:sp>
        <p:sp>
          <p:nvSpPr>
            <p:cNvPr id="15" name="TextBox 14">
              <a:extLst>
                <a:ext uri="{FF2B5EF4-FFF2-40B4-BE49-F238E27FC236}">
                  <a16:creationId xmlns:a16="http://schemas.microsoft.com/office/drawing/2014/main" id="{BF19D933-95DC-034C-7536-2832C664571C}"/>
                </a:ext>
              </a:extLst>
            </p:cNvPr>
            <p:cNvSpPr txBox="1"/>
            <p:nvPr/>
          </p:nvSpPr>
          <p:spPr>
            <a:xfrm>
              <a:off x="548640" y="3520440"/>
              <a:ext cx="5486400" cy="274320"/>
            </a:xfrm>
            <a:prstGeom prst="rect">
              <a:avLst/>
            </a:prstGeom>
            <a:noFill/>
          </p:spPr>
          <p:txBody>
            <a:bodyPr wrap="square" lIns="0" tIns="0" rIns="0" bIns="0" anchor="t">
              <a:spAutoFit/>
            </a:bodyPr>
            <a:lstStyle/>
            <a:p>
              <a:pPr algn="l">
                <a:spcAft>
                  <a:spcPts val="400"/>
                </a:spcAft>
              </a:pPr>
              <a:r>
                <a:rPr sz="1100">
                  <a:solidFill>
                    <a:srgbClr val="004F9F"/>
                  </a:solidFill>
                  <a:latin typeface="에이투지체 8 ExtraBold"/>
                  <a:ea typeface="에이투지체 8 ExtraBold"/>
                </a:rPr>
                <a:t>패키지 구성 예시</a:t>
              </a:r>
            </a:p>
          </p:txBody>
        </p:sp>
        <p:sp>
          <p:nvSpPr>
            <p:cNvPr id="16" name="Rectangle 16">
              <a:extLst>
                <a:ext uri="{FF2B5EF4-FFF2-40B4-BE49-F238E27FC236}">
                  <a16:creationId xmlns:a16="http://schemas.microsoft.com/office/drawing/2014/main" id="{89B03BBC-452C-89E9-4684-A04DDF357243}"/>
                </a:ext>
              </a:extLst>
            </p:cNvPr>
            <p:cNvSpPr/>
            <p:nvPr/>
          </p:nvSpPr>
          <p:spPr>
            <a:xfrm>
              <a:off x="548640" y="3840480"/>
              <a:ext cx="3566160" cy="1325880"/>
            </a:xfrm>
            <a:prstGeom prst="roundRect">
              <a:avLst>
                <a:gd name="adj" fmla="val 5517"/>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a:extLst>
                <a:ext uri="{FF2B5EF4-FFF2-40B4-BE49-F238E27FC236}">
                  <a16:creationId xmlns:a16="http://schemas.microsoft.com/office/drawing/2014/main" id="{290747A4-16DC-2029-EA38-1B125B19B9FA}"/>
                </a:ext>
              </a:extLst>
            </p:cNvPr>
            <p:cNvSpPr txBox="1"/>
            <p:nvPr/>
          </p:nvSpPr>
          <p:spPr>
            <a:xfrm>
              <a:off x="777240" y="3959352"/>
              <a:ext cx="3108960" cy="1143000"/>
            </a:xfrm>
            <a:prstGeom prst="rect">
              <a:avLst/>
            </a:prstGeom>
            <a:noFill/>
          </p:spPr>
          <p:txBody>
            <a:bodyPr wrap="square" lIns="0" tIns="0" rIns="0" bIns="0" anchor="t">
              <a:spAutoFit/>
            </a:bodyPr>
            <a:lstStyle/>
            <a:p>
              <a:pPr algn="l">
                <a:spcAft>
                  <a:spcPts val="300"/>
                </a:spcAft>
              </a:pPr>
              <a:r>
                <a:rPr sz="1350">
                  <a:solidFill>
                    <a:srgbClr val="222222"/>
                  </a:solidFill>
                  <a:latin typeface="에이투지체 8 ExtraBold"/>
                  <a:ea typeface="에이투지체 8 ExtraBold"/>
                </a:rPr>
                <a:t>성장기 진입 패키지</a:t>
              </a:r>
            </a:p>
            <a:p>
              <a:pPr algn="l">
                <a:spcAft>
                  <a:spcPts val="300"/>
                </a:spcAft>
              </a:pPr>
              <a:r>
                <a:rPr sz="1100">
                  <a:solidFill>
                    <a:srgbClr val="5C5C5C"/>
                  </a:solidFill>
                  <a:latin typeface="에이투지체 4 Regular"/>
                  <a:ea typeface="에이투지체 4 Regular"/>
                </a:rPr>
                <a:t>키성장 FGO + 츄어블 칼마디</a:t>
              </a:r>
            </a:p>
            <a:p>
              <a:pPr algn="l">
                <a:spcAft>
                  <a:spcPts val="300"/>
                </a:spcAft>
              </a:pPr>
              <a:r>
                <a:rPr sz="1100">
                  <a:solidFill>
                    <a:srgbClr val="5C5C5C"/>
                  </a:solidFill>
                  <a:latin typeface="에이투지체 4 Regular"/>
                  <a:ea typeface="에이투지체 4 Regular"/>
                </a:rPr>
                <a:t>+ 멀티비타민 밸런스</a:t>
              </a:r>
            </a:p>
          </p:txBody>
        </p:sp>
        <p:sp>
          <p:nvSpPr>
            <p:cNvPr id="62" name="Rectangle 18">
              <a:extLst>
                <a:ext uri="{FF2B5EF4-FFF2-40B4-BE49-F238E27FC236}">
                  <a16:creationId xmlns:a16="http://schemas.microsoft.com/office/drawing/2014/main" id="{5B8A310B-1E63-7CD2-D4AE-C5E2B065EC68}"/>
                </a:ext>
              </a:extLst>
            </p:cNvPr>
            <p:cNvSpPr/>
            <p:nvPr/>
          </p:nvSpPr>
          <p:spPr>
            <a:xfrm>
              <a:off x="4297679" y="3840480"/>
              <a:ext cx="3566160" cy="1325880"/>
            </a:xfrm>
            <a:prstGeom prst="roundRect">
              <a:avLst>
                <a:gd name="adj" fmla="val 5517"/>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a:extLst>
                <a:ext uri="{FF2B5EF4-FFF2-40B4-BE49-F238E27FC236}">
                  <a16:creationId xmlns:a16="http://schemas.microsoft.com/office/drawing/2014/main" id="{581E31C1-BF1C-589E-7E1E-6D6DE91620EA}"/>
                </a:ext>
              </a:extLst>
            </p:cNvPr>
            <p:cNvSpPr txBox="1"/>
            <p:nvPr/>
          </p:nvSpPr>
          <p:spPr>
            <a:xfrm>
              <a:off x="4526279" y="3959352"/>
              <a:ext cx="3108960" cy="1143000"/>
            </a:xfrm>
            <a:prstGeom prst="rect">
              <a:avLst/>
            </a:prstGeom>
            <a:noFill/>
          </p:spPr>
          <p:txBody>
            <a:bodyPr wrap="square" lIns="0" tIns="0" rIns="0" bIns="0" anchor="t">
              <a:spAutoFit/>
            </a:bodyPr>
            <a:lstStyle/>
            <a:p>
              <a:pPr algn="l">
                <a:spcAft>
                  <a:spcPts val="300"/>
                </a:spcAft>
              </a:pPr>
              <a:r>
                <a:rPr sz="1350">
                  <a:solidFill>
                    <a:srgbClr val="222222"/>
                  </a:solidFill>
                  <a:latin typeface="에이투지체 8 ExtraBold"/>
                  <a:ea typeface="에이투지체 8 ExtraBold"/>
                </a:rPr>
                <a:t>초등 패키지</a:t>
              </a:r>
            </a:p>
            <a:p>
              <a:pPr algn="l">
                <a:spcAft>
                  <a:spcPts val="300"/>
                </a:spcAft>
              </a:pPr>
              <a:r>
                <a:rPr sz="1100">
                  <a:solidFill>
                    <a:srgbClr val="5C5C5C"/>
                  </a:solidFill>
                  <a:latin typeface="에이투지체 4 Regular"/>
                  <a:ea typeface="에이투지체 4 Regular"/>
                </a:rPr>
                <a:t>키성장 FGO + 츄어블 칼마디</a:t>
              </a:r>
            </a:p>
            <a:p>
              <a:pPr algn="l">
                <a:spcAft>
                  <a:spcPts val="300"/>
                </a:spcAft>
              </a:pPr>
              <a:r>
                <a:rPr sz="1100">
                  <a:solidFill>
                    <a:srgbClr val="5C5C5C"/>
                  </a:solidFill>
                  <a:latin typeface="에이투지체 4 Regular"/>
                  <a:ea typeface="에이투지체 4 Regular"/>
                </a:rPr>
                <a:t>+ 츄어블 철분</a:t>
              </a:r>
            </a:p>
          </p:txBody>
        </p:sp>
        <p:sp>
          <p:nvSpPr>
            <p:cNvPr id="64" name="Rectangle 20">
              <a:extLst>
                <a:ext uri="{FF2B5EF4-FFF2-40B4-BE49-F238E27FC236}">
                  <a16:creationId xmlns:a16="http://schemas.microsoft.com/office/drawing/2014/main" id="{BABCBD1C-F4BD-4663-D5C3-14D63712B278}"/>
                </a:ext>
              </a:extLst>
            </p:cNvPr>
            <p:cNvSpPr/>
            <p:nvPr/>
          </p:nvSpPr>
          <p:spPr>
            <a:xfrm>
              <a:off x="8046719" y="3840480"/>
              <a:ext cx="3566160" cy="1325880"/>
            </a:xfrm>
            <a:prstGeom prst="roundRect">
              <a:avLst>
                <a:gd name="adj" fmla="val 5517"/>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a:extLst>
                <a:ext uri="{FF2B5EF4-FFF2-40B4-BE49-F238E27FC236}">
                  <a16:creationId xmlns:a16="http://schemas.microsoft.com/office/drawing/2014/main" id="{4039D437-1E06-7585-9CE5-524BE61BAFBC}"/>
                </a:ext>
              </a:extLst>
            </p:cNvPr>
            <p:cNvSpPr txBox="1"/>
            <p:nvPr/>
          </p:nvSpPr>
          <p:spPr>
            <a:xfrm>
              <a:off x="8275319" y="3959352"/>
              <a:ext cx="3108960" cy="1143000"/>
            </a:xfrm>
            <a:prstGeom prst="rect">
              <a:avLst/>
            </a:prstGeom>
            <a:noFill/>
          </p:spPr>
          <p:txBody>
            <a:bodyPr wrap="square" lIns="0" tIns="0" rIns="0" bIns="0" anchor="t">
              <a:spAutoFit/>
            </a:bodyPr>
            <a:lstStyle/>
            <a:p>
              <a:pPr algn="l">
                <a:spcAft>
                  <a:spcPts val="300"/>
                </a:spcAft>
              </a:pPr>
              <a:r>
                <a:rPr sz="1350">
                  <a:solidFill>
                    <a:srgbClr val="222222"/>
                  </a:solidFill>
                  <a:latin typeface="에이투지체 8 ExtraBold"/>
                  <a:ea typeface="에이투지체 8 ExtraBold"/>
                </a:rPr>
                <a:t>청소년 패키지</a:t>
              </a:r>
            </a:p>
            <a:p>
              <a:pPr algn="l">
                <a:spcAft>
                  <a:spcPts val="300"/>
                </a:spcAft>
              </a:pPr>
              <a:r>
                <a:rPr sz="1100">
                  <a:solidFill>
                    <a:srgbClr val="5C5C5C"/>
                  </a:solidFill>
                  <a:latin typeface="에이투지체 4 Regular"/>
                  <a:ea typeface="에이투지체 4 Regular"/>
                </a:rPr>
                <a:t>키성장 FGO</a:t>
              </a:r>
            </a:p>
            <a:p>
              <a:pPr algn="l">
                <a:spcAft>
                  <a:spcPts val="300"/>
                </a:spcAft>
              </a:pPr>
              <a:r>
                <a:rPr sz="1100">
                  <a:solidFill>
                    <a:srgbClr val="5C5C5C"/>
                  </a:solidFill>
                  <a:latin typeface="에이투지체 4 Regular"/>
                  <a:ea typeface="에이투지체 4 Regular"/>
                </a:rPr>
                <a:t>+ 프로바이오키드 캡슐</a:t>
              </a:r>
            </a:p>
          </p:txBody>
        </p:sp>
      </p:grpSp>
      <p:sp>
        <p:nvSpPr>
          <p:cNvPr id="3" name="직사각형 2">
            <a:extLst>
              <a:ext uri="{FF2B5EF4-FFF2-40B4-BE49-F238E27FC236}">
                <a16:creationId xmlns:a16="http://schemas.microsoft.com/office/drawing/2014/main" id="{A859CFEE-6324-3249-EA79-D26F632DCFDB}"/>
              </a:ext>
            </a:extLst>
          </p:cNvPr>
          <p:cNvSpPr/>
          <p:nvPr/>
        </p:nvSpPr>
        <p:spPr>
          <a:xfrm>
            <a:off x="418011" y="658368"/>
            <a:ext cx="6444343" cy="132588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0764457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3" name="TextBox 2"/>
          <p:cNvSpPr txBox="1"/>
          <p:nvPr/>
        </p:nvSpPr>
        <p:spPr>
          <a:xfrm>
            <a:off x="548640" y="658368"/>
            <a:ext cx="11064240" cy="868680"/>
          </a:xfrm>
          <a:prstGeom prst="rect">
            <a:avLst/>
          </a:prstGeom>
          <a:noFill/>
        </p:spPr>
        <p:txBody>
          <a:bodyPr wrap="square" lIns="0" tIns="0" rIns="0" bIns="0" anchor="ct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키성장 경쟁 환경 ①</a:t>
            </a:r>
            <a:r>
              <a:rPr lang="ko-KR" sz="1900" dirty="0">
                <a:solidFill>
                  <a:srgbClr val="222222"/>
                </a:solidFill>
                <a:latin typeface="에이투지체 8 ExtraBold"/>
                <a:ea typeface="에이투지체 8 ExtraBold"/>
                <a:cs typeface="에이투지체 8 ExtraBold"/>
              </a:rPr>
              <a:t>  종근당 아이커</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성분 설명에 최저가 · 증정 혜택을 더해 소구합니다</a:t>
            </a:r>
            <a:endParaRPr lang="ko-KR" sz="1900" dirty="0"/>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0"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17</a:t>
            </a:r>
          </a:p>
        </p:txBody>
      </p:sp>
      <p:pic>
        <p:nvPicPr>
          <p:cNvPr id="12" name="그림 11">
            <a:extLst>
              <a:ext uri="{FF2B5EF4-FFF2-40B4-BE49-F238E27FC236}">
                <a16:creationId xmlns:a16="http://schemas.microsoft.com/office/drawing/2014/main" id="{50E3E8D8-0E02-E434-1CCC-722FE261C6F0}"/>
              </a:ext>
            </a:extLst>
          </p:cNvPr>
          <p:cNvPicPr>
            <a:picLocks noChangeAspect="1"/>
          </p:cNvPicPr>
          <p:nvPr/>
        </p:nvPicPr>
        <p:blipFill>
          <a:blip r:embed="rId2"/>
          <a:stretch>
            <a:fillRect/>
          </a:stretch>
        </p:blipFill>
        <p:spPr>
          <a:xfrm>
            <a:off x="594359" y="2446020"/>
            <a:ext cx="2606040" cy="2606040"/>
          </a:xfrm>
          <a:prstGeom prst="rect">
            <a:avLst/>
          </a:prstGeom>
        </p:spPr>
      </p:pic>
      <p:pic>
        <p:nvPicPr>
          <p:cNvPr id="17" name="그림 16">
            <a:extLst>
              <a:ext uri="{FF2B5EF4-FFF2-40B4-BE49-F238E27FC236}">
                <a16:creationId xmlns:a16="http://schemas.microsoft.com/office/drawing/2014/main" id="{8039834B-C195-F883-1C8E-82C1AE1B509F}"/>
              </a:ext>
            </a:extLst>
          </p:cNvPr>
          <p:cNvPicPr>
            <a:picLocks noChangeAspect="1"/>
          </p:cNvPicPr>
          <p:nvPr/>
        </p:nvPicPr>
        <p:blipFill>
          <a:blip r:embed="rId3"/>
          <a:stretch>
            <a:fillRect/>
          </a:stretch>
        </p:blipFill>
        <p:spPr>
          <a:xfrm>
            <a:off x="3383280" y="2446020"/>
            <a:ext cx="2606040" cy="2606040"/>
          </a:xfrm>
          <a:prstGeom prst="rect">
            <a:avLst/>
          </a:prstGeom>
        </p:spPr>
      </p:pic>
      <p:pic>
        <p:nvPicPr>
          <p:cNvPr id="19" name="그림 18">
            <a:extLst>
              <a:ext uri="{FF2B5EF4-FFF2-40B4-BE49-F238E27FC236}">
                <a16:creationId xmlns:a16="http://schemas.microsoft.com/office/drawing/2014/main" id="{9C9C48F1-79C8-0FB9-33ED-997E9FFE04CF}"/>
              </a:ext>
            </a:extLst>
          </p:cNvPr>
          <p:cNvPicPr>
            <a:picLocks noChangeAspect="1"/>
          </p:cNvPicPr>
          <p:nvPr/>
        </p:nvPicPr>
        <p:blipFill>
          <a:blip r:embed="rId4"/>
          <a:stretch>
            <a:fillRect/>
          </a:stretch>
        </p:blipFill>
        <p:spPr>
          <a:xfrm>
            <a:off x="6548018" y="2103120"/>
            <a:ext cx="1854402" cy="3291840"/>
          </a:xfrm>
          <a:prstGeom prst="rect">
            <a:avLst/>
          </a:prstGeom>
        </p:spPr>
      </p:pic>
      <p:pic>
        <p:nvPicPr>
          <p:cNvPr id="21" name="그림 20">
            <a:extLst>
              <a:ext uri="{FF2B5EF4-FFF2-40B4-BE49-F238E27FC236}">
                <a16:creationId xmlns:a16="http://schemas.microsoft.com/office/drawing/2014/main" id="{7C4C0EFA-D0D2-19E7-05B4-43D393639069}"/>
              </a:ext>
            </a:extLst>
          </p:cNvPr>
          <p:cNvPicPr>
            <a:picLocks noChangeAspect="1"/>
          </p:cNvPicPr>
          <p:nvPr/>
        </p:nvPicPr>
        <p:blipFill>
          <a:blip r:embed="rId5"/>
          <a:stretch>
            <a:fillRect/>
          </a:stretch>
        </p:blipFill>
        <p:spPr>
          <a:xfrm>
            <a:off x="8961120" y="2446020"/>
            <a:ext cx="2606040" cy="2606040"/>
          </a:xfrm>
          <a:prstGeom prst="rect">
            <a:avLst/>
          </a:prstGeom>
        </p:spPr>
      </p:pic>
      <p:sp>
        <p:nvSpPr>
          <p:cNvPr id="23" name="TextBox 22"/>
          <p:cNvSpPr txBox="1"/>
          <p:nvPr/>
        </p:nvSpPr>
        <p:spPr>
          <a:xfrm>
            <a:off x="548640" y="1517904"/>
            <a:ext cx="11064240" cy="365760"/>
          </a:xfrm>
          <a:prstGeom prst="rect">
            <a:avLst/>
          </a:prstGeom>
          <a:noFill/>
        </p:spPr>
        <p:txBody>
          <a:bodyPr wrap="square" lIns="0" tIns="0" rIns="0" bIns="0" anchor="ctr"/>
          <a:lstStyle/>
          <a:p>
            <a:pPr marL="0" indent="0">
              <a:buNone/>
            </a:pPr>
            <a:r>
              <a:rPr lang="ko-KR" sz="1100" dirty="0">
                <a:solidFill>
                  <a:srgbClr val="5C5C5C"/>
                </a:solidFill>
                <a:latin typeface="에이투지체 5 Medium"/>
                <a:ea typeface="에이투지체 5 Medium"/>
                <a:cs typeface="에이투지체 5 Medium"/>
              </a:rPr>
              <a:t>종근당 아이커</a:t>
            </a:r>
            <a:endParaRPr lang="ko-KR" sz="1100" dirty="0"/>
          </a:p>
        </p:txBody>
      </p:sp>
      <p:sp>
        <p:nvSpPr>
          <p:cNvPr id="24" name="node-23">
            <a:extLst>
              <a:ext uri="{FF2B5EF4-FFF2-40B4-BE49-F238E27FC236}">
                <a16:creationId xmlns:a16="http://schemas.microsoft.com/office/drawing/2014/main" id="{291C5A9D-2ED5-4D2A-B33E-ABB1B78DB0BD}"/>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25" name="text-24">
            <a:extLst>
              <a:ext uri="{FF2B5EF4-FFF2-40B4-BE49-F238E27FC236}">
                <a16:creationId xmlns:a16="http://schemas.microsoft.com/office/drawing/2014/main" id="{53BE8847-B6EB-4B9D-BAB3-F894DCEAE798}"/>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defRPr sz="1358">
                <a:solidFill>
                  <a:srgbClr val="FFFFFF"/>
                </a:solidFill>
                <a:latin typeface="에이투지체 6 SemiBold"/>
                <a:ea typeface="에이투지체 6 SemiBold"/>
                <a:cs typeface="에이투지체 6 SemiBold"/>
              </a:defRPr>
            </a:pPr>
            <a:r>
              <a:rPr lang="ko-KR" altLang="en-US" sz="1358" dirty="0">
                <a:solidFill>
                  <a:srgbClr val="004F9F"/>
                </a:solidFill>
                <a:latin typeface="에이투지체 6 SemiBold"/>
                <a:ea typeface="에이투지체 6 SemiBold"/>
                <a:cs typeface="에이투지체 6 SemiBold"/>
              </a:rPr>
              <a:t>성분 설명과 가격 혜택을 한 소재에 함께 담아, 정보와 구매 이유를 동시에 전달합니다</a:t>
            </a:r>
            <a:endParaRPr sz="1358" dirty="0">
              <a:solidFill>
                <a:srgbClr val="FFFFFF"/>
              </a:solidFill>
              <a:latin typeface="에이투지체 6 SemiBold"/>
              <a:ea typeface="에이투지체 6 SemiBold"/>
              <a:cs typeface="에이투지체 6 SemiBo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B44D52-6EAB-DA4A-F6DB-5482660D46E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133CEF2-77C0-0432-B566-EE1F1B4A53B3}"/>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3" name="TextBox 2">
            <a:extLst>
              <a:ext uri="{FF2B5EF4-FFF2-40B4-BE49-F238E27FC236}">
                <a16:creationId xmlns:a16="http://schemas.microsoft.com/office/drawing/2014/main" id="{0091ADD0-DF94-B1A7-1708-FE83E6879298}"/>
              </a:ext>
            </a:extLst>
          </p:cNvPr>
          <p:cNvSpPr txBox="1"/>
          <p:nvPr/>
        </p:nvSpPr>
        <p:spPr>
          <a:xfrm>
            <a:off x="548640" y="658368"/>
            <a:ext cx="11064240" cy="868680"/>
          </a:xfrm>
          <a:prstGeom prst="rect">
            <a:avLst/>
          </a:prstGeom>
          <a:noFill/>
        </p:spPr>
        <p:txBody>
          <a:bodyPr wrap="square" lIns="0" tIns="0" rIns="0" bIns="0" anchor="ct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키성장 경쟁 환경 ②</a:t>
            </a:r>
            <a:r>
              <a:rPr lang="ko-KR" sz="1900" dirty="0">
                <a:solidFill>
                  <a:srgbClr val="222222"/>
                </a:solidFill>
                <a:latin typeface="에이투지체 8 ExtraBold"/>
                <a:ea typeface="에이투지체 8 ExtraBold"/>
                <a:cs typeface="에이투지체 8 ExtraBold"/>
              </a:rPr>
              <a:t>  종근당 아이커</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부모의 기대 심리에 공식몰 단독 혜택을 붙여 소구합니다</a:t>
            </a:r>
            <a:endParaRPr lang="ko-KR" sz="1900" dirty="0"/>
          </a:p>
        </p:txBody>
      </p:sp>
      <p:sp>
        <p:nvSpPr>
          <p:cNvPr id="8" name="TextBox 7">
            <a:extLst>
              <a:ext uri="{FF2B5EF4-FFF2-40B4-BE49-F238E27FC236}">
                <a16:creationId xmlns:a16="http://schemas.microsoft.com/office/drawing/2014/main" id="{025F4496-AB8D-AB12-2406-EEB574199DA2}"/>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9" name="TextBox 8">
            <a:extLst>
              <a:ext uri="{FF2B5EF4-FFF2-40B4-BE49-F238E27FC236}">
                <a16:creationId xmlns:a16="http://schemas.microsoft.com/office/drawing/2014/main" id="{F81B3010-7096-6436-EF78-11D52331A2AC}"/>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0" name="PGNO">
            <a:extLst>
              <a:ext uri="{FF2B5EF4-FFF2-40B4-BE49-F238E27FC236}">
                <a16:creationId xmlns:a16="http://schemas.microsoft.com/office/drawing/2014/main" id="{0262DF60-6754-3157-92C6-53E105690957}"/>
              </a:ext>
            </a:extLst>
          </p:cNvPr>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18</a:t>
            </a:r>
          </a:p>
        </p:txBody>
      </p:sp>
      <p:pic>
        <p:nvPicPr>
          <p:cNvPr id="4" name="그림 3">
            <a:extLst>
              <a:ext uri="{FF2B5EF4-FFF2-40B4-BE49-F238E27FC236}">
                <a16:creationId xmlns:a16="http://schemas.microsoft.com/office/drawing/2014/main" id="{5F0770C1-1E54-9517-9B1A-BBAD9452F4B2}"/>
              </a:ext>
            </a:extLst>
          </p:cNvPr>
          <p:cNvPicPr>
            <a:picLocks noChangeAspect="1"/>
          </p:cNvPicPr>
          <p:nvPr/>
        </p:nvPicPr>
        <p:blipFill>
          <a:blip r:embed="rId2"/>
          <a:stretch>
            <a:fillRect/>
          </a:stretch>
        </p:blipFill>
        <p:spPr>
          <a:xfrm>
            <a:off x="594359" y="2446020"/>
            <a:ext cx="2606040" cy="2606040"/>
          </a:xfrm>
          <a:prstGeom prst="rect">
            <a:avLst/>
          </a:prstGeom>
        </p:spPr>
      </p:pic>
      <p:pic>
        <p:nvPicPr>
          <p:cNvPr id="5" name="그림 4">
            <a:extLst>
              <a:ext uri="{FF2B5EF4-FFF2-40B4-BE49-F238E27FC236}">
                <a16:creationId xmlns:a16="http://schemas.microsoft.com/office/drawing/2014/main" id="{ABD9451B-3FDB-EFE2-099E-C1973B6E1F24}"/>
              </a:ext>
            </a:extLst>
          </p:cNvPr>
          <p:cNvPicPr>
            <a:picLocks noChangeAspect="1"/>
          </p:cNvPicPr>
          <p:nvPr/>
        </p:nvPicPr>
        <p:blipFill>
          <a:blip r:embed="rId3"/>
          <a:stretch>
            <a:fillRect/>
          </a:stretch>
        </p:blipFill>
        <p:spPr>
          <a:xfrm>
            <a:off x="3383280" y="2446020"/>
            <a:ext cx="2606039" cy="2606039"/>
          </a:xfrm>
          <a:prstGeom prst="rect">
            <a:avLst/>
          </a:prstGeom>
        </p:spPr>
      </p:pic>
      <p:pic>
        <p:nvPicPr>
          <p:cNvPr id="11" name="그림 10">
            <a:extLst>
              <a:ext uri="{FF2B5EF4-FFF2-40B4-BE49-F238E27FC236}">
                <a16:creationId xmlns:a16="http://schemas.microsoft.com/office/drawing/2014/main" id="{461CCF49-4F3E-19FC-6E10-F081C90F20DB}"/>
              </a:ext>
            </a:extLst>
          </p:cNvPr>
          <p:cNvPicPr>
            <a:picLocks noChangeAspect="1"/>
          </p:cNvPicPr>
          <p:nvPr/>
        </p:nvPicPr>
        <p:blipFill>
          <a:blip r:embed="rId4"/>
          <a:stretch>
            <a:fillRect/>
          </a:stretch>
        </p:blipFill>
        <p:spPr>
          <a:xfrm>
            <a:off x="6172200" y="2446020"/>
            <a:ext cx="2606040" cy="2606040"/>
          </a:xfrm>
          <a:prstGeom prst="rect">
            <a:avLst/>
          </a:prstGeom>
        </p:spPr>
      </p:pic>
      <p:pic>
        <p:nvPicPr>
          <p:cNvPr id="13" name="그림 12">
            <a:extLst>
              <a:ext uri="{FF2B5EF4-FFF2-40B4-BE49-F238E27FC236}">
                <a16:creationId xmlns:a16="http://schemas.microsoft.com/office/drawing/2014/main" id="{7867F685-9965-5063-EA75-219089A377CB}"/>
              </a:ext>
            </a:extLst>
          </p:cNvPr>
          <p:cNvPicPr>
            <a:picLocks noChangeAspect="1"/>
          </p:cNvPicPr>
          <p:nvPr/>
        </p:nvPicPr>
        <p:blipFill>
          <a:blip r:embed="rId5"/>
          <a:stretch>
            <a:fillRect/>
          </a:stretch>
        </p:blipFill>
        <p:spPr>
          <a:xfrm>
            <a:off x="8961120" y="2446020"/>
            <a:ext cx="2606040" cy="2606040"/>
          </a:xfrm>
          <a:prstGeom prst="rect">
            <a:avLst/>
          </a:prstGeom>
        </p:spPr>
      </p:pic>
      <p:sp>
        <p:nvSpPr>
          <p:cNvPr id="23" name="TextBox 22"/>
          <p:cNvSpPr txBox="1"/>
          <p:nvPr/>
        </p:nvSpPr>
        <p:spPr>
          <a:xfrm>
            <a:off x="548640" y="1517904"/>
            <a:ext cx="11064240" cy="365760"/>
          </a:xfrm>
          <a:prstGeom prst="rect">
            <a:avLst/>
          </a:prstGeom>
          <a:noFill/>
        </p:spPr>
        <p:txBody>
          <a:bodyPr wrap="square" lIns="0" tIns="0" rIns="0" bIns="0" anchor="ctr"/>
          <a:lstStyle/>
          <a:p>
            <a:pPr marL="0" indent="0">
              <a:buNone/>
            </a:pPr>
            <a:r>
              <a:rPr lang="ko-KR" sz="1100" dirty="0">
                <a:solidFill>
                  <a:srgbClr val="5C5C5C"/>
                </a:solidFill>
                <a:latin typeface="에이투지체 5 Medium"/>
                <a:ea typeface="에이투지체 5 Medium"/>
                <a:cs typeface="에이투지체 5 Medium"/>
              </a:rPr>
              <a:t>종근당 아이커</a:t>
            </a:r>
            <a:endParaRPr lang="ko-KR" sz="1100" dirty="0"/>
          </a:p>
        </p:txBody>
      </p:sp>
      <p:sp>
        <p:nvSpPr>
          <p:cNvPr id="24" name="node-23">
            <a:extLst>
              <a:ext uri="{FF2B5EF4-FFF2-40B4-BE49-F238E27FC236}">
                <a16:creationId xmlns:a16="http://schemas.microsoft.com/office/drawing/2014/main" id="{291C5A9D-2ED5-4D2A-B33E-ABB1B78DB0BD}"/>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25" name="text-24">
            <a:extLst>
              <a:ext uri="{FF2B5EF4-FFF2-40B4-BE49-F238E27FC236}">
                <a16:creationId xmlns:a16="http://schemas.microsoft.com/office/drawing/2014/main" id="{53BE8847-B6EB-4B9D-BAB3-F894DCEAE798}"/>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defRPr sz="1358">
                <a:solidFill>
                  <a:srgbClr val="FFFFFF"/>
                </a:solidFill>
                <a:latin typeface="에이투지체 6 SemiBold"/>
                <a:ea typeface="에이투지체 6 SemiBold"/>
                <a:cs typeface="에이투지체 6 SemiBold"/>
              </a:defRPr>
            </a:pPr>
            <a:r>
              <a:rPr lang="ko-KR" altLang="en-US" sz="1358" dirty="0">
                <a:solidFill>
                  <a:srgbClr val="004F9F"/>
                </a:solidFill>
                <a:latin typeface="에이투지체 6 SemiBold"/>
                <a:ea typeface="에이투지체 6 SemiBold"/>
                <a:cs typeface="에이투지체 6 SemiBold"/>
              </a:rPr>
              <a:t>시크릿 링크 · 공식몰 단독 혜택으로 자사 채널 구매를 유도하고 있습니다</a:t>
            </a:r>
            <a:endParaRPr sz="1358" dirty="0">
              <a:solidFill>
                <a:srgbClr val="FFFFFF"/>
              </a:solidFill>
              <a:latin typeface="에이투지체 6 SemiBold"/>
              <a:ea typeface="에이투지체 6 SemiBold"/>
              <a:cs typeface="에이투지체 6 SemiBold"/>
            </a:endParaRPr>
          </a:p>
        </p:txBody>
      </p:sp>
    </p:spTree>
    <p:extLst>
      <p:ext uri="{BB962C8B-B14F-4D97-AF65-F5344CB8AC3E}">
        <p14:creationId xmlns:p14="http://schemas.microsoft.com/office/powerpoint/2010/main" val="26777971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546BB-45B2-6419-E5AE-C7E41CE819B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9C434BB-9D4E-40C7-6534-35B94687987F}"/>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3" name="TextBox 2">
            <a:extLst>
              <a:ext uri="{FF2B5EF4-FFF2-40B4-BE49-F238E27FC236}">
                <a16:creationId xmlns:a16="http://schemas.microsoft.com/office/drawing/2014/main" id="{5E647B4F-7C16-2341-8438-BA245333D6D8}"/>
              </a:ext>
            </a:extLst>
          </p:cNvPr>
          <p:cNvSpPr txBox="1"/>
          <p:nvPr/>
        </p:nvSpPr>
        <p:spPr>
          <a:xfrm>
            <a:off x="548640" y="658368"/>
            <a:ext cx="11064240" cy="868680"/>
          </a:xfrm>
          <a:prstGeom prst="rect">
            <a:avLst/>
          </a:prstGeom>
          <a:noFill/>
        </p:spPr>
        <p:txBody>
          <a:bodyPr wrap="square" lIns="0" tIns="0" rIns="0" bIns="0" anchor="ct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카무트 효소 경쟁 환경</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할인율과 하루 단가로 가격 부담을 낮추는 소재가 중심입니다</a:t>
            </a:r>
            <a:endParaRPr lang="ko-KR" sz="1900" dirty="0"/>
          </a:p>
        </p:txBody>
      </p:sp>
      <p:sp>
        <p:nvSpPr>
          <p:cNvPr id="8" name="TextBox 7">
            <a:extLst>
              <a:ext uri="{FF2B5EF4-FFF2-40B4-BE49-F238E27FC236}">
                <a16:creationId xmlns:a16="http://schemas.microsoft.com/office/drawing/2014/main" id="{991A0DBD-D873-853A-153C-79521140C3F5}"/>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9" name="TextBox 8">
            <a:extLst>
              <a:ext uri="{FF2B5EF4-FFF2-40B4-BE49-F238E27FC236}">
                <a16:creationId xmlns:a16="http://schemas.microsoft.com/office/drawing/2014/main" id="{34413396-07C6-A5E3-6A93-0FFB74C84BDB}"/>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0" name="PGNO">
            <a:extLst>
              <a:ext uri="{FF2B5EF4-FFF2-40B4-BE49-F238E27FC236}">
                <a16:creationId xmlns:a16="http://schemas.microsoft.com/office/drawing/2014/main" id="{75502825-1013-1B33-502A-ED96A26AA26D}"/>
              </a:ext>
            </a:extLst>
          </p:cNvPr>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19</a:t>
            </a:r>
          </a:p>
        </p:txBody>
      </p:sp>
      <p:pic>
        <p:nvPicPr>
          <p:cNvPr id="12" name="그림 11">
            <a:extLst>
              <a:ext uri="{FF2B5EF4-FFF2-40B4-BE49-F238E27FC236}">
                <a16:creationId xmlns:a16="http://schemas.microsoft.com/office/drawing/2014/main" id="{8AB04B59-0DDB-344C-3678-140745B28E12}"/>
              </a:ext>
            </a:extLst>
          </p:cNvPr>
          <p:cNvPicPr>
            <a:picLocks noChangeAspect="1"/>
          </p:cNvPicPr>
          <p:nvPr/>
        </p:nvPicPr>
        <p:blipFill>
          <a:blip r:embed="rId2"/>
          <a:stretch>
            <a:fillRect/>
          </a:stretch>
        </p:blipFill>
        <p:spPr>
          <a:xfrm>
            <a:off x="594360" y="2446020"/>
            <a:ext cx="2606039" cy="2606039"/>
          </a:xfrm>
          <a:prstGeom prst="rect">
            <a:avLst/>
          </a:prstGeom>
        </p:spPr>
      </p:pic>
      <p:pic>
        <p:nvPicPr>
          <p:cNvPr id="14" name="그림 13">
            <a:extLst>
              <a:ext uri="{FF2B5EF4-FFF2-40B4-BE49-F238E27FC236}">
                <a16:creationId xmlns:a16="http://schemas.microsoft.com/office/drawing/2014/main" id="{9A351A24-DAF2-6D51-7C4F-73C27F87C781}"/>
              </a:ext>
            </a:extLst>
          </p:cNvPr>
          <p:cNvPicPr>
            <a:picLocks noChangeAspect="1"/>
          </p:cNvPicPr>
          <p:nvPr/>
        </p:nvPicPr>
        <p:blipFill>
          <a:blip r:embed="rId3"/>
          <a:stretch>
            <a:fillRect/>
          </a:stretch>
        </p:blipFill>
        <p:spPr>
          <a:xfrm>
            <a:off x="3383280" y="2446020"/>
            <a:ext cx="2606039" cy="2606039"/>
          </a:xfrm>
          <a:prstGeom prst="rect">
            <a:avLst/>
          </a:prstGeom>
        </p:spPr>
      </p:pic>
      <p:pic>
        <p:nvPicPr>
          <p:cNvPr id="15" name="그림 14">
            <a:extLst>
              <a:ext uri="{FF2B5EF4-FFF2-40B4-BE49-F238E27FC236}">
                <a16:creationId xmlns:a16="http://schemas.microsoft.com/office/drawing/2014/main" id="{B92A829C-C769-E0B6-0114-61F848343D72}"/>
              </a:ext>
            </a:extLst>
          </p:cNvPr>
          <p:cNvPicPr>
            <a:picLocks noChangeAspect="1"/>
          </p:cNvPicPr>
          <p:nvPr/>
        </p:nvPicPr>
        <p:blipFill>
          <a:blip r:embed="rId4"/>
          <a:stretch>
            <a:fillRect/>
          </a:stretch>
        </p:blipFill>
        <p:spPr>
          <a:xfrm>
            <a:off x="6548018" y="2103120"/>
            <a:ext cx="1854403" cy="3291840"/>
          </a:xfrm>
          <a:prstGeom prst="rect">
            <a:avLst/>
          </a:prstGeom>
        </p:spPr>
      </p:pic>
      <p:pic>
        <p:nvPicPr>
          <p:cNvPr id="21" name="그림 20">
            <a:extLst>
              <a:ext uri="{FF2B5EF4-FFF2-40B4-BE49-F238E27FC236}">
                <a16:creationId xmlns:a16="http://schemas.microsoft.com/office/drawing/2014/main" id="{CA7AF679-40F7-60B4-4830-B667A5134045}"/>
              </a:ext>
            </a:extLst>
          </p:cNvPr>
          <p:cNvPicPr>
            <a:picLocks noChangeAspect="1"/>
          </p:cNvPicPr>
          <p:nvPr/>
        </p:nvPicPr>
        <p:blipFill>
          <a:blip r:embed="rId5"/>
          <a:stretch>
            <a:fillRect/>
          </a:stretch>
        </p:blipFill>
        <p:spPr>
          <a:xfrm>
            <a:off x="8961120" y="2446020"/>
            <a:ext cx="2606040" cy="2606040"/>
          </a:xfrm>
          <a:prstGeom prst="rect">
            <a:avLst/>
          </a:prstGeom>
        </p:spPr>
      </p:pic>
      <p:sp>
        <p:nvSpPr>
          <p:cNvPr id="23" name="TextBox 22"/>
          <p:cNvSpPr txBox="1"/>
          <p:nvPr/>
        </p:nvSpPr>
        <p:spPr>
          <a:xfrm>
            <a:off x="548640" y="1517904"/>
            <a:ext cx="11064240" cy="365760"/>
          </a:xfrm>
          <a:prstGeom prst="rect">
            <a:avLst/>
          </a:prstGeom>
          <a:noFill/>
        </p:spPr>
        <p:txBody>
          <a:bodyPr wrap="square" lIns="0" tIns="0" rIns="0" bIns="0" anchor="ctr"/>
          <a:lstStyle/>
          <a:p>
            <a:pPr marL="0" indent="0">
              <a:buNone/>
            </a:pPr>
            <a:r>
              <a:rPr lang="ko-KR" sz="1100" dirty="0">
                <a:solidFill>
                  <a:srgbClr val="5C5C5C"/>
                </a:solidFill>
                <a:latin typeface="에이투지체 5 Medium"/>
                <a:ea typeface="에이투지체 5 Medium"/>
                <a:cs typeface="에이투지체 5 Medium"/>
              </a:rPr>
              <a:t>바이오코어 카무트 · 대장사랑 · 그레인온 · 유한양행 버들장터</a:t>
            </a:r>
            <a:endParaRPr lang="ko-KR" sz="1100" dirty="0"/>
          </a:p>
        </p:txBody>
      </p:sp>
      <p:sp>
        <p:nvSpPr>
          <p:cNvPr id="24" name="node-23">
            <a:extLst>
              <a:ext uri="{FF2B5EF4-FFF2-40B4-BE49-F238E27FC236}">
                <a16:creationId xmlns:a16="http://schemas.microsoft.com/office/drawing/2014/main" id="{291C5A9D-2ED5-4D2A-B33E-ABB1B78DB0BD}"/>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25" name="text-24">
            <a:extLst>
              <a:ext uri="{FF2B5EF4-FFF2-40B4-BE49-F238E27FC236}">
                <a16:creationId xmlns:a16="http://schemas.microsoft.com/office/drawing/2014/main" id="{53BE8847-B6EB-4B9D-BAB3-F894DCEAE798}"/>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defRPr sz="1358">
                <a:solidFill>
                  <a:srgbClr val="FFFFFF"/>
                </a:solidFill>
                <a:latin typeface="에이투지체 6 SemiBold"/>
                <a:ea typeface="에이투지체 6 SemiBold"/>
                <a:cs typeface="에이투지체 6 SemiBold"/>
              </a:defRPr>
            </a:pPr>
            <a:r>
              <a:rPr lang="ko-KR" altLang="en-US" sz="1358" dirty="0">
                <a:solidFill>
                  <a:srgbClr val="004F9F"/>
                </a:solidFill>
                <a:latin typeface="에이투지체 6 SemiBold"/>
                <a:ea typeface="에이투지체 6 SemiBold"/>
                <a:cs typeface="에이투지체 6 SemiBold"/>
              </a:rPr>
              <a:t>주요 경쟁사가 모두 할인율과 하루 단가를 앞세워, 가격만으로는 차별화가 어렵습니다</a:t>
            </a:r>
            <a:endParaRPr sz="1358" dirty="0">
              <a:solidFill>
                <a:srgbClr val="FFFFFF"/>
              </a:solidFill>
              <a:latin typeface="에이투지체 6 SemiBold"/>
              <a:ea typeface="에이투지체 6 SemiBold"/>
              <a:cs typeface="에이투지체 6 SemiBold"/>
            </a:endParaRPr>
          </a:p>
        </p:txBody>
      </p:sp>
    </p:spTree>
    <p:extLst>
      <p:ext uri="{BB962C8B-B14F-4D97-AF65-F5344CB8AC3E}">
        <p14:creationId xmlns:p14="http://schemas.microsoft.com/office/powerpoint/2010/main" val="41873652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B7E7C-AB17-10FF-198E-9DF3DCEEC05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7B101C5-BDD5-3BC2-E82C-D31A72BC68A6}"/>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3" name="TextBox 2">
            <a:extLst>
              <a:ext uri="{FF2B5EF4-FFF2-40B4-BE49-F238E27FC236}">
                <a16:creationId xmlns:a16="http://schemas.microsoft.com/office/drawing/2014/main" id="{1DED72BB-5D5B-4CDD-DAEF-A5014605EF7D}"/>
              </a:ext>
            </a:extLst>
          </p:cNvPr>
          <p:cNvSpPr txBox="1"/>
          <p:nvPr/>
        </p:nvSpPr>
        <p:spPr>
          <a:xfrm>
            <a:off x="548640" y="658368"/>
            <a:ext cx="11064240" cy="868680"/>
          </a:xfrm>
          <a:prstGeom prst="rect">
            <a:avLst/>
          </a:prstGeom>
          <a:noFill/>
        </p:spPr>
        <p:txBody>
          <a:bodyPr wrap="square" lIns="0" tIns="0" rIns="0" bIns="0" anchor="ct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질유산균 경쟁 환경</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판매 실적과 기능성 근거를 앞세우고 공식몰 특가를 더합니다</a:t>
            </a:r>
            <a:endParaRPr lang="ko-KR" sz="1900" dirty="0"/>
          </a:p>
        </p:txBody>
      </p:sp>
      <p:sp>
        <p:nvSpPr>
          <p:cNvPr id="8" name="TextBox 7">
            <a:extLst>
              <a:ext uri="{FF2B5EF4-FFF2-40B4-BE49-F238E27FC236}">
                <a16:creationId xmlns:a16="http://schemas.microsoft.com/office/drawing/2014/main" id="{6C3405C4-5813-B37E-158E-8D93265CF41E}"/>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9" name="TextBox 8">
            <a:extLst>
              <a:ext uri="{FF2B5EF4-FFF2-40B4-BE49-F238E27FC236}">
                <a16:creationId xmlns:a16="http://schemas.microsoft.com/office/drawing/2014/main" id="{E6628A8A-6D0B-DB5A-3884-9B6403B569BE}"/>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0" name="PGNO">
            <a:extLst>
              <a:ext uri="{FF2B5EF4-FFF2-40B4-BE49-F238E27FC236}">
                <a16:creationId xmlns:a16="http://schemas.microsoft.com/office/drawing/2014/main" id="{D2B96316-978E-C735-5925-427D36A95021}"/>
              </a:ext>
            </a:extLst>
          </p:cNvPr>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20</a:t>
            </a:r>
          </a:p>
        </p:txBody>
      </p:sp>
      <p:pic>
        <p:nvPicPr>
          <p:cNvPr id="4" name="그림 3">
            <a:extLst>
              <a:ext uri="{FF2B5EF4-FFF2-40B4-BE49-F238E27FC236}">
                <a16:creationId xmlns:a16="http://schemas.microsoft.com/office/drawing/2014/main" id="{E3EAE23A-8E5A-F50F-A3FA-FA350D901C24}"/>
              </a:ext>
            </a:extLst>
          </p:cNvPr>
          <p:cNvPicPr>
            <a:picLocks noChangeAspect="1"/>
          </p:cNvPicPr>
          <p:nvPr/>
        </p:nvPicPr>
        <p:blipFill>
          <a:blip r:embed="rId2"/>
          <a:stretch>
            <a:fillRect/>
          </a:stretch>
        </p:blipFill>
        <p:spPr>
          <a:xfrm>
            <a:off x="1988819" y="2446020"/>
            <a:ext cx="2606040" cy="2606040"/>
          </a:xfrm>
          <a:prstGeom prst="rect">
            <a:avLst/>
          </a:prstGeom>
        </p:spPr>
      </p:pic>
      <p:pic>
        <p:nvPicPr>
          <p:cNvPr id="13" name="그림 12">
            <a:extLst>
              <a:ext uri="{FF2B5EF4-FFF2-40B4-BE49-F238E27FC236}">
                <a16:creationId xmlns:a16="http://schemas.microsoft.com/office/drawing/2014/main" id="{71B8D2D4-FAE4-6D49-6121-DEBA213B402A}"/>
              </a:ext>
            </a:extLst>
          </p:cNvPr>
          <p:cNvPicPr>
            <a:picLocks noChangeAspect="1"/>
          </p:cNvPicPr>
          <p:nvPr/>
        </p:nvPicPr>
        <p:blipFill>
          <a:blip r:embed="rId3"/>
          <a:stretch>
            <a:fillRect/>
          </a:stretch>
        </p:blipFill>
        <p:spPr>
          <a:xfrm>
            <a:off x="4777740" y="2446020"/>
            <a:ext cx="2606039" cy="2606039"/>
          </a:xfrm>
          <a:prstGeom prst="rect">
            <a:avLst/>
          </a:prstGeom>
        </p:spPr>
      </p:pic>
      <p:pic>
        <p:nvPicPr>
          <p:cNvPr id="17" name="그림 16">
            <a:extLst>
              <a:ext uri="{FF2B5EF4-FFF2-40B4-BE49-F238E27FC236}">
                <a16:creationId xmlns:a16="http://schemas.microsoft.com/office/drawing/2014/main" id="{905D4FAA-80BB-6A6D-5B72-19ED45C64DA7}"/>
              </a:ext>
            </a:extLst>
          </p:cNvPr>
          <p:cNvPicPr>
            <a:picLocks noChangeAspect="1"/>
          </p:cNvPicPr>
          <p:nvPr/>
        </p:nvPicPr>
        <p:blipFill>
          <a:blip r:embed="rId4"/>
          <a:stretch>
            <a:fillRect/>
          </a:stretch>
        </p:blipFill>
        <p:spPr>
          <a:xfrm>
            <a:off x="7566660" y="2446020"/>
            <a:ext cx="2606040" cy="2606040"/>
          </a:xfrm>
          <a:prstGeom prst="rect">
            <a:avLst/>
          </a:prstGeom>
        </p:spPr>
      </p:pic>
      <p:sp>
        <p:nvSpPr>
          <p:cNvPr id="21" name="TextBox 20"/>
          <p:cNvSpPr txBox="1"/>
          <p:nvPr/>
        </p:nvSpPr>
        <p:spPr>
          <a:xfrm>
            <a:off x="548640" y="1517904"/>
            <a:ext cx="11064240" cy="365760"/>
          </a:xfrm>
          <a:prstGeom prst="rect">
            <a:avLst/>
          </a:prstGeom>
          <a:noFill/>
        </p:spPr>
        <p:txBody>
          <a:bodyPr wrap="square" lIns="0" tIns="0" rIns="0" bIns="0" anchor="ctr"/>
          <a:lstStyle/>
          <a:p>
            <a:pPr marL="0" indent="0">
              <a:buNone/>
            </a:pPr>
            <a:r>
              <a:rPr lang="ko-KR" sz="1100" dirty="0">
                <a:solidFill>
                  <a:srgbClr val="5C5C5C"/>
                </a:solidFill>
                <a:latin typeface="에이투지체 5 Medium"/>
                <a:ea typeface="에이투지체 5 Medium"/>
                <a:cs typeface="에이투지체 5 Medium"/>
              </a:rPr>
              <a:t>이너플로라 · 락토필듀오</a:t>
            </a:r>
            <a:endParaRPr lang="ko-KR" sz="1100" dirty="0"/>
          </a:p>
        </p:txBody>
      </p:sp>
      <p:sp>
        <p:nvSpPr>
          <p:cNvPr id="24" name="node-23">
            <a:extLst>
              <a:ext uri="{FF2B5EF4-FFF2-40B4-BE49-F238E27FC236}">
                <a16:creationId xmlns:a16="http://schemas.microsoft.com/office/drawing/2014/main" id="{291C5A9D-2ED5-4D2A-B33E-ABB1B78DB0BD}"/>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25" name="text-24">
            <a:extLst>
              <a:ext uri="{FF2B5EF4-FFF2-40B4-BE49-F238E27FC236}">
                <a16:creationId xmlns:a16="http://schemas.microsoft.com/office/drawing/2014/main" id="{53BE8847-B6EB-4B9D-BAB3-F894DCEAE798}"/>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defRPr sz="1358">
                <a:solidFill>
                  <a:srgbClr val="FFFFFF"/>
                </a:solidFill>
                <a:latin typeface="에이투지체 6 SemiBold"/>
                <a:ea typeface="에이투지체 6 SemiBold"/>
                <a:cs typeface="에이투지체 6 SemiBold"/>
              </a:defRPr>
            </a:pPr>
            <a:r>
              <a:rPr lang="ko-KR" altLang="en-US" sz="1358" dirty="0">
                <a:solidFill>
                  <a:srgbClr val="004F9F"/>
                </a:solidFill>
                <a:latin typeface="에이투지체 6 SemiBold"/>
                <a:ea typeface="에이투지체 6 SemiBold"/>
                <a:cs typeface="에이투지체 6 SemiBold"/>
              </a:rPr>
              <a:t>이너플로라는 판매 실적 · 기능성 근거로 선택 기준을 만들고, 락토필듀오는 회원 특가로 구매를 당깁니다</a:t>
            </a:r>
            <a:endParaRPr sz="1358" dirty="0">
              <a:solidFill>
                <a:srgbClr val="FFFFFF"/>
              </a:solidFill>
              <a:latin typeface="에이투지체 6 SemiBold"/>
              <a:ea typeface="에이투지체 6 SemiBold"/>
              <a:cs typeface="에이투지체 6 SemiBold"/>
            </a:endParaRPr>
          </a:p>
        </p:txBody>
      </p:sp>
    </p:spTree>
    <p:extLst>
      <p:ext uri="{BB962C8B-B14F-4D97-AF65-F5344CB8AC3E}">
        <p14:creationId xmlns:p14="http://schemas.microsoft.com/office/powerpoint/2010/main" val="33800847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19"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0"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21"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21</a:t>
            </a:r>
          </a:p>
        </p:txBody>
      </p:sp>
      <p:sp>
        <p:nvSpPr>
          <p:cNvPr id="5" name="text-26">
            <a:extLst>
              <a:ext uri="{FF2B5EF4-FFF2-40B4-BE49-F238E27FC236}">
                <a16:creationId xmlns:a16="http://schemas.microsoft.com/office/drawing/2014/main" id="{BF6ADD1E-B53D-4B94-AB5C-F922C812F01D}"/>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부모의 고민 단계</a:t>
            </a:r>
            <a:r>
              <a:rPr lang="ko-KR" sz="1900" dirty="0">
                <a:solidFill>
                  <a:srgbClr val="222222"/>
                </a:solidFill>
                <a:latin typeface="에이투지체 8 ExtraBold"/>
                <a:ea typeface="에이투지체 8 ExtraBold"/>
                <a:cs typeface="에이투지체 8 ExtraBold"/>
              </a:rPr>
              <a:t>에 맞춰</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메시지, 랜딩, 매체, KPI를 바꿉니다</a:t>
            </a:r>
            <a:endParaRPr lang="ko-KR" sz="1900" dirty="0"/>
          </a:p>
        </p:txBody>
      </p:sp>
      <p:sp>
        <p:nvSpPr>
          <p:cNvPr id="6" name="text-27">
            <a:extLst>
              <a:ext uri="{FF2B5EF4-FFF2-40B4-BE49-F238E27FC236}">
                <a16:creationId xmlns:a16="http://schemas.microsoft.com/office/drawing/2014/main" id="{ACEBFA7A-C5C8-44E3-BD3A-D01BF976C6A0}"/>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Growth Funnel  인지 · 탐색 · 구매 · 확장</a:t>
            </a:r>
            <a:endParaRPr lang="ko-KR" sz="1100" dirty="0"/>
          </a:p>
        </p:txBody>
      </p:sp>
      <p:sp>
        <p:nvSpPr>
          <p:cNvPr id="16" name="node-36">
            <a:extLst>
              <a:ext uri="{FF2B5EF4-FFF2-40B4-BE49-F238E27FC236}">
                <a16:creationId xmlns:a16="http://schemas.microsoft.com/office/drawing/2014/main" id="{F517153B-1631-4D41-A996-B13BE04D7DAA}"/>
              </a:ext>
            </a:extLst>
          </p:cNvPr>
          <p:cNvSpPr>
            <a:spLocks noGrp="1"/>
          </p:cNvSpPr>
          <p:nvPr/>
        </p:nvSpPr>
        <p:spPr>
          <a:xfrm>
            <a:off x="548640" y="57721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17" name="text-37">
            <a:extLst>
              <a:ext uri="{FF2B5EF4-FFF2-40B4-BE49-F238E27FC236}">
                <a16:creationId xmlns:a16="http://schemas.microsoft.com/office/drawing/2014/main" id="{2A316C9F-5EF9-40A7-8EE1-8D02E9BD8E75}"/>
              </a:ext>
            </a:extLst>
          </p:cNvPr>
          <p:cNvSpPr>
            <a:spLocks noGrp="1"/>
          </p:cNvSpPr>
          <p:nvPr/>
        </p:nvSpPr>
        <p:spPr>
          <a:xfrm>
            <a:off x="742950" y="58197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defRPr sz="1358">
                <a:solidFill>
                  <a:srgbClr val="FFFFFF"/>
                </a:solidFill>
                <a:latin typeface="에이투지체 6 SemiBold"/>
                <a:ea typeface="에이투지체 6 SemiBold"/>
                <a:cs typeface="에이투지체 6 SemiBold"/>
              </a:defRPr>
            </a:pPr>
            <a:r>
              <a:rPr lang="ko-KR" altLang="en-US" sz="1358" dirty="0">
                <a:solidFill>
                  <a:srgbClr val="004F9F"/>
                </a:solidFill>
                <a:latin typeface="에이투지체 6 SemiBold"/>
                <a:ea typeface="에이투지체 6 SemiBold"/>
                <a:cs typeface="에이투지체 6 SemiBold"/>
              </a:rPr>
              <a:t>같은 상품 광고를 반복하지 않고</a:t>
            </a:r>
            <a:r>
              <a:rPr lang="en-US" altLang="ko-KR" sz="1358" dirty="0">
                <a:solidFill>
                  <a:srgbClr val="004F9F"/>
                </a:solidFill>
                <a:latin typeface="에이투지체 6 SemiBold"/>
                <a:ea typeface="에이투지체 6 SemiBold"/>
                <a:cs typeface="에이투지체 6 SemiBold"/>
              </a:rPr>
              <a:t>, </a:t>
            </a:r>
            <a:r>
              <a:rPr lang="ko-KR" altLang="en-US" sz="1358" dirty="0">
                <a:solidFill>
                  <a:srgbClr val="004F9F"/>
                </a:solidFill>
                <a:latin typeface="에이투지체 6 SemiBold"/>
                <a:ea typeface="에이투지체 6 SemiBold"/>
                <a:cs typeface="에이투지체 6 SemiBold"/>
              </a:rPr>
              <a:t>인지에서 확장까지 고객이 다음 단계로 넘어가게 설계합니다</a:t>
            </a:r>
            <a:endParaRPr sz="1358" dirty="0">
              <a:solidFill>
                <a:srgbClr val="FFFFFF"/>
              </a:solidFill>
              <a:latin typeface="에이투지체 6 SemiBold"/>
              <a:ea typeface="에이투지체 6 SemiBold"/>
              <a:cs typeface="에이투지체 6 SemiBold"/>
            </a:endParaRPr>
          </a:p>
        </p:txBody>
      </p:sp>
      <p:sp>
        <p:nvSpPr>
          <p:cNvPr id="22" name="Pentagon 21"/>
          <p:cNvSpPr/>
          <p:nvPr/>
        </p:nvSpPr>
        <p:spPr>
          <a:xfrm>
            <a:off x="1691640" y="2011680"/>
            <a:ext cx="2548890" cy="457200"/>
          </a:xfrm>
          <a:prstGeom prst="homePlate">
            <a:avLst>
              <a:gd name="adj" fmla="val 32000"/>
            </a:avLst>
          </a:prstGeom>
          <a:solidFill>
            <a:srgbClr val="C9D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828800" y="2011680"/>
            <a:ext cx="2256282" cy="457200"/>
          </a:xfrm>
          <a:prstGeom prst="rect">
            <a:avLst/>
          </a:prstGeom>
          <a:noFill/>
        </p:spPr>
        <p:txBody>
          <a:bodyPr wrap="square" lIns="0" tIns="0" rIns="0" bIns="0" anchor="ctr">
            <a:spAutoFit/>
          </a:bodyPr>
          <a:lstStyle/>
          <a:p>
            <a:pPr algn="ctr">
              <a:spcAft>
                <a:spcPts val="300"/>
              </a:spcAft>
            </a:pPr>
            <a:r>
              <a:rPr sz="1250">
                <a:solidFill>
                  <a:srgbClr val="0E3A72"/>
                </a:solidFill>
                <a:latin typeface="에이투지체 6 SemiBold"/>
                <a:ea typeface="에이투지체 6 SemiBold"/>
              </a:rPr>
              <a:t>01 인지</a:t>
            </a:r>
          </a:p>
        </p:txBody>
      </p:sp>
      <p:sp>
        <p:nvSpPr>
          <p:cNvPr id="24" name="Chevron 23"/>
          <p:cNvSpPr/>
          <p:nvPr/>
        </p:nvSpPr>
        <p:spPr>
          <a:xfrm>
            <a:off x="4185666" y="2011680"/>
            <a:ext cx="2548890" cy="457200"/>
          </a:xfrm>
          <a:prstGeom prst="chevron">
            <a:avLst>
              <a:gd name="adj" fmla="val 32000"/>
            </a:avLst>
          </a:prstGeom>
          <a:solidFill>
            <a:srgbClr val="8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322826" y="2011680"/>
            <a:ext cx="2256282" cy="457200"/>
          </a:xfrm>
          <a:prstGeom prst="rect">
            <a:avLst/>
          </a:prstGeom>
          <a:noFill/>
        </p:spPr>
        <p:txBody>
          <a:bodyPr wrap="square" lIns="0" tIns="0" rIns="0" bIns="0" anchor="ctr">
            <a:spAutoFit/>
          </a:bodyPr>
          <a:lstStyle/>
          <a:p>
            <a:pPr algn="ctr">
              <a:spcAft>
                <a:spcPts val="300"/>
              </a:spcAft>
            </a:pPr>
            <a:r>
              <a:rPr sz="1250">
                <a:solidFill>
                  <a:srgbClr val="0E3A72"/>
                </a:solidFill>
                <a:latin typeface="에이투지체 6 SemiBold"/>
                <a:ea typeface="에이투지체 6 SemiBold"/>
              </a:rPr>
              <a:t>02 탐색</a:t>
            </a:r>
          </a:p>
        </p:txBody>
      </p:sp>
      <p:sp>
        <p:nvSpPr>
          <p:cNvPr id="26" name="Chevron 25"/>
          <p:cNvSpPr/>
          <p:nvPr/>
        </p:nvSpPr>
        <p:spPr>
          <a:xfrm>
            <a:off x="6679692" y="2011680"/>
            <a:ext cx="2548890" cy="457200"/>
          </a:xfrm>
          <a:prstGeom prst="chevron">
            <a:avLst>
              <a:gd name="adj" fmla="val 32000"/>
            </a:avLst>
          </a:prstGeom>
          <a:solidFill>
            <a:srgbClr val="2E6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816852" y="2011680"/>
            <a:ext cx="2256282" cy="457200"/>
          </a:xfrm>
          <a:prstGeom prst="rect">
            <a:avLst/>
          </a:prstGeom>
          <a:noFill/>
        </p:spPr>
        <p:txBody>
          <a:bodyPr wrap="square" lIns="0" tIns="0" rIns="0" bIns="0" anchor="ctr">
            <a:spAutoFit/>
          </a:bodyPr>
          <a:lstStyle/>
          <a:p>
            <a:pPr algn="ctr">
              <a:spcAft>
                <a:spcPts val="300"/>
              </a:spcAft>
            </a:pPr>
            <a:r>
              <a:rPr sz="1250">
                <a:solidFill>
                  <a:srgbClr val="FFFFFF"/>
                </a:solidFill>
                <a:latin typeface="에이투지체 6 SemiBold"/>
                <a:ea typeface="에이투지체 6 SemiBold"/>
              </a:rPr>
              <a:t>03 구매</a:t>
            </a:r>
          </a:p>
        </p:txBody>
      </p:sp>
      <p:sp>
        <p:nvSpPr>
          <p:cNvPr id="28" name="Chevron 27"/>
          <p:cNvSpPr/>
          <p:nvPr/>
        </p:nvSpPr>
        <p:spPr>
          <a:xfrm>
            <a:off x="9173718" y="2011680"/>
            <a:ext cx="2548890" cy="457200"/>
          </a:xfrm>
          <a:prstGeom prst="chevron">
            <a:avLst>
              <a:gd name="adj" fmla="val 32000"/>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310878" y="2011680"/>
            <a:ext cx="2256282" cy="457200"/>
          </a:xfrm>
          <a:prstGeom prst="rect">
            <a:avLst/>
          </a:prstGeom>
          <a:noFill/>
        </p:spPr>
        <p:txBody>
          <a:bodyPr wrap="square" lIns="0" tIns="0" rIns="0" bIns="0" anchor="ctr">
            <a:spAutoFit/>
          </a:bodyPr>
          <a:lstStyle/>
          <a:p>
            <a:pPr algn="ctr">
              <a:spcAft>
                <a:spcPts val="300"/>
              </a:spcAft>
            </a:pPr>
            <a:r>
              <a:rPr sz="1250">
                <a:solidFill>
                  <a:srgbClr val="FFFFFF"/>
                </a:solidFill>
                <a:latin typeface="에이투지체 6 SemiBold"/>
                <a:ea typeface="에이투지체 6 SemiBold"/>
              </a:rPr>
              <a:t>04 확장</a:t>
            </a:r>
          </a:p>
        </p:txBody>
      </p:sp>
      <p:sp>
        <p:nvSpPr>
          <p:cNvPr id="30" name="Rounded Rectangle 29"/>
          <p:cNvSpPr/>
          <p:nvPr/>
        </p:nvSpPr>
        <p:spPr>
          <a:xfrm>
            <a:off x="548640" y="2670048"/>
            <a:ext cx="1005840" cy="475488"/>
          </a:xfrm>
          <a:prstGeom prst="roundRect">
            <a:avLst>
              <a:gd name="adj" fmla="val 15384"/>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48640" y="2670048"/>
            <a:ext cx="1005840" cy="475488"/>
          </a:xfrm>
          <a:prstGeom prst="rect">
            <a:avLst/>
          </a:prstGeom>
          <a:noFill/>
        </p:spPr>
        <p:txBody>
          <a:bodyPr wrap="square" lIns="0" tIns="0" rIns="0" bIns="0" anchor="ctr">
            <a:spAutoFit/>
          </a:bodyPr>
          <a:lstStyle/>
          <a:p>
            <a:pPr algn="ctr">
              <a:spcAft>
                <a:spcPts val="300"/>
              </a:spcAft>
            </a:pPr>
            <a:r>
              <a:rPr sz="1150">
                <a:solidFill>
                  <a:srgbClr val="004F9F"/>
                </a:solidFill>
                <a:latin typeface="에이투지체 6 SemiBold"/>
                <a:ea typeface="에이투지체 6 SemiBold"/>
              </a:rPr>
              <a:t>고객</a:t>
            </a:r>
          </a:p>
        </p:txBody>
      </p:sp>
      <p:sp>
        <p:nvSpPr>
          <p:cNvPr id="32" name="TextBox 31"/>
          <p:cNvSpPr txBox="1"/>
          <p:nvPr/>
        </p:nvSpPr>
        <p:spPr>
          <a:xfrm>
            <a:off x="1828800" y="2606040"/>
            <a:ext cx="2256282" cy="603504"/>
          </a:xfrm>
          <a:prstGeom prst="rect">
            <a:avLst/>
          </a:prstGeom>
          <a:noFill/>
        </p:spPr>
        <p:txBody>
          <a:bodyPr wrap="square" lIns="0" tIns="0" rIns="0" bIns="0" anchor="ctr">
            <a:spAutoFit/>
          </a:bodyPr>
          <a:lstStyle/>
          <a:p>
            <a:pPr algn="ctr">
              <a:spcAft>
                <a:spcPts val="100"/>
              </a:spcAft>
            </a:pPr>
            <a:r>
              <a:rPr sz="1050">
                <a:solidFill>
                  <a:srgbClr val="5C5C5C"/>
                </a:solidFill>
                <a:latin typeface="에이투지체 4 Regular"/>
                <a:ea typeface="에이투지체 4 Regular"/>
              </a:rPr>
              <a:t>아이 성장에 관심 있는</a:t>
            </a:r>
          </a:p>
          <a:p>
            <a:pPr algn="ctr">
              <a:spcAft>
                <a:spcPts val="100"/>
              </a:spcAft>
            </a:pPr>
            <a:r>
              <a:rPr sz="1050">
                <a:solidFill>
                  <a:srgbClr val="5C5C5C"/>
                </a:solidFill>
                <a:latin typeface="에이투지체 4 Regular"/>
                <a:ea typeface="에이투지체 4 Regular"/>
              </a:rPr>
              <a:t>신규 부모 고객</a:t>
            </a:r>
          </a:p>
        </p:txBody>
      </p:sp>
      <p:sp>
        <p:nvSpPr>
          <p:cNvPr id="33" name="TextBox 32"/>
          <p:cNvSpPr txBox="1"/>
          <p:nvPr/>
        </p:nvSpPr>
        <p:spPr>
          <a:xfrm>
            <a:off x="4322826" y="2606040"/>
            <a:ext cx="2256282" cy="603504"/>
          </a:xfrm>
          <a:prstGeom prst="rect">
            <a:avLst/>
          </a:prstGeom>
          <a:noFill/>
        </p:spPr>
        <p:txBody>
          <a:bodyPr wrap="square" lIns="0" tIns="0" rIns="0" bIns="0" anchor="ctr">
            <a:spAutoFit/>
          </a:bodyPr>
          <a:lstStyle/>
          <a:p>
            <a:pPr algn="ctr">
              <a:spcAft>
                <a:spcPts val="100"/>
              </a:spcAft>
            </a:pPr>
            <a:r>
              <a:rPr sz="1050">
                <a:solidFill>
                  <a:srgbClr val="5C5C5C"/>
                </a:solidFill>
                <a:latin typeface="에이투지체 4 Regular"/>
                <a:ea typeface="에이투지체 4 Regular"/>
              </a:rPr>
              <a:t>큐레이션 · 상품 상세</a:t>
            </a:r>
          </a:p>
          <a:p>
            <a:pPr algn="ctr">
              <a:spcAft>
                <a:spcPts val="100"/>
              </a:spcAft>
            </a:pPr>
            <a:r>
              <a:rPr sz="1050">
                <a:solidFill>
                  <a:srgbClr val="5C5C5C"/>
                </a:solidFill>
                <a:latin typeface="에이투지체 4 Regular"/>
                <a:ea typeface="에이투지체 4 Regular"/>
              </a:rPr>
              <a:t>방문 고객</a:t>
            </a:r>
          </a:p>
        </p:txBody>
      </p:sp>
      <p:sp>
        <p:nvSpPr>
          <p:cNvPr id="34" name="TextBox 33"/>
          <p:cNvSpPr txBox="1"/>
          <p:nvPr/>
        </p:nvSpPr>
        <p:spPr>
          <a:xfrm>
            <a:off x="6816852" y="2606040"/>
            <a:ext cx="2256282" cy="603504"/>
          </a:xfrm>
          <a:prstGeom prst="rect">
            <a:avLst/>
          </a:prstGeom>
          <a:noFill/>
        </p:spPr>
        <p:txBody>
          <a:bodyPr wrap="square" lIns="0" tIns="0" rIns="0" bIns="0" anchor="ctr">
            <a:spAutoFit/>
          </a:bodyPr>
          <a:lstStyle/>
          <a:p>
            <a:pPr algn="ctr">
              <a:spcAft>
                <a:spcPts val="100"/>
              </a:spcAft>
            </a:pPr>
            <a:r>
              <a:rPr sz="1050">
                <a:solidFill>
                  <a:srgbClr val="5C5C5C"/>
                </a:solidFill>
                <a:latin typeface="에이투지체 4 Regular"/>
                <a:ea typeface="에이투지체 4 Regular"/>
              </a:rPr>
              <a:t>장바구니 · 반복 방문 고객</a:t>
            </a:r>
          </a:p>
        </p:txBody>
      </p:sp>
      <p:sp>
        <p:nvSpPr>
          <p:cNvPr id="35" name="TextBox 34"/>
          <p:cNvSpPr txBox="1"/>
          <p:nvPr/>
        </p:nvSpPr>
        <p:spPr>
          <a:xfrm>
            <a:off x="9310878" y="2606040"/>
            <a:ext cx="2256282" cy="603504"/>
          </a:xfrm>
          <a:prstGeom prst="rect">
            <a:avLst/>
          </a:prstGeom>
          <a:noFill/>
        </p:spPr>
        <p:txBody>
          <a:bodyPr wrap="square" lIns="0" tIns="0" rIns="0" bIns="0" anchor="ctr">
            <a:spAutoFit/>
          </a:bodyPr>
          <a:lstStyle/>
          <a:p>
            <a:pPr algn="ctr">
              <a:spcAft>
                <a:spcPts val="100"/>
              </a:spcAft>
            </a:pPr>
            <a:r>
              <a:rPr sz="1050">
                <a:solidFill>
                  <a:srgbClr val="5C5C5C"/>
                </a:solidFill>
                <a:latin typeface="에이투지체 4 Regular"/>
                <a:ea typeface="에이투지체 4 Regular"/>
              </a:rPr>
              <a:t>FGO · 패키지 구매 고객</a:t>
            </a:r>
          </a:p>
        </p:txBody>
      </p:sp>
      <p:cxnSp>
        <p:nvCxnSpPr>
          <p:cNvPr id="36" name="Connector 35"/>
          <p:cNvCxnSpPr/>
          <p:nvPr/>
        </p:nvCxnSpPr>
        <p:spPr>
          <a:xfrm>
            <a:off x="1691640" y="3209544"/>
            <a:ext cx="992124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548640" y="3273552"/>
            <a:ext cx="1005840" cy="475488"/>
          </a:xfrm>
          <a:prstGeom prst="roundRect">
            <a:avLst>
              <a:gd name="adj" fmla="val 15384"/>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548640" y="3273552"/>
            <a:ext cx="1005840" cy="475488"/>
          </a:xfrm>
          <a:prstGeom prst="rect">
            <a:avLst/>
          </a:prstGeom>
          <a:noFill/>
        </p:spPr>
        <p:txBody>
          <a:bodyPr wrap="square" lIns="0" tIns="0" rIns="0" bIns="0" anchor="ctr">
            <a:spAutoFit/>
          </a:bodyPr>
          <a:lstStyle/>
          <a:p>
            <a:pPr algn="ctr">
              <a:spcAft>
                <a:spcPts val="300"/>
              </a:spcAft>
            </a:pPr>
            <a:r>
              <a:rPr sz="1150">
                <a:solidFill>
                  <a:srgbClr val="004F9F"/>
                </a:solidFill>
                <a:latin typeface="에이투지체 6 SemiBold"/>
                <a:ea typeface="에이투지체 6 SemiBold"/>
              </a:rPr>
              <a:t>메시지</a:t>
            </a:r>
          </a:p>
        </p:txBody>
      </p:sp>
      <p:sp>
        <p:nvSpPr>
          <p:cNvPr id="39" name="TextBox 38"/>
          <p:cNvSpPr txBox="1"/>
          <p:nvPr/>
        </p:nvSpPr>
        <p:spPr>
          <a:xfrm>
            <a:off x="1828800" y="3209544"/>
            <a:ext cx="2256282" cy="603504"/>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6 SemiBold"/>
                <a:ea typeface="에이투지체 6 SemiBold"/>
              </a:rPr>
              <a:t>우리 아이 나이에</a:t>
            </a:r>
          </a:p>
          <a:p>
            <a:pPr algn="ctr">
              <a:spcAft>
                <a:spcPts val="100"/>
              </a:spcAft>
            </a:pPr>
            <a:r>
              <a:rPr sz="1050">
                <a:solidFill>
                  <a:srgbClr val="222222"/>
                </a:solidFill>
                <a:latin typeface="에이투지체 6 SemiBold"/>
                <a:ea typeface="에이투지체 6 SemiBold"/>
              </a:rPr>
              <a:t>필요한 영양</a:t>
            </a:r>
          </a:p>
        </p:txBody>
      </p:sp>
      <p:sp>
        <p:nvSpPr>
          <p:cNvPr id="40" name="TextBox 39"/>
          <p:cNvSpPr txBox="1"/>
          <p:nvPr/>
        </p:nvSpPr>
        <p:spPr>
          <a:xfrm>
            <a:off x="4322826" y="3209544"/>
            <a:ext cx="2256282" cy="603504"/>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6 SemiBold"/>
                <a:ea typeface="에이투지체 6 SemiBold"/>
              </a:rPr>
              <a:t>단계별 추천 구성 · 후기</a:t>
            </a:r>
          </a:p>
        </p:txBody>
      </p:sp>
      <p:sp>
        <p:nvSpPr>
          <p:cNvPr id="41" name="TextBox 40"/>
          <p:cNvSpPr txBox="1"/>
          <p:nvPr/>
        </p:nvSpPr>
        <p:spPr>
          <a:xfrm>
            <a:off x="6816852" y="3209544"/>
            <a:ext cx="2256282" cy="603504"/>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6 SemiBold"/>
                <a:ea typeface="에이투지체 6 SemiBold"/>
              </a:rPr>
              <a:t>브랜드스토어 전용</a:t>
            </a:r>
          </a:p>
          <a:p>
            <a:pPr algn="ctr">
              <a:spcAft>
                <a:spcPts val="100"/>
              </a:spcAft>
            </a:pPr>
            <a:r>
              <a:rPr sz="1050">
                <a:solidFill>
                  <a:srgbClr val="222222"/>
                </a:solidFill>
                <a:latin typeface="에이투지체 6 SemiBold"/>
                <a:ea typeface="에이투지체 6 SemiBold"/>
              </a:rPr>
              <a:t>패키지 혜택</a:t>
            </a:r>
          </a:p>
        </p:txBody>
      </p:sp>
      <p:sp>
        <p:nvSpPr>
          <p:cNvPr id="42" name="TextBox 41"/>
          <p:cNvSpPr txBox="1"/>
          <p:nvPr/>
        </p:nvSpPr>
        <p:spPr>
          <a:xfrm>
            <a:off x="9310878" y="3209544"/>
            <a:ext cx="2256282" cy="603504"/>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6 SemiBold"/>
                <a:ea typeface="에이투지체 6 SemiBold"/>
              </a:rPr>
              <a:t>함께 먹을 영양제</a:t>
            </a:r>
          </a:p>
          <a:p>
            <a:pPr algn="ctr">
              <a:spcAft>
                <a:spcPts val="100"/>
              </a:spcAft>
            </a:pPr>
            <a:r>
              <a:rPr sz="1050">
                <a:solidFill>
                  <a:srgbClr val="222222"/>
                </a:solidFill>
                <a:latin typeface="에이투지체 6 SemiBold"/>
                <a:ea typeface="에이투지체 6 SemiBold"/>
              </a:rPr>
              <a:t>다음 단계 구성</a:t>
            </a:r>
          </a:p>
        </p:txBody>
      </p:sp>
      <p:cxnSp>
        <p:nvCxnSpPr>
          <p:cNvPr id="43" name="Connector 42"/>
          <p:cNvCxnSpPr/>
          <p:nvPr/>
        </p:nvCxnSpPr>
        <p:spPr>
          <a:xfrm>
            <a:off x="1691640" y="3813048"/>
            <a:ext cx="992124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44" name="Rounded Rectangle 43"/>
          <p:cNvSpPr/>
          <p:nvPr/>
        </p:nvSpPr>
        <p:spPr>
          <a:xfrm>
            <a:off x="548640" y="3877056"/>
            <a:ext cx="1005840" cy="475488"/>
          </a:xfrm>
          <a:prstGeom prst="roundRect">
            <a:avLst>
              <a:gd name="adj" fmla="val 15384"/>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548640" y="3877056"/>
            <a:ext cx="1005840" cy="475488"/>
          </a:xfrm>
          <a:prstGeom prst="rect">
            <a:avLst/>
          </a:prstGeom>
          <a:noFill/>
        </p:spPr>
        <p:txBody>
          <a:bodyPr wrap="square" lIns="0" tIns="0" rIns="0" bIns="0" anchor="ctr">
            <a:spAutoFit/>
          </a:bodyPr>
          <a:lstStyle/>
          <a:p>
            <a:pPr algn="ctr">
              <a:spcAft>
                <a:spcPts val="300"/>
              </a:spcAft>
            </a:pPr>
            <a:r>
              <a:rPr sz="1150">
                <a:solidFill>
                  <a:srgbClr val="004F9F"/>
                </a:solidFill>
                <a:latin typeface="에이투지체 6 SemiBold"/>
                <a:ea typeface="에이투지체 6 SemiBold"/>
              </a:rPr>
              <a:t>랜딩</a:t>
            </a:r>
          </a:p>
        </p:txBody>
      </p:sp>
      <p:sp>
        <p:nvSpPr>
          <p:cNvPr id="46" name="TextBox 45"/>
          <p:cNvSpPr txBox="1"/>
          <p:nvPr/>
        </p:nvSpPr>
        <p:spPr>
          <a:xfrm>
            <a:off x="1828800" y="3813048"/>
            <a:ext cx="2256282" cy="603504"/>
          </a:xfrm>
          <a:prstGeom prst="rect">
            <a:avLst/>
          </a:prstGeom>
          <a:noFill/>
        </p:spPr>
        <p:txBody>
          <a:bodyPr wrap="square" lIns="0" tIns="0" rIns="0" bIns="0" anchor="ctr">
            <a:spAutoFit/>
          </a:bodyPr>
          <a:lstStyle/>
          <a:p>
            <a:pPr algn="ctr">
              <a:spcAft>
                <a:spcPts val="100"/>
              </a:spcAft>
            </a:pPr>
            <a:r>
              <a:rPr sz="1050">
                <a:solidFill>
                  <a:srgbClr val="5C5C5C"/>
                </a:solidFill>
                <a:latin typeface="에이투지체 4 Regular"/>
                <a:ea typeface="에이투지체 4 Regular"/>
              </a:rPr>
              <a:t>성장 단계별</a:t>
            </a:r>
          </a:p>
          <a:p>
            <a:pPr algn="ctr">
              <a:spcAft>
                <a:spcPts val="100"/>
              </a:spcAft>
            </a:pPr>
            <a:r>
              <a:rPr sz="1050">
                <a:solidFill>
                  <a:srgbClr val="5C5C5C"/>
                </a:solidFill>
                <a:latin typeface="에이투지체 4 Regular"/>
                <a:ea typeface="에이투지체 4 Regular"/>
              </a:rPr>
              <a:t>큐레이션 카테고리</a:t>
            </a:r>
          </a:p>
        </p:txBody>
      </p:sp>
      <p:sp>
        <p:nvSpPr>
          <p:cNvPr id="47" name="TextBox 46"/>
          <p:cNvSpPr txBox="1"/>
          <p:nvPr/>
        </p:nvSpPr>
        <p:spPr>
          <a:xfrm>
            <a:off x="4322826" y="3813048"/>
            <a:ext cx="2256282" cy="603504"/>
          </a:xfrm>
          <a:prstGeom prst="rect">
            <a:avLst/>
          </a:prstGeom>
          <a:noFill/>
        </p:spPr>
        <p:txBody>
          <a:bodyPr wrap="square" lIns="0" tIns="0" rIns="0" bIns="0" anchor="ctr">
            <a:spAutoFit/>
          </a:bodyPr>
          <a:lstStyle/>
          <a:p>
            <a:pPr algn="ctr">
              <a:spcAft>
                <a:spcPts val="100"/>
              </a:spcAft>
            </a:pPr>
            <a:r>
              <a:rPr sz="1050">
                <a:solidFill>
                  <a:srgbClr val="5C5C5C"/>
                </a:solidFill>
                <a:latin typeface="에이투지체 4 Regular"/>
                <a:ea typeface="에이투지체 4 Regular"/>
              </a:rPr>
              <a:t>단계별 패키지 상세</a:t>
            </a:r>
          </a:p>
        </p:txBody>
      </p:sp>
      <p:sp>
        <p:nvSpPr>
          <p:cNvPr id="48" name="TextBox 47"/>
          <p:cNvSpPr txBox="1"/>
          <p:nvPr/>
        </p:nvSpPr>
        <p:spPr>
          <a:xfrm>
            <a:off x="6816852" y="3813048"/>
            <a:ext cx="2256282" cy="603504"/>
          </a:xfrm>
          <a:prstGeom prst="rect">
            <a:avLst/>
          </a:prstGeom>
          <a:noFill/>
        </p:spPr>
        <p:txBody>
          <a:bodyPr wrap="square" lIns="0" tIns="0" rIns="0" bIns="0" anchor="ctr">
            <a:spAutoFit/>
          </a:bodyPr>
          <a:lstStyle/>
          <a:p>
            <a:pPr algn="ctr">
              <a:spcAft>
                <a:spcPts val="100"/>
              </a:spcAft>
            </a:pPr>
            <a:r>
              <a:rPr sz="1050">
                <a:solidFill>
                  <a:srgbClr val="5C5C5C"/>
                </a:solidFill>
                <a:latin typeface="에이투지체 4 Regular"/>
                <a:ea typeface="에이투지체 4 Regular"/>
              </a:rPr>
              <a:t>패키지 상세 · 장바구니</a:t>
            </a:r>
          </a:p>
        </p:txBody>
      </p:sp>
      <p:sp>
        <p:nvSpPr>
          <p:cNvPr id="49" name="TextBox 48"/>
          <p:cNvSpPr txBox="1"/>
          <p:nvPr/>
        </p:nvSpPr>
        <p:spPr>
          <a:xfrm>
            <a:off x="9310878" y="3813048"/>
            <a:ext cx="2256282" cy="603504"/>
          </a:xfrm>
          <a:prstGeom prst="rect">
            <a:avLst/>
          </a:prstGeom>
          <a:noFill/>
        </p:spPr>
        <p:txBody>
          <a:bodyPr wrap="square" lIns="0" tIns="0" rIns="0" bIns="0" anchor="ctr">
            <a:spAutoFit/>
          </a:bodyPr>
          <a:lstStyle/>
          <a:p>
            <a:pPr algn="ctr">
              <a:spcAft>
                <a:spcPts val="100"/>
              </a:spcAft>
            </a:pPr>
            <a:r>
              <a:rPr sz="1050">
                <a:solidFill>
                  <a:srgbClr val="5C5C5C"/>
                </a:solidFill>
                <a:latin typeface="에이투지체 4 Regular"/>
                <a:ea typeface="에이투지체 4 Regular"/>
              </a:rPr>
              <a:t>교차 상품 · 다음 단계 패키지</a:t>
            </a:r>
          </a:p>
        </p:txBody>
      </p:sp>
      <p:cxnSp>
        <p:nvCxnSpPr>
          <p:cNvPr id="50" name="Connector 49"/>
          <p:cNvCxnSpPr/>
          <p:nvPr/>
        </p:nvCxnSpPr>
        <p:spPr>
          <a:xfrm>
            <a:off x="1691640" y="4416552"/>
            <a:ext cx="992124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548640" y="4480560"/>
            <a:ext cx="1005840" cy="475488"/>
          </a:xfrm>
          <a:prstGeom prst="roundRect">
            <a:avLst>
              <a:gd name="adj" fmla="val 15384"/>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48640" y="4480560"/>
            <a:ext cx="1005840" cy="475488"/>
          </a:xfrm>
          <a:prstGeom prst="rect">
            <a:avLst/>
          </a:prstGeom>
          <a:noFill/>
        </p:spPr>
        <p:txBody>
          <a:bodyPr wrap="square" lIns="0" tIns="0" rIns="0" bIns="0" anchor="ctr">
            <a:spAutoFit/>
          </a:bodyPr>
          <a:lstStyle/>
          <a:p>
            <a:pPr algn="ctr">
              <a:spcAft>
                <a:spcPts val="300"/>
              </a:spcAft>
            </a:pPr>
            <a:r>
              <a:rPr sz="1150">
                <a:solidFill>
                  <a:srgbClr val="004F9F"/>
                </a:solidFill>
                <a:latin typeface="에이투지체 6 SemiBold"/>
                <a:ea typeface="에이투지체 6 SemiBold"/>
              </a:rPr>
              <a:t>매체</a:t>
            </a:r>
          </a:p>
        </p:txBody>
      </p:sp>
      <p:sp>
        <p:nvSpPr>
          <p:cNvPr id="53" name="TextBox 52"/>
          <p:cNvSpPr txBox="1"/>
          <p:nvPr/>
        </p:nvSpPr>
        <p:spPr>
          <a:xfrm>
            <a:off x="1828800" y="4416552"/>
            <a:ext cx="2256282" cy="603504"/>
          </a:xfrm>
          <a:prstGeom prst="rect">
            <a:avLst/>
          </a:prstGeom>
          <a:noFill/>
        </p:spPr>
        <p:txBody>
          <a:bodyPr wrap="square" lIns="0" tIns="0" rIns="0" bIns="0" anchor="ctr">
            <a:spAutoFit/>
          </a:bodyPr>
          <a:lstStyle/>
          <a:p>
            <a:pPr algn="ctr">
              <a:spcAft>
                <a:spcPts val="100"/>
              </a:spcAft>
            </a:pPr>
            <a:r>
              <a:rPr sz="1050">
                <a:solidFill>
                  <a:srgbClr val="5C5C5C"/>
                </a:solidFill>
                <a:latin typeface="에이투지체 4 Regular"/>
                <a:ea typeface="에이투지체 4 Regular"/>
              </a:rPr>
              <a:t>메타 정보성 슬라이드</a:t>
            </a:r>
          </a:p>
          <a:p>
            <a:pPr algn="ctr">
              <a:spcAft>
                <a:spcPts val="100"/>
              </a:spcAft>
            </a:pPr>
            <a:r>
              <a:rPr sz="1050">
                <a:solidFill>
                  <a:srgbClr val="5C5C5C"/>
                </a:solidFill>
                <a:latin typeface="에이투지체 4 Regular"/>
                <a:ea typeface="에이투지체 4 Regular"/>
              </a:rPr>
              <a:t>GFA 스마트채널</a:t>
            </a:r>
          </a:p>
        </p:txBody>
      </p:sp>
      <p:sp>
        <p:nvSpPr>
          <p:cNvPr id="54" name="TextBox 53"/>
          <p:cNvSpPr txBox="1"/>
          <p:nvPr/>
        </p:nvSpPr>
        <p:spPr>
          <a:xfrm>
            <a:off x="4322826" y="4416552"/>
            <a:ext cx="2256282" cy="603504"/>
          </a:xfrm>
          <a:prstGeom prst="rect">
            <a:avLst/>
          </a:prstGeom>
          <a:noFill/>
        </p:spPr>
        <p:txBody>
          <a:bodyPr wrap="square" lIns="0" tIns="0" rIns="0" bIns="0" anchor="ctr">
            <a:spAutoFit/>
          </a:bodyPr>
          <a:lstStyle/>
          <a:p>
            <a:pPr algn="ctr">
              <a:spcAft>
                <a:spcPts val="100"/>
              </a:spcAft>
            </a:pPr>
            <a:r>
              <a:rPr sz="1050">
                <a:solidFill>
                  <a:srgbClr val="5C5C5C"/>
                </a:solidFill>
                <a:latin typeface="에이투지체 4 Regular"/>
                <a:ea typeface="에이투지체 4 Regular"/>
              </a:rPr>
              <a:t>GFA 피드 리타겟</a:t>
            </a:r>
          </a:p>
          <a:p>
            <a:pPr algn="ctr">
              <a:spcAft>
                <a:spcPts val="100"/>
              </a:spcAft>
            </a:pPr>
            <a:r>
              <a:rPr sz="1050">
                <a:solidFill>
                  <a:srgbClr val="5C5C5C"/>
                </a:solidFill>
                <a:latin typeface="에이투지체 4 Regular"/>
                <a:ea typeface="에이투지체 4 Regular"/>
              </a:rPr>
              <a:t>쇼핑검색 일반 검색어</a:t>
            </a:r>
          </a:p>
        </p:txBody>
      </p:sp>
      <p:sp>
        <p:nvSpPr>
          <p:cNvPr id="55" name="TextBox 54"/>
          <p:cNvSpPr txBox="1"/>
          <p:nvPr/>
        </p:nvSpPr>
        <p:spPr>
          <a:xfrm>
            <a:off x="6816852" y="4416552"/>
            <a:ext cx="2256282" cy="603504"/>
          </a:xfrm>
          <a:prstGeom prst="rect">
            <a:avLst/>
          </a:prstGeom>
          <a:noFill/>
        </p:spPr>
        <p:txBody>
          <a:bodyPr wrap="square" lIns="0" tIns="0" rIns="0" bIns="0" anchor="ctr">
            <a:spAutoFit/>
          </a:bodyPr>
          <a:lstStyle/>
          <a:p>
            <a:pPr algn="ctr">
              <a:spcAft>
                <a:spcPts val="100"/>
              </a:spcAft>
            </a:pPr>
            <a:r>
              <a:rPr sz="1050">
                <a:solidFill>
                  <a:srgbClr val="5C5C5C"/>
                </a:solidFill>
                <a:latin typeface="에이투지체 4 Regular"/>
                <a:ea typeface="에이투지체 4 Regular"/>
              </a:rPr>
              <a:t>ADVoost</a:t>
            </a:r>
          </a:p>
          <a:p>
            <a:pPr algn="ctr">
              <a:spcAft>
                <a:spcPts val="100"/>
              </a:spcAft>
            </a:pPr>
            <a:r>
              <a:rPr sz="1050">
                <a:solidFill>
                  <a:srgbClr val="5C5C5C"/>
                </a:solidFill>
                <a:latin typeface="에이투지체 4 Regular"/>
                <a:ea typeface="에이투지체 4 Regular"/>
              </a:rPr>
              <a:t>메타 전환 캠페인</a:t>
            </a:r>
          </a:p>
          <a:p>
            <a:pPr algn="ctr">
              <a:spcAft>
                <a:spcPts val="100"/>
              </a:spcAft>
            </a:pPr>
            <a:r>
              <a:rPr sz="1050">
                <a:solidFill>
                  <a:srgbClr val="5C5C5C"/>
                </a:solidFill>
                <a:latin typeface="에이투지체 4 Regular"/>
                <a:ea typeface="에이투지체 4 Regular"/>
              </a:rPr>
              <a:t>쇼핑검색 브랜드 검색어</a:t>
            </a:r>
          </a:p>
        </p:txBody>
      </p:sp>
      <p:sp>
        <p:nvSpPr>
          <p:cNvPr id="56" name="TextBox 55"/>
          <p:cNvSpPr txBox="1"/>
          <p:nvPr/>
        </p:nvSpPr>
        <p:spPr>
          <a:xfrm>
            <a:off x="9310878" y="4416552"/>
            <a:ext cx="2256282" cy="603504"/>
          </a:xfrm>
          <a:prstGeom prst="rect">
            <a:avLst/>
          </a:prstGeom>
          <a:noFill/>
        </p:spPr>
        <p:txBody>
          <a:bodyPr wrap="square" lIns="0" tIns="0" rIns="0" bIns="0" anchor="ctr">
            <a:spAutoFit/>
          </a:bodyPr>
          <a:lstStyle/>
          <a:p>
            <a:pPr algn="ctr">
              <a:spcAft>
                <a:spcPts val="100"/>
              </a:spcAft>
            </a:pPr>
            <a:r>
              <a:rPr sz="1050">
                <a:solidFill>
                  <a:srgbClr val="5C5C5C"/>
                </a:solidFill>
                <a:latin typeface="에이투지체 4 Regular"/>
                <a:ea typeface="에이투지체 4 Regular"/>
              </a:rPr>
              <a:t>GFA 구매 고객 리타겟</a:t>
            </a:r>
          </a:p>
          <a:p>
            <a:pPr algn="ctr">
              <a:spcAft>
                <a:spcPts val="100"/>
              </a:spcAft>
            </a:pPr>
            <a:r>
              <a:rPr sz="1050">
                <a:solidFill>
                  <a:srgbClr val="5C5C5C"/>
                </a:solidFill>
                <a:latin typeface="에이투지체 4 Regular"/>
                <a:ea typeface="에이투지체 4 Regular"/>
              </a:rPr>
              <a:t>톡톡 CRM</a:t>
            </a:r>
          </a:p>
        </p:txBody>
      </p:sp>
      <p:cxnSp>
        <p:nvCxnSpPr>
          <p:cNvPr id="57" name="Connector 56"/>
          <p:cNvCxnSpPr/>
          <p:nvPr/>
        </p:nvCxnSpPr>
        <p:spPr>
          <a:xfrm>
            <a:off x="1691640" y="5020056"/>
            <a:ext cx="992124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58" name="Rounded Rectangle 57"/>
          <p:cNvSpPr/>
          <p:nvPr/>
        </p:nvSpPr>
        <p:spPr>
          <a:xfrm>
            <a:off x="548640" y="5084064"/>
            <a:ext cx="1005840" cy="475488"/>
          </a:xfrm>
          <a:prstGeom prst="roundRect">
            <a:avLst>
              <a:gd name="adj" fmla="val 15384"/>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548640" y="5084064"/>
            <a:ext cx="1005840" cy="475488"/>
          </a:xfrm>
          <a:prstGeom prst="rect">
            <a:avLst/>
          </a:prstGeom>
          <a:noFill/>
        </p:spPr>
        <p:txBody>
          <a:bodyPr wrap="square" lIns="0" tIns="0" rIns="0" bIns="0" anchor="ctr">
            <a:spAutoFit/>
          </a:bodyPr>
          <a:lstStyle/>
          <a:p>
            <a:pPr algn="ctr">
              <a:spcAft>
                <a:spcPts val="300"/>
              </a:spcAft>
            </a:pPr>
            <a:r>
              <a:rPr sz="1150">
                <a:solidFill>
                  <a:srgbClr val="FFFFFF"/>
                </a:solidFill>
                <a:latin typeface="에이투지체 6 SemiBold"/>
                <a:ea typeface="에이투지체 6 SemiBold"/>
              </a:rPr>
              <a:t>KPI</a:t>
            </a:r>
          </a:p>
        </p:txBody>
      </p:sp>
      <p:sp>
        <p:nvSpPr>
          <p:cNvPr id="60" name="Rounded Rectangle 59"/>
          <p:cNvSpPr/>
          <p:nvPr/>
        </p:nvSpPr>
        <p:spPr>
          <a:xfrm>
            <a:off x="1783080" y="5084064"/>
            <a:ext cx="2366010" cy="475488"/>
          </a:xfrm>
          <a:prstGeom prst="roundRect">
            <a:avLst>
              <a:gd name="adj" fmla="val 15384"/>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1828800" y="5020056"/>
            <a:ext cx="2256282" cy="603504"/>
          </a:xfrm>
          <a:prstGeom prst="rect">
            <a:avLst/>
          </a:prstGeom>
          <a:noFill/>
        </p:spPr>
        <p:txBody>
          <a:bodyPr wrap="square" lIns="0" tIns="0" rIns="0" bIns="0" anchor="ctr">
            <a:spAutoFit/>
          </a:bodyPr>
          <a:lstStyle/>
          <a:p>
            <a:pPr algn="ctr">
              <a:spcAft>
                <a:spcPts val="100"/>
              </a:spcAft>
            </a:pPr>
            <a:r>
              <a:rPr sz="1050">
                <a:solidFill>
                  <a:srgbClr val="004F9F"/>
                </a:solidFill>
                <a:latin typeface="에이투지체 6 SemiBold"/>
                <a:ea typeface="에이투지체 6 SemiBold"/>
              </a:rPr>
              <a:t>도달 · CTR</a:t>
            </a:r>
          </a:p>
          <a:p>
            <a:pPr algn="ctr">
              <a:spcAft>
                <a:spcPts val="100"/>
              </a:spcAft>
            </a:pPr>
            <a:r>
              <a:rPr sz="1050">
                <a:solidFill>
                  <a:srgbClr val="004F9F"/>
                </a:solidFill>
                <a:latin typeface="에이투지체 6 SemiBold"/>
                <a:ea typeface="에이투지체 6 SemiBold"/>
              </a:rPr>
              <a:t>큐레이션 페이지 유입</a:t>
            </a:r>
          </a:p>
        </p:txBody>
      </p:sp>
      <p:sp>
        <p:nvSpPr>
          <p:cNvPr id="62" name="Rounded Rectangle 61"/>
          <p:cNvSpPr/>
          <p:nvPr/>
        </p:nvSpPr>
        <p:spPr>
          <a:xfrm>
            <a:off x="4277106" y="5084064"/>
            <a:ext cx="2366010" cy="475488"/>
          </a:xfrm>
          <a:prstGeom prst="roundRect">
            <a:avLst>
              <a:gd name="adj" fmla="val 15384"/>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4322826" y="5020056"/>
            <a:ext cx="2256282" cy="603504"/>
          </a:xfrm>
          <a:prstGeom prst="rect">
            <a:avLst/>
          </a:prstGeom>
          <a:noFill/>
        </p:spPr>
        <p:txBody>
          <a:bodyPr wrap="square" lIns="0" tIns="0" rIns="0" bIns="0" anchor="ctr">
            <a:spAutoFit/>
          </a:bodyPr>
          <a:lstStyle/>
          <a:p>
            <a:pPr algn="ctr">
              <a:spcAft>
                <a:spcPts val="100"/>
              </a:spcAft>
            </a:pPr>
            <a:r>
              <a:rPr sz="1050">
                <a:solidFill>
                  <a:srgbClr val="004F9F"/>
                </a:solidFill>
                <a:latin typeface="에이투지체 6 SemiBold"/>
                <a:ea typeface="에이투지체 6 SemiBold"/>
              </a:rPr>
              <a:t>상세 진입 · 알림받기</a:t>
            </a:r>
          </a:p>
          <a:p>
            <a:pPr algn="ctr">
              <a:spcAft>
                <a:spcPts val="100"/>
              </a:spcAft>
            </a:pPr>
            <a:r>
              <a:rPr sz="1050">
                <a:solidFill>
                  <a:srgbClr val="004F9F"/>
                </a:solidFill>
                <a:latin typeface="에이투지체 6 SemiBold"/>
                <a:ea typeface="에이투지체 6 SemiBold"/>
              </a:rPr>
              <a:t>장바구니</a:t>
            </a:r>
          </a:p>
        </p:txBody>
      </p:sp>
      <p:sp>
        <p:nvSpPr>
          <p:cNvPr id="64" name="Rounded Rectangle 63"/>
          <p:cNvSpPr/>
          <p:nvPr/>
        </p:nvSpPr>
        <p:spPr>
          <a:xfrm>
            <a:off x="6771131" y="5084064"/>
            <a:ext cx="2366010" cy="475488"/>
          </a:xfrm>
          <a:prstGeom prst="roundRect">
            <a:avLst>
              <a:gd name="adj" fmla="val 15384"/>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TextBox 64"/>
          <p:cNvSpPr txBox="1"/>
          <p:nvPr/>
        </p:nvSpPr>
        <p:spPr>
          <a:xfrm>
            <a:off x="6816852" y="5020056"/>
            <a:ext cx="2256282" cy="603504"/>
          </a:xfrm>
          <a:prstGeom prst="rect">
            <a:avLst/>
          </a:prstGeom>
          <a:noFill/>
        </p:spPr>
        <p:txBody>
          <a:bodyPr wrap="square" lIns="0" tIns="0" rIns="0" bIns="0" anchor="ctr">
            <a:spAutoFit/>
          </a:bodyPr>
          <a:lstStyle/>
          <a:p>
            <a:pPr algn="ctr">
              <a:spcAft>
                <a:spcPts val="100"/>
              </a:spcAft>
            </a:pPr>
            <a:r>
              <a:rPr sz="1050">
                <a:solidFill>
                  <a:srgbClr val="004F9F"/>
                </a:solidFill>
                <a:latin typeface="에이투지체 6 SemiBold"/>
                <a:ea typeface="에이투지체 6 SemiBold"/>
              </a:rPr>
              <a:t>구매 · ROAS</a:t>
            </a:r>
          </a:p>
        </p:txBody>
      </p:sp>
      <p:sp>
        <p:nvSpPr>
          <p:cNvPr id="66" name="Rounded Rectangle 65"/>
          <p:cNvSpPr/>
          <p:nvPr/>
        </p:nvSpPr>
        <p:spPr>
          <a:xfrm>
            <a:off x="9265158" y="5084064"/>
            <a:ext cx="2366010" cy="475488"/>
          </a:xfrm>
          <a:prstGeom prst="roundRect">
            <a:avLst>
              <a:gd name="adj" fmla="val 15384"/>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p:cNvSpPr txBox="1"/>
          <p:nvPr/>
        </p:nvSpPr>
        <p:spPr>
          <a:xfrm>
            <a:off x="9310878" y="5020056"/>
            <a:ext cx="2256282" cy="603504"/>
          </a:xfrm>
          <a:prstGeom prst="rect">
            <a:avLst/>
          </a:prstGeom>
          <a:noFill/>
        </p:spPr>
        <p:txBody>
          <a:bodyPr wrap="square" lIns="0" tIns="0" rIns="0" bIns="0" anchor="ctr">
            <a:spAutoFit/>
          </a:bodyPr>
          <a:lstStyle/>
          <a:p>
            <a:pPr algn="ctr">
              <a:spcAft>
                <a:spcPts val="100"/>
              </a:spcAft>
            </a:pPr>
            <a:r>
              <a:rPr sz="1050">
                <a:solidFill>
                  <a:srgbClr val="004F9F"/>
                </a:solidFill>
                <a:latin typeface="에이투지체 6 SemiBold"/>
                <a:ea typeface="에이투지체 6 SemiBold"/>
              </a:rPr>
              <a:t>교차 구매율 · 재구매율</a:t>
            </a:r>
          </a:p>
          <a:p>
            <a:pPr algn="ctr">
              <a:spcAft>
                <a:spcPts val="100"/>
              </a:spcAft>
            </a:pPr>
            <a:r>
              <a:rPr sz="1050">
                <a:solidFill>
                  <a:srgbClr val="004F9F"/>
                </a:solidFill>
                <a:latin typeface="에이투지체 6 SemiBold"/>
                <a:ea typeface="에이투지체 6 SemiBold"/>
              </a:rPr>
              <a:t>FGO 외 매출 비중</a:t>
            </a:r>
          </a:p>
        </p:txBody>
      </p:sp>
      <p:sp>
        <p:nvSpPr>
          <p:cNvPr id="3" name="직사각형 2">
            <a:extLst>
              <a:ext uri="{FF2B5EF4-FFF2-40B4-BE49-F238E27FC236}">
                <a16:creationId xmlns:a16="http://schemas.microsoft.com/office/drawing/2014/main" id="{F754444B-E8A9-B9D2-738F-4EFD4BAA2DE8}"/>
              </a:ext>
            </a:extLst>
          </p:cNvPr>
          <p:cNvSpPr/>
          <p:nvPr/>
        </p:nvSpPr>
        <p:spPr>
          <a:xfrm>
            <a:off x="418011" y="658368"/>
            <a:ext cx="6444343" cy="74066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1B630D-5C17-4E13-2F45-96510BECBB2D}"/>
            </a:ext>
          </a:extLst>
        </p:cNvPr>
        <p:cNvGrpSpPr/>
        <p:nvPr/>
      </p:nvGrpSpPr>
      <p:grpSpPr>
        <a:xfrm>
          <a:off x="0" y="0"/>
          <a:ext cx="0" cy="0"/>
          <a:chOff x="0" y="0"/>
          <a:chExt cx="0" cy="0"/>
        </a:xfrm>
      </p:grpSpPr>
      <p:sp>
        <p:nvSpPr>
          <p:cNvPr id="18" name="TextBox 1">
            <a:extLst>
              <a:ext uri="{FF2B5EF4-FFF2-40B4-BE49-F238E27FC236}">
                <a16:creationId xmlns:a16="http://schemas.microsoft.com/office/drawing/2014/main" id="{BD4BC48E-1849-6C0D-9699-76A4ED6478A3}"/>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19" name="TextBox 7">
            <a:extLst>
              <a:ext uri="{FF2B5EF4-FFF2-40B4-BE49-F238E27FC236}">
                <a16:creationId xmlns:a16="http://schemas.microsoft.com/office/drawing/2014/main" id="{EA37F5F3-FE67-4D8E-1659-7DC7EEF6EB15}"/>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0" name="TextBox 8">
            <a:extLst>
              <a:ext uri="{FF2B5EF4-FFF2-40B4-BE49-F238E27FC236}">
                <a16:creationId xmlns:a16="http://schemas.microsoft.com/office/drawing/2014/main" id="{91B50025-D068-61F5-2B82-27B5900233E9}"/>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21" name="PGNO">
            <a:extLst>
              <a:ext uri="{FF2B5EF4-FFF2-40B4-BE49-F238E27FC236}">
                <a16:creationId xmlns:a16="http://schemas.microsoft.com/office/drawing/2014/main" id="{1FFDB208-A6BA-BDA3-F5F9-6FD10CD52126}"/>
              </a:ext>
            </a:extLst>
          </p:cNvPr>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22</a:t>
            </a:r>
          </a:p>
        </p:txBody>
      </p:sp>
      <p:sp>
        <p:nvSpPr>
          <p:cNvPr id="5" name="text-26">
            <a:extLst>
              <a:ext uri="{FF2B5EF4-FFF2-40B4-BE49-F238E27FC236}">
                <a16:creationId xmlns:a16="http://schemas.microsoft.com/office/drawing/2014/main" id="{8D7A651B-012C-CA20-A2FA-423A2B812E60}"/>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err="1">
                <a:solidFill>
                  <a:schemeClr val="bg1"/>
                </a:solidFill>
                <a:highlight>
                  <a:srgbClr val="0000FF"/>
                </a:highlight>
                <a:latin typeface="에이투지체 8 ExtraBold"/>
                <a:ea typeface="에이투지체 8 ExtraBold"/>
                <a:cs typeface="에이투지체 8 ExtraBold"/>
              </a:rPr>
              <a:t>FGO</a:t>
            </a:r>
            <a:r>
              <a:rPr lang="ko-KR" altLang="en-US" sz="1900" dirty="0" err="1">
                <a:solidFill>
                  <a:schemeClr val="bg1"/>
                </a:solidFill>
                <a:highlight>
                  <a:srgbClr val="0000FF"/>
                </a:highlight>
                <a:latin typeface="에이투지체 8 ExtraBold"/>
                <a:ea typeface="에이투지체 8 ExtraBold"/>
                <a:cs typeface="에이투지체 8 ExtraBold"/>
              </a:rPr>
              <a:t>릍</a:t>
            </a:r>
            <a:r>
              <a:rPr lang="ko-KR" altLang="en-US" sz="1900" dirty="0">
                <a:solidFill>
                  <a:schemeClr val="bg1"/>
                </a:solidFill>
                <a:highlight>
                  <a:srgbClr val="0000FF"/>
                </a:highlight>
                <a:latin typeface="에이투지체 8 ExtraBold"/>
                <a:ea typeface="에이투지체 8 ExtraBold"/>
                <a:cs typeface="에이투지체 8 ExtraBold"/>
              </a:rPr>
              <a:t> 통해</a:t>
            </a:r>
            <a:r>
              <a:rPr lang="ko-KR" sz="1900" dirty="0">
                <a:solidFill>
                  <a:schemeClr val="bg1"/>
                </a:solidFill>
                <a:highlight>
                  <a:srgbClr val="0000FF"/>
                </a:highlight>
                <a:latin typeface="에이투지체 8 ExtraBold"/>
                <a:ea typeface="에이투지체 8 ExtraBold"/>
                <a:cs typeface="에이투지체 8 ExtraBold"/>
              </a:rPr>
              <a:t> </a:t>
            </a:r>
            <a:r>
              <a:rPr lang="ko-KR" altLang="en-US" sz="1900" dirty="0">
                <a:solidFill>
                  <a:schemeClr val="bg1"/>
                </a:solidFill>
                <a:highlight>
                  <a:srgbClr val="0000FF"/>
                </a:highlight>
                <a:latin typeface="에이투지체 8 ExtraBold"/>
                <a:ea typeface="에이투지체 8 ExtraBold"/>
                <a:cs typeface="에이투지체 8 ExtraBold"/>
              </a:rPr>
              <a:t>유입된</a:t>
            </a:r>
            <a:r>
              <a:rPr lang="ko-KR" sz="1900" dirty="0">
                <a:solidFill>
                  <a:schemeClr val="bg1"/>
                </a:solidFill>
                <a:highlight>
                  <a:srgbClr val="0000FF"/>
                </a:highlight>
                <a:latin typeface="에이투지체 8 ExtraBold"/>
                <a:ea typeface="에이투지체 8 ExtraBold"/>
                <a:cs typeface="에이투지체 8 ExtraBold"/>
              </a:rPr>
              <a:t> 고객</a:t>
            </a:r>
            <a:r>
              <a:rPr lang="ko-KR" sz="1900" dirty="0">
                <a:solidFill>
                  <a:srgbClr val="222222"/>
                </a:solidFill>
                <a:latin typeface="에이투지체 8 ExtraBold"/>
                <a:ea typeface="에이투지체 8 ExtraBold"/>
                <a:cs typeface="에이투지체 8 ExtraBold"/>
              </a:rPr>
              <a:t>을</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함께 먹을 영양제와 다음 성장 단계로 이어갑니다</a:t>
            </a:r>
            <a:endParaRPr lang="ko-KR" sz="1900" dirty="0"/>
          </a:p>
        </p:txBody>
      </p:sp>
      <p:sp>
        <p:nvSpPr>
          <p:cNvPr id="16" name="node-36">
            <a:extLst>
              <a:ext uri="{FF2B5EF4-FFF2-40B4-BE49-F238E27FC236}">
                <a16:creationId xmlns:a16="http://schemas.microsoft.com/office/drawing/2014/main" id="{1811C3DB-A81F-2284-B297-E8D594747D91}"/>
              </a:ext>
            </a:extLst>
          </p:cNvPr>
          <p:cNvSpPr>
            <a:spLocks noGrp="1"/>
          </p:cNvSpPr>
          <p:nvPr/>
        </p:nvSpPr>
        <p:spPr>
          <a:xfrm>
            <a:off x="548640" y="57721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17" name="text-37">
            <a:extLst>
              <a:ext uri="{FF2B5EF4-FFF2-40B4-BE49-F238E27FC236}">
                <a16:creationId xmlns:a16="http://schemas.microsoft.com/office/drawing/2014/main" id="{5748FEA0-5D3C-BA94-DE16-554DB730E3A6}"/>
              </a:ext>
            </a:extLst>
          </p:cNvPr>
          <p:cNvSpPr>
            <a:spLocks noGrp="1"/>
          </p:cNvSpPr>
          <p:nvPr/>
        </p:nvSpPr>
        <p:spPr>
          <a:xfrm>
            <a:off x="742950" y="58197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defRPr sz="1358">
                <a:solidFill>
                  <a:srgbClr val="FFFFFF"/>
                </a:solidFill>
                <a:latin typeface="에이투지체 6 SemiBold"/>
                <a:ea typeface="에이투지체 6 SemiBold"/>
                <a:cs typeface="에이투지체 6 SemiBold"/>
              </a:defRPr>
            </a:pPr>
            <a:r>
              <a:rPr lang="ko-KR" altLang="en-US" sz="1358" dirty="0">
                <a:solidFill>
                  <a:srgbClr val="004F9F"/>
                </a:solidFill>
                <a:latin typeface="에이투지체 6 SemiBold"/>
                <a:ea typeface="에이투지체 6 SemiBold"/>
                <a:cs typeface="에이투지체 6 SemiBold"/>
              </a:rPr>
              <a:t>신규 고객을 매번 다시 찾는 구조가 아니라</a:t>
            </a:r>
            <a:r>
              <a:rPr lang="en-US" altLang="ko-KR" sz="1358" dirty="0">
                <a:solidFill>
                  <a:srgbClr val="004F9F"/>
                </a:solidFill>
                <a:latin typeface="에이투지체 6 SemiBold"/>
                <a:ea typeface="에이투지체 6 SemiBold"/>
                <a:cs typeface="에이투지체 6 SemiBold"/>
              </a:rPr>
              <a:t>, </a:t>
            </a:r>
            <a:r>
              <a:rPr lang="ko-KR" altLang="en-US" sz="1358" dirty="0">
                <a:solidFill>
                  <a:srgbClr val="004F9F"/>
                </a:solidFill>
                <a:latin typeface="에이투지체 6 SemiBold"/>
                <a:ea typeface="에이투지체 6 SemiBold"/>
                <a:cs typeface="에이투지체 6 SemiBold"/>
              </a:rPr>
              <a:t>확보한 고객의 구매를 넓히는 구조로 성장합니다</a:t>
            </a:r>
            <a:endParaRPr sz="1358" dirty="0">
              <a:solidFill>
                <a:srgbClr val="FFFFFF"/>
              </a:solidFill>
              <a:latin typeface="에이투지체 6 SemiBold"/>
              <a:ea typeface="에이투지체 6 SemiBold"/>
              <a:cs typeface="에이투지체 6 SemiBold"/>
            </a:endParaRPr>
          </a:p>
        </p:txBody>
      </p:sp>
      <p:grpSp>
        <p:nvGrpSpPr>
          <p:cNvPr id="2" name="그룹 1">
            <a:extLst>
              <a:ext uri="{FF2B5EF4-FFF2-40B4-BE49-F238E27FC236}">
                <a16:creationId xmlns:a16="http://schemas.microsoft.com/office/drawing/2014/main" id="{72C7FB2D-7FB9-2763-8AEA-CCED88E53F1F}"/>
              </a:ext>
            </a:extLst>
          </p:cNvPr>
          <p:cNvGrpSpPr/>
          <p:nvPr/>
        </p:nvGrpSpPr>
        <p:grpSpPr>
          <a:xfrm>
            <a:off x="548640" y="2057400"/>
            <a:ext cx="11064240" cy="3451098"/>
            <a:chOff x="548640" y="2057400"/>
            <a:chExt cx="11064240" cy="3703320"/>
          </a:xfrm>
        </p:grpSpPr>
        <p:sp>
          <p:nvSpPr>
            <p:cNvPr id="3" name="Rectangle 7">
              <a:extLst>
                <a:ext uri="{FF2B5EF4-FFF2-40B4-BE49-F238E27FC236}">
                  <a16:creationId xmlns:a16="http://schemas.microsoft.com/office/drawing/2014/main" id="{157A842A-7EA2-FEBB-5DF2-89B779082CC6}"/>
                </a:ext>
              </a:extLst>
            </p:cNvPr>
            <p:cNvSpPr/>
            <p:nvPr/>
          </p:nvSpPr>
          <p:spPr>
            <a:xfrm>
              <a:off x="548640" y="2057400"/>
              <a:ext cx="2606040" cy="1554480"/>
            </a:xfrm>
            <a:prstGeom prst="roundRect">
              <a:avLst>
                <a:gd name="adj" fmla="val 4705"/>
              </a:avLst>
            </a:prstGeom>
            <a:solidFill>
              <a:srgbClr val="EAF2FB"/>
            </a:solidFill>
            <a:ln w="12700">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BB713990-398A-4E71-7BF1-900C840CD9F9}"/>
                </a:ext>
              </a:extLst>
            </p:cNvPr>
            <p:cNvSpPr txBox="1"/>
            <p:nvPr/>
          </p:nvSpPr>
          <p:spPr>
            <a:xfrm>
              <a:off x="548640" y="2057400"/>
              <a:ext cx="2606040" cy="1554480"/>
            </a:xfrm>
            <a:prstGeom prst="rect">
              <a:avLst/>
            </a:prstGeom>
            <a:noFill/>
          </p:spPr>
          <p:txBody>
            <a:bodyPr wrap="square" lIns="0" tIns="0" rIns="0" bIns="0" anchor="ctr">
              <a:spAutoFit/>
            </a:bodyPr>
            <a:lstStyle/>
            <a:p>
              <a:pPr algn="ctr">
                <a:spcAft>
                  <a:spcPts val="200"/>
                </a:spcAft>
              </a:pPr>
              <a:r>
                <a:rPr sz="1600">
                  <a:solidFill>
                    <a:srgbClr val="004F9F"/>
                  </a:solidFill>
                  <a:latin typeface="에이투지체 8 ExtraBold"/>
                  <a:ea typeface="에이투지체 8 ExtraBold"/>
                </a:rPr>
                <a:t>01</a:t>
              </a:r>
            </a:p>
            <a:p>
              <a:pPr algn="ctr">
                <a:spcAft>
                  <a:spcPts val="200"/>
                </a:spcAft>
              </a:pPr>
              <a:r>
                <a:rPr sz="1400">
                  <a:solidFill>
                    <a:srgbClr val="222222"/>
                  </a:solidFill>
                  <a:latin typeface="에이투지체 8 ExtraBold"/>
                  <a:ea typeface="에이투지체 8 ExtraBold"/>
                </a:rPr>
                <a:t>FGO 구매</a:t>
              </a:r>
            </a:p>
            <a:p>
              <a:pPr algn="ctr">
                <a:spcAft>
                  <a:spcPts val="200"/>
                </a:spcAft>
              </a:pPr>
              <a:r>
                <a:rPr sz="1000">
                  <a:solidFill>
                    <a:srgbClr val="5C5C5C"/>
                  </a:solidFill>
                  <a:latin typeface="에이투지체 4 Regular"/>
                  <a:ea typeface="에이투지체 4 Regular"/>
                </a:rPr>
                <a:t>키성장 수요로 첫 구매</a:t>
              </a:r>
            </a:p>
          </p:txBody>
        </p:sp>
        <p:sp>
          <p:nvSpPr>
            <p:cNvPr id="7" name="Right Arrow 9">
              <a:extLst>
                <a:ext uri="{FF2B5EF4-FFF2-40B4-BE49-F238E27FC236}">
                  <a16:creationId xmlns:a16="http://schemas.microsoft.com/office/drawing/2014/main" id="{A39A8CD3-57C4-D903-C3EE-98700D7A7E12}"/>
                </a:ext>
              </a:extLst>
            </p:cNvPr>
            <p:cNvSpPr/>
            <p:nvPr/>
          </p:nvSpPr>
          <p:spPr>
            <a:xfrm>
              <a:off x="3182112" y="2697480"/>
              <a:ext cx="155448" cy="274320"/>
            </a:xfrm>
            <a:prstGeom prst="rightArrow">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10">
              <a:extLst>
                <a:ext uri="{FF2B5EF4-FFF2-40B4-BE49-F238E27FC236}">
                  <a16:creationId xmlns:a16="http://schemas.microsoft.com/office/drawing/2014/main" id="{33243410-5CDB-157A-47C6-1769D387F4E6}"/>
                </a:ext>
              </a:extLst>
            </p:cNvPr>
            <p:cNvSpPr/>
            <p:nvPr/>
          </p:nvSpPr>
          <p:spPr>
            <a:xfrm>
              <a:off x="3364992" y="2057400"/>
              <a:ext cx="2606040" cy="1554480"/>
            </a:xfrm>
            <a:prstGeom prst="roundRect">
              <a:avLst>
                <a:gd name="adj" fmla="val 470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5D7E938D-D124-ED95-B473-5770558BE8CF}"/>
                </a:ext>
              </a:extLst>
            </p:cNvPr>
            <p:cNvSpPr txBox="1"/>
            <p:nvPr/>
          </p:nvSpPr>
          <p:spPr>
            <a:xfrm>
              <a:off x="3364992" y="2057400"/>
              <a:ext cx="2606040" cy="1554480"/>
            </a:xfrm>
            <a:prstGeom prst="rect">
              <a:avLst/>
            </a:prstGeom>
            <a:noFill/>
          </p:spPr>
          <p:txBody>
            <a:bodyPr wrap="square" lIns="0" tIns="0" rIns="0" bIns="0" anchor="ctr">
              <a:spAutoFit/>
            </a:bodyPr>
            <a:lstStyle/>
            <a:p>
              <a:pPr algn="ctr">
                <a:spcAft>
                  <a:spcPts val="200"/>
                </a:spcAft>
              </a:pPr>
              <a:r>
                <a:rPr sz="1600">
                  <a:solidFill>
                    <a:srgbClr val="004F9F"/>
                  </a:solidFill>
                  <a:latin typeface="에이투지체 8 ExtraBold"/>
                  <a:ea typeface="에이투지체 8 ExtraBold"/>
                </a:rPr>
                <a:t>02</a:t>
              </a:r>
            </a:p>
            <a:p>
              <a:pPr algn="ctr">
                <a:spcAft>
                  <a:spcPts val="200"/>
                </a:spcAft>
              </a:pPr>
              <a:r>
                <a:rPr sz="1400">
                  <a:solidFill>
                    <a:srgbClr val="222222"/>
                  </a:solidFill>
                  <a:latin typeface="에이투지체 8 ExtraBold"/>
                  <a:ea typeface="에이투지체 8 ExtraBold"/>
                </a:rPr>
                <a:t>교차 제안</a:t>
              </a:r>
            </a:p>
            <a:p>
              <a:pPr algn="ctr">
                <a:spcAft>
                  <a:spcPts val="200"/>
                </a:spcAft>
              </a:pPr>
              <a:r>
                <a:rPr sz="1000">
                  <a:solidFill>
                    <a:srgbClr val="5C5C5C"/>
                  </a:solidFill>
                  <a:latin typeface="에이투지체 4 Regular"/>
                  <a:ea typeface="에이투지체 4 Regular"/>
                </a:rPr>
                <a:t>함께 먹을 영양제</a:t>
              </a:r>
            </a:p>
            <a:p>
              <a:pPr algn="ctr">
                <a:spcAft>
                  <a:spcPts val="200"/>
                </a:spcAft>
              </a:pPr>
              <a:r>
                <a:rPr sz="1000">
                  <a:solidFill>
                    <a:srgbClr val="5C5C5C"/>
                  </a:solidFill>
                  <a:latin typeface="에이투지체 4 Regular"/>
                  <a:ea typeface="에이투지체 4 Regular"/>
                </a:rPr>
                <a:t>리타겟 · 톡톡</a:t>
              </a:r>
            </a:p>
          </p:txBody>
        </p:sp>
        <p:sp>
          <p:nvSpPr>
            <p:cNvPr id="10" name="Right Arrow 12">
              <a:extLst>
                <a:ext uri="{FF2B5EF4-FFF2-40B4-BE49-F238E27FC236}">
                  <a16:creationId xmlns:a16="http://schemas.microsoft.com/office/drawing/2014/main" id="{4AFE0540-9ECA-EEAE-2BBD-9E2756B206BE}"/>
                </a:ext>
              </a:extLst>
            </p:cNvPr>
            <p:cNvSpPr/>
            <p:nvPr/>
          </p:nvSpPr>
          <p:spPr>
            <a:xfrm>
              <a:off x="5998464" y="2697480"/>
              <a:ext cx="155448" cy="274320"/>
            </a:xfrm>
            <a:prstGeom prst="rightArrow">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3">
              <a:extLst>
                <a:ext uri="{FF2B5EF4-FFF2-40B4-BE49-F238E27FC236}">
                  <a16:creationId xmlns:a16="http://schemas.microsoft.com/office/drawing/2014/main" id="{11648249-E88B-4AE2-3E76-46318A55063C}"/>
                </a:ext>
              </a:extLst>
            </p:cNvPr>
            <p:cNvSpPr/>
            <p:nvPr/>
          </p:nvSpPr>
          <p:spPr>
            <a:xfrm>
              <a:off x="6181344" y="2057400"/>
              <a:ext cx="2606040" cy="1554480"/>
            </a:xfrm>
            <a:prstGeom prst="roundRect">
              <a:avLst>
                <a:gd name="adj" fmla="val 470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387F55ED-CC24-28AF-A5DD-2E8C91C70F4F}"/>
                </a:ext>
              </a:extLst>
            </p:cNvPr>
            <p:cNvSpPr txBox="1"/>
            <p:nvPr/>
          </p:nvSpPr>
          <p:spPr>
            <a:xfrm>
              <a:off x="6181344" y="2057400"/>
              <a:ext cx="2606040" cy="1554480"/>
            </a:xfrm>
            <a:prstGeom prst="rect">
              <a:avLst/>
            </a:prstGeom>
            <a:noFill/>
          </p:spPr>
          <p:txBody>
            <a:bodyPr wrap="square" lIns="0" tIns="0" rIns="0" bIns="0" anchor="ctr">
              <a:spAutoFit/>
            </a:bodyPr>
            <a:lstStyle/>
            <a:p>
              <a:pPr algn="ctr">
                <a:spcAft>
                  <a:spcPts val="200"/>
                </a:spcAft>
              </a:pPr>
              <a:r>
                <a:rPr sz="1600" dirty="0">
                  <a:solidFill>
                    <a:srgbClr val="004F9F"/>
                  </a:solidFill>
                  <a:latin typeface="에이투지체 8 ExtraBold"/>
                  <a:ea typeface="에이투지체 8 ExtraBold"/>
                </a:rPr>
                <a:t>03</a:t>
              </a:r>
            </a:p>
            <a:p>
              <a:pPr algn="ctr">
                <a:spcAft>
                  <a:spcPts val="200"/>
                </a:spcAft>
              </a:pPr>
              <a:r>
                <a:rPr sz="1400" dirty="0" err="1">
                  <a:solidFill>
                    <a:srgbClr val="222222"/>
                  </a:solidFill>
                  <a:latin typeface="에이투지체 8 ExtraBold"/>
                  <a:ea typeface="에이투지체 8 ExtraBold"/>
                </a:rPr>
                <a:t>패키지</a:t>
              </a:r>
              <a:r>
                <a:rPr sz="1400" dirty="0">
                  <a:solidFill>
                    <a:srgbClr val="222222"/>
                  </a:solidFill>
                  <a:latin typeface="에이투지체 8 ExtraBold"/>
                  <a:ea typeface="에이투지체 8 ExtraBold"/>
                </a:rPr>
                <a:t> </a:t>
              </a:r>
              <a:r>
                <a:rPr sz="1400" dirty="0" err="1">
                  <a:solidFill>
                    <a:srgbClr val="222222"/>
                  </a:solidFill>
                  <a:latin typeface="에이투지체 8 ExtraBold"/>
                  <a:ea typeface="에이투지체 8 ExtraBold"/>
                </a:rPr>
                <a:t>전환</a:t>
              </a:r>
              <a:endParaRPr sz="1400" dirty="0">
                <a:solidFill>
                  <a:srgbClr val="222222"/>
                </a:solidFill>
                <a:latin typeface="에이투지체 8 ExtraBold"/>
                <a:ea typeface="에이투지체 8 ExtraBold"/>
              </a:endParaRPr>
            </a:p>
            <a:p>
              <a:pPr algn="ctr">
                <a:spcAft>
                  <a:spcPts val="200"/>
                </a:spcAft>
              </a:pPr>
              <a:r>
                <a:rPr sz="1000" dirty="0" err="1">
                  <a:solidFill>
                    <a:srgbClr val="5C5C5C"/>
                  </a:solidFill>
                  <a:latin typeface="에이투지체 4 Regular"/>
                  <a:ea typeface="에이투지체 4 Regular"/>
                </a:rPr>
                <a:t>단계별</a:t>
              </a:r>
              <a:r>
                <a:rPr sz="1000" dirty="0">
                  <a:solidFill>
                    <a:srgbClr val="5C5C5C"/>
                  </a:solidFill>
                  <a:latin typeface="에이투지체 4 Regular"/>
                  <a:ea typeface="에이투지체 4 Regular"/>
                </a:rPr>
                <a:t> </a:t>
              </a:r>
              <a:r>
                <a:rPr sz="1000" dirty="0" err="1">
                  <a:solidFill>
                    <a:srgbClr val="5C5C5C"/>
                  </a:solidFill>
                  <a:latin typeface="에이투지체 4 Regular"/>
                  <a:ea typeface="에이투지체 4 Regular"/>
                </a:rPr>
                <a:t>패키지</a:t>
              </a:r>
              <a:r>
                <a:rPr sz="1000" dirty="0">
                  <a:solidFill>
                    <a:srgbClr val="5C5C5C"/>
                  </a:solidFill>
                  <a:latin typeface="에이투지체 4 Regular"/>
                  <a:ea typeface="에이투지체 4 Regular"/>
                </a:rPr>
                <a:t> </a:t>
              </a:r>
              <a:r>
                <a:rPr sz="1000" dirty="0" err="1">
                  <a:solidFill>
                    <a:srgbClr val="5C5C5C"/>
                  </a:solidFill>
                  <a:latin typeface="에이투지체 4 Regular"/>
                  <a:ea typeface="에이투지체 4 Regular"/>
                </a:rPr>
                <a:t>구매</a:t>
              </a:r>
              <a:endParaRPr sz="1000" dirty="0">
                <a:solidFill>
                  <a:srgbClr val="5C5C5C"/>
                </a:solidFill>
                <a:latin typeface="에이투지체 4 Regular"/>
                <a:ea typeface="에이투지체 4 Regular"/>
              </a:endParaRPr>
            </a:p>
            <a:p>
              <a:pPr algn="ctr">
                <a:spcAft>
                  <a:spcPts val="200"/>
                </a:spcAft>
              </a:pPr>
              <a:r>
                <a:rPr sz="1000" dirty="0" err="1">
                  <a:solidFill>
                    <a:srgbClr val="5C5C5C"/>
                  </a:solidFill>
                  <a:latin typeface="에이투지체 4 Regular"/>
                  <a:ea typeface="에이투지체 4 Regular"/>
                </a:rPr>
                <a:t>객단가</a:t>
              </a:r>
              <a:r>
                <a:rPr sz="1000" dirty="0">
                  <a:solidFill>
                    <a:srgbClr val="5C5C5C"/>
                  </a:solidFill>
                  <a:latin typeface="에이투지체 4 Regular"/>
                  <a:ea typeface="에이투지체 4 Regular"/>
                </a:rPr>
                <a:t> </a:t>
              </a:r>
              <a:r>
                <a:rPr sz="1000" dirty="0" err="1">
                  <a:solidFill>
                    <a:srgbClr val="5C5C5C"/>
                  </a:solidFill>
                  <a:latin typeface="에이투지체 4 Regular"/>
                  <a:ea typeface="에이투지체 4 Regular"/>
                </a:rPr>
                <a:t>상승</a:t>
              </a:r>
              <a:endParaRPr sz="1000" dirty="0">
                <a:solidFill>
                  <a:srgbClr val="5C5C5C"/>
                </a:solidFill>
                <a:latin typeface="에이투지체 4 Regular"/>
                <a:ea typeface="에이투지체 4 Regular"/>
              </a:endParaRPr>
            </a:p>
          </p:txBody>
        </p:sp>
        <p:sp>
          <p:nvSpPr>
            <p:cNvPr id="13" name="Right Arrow 15">
              <a:extLst>
                <a:ext uri="{FF2B5EF4-FFF2-40B4-BE49-F238E27FC236}">
                  <a16:creationId xmlns:a16="http://schemas.microsoft.com/office/drawing/2014/main" id="{F36726C6-654F-7CAF-D4F6-C2FA5ABC7838}"/>
                </a:ext>
              </a:extLst>
            </p:cNvPr>
            <p:cNvSpPr/>
            <p:nvPr/>
          </p:nvSpPr>
          <p:spPr>
            <a:xfrm>
              <a:off x="8814816" y="2697480"/>
              <a:ext cx="155448" cy="274320"/>
            </a:xfrm>
            <a:prstGeom prst="rightArrow">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6">
              <a:extLst>
                <a:ext uri="{FF2B5EF4-FFF2-40B4-BE49-F238E27FC236}">
                  <a16:creationId xmlns:a16="http://schemas.microsoft.com/office/drawing/2014/main" id="{99B7C3E8-B220-41DD-2B4C-2D50237B5B0E}"/>
                </a:ext>
              </a:extLst>
            </p:cNvPr>
            <p:cNvSpPr/>
            <p:nvPr/>
          </p:nvSpPr>
          <p:spPr>
            <a:xfrm>
              <a:off x="8997696" y="2057400"/>
              <a:ext cx="2606040" cy="1554480"/>
            </a:xfrm>
            <a:prstGeom prst="roundRect">
              <a:avLst>
                <a:gd name="adj" fmla="val 470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FB99BA92-6B47-6DFF-4ABC-68C50A1FA1ED}"/>
                </a:ext>
              </a:extLst>
            </p:cNvPr>
            <p:cNvSpPr txBox="1"/>
            <p:nvPr/>
          </p:nvSpPr>
          <p:spPr>
            <a:xfrm>
              <a:off x="8997696" y="2057400"/>
              <a:ext cx="2606040" cy="1554480"/>
            </a:xfrm>
            <a:prstGeom prst="rect">
              <a:avLst/>
            </a:prstGeom>
            <a:noFill/>
          </p:spPr>
          <p:txBody>
            <a:bodyPr wrap="square" lIns="0" tIns="0" rIns="0" bIns="0" anchor="ctr">
              <a:spAutoFit/>
            </a:bodyPr>
            <a:lstStyle/>
            <a:p>
              <a:pPr algn="ctr">
                <a:spcAft>
                  <a:spcPts val="200"/>
                </a:spcAft>
              </a:pPr>
              <a:r>
                <a:rPr sz="1600">
                  <a:solidFill>
                    <a:srgbClr val="004F9F"/>
                  </a:solidFill>
                  <a:latin typeface="에이투지체 8 ExtraBold"/>
                  <a:ea typeface="에이투지체 8 ExtraBold"/>
                </a:rPr>
                <a:t>04</a:t>
              </a:r>
            </a:p>
            <a:p>
              <a:pPr algn="ctr">
                <a:spcAft>
                  <a:spcPts val="200"/>
                </a:spcAft>
              </a:pPr>
              <a:r>
                <a:rPr sz="1400">
                  <a:solidFill>
                    <a:srgbClr val="222222"/>
                  </a:solidFill>
                  <a:latin typeface="에이투지체 8 ExtraBold"/>
                  <a:ea typeface="에이투지체 8 ExtraBold"/>
                </a:rPr>
                <a:t>다음 단계 제안</a:t>
              </a:r>
            </a:p>
            <a:p>
              <a:pPr algn="ctr">
                <a:spcAft>
                  <a:spcPts val="200"/>
                </a:spcAft>
              </a:pPr>
              <a:r>
                <a:rPr sz="1000">
                  <a:solidFill>
                    <a:srgbClr val="5C5C5C"/>
                  </a:solidFill>
                  <a:latin typeface="에이투지체 4 Regular"/>
                  <a:ea typeface="에이투지체 4 Regular"/>
                </a:rPr>
                <a:t>아이 성장에 맞춘</a:t>
              </a:r>
            </a:p>
            <a:p>
              <a:pPr algn="ctr">
                <a:spcAft>
                  <a:spcPts val="200"/>
                </a:spcAft>
              </a:pPr>
              <a:r>
                <a:rPr sz="1000">
                  <a:solidFill>
                    <a:srgbClr val="5C5C5C"/>
                  </a:solidFill>
                  <a:latin typeface="에이투지체 4 Regular"/>
                  <a:ea typeface="에이투지체 4 Regular"/>
                </a:rPr>
                <a:t>다음 구성 제안</a:t>
              </a:r>
            </a:p>
          </p:txBody>
        </p:sp>
        <p:sp>
          <p:nvSpPr>
            <p:cNvPr id="22" name="Rectangle 18">
              <a:extLst>
                <a:ext uri="{FF2B5EF4-FFF2-40B4-BE49-F238E27FC236}">
                  <a16:creationId xmlns:a16="http://schemas.microsoft.com/office/drawing/2014/main" id="{C3734892-D696-DCC3-68DE-3F32097EA5BE}"/>
                </a:ext>
              </a:extLst>
            </p:cNvPr>
            <p:cNvSpPr/>
            <p:nvPr/>
          </p:nvSpPr>
          <p:spPr>
            <a:xfrm>
              <a:off x="548640" y="3703320"/>
              <a:ext cx="11064240" cy="329184"/>
            </a:xfrm>
            <a:prstGeom prst="roundRect">
              <a:avLst>
                <a:gd name="adj" fmla="val 22222"/>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F8072508-2165-E99B-F6A7-BA09DB816EBB}"/>
                </a:ext>
              </a:extLst>
            </p:cNvPr>
            <p:cNvSpPr txBox="1"/>
            <p:nvPr/>
          </p:nvSpPr>
          <p:spPr>
            <a:xfrm>
              <a:off x="548640" y="3703320"/>
              <a:ext cx="11064240" cy="329184"/>
            </a:xfrm>
            <a:prstGeom prst="rect">
              <a:avLst/>
            </a:prstGeom>
            <a:noFill/>
          </p:spPr>
          <p:txBody>
            <a:bodyPr wrap="square" lIns="0" tIns="0" rIns="0" bIns="0" anchor="ctr">
              <a:spAutoFit/>
            </a:bodyPr>
            <a:lstStyle/>
            <a:p>
              <a:pPr algn="ctr">
                <a:spcAft>
                  <a:spcPts val="400"/>
                </a:spcAft>
              </a:pPr>
              <a:r>
                <a:rPr sz="1050">
                  <a:solidFill>
                    <a:srgbClr val="004F9F"/>
                  </a:solidFill>
                  <a:latin typeface="에이투지체 6 SemiBold"/>
                  <a:ea typeface="에이투지체 6 SemiBold"/>
                </a:rPr>
                <a:t>↻  다음 단계 제안 고객은 다시 교차 제안과 패키지로 순환</a:t>
              </a:r>
            </a:p>
          </p:txBody>
        </p:sp>
        <p:sp>
          <p:nvSpPr>
            <p:cNvPr id="24" name="Rectangle 20">
              <a:extLst>
                <a:ext uri="{FF2B5EF4-FFF2-40B4-BE49-F238E27FC236}">
                  <a16:creationId xmlns:a16="http://schemas.microsoft.com/office/drawing/2014/main" id="{DA421283-616D-0238-6503-AD7BAA0817C7}"/>
                </a:ext>
              </a:extLst>
            </p:cNvPr>
            <p:cNvSpPr/>
            <p:nvPr/>
          </p:nvSpPr>
          <p:spPr>
            <a:xfrm>
              <a:off x="548640" y="4160520"/>
              <a:ext cx="5440680" cy="1600200"/>
            </a:xfrm>
            <a:prstGeom prst="roundRect">
              <a:avLst>
                <a:gd name="adj" fmla="val 4571"/>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7DFFED64-EB95-582C-9FCB-C0EEB19311B8}"/>
                </a:ext>
              </a:extLst>
            </p:cNvPr>
            <p:cNvSpPr txBox="1"/>
            <p:nvPr/>
          </p:nvSpPr>
          <p:spPr>
            <a:xfrm>
              <a:off x="822959" y="4297680"/>
              <a:ext cx="4937760" cy="1371600"/>
            </a:xfrm>
            <a:prstGeom prst="rect">
              <a:avLst/>
            </a:prstGeom>
            <a:noFill/>
          </p:spPr>
          <p:txBody>
            <a:bodyPr wrap="square" lIns="0" tIns="0" rIns="0" bIns="0" anchor="t">
              <a:spAutoFit/>
            </a:bodyPr>
            <a:lstStyle/>
            <a:p>
              <a:pPr algn="l">
                <a:spcAft>
                  <a:spcPts val="300"/>
                </a:spcAft>
              </a:pPr>
              <a:r>
                <a:rPr sz="1000">
                  <a:solidFill>
                    <a:srgbClr val="6FB0E8"/>
                  </a:solidFill>
                  <a:latin typeface="에이투지체 8 ExtraBold"/>
                  <a:ea typeface="에이투지체 8 ExtraBold"/>
                </a:rPr>
                <a:t>ALWAYS-ON</a:t>
              </a:r>
            </a:p>
            <a:p>
              <a:pPr algn="l">
                <a:spcAft>
                  <a:spcPts val="300"/>
                </a:spcAft>
              </a:pPr>
              <a:r>
                <a:rPr sz="1400">
                  <a:solidFill>
                    <a:srgbClr val="FFFFFF"/>
                  </a:solidFill>
                  <a:latin typeface="에이투지체 8 ExtraBold"/>
                  <a:ea typeface="에이투지체 8 ExtraBold"/>
                </a:rPr>
                <a:t>상시 운영</a:t>
              </a:r>
            </a:p>
            <a:p>
              <a:pPr algn="l">
                <a:spcAft>
                  <a:spcPts val="300"/>
                </a:spcAft>
              </a:pPr>
              <a:r>
                <a:rPr sz="1100">
                  <a:solidFill>
                    <a:srgbClr val="FFFFFF"/>
                  </a:solidFill>
                  <a:latin typeface="에이투지체 5 Medium"/>
                  <a:ea typeface="에이투지체 5 Medium"/>
                </a:rPr>
                <a:t>큐레이션과 교차 제안으로</a:t>
              </a:r>
            </a:p>
            <a:p>
              <a:pPr algn="l">
                <a:spcAft>
                  <a:spcPts val="300"/>
                </a:spcAft>
              </a:pPr>
              <a:r>
                <a:rPr sz="1100">
                  <a:solidFill>
                    <a:srgbClr val="FFFFFF"/>
                  </a:solidFill>
                  <a:latin typeface="에이투지체 5 Medium"/>
                  <a:ea typeface="에이투지체 5 Medium"/>
                </a:rPr>
                <a:t>FGO 외 상품 매출 기반을 넓힙니다</a:t>
              </a:r>
            </a:p>
          </p:txBody>
        </p:sp>
        <p:sp>
          <p:nvSpPr>
            <p:cNvPr id="27" name="Rectangle 22">
              <a:extLst>
                <a:ext uri="{FF2B5EF4-FFF2-40B4-BE49-F238E27FC236}">
                  <a16:creationId xmlns:a16="http://schemas.microsoft.com/office/drawing/2014/main" id="{E730CD56-727D-A826-7333-F6C8E3F1351C}"/>
                </a:ext>
              </a:extLst>
            </p:cNvPr>
            <p:cNvSpPr/>
            <p:nvPr/>
          </p:nvSpPr>
          <p:spPr>
            <a:xfrm>
              <a:off x="6126479" y="4160520"/>
              <a:ext cx="5440680" cy="1600200"/>
            </a:xfrm>
            <a:prstGeom prst="roundRect">
              <a:avLst>
                <a:gd name="adj" fmla="val 4571"/>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a:extLst>
                <a:ext uri="{FF2B5EF4-FFF2-40B4-BE49-F238E27FC236}">
                  <a16:creationId xmlns:a16="http://schemas.microsoft.com/office/drawing/2014/main" id="{9AF40853-EC08-8E29-395E-AE8ED95A7FF6}"/>
                </a:ext>
              </a:extLst>
            </p:cNvPr>
            <p:cNvSpPr txBox="1"/>
            <p:nvPr/>
          </p:nvSpPr>
          <p:spPr>
            <a:xfrm>
              <a:off x="6400799" y="4297680"/>
              <a:ext cx="4937760" cy="1371600"/>
            </a:xfrm>
            <a:prstGeom prst="rect">
              <a:avLst/>
            </a:prstGeom>
            <a:noFill/>
          </p:spPr>
          <p:txBody>
            <a:bodyPr wrap="square" lIns="0" tIns="0" rIns="0" bIns="0" anchor="t">
              <a:spAutoFit/>
            </a:bodyPr>
            <a:lstStyle/>
            <a:p>
              <a:pPr algn="l">
                <a:spcAft>
                  <a:spcPts val="300"/>
                </a:spcAft>
              </a:pPr>
              <a:r>
                <a:rPr sz="1000">
                  <a:solidFill>
                    <a:srgbClr val="6FB0E8"/>
                  </a:solidFill>
                  <a:latin typeface="에이투지체 8 ExtraBold"/>
                  <a:ea typeface="에이투지체 8 ExtraBold"/>
                </a:rPr>
                <a:t>EVENT BOOST</a:t>
              </a:r>
            </a:p>
            <a:p>
              <a:pPr algn="l">
                <a:spcAft>
                  <a:spcPts val="300"/>
                </a:spcAft>
              </a:pPr>
              <a:r>
                <a:rPr sz="1400">
                  <a:solidFill>
                    <a:srgbClr val="FFFFFF"/>
                  </a:solidFill>
                  <a:latin typeface="에이투지체 8 ExtraBold"/>
                  <a:ea typeface="에이투지체 8 ExtraBold"/>
                </a:rPr>
                <a:t>블랙프라이데이 · 행사</a:t>
              </a:r>
            </a:p>
            <a:p>
              <a:pPr algn="l">
                <a:spcAft>
                  <a:spcPts val="300"/>
                </a:spcAft>
              </a:pPr>
              <a:r>
                <a:rPr sz="1100">
                  <a:solidFill>
                    <a:srgbClr val="FFFFFF"/>
                  </a:solidFill>
                  <a:latin typeface="에이투지체 5 Medium"/>
                  <a:ea typeface="에이투지체 5 Medium"/>
                </a:rPr>
                <a:t>패키지 혜택으로 신규 유입과 구매를 집중하고</a:t>
              </a:r>
            </a:p>
            <a:p>
              <a:pPr algn="l">
                <a:spcAft>
                  <a:spcPts val="300"/>
                </a:spcAft>
              </a:pPr>
              <a:r>
                <a:rPr sz="1100">
                  <a:solidFill>
                    <a:srgbClr val="FFFFFF"/>
                  </a:solidFill>
                  <a:latin typeface="에이투지체 5 Medium"/>
                  <a:ea typeface="에이투지체 5 Medium"/>
                </a:rPr>
                <a:t>행사 고객은 다시 상시 구조로 편입합니다</a:t>
              </a:r>
            </a:p>
          </p:txBody>
        </p:sp>
      </p:grpSp>
      <p:sp>
        <p:nvSpPr>
          <p:cNvPr id="29" name="직사각형 28">
            <a:extLst>
              <a:ext uri="{FF2B5EF4-FFF2-40B4-BE49-F238E27FC236}">
                <a16:creationId xmlns:a16="http://schemas.microsoft.com/office/drawing/2014/main" id="{D0904D38-76AA-B6BF-3EE1-E0FF9E609F99}"/>
              </a:ext>
            </a:extLst>
          </p:cNvPr>
          <p:cNvSpPr/>
          <p:nvPr/>
        </p:nvSpPr>
        <p:spPr>
          <a:xfrm>
            <a:off x="418011" y="658368"/>
            <a:ext cx="6444343" cy="74066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42186006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A2F5C"/>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B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737360"/>
            <a:ext cx="5486400" cy="246221"/>
          </a:xfrm>
          <a:prstGeom prst="rect">
            <a:avLst/>
          </a:prstGeom>
          <a:noFill/>
        </p:spPr>
        <p:txBody>
          <a:bodyPr wrap="square" lIns="0" tIns="0" rIns="0" bIns="0" anchor="t">
            <a:spAutoFit/>
          </a:bodyPr>
          <a:lstStyle/>
          <a:p>
            <a:pPr algn="l"/>
            <a:r>
              <a:rPr sz="1600" dirty="0">
                <a:solidFill>
                  <a:srgbClr val="6FB0E8"/>
                </a:solidFill>
                <a:latin typeface="에이투지체 6 SemiBold"/>
              </a:rPr>
              <a:t>PART 2</a:t>
            </a:r>
          </a:p>
        </p:txBody>
      </p:sp>
      <p:sp>
        <p:nvSpPr>
          <p:cNvPr id="4" name="TextBox 3"/>
          <p:cNvSpPr txBox="1"/>
          <p:nvPr/>
        </p:nvSpPr>
        <p:spPr>
          <a:xfrm>
            <a:off x="548640" y="2286000"/>
            <a:ext cx="11064240" cy="914400"/>
          </a:xfrm>
          <a:prstGeom prst="rect">
            <a:avLst/>
          </a:prstGeom>
          <a:noFill/>
        </p:spPr>
        <p:txBody>
          <a:bodyPr wrap="square" lIns="0" tIns="0" rIns="0" bIns="0" anchor="t">
            <a:spAutoFit/>
          </a:bodyPr>
          <a:lstStyle/>
          <a:p>
            <a:pPr algn="l"/>
            <a:r>
              <a:rPr lang="en-US" sz="4000" dirty="0">
                <a:solidFill>
                  <a:srgbClr val="FFFFFF"/>
                </a:solidFill>
                <a:latin typeface="에이투지체 8 ExtraBold"/>
              </a:rPr>
              <a:t>November Plan</a:t>
            </a:r>
            <a:endParaRPr sz="4000" dirty="0">
              <a:solidFill>
                <a:srgbClr val="FFFFFF"/>
              </a:solidFill>
              <a:latin typeface="에이투지체 8 ExtraBold"/>
            </a:endParaRPr>
          </a:p>
        </p:txBody>
      </p:sp>
      <p:sp>
        <p:nvSpPr>
          <p:cNvPr id="5" name="TextBox 4"/>
          <p:cNvSpPr txBox="1"/>
          <p:nvPr/>
        </p:nvSpPr>
        <p:spPr>
          <a:xfrm>
            <a:off x="548640" y="3310128"/>
            <a:ext cx="11064240" cy="276999"/>
          </a:xfrm>
          <a:prstGeom prst="rect">
            <a:avLst/>
          </a:prstGeom>
          <a:noFill/>
        </p:spPr>
        <p:txBody>
          <a:bodyPr wrap="square" lIns="0" tIns="0" rIns="0" bIns="0" anchor="t">
            <a:spAutoFit/>
          </a:bodyPr>
          <a:lstStyle/>
          <a:p>
            <a:pPr algn="l"/>
            <a:r>
              <a:rPr lang="en-US" altLang="ko-KR" sz="1800" dirty="0">
                <a:solidFill>
                  <a:srgbClr val="FFFFFF"/>
                </a:solidFill>
                <a:latin typeface="에이투지체 6 SemiBold" pitchFamily="2" charset="-127"/>
                <a:ea typeface="에이투지체 6 SemiBold" pitchFamily="2" charset="-127"/>
              </a:rPr>
              <a:t>11</a:t>
            </a:r>
            <a:r>
              <a:rPr lang="ko-KR" altLang="en-US" sz="1800" dirty="0">
                <a:solidFill>
                  <a:srgbClr val="FFFFFF"/>
                </a:solidFill>
                <a:latin typeface="에이투지체 6 SemiBold" pitchFamily="2" charset="-127"/>
                <a:ea typeface="에이투지체 6 SemiBold" pitchFamily="2" charset="-127"/>
              </a:rPr>
              <a:t>월 마케팅 전략 </a:t>
            </a:r>
            <a:r>
              <a:rPr lang="en-US" altLang="ko-KR" sz="1800" dirty="0">
                <a:solidFill>
                  <a:srgbClr val="FFFFFF"/>
                </a:solidFill>
                <a:latin typeface="에이투지체 6 SemiBold" pitchFamily="2" charset="-127"/>
                <a:ea typeface="에이투지체 6 SemiBold" pitchFamily="2" charset="-127"/>
              </a:rPr>
              <a:t>· </a:t>
            </a:r>
            <a:r>
              <a:rPr lang="ko-KR" altLang="en-US" sz="1800" dirty="0">
                <a:solidFill>
                  <a:srgbClr val="FFFFFF"/>
                </a:solidFill>
                <a:latin typeface="에이투지체 6 SemiBold" pitchFamily="2" charset="-127"/>
                <a:ea typeface="에이투지체 6 SemiBold" pitchFamily="2" charset="-127"/>
              </a:rPr>
              <a:t>미디어믹스</a:t>
            </a:r>
            <a:endParaRPr sz="1800" dirty="0">
              <a:solidFill>
                <a:srgbClr val="FFFFFF"/>
              </a:solidFill>
              <a:latin typeface="에이투지체 6 SemiBold" pitchFamily="2" charset="-127"/>
              <a:ea typeface="에이투지체 6 SemiBold" pitchFamily="2" charset="-127"/>
            </a:endParaRPr>
          </a:p>
        </p:txBody>
      </p:sp>
      <p:sp>
        <p:nvSpPr>
          <p:cNvPr id="6" name="TextBox 5"/>
          <p:cNvSpPr txBox="1"/>
          <p:nvPr/>
        </p:nvSpPr>
        <p:spPr>
          <a:xfrm>
            <a:off x="548640" y="3931920"/>
            <a:ext cx="11064240" cy="457200"/>
          </a:xfrm>
          <a:prstGeom prst="rect">
            <a:avLst/>
          </a:prstGeom>
          <a:noFill/>
        </p:spPr>
        <p:txBody>
          <a:bodyPr wrap="square" lIns="0" tIns="0" rIns="0" bIns="0" anchor="t">
            <a:spAutoFit/>
          </a:bodyPr>
          <a:lstStyle/>
          <a:p>
            <a:pPr algn="l"/>
            <a:r>
              <a:rPr sz="1200">
                <a:solidFill>
                  <a:srgbClr val="9FBBDD"/>
                </a:solidFill>
                <a:latin typeface="에이투지체 5 Medium"/>
              </a:rPr>
              <a:t>진단, Growth Funnel과 운영 사례, 매체별 운영안과 노출 시안, 11월 미디어믹스</a:t>
            </a:r>
          </a:p>
        </p:txBody>
      </p:sp>
      <p:sp>
        <p:nvSpPr>
          <p:cNvPr id="7" name="TextBox 6"/>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FBBDD"/>
                </a:solidFill>
                <a:latin typeface="에이투지체 3 Light"/>
              </a:rPr>
              <a:t>DODREAM B&amp;B AD PROPOSAL · 2026</a:t>
            </a:r>
          </a:p>
        </p:txBody>
      </p:sp>
      <p:sp>
        <p:nvSpPr>
          <p:cNvPr id="8" name="TextBox 7"/>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FBBDD"/>
                </a:solidFill>
                <a:latin typeface="에이투지체 3 Light"/>
              </a:rPr>
              <a:t>LINKPRICE · BRAND AD CENTER</a:t>
            </a:r>
          </a:p>
        </p:txBody>
      </p:sp>
      <p:sp>
        <p:nvSpPr>
          <p:cNvPr id="9"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FFFFFF"/>
                </a:solidFill>
                <a:latin typeface="에이투지체 6 SemiBold"/>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15"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6"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7"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24</a:t>
            </a:r>
          </a:p>
        </p:txBody>
      </p:sp>
      <p:sp>
        <p:nvSpPr>
          <p:cNvPr id="2" name="text-176">
            <a:extLst>
              <a:ext uri="{FF2B5EF4-FFF2-40B4-BE49-F238E27FC236}">
                <a16:creationId xmlns:a16="http://schemas.microsoft.com/office/drawing/2014/main" id="{DFDC5CC9-57E3-4C74-95C1-8CE57728FAF9}"/>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역할을 나눈 그룹에도 같은 검색어가</a:t>
            </a:r>
            <a:r>
              <a:rPr lang="ko-KR" sz="1900" dirty="0">
                <a:solidFill>
                  <a:srgbClr val="222222"/>
                </a:solidFill>
                <a:latin typeface="에이투지체 8 ExtraBold"/>
                <a:ea typeface="에이투지체 8 ExtraBold"/>
                <a:cs typeface="에이투지체 8 ExtraBold"/>
              </a:rPr>
              <a:t> 중복 집행되고 있어</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예산과 입찰 기준을 먼저 통일해야 합니다</a:t>
            </a:r>
            <a:endParaRPr lang="ko-KR" sz="1900" dirty="0"/>
          </a:p>
        </p:txBody>
      </p:sp>
      <p:sp>
        <p:nvSpPr>
          <p:cNvPr id="3" name="text-177">
            <a:extLst>
              <a:ext uri="{FF2B5EF4-FFF2-40B4-BE49-F238E27FC236}">
                <a16:creationId xmlns:a16="http://schemas.microsoft.com/office/drawing/2014/main" id="{2F4E755D-CDA4-438A-8B2C-8FDD8B79CEAB}"/>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쇼핑검색 ① 현황 진단</a:t>
            </a:r>
            <a:endParaRPr lang="ko-KR" sz="1100" dirty="0"/>
          </a:p>
        </p:txBody>
      </p:sp>
      <p:sp>
        <p:nvSpPr>
          <p:cNvPr id="4" name="text-178">
            <a:extLst>
              <a:ext uri="{FF2B5EF4-FFF2-40B4-BE49-F238E27FC236}">
                <a16:creationId xmlns:a16="http://schemas.microsoft.com/office/drawing/2014/main" id="{6C19CDC3-27BA-4E8D-B095-21DE89AF4135}"/>
              </a:ext>
            </a:extLst>
          </p:cNvPr>
          <p:cNvSpPr>
            <a:spLocks noGrp="1"/>
          </p:cNvSpPr>
          <p:nvPr/>
        </p:nvSpPr>
        <p:spPr>
          <a:xfrm>
            <a:off x="552450" y="2095500"/>
            <a:ext cx="2286000" cy="628650"/>
          </a:xfrm>
          <a:prstGeom prst="rect">
            <a:avLst/>
          </a:prstGeom>
          <a:noFill/>
          <a:ln w="0">
            <a:noFill/>
          </a:ln>
        </p:spPr>
        <p:txBody>
          <a:bodyPr wrap="square" lIns="0" tIns="0" rIns="0" bIns="0" anchor="ctr">
            <a:noAutofit/>
          </a:bodyPr>
          <a:lstStyle>
            <a:defPPr algn="l">
              <a:defRPr sz="3300">
                <a:solidFill>
                  <a:srgbClr val="004F9F"/>
                </a:solidFill>
                <a:latin typeface="에이투지체 8 ExtraBold"/>
                <a:ea typeface="에이투지체 8 ExtraBold"/>
                <a:cs typeface="에이투지체 8 ExtraBold"/>
              </a:defRPr>
            </a:defPPr>
          </a:lstStyle>
          <a:p>
            <a:pPr algn="l">
              <a:defRPr sz="3300">
                <a:solidFill>
                  <a:srgbClr val="004F9F"/>
                </a:solidFill>
                <a:latin typeface="에이투지체 8 ExtraBold"/>
                <a:ea typeface="에이투지체 8 ExtraBold"/>
                <a:cs typeface="에이투지체 8 ExtraBold"/>
              </a:defRPr>
            </a:pPr>
            <a:r>
              <a:rPr sz="3300">
                <a:solidFill>
                  <a:srgbClr val="004F9F"/>
                </a:solidFill>
                <a:latin typeface="에이투지체 8 ExtraBold"/>
                <a:ea typeface="에이투지체 8 ExtraBold"/>
                <a:cs typeface="에이투지체 8 ExtraBold"/>
              </a:rPr>
              <a:t>23개</a:t>
            </a:r>
          </a:p>
        </p:txBody>
      </p:sp>
      <p:sp>
        <p:nvSpPr>
          <p:cNvPr id="5" name="text-179">
            <a:extLst>
              <a:ext uri="{FF2B5EF4-FFF2-40B4-BE49-F238E27FC236}">
                <a16:creationId xmlns:a16="http://schemas.microsoft.com/office/drawing/2014/main" id="{63274F91-707E-4DDA-8702-9F2E92EF54AE}"/>
              </a:ext>
            </a:extLst>
          </p:cNvPr>
          <p:cNvSpPr>
            <a:spLocks noGrp="1"/>
          </p:cNvSpPr>
          <p:nvPr/>
        </p:nvSpPr>
        <p:spPr>
          <a:xfrm>
            <a:off x="552450" y="2733675"/>
            <a:ext cx="2286000" cy="400050"/>
          </a:xfrm>
          <a:prstGeom prst="rect">
            <a:avLst/>
          </a:prstGeom>
          <a:noFill/>
          <a:ln w="0">
            <a:noFill/>
          </a:ln>
        </p:spPr>
        <p:txBody>
          <a:bodyPr wrap="square" lIns="0" tIns="0" rIns="0" bIns="0" anchor="ctr">
            <a:noAutofit/>
          </a:bodyPr>
          <a:lstStyle>
            <a:defPPr algn="l">
              <a:defRPr sz="1305">
                <a:solidFill>
                  <a:srgbClr val="5C5C5C"/>
                </a:solidFill>
                <a:latin typeface="에이투지체 4 Regular"/>
                <a:ea typeface="에이투지체 4 Regular"/>
                <a:cs typeface="에이투지체 4 Regular"/>
              </a:defRPr>
            </a:defPPr>
          </a:lstStyle>
          <a:p>
            <a:pPr algn="l">
              <a:defRPr sz="1305">
                <a:solidFill>
                  <a:srgbClr val="5C5C5C"/>
                </a:solidFill>
                <a:latin typeface="에이투지체 4 Regular"/>
                <a:ea typeface="에이투지체 4 Regular"/>
                <a:cs typeface="에이투지체 4 Regular"/>
              </a:defRPr>
            </a:pPr>
            <a:r>
              <a:rPr sz="1305">
                <a:solidFill>
                  <a:srgbClr val="5C5C5C"/>
                </a:solidFill>
                <a:latin typeface="에이투지체 4 Regular"/>
                <a:ea typeface="에이투지체 4 Regular"/>
                <a:cs typeface="에이투지체 4 Regular"/>
              </a:rPr>
              <a:t>캠페인</a:t>
            </a:r>
          </a:p>
        </p:txBody>
      </p:sp>
      <p:sp>
        <p:nvSpPr>
          <p:cNvPr id="6" name="text-180">
            <a:extLst>
              <a:ext uri="{FF2B5EF4-FFF2-40B4-BE49-F238E27FC236}">
                <a16:creationId xmlns:a16="http://schemas.microsoft.com/office/drawing/2014/main" id="{7037DBB5-DCE3-49F1-A1AE-B7A9E74D98FA}"/>
              </a:ext>
            </a:extLst>
          </p:cNvPr>
          <p:cNvSpPr>
            <a:spLocks noGrp="1"/>
          </p:cNvSpPr>
          <p:nvPr/>
        </p:nvSpPr>
        <p:spPr>
          <a:xfrm>
            <a:off x="3190875" y="2095500"/>
            <a:ext cx="3333750" cy="628650"/>
          </a:xfrm>
          <a:prstGeom prst="rect">
            <a:avLst/>
          </a:prstGeom>
          <a:noFill/>
          <a:ln w="0">
            <a:noFill/>
          </a:ln>
        </p:spPr>
        <p:txBody>
          <a:bodyPr wrap="square" lIns="0" tIns="0" rIns="0" bIns="0" anchor="ctr">
            <a:noAutofit/>
          </a:bodyPr>
          <a:lstStyle>
            <a:defPPr algn="l">
              <a:defRPr sz="3300">
                <a:solidFill>
                  <a:srgbClr val="004F9F"/>
                </a:solidFill>
                <a:latin typeface="에이투지체 8 ExtraBold"/>
                <a:ea typeface="에이투지체 8 ExtraBold"/>
                <a:cs typeface="에이투지체 8 ExtraBold"/>
              </a:defRPr>
            </a:defPPr>
          </a:lstStyle>
          <a:p>
            <a:pPr algn="l">
              <a:defRPr sz="3300">
                <a:solidFill>
                  <a:srgbClr val="004F9F"/>
                </a:solidFill>
                <a:latin typeface="에이투지체 8 ExtraBold"/>
                <a:ea typeface="에이투지체 8 ExtraBold"/>
                <a:cs typeface="에이투지체 8 ExtraBold"/>
              </a:defRPr>
            </a:pPr>
            <a:r>
              <a:rPr sz="3300">
                <a:solidFill>
                  <a:srgbClr val="004F9F"/>
                </a:solidFill>
                <a:latin typeface="에이투지체 8 ExtraBold"/>
                <a:ea typeface="에이투지체 8 ExtraBold"/>
                <a:cs typeface="에이투지체 8 ExtraBold"/>
              </a:rPr>
              <a:t>97개</a:t>
            </a:r>
          </a:p>
        </p:txBody>
      </p:sp>
      <p:sp>
        <p:nvSpPr>
          <p:cNvPr id="7" name="text-181">
            <a:extLst>
              <a:ext uri="{FF2B5EF4-FFF2-40B4-BE49-F238E27FC236}">
                <a16:creationId xmlns:a16="http://schemas.microsoft.com/office/drawing/2014/main" id="{A7B17DC3-92A4-4E88-A4EF-770868E806F6}"/>
              </a:ext>
            </a:extLst>
          </p:cNvPr>
          <p:cNvSpPr>
            <a:spLocks noGrp="1"/>
          </p:cNvSpPr>
          <p:nvPr/>
        </p:nvSpPr>
        <p:spPr>
          <a:xfrm>
            <a:off x="3190875" y="2733675"/>
            <a:ext cx="3333750" cy="400050"/>
          </a:xfrm>
          <a:prstGeom prst="rect">
            <a:avLst/>
          </a:prstGeom>
          <a:noFill/>
          <a:ln w="0">
            <a:noFill/>
          </a:ln>
        </p:spPr>
        <p:txBody>
          <a:bodyPr wrap="square" lIns="0" tIns="0" rIns="0" bIns="0" anchor="ctr">
            <a:noAutofit/>
          </a:bodyPr>
          <a:lstStyle>
            <a:defPPr algn="l">
              <a:defRPr sz="1305">
                <a:solidFill>
                  <a:srgbClr val="5C5C5C"/>
                </a:solidFill>
                <a:latin typeface="에이투지체 4 Regular"/>
                <a:ea typeface="에이투지체 4 Regular"/>
                <a:cs typeface="에이투지체 4 Regular"/>
              </a:defRPr>
            </a:defPPr>
          </a:lstStyle>
          <a:p>
            <a:pPr algn="l">
              <a:defRPr sz="1305">
                <a:solidFill>
                  <a:srgbClr val="5C5C5C"/>
                </a:solidFill>
                <a:latin typeface="에이투지체 4 Regular"/>
                <a:ea typeface="에이투지체 4 Regular"/>
                <a:cs typeface="에이투지체 4 Regular"/>
              </a:defRPr>
            </a:pPr>
            <a:r>
              <a:rPr sz="1305">
                <a:solidFill>
                  <a:srgbClr val="5C5C5C"/>
                </a:solidFill>
                <a:latin typeface="에이투지체 4 Regular"/>
                <a:ea typeface="에이투지체 4 Regular"/>
                <a:cs typeface="에이투지체 4 Regular"/>
              </a:rPr>
              <a:t>캠페인×그룹 조합</a:t>
            </a:r>
          </a:p>
        </p:txBody>
      </p:sp>
      <p:sp>
        <p:nvSpPr>
          <p:cNvPr id="8" name="text-182">
            <a:extLst>
              <a:ext uri="{FF2B5EF4-FFF2-40B4-BE49-F238E27FC236}">
                <a16:creationId xmlns:a16="http://schemas.microsoft.com/office/drawing/2014/main" id="{8E817EDF-D212-4859-AE1B-A5E01D633560}"/>
              </a:ext>
            </a:extLst>
          </p:cNvPr>
          <p:cNvSpPr>
            <a:spLocks noGrp="1"/>
          </p:cNvSpPr>
          <p:nvPr/>
        </p:nvSpPr>
        <p:spPr>
          <a:xfrm>
            <a:off x="7543800" y="2095500"/>
            <a:ext cx="3962400" cy="628650"/>
          </a:xfrm>
          <a:prstGeom prst="rect">
            <a:avLst/>
          </a:prstGeom>
          <a:noFill/>
          <a:ln w="0">
            <a:noFill/>
          </a:ln>
        </p:spPr>
        <p:txBody>
          <a:bodyPr wrap="square" lIns="0" tIns="0" rIns="0" bIns="0" anchor="ctr">
            <a:noAutofit/>
          </a:bodyPr>
          <a:lstStyle>
            <a:defPPr algn="l">
              <a:defRPr sz="3300">
                <a:solidFill>
                  <a:srgbClr val="004F9F"/>
                </a:solidFill>
                <a:latin typeface="에이투지체 8 ExtraBold"/>
                <a:ea typeface="에이투지체 8 ExtraBold"/>
                <a:cs typeface="에이투지체 8 ExtraBold"/>
              </a:defRPr>
            </a:defPPr>
          </a:lstStyle>
          <a:p>
            <a:pPr algn="l">
              <a:defRPr sz="3300">
                <a:solidFill>
                  <a:srgbClr val="004F9F"/>
                </a:solidFill>
                <a:latin typeface="에이투지체 8 ExtraBold"/>
                <a:ea typeface="에이투지체 8 ExtraBold"/>
                <a:cs typeface="에이투지체 8 ExtraBold"/>
              </a:defRPr>
            </a:pPr>
            <a:r>
              <a:rPr sz="3300" dirty="0">
                <a:solidFill>
                  <a:srgbClr val="004F9F"/>
                </a:solidFill>
                <a:latin typeface="에이투지체 8 ExtraBold"/>
                <a:ea typeface="에이투지체 8 ExtraBold"/>
                <a:cs typeface="에이투지체 8 ExtraBold"/>
              </a:rPr>
              <a:t>약 800만 원</a:t>
            </a:r>
          </a:p>
        </p:txBody>
      </p:sp>
      <p:sp>
        <p:nvSpPr>
          <p:cNvPr id="9" name="text-183">
            <a:extLst>
              <a:ext uri="{FF2B5EF4-FFF2-40B4-BE49-F238E27FC236}">
                <a16:creationId xmlns:a16="http://schemas.microsoft.com/office/drawing/2014/main" id="{91559D6A-4C58-4B68-9DD4-DD4BF32B59D3}"/>
              </a:ext>
            </a:extLst>
          </p:cNvPr>
          <p:cNvSpPr>
            <a:spLocks noGrp="1"/>
          </p:cNvSpPr>
          <p:nvPr/>
        </p:nvSpPr>
        <p:spPr>
          <a:xfrm>
            <a:off x="7543800" y="2733675"/>
            <a:ext cx="3962400" cy="400050"/>
          </a:xfrm>
          <a:prstGeom prst="rect">
            <a:avLst/>
          </a:prstGeom>
          <a:noFill/>
          <a:ln w="0">
            <a:noFill/>
          </a:ln>
        </p:spPr>
        <p:txBody>
          <a:bodyPr wrap="square" lIns="0" tIns="0" rIns="0" bIns="0" anchor="ctr">
            <a:noAutofit/>
          </a:bodyPr>
          <a:lstStyle>
            <a:defPPr algn="l">
              <a:defRPr sz="1305">
                <a:solidFill>
                  <a:srgbClr val="5C5C5C"/>
                </a:solidFill>
                <a:latin typeface="에이투지체 4 Regular"/>
                <a:ea typeface="에이투지체 4 Regular"/>
                <a:cs typeface="에이투지체 4 Regular"/>
              </a:defRPr>
            </a:defPPr>
          </a:lstStyle>
          <a:p>
            <a:pPr algn="l">
              <a:defRPr sz="1305">
                <a:solidFill>
                  <a:srgbClr val="5C5C5C"/>
                </a:solidFill>
                <a:latin typeface="에이투지체 4 Regular"/>
                <a:ea typeface="에이투지체 4 Regular"/>
                <a:cs typeface="에이투지체 4 Regular"/>
              </a:defRPr>
            </a:pPr>
            <a:r>
              <a:rPr sz="1305" dirty="0" err="1">
                <a:solidFill>
                  <a:srgbClr val="5C5C5C"/>
                </a:solidFill>
                <a:latin typeface="에이투지체 4 Regular"/>
                <a:ea typeface="에이투지체 4 Regular"/>
                <a:cs typeface="에이투지체 4 Regular"/>
              </a:rPr>
              <a:t>키크는영양제PCMO</a:t>
            </a:r>
            <a:r>
              <a:rPr sz="1305" dirty="0">
                <a:solidFill>
                  <a:srgbClr val="5C5C5C"/>
                </a:solidFill>
                <a:latin typeface="에이투지체 4 Regular"/>
                <a:ea typeface="에이투지체 4 Regular"/>
                <a:cs typeface="에이투지체 4 Regular"/>
              </a:rPr>
              <a:t> </a:t>
            </a:r>
            <a:r>
              <a:rPr sz="1305" dirty="0" err="1">
                <a:solidFill>
                  <a:srgbClr val="5C5C5C"/>
                </a:solidFill>
                <a:latin typeface="에이투지체 4 Regular"/>
                <a:ea typeface="에이투지체 4 Regular"/>
                <a:cs typeface="에이투지체 4 Regular"/>
              </a:rPr>
              <a:t>그룹</a:t>
            </a:r>
            <a:r>
              <a:rPr sz="1305" dirty="0">
                <a:solidFill>
                  <a:srgbClr val="5C5C5C"/>
                </a:solidFill>
                <a:latin typeface="에이투지체 4 Regular"/>
                <a:ea typeface="에이투지체 4 Regular"/>
                <a:cs typeface="에이투지체 4 Regular"/>
              </a:rPr>
              <a:t> </a:t>
            </a:r>
            <a:r>
              <a:rPr sz="1305" dirty="0" err="1">
                <a:solidFill>
                  <a:srgbClr val="5C5C5C"/>
                </a:solidFill>
                <a:latin typeface="에이투지체 4 Regular"/>
                <a:ea typeface="에이투지체 4 Regular"/>
                <a:cs typeface="에이투지체 4 Regular"/>
              </a:rPr>
              <a:t>비용</a:t>
            </a:r>
            <a:endParaRPr sz="1305" dirty="0">
              <a:solidFill>
                <a:srgbClr val="5C5C5C"/>
              </a:solidFill>
              <a:latin typeface="에이투지체 4 Regular"/>
              <a:ea typeface="에이투지체 4 Regular"/>
              <a:cs typeface="에이투지체 4 Regular"/>
            </a:endParaRPr>
          </a:p>
          <a:p>
            <a:pPr algn="l">
              <a:defRPr sz="1305">
                <a:solidFill>
                  <a:srgbClr val="5C5C5C"/>
                </a:solidFill>
                <a:latin typeface="에이투지체 4 Regular"/>
                <a:ea typeface="에이투지체 4 Regular"/>
                <a:cs typeface="에이투지체 4 Regular"/>
              </a:defRPr>
            </a:pPr>
            <a:r>
              <a:rPr sz="1305" dirty="0" err="1">
                <a:solidFill>
                  <a:srgbClr val="5C5C5C"/>
                </a:solidFill>
                <a:latin typeface="에이투지체 4 Regular"/>
                <a:ea typeface="에이투지체 4 Regular"/>
                <a:cs typeface="에이투지체 4 Regular"/>
              </a:rPr>
              <a:t>그룹</a:t>
            </a:r>
            <a:r>
              <a:rPr sz="1305" dirty="0">
                <a:solidFill>
                  <a:srgbClr val="5C5C5C"/>
                </a:solidFill>
                <a:latin typeface="에이투지체 4 Regular"/>
                <a:ea typeface="에이투지체 4 Regular"/>
                <a:cs typeface="에이투지체 4 Regular"/>
              </a:rPr>
              <a:t> </a:t>
            </a:r>
            <a:r>
              <a:rPr sz="1305" dirty="0" err="1">
                <a:solidFill>
                  <a:srgbClr val="5C5C5C"/>
                </a:solidFill>
                <a:latin typeface="에이투지체 4 Regular"/>
                <a:ea typeface="에이투지체 4 Regular"/>
                <a:cs typeface="에이투지체 4 Regular"/>
              </a:rPr>
              <a:t>전체</a:t>
            </a:r>
            <a:r>
              <a:rPr sz="1305" dirty="0">
                <a:solidFill>
                  <a:srgbClr val="5C5C5C"/>
                </a:solidFill>
                <a:latin typeface="에이투지체 4 Regular"/>
                <a:ea typeface="에이투지체 4 Regular"/>
                <a:cs typeface="에이투지체 4 Regular"/>
              </a:rPr>
              <a:t> ROAS 84%</a:t>
            </a:r>
          </a:p>
        </p:txBody>
      </p:sp>
      <p:sp>
        <p:nvSpPr>
          <p:cNvPr id="11" name="node-184">
            <a:extLst>
              <a:ext uri="{FF2B5EF4-FFF2-40B4-BE49-F238E27FC236}">
                <a16:creationId xmlns:a16="http://schemas.microsoft.com/office/drawing/2014/main" id="{8EB66708-25F6-4195-94E1-0FA4FE02A16F}"/>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12" name="text-185">
            <a:extLst>
              <a:ext uri="{FF2B5EF4-FFF2-40B4-BE49-F238E27FC236}">
                <a16:creationId xmlns:a16="http://schemas.microsoft.com/office/drawing/2014/main" id="{8557717F-120B-4FFE-BA9A-2D2C9E48E341}"/>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중복 검색어와 저효율 그룹·상품 조합을 먼저 정리해 예산과 입찰 기준을 통일합니다</a:t>
            </a:r>
          </a:p>
        </p:txBody>
      </p:sp>
      <p:sp>
        <p:nvSpPr>
          <p:cNvPr id="18" name="TextBox 17"/>
          <p:cNvSpPr txBox="1"/>
          <p:nvPr/>
        </p:nvSpPr>
        <p:spPr>
          <a:xfrm>
            <a:off x="548640" y="3456432"/>
            <a:ext cx="2194560" cy="256032"/>
          </a:xfrm>
          <a:prstGeom prst="rect">
            <a:avLst/>
          </a:prstGeom>
          <a:noFill/>
        </p:spPr>
        <p:txBody>
          <a:bodyPr wrap="square" lIns="0" tIns="0" rIns="0" bIns="0" anchor="t">
            <a:spAutoFit/>
          </a:bodyPr>
          <a:lstStyle/>
          <a:p>
            <a:pPr algn="l">
              <a:spcAft>
                <a:spcPts val="300"/>
              </a:spcAft>
            </a:pPr>
            <a:r>
              <a:rPr sz="950">
                <a:solidFill>
                  <a:srgbClr val="919191"/>
                </a:solidFill>
                <a:latin typeface="에이투지체 6 SemiBold"/>
                <a:ea typeface="에이투지체 6 SemiBold"/>
              </a:rPr>
              <a:t>동일 검색어</a:t>
            </a:r>
          </a:p>
        </p:txBody>
      </p:sp>
      <p:sp>
        <p:nvSpPr>
          <p:cNvPr id="19" name="TextBox 18"/>
          <p:cNvSpPr txBox="1"/>
          <p:nvPr/>
        </p:nvSpPr>
        <p:spPr>
          <a:xfrm>
            <a:off x="3154680" y="3456432"/>
            <a:ext cx="5486400" cy="256032"/>
          </a:xfrm>
          <a:prstGeom prst="rect">
            <a:avLst/>
          </a:prstGeom>
          <a:noFill/>
        </p:spPr>
        <p:txBody>
          <a:bodyPr wrap="square" lIns="0" tIns="0" rIns="0" bIns="0" anchor="t">
            <a:spAutoFit/>
          </a:bodyPr>
          <a:lstStyle/>
          <a:p>
            <a:pPr algn="l">
              <a:spcAft>
                <a:spcPts val="300"/>
              </a:spcAft>
            </a:pPr>
            <a:r>
              <a:rPr sz="950">
                <a:solidFill>
                  <a:srgbClr val="919191"/>
                </a:solidFill>
                <a:latin typeface="에이투지체 6 SemiBold"/>
                <a:ea typeface="에이투지체 6 SemiBold"/>
              </a:rPr>
              <a:t>집행 그룹 · 9월 광고비 · ROAS</a:t>
            </a:r>
          </a:p>
        </p:txBody>
      </p:sp>
      <p:sp>
        <p:nvSpPr>
          <p:cNvPr id="20" name="Rounded Rectangle 19"/>
          <p:cNvSpPr/>
          <p:nvPr/>
        </p:nvSpPr>
        <p:spPr>
          <a:xfrm>
            <a:off x="548640" y="3877055"/>
            <a:ext cx="2194560" cy="457200"/>
          </a:xfrm>
          <a:prstGeom prst="roundRect">
            <a:avLst>
              <a:gd name="adj" fmla="val 50000"/>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8640" y="3877055"/>
            <a:ext cx="2194560" cy="457200"/>
          </a:xfrm>
          <a:prstGeom prst="rect">
            <a:avLst/>
          </a:prstGeom>
          <a:noFill/>
        </p:spPr>
        <p:txBody>
          <a:bodyPr wrap="square" lIns="0" tIns="0" rIns="0" bIns="0" anchor="ctr">
            <a:spAutoFit/>
          </a:bodyPr>
          <a:lstStyle/>
          <a:p>
            <a:pPr algn="ctr">
              <a:spcAft>
                <a:spcPts val="300"/>
              </a:spcAft>
            </a:pPr>
            <a:r>
              <a:rPr sz="1200">
                <a:solidFill>
                  <a:srgbClr val="004F9F"/>
                </a:solidFill>
                <a:latin typeface="에이투지체 6 SemiBold"/>
                <a:ea typeface="에이투지체 6 SemiBold"/>
              </a:rPr>
              <a:t>키크는영양제</a:t>
            </a:r>
          </a:p>
        </p:txBody>
      </p:sp>
      <p:sp>
        <p:nvSpPr>
          <p:cNvPr id="22" name="Isosceles Triangle 21"/>
          <p:cNvSpPr/>
          <p:nvPr/>
        </p:nvSpPr>
        <p:spPr>
          <a:xfrm rot="5400000">
            <a:off x="2816352" y="4005072"/>
            <a:ext cx="146304" cy="201168"/>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548640" y="4718303"/>
            <a:ext cx="2194560" cy="457200"/>
          </a:xfrm>
          <a:prstGeom prst="roundRect">
            <a:avLst>
              <a:gd name="adj" fmla="val 50000"/>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8640" y="4718303"/>
            <a:ext cx="2194560" cy="457200"/>
          </a:xfrm>
          <a:prstGeom prst="rect">
            <a:avLst/>
          </a:prstGeom>
          <a:noFill/>
        </p:spPr>
        <p:txBody>
          <a:bodyPr wrap="square" lIns="0" tIns="0" rIns="0" bIns="0" anchor="ctr">
            <a:spAutoFit/>
          </a:bodyPr>
          <a:lstStyle/>
          <a:p>
            <a:pPr algn="ctr">
              <a:spcAft>
                <a:spcPts val="300"/>
              </a:spcAft>
            </a:pPr>
            <a:r>
              <a:rPr sz="1200">
                <a:solidFill>
                  <a:srgbClr val="004F9F"/>
                </a:solidFill>
                <a:latin typeface="에이투지체 6 SemiBold"/>
                <a:ea typeface="에이투지체 6 SemiBold"/>
              </a:rPr>
              <a:t>키성장영양제</a:t>
            </a:r>
          </a:p>
        </p:txBody>
      </p:sp>
      <p:sp>
        <p:nvSpPr>
          <p:cNvPr id="25" name="Isosceles Triangle 24"/>
          <p:cNvSpPr/>
          <p:nvPr/>
        </p:nvSpPr>
        <p:spPr>
          <a:xfrm rot="5400000">
            <a:off x="2816352" y="4846320"/>
            <a:ext cx="146304" cy="201168"/>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3154680" y="3749039"/>
            <a:ext cx="4114800" cy="713232"/>
          </a:xfrm>
          <a:prstGeom prst="roundRect">
            <a:avLst>
              <a:gd name="adj" fmla="val 1025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337560" y="3822191"/>
            <a:ext cx="2651760" cy="292608"/>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6 SemiBold"/>
                <a:ea typeface="에이투지체 6 SemiBold"/>
              </a:rPr>
              <a:t>키크는영양제PCMO</a:t>
            </a:r>
          </a:p>
        </p:txBody>
      </p:sp>
      <p:sp>
        <p:nvSpPr>
          <p:cNvPr id="28" name="TextBox 27"/>
          <p:cNvSpPr txBox="1"/>
          <p:nvPr/>
        </p:nvSpPr>
        <p:spPr>
          <a:xfrm>
            <a:off x="3337560" y="4114800"/>
            <a:ext cx="2651760" cy="274320"/>
          </a:xfrm>
          <a:prstGeom prst="rect">
            <a:avLst/>
          </a:prstGeom>
          <a:noFill/>
        </p:spPr>
        <p:txBody>
          <a:bodyPr wrap="square" lIns="0" tIns="0" rIns="0" bIns="0" anchor="ctr">
            <a:spAutoFit/>
          </a:bodyPr>
          <a:lstStyle/>
          <a:p>
            <a:pPr algn="l">
              <a:spcAft>
                <a:spcPts val="300"/>
              </a:spcAft>
            </a:pPr>
            <a:r>
              <a:rPr sz="1050">
                <a:solidFill>
                  <a:srgbClr val="5C5C5C"/>
                </a:solidFill>
                <a:latin typeface="에이투지체 4 Regular"/>
                <a:ea typeface="에이투지체 4 Regular"/>
              </a:rPr>
              <a:t>광고비 312만 원</a:t>
            </a:r>
          </a:p>
        </p:txBody>
      </p:sp>
      <p:sp>
        <p:nvSpPr>
          <p:cNvPr id="29" name="TextBox 28"/>
          <p:cNvSpPr txBox="1"/>
          <p:nvPr/>
        </p:nvSpPr>
        <p:spPr>
          <a:xfrm>
            <a:off x="5760720" y="3749039"/>
            <a:ext cx="1371600" cy="713232"/>
          </a:xfrm>
          <a:prstGeom prst="rect">
            <a:avLst/>
          </a:prstGeom>
          <a:noFill/>
        </p:spPr>
        <p:txBody>
          <a:bodyPr wrap="square" lIns="0" tIns="0" rIns="0" bIns="0" anchor="ctr">
            <a:spAutoFit/>
          </a:bodyPr>
          <a:lstStyle/>
          <a:p>
            <a:pPr algn="r">
              <a:spcAft>
                <a:spcPts val="300"/>
              </a:spcAft>
            </a:pPr>
            <a:r>
              <a:rPr sz="1500">
                <a:solidFill>
                  <a:srgbClr val="004F9F"/>
                </a:solidFill>
                <a:latin typeface="에이투지체 8 ExtraBold"/>
                <a:ea typeface="에이투지체 8 ExtraBold"/>
              </a:rPr>
              <a:t>ROAS 24%</a:t>
            </a:r>
          </a:p>
        </p:txBody>
      </p:sp>
      <p:sp>
        <p:nvSpPr>
          <p:cNvPr id="30" name="Rounded Rectangle 29"/>
          <p:cNvSpPr/>
          <p:nvPr/>
        </p:nvSpPr>
        <p:spPr>
          <a:xfrm>
            <a:off x="7452360" y="3749039"/>
            <a:ext cx="4160520" cy="713232"/>
          </a:xfrm>
          <a:prstGeom prst="roundRect">
            <a:avLst>
              <a:gd name="adj" fmla="val 1025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635240" y="3822191"/>
            <a:ext cx="2697479" cy="292608"/>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6 SemiBold"/>
                <a:ea typeface="에이투지체 6 SemiBold"/>
              </a:rPr>
              <a:t>키크는키영양제PCMO</a:t>
            </a:r>
          </a:p>
        </p:txBody>
      </p:sp>
      <p:sp>
        <p:nvSpPr>
          <p:cNvPr id="32" name="TextBox 31"/>
          <p:cNvSpPr txBox="1"/>
          <p:nvPr/>
        </p:nvSpPr>
        <p:spPr>
          <a:xfrm>
            <a:off x="7635240" y="4114800"/>
            <a:ext cx="2697479" cy="274320"/>
          </a:xfrm>
          <a:prstGeom prst="rect">
            <a:avLst/>
          </a:prstGeom>
          <a:noFill/>
        </p:spPr>
        <p:txBody>
          <a:bodyPr wrap="square" lIns="0" tIns="0" rIns="0" bIns="0" anchor="ctr">
            <a:spAutoFit/>
          </a:bodyPr>
          <a:lstStyle/>
          <a:p>
            <a:pPr algn="l">
              <a:spcAft>
                <a:spcPts val="300"/>
              </a:spcAft>
            </a:pPr>
            <a:r>
              <a:rPr sz="1050">
                <a:solidFill>
                  <a:srgbClr val="5C5C5C"/>
                </a:solidFill>
                <a:latin typeface="에이투지체 4 Regular"/>
                <a:ea typeface="에이투지체 4 Regular"/>
              </a:rPr>
              <a:t>광고비 183만 원</a:t>
            </a:r>
          </a:p>
        </p:txBody>
      </p:sp>
      <p:sp>
        <p:nvSpPr>
          <p:cNvPr id="33" name="TextBox 32"/>
          <p:cNvSpPr txBox="1"/>
          <p:nvPr/>
        </p:nvSpPr>
        <p:spPr>
          <a:xfrm>
            <a:off x="10104119" y="3749039"/>
            <a:ext cx="1371600" cy="713232"/>
          </a:xfrm>
          <a:prstGeom prst="rect">
            <a:avLst/>
          </a:prstGeom>
          <a:noFill/>
        </p:spPr>
        <p:txBody>
          <a:bodyPr wrap="square" lIns="0" tIns="0" rIns="0" bIns="0" anchor="ctr">
            <a:spAutoFit/>
          </a:bodyPr>
          <a:lstStyle/>
          <a:p>
            <a:pPr algn="r">
              <a:spcAft>
                <a:spcPts val="300"/>
              </a:spcAft>
            </a:pPr>
            <a:r>
              <a:rPr sz="1500">
                <a:solidFill>
                  <a:srgbClr val="004F9F"/>
                </a:solidFill>
                <a:latin typeface="에이투지체 8 ExtraBold"/>
                <a:ea typeface="에이투지체 8 ExtraBold"/>
              </a:rPr>
              <a:t>ROAS 187%</a:t>
            </a:r>
          </a:p>
        </p:txBody>
      </p:sp>
      <p:sp>
        <p:nvSpPr>
          <p:cNvPr id="34" name="Rounded Rectangle 33"/>
          <p:cNvSpPr/>
          <p:nvPr/>
        </p:nvSpPr>
        <p:spPr>
          <a:xfrm>
            <a:off x="3154680" y="4590288"/>
            <a:ext cx="4114800" cy="713232"/>
          </a:xfrm>
          <a:prstGeom prst="roundRect">
            <a:avLst>
              <a:gd name="adj" fmla="val 1025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337560" y="4663440"/>
            <a:ext cx="2651760" cy="292608"/>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6 SemiBold"/>
                <a:ea typeface="에이투지체 6 SemiBold"/>
              </a:rPr>
              <a:t>키크는영양제PCMO</a:t>
            </a:r>
          </a:p>
        </p:txBody>
      </p:sp>
      <p:sp>
        <p:nvSpPr>
          <p:cNvPr id="36" name="TextBox 35"/>
          <p:cNvSpPr txBox="1"/>
          <p:nvPr/>
        </p:nvSpPr>
        <p:spPr>
          <a:xfrm>
            <a:off x="3337560" y="4956048"/>
            <a:ext cx="2651760" cy="274320"/>
          </a:xfrm>
          <a:prstGeom prst="rect">
            <a:avLst/>
          </a:prstGeom>
          <a:noFill/>
        </p:spPr>
        <p:txBody>
          <a:bodyPr wrap="square" lIns="0" tIns="0" rIns="0" bIns="0" anchor="ctr">
            <a:spAutoFit/>
          </a:bodyPr>
          <a:lstStyle/>
          <a:p>
            <a:pPr algn="l">
              <a:spcAft>
                <a:spcPts val="300"/>
              </a:spcAft>
            </a:pPr>
            <a:r>
              <a:rPr sz="1050">
                <a:solidFill>
                  <a:srgbClr val="5C5C5C"/>
                </a:solidFill>
                <a:latin typeface="에이투지체 4 Regular"/>
                <a:ea typeface="에이투지체 4 Regular"/>
              </a:rPr>
              <a:t>광고비 743,992원</a:t>
            </a:r>
          </a:p>
        </p:txBody>
      </p:sp>
      <p:sp>
        <p:nvSpPr>
          <p:cNvPr id="37" name="TextBox 36"/>
          <p:cNvSpPr txBox="1"/>
          <p:nvPr/>
        </p:nvSpPr>
        <p:spPr>
          <a:xfrm>
            <a:off x="5760720" y="4590288"/>
            <a:ext cx="1371600" cy="713232"/>
          </a:xfrm>
          <a:prstGeom prst="rect">
            <a:avLst/>
          </a:prstGeom>
          <a:noFill/>
        </p:spPr>
        <p:txBody>
          <a:bodyPr wrap="square" lIns="0" tIns="0" rIns="0" bIns="0" anchor="ctr">
            <a:spAutoFit/>
          </a:bodyPr>
          <a:lstStyle/>
          <a:p>
            <a:pPr algn="r">
              <a:spcAft>
                <a:spcPts val="300"/>
              </a:spcAft>
            </a:pPr>
            <a:r>
              <a:rPr sz="1250">
                <a:solidFill>
                  <a:srgbClr val="222222"/>
                </a:solidFill>
                <a:latin typeface="에이투지체 8 ExtraBold"/>
                <a:ea typeface="에이투지체 8 ExtraBold"/>
              </a:rPr>
              <a:t>전환매출 0원</a:t>
            </a:r>
          </a:p>
        </p:txBody>
      </p:sp>
      <p:sp>
        <p:nvSpPr>
          <p:cNvPr id="38" name="TextBox 37"/>
          <p:cNvSpPr txBox="1"/>
          <p:nvPr/>
        </p:nvSpPr>
        <p:spPr>
          <a:xfrm>
            <a:off x="7452360" y="4771215"/>
            <a:ext cx="4160520" cy="351378"/>
          </a:xfrm>
          <a:prstGeom prst="rect">
            <a:avLst/>
          </a:prstGeom>
          <a:noFill/>
        </p:spPr>
        <p:txBody>
          <a:bodyPr wrap="square" lIns="0" tIns="0" rIns="0" bIns="0" anchor="ctr">
            <a:spAutoFit/>
          </a:bodyPr>
          <a:lstStyle/>
          <a:p>
            <a:pPr algn="l">
              <a:spcAft>
                <a:spcPts val="100"/>
              </a:spcAft>
            </a:pPr>
            <a:r>
              <a:rPr sz="1100" dirty="0" err="1">
                <a:solidFill>
                  <a:srgbClr val="5C5C5C"/>
                </a:solidFill>
                <a:latin typeface="에이투지체 5 Medium"/>
                <a:ea typeface="에이투지체 5 Medium"/>
              </a:rPr>
              <a:t>같은</a:t>
            </a:r>
            <a:r>
              <a:rPr sz="1100" dirty="0">
                <a:solidFill>
                  <a:srgbClr val="5C5C5C"/>
                </a:solidFill>
                <a:latin typeface="에이투지체 5 Medium"/>
                <a:ea typeface="에이투지체 5 Medium"/>
              </a:rPr>
              <a:t> </a:t>
            </a:r>
            <a:r>
              <a:rPr sz="1100" dirty="0" err="1">
                <a:solidFill>
                  <a:srgbClr val="5C5C5C"/>
                </a:solidFill>
                <a:latin typeface="에이투지체 5 Medium"/>
                <a:ea typeface="에이투지체 5 Medium"/>
              </a:rPr>
              <a:t>검색어가</a:t>
            </a:r>
            <a:r>
              <a:rPr sz="1100" dirty="0">
                <a:solidFill>
                  <a:srgbClr val="5C5C5C"/>
                </a:solidFill>
                <a:latin typeface="에이투지체 5 Medium"/>
                <a:ea typeface="에이투지체 5 Medium"/>
              </a:rPr>
              <a:t> </a:t>
            </a:r>
            <a:r>
              <a:rPr sz="1100" dirty="0" err="1">
                <a:solidFill>
                  <a:srgbClr val="5C5C5C"/>
                </a:solidFill>
                <a:latin typeface="에이투지체 5 Medium"/>
                <a:ea typeface="에이투지체 5 Medium"/>
              </a:rPr>
              <a:t>여러</a:t>
            </a:r>
            <a:r>
              <a:rPr sz="1100" dirty="0">
                <a:solidFill>
                  <a:srgbClr val="5C5C5C"/>
                </a:solidFill>
                <a:latin typeface="에이투지체 5 Medium"/>
                <a:ea typeface="에이투지체 5 Medium"/>
              </a:rPr>
              <a:t> </a:t>
            </a:r>
            <a:r>
              <a:rPr sz="1100" dirty="0" err="1">
                <a:solidFill>
                  <a:srgbClr val="5C5C5C"/>
                </a:solidFill>
                <a:latin typeface="에이투지체 5 Medium"/>
                <a:ea typeface="에이투지체 5 Medium"/>
              </a:rPr>
              <a:t>그룹에서</a:t>
            </a:r>
            <a:r>
              <a:rPr lang="en-US" sz="1100" dirty="0">
                <a:solidFill>
                  <a:srgbClr val="5C5C5C"/>
                </a:solidFill>
                <a:latin typeface="에이투지체 5 Medium"/>
                <a:ea typeface="에이투지체 5 Medium"/>
              </a:rPr>
              <a:t> </a:t>
            </a:r>
            <a:r>
              <a:rPr lang="ko-KR" altLang="en-US" sz="1100" dirty="0">
                <a:solidFill>
                  <a:srgbClr val="5C5C5C"/>
                </a:solidFill>
                <a:latin typeface="에이투지체 5 Medium"/>
                <a:ea typeface="에이투지체 5 Medium"/>
              </a:rPr>
              <a:t>중복으로</a:t>
            </a:r>
            <a:r>
              <a:rPr sz="1100" dirty="0">
                <a:solidFill>
                  <a:srgbClr val="5C5C5C"/>
                </a:solidFill>
                <a:latin typeface="에이투지체 5 Medium"/>
                <a:ea typeface="에이투지체 5 Medium"/>
              </a:rPr>
              <a:t> </a:t>
            </a:r>
            <a:r>
              <a:rPr sz="1100" dirty="0" err="1">
                <a:solidFill>
                  <a:srgbClr val="5C5C5C"/>
                </a:solidFill>
                <a:latin typeface="에이투지체 5 Medium"/>
                <a:ea typeface="에이투지체 5 Medium"/>
              </a:rPr>
              <a:t>입찰되</a:t>
            </a:r>
            <a:r>
              <a:rPr lang="ko-KR" altLang="en-US" sz="1100" dirty="0">
                <a:solidFill>
                  <a:srgbClr val="5C5C5C"/>
                </a:solidFill>
                <a:latin typeface="에이투지체 5 Medium"/>
                <a:ea typeface="에이투지체 5 Medium"/>
              </a:rPr>
              <a:t>고 있어</a:t>
            </a:r>
            <a:endParaRPr sz="1100" dirty="0">
              <a:solidFill>
                <a:srgbClr val="5C5C5C"/>
              </a:solidFill>
              <a:latin typeface="에이투지체 5 Medium"/>
              <a:ea typeface="에이투지체 5 Medium"/>
            </a:endParaRPr>
          </a:p>
          <a:p>
            <a:pPr algn="l">
              <a:spcAft>
                <a:spcPts val="100"/>
              </a:spcAft>
            </a:pPr>
            <a:r>
              <a:rPr sz="1100" dirty="0" err="1">
                <a:solidFill>
                  <a:srgbClr val="5C5C5C"/>
                </a:solidFill>
                <a:latin typeface="에이투지체 5 Medium"/>
                <a:ea typeface="에이투지체 5 Medium"/>
              </a:rPr>
              <a:t>그룹별</a:t>
            </a:r>
            <a:r>
              <a:rPr sz="1100" dirty="0">
                <a:solidFill>
                  <a:srgbClr val="5C5C5C"/>
                </a:solidFill>
                <a:latin typeface="에이투지체 5 Medium"/>
                <a:ea typeface="에이투지체 5 Medium"/>
              </a:rPr>
              <a:t> </a:t>
            </a:r>
            <a:r>
              <a:rPr sz="1100" dirty="0" err="1">
                <a:solidFill>
                  <a:srgbClr val="5C5C5C"/>
                </a:solidFill>
                <a:latin typeface="에이투지체 5 Medium"/>
                <a:ea typeface="에이투지체 5 Medium"/>
              </a:rPr>
              <a:t>효율</a:t>
            </a:r>
            <a:r>
              <a:rPr sz="1100" dirty="0">
                <a:solidFill>
                  <a:srgbClr val="5C5C5C"/>
                </a:solidFill>
                <a:latin typeface="에이투지체 5 Medium"/>
                <a:ea typeface="에이투지체 5 Medium"/>
              </a:rPr>
              <a:t> </a:t>
            </a:r>
            <a:r>
              <a:rPr sz="1100" dirty="0" err="1">
                <a:solidFill>
                  <a:srgbClr val="5C5C5C"/>
                </a:solidFill>
                <a:latin typeface="에이투지체 5 Medium"/>
                <a:ea typeface="에이투지체 5 Medium"/>
              </a:rPr>
              <a:t>차이가</a:t>
            </a:r>
            <a:r>
              <a:rPr sz="1100" dirty="0">
                <a:solidFill>
                  <a:srgbClr val="5C5C5C"/>
                </a:solidFill>
                <a:latin typeface="에이투지체 5 Medium"/>
                <a:ea typeface="에이투지체 5 Medium"/>
              </a:rPr>
              <a:t> </a:t>
            </a:r>
            <a:r>
              <a:rPr lang="ko-KR" altLang="en-US" sz="1100" dirty="0">
                <a:solidFill>
                  <a:srgbClr val="5C5C5C"/>
                </a:solidFill>
                <a:latin typeface="에이투지체 5 Medium"/>
                <a:ea typeface="에이투지체 5 Medium"/>
              </a:rPr>
              <a:t>큰 </a:t>
            </a:r>
            <a:r>
              <a:rPr lang="ko-KR" altLang="en-US" sz="1100" dirty="0" err="1">
                <a:solidFill>
                  <a:srgbClr val="5C5C5C"/>
                </a:solidFill>
                <a:latin typeface="에이투지체 5 Medium"/>
                <a:ea typeface="에이투지체 5 Medium"/>
              </a:rPr>
              <a:t>상황입</a:t>
            </a:r>
            <a:r>
              <a:rPr sz="1100" dirty="0" err="1">
                <a:solidFill>
                  <a:srgbClr val="5C5C5C"/>
                </a:solidFill>
                <a:latin typeface="에이투지체 5 Medium"/>
                <a:ea typeface="에이투지체 5 Medium"/>
              </a:rPr>
              <a:t>니다</a:t>
            </a:r>
            <a:endParaRPr sz="1100" dirty="0">
              <a:solidFill>
                <a:srgbClr val="5C5C5C"/>
              </a:solidFill>
              <a:latin typeface="에이투지체 5 Medium"/>
              <a:ea typeface="에이투지체 5 Medium"/>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18"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9"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20"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25</a:t>
            </a:r>
          </a:p>
        </p:txBody>
      </p:sp>
      <p:cxnSp>
        <p:nvCxnSpPr>
          <p:cNvPr id="2" name="연결선: 꺾임 1">
            <a:extLst>
              <a:ext uri="{FF2B5EF4-FFF2-40B4-BE49-F238E27FC236}">
                <a16:creationId xmlns:a16="http://schemas.microsoft.com/office/drawing/2014/main" id="{21305121-D657-44FA-8570-C975BC90F493}"/>
              </a:ext>
            </a:extLst>
          </p:cNvPr>
          <p:cNvCxnSpPr>
            <a:stCxn id="7" idx="2"/>
            <a:endCxn id="11" idx="0"/>
          </p:cNvCxnSpPr>
          <p:nvPr/>
        </p:nvCxnSpPr>
        <p:spPr>
          <a:xfrm>
            <a:off x="9001125" y="2914650"/>
            <a:ext cx="1495425" cy="581025"/>
          </a:xfrm>
          <a:prstGeom prst="bentConnector4">
            <a:avLst>
              <a:gd name="adj1" fmla="val 0"/>
              <a:gd name="adj2" fmla="val 50000"/>
            </a:avLst>
          </a:prstGeom>
          <a:ln w="14288">
            <a:solidFill>
              <a:srgbClr val="004F9F"/>
            </a:solidFill>
            <a:tailEnd type="triangle" w="sm" len="sm"/>
          </a:ln>
        </p:spPr>
      </p:cxnSp>
      <p:cxnSp>
        <p:nvCxnSpPr>
          <p:cNvPr id="3" name="연결선: 꺾임 2">
            <a:extLst>
              <a:ext uri="{FF2B5EF4-FFF2-40B4-BE49-F238E27FC236}">
                <a16:creationId xmlns:a16="http://schemas.microsoft.com/office/drawing/2014/main" id="{CE4DCB42-5D04-48F6-93E0-8FC932F54D98}"/>
              </a:ext>
            </a:extLst>
          </p:cNvPr>
          <p:cNvCxnSpPr>
            <a:stCxn id="7" idx="2"/>
            <a:endCxn id="9" idx="0"/>
          </p:cNvCxnSpPr>
          <p:nvPr/>
        </p:nvCxnSpPr>
        <p:spPr>
          <a:xfrm flipH="1">
            <a:off x="8029575" y="2914650"/>
            <a:ext cx="971550" cy="581025"/>
          </a:xfrm>
          <a:prstGeom prst="bentConnector4">
            <a:avLst>
              <a:gd name="adj1" fmla="val 0"/>
              <a:gd name="adj2" fmla="val 50000"/>
            </a:avLst>
          </a:prstGeom>
          <a:ln w="14288">
            <a:solidFill>
              <a:srgbClr val="004F9F"/>
            </a:solidFill>
            <a:tailEnd type="triangle" w="sm" len="sm"/>
          </a:ln>
        </p:spPr>
      </p:cxnSp>
      <p:sp>
        <p:nvSpPr>
          <p:cNvPr id="4" name="text-187">
            <a:extLst>
              <a:ext uri="{FF2B5EF4-FFF2-40B4-BE49-F238E27FC236}">
                <a16:creationId xmlns:a16="http://schemas.microsoft.com/office/drawing/2014/main" id="{FF8587DB-A819-4B80-B50C-078336D8319B}"/>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브랜드 검색어는 비용 약 5%로</a:t>
            </a:r>
            <a:r>
              <a:rPr lang="ko-KR" sz="1900" dirty="0">
                <a:solidFill>
                  <a:srgbClr val="222222"/>
                </a:solidFill>
                <a:latin typeface="에이투지체 8 ExtraBold"/>
                <a:ea typeface="에이투지체 8 ExtraBold"/>
                <a:cs typeface="에이투지체 8 ExtraBold"/>
              </a:rPr>
              <a:t> 전환매출 46.4%를 </a:t>
            </a:r>
            <a:r>
              <a:rPr lang="ko-KR" altLang="en-US" sz="1900" dirty="0">
                <a:solidFill>
                  <a:srgbClr val="222222"/>
                </a:solidFill>
                <a:latin typeface="에이투지체 8 ExtraBold"/>
                <a:ea typeface="에이투지체 8 ExtraBold"/>
                <a:cs typeface="에이투지체 8 ExtraBold"/>
              </a:rPr>
              <a:t>만들어 내고 있으며</a:t>
            </a:r>
            <a:r>
              <a:rPr lang="en-US" altLang="ko-KR" sz="1900" dirty="0">
                <a:solidFill>
                  <a:srgbClr val="222222"/>
                </a:solidFill>
                <a:latin typeface="에이투지체 8 ExtraBold"/>
                <a:ea typeface="에이투지체 8 ExtraBold"/>
                <a:cs typeface="에이투지체 8 ExtraBold"/>
              </a:rPr>
              <a:t>,</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브랜드 수요</a:t>
            </a:r>
            <a:r>
              <a:rPr lang="ko-KR" altLang="en-US" sz="1900" dirty="0">
                <a:solidFill>
                  <a:srgbClr val="222222"/>
                </a:solidFill>
                <a:latin typeface="에이투지체 8 ExtraBold"/>
                <a:ea typeface="에이투지체 8 ExtraBold"/>
                <a:cs typeface="에이투지체 8 ExtraBold"/>
              </a:rPr>
              <a:t>가 발생하는</a:t>
            </a:r>
            <a:r>
              <a:rPr lang="ko-KR" sz="1900" dirty="0">
                <a:solidFill>
                  <a:srgbClr val="222222"/>
                </a:solidFill>
                <a:latin typeface="에이투지체 8 ExtraBold"/>
                <a:ea typeface="에이투지체 8 ExtraBold"/>
                <a:cs typeface="에이투지체 8 ExtraBold"/>
              </a:rPr>
              <a:t> 시간에 노출이 끊기지 않</a:t>
            </a:r>
            <a:r>
              <a:rPr lang="ko-KR" altLang="en-US" sz="1900" dirty="0">
                <a:solidFill>
                  <a:srgbClr val="222222"/>
                </a:solidFill>
                <a:latin typeface="에이투지체 8 ExtraBold"/>
                <a:ea typeface="에이투지체 8 ExtraBold"/>
                <a:cs typeface="에이투지체 8 ExtraBold"/>
              </a:rPr>
              <a:t>도록 관리합니다</a:t>
            </a:r>
            <a:endParaRPr lang="ko-KR" sz="1900" dirty="0"/>
          </a:p>
        </p:txBody>
      </p:sp>
      <p:sp>
        <p:nvSpPr>
          <p:cNvPr id="5" name="text-188">
            <a:extLst>
              <a:ext uri="{FF2B5EF4-FFF2-40B4-BE49-F238E27FC236}">
                <a16:creationId xmlns:a16="http://schemas.microsoft.com/office/drawing/2014/main" id="{EC6E9058-26BB-455B-9128-8DADA81F0A60}"/>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쇼핑검색 ② 브랜드 검색어 그룹 분리</a:t>
            </a:r>
            <a:endParaRPr lang="ko-KR" sz="1100" dirty="0"/>
          </a:p>
        </p:txBody>
      </p:sp>
      <p:sp>
        <p:nvSpPr>
          <p:cNvPr id="7" name="node-189">
            <a:extLst>
              <a:ext uri="{FF2B5EF4-FFF2-40B4-BE49-F238E27FC236}">
                <a16:creationId xmlns:a16="http://schemas.microsoft.com/office/drawing/2014/main" id="{B04B8ACE-AB59-4F33-9D1E-BAEF6FA3CFF2}"/>
              </a:ext>
            </a:extLst>
          </p:cNvPr>
          <p:cNvSpPr>
            <a:spLocks noGrp="1"/>
          </p:cNvSpPr>
          <p:nvPr/>
        </p:nvSpPr>
        <p:spPr>
          <a:xfrm>
            <a:off x="7524750" y="2209800"/>
            <a:ext cx="2952750" cy="704850"/>
          </a:xfrm>
          <a:prstGeom prst="roundRect">
            <a:avLst>
              <a:gd name="adj" fmla="val 10378"/>
            </a:avLst>
          </a:prstGeom>
          <a:solidFill>
            <a:srgbClr val="F5F5F5"/>
          </a:solidFill>
          <a:ln w="0">
            <a:noFill/>
          </a:ln>
        </p:spPr>
        <p:txBody>
          <a:bodyPr/>
          <a:lstStyle/>
          <a:p>
            <a:endParaRPr lang="ko-KR" altLang="en-US"/>
          </a:p>
        </p:txBody>
      </p:sp>
      <p:sp>
        <p:nvSpPr>
          <p:cNvPr id="8" name="text-190">
            <a:extLst>
              <a:ext uri="{FF2B5EF4-FFF2-40B4-BE49-F238E27FC236}">
                <a16:creationId xmlns:a16="http://schemas.microsoft.com/office/drawing/2014/main" id="{F43A316C-9704-4B72-9735-1909FF736CFC}"/>
              </a:ext>
            </a:extLst>
          </p:cNvPr>
          <p:cNvSpPr>
            <a:spLocks noGrp="1"/>
          </p:cNvSpPr>
          <p:nvPr/>
        </p:nvSpPr>
        <p:spPr>
          <a:xfrm>
            <a:off x="7639050" y="2257425"/>
            <a:ext cx="2724150" cy="609600"/>
          </a:xfrm>
          <a:prstGeom prst="rect">
            <a:avLst/>
          </a:prstGeom>
          <a:noFill/>
          <a:ln w="0">
            <a:noFill/>
          </a:ln>
        </p:spPr>
        <p:txBody>
          <a:bodyPr wrap="square" lIns="0" tIns="0" rIns="0" bIns="0" anchor="ctr">
            <a:noAutofit/>
          </a:bodyPr>
          <a:lstStyle>
            <a:defPPr algn="ctr">
              <a:defRPr sz="1425">
                <a:solidFill>
                  <a:srgbClr val="222222"/>
                </a:solidFill>
                <a:latin typeface="에이투지체 6 SemiBold"/>
                <a:ea typeface="에이투지체 6 SemiBold"/>
                <a:cs typeface="에이투지체 6 SemiBold"/>
              </a:defRPr>
            </a:defPPr>
          </a:lstStyle>
          <a:p>
            <a:pPr algn="ctr">
              <a:defRPr sz="1425">
                <a:solidFill>
                  <a:srgbClr val="222222"/>
                </a:solidFill>
                <a:latin typeface="에이투지체 6 SemiBold"/>
                <a:ea typeface="에이투지체 6 SemiBold"/>
                <a:cs typeface="에이투지체 6 SemiBold"/>
              </a:defRPr>
            </a:pPr>
            <a:r>
              <a:rPr sz="1425">
                <a:solidFill>
                  <a:srgbClr val="222222"/>
                </a:solidFill>
                <a:latin typeface="에이투지체 6 SemiBold"/>
                <a:ea typeface="에이투지체 6 SemiBold"/>
                <a:cs typeface="에이투지체 6 SemiBold"/>
              </a:rPr>
              <a:t>캠페인 공통 예산</a:t>
            </a:r>
          </a:p>
          <a:p>
            <a:pPr algn="ctr">
              <a:defRPr sz="1425">
                <a:solidFill>
                  <a:srgbClr val="222222"/>
                </a:solidFill>
                <a:latin typeface="에이투지체 6 SemiBold"/>
                <a:ea typeface="에이투지체 6 SemiBold"/>
                <a:cs typeface="에이투지체 6 SemiBold"/>
              </a:defRPr>
            </a:pPr>
            <a:r>
              <a:rPr sz="1425">
                <a:solidFill>
                  <a:srgbClr val="222222"/>
                </a:solidFill>
                <a:latin typeface="에이투지체 6 SemiBold"/>
                <a:ea typeface="에이투지체 6 SemiBold"/>
                <a:cs typeface="에이투지체 6 SemiBold"/>
              </a:rPr>
              <a:t>조기 소진 여부 점검</a:t>
            </a:r>
          </a:p>
        </p:txBody>
      </p:sp>
      <p:sp>
        <p:nvSpPr>
          <p:cNvPr id="9" name="node-191">
            <a:extLst>
              <a:ext uri="{FF2B5EF4-FFF2-40B4-BE49-F238E27FC236}">
                <a16:creationId xmlns:a16="http://schemas.microsoft.com/office/drawing/2014/main" id="{58388F29-D720-4D53-A117-69FB7FA8A4BF}"/>
              </a:ext>
            </a:extLst>
          </p:cNvPr>
          <p:cNvSpPr>
            <a:spLocks noGrp="1"/>
          </p:cNvSpPr>
          <p:nvPr/>
        </p:nvSpPr>
        <p:spPr>
          <a:xfrm>
            <a:off x="6934200" y="3495675"/>
            <a:ext cx="2190750" cy="952500"/>
          </a:xfrm>
          <a:prstGeom prst="roundRect">
            <a:avLst>
              <a:gd name="adj" fmla="val 7679"/>
            </a:avLst>
          </a:prstGeom>
          <a:solidFill>
            <a:srgbClr val="EAF2FB"/>
          </a:solidFill>
          <a:ln w="0">
            <a:noFill/>
          </a:ln>
        </p:spPr>
        <p:txBody>
          <a:bodyPr/>
          <a:lstStyle/>
          <a:p>
            <a:endParaRPr lang="ko-KR" altLang="en-US"/>
          </a:p>
        </p:txBody>
      </p:sp>
      <p:sp>
        <p:nvSpPr>
          <p:cNvPr id="10" name="text-192">
            <a:extLst>
              <a:ext uri="{FF2B5EF4-FFF2-40B4-BE49-F238E27FC236}">
                <a16:creationId xmlns:a16="http://schemas.microsoft.com/office/drawing/2014/main" id="{00974F48-D317-444A-B5FF-90BF53709627}"/>
              </a:ext>
            </a:extLst>
          </p:cNvPr>
          <p:cNvSpPr>
            <a:spLocks noGrp="1"/>
          </p:cNvSpPr>
          <p:nvPr/>
        </p:nvSpPr>
        <p:spPr>
          <a:xfrm>
            <a:off x="7048500" y="3543300"/>
            <a:ext cx="1962150" cy="857250"/>
          </a:xfrm>
          <a:prstGeom prst="rect">
            <a:avLst/>
          </a:prstGeom>
          <a:noFill/>
          <a:ln w="0">
            <a:noFill/>
          </a:ln>
        </p:spPr>
        <p:txBody>
          <a:bodyPr wrap="square" lIns="0" tIns="0" rIns="0" bIns="0" anchor="ctr">
            <a:noAutofit/>
          </a:bodyPr>
          <a:lstStyle>
            <a:defPPr algn="ctr">
              <a:defRPr sz="1380">
                <a:solidFill>
                  <a:srgbClr val="004F9F"/>
                </a:solidFill>
                <a:latin typeface="에이투지체 6 SemiBold"/>
                <a:ea typeface="에이투지체 6 SemiBold"/>
                <a:cs typeface="에이투지체 6 SemiBold"/>
              </a:defRPr>
            </a:defPPr>
          </a:lstStyle>
          <a:p>
            <a:pPr algn="ctr">
              <a:defRPr sz="1380">
                <a:solidFill>
                  <a:srgbClr val="004F9F"/>
                </a:solidFill>
                <a:latin typeface="에이투지체 6 SemiBold"/>
                <a:ea typeface="에이투지체 6 SemiBold"/>
                <a:cs typeface="에이투지체 6 SemiBold"/>
              </a:defRPr>
            </a:pPr>
            <a:r>
              <a:rPr sz="1380">
                <a:solidFill>
                  <a:srgbClr val="004F9F"/>
                </a:solidFill>
                <a:latin typeface="에이투지체 6 SemiBold"/>
                <a:ea typeface="에이투지체 6 SemiBold"/>
                <a:cs typeface="에이투지체 6 SemiBold"/>
              </a:rPr>
              <a:t>브랜드 전용 그룹</a:t>
            </a:r>
          </a:p>
          <a:p>
            <a:pPr algn="ctr">
              <a:defRPr sz="1380">
                <a:solidFill>
                  <a:srgbClr val="004F9F"/>
                </a:solidFill>
                <a:latin typeface="에이투지체 6 SemiBold"/>
                <a:ea typeface="에이투지체 6 SemiBold"/>
                <a:cs typeface="에이투지체 6 SemiBold"/>
              </a:defRPr>
            </a:pPr>
            <a:r>
              <a:rPr sz="1380">
                <a:solidFill>
                  <a:srgbClr val="004F9F"/>
                </a:solidFill>
                <a:latin typeface="에이투지체 6 SemiBold"/>
                <a:ea typeface="에이투지체 6 SemiBold"/>
                <a:cs typeface="에이투지체 6 SemiBold"/>
              </a:rPr>
              <a:t>상시 집행 예산 확보</a:t>
            </a:r>
          </a:p>
        </p:txBody>
      </p:sp>
      <p:sp>
        <p:nvSpPr>
          <p:cNvPr id="11" name="node-193">
            <a:extLst>
              <a:ext uri="{FF2B5EF4-FFF2-40B4-BE49-F238E27FC236}">
                <a16:creationId xmlns:a16="http://schemas.microsoft.com/office/drawing/2014/main" id="{A04100CF-2F54-4224-B7F7-DB7ECD294651}"/>
              </a:ext>
            </a:extLst>
          </p:cNvPr>
          <p:cNvSpPr>
            <a:spLocks noGrp="1"/>
          </p:cNvSpPr>
          <p:nvPr/>
        </p:nvSpPr>
        <p:spPr>
          <a:xfrm>
            <a:off x="9401175" y="3495675"/>
            <a:ext cx="2190750" cy="952500"/>
          </a:xfrm>
          <a:prstGeom prst="roundRect">
            <a:avLst>
              <a:gd name="adj" fmla="val 7679"/>
            </a:avLst>
          </a:prstGeom>
          <a:solidFill>
            <a:srgbClr val="F5F5F5"/>
          </a:solidFill>
          <a:ln w="0">
            <a:noFill/>
          </a:ln>
        </p:spPr>
        <p:txBody>
          <a:bodyPr/>
          <a:lstStyle/>
          <a:p>
            <a:endParaRPr lang="ko-KR" altLang="en-US"/>
          </a:p>
        </p:txBody>
      </p:sp>
      <p:sp>
        <p:nvSpPr>
          <p:cNvPr id="12" name="text-194">
            <a:extLst>
              <a:ext uri="{FF2B5EF4-FFF2-40B4-BE49-F238E27FC236}">
                <a16:creationId xmlns:a16="http://schemas.microsoft.com/office/drawing/2014/main" id="{1BC0546A-CDE6-4A50-8C78-53D96612EB3D}"/>
              </a:ext>
            </a:extLst>
          </p:cNvPr>
          <p:cNvSpPr>
            <a:spLocks noGrp="1"/>
          </p:cNvSpPr>
          <p:nvPr/>
        </p:nvSpPr>
        <p:spPr>
          <a:xfrm>
            <a:off x="9515475" y="3543300"/>
            <a:ext cx="1962150" cy="857250"/>
          </a:xfrm>
          <a:prstGeom prst="rect">
            <a:avLst/>
          </a:prstGeom>
          <a:noFill/>
          <a:ln w="0">
            <a:noFill/>
          </a:ln>
        </p:spPr>
        <p:txBody>
          <a:bodyPr wrap="square" lIns="0" tIns="0" rIns="0" bIns="0" anchor="ctr">
            <a:noAutofit/>
          </a:bodyPr>
          <a:lstStyle>
            <a:defPPr algn="ctr">
              <a:defRPr sz="1380">
                <a:solidFill>
                  <a:srgbClr val="222222"/>
                </a:solidFill>
                <a:latin typeface="에이투지체 6 SemiBold"/>
                <a:ea typeface="에이투지체 6 SemiBold"/>
                <a:cs typeface="에이투지체 6 SemiBold"/>
              </a:defRPr>
            </a:defPPr>
          </a:lstStyle>
          <a:p>
            <a:pPr algn="ctr">
              <a:defRPr sz="1380">
                <a:solidFill>
                  <a:srgbClr val="222222"/>
                </a:solidFill>
                <a:latin typeface="에이투지체 6 SemiBold"/>
                <a:ea typeface="에이투지체 6 SemiBold"/>
                <a:cs typeface="에이투지체 6 SemiBold"/>
              </a:defRPr>
            </a:pPr>
            <a:r>
              <a:rPr sz="1380">
                <a:solidFill>
                  <a:srgbClr val="222222"/>
                </a:solidFill>
                <a:latin typeface="에이투지체 6 SemiBold"/>
                <a:ea typeface="에이투지체 6 SemiBold"/>
                <a:cs typeface="에이투지체 6 SemiBold"/>
              </a:rPr>
              <a:t>일반 검색어 그룹</a:t>
            </a:r>
          </a:p>
          <a:p>
            <a:pPr algn="ctr">
              <a:defRPr sz="1380">
                <a:solidFill>
                  <a:srgbClr val="222222"/>
                </a:solidFill>
                <a:latin typeface="에이투지체 6 SemiBold"/>
                <a:ea typeface="에이투지체 6 SemiBold"/>
                <a:cs typeface="에이투지체 6 SemiBold"/>
              </a:defRPr>
            </a:pPr>
            <a:r>
              <a:rPr sz="1380">
                <a:solidFill>
                  <a:srgbClr val="222222"/>
                </a:solidFill>
                <a:latin typeface="에이투지체 6 SemiBold"/>
                <a:ea typeface="에이투지체 6 SemiBold"/>
                <a:cs typeface="에이투지체 6 SemiBold"/>
              </a:rPr>
              <a:t>지출 한도 별도 관리</a:t>
            </a:r>
          </a:p>
        </p:txBody>
      </p:sp>
      <p:sp>
        <p:nvSpPr>
          <p:cNvPr id="14" name="node-196">
            <a:extLst>
              <a:ext uri="{FF2B5EF4-FFF2-40B4-BE49-F238E27FC236}">
                <a16:creationId xmlns:a16="http://schemas.microsoft.com/office/drawing/2014/main" id="{7524A329-35A6-4BAC-8896-0ED12A8486E8}"/>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15" name="text-197">
            <a:extLst>
              <a:ext uri="{FF2B5EF4-FFF2-40B4-BE49-F238E27FC236}">
                <a16:creationId xmlns:a16="http://schemas.microsoft.com/office/drawing/2014/main" id="{97E425C4-9EEB-4F75-8B14-0048E9590879}"/>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dirty="0" err="1">
                <a:solidFill>
                  <a:srgbClr val="004F9F"/>
                </a:solidFill>
                <a:latin typeface="에이투지체 6 SemiBold"/>
                <a:ea typeface="에이투지체 6 SemiBold"/>
                <a:cs typeface="에이투지체 6 SemiBold"/>
              </a:rPr>
              <a:t>브랜드</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수요</a:t>
            </a:r>
            <a:r>
              <a:rPr lang="ko-KR" altLang="en-US" sz="1358" dirty="0">
                <a:solidFill>
                  <a:srgbClr val="004F9F"/>
                </a:solidFill>
                <a:latin typeface="에이투지체 6 SemiBold"/>
                <a:ea typeface="에이투지체 6 SemiBold"/>
                <a:cs typeface="에이투지체 6 SemiBold"/>
              </a:rPr>
              <a:t>가 집중적으로 발생하는 시간에 예산이 끊기지 않도록</a:t>
            </a:r>
            <a:r>
              <a:rPr lang="en-US" altLang="ko-KR" sz="1358" dirty="0">
                <a:solidFill>
                  <a:srgbClr val="004F9F"/>
                </a:solidFill>
                <a:latin typeface="에이투지체 6 SemiBold"/>
                <a:ea typeface="에이투지체 6 SemiBold"/>
                <a:cs typeface="에이투지체 6 SemiBold"/>
              </a:rPr>
              <a:t>, </a:t>
            </a:r>
            <a:r>
              <a:rPr lang="ko-KR" altLang="en-US" sz="1358" dirty="0">
                <a:solidFill>
                  <a:srgbClr val="004F9F"/>
                </a:solidFill>
                <a:latin typeface="에이투지체 6 SemiBold"/>
                <a:ea typeface="에이투지체 6 SemiBold"/>
                <a:cs typeface="에이투지체 6 SemiBold"/>
              </a:rPr>
              <a:t>별도 그룹으로 특별 관리합니다</a:t>
            </a:r>
            <a:r>
              <a:rPr lang="en-US" altLang="ko-KR" sz="1358" dirty="0">
                <a:solidFill>
                  <a:srgbClr val="004F9F"/>
                </a:solidFill>
                <a:latin typeface="에이투지체 6 SemiBold"/>
                <a:ea typeface="에이투지체 6 SemiBold"/>
                <a:cs typeface="에이투지체 6 SemiBold"/>
              </a:rPr>
              <a:t>.</a:t>
            </a:r>
            <a:endParaRPr sz="1358" dirty="0">
              <a:solidFill>
                <a:srgbClr val="004F9F"/>
              </a:solidFill>
              <a:latin typeface="에이투지체 6 SemiBold"/>
              <a:ea typeface="에이투지체 6 SemiBold"/>
              <a:cs typeface="에이투지체 6 SemiBold"/>
            </a:endParaRPr>
          </a:p>
        </p:txBody>
      </p:sp>
      <p:sp>
        <p:nvSpPr>
          <p:cNvPr id="21" name="Rounded Rectangle 20"/>
          <p:cNvSpPr/>
          <p:nvPr/>
        </p:nvSpPr>
        <p:spPr>
          <a:xfrm>
            <a:off x="548640" y="2240280"/>
            <a:ext cx="146304" cy="146304"/>
          </a:xfrm>
          <a:prstGeom prst="roundRect">
            <a:avLst>
              <a:gd name="adj" fmla="val 12500"/>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9808" y="2194560"/>
            <a:ext cx="1463040" cy="237744"/>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브랜드명 포함</a:t>
            </a:r>
          </a:p>
        </p:txBody>
      </p:sp>
      <p:sp>
        <p:nvSpPr>
          <p:cNvPr id="23" name="Rounded Rectangle 22"/>
          <p:cNvSpPr/>
          <p:nvPr/>
        </p:nvSpPr>
        <p:spPr>
          <a:xfrm>
            <a:off x="2057400" y="2240280"/>
            <a:ext cx="146304" cy="146304"/>
          </a:xfrm>
          <a:prstGeom prst="roundRect">
            <a:avLst>
              <a:gd name="adj" fmla="val 12500"/>
            </a:avLst>
          </a:prstGeom>
          <a:solidFill>
            <a:srgbClr val="C9D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258568" y="2194560"/>
            <a:ext cx="1645920" cy="237744"/>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브랜드명 미포함</a:t>
            </a:r>
          </a:p>
        </p:txBody>
      </p:sp>
      <p:sp>
        <p:nvSpPr>
          <p:cNvPr id="25" name="TextBox 24"/>
          <p:cNvSpPr txBox="1"/>
          <p:nvPr/>
        </p:nvSpPr>
        <p:spPr>
          <a:xfrm>
            <a:off x="548640" y="2697480"/>
            <a:ext cx="1280160" cy="457200"/>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6 SemiBold"/>
                <a:ea typeface="에이투지체 6 SemiBold"/>
              </a:rPr>
              <a:t>광고비 비중</a:t>
            </a:r>
          </a:p>
        </p:txBody>
      </p:sp>
      <p:sp>
        <p:nvSpPr>
          <p:cNvPr id="26" name="Rectangle 25"/>
          <p:cNvSpPr/>
          <p:nvPr/>
        </p:nvSpPr>
        <p:spPr>
          <a:xfrm>
            <a:off x="1874519" y="2697480"/>
            <a:ext cx="221742" cy="457200"/>
          </a:xfrm>
          <a:prstGeom prst="rect">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096262" y="2697480"/>
            <a:ext cx="4213098" cy="457200"/>
          </a:xfrm>
          <a:prstGeom prst="rect">
            <a:avLst/>
          </a:prstGeom>
          <a:solidFill>
            <a:srgbClr val="C9D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691639" y="2423160"/>
            <a:ext cx="914400" cy="256032"/>
          </a:xfrm>
          <a:prstGeom prst="rect">
            <a:avLst/>
          </a:prstGeom>
          <a:noFill/>
        </p:spPr>
        <p:txBody>
          <a:bodyPr wrap="square" lIns="0" tIns="0" rIns="0" bIns="0" anchor="t">
            <a:spAutoFit/>
          </a:bodyPr>
          <a:lstStyle/>
          <a:p>
            <a:pPr algn="l">
              <a:spcAft>
                <a:spcPts val="300"/>
              </a:spcAft>
            </a:pPr>
            <a:r>
              <a:rPr sz="1050">
                <a:solidFill>
                  <a:srgbClr val="004F9F"/>
                </a:solidFill>
                <a:latin typeface="에이투지체 8 ExtraBold"/>
                <a:ea typeface="에이투지체 8 ExtraBold"/>
              </a:rPr>
              <a:t>약 5%</a:t>
            </a:r>
          </a:p>
        </p:txBody>
      </p:sp>
      <p:sp>
        <p:nvSpPr>
          <p:cNvPr id="29" name="TextBox 28"/>
          <p:cNvSpPr txBox="1"/>
          <p:nvPr/>
        </p:nvSpPr>
        <p:spPr>
          <a:xfrm>
            <a:off x="2096262" y="2697480"/>
            <a:ext cx="4213098" cy="457200"/>
          </a:xfrm>
          <a:prstGeom prst="rect">
            <a:avLst/>
          </a:prstGeom>
          <a:noFill/>
        </p:spPr>
        <p:txBody>
          <a:bodyPr wrap="square" lIns="0" tIns="0" rIns="0" bIns="0" anchor="ctr">
            <a:spAutoFit/>
          </a:bodyPr>
          <a:lstStyle/>
          <a:p>
            <a:pPr algn="ctr">
              <a:spcAft>
                <a:spcPts val="300"/>
              </a:spcAft>
            </a:pPr>
            <a:r>
              <a:rPr sz="1200">
                <a:solidFill>
                  <a:srgbClr val="0E3A72"/>
                </a:solidFill>
                <a:latin typeface="에이투지체 6 SemiBold"/>
                <a:ea typeface="에이투지체 6 SemiBold"/>
              </a:rPr>
              <a:t>약 95%</a:t>
            </a:r>
          </a:p>
        </p:txBody>
      </p:sp>
      <p:sp>
        <p:nvSpPr>
          <p:cNvPr id="30" name="TextBox 29"/>
          <p:cNvSpPr txBox="1"/>
          <p:nvPr/>
        </p:nvSpPr>
        <p:spPr>
          <a:xfrm>
            <a:off x="548640" y="3474720"/>
            <a:ext cx="1280160" cy="457200"/>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6 SemiBold"/>
                <a:ea typeface="에이투지체 6 SemiBold"/>
              </a:rPr>
              <a:t>전환매출 비중</a:t>
            </a:r>
          </a:p>
        </p:txBody>
      </p:sp>
      <p:sp>
        <p:nvSpPr>
          <p:cNvPr id="31" name="Rectangle 30"/>
          <p:cNvSpPr/>
          <p:nvPr/>
        </p:nvSpPr>
        <p:spPr>
          <a:xfrm>
            <a:off x="1874519" y="3474720"/>
            <a:ext cx="2057765" cy="457200"/>
          </a:xfrm>
          <a:prstGeom prst="rect">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932285" y="3474720"/>
            <a:ext cx="2377074" cy="457200"/>
          </a:xfrm>
          <a:prstGeom prst="rect">
            <a:avLst/>
          </a:prstGeom>
          <a:solidFill>
            <a:srgbClr val="C9D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874519" y="3474720"/>
            <a:ext cx="2057765" cy="457200"/>
          </a:xfrm>
          <a:prstGeom prst="rect">
            <a:avLst/>
          </a:prstGeom>
          <a:noFill/>
        </p:spPr>
        <p:txBody>
          <a:bodyPr wrap="square" lIns="0" tIns="0" rIns="0" bIns="0" anchor="ctr">
            <a:spAutoFit/>
          </a:bodyPr>
          <a:lstStyle/>
          <a:p>
            <a:pPr algn="ctr">
              <a:spcAft>
                <a:spcPts val="300"/>
              </a:spcAft>
            </a:pPr>
            <a:r>
              <a:rPr sz="1200">
                <a:solidFill>
                  <a:srgbClr val="FFFFFF"/>
                </a:solidFill>
                <a:latin typeface="에이투지체 8 ExtraBold"/>
                <a:ea typeface="에이투지체 8 ExtraBold"/>
              </a:rPr>
              <a:t>46.4%</a:t>
            </a:r>
          </a:p>
        </p:txBody>
      </p:sp>
      <p:sp>
        <p:nvSpPr>
          <p:cNvPr id="34" name="TextBox 33"/>
          <p:cNvSpPr txBox="1"/>
          <p:nvPr/>
        </p:nvSpPr>
        <p:spPr>
          <a:xfrm>
            <a:off x="3932285" y="3474720"/>
            <a:ext cx="2377074" cy="457200"/>
          </a:xfrm>
          <a:prstGeom prst="rect">
            <a:avLst/>
          </a:prstGeom>
          <a:noFill/>
        </p:spPr>
        <p:txBody>
          <a:bodyPr wrap="square" lIns="0" tIns="0" rIns="0" bIns="0" anchor="ctr">
            <a:spAutoFit/>
          </a:bodyPr>
          <a:lstStyle/>
          <a:p>
            <a:pPr algn="ctr">
              <a:spcAft>
                <a:spcPts val="300"/>
              </a:spcAft>
            </a:pPr>
            <a:r>
              <a:rPr sz="1200">
                <a:solidFill>
                  <a:srgbClr val="0E3A72"/>
                </a:solidFill>
                <a:latin typeface="에이투지체 6 SemiBold"/>
                <a:ea typeface="에이투지체 6 SemiBold"/>
              </a:rPr>
              <a:t>53.6%</a:t>
            </a:r>
          </a:p>
        </p:txBody>
      </p:sp>
      <p:sp>
        <p:nvSpPr>
          <p:cNvPr id="35" name="Rounded Rectangle 34"/>
          <p:cNvSpPr/>
          <p:nvPr/>
        </p:nvSpPr>
        <p:spPr>
          <a:xfrm>
            <a:off x="548640" y="4343400"/>
            <a:ext cx="2788920" cy="566928"/>
          </a:xfrm>
          <a:prstGeom prst="roundRect">
            <a:avLst>
              <a:gd name="adj" fmla="val 12903"/>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85800" y="4343400"/>
            <a:ext cx="2560320" cy="566928"/>
          </a:xfrm>
          <a:prstGeom prst="rect">
            <a:avLst/>
          </a:prstGeom>
          <a:noFill/>
        </p:spPr>
        <p:txBody>
          <a:bodyPr wrap="square" lIns="0" tIns="0" rIns="0" bIns="0" anchor="ctr">
            <a:spAutoFit/>
          </a:bodyPr>
          <a:lstStyle/>
          <a:p>
            <a:pPr algn="ctr">
              <a:spcAft>
                <a:spcPts val="300"/>
              </a:spcAft>
            </a:pPr>
            <a:r>
              <a:rPr sz="1050">
                <a:solidFill>
                  <a:srgbClr val="5C5C5C"/>
                </a:solidFill>
                <a:latin typeface="에이투지체 5 Medium"/>
                <a:ea typeface="에이투지체 5 Medium"/>
              </a:rPr>
              <a:t>브랜드명 포함 ROAS  </a:t>
            </a:r>
            <a:r>
              <a:rPr sz="1500">
                <a:solidFill>
                  <a:srgbClr val="004F9F"/>
                </a:solidFill>
                <a:latin typeface="에이투지체 8 ExtraBold"/>
                <a:ea typeface="에이투지체 8 ExtraBold"/>
              </a:rPr>
              <a:t>1,874%</a:t>
            </a:r>
          </a:p>
        </p:txBody>
      </p:sp>
      <p:sp>
        <p:nvSpPr>
          <p:cNvPr id="37" name="Rounded Rectangle 36"/>
          <p:cNvSpPr/>
          <p:nvPr/>
        </p:nvSpPr>
        <p:spPr>
          <a:xfrm>
            <a:off x="3520440" y="4343400"/>
            <a:ext cx="2788920" cy="566928"/>
          </a:xfrm>
          <a:prstGeom prst="roundRect">
            <a:avLst>
              <a:gd name="adj" fmla="val 1290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657600" y="4343400"/>
            <a:ext cx="2560320" cy="566928"/>
          </a:xfrm>
          <a:prstGeom prst="rect">
            <a:avLst/>
          </a:prstGeom>
          <a:noFill/>
        </p:spPr>
        <p:txBody>
          <a:bodyPr wrap="square" lIns="0" tIns="0" rIns="0" bIns="0" anchor="ctr">
            <a:spAutoFit/>
          </a:bodyPr>
          <a:lstStyle/>
          <a:p>
            <a:pPr algn="ctr">
              <a:spcAft>
                <a:spcPts val="300"/>
              </a:spcAft>
            </a:pPr>
            <a:r>
              <a:rPr sz="1050">
                <a:solidFill>
                  <a:srgbClr val="5C5C5C"/>
                </a:solidFill>
                <a:latin typeface="에이투지체 5 Medium"/>
                <a:ea typeface="에이투지체 5 Medium"/>
              </a:rPr>
              <a:t>미포함 ROAS  </a:t>
            </a:r>
            <a:r>
              <a:rPr sz="1500">
                <a:solidFill>
                  <a:srgbClr val="222222"/>
                </a:solidFill>
                <a:latin typeface="에이투지체 8 ExtraBold"/>
                <a:ea typeface="에이투지체 8 ExtraBold"/>
              </a:rPr>
              <a:t>114%</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9"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40"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41"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42"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26</a:t>
            </a:r>
          </a:p>
        </p:txBody>
      </p:sp>
      <p:cxnSp>
        <p:nvCxnSpPr>
          <p:cNvPr id="2" name="연결선: 꺾임 1">
            <a:extLst>
              <a:ext uri="{FF2B5EF4-FFF2-40B4-BE49-F238E27FC236}">
                <a16:creationId xmlns:a16="http://schemas.microsoft.com/office/drawing/2014/main" id="{28E32225-4212-469E-AC10-423317E43BFE}"/>
              </a:ext>
            </a:extLst>
          </p:cNvPr>
          <p:cNvCxnSpPr>
            <a:stCxn id="18" idx="2"/>
            <a:endCxn id="22" idx="0"/>
          </p:cNvCxnSpPr>
          <p:nvPr/>
        </p:nvCxnSpPr>
        <p:spPr>
          <a:xfrm>
            <a:off x="8281988" y="3028950"/>
            <a:ext cx="1814513" cy="323850"/>
          </a:xfrm>
          <a:prstGeom prst="bentConnector4">
            <a:avLst>
              <a:gd name="adj1" fmla="val 0"/>
              <a:gd name="adj2" fmla="val 50000"/>
            </a:avLst>
          </a:prstGeom>
          <a:ln w="14288">
            <a:solidFill>
              <a:srgbClr val="004F9F"/>
            </a:solidFill>
            <a:tailEnd type="triangle" w="sm" len="sm"/>
          </a:ln>
        </p:spPr>
      </p:cxnSp>
      <p:cxnSp>
        <p:nvCxnSpPr>
          <p:cNvPr id="3" name="연결선: 꺾임 2">
            <a:extLst>
              <a:ext uri="{FF2B5EF4-FFF2-40B4-BE49-F238E27FC236}">
                <a16:creationId xmlns:a16="http://schemas.microsoft.com/office/drawing/2014/main" id="{B7F29812-FD72-424B-9C64-D375FA0AAA11}"/>
              </a:ext>
            </a:extLst>
          </p:cNvPr>
          <p:cNvCxnSpPr>
            <a:stCxn id="18" idx="2"/>
            <a:endCxn id="20" idx="0"/>
          </p:cNvCxnSpPr>
          <p:nvPr/>
        </p:nvCxnSpPr>
        <p:spPr>
          <a:xfrm flipH="1">
            <a:off x="6172200" y="3028950"/>
            <a:ext cx="2109788" cy="323850"/>
          </a:xfrm>
          <a:prstGeom prst="bentConnector4">
            <a:avLst>
              <a:gd name="adj1" fmla="val 0"/>
              <a:gd name="adj2" fmla="val 50000"/>
            </a:avLst>
          </a:prstGeom>
          <a:ln w="14288">
            <a:solidFill>
              <a:srgbClr val="004F9F"/>
            </a:solidFill>
            <a:tailEnd type="triangle" w="sm" len="sm"/>
          </a:ln>
        </p:spPr>
      </p:cxnSp>
      <p:sp>
        <p:nvSpPr>
          <p:cNvPr id="4" name="text-199">
            <a:extLst>
              <a:ext uri="{FF2B5EF4-FFF2-40B4-BE49-F238E27FC236}">
                <a16:creationId xmlns:a16="http://schemas.microsoft.com/office/drawing/2014/main" id="{32C4121F-35A9-44E8-A17A-379EDF7FC7E6}"/>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기기별 예산과 입찰을 구분</a:t>
            </a:r>
            <a:r>
              <a:rPr lang="ko-KR" sz="1900" dirty="0">
                <a:solidFill>
                  <a:srgbClr val="222222"/>
                </a:solidFill>
                <a:latin typeface="에이투지체 8 ExtraBold"/>
                <a:ea typeface="에이투지체 8 ExtraBold"/>
                <a:cs typeface="에이투지체 8 ExtraBold"/>
              </a:rPr>
              <a:t>하고</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같은 상품의 겹치는 그룹을 통합합니다</a:t>
            </a:r>
            <a:endParaRPr lang="ko-KR" sz="1900" dirty="0"/>
          </a:p>
        </p:txBody>
      </p:sp>
      <p:sp>
        <p:nvSpPr>
          <p:cNvPr id="5" name="text-200">
            <a:extLst>
              <a:ext uri="{FF2B5EF4-FFF2-40B4-BE49-F238E27FC236}">
                <a16:creationId xmlns:a16="http://schemas.microsoft.com/office/drawing/2014/main" id="{54291916-9676-4307-A8BE-3CA9F2EB3813}"/>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쇼핑검색 ③ PC·MO와 그룹 재구성</a:t>
            </a:r>
            <a:endParaRPr lang="ko-KR" sz="1100" dirty="0"/>
          </a:p>
        </p:txBody>
      </p:sp>
      <p:sp>
        <p:nvSpPr>
          <p:cNvPr id="6" name="text-201">
            <a:extLst>
              <a:ext uri="{FF2B5EF4-FFF2-40B4-BE49-F238E27FC236}">
                <a16:creationId xmlns:a16="http://schemas.microsoft.com/office/drawing/2014/main" id="{5E4C7476-37EE-4B95-89E8-80BB8EC2F88C}"/>
              </a:ext>
            </a:extLst>
          </p:cNvPr>
          <p:cNvSpPr>
            <a:spLocks noGrp="1"/>
          </p:cNvSpPr>
          <p:nvPr/>
        </p:nvSpPr>
        <p:spPr>
          <a:xfrm>
            <a:off x="552450" y="2124075"/>
            <a:ext cx="3486150"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lang="en-US" sz="1500" dirty="0">
                <a:solidFill>
                  <a:srgbClr val="004F9F"/>
                </a:solidFill>
                <a:latin typeface="에이투지체 6 SemiBold"/>
                <a:ea typeface="에이투지체 6 SemiBold"/>
                <a:cs typeface="에이투지체 6 SemiBold"/>
              </a:rPr>
              <a:t>AS-IS</a:t>
            </a:r>
            <a:r>
              <a:rPr sz="1500" dirty="0">
                <a:solidFill>
                  <a:srgbClr val="004F9F"/>
                </a:solidFill>
                <a:latin typeface="에이투지체 6 SemiBold"/>
                <a:ea typeface="에이투지체 6 SemiBold"/>
                <a:cs typeface="에이투지체 6 SemiBold"/>
              </a:rPr>
              <a:t>  </a:t>
            </a:r>
            <a:r>
              <a:rPr sz="1500" dirty="0" err="1">
                <a:solidFill>
                  <a:srgbClr val="004F9F"/>
                </a:solidFill>
                <a:latin typeface="에이투지체 6 SemiBold"/>
                <a:ea typeface="에이투지체 6 SemiBold"/>
                <a:cs typeface="에이투지체 6 SemiBold"/>
              </a:rPr>
              <a:t>상품·연령·표현별</a:t>
            </a:r>
            <a:r>
              <a:rPr sz="1500" dirty="0">
                <a:solidFill>
                  <a:srgbClr val="004F9F"/>
                </a:solidFill>
                <a:latin typeface="에이투지체 6 SemiBold"/>
                <a:ea typeface="에이투지체 6 SemiBold"/>
                <a:cs typeface="에이투지체 6 SemiBold"/>
              </a:rPr>
              <a:t> </a:t>
            </a:r>
            <a:r>
              <a:rPr sz="1500" dirty="0" err="1">
                <a:solidFill>
                  <a:srgbClr val="004F9F"/>
                </a:solidFill>
                <a:latin typeface="에이투지체 6 SemiBold"/>
                <a:ea typeface="에이투지체 6 SemiBold"/>
                <a:cs typeface="에이투지체 6 SemiBold"/>
              </a:rPr>
              <a:t>그룹</a:t>
            </a:r>
            <a:endParaRPr sz="1500" dirty="0">
              <a:solidFill>
                <a:srgbClr val="004F9F"/>
              </a:solidFill>
              <a:latin typeface="에이투지체 6 SemiBold"/>
              <a:ea typeface="에이투지체 6 SemiBold"/>
              <a:cs typeface="에이투지체 6 SemiBold"/>
            </a:endParaRPr>
          </a:p>
        </p:txBody>
      </p:sp>
      <p:sp>
        <p:nvSpPr>
          <p:cNvPr id="7" name="text-202">
            <a:extLst>
              <a:ext uri="{FF2B5EF4-FFF2-40B4-BE49-F238E27FC236}">
                <a16:creationId xmlns:a16="http://schemas.microsoft.com/office/drawing/2014/main" id="{ECDB946B-7042-4739-BDF0-8A25AE7A979C}"/>
              </a:ext>
            </a:extLst>
          </p:cNvPr>
          <p:cNvSpPr>
            <a:spLocks noGrp="1"/>
          </p:cNvSpPr>
          <p:nvPr/>
        </p:nvSpPr>
        <p:spPr>
          <a:xfrm>
            <a:off x="4953000" y="2124075"/>
            <a:ext cx="6657975"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lang="en-US" sz="1500" dirty="0">
                <a:solidFill>
                  <a:srgbClr val="004F9F"/>
                </a:solidFill>
                <a:latin typeface="에이투지체 6 SemiBold"/>
                <a:ea typeface="에이투지체 6 SemiBold"/>
                <a:cs typeface="에이투지체 6 SemiBold"/>
              </a:rPr>
              <a:t>TO-BE</a:t>
            </a:r>
            <a:r>
              <a:rPr sz="1500" dirty="0">
                <a:solidFill>
                  <a:srgbClr val="004F9F"/>
                </a:solidFill>
                <a:latin typeface="에이투지체 6 SemiBold"/>
                <a:ea typeface="에이투지체 6 SemiBold"/>
                <a:cs typeface="에이투지체 6 SemiBold"/>
              </a:rPr>
              <a:t>  </a:t>
            </a:r>
            <a:r>
              <a:rPr sz="1500" dirty="0" err="1">
                <a:solidFill>
                  <a:srgbClr val="004F9F"/>
                </a:solidFill>
                <a:latin typeface="에이투지체 6 SemiBold"/>
                <a:ea typeface="에이투지체 6 SemiBold"/>
                <a:cs typeface="에이투지체 6 SemiBold"/>
              </a:rPr>
              <a:t>같은</a:t>
            </a:r>
            <a:r>
              <a:rPr sz="1500" dirty="0">
                <a:solidFill>
                  <a:srgbClr val="004F9F"/>
                </a:solidFill>
                <a:latin typeface="에이투지체 6 SemiBold"/>
                <a:ea typeface="에이투지체 6 SemiBold"/>
                <a:cs typeface="에이투지체 6 SemiBold"/>
              </a:rPr>
              <a:t> </a:t>
            </a:r>
            <a:r>
              <a:rPr sz="1500" dirty="0" err="1">
                <a:solidFill>
                  <a:srgbClr val="004F9F"/>
                </a:solidFill>
                <a:latin typeface="에이투지체 6 SemiBold"/>
                <a:ea typeface="에이투지체 6 SemiBold"/>
                <a:cs typeface="에이투지체 6 SemiBold"/>
              </a:rPr>
              <a:t>상품과</a:t>
            </a:r>
            <a:r>
              <a:rPr sz="1500" dirty="0">
                <a:solidFill>
                  <a:srgbClr val="004F9F"/>
                </a:solidFill>
                <a:latin typeface="에이투지체 6 SemiBold"/>
                <a:ea typeface="에이투지체 6 SemiBold"/>
                <a:cs typeface="에이투지체 6 SemiBold"/>
              </a:rPr>
              <a:t> </a:t>
            </a:r>
            <a:r>
              <a:rPr sz="1500" dirty="0" err="1">
                <a:solidFill>
                  <a:srgbClr val="004F9F"/>
                </a:solidFill>
                <a:latin typeface="에이투지체 6 SemiBold"/>
                <a:ea typeface="에이투지체 6 SemiBold"/>
                <a:cs typeface="에이투지체 6 SemiBold"/>
              </a:rPr>
              <a:t>운영</a:t>
            </a:r>
            <a:r>
              <a:rPr sz="1500" dirty="0">
                <a:solidFill>
                  <a:srgbClr val="004F9F"/>
                </a:solidFill>
                <a:latin typeface="에이투지체 6 SemiBold"/>
                <a:ea typeface="에이투지체 6 SemiBold"/>
                <a:cs typeface="에이투지체 6 SemiBold"/>
              </a:rPr>
              <a:t> </a:t>
            </a:r>
            <a:r>
              <a:rPr sz="1500" dirty="0" err="1">
                <a:solidFill>
                  <a:srgbClr val="004F9F"/>
                </a:solidFill>
                <a:latin typeface="에이투지체 6 SemiBold"/>
                <a:ea typeface="에이투지체 6 SemiBold"/>
                <a:cs typeface="에이투지체 6 SemiBold"/>
              </a:rPr>
              <a:t>목적</a:t>
            </a:r>
            <a:r>
              <a:rPr lang="ko-KR" altLang="en-US" sz="1500" dirty="0">
                <a:solidFill>
                  <a:srgbClr val="004F9F"/>
                </a:solidFill>
                <a:latin typeface="에이투지체 6 SemiBold"/>
                <a:ea typeface="에이투지체 6 SemiBold"/>
                <a:cs typeface="에이투지체 6 SemiBold"/>
              </a:rPr>
              <a:t>으로 구분</a:t>
            </a:r>
            <a:endParaRPr sz="1500" dirty="0">
              <a:solidFill>
                <a:srgbClr val="004F9F"/>
              </a:solidFill>
              <a:latin typeface="에이투지체 6 SemiBold"/>
              <a:ea typeface="에이투지체 6 SemiBold"/>
              <a:cs typeface="에이투지체 6 SemiBold"/>
            </a:endParaRPr>
          </a:p>
        </p:txBody>
      </p:sp>
      <p:sp>
        <p:nvSpPr>
          <p:cNvPr id="8" name="node-203">
            <a:extLst>
              <a:ext uri="{FF2B5EF4-FFF2-40B4-BE49-F238E27FC236}">
                <a16:creationId xmlns:a16="http://schemas.microsoft.com/office/drawing/2014/main" id="{C7910DB6-70C2-4A15-AB52-D5C43FC1C606}"/>
              </a:ext>
            </a:extLst>
          </p:cNvPr>
          <p:cNvSpPr>
            <a:spLocks noGrp="1"/>
          </p:cNvSpPr>
          <p:nvPr/>
        </p:nvSpPr>
        <p:spPr>
          <a:xfrm>
            <a:off x="552450" y="2600325"/>
            <a:ext cx="3276600" cy="581025"/>
          </a:xfrm>
          <a:prstGeom prst="roundRect">
            <a:avLst>
              <a:gd name="adj" fmla="val 12590"/>
            </a:avLst>
          </a:prstGeom>
          <a:solidFill>
            <a:srgbClr val="F5F5F5"/>
          </a:solidFill>
          <a:ln w="0">
            <a:noFill/>
          </a:ln>
        </p:spPr>
        <p:txBody>
          <a:bodyPr/>
          <a:lstStyle/>
          <a:p>
            <a:endParaRPr lang="ko-KR" altLang="en-US"/>
          </a:p>
        </p:txBody>
      </p:sp>
      <p:sp>
        <p:nvSpPr>
          <p:cNvPr id="9" name="text-204">
            <a:extLst>
              <a:ext uri="{FF2B5EF4-FFF2-40B4-BE49-F238E27FC236}">
                <a16:creationId xmlns:a16="http://schemas.microsoft.com/office/drawing/2014/main" id="{789DD28E-CEC1-439B-A91E-31D31595E385}"/>
              </a:ext>
            </a:extLst>
          </p:cNvPr>
          <p:cNvSpPr>
            <a:spLocks noGrp="1"/>
          </p:cNvSpPr>
          <p:nvPr/>
        </p:nvSpPr>
        <p:spPr>
          <a:xfrm>
            <a:off x="666750" y="2647950"/>
            <a:ext cx="3048000" cy="485775"/>
          </a:xfrm>
          <a:prstGeom prst="rect">
            <a:avLst/>
          </a:prstGeom>
          <a:noFill/>
          <a:ln w="0">
            <a:noFill/>
          </a:ln>
        </p:spPr>
        <p:txBody>
          <a:bodyPr wrap="square" lIns="0" tIns="0" rIns="0" bIns="0" anchor="ctr">
            <a:noAutofit/>
          </a:bodyPr>
          <a:lstStyle>
            <a:defPPr algn="ctr">
              <a:defRPr sz="1425">
                <a:solidFill>
                  <a:srgbClr val="222222"/>
                </a:solidFill>
                <a:latin typeface="에이투지체 6 SemiBold"/>
                <a:ea typeface="에이투지체 6 SemiBold"/>
                <a:cs typeface="에이투지체 6 SemiBold"/>
              </a:defRPr>
            </a:defPPr>
          </a:lstStyle>
          <a:p>
            <a:pPr algn="ctr">
              <a:defRPr sz="1425">
                <a:solidFill>
                  <a:srgbClr val="222222"/>
                </a:solidFill>
                <a:latin typeface="에이투지체 6 SemiBold"/>
                <a:ea typeface="에이투지체 6 SemiBold"/>
                <a:cs typeface="에이투지체 6 SemiBold"/>
              </a:defRPr>
            </a:pPr>
            <a:r>
              <a:rPr sz="1425">
                <a:solidFill>
                  <a:srgbClr val="222222"/>
                </a:solidFill>
                <a:latin typeface="에이투지체 6 SemiBold"/>
                <a:ea typeface="에이투지체 6 SemiBold"/>
                <a:cs typeface="에이투지체 6 SemiBold"/>
              </a:rPr>
              <a:t>상품 캠페인</a:t>
            </a:r>
          </a:p>
        </p:txBody>
      </p:sp>
      <p:sp>
        <p:nvSpPr>
          <p:cNvPr id="10" name="node-205">
            <a:extLst>
              <a:ext uri="{FF2B5EF4-FFF2-40B4-BE49-F238E27FC236}">
                <a16:creationId xmlns:a16="http://schemas.microsoft.com/office/drawing/2014/main" id="{CEA9E254-5C5B-41AE-AF6B-2D58671F6898}"/>
              </a:ext>
            </a:extLst>
          </p:cNvPr>
          <p:cNvSpPr>
            <a:spLocks noGrp="1"/>
          </p:cNvSpPr>
          <p:nvPr/>
        </p:nvSpPr>
        <p:spPr>
          <a:xfrm>
            <a:off x="552450" y="3390900"/>
            <a:ext cx="3276600" cy="361950"/>
          </a:xfrm>
          <a:prstGeom prst="roundRect">
            <a:avLst>
              <a:gd name="adj" fmla="val 20210"/>
            </a:avLst>
          </a:prstGeom>
          <a:solidFill>
            <a:srgbClr val="F5F5F5"/>
          </a:solidFill>
          <a:ln w="0">
            <a:noFill/>
          </a:ln>
        </p:spPr>
        <p:txBody>
          <a:bodyPr/>
          <a:lstStyle/>
          <a:p>
            <a:endParaRPr lang="ko-KR" altLang="en-US"/>
          </a:p>
        </p:txBody>
      </p:sp>
      <p:sp>
        <p:nvSpPr>
          <p:cNvPr id="11" name="text-206">
            <a:extLst>
              <a:ext uri="{FF2B5EF4-FFF2-40B4-BE49-F238E27FC236}">
                <a16:creationId xmlns:a16="http://schemas.microsoft.com/office/drawing/2014/main" id="{9F4D9C4A-C916-49DF-A92A-8EA5786B0D0A}"/>
              </a:ext>
            </a:extLst>
          </p:cNvPr>
          <p:cNvSpPr>
            <a:spLocks noGrp="1"/>
          </p:cNvSpPr>
          <p:nvPr/>
        </p:nvSpPr>
        <p:spPr>
          <a:xfrm>
            <a:off x="666750" y="3438525"/>
            <a:ext cx="3048000" cy="266700"/>
          </a:xfrm>
          <a:prstGeom prst="rect">
            <a:avLst/>
          </a:prstGeom>
          <a:noFill/>
          <a:ln w="0">
            <a:noFill/>
          </a:ln>
        </p:spPr>
        <p:txBody>
          <a:bodyPr wrap="square" lIns="0" tIns="0" rIns="0" bIns="0" anchor="ctr">
            <a:noAutofit/>
          </a:bodyPr>
          <a:lstStyle>
            <a:defPPr algn="ctr">
              <a:defRPr sz="1298">
                <a:solidFill>
                  <a:srgbClr val="222222"/>
                </a:solidFill>
                <a:latin typeface="에이투지체 6 SemiBold"/>
                <a:ea typeface="에이투지체 6 SemiBold"/>
                <a:cs typeface="에이투지체 6 SemiBold"/>
              </a:defRPr>
            </a:defPPr>
          </a:lstStyle>
          <a:p>
            <a:pPr algn="ctr">
              <a:defRPr sz="1298">
                <a:solidFill>
                  <a:srgbClr val="222222"/>
                </a:solidFill>
                <a:latin typeface="에이투지체 6 SemiBold"/>
                <a:ea typeface="에이투지체 6 SemiBold"/>
                <a:cs typeface="에이투지체 6 SemiBold"/>
              </a:defRPr>
            </a:pPr>
            <a:r>
              <a:rPr sz="1298">
                <a:solidFill>
                  <a:srgbClr val="222222"/>
                </a:solidFill>
                <a:latin typeface="에이투지체 6 SemiBold"/>
                <a:ea typeface="에이투지체 6 SemiBold"/>
                <a:cs typeface="에이투지체 6 SemiBold"/>
              </a:rPr>
              <a:t>키크는영양제PCMO</a:t>
            </a:r>
          </a:p>
        </p:txBody>
      </p:sp>
      <p:sp>
        <p:nvSpPr>
          <p:cNvPr id="12" name="node-207">
            <a:extLst>
              <a:ext uri="{FF2B5EF4-FFF2-40B4-BE49-F238E27FC236}">
                <a16:creationId xmlns:a16="http://schemas.microsoft.com/office/drawing/2014/main" id="{B900F5EB-F5B9-4E76-A4E9-B87A151025D9}"/>
              </a:ext>
            </a:extLst>
          </p:cNvPr>
          <p:cNvSpPr>
            <a:spLocks noGrp="1"/>
          </p:cNvSpPr>
          <p:nvPr/>
        </p:nvSpPr>
        <p:spPr>
          <a:xfrm>
            <a:off x="552450" y="3848100"/>
            <a:ext cx="3276600" cy="361950"/>
          </a:xfrm>
          <a:prstGeom prst="roundRect">
            <a:avLst>
              <a:gd name="adj" fmla="val 20210"/>
            </a:avLst>
          </a:prstGeom>
          <a:solidFill>
            <a:srgbClr val="F5F5F5"/>
          </a:solidFill>
          <a:ln w="0">
            <a:noFill/>
          </a:ln>
        </p:spPr>
        <p:txBody>
          <a:bodyPr/>
          <a:lstStyle/>
          <a:p>
            <a:endParaRPr lang="ko-KR" altLang="en-US"/>
          </a:p>
        </p:txBody>
      </p:sp>
      <p:sp>
        <p:nvSpPr>
          <p:cNvPr id="13" name="text-208">
            <a:extLst>
              <a:ext uri="{FF2B5EF4-FFF2-40B4-BE49-F238E27FC236}">
                <a16:creationId xmlns:a16="http://schemas.microsoft.com/office/drawing/2014/main" id="{15BB39D2-00D5-4DE7-A3C3-B53E6B9BC98D}"/>
              </a:ext>
            </a:extLst>
          </p:cNvPr>
          <p:cNvSpPr>
            <a:spLocks noGrp="1"/>
          </p:cNvSpPr>
          <p:nvPr/>
        </p:nvSpPr>
        <p:spPr>
          <a:xfrm>
            <a:off x="666750" y="3895725"/>
            <a:ext cx="3048000" cy="266700"/>
          </a:xfrm>
          <a:prstGeom prst="rect">
            <a:avLst/>
          </a:prstGeom>
          <a:noFill/>
          <a:ln w="0">
            <a:noFill/>
          </a:ln>
        </p:spPr>
        <p:txBody>
          <a:bodyPr wrap="square" lIns="0" tIns="0" rIns="0" bIns="0" anchor="ctr">
            <a:noAutofit/>
          </a:bodyPr>
          <a:lstStyle>
            <a:defPPr algn="ctr">
              <a:defRPr sz="1298">
                <a:solidFill>
                  <a:srgbClr val="222222"/>
                </a:solidFill>
                <a:latin typeface="에이투지체 6 SemiBold"/>
                <a:ea typeface="에이투지체 6 SemiBold"/>
                <a:cs typeface="에이투지체 6 SemiBold"/>
              </a:defRPr>
            </a:defPPr>
          </a:lstStyle>
          <a:p>
            <a:pPr algn="ctr">
              <a:defRPr sz="1298">
                <a:solidFill>
                  <a:srgbClr val="222222"/>
                </a:solidFill>
                <a:latin typeface="에이투지체 6 SemiBold"/>
                <a:ea typeface="에이투지체 6 SemiBold"/>
                <a:cs typeface="에이투지체 6 SemiBold"/>
              </a:defRPr>
            </a:pPr>
            <a:r>
              <a:rPr sz="1298">
                <a:solidFill>
                  <a:srgbClr val="222222"/>
                </a:solidFill>
                <a:latin typeface="에이투지체 6 SemiBold"/>
                <a:ea typeface="에이투지체 6 SemiBold"/>
                <a:cs typeface="에이투지체 6 SemiBold"/>
              </a:rPr>
              <a:t>청소년키크는영양제PCMO</a:t>
            </a:r>
          </a:p>
        </p:txBody>
      </p:sp>
      <p:sp>
        <p:nvSpPr>
          <p:cNvPr id="14" name="node-209">
            <a:extLst>
              <a:ext uri="{FF2B5EF4-FFF2-40B4-BE49-F238E27FC236}">
                <a16:creationId xmlns:a16="http://schemas.microsoft.com/office/drawing/2014/main" id="{49B415CF-3E31-4DCD-BC94-06B58FF182D4}"/>
              </a:ext>
            </a:extLst>
          </p:cNvPr>
          <p:cNvSpPr>
            <a:spLocks noGrp="1"/>
          </p:cNvSpPr>
          <p:nvPr/>
        </p:nvSpPr>
        <p:spPr>
          <a:xfrm>
            <a:off x="552450" y="4305300"/>
            <a:ext cx="3276600" cy="361950"/>
          </a:xfrm>
          <a:prstGeom prst="roundRect">
            <a:avLst>
              <a:gd name="adj" fmla="val 20210"/>
            </a:avLst>
          </a:prstGeom>
          <a:solidFill>
            <a:srgbClr val="F5F5F5"/>
          </a:solidFill>
          <a:ln w="0">
            <a:noFill/>
          </a:ln>
        </p:spPr>
        <p:txBody>
          <a:bodyPr/>
          <a:lstStyle/>
          <a:p>
            <a:endParaRPr lang="ko-KR" altLang="en-US"/>
          </a:p>
        </p:txBody>
      </p:sp>
      <p:sp>
        <p:nvSpPr>
          <p:cNvPr id="15" name="text-210">
            <a:extLst>
              <a:ext uri="{FF2B5EF4-FFF2-40B4-BE49-F238E27FC236}">
                <a16:creationId xmlns:a16="http://schemas.microsoft.com/office/drawing/2014/main" id="{AE7AAFE0-7FEF-40B8-9241-0EC4D2551BAF}"/>
              </a:ext>
            </a:extLst>
          </p:cNvPr>
          <p:cNvSpPr>
            <a:spLocks noGrp="1"/>
          </p:cNvSpPr>
          <p:nvPr/>
        </p:nvSpPr>
        <p:spPr>
          <a:xfrm>
            <a:off x="666750" y="4352925"/>
            <a:ext cx="3048000" cy="266700"/>
          </a:xfrm>
          <a:prstGeom prst="rect">
            <a:avLst/>
          </a:prstGeom>
          <a:noFill/>
          <a:ln w="0">
            <a:noFill/>
          </a:ln>
        </p:spPr>
        <p:txBody>
          <a:bodyPr wrap="square" lIns="0" tIns="0" rIns="0" bIns="0" anchor="ctr">
            <a:noAutofit/>
          </a:bodyPr>
          <a:lstStyle>
            <a:defPPr algn="ctr">
              <a:defRPr sz="1298">
                <a:solidFill>
                  <a:srgbClr val="222222"/>
                </a:solidFill>
                <a:latin typeface="에이투지체 6 SemiBold"/>
                <a:ea typeface="에이투지체 6 SemiBold"/>
                <a:cs typeface="에이투지체 6 SemiBold"/>
              </a:defRPr>
            </a:defPPr>
          </a:lstStyle>
          <a:p>
            <a:pPr algn="ctr">
              <a:defRPr sz="1298">
                <a:solidFill>
                  <a:srgbClr val="222222"/>
                </a:solidFill>
                <a:latin typeface="에이투지체 6 SemiBold"/>
                <a:ea typeface="에이투지체 6 SemiBold"/>
                <a:cs typeface="에이투지체 6 SemiBold"/>
              </a:defRPr>
            </a:pPr>
            <a:r>
              <a:rPr sz="1298">
                <a:solidFill>
                  <a:srgbClr val="222222"/>
                </a:solidFill>
                <a:latin typeface="에이투지체 6 SemiBold"/>
                <a:ea typeface="에이투지체 6 SemiBold"/>
                <a:cs typeface="에이투지체 6 SemiBold"/>
              </a:rPr>
              <a:t>초등학생키영양제PCMO</a:t>
            </a:r>
          </a:p>
        </p:txBody>
      </p:sp>
      <p:sp>
        <p:nvSpPr>
          <p:cNvPr id="16" name="node-211">
            <a:extLst>
              <a:ext uri="{FF2B5EF4-FFF2-40B4-BE49-F238E27FC236}">
                <a16:creationId xmlns:a16="http://schemas.microsoft.com/office/drawing/2014/main" id="{6B5408EC-2B5D-4629-BB83-EDAD90013142}"/>
              </a:ext>
            </a:extLst>
          </p:cNvPr>
          <p:cNvSpPr>
            <a:spLocks noGrp="1"/>
          </p:cNvSpPr>
          <p:nvPr/>
        </p:nvSpPr>
        <p:spPr>
          <a:xfrm>
            <a:off x="552450" y="4762500"/>
            <a:ext cx="3276600" cy="361950"/>
          </a:xfrm>
          <a:prstGeom prst="roundRect">
            <a:avLst>
              <a:gd name="adj" fmla="val 20210"/>
            </a:avLst>
          </a:prstGeom>
          <a:solidFill>
            <a:srgbClr val="F5F5F5"/>
          </a:solidFill>
          <a:ln w="0">
            <a:noFill/>
          </a:ln>
        </p:spPr>
        <p:txBody>
          <a:bodyPr/>
          <a:lstStyle/>
          <a:p>
            <a:endParaRPr lang="ko-KR" altLang="en-US"/>
          </a:p>
        </p:txBody>
      </p:sp>
      <p:sp>
        <p:nvSpPr>
          <p:cNvPr id="17" name="text-212">
            <a:extLst>
              <a:ext uri="{FF2B5EF4-FFF2-40B4-BE49-F238E27FC236}">
                <a16:creationId xmlns:a16="http://schemas.microsoft.com/office/drawing/2014/main" id="{C0022B7E-B154-4A1A-9627-0CBCD33EE9DE}"/>
              </a:ext>
            </a:extLst>
          </p:cNvPr>
          <p:cNvSpPr>
            <a:spLocks noGrp="1"/>
          </p:cNvSpPr>
          <p:nvPr/>
        </p:nvSpPr>
        <p:spPr>
          <a:xfrm>
            <a:off x="666750" y="4810125"/>
            <a:ext cx="3048000" cy="266700"/>
          </a:xfrm>
          <a:prstGeom prst="rect">
            <a:avLst/>
          </a:prstGeom>
          <a:noFill/>
          <a:ln w="0">
            <a:noFill/>
          </a:ln>
        </p:spPr>
        <p:txBody>
          <a:bodyPr wrap="square" lIns="0" tIns="0" rIns="0" bIns="0" anchor="ctr">
            <a:noAutofit/>
          </a:bodyPr>
          <a:lstStyle>
            <a:defPPr algn="ctr">
              <a:defRPr sz="1298">
                <a:solidFill>
                  <a:srgbClr val="222222"/>
                </a:solidFill>
                <a:latin typeface="에이투지체 6 SemiBold"/>
                <a:ea typeface="에이투지체 6 SemiBold"/>
                <a:cs typeface="에이투지체 6 SemiBold"/>
              </a:defRPr>
            </a:defPPr>
          </a:lstStyle>
          <a:p>
            <a:pPr algn="ctr">
              <a:defRPr sz="1298">
                <a:solidFill>
                  <a:srgbClr val="222222"/>
                </a:solidFill>
                <a:latin typeface="에이투지체 6 SemiBold"/>
                <a:ea typeface="에이투지체 6 SemiBold"/>
                <a:cs typeface="에이투지체 6 SemiBold"/>
              </a:defRPr>
            </a:pPr>
            <a:r>
              <a:rPr sz="1298">
                <a:solidFill>
                  <a:srgbClr val="222222"/>
                </a:solidFill>
                <a:latin typeface="에이투지체 6 SemiBold"/>
                <a:ea typeface="에이투지체 6 SemiBold"/>
                <a:cs typeface="에이투지체 6 SemiBold"/>
              </a:rPr>
              <a:t>그 외 연령·표현별 그룹</a:t>
            </a:r>
          </a:p>
        </p:txBody>
      </p:sp>
      <p:sp>
        <p:nvSpPr>
          <p:cNvPr id="18" name="node-213">
            <a:extLst>
              <a:ext uri="{FF2B5EF4-FFF2-40B4-BE49-F238E27FC236}">
                <a16:creationId xmlns:a16="http://schemas.microsoft.com/office/drawing/2014/main" id="{43D3AF40-D266-4668-BAED-2C546E8B4CF7}"/>
              </a:ext>
            </a:extLst>
          </p:cNvPr>
          <p:cNvSpPr>
            <a:spLocks noGrp="1"/>
          </p:cNvSpPr>
          <p:nvPr/>
        </p:nvSpPr>
        <p:spPr>
          <a:xfrm>
            <a:off x="6191250" y="2505075"/>
            <a:ext cx="4181475" cy="523875"/>
          </a:xfrm>
          <a:prstGeom prst="roundRect">
            <a:avLst>
              <a:gd name="adj" fmla="val 13963"/>
            </a:avLst>
          </a:prstGeom>
          <a:solidFill>
            <a:srgbClr val="FFFFFF"/>
          </a:solidFill>
          <a:ln w="0">
            <a:noFill/>
          </a:ln>
        </p:spPr>
        <p:txBody>
          <a:bodyPr/>
          <a:lstStyle/>
          <a:p>
            <a:endParaRPr lang="ko-KR" altLang="en-US"/>
          </a:p>
        </p:txBody>
      </p:sp>
      <p:sp>
        <p:nvSpPr>
          <p:cNvPr id="19" name="text-214">
            <a:extLst>
              <a:ext uri="{FF2B5EF4-FFF2-40B4-BE49-F238E27FC236}">
                <a16:creationId xmlns:a16="http://schemas.microsoft.com/office/drawing/2014/main" id="{DC416A1D-B8B9-4C26-AD4D-EC36F1845585}"/>
              </a:ext>
            </a:extLst>
          </p:cNvPr>
          <p:cNvSpPr>
            <a:spLocks noGrp="1"/>
          </p:cNvSpPr>
          <p:nvPr/>
        </p:nvSpPr>
        <p:spPr>
          <a:xfrm>
            <a:off x="6305550" y="2552700"/>
            <a:ext cx="3952875" cy="428625"/>
          </a:xfrm>
          <a:prstGeom prst="rect">
            <a:avLst/>
          </a:prstGeom>
          <a:noFill/>
          <a:ln w="0">
            <a:noFill/>
          </a:ln>
        </p:spPr>
        <p:txBody>
          <a:bodyPr wrap="square" lIns="0" tIns="0" rIns="0" bIns="0" anchor="ctr">
            <a:noAutofit/>
          </a:bodyPr>
          <a:lstStyle>
            <a:defPPr algn="ctr">
              <a:defRPr sz="1500">
                <a:solidFill>
                  <a:srgbClr val="004F9F"/>
                </a:solidFill>
                <a:latin typeface="에이투지체 6 SemiBold"/>
                <a:ea typeface="에이투지체 6 SemiBold"/>
                <a:cs typeface="에이투지체 6 SemiBold"/>
              </a:defRPr>
            </a:defPPr>
          </a:lstStyle>
          <a:p>
            <a:pPr algn="ctr">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아이클타임 키성장 상품</a:t>
            </a:r>
          </a:p>
        </p:txBody>
      </p:sp>
      <p:sp>
        <p:nvSpPr>
          <p:cNvPr id="20" name="node-215">
            <a:extLst>
              <a:ext uri="{FF2B5EF4-FFF2-40B4-BE49-F238E27FC236}">
                <a16:creationId xmlns:a16="http://schemas.microsoft.com/office/drawing/2014/main" id="{F7AE3982-9190-472A-8C94-3B146CAA0920}"/>
              </a:ext>
            </a:extLst>
          </p:cNvPr>
          <p:cNvSpPr>
            <a:spLocks noGrp="1"/>
          </p:cNvSpPr>
          <p:nvPr/>
        </p:nvSpPr>
        <p:spPr>
          <a:xfrm>
            <a:off x="4657725" y="3352800"/>
            <a:ext cx="3028950" cy="581025"/>
          </a:xfrm>
          <a:prstGeom prst="roundRect">
            <a:avLst>
              <a:gd name="adj" fmla="val 12590"/>
            </a:avLst>
          </a:prstGeom>
          <a:solidFill>
            <a:srgbClr val="004F9F"/>
          </a:solidFill>
          <a:ln w="0">
            <a:noFill/>
          </a:ln>
        </p:spPr>
        <p:txBody>
          <a:bodyPr/>
          <a:lstStyle/>
          <a:p>
            <a:endParaRPr lang="ko-KR" altLang="en-US"/>
          </a:p>
        </p:txBody>
      </p:sp>
      <p:sp>
        <p:nvSpPr>
          <p:cNvPr id="21" name="text-216">
            <a:extLst>
              <a:ext uri="{FF2B5EF4-FFF2-40B4-BE49-F238E27FC236}">
                <a16:creationId xmlns:a16="http://schemas.microsoft.com/office/drawing/2014/main" id="{ED1B43AB-49DA-41FF-8FAE-15287CC3EAAD}"/>
              </a:ext>
            </a:extLst>
          </p:cNvPr>
          <p:cNvSpPr>
            <a:spLocks noGrp="1"/>
          </p:cNvSpPr>
          <p:nvPr/>
        </p:nvSpPr>
        <p:spPr>
          <a:xfrm>
            <a:off x="4772025" y="3400425"/>
            <a:ext cx="2800350" cy="485775"/>
          </a:xfrm>
          <a:prstGeom prst="rect">
            <a:avLst/>
          </a:prstGeom>
          <a:noFill/>
          <a:ln w="0">
            <a:noFill/>
          </a:ln>
        </p:spPr>
        <p:txBody>
          <a:bodyPr wrap="square" lIns="0" tIns="0" rIns="0" bIns="0" anchor="ctr">
            <a:noAutofit/>
          </a:bodyPr>
          <a:lstStyle>
            <a:defPPr algn="ctr">
              <a:defRPr sz="1425">
                <a:solidFill>
                  <a:srgbClr val="FFFFFF"/>
                </a:solidFill>
                <a:latin typeface="에이투지체 6 SemiBold"/>
                <a:ea typeface="에이투지체 6 SemiBold"/>
                <a:cs typeface="에이투지체 6 SemiBold"/>
              </a:defRPr>
            </a:defPPr>
          </a:lstStyle>
          <a:p>
            <a:pPr algn="ctr">
              <a:defRPr sz="1425">
                <a:solidFill>
                  <a:srgbClr val="FFFFFF"/>
                </a:solidFill>
                <a:latin typeface="에이투지체 6 SemiBold"/>
                <a:ea typeface="에이투지체 6 SemiBold"/>
                <a:cs typeface="에이투지체 6 SemiBold"/>
              </a:defRPr>
            </a:pPr>
            <a:r>
              <a:rPr sz="1425">
                <a:solidFill>
                  <a:srgbClr val="FFFFFF"/>
                </a:solidFill>
                <a:latin typeface="에이투지체 6 SemiBold"/>
                <a:ea typeface="에이투지체 6 SemiBold"/>
                <a:cs typeface="에이투지체 6 SemiBold"/>
              </a:rPr>
              <a:t>PC 캠페인</a:t>
            </a:r>
          </a:p>
        </p:txBody>
      </p:sp>
      <p:sp>
        <p:nvSpPr>
          <p:cNvPr id="22" name="node-217">
            <a:extLst>
              <a:ext uri="{FF2B5EF4-FFF2-40B4-BE49-F238E27FC236}">
                <a16:creationId xmlns:a16="http://schemas.microsoft.com/office/drawing/2014/main" id="{67DEA509-663B-46D3-A899-798A7DBF41E9}"/>
              </a:ext>
            </a:extLst>
          </p:cNvPr>
          <p:cNvSpPr>
            <a:spLocks noGrp="1"/>
          </p:cNvSpPr>
          <p:nvPr/>
        </p:nvSpPr>
        <p:spPr>
          <a:xfrm>
            <a:off x="8582025" y="3352800"/>
            <a:ext cx="3028950" cy="581025"/>
          </a:xfrm>
          <a:prstGeom prst="roundRect">
            <a:avLst>
              <a:gd name="adj" fmla="val 12590"/>
            </a:avLst>
          </a:prstGeom>
          <a:solidFill>
            <a:srgbClr val="004F9F"/>
          </a:solidFill>
          <a:ln w="0">
            <a:noFill/>
          </a:ln>
        </p:spPr>
        <p:txBody>
          <a:bodyPr/>
          <a:lstStyle/>
          <a:p>
            <a:endParaRPr lang="ko-KR" altLang="en-US"/>
          </a:p>
        </p:txBody>
      </p:sp>
      <p:sp>
        <p:nvSpPr>
          <p:cNvPr id="23" name="text-218">
            <a:extLst>
              <a:ext uri="{FF2B5EF4-FFF2-40B4-BE49-F238E27FC236}">
                <a16:creationId xmlns:a16="http://schemas.microsoft.com/office/drawing/2014/main" id="{E0BC6E64-6AFD-4774-8A42-48A33ED66C0A}"/>
              </a:ext>
            </a:extLst>
          </p:cNvPr>
          <p:cNvSpPr>
            <a:spLocks noGrp="1"/>
          </p:cNvSpPr>
          <p:nvPr/>
        </p:nvSpPr>
        <p:spPr>
          <a:xfrm>
            <a:off x="8696325" y="3400425"/>
            <a:ext cx="2800350" cy="485775"/>
          </a:xfrm>
          <a:prstGeom prst="rect">
            <a:avLst/>
          </a:prstGeom>
          <a:noFill/>
          <a:ln w="0">
            <a:noFill/>
          </a:ln>
        </p:spPr>
        <p:txBody>
          <a:bodyPr wrap="square" lIns="0" tIns="0" rIns="0" bIns="0" anchor="ctr">
            <a:noAutofit/>
          </a:bodyPr>
          <a:lstStyle>
            <a:defPPr algn="ctr">
              <a:defRPr sz="1425">
                <a:solidFill>
                  <a:srgbClr val="FFFFFF"/>
                </a:solidFill>
                <a:latin typeface="에이투지체 6 SemiBold"/>
                <a:ea typeface="에이투지체 6 SemiBold"/>
                <a:cs typeface="에이투지체 6 SemiBold"/>
              </a:defRPr>
            </a:defPPr>
          </a:lstStyle>
          <a:p>
            <a:pPr algn="ctr">
              <a:defRPr sz="1425">
                <a:solidFill>
                  <a:srgbClr val="FFFFFF"/>
                </a:solidFill>
                <a:latin typeface="에이투지체 6 SemiBold"/>
                <a:ea typeface="에이투지체 6 SemiBold"/>
                <a:cs typeface="에이투지체 6 SemiBold"/>
              </a:defRPr>
            </a:pPr>
            <a:r>
              <a:rPr sz="1425">
                <a:solidFill>
                  <a:srgbClr val="FFFFFF"/>
                </a:solidFill>
                <a:latin typeface="에이투지체 6 SemiBold"/>
                <a:ea typeface="에이투지체 6 SemiBold"/>
                <a:cs typeface="에이투지체 6 SemiBold"/>
              </a:rPr>
              <a:t>MO 캠페인</a:t>
            </a:r>
          </a:p>
        </p:txBody>
      </p:sp>
      <p:sp>
        <p:nvSpPr>
          <p:cNvPr id="24" name="node-219">
            <a:extLst>
              <a:ext uri="{FF2B5EF4-FFF2-40B4-BE49-F238E27FC236}">
                <a16:creationId xmlns:a16="http://schemas.microsoft.com/office/drawing/2014/main" id="{A9F3DBEE-F5E7-4C77-8819-A7FC031F4936}"/>
              </a:ext>
            </a:extLst>
          </p:cNvPr>
          <p:cNvSpPr>
            <a:spLocks noGrp="1"/>
          </p:cNvSpPr>
          <p:nvPr/>
        </p:nvSpPr>
        <p:spPr>
          <a:xfrm>
            <a:off x="4657725" y="4114800"/>
            <a:ext cx="3028950" cy="304800"/>
          </a:xfrm>
          <a:prstGeom prst="roundRect">
            <a:avLst>
              <a:gd name="adj" fmla="val 24000"/>
            </a:avLst>
          </a:prstGeom>
          <a:solidFill>
            <a:srgbClr val="EAF2FB"/>
          </a:solidFill>
          <a:ln w="0">
            <a:noFill/>
          </a:ln>
        </p:spPr>
        <p:txBody>
          <a:bodyPr/>
          <a:lstStyle/>
          <a:p>
            <a:endParaRPr lang="ko-KR" altLang="en-US"/>
          </a:p>
        </p:txBody>
      </p:sp>
      <p:sp>
        <p:nvSpPr>
          <p:cNvPr id="25" name="text-220">
            <a:extLst>
              <a:ext uri="{FF2B5EF4-FFF2-40B4-BE49-F238E27FC236}">
                <a16:creationId xmlns:a16="http://schemas.microsoft.com/office/drawing/2014/main" id="{B6F3FCE2-53BE-40B9-84F6-7619DE6DB680}"/>
              </a:ext>
            </a:extLst>
          </p:cNvPr>
          <p:cNvSpPr>
            <a:spLocks noGrp="1"/>
          </p:cNvSpPr>
          <p:nvPr/>
        </p:nvSpPr>
        <p:spPr>
          <a:xfrm>
            <a:off x="4772025" y="4162425"/>
            <a:ext cx="2800350" cy="209550"/>
          </a:xfrm>
          <a:prstGeom prst="rect">
            <a:avLst/>
          </a:prstGeom>
          <a:noFill/>
          <a:ln w="0">
            <a:noFill/>
          </a:ln>
        </p:spPr>
        <p:txBody>
          <a:bodyPr wrap="square" lIns="0" tIns="0" rIns="0" bIns="0" anchor="ctr">
            <a:noAutofit/>
          </a:bodyPr>
          <a:lstStyle>
            <a:defPPr algn="ctr">
              <a:defRPr sz="1275">
                <a:solidFill>
                  <a:srgbClr val="222222"/>
                </a:solidFill>
                <a:latin typeface="에이투지체 6 SemiBold"/>
                <a:ea typeface="에이투지체 6 SemiBold"/>
                <a:cs typeface="에이투지체 6 SemiBold"/>
              </a:defRPr>
            </a:defPPr>
          </a:lstStyle>
          <a:p>
            <a:pPr algn="ctr">
              <a:defRPr sz="1275">
                <a:solidFill>
                  <a:srgbClr val="222222"/>
                </a:solidFill>
                <a:latin typeface="에이투지체 6 SemiBold"/>
                <a:ea typeface="에이투지체 6 SemiBold"/>
                <a:cs typeface="에이투지체 6 SemiBold"/>
              </a:defRPr>
            </a:pPr>
            <a:r>
              <a:rPr sz="1275">
                <a:solidFill>
                  <a:srgbClr val="222222"/>
                </a:solidFill>
                <a:latin typeface="에이투지체 6 SemiBold"/>
                <a:ea typeface="에이투지체 6 SemiBold"/>
                <a:cs typeface="에이투지체 6 SemiBold"/>
              </a:rPr>
              <a:t>브랜드 전용</a:t>
            </a:r>
          </a:p>
        </p:txBody>
      </p:sp>
      <p:sp>
        <p:nvSpPr>
          <p:cNvPr id="26" name="node-221">
            <a:extLst>
              <a:ext uri="{FF2B5EF4-FFF2-40B4-BE49-F238E27FC236}">
                <a16:creationId xmlns:a16="http://schemas.microsoft.com/office/drawing/2014/main" id="{BE1CEF69-FE42-4259-8B8C-0410DE920D34}"/>
              </a:ext>
            </a:extLst>
          </p:cNvPr>
          <p:cNvSpPr>
            <a:spLocks noGrp="1"/>
          </p:cNvSpPr>
          <p:nvPr/>
        </p:nvSpPr>
        <p:spPr>
          <a:xfrm>
            <a:off x="8582025" y="4114800"/>
            <a:ext cx="3028950" cy="304800"/>
          </a:xfrm>
          <a:prstGeom prst="roundRect">
            <a:avLst>
              <a:gd name="adj" fmla="val 24000"/>
            </a:avLst>
          </a:prstGeom>
          <a:solidFill>
            <a:srgbClr val="EAF2FB"/>
          </a:solidFill>
          <a:ln w="0">
            <a:noFill/>
          </a:ln>
        </p:spPr>
        <p:txBody>
          <a:bodyPr/>
          <a:lstStyle/>
          <a:p>
            <a:endParaRPr lang="ko-KR" altLang="en-US"/>
          </a:p>
        </p:txBody>
      </p:sp>
      <p:sp>
        <p:nvSpPr>
          <p:cNvPr id="27" name="text-222">
            <a:extLst>
              <a:ext uri="{FF2B5EF4-FFF2-40B4-BE49-F238E27FC236}">
                <a16:creationId xmlns:a16="http://schemas.microsoft.com/office/drawing/2014/main" id="{B71477CD-7B13-47E9-B2DD-5F143912545D}"/>
              </a:ext>
            </a:extLst>
          </p:cNvPr>
          <p:cNvSpPr>
            <a:spLocks noGrp="1"/>
          </p:cNvSpPr>
          <p:nvPr/>
        </p:nvSpPr>
        <p:spPr>
          <a:xfrm>
            <a:off x="8696325" y="4162425"/>
            <a:ext cx="2800350" cy="209550"/>
          </a:xfrm>
          <a:prstGeom prst="rect">
            <a:avLst/>
          </a:prstGeom>
          <a:noFill/>
          <a:ln w="0">
            <a:noFill/>
          </a:ln>
        </p:spPr>
        <p:txBody>
          <a:bodyPr wrap="square" lIns="0" tIns="0" rIns="0" bIns="0" anchor="ctr">
            <a:noAutofit/>
          </a:bodyPr>
          <a:lstStyle>
            <a:defPPr algn="ctr">
              <a:defRPr sz="1275">
                <a:solidFill>
                  <a:srgbClr val="222222"/>
                </a:solidFill>
                <a:latin typeface="에이투지체 6 SemiBold"/>
                <a:ea typeface="에이투지체 6 SemiBold"/>
                <a:cs typeface="에이투지체 6 SemiBold"/>
              </a:defRPr>
            </a:defPPr>
          </a:lstStyle>
          <a:p>
            <a:pPr algn="ctr">
              <a:defRPr sz="1275">
                <a:solidFill>
                  <a:srgbClr val="222222"/>
                </a:solidFill>
                <a:latin typeface="에이투지체 6 SemiBold"/>
                <a:ea typeface="에이투지체 6 SemiBold"/>
                <a:cs typeface="에이투지체 6 SemiBold"/>
              </a:defRPr>
            </a:pPr>
            <a:r>
              <a:rPr sz="1275">
                <a:solidFill>
                  <a:srgbClr val="222222"/>
                </a:solidFill>
                <a:latin typeface="에이투지체 6 SemiBold"/>
                <a:ea typeface="에이투지체 6 SemiBold"/>
                <a:cs typeface="에이투지체 6 SemiBold"/>
              </a:rPr>
              <a:t>브랜드 전용</a:t>
            </a:r>
          </a:p>
        </p:txBody>
      </p:sp>
      <p:sp>
        <p:nvSpPr>
          <p:cNvPr id="28" name="node-223">
            <a:extLst>
              <a:ext uri="{FF2B5EF4-FFF2-40B4-BE49-F238E27FC236}">
                <a16:creationId xmlns:a16="http://schemas.microsoft.com/office/drawing/2014/main" id="{F1DA89BF-BEC4-4CA7-92A3-85790BE31185}"/>
              </a:ext>
            </a:extLst>
          </p:cNvPr>
          <p:cNvSpPr>
            <a:spLocks noGrp="1"/>
          </p:cNvSpPr>
          <p:nvPr/>
        </p:nvSpPr>
        <p:spPr>
          <a:xfrm>
            <a:off x="4657725" y="4514850"/>
            <a:ext cx="3028950" cy="304800"/>
          </a:xfrm>
          <a:prstGeom prst="roundRect">
            <a:avLst>
              <a:gd name="adj" fmla="val 24000"/>
            </a:avLst>
          </a:prstGeom>
          <a:solidFill>
            <a:srgbClr val="F5F5F5"/>
          </a:solidFill>
          <a:ln w="0">
            <a:noFill/>
          </a:ln>
        </p:spPr>
        <p:txBody>
          <a:bodyPr/>
          <a:lstStyle/>
          <a:p>
            <a:endParaRPr lang="ko-KR" altLang="en-US"/>
          </a:p>
        </p:txBody>
      </p:sp>
      <p:sp>
        <p:nvSpPr>
          <p:cNvPr id="29" name="text-224">
            <a:extLst>
              <a:ext uri="{FF2B5EF4-FFF2-40B4-BE49-F238E27FC236}">
                <a16:creationId xmlns:a16="http://schemas.microsoft.com/office/drawing/2014/main" id="{BF66DA88-8436-4341-9FA1-72951AF7595D}"/>
              </a:ext>
            </a:extLst>
          </p:cNvPr>
          <p:cNvSpPr>
            <a:spLocks noGrp="1"/>
          </p:cNvSpPr>
          <p:nvPr/>
        </p:nvSpPr>
        <p:spPr>
          <a:xfrm>
            <a:off x="4772025" y="4562475"/>
            <a:ext cx="2800350" cy="209550"/>
          </a:xfrm>
          <a:prstGeom prst="rect">
            <a:avLst/>
          </a:prstGeom>
          <a:noFill/>
          <a:ln w="0">
            <a:noFill/>
          </a:ln>
        </p:spPr>
        <p:txBody>
          <a:bodyPr wrap="square" lIns="0" tIns="0" rIns="0" bIns="0" anchor="ctr">
            <a:noAutofit/>
          </a:bodyPr>
          <a:lstStyle>
            <a:defPPr algn="ctr">
              <a:defRPr sz="1275">
                <a:solidFill>
                  <a:srgbClr val="222222"/>
                </a:solidFill>
                <a:latin typeface="에이투지체 6 SemiBold"/>
                <a:ea typeface="에이투지체 6 SemiBold"/>
                <a:cs typeface="에이투지체 6 SemiBold"/>
              </a:defRPr>
            </a:defPPr>
          </a:lstStyle>
          <a:p>
            <a:pPr algn="ctr">
              <a:defRPr sz="1275">
                <a:solidFill>
                  <a:srgbClr val="222222"/>
                </a:solidFill>
                <a:latin typeface="에이투지체 6 SemiBold"/>
                <a:ea typeface="에이투지체 6 SemiBold"/>
                <a:cs typeface="에이투지체 6 SemiBold"/>
              </a:defRPr>
            </a:pPr>
            <a:r>
              <a:rPr sz="1275">
                <a:solidFill>
                  <a:srgbClr val="222222"/>
                </a:solidFill>
                <a:latin typeface="에이투지체 6 SemiBold"/>
                <a:ea typeface="에이투지체 6 SemiBold"/>
                <a:cs typeface="에이투지체 6 SemiBold"/>
              </a:rPr>
              <a:t>메인 검색어</a:t>
            </a:r>
          </a:p>
        </p:txBody>
      </p:sp>
      <p:sp>
        <p:nvSpPr>
          <p:cNvPr id="30" name="node-225">
            <a:extLst>
              <a:ext uri="{FF2B5EF4-FFF2-40B4-BE49-F238E27FC236}">
                <a16:creationId xmlns:a16="http://schemas.microsoft.com/office/drawing/2014/main" id="{DF56C597-EA4F-4DD0-84F1-AC71EBD02FE9}"/>
              </a:ext>
            </a:extLst>
          </p:cNvPr>
          <p:cNvSpPr>
            <a:spLocks noGrp="1"/>
          </p:cNvSpPr>
          <p:nvPr/>
        </p:nvSpPr>
        <p:spPr>
          <a:xfrm>
            <a:off x="8582025" y="4514850"/>
            <a:ext cx="3028950" cy="304800"/>
          </a:xfrm>
          <a:prstGeom prst="roundRect">
            <a:avLst>
              <a:gd name="adj" fmla="val 24000"/>
            </a:avLst>
          </a:prstGeom>
          <a:solidFill>
            <a:srgbClr val="F5F5F5"/>
          </a:solidFill>
          <a:ln w="0">
            <a:noFill/>
          </a:ln>
        </p:spPr>
        <p:txBody>
          <a:bodyPr/>
          <a:lstStyle/>
          <a:p>
            <a:endParaRPr lang="ko-KR" altLang="en-US"/>
          </a:p>
        </p:txBody>
      </p:sp>
      <p:sp>
        <p:nvSpPr>
          <p:cNvPr id="31" name="text-226">
            <a:extLst>
              <a:ext uri="{FF2B5EF4-FFF2-40B4-BE49-F238E27FC236}">
                <a16:creationId xmlns:a16="http://schemas.microsoft.com/office/drawing/2014/main" id="{B03C2DBF-3E3C-4EAF-A254-15CADA4A31FB}"/>
              </a:ext>
            </a:extLst>
          </p:cNvPr>
          <p:cNvSpPr>
            <a:spLocks noGrp="1"/>
          </p:cNvSpPr>
          <p:nvPr/>
        </p:nvSpPr>
        <p:spPr>
          <a:xfrm>
            <a:off x="8696325" y="4562475"/>
            <a:ext cx="2800350" cy="209550"/>
          </a:xfrm>
          <a:prstGeom prst="rect">
            <a:avLst/>
          </a:prstGeom>
          <a:noFill/>
          <a:ln w="0">
            <a:noFill/>
          </a:ln>
        </p:spPr>
        <p:txBody>
          <a:bodyPr wrap="square" lIns="0" tIns="0" rIns="0" bIns="0" anchor="ctr">
            <a:noAutofit/>
          </a:bodyPr>
          <a:lstStyle>
            <a:defPPr algn="ctr">
              <a:defRPr sz="1275">
                <a:solidFill>
                  <a:srgbClr val="222222"/>
                </a:solidFill>
                <a:latin typeface="에이투지체 6 SemiBold"/>
                <a:ea typeface="에이투지체 6 SemiBold"/>
                <a:cs typeface="에이투지체 6 SemiBold"/>
              </a:defRPr>
            </a:defPPr>
          </a:lstStyle>
          <a:p>
            <a:pPr algn="ctr">
              <a:defRPr sz="1275">
                <a:solidFill>
                  <a:srgbClr val="222222"/>
                </a:solidFill>
                <a:latin typeface="에이투지체 6 SemiBold"/>
                <a:ea typeface="에이투지체 6 SemiBold"/>
                <a:cs typeface="에이투지체 6 SemiBold"/>
              </a:defRPr>
            </a:pPr>
            <a:r>
              <a:rPr sz="1275">
                <a:solidFill>
                  <a:srgbClr val="222222"/>
                </a:solidFill>
                <a:latin typeface="에이투지체 6 SemiBold"/>
                <a:ea typeface="에이투지체 6 SemiBold"/>
                <a:cs typeface="에이투지체 6 SemiBold"/>
              </a:rPr>
              <a:t>메인 검색어</a:t>
            </a:r>
          </a:p>
        </p:txBody>
      </p:sp>
      <p:sp>
        <p:nvSpPr>
          <p:cNvPr id="32" name="node-227">
            <a:extLst>
              <a:ext uri="{FF2B5EF4-FFF2-40B4-BE49-F238E27FC236}">
                <a16:creationId xmlns:a16="http://schemas.microsoft.com/office/drawing/2014/main" id="{D9A28134-FADE-4CBC-A8ED-0D3698F53E49}"/>
              </a:ext>
            </a:extLst>
          </p:cNvPr>
          <p:cNvSpPr>
            <a:spLocks noGrp="1"/>
          </p:cNvSpPr>
          <p:nvPr/>
        </p:nvSpPr>
        <p:spPr>
          <a:xfrm>
            <a:off x="4657725" y="4914900"/>
            <a:ext cx="3028950" cy="304800"/>
          </a:xfrm>
          <a:prstGeom prst="roundRect">
            <a:avLst>
              <a:gd name="adj" fmla="val 24000"/>
            </a:avLst>
          </a:prstGeom>
          <a:solidFill>
            <a:srgbClr val="F5F5F5"/>
          </a:solidFill>
          <a:ln w="0">
            <a:noFill/>
          </a:ln>
        </p:spPr>
        <p:txBody>
          <a:bodyPr/>
          <a:lstStyle/>
          <a:p>
            <a:endParaRPr lang="ko-KR" altLang="en-US"/>
          </a:p>
        </p:txBody>
      </p:sp>
      <p:sp>
        <p:nvSpPr>
          <p:cNvPr id="33" name="text-228">
            <a:extLst>
              <a:ext uri="{FF2B5EF4-FFF2-40B4-BE49-F238E27FC236}">
                <a16:creationId xmlns:a16="http://schemas.microsoft.com/office/drawing/2014/main" id="{A7647F6E-1453-4A09-9046-EFC18ECEEB73}"/>
              </a:ext>
            </a:extLst>
          </p:cNvPr>
          <p:cNvSpPr>
            <a:spLocks noGrp="1"/>
          </p:cNvSpPr>
          <p:nvPr/>
        </p:nvSpPr>
        <p:spPr>
          <a:xfrm>
            <a:off x="4772025" y="4962525"/>
            <a:ext cx="2800350" cy="209550"/>
          </a:xfrm>
          <a:prstGeom prst="rect">
            <a:avLst/>
          </a:prstGeom>
          <a:noFill/>
          <a:ln w="0">
            <a:noFill/>
          </a:ln>
        </p:spPr>
        <p:txBody>
          <a:bodyPr wrap="square" lIns="0" tIns="0" rIns="0" bIns="0" anchor="ctr">
            <a:noAutofit/>
          </a:bodyPr>
          <a:lstStyle>
            <a:defPPr algn="ctr">
              <a:defRPr sz="1275">
                <a:solidFill>
                  <a:srgbClr val="222222"/>
                </a:solidFill>
                <a:latin typeface="에이투지체 6 SemiBold"/>
                <a:ea typeface="에이투지체 6 SemiBold"/>
                <a:cs typeface="에이투지체 6 SemiBold"/>
              </a:defRPr>
            </a:defPPr>
          </a:lstStyle>
          <a:p>
            <a:pPr algn="ctr">
              <a:defRPr sz="1275">
                <a:solidFill>
                  <a:srgbClr val="222222"/>
                </a:solidFill>
                <a:latin typeface="에이투지체 6 SemiBold"/>
                <a:ea typeface="에이투지체 6 SemiBold"/>
                <a:cs typeface="에이투지체 6 SemiBold"/>
              </a:defRPr>
            </a:pPr>
            <a:r>
              <a:rPr sz="1275">
                <a:solidFill>
                  <a:srgbClr val="222222"/>
                </a:solidFill>
                <a:latin typeface="에이투지체 6 SemiBold"/>
                <a:ea typeface="에이투지체 6 SemiBold"/>
                <a:cs typeface="에이투지체 6 SemiBold"/>
              </a:rPr>
              <a:t>세부 고효율</a:t>
            </a:r>
          </a:p>
        </p:txBody>
      </p:sp>
      <p:sp>
        <p:nvSpPr>
          <p:cNvPr id="34" name="node-229">
            <a:extLst>
              <a:ext uri="{FF2B5EF4-FFF2-40B4-BE49-F238E27FC236}">
                <a16:creationId xmlns:a16="http://schemas.microsoft.com/office/drawing/2014/main" id="{D15EC3A8-3F34-4693-B1BB-31DAC48924F2}"/>
              </a:ext>
            </a:extLst>
          </p:cNvPr>
          <p:cNvSpPr>
            <a:spLocks noGrp="1"/>
          </p:cNvSpPr>
          <p:nvPr/>
        </p:nvSpPr>
        <p:spPr>
          <a:xfrm>
            <a:off x="8582025" y="4914900"/>
            <a:ext cx="3028950" cy="304800"/>
          </a:xfrm>
          <a:prstGeom prst="roundRect">
            <a:avLst>
              <a:gd name="adj" fmla="val 24000"/>
            </a:avLst>
          </a:prstGeom>
          <a:solidFill>
            <a:srgbClr val="F5F5F5"/>
          </a:solidFill>
          <a:ln w="0">
            <a:noFill/>
          </a:ln>
        </p:spPr>
        <p:txBody>
          <a:bodyPr/>
          <a:lstStyle/>
          <a:p>
            <a:endParaRPr lang="ko-KR" altLang="en-US"/>
          </a:p>
        </p:txBody>
      </p:sp>
      <p:sp>
        <p:nvSpPr>
          <p:cNvPr id="35" name="text-230">
            <a:extLst>
              <a:ext uri="{FF2B5EF4-FFF2-40B4-BE49-F238E27FC236}">
                <a16:creationId xmlns:a16="http://schemas.microsoft.com/office/drawing/2014/main" id="{DF1A4814-1933-4FE5-AE7E-0526F5EF832E}"/>
              </a:ext>
            </a:extLst>
          </p:cNvPr>
          <p:cNvSpPr>
            <a:spLocks noGrp="1"/>
          </p:cNvSpPr>
          <p:nvPr/>
        </p:nvSpPr>
        <p:spPr>
          <a:xfrm>
            <a:off x="8696325" y="4962525"/>
            <a:ext cx="2800350" cy="209550"/>
          </a:xfrm>
          <a:prstGeom prst="rect">
            <a:avLst/>
          </a:prstGeom>
          <a:noFill/>
          <a:ln w="0">
            <a:noFill/>
          </a:ln>
        </p:spPr>
        <p:txBody>
          <a:bodyPr wrap="square" lIns="0" tIns="0" rIns="0" bIns="0" anchor="ctr">
            <a:noAutofit/>
          </a:bodyPr>
          <a:lstStyle>
            <a:defPPr algn="ctr">
              <a:defRPr sz="1275">
                <a:solidFill>
                  <a:srgbClr val="222222"/>
                </a:solidFill>
                <a:latin typeface="에이투지체 6 SemiBold"/>
                <a:ea typeface="에이투지체 6 SemiBold"/>
                <a:cs typeface="에이투지체 6 SemiBold"/>
              </a:defRPr>
            </a:defPPr>
          </a:lstStyle>
          <a:p>
            <a:pPr algn="ctr">
              <a:defRPr sz="1275">
                <a:solidFill>
                  <a:srgbClr val="222222"/>
                </a:solidFill>
                <a:latin typeface="에이투지체 6 SemiBold"/>
                <a:ea typeface="에이투지체 6 SemiBold"/>
                <a:cs typeface="에이투지체 6 SemiBold"/>
              </a:defRPr>
            </a:pPr>
            <a:r>
              <a:rPr sz="1275">
                <a:solidFill>
                  <a:srgbClr val="222222"/>
                </a:solidFill>
                <a:latin typeface="에이투지체 6 SemiBold"/>
                <a:ea typeface="에이투지체 6 SemiBold"/>
                <a:cs typeface="에이투지체 6 SemiBold"/>
              </a:rPr>
              <a:t>세부 고효율</a:t>
            </a:r>
          </a:p>
        </p:txBody>
      </p:sp>
      <p:sp>
        <p:nvSpPr>
          <p:cNvPr id="36" name="node-231">
            <a:extLst>
              <a:ext uri="{FF2B5EF4-FFF2-40B4-BE49-F238E27FC236}">
                <a16:creationId xmlns:a16="http://schemas.microsoft.com/office/drawing/2014/main" id="{F1281859-C2A8-4B24-8DA1-C348CF261189}"/>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37" name="text-232">
            <a:extLst>
              <a:ext uri="{FF2B5EF4-FFF2-40B4-BE49-F238E27FC236}">
                <a16:creationId xmlns:a16="http://schemas.microsoft.com/office/drawing/2014/main" id="{ABAC2145-5A20-4B34-BF96-E4EAD095B8C6}"/>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dirty="0" err="1">
                <a:solidFill>
                  <a:srgbClr val="004F9F"/>
                </a:solidFill>
                <a:latin typeface="에이투지체 6 SemiBold"/>
                <a:ea typeface="에이투지체 6 SemiBold"/>
                <a:cs typeface="에이투지체 6 SemiBold"/>
              </a:rPr>
              <a:t>메인</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검색어는</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담당</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그룹에서</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입찰을</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검증하고</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브랜드·세부</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그룹에서는</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일치</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제외합니다</a:t>
            </a:r>
            <a:endParaRPr sz="1358" dirty="0">
              <a:solidFill>
                <a:srgbClr val="004F9F"/>
              </a:solidFill>
              <a:latin typeface="에이투지체 6 SemiBold"/>
              <a:ea typeface="에이투지체 6 SemiBold"/>
              <a:cs typeface="에이투지체 6 SemiBold"/>
            </a:endParaRPr>
          </a:p>
        </p:txBody>
      </p:sp>
      <p:sp>
        <p:nvSpPr>
          <p:cNvPr id="38" name="text-233">
            <a:extLst>
              <a:ext uri="{FF2B5EF4-FFF2-40B4-BE49-F238E27FC236}">
                <a16:creationId xmlns:a16="http://schemas.microsoft.com/office/drawing/2014/main" id="{3377C43E-CD21-4F15-809A-08FCBAA10C4F}"/>
              </a:ext>
            </a:extLst>
          </p:cNvPr>
          <p:cNvSpPr>
            <a:spLocks noGrp="1"/>
          </p:cNvSpPr>
          <p:nvPr/>
        </p:nvSpPr>
        <p:spPr>
          <a:xfrm>
            <a:off x="552450" y="6076950"/>
            <a:ext cx="11049000" cy="266700"/>
          </a:xfrm>
          <a:prstGeom prst="rect">
            <a:avLst/>
          </a:prstGeom>
          <a:noFill/>
          <a:ln w="0">
            <a:noFill/>
          </a:ln>
        </p:spPr>
        <p:txBody>
          <a:bodyPr wrap="square" lIns="0" tIns="0" rIns="0" bIns="0" anchor="ctr">
            <a:noAutofit/>
          </a:bodyPr>
          <a:lstStyle>
            <a:defPPr algn="l">
              <a:defRPr sz="878">
                <a:solidFill>
                  <a:srgbClr val="5C5C5C"/>
                </a:solidFill>
                <a:latin typeface="에이투지체 4 Regular"/>
                <a:ea typeface="에이투지체 4 Regular"/>
                <a:cs typeface="에이투지체 4 Regular"/>
              </a:defRPr>
            </a:defPPr>
          </a:lstStyle>
          <a:p>
            <a:pPr algn="l">
              <a:defRPr sz="878">
                <a:solidFill>
                  <a:srgbClr val="5C5C5C"/>
                </a:solidFill>
                <a:latin typeface="에이투지체 4 Regular"/>
                <a:ea typeface="에이투지체 4 Regular"/>
                <a:cs typeface="에이투지체 4 Regular"/>
              </a:defRPr>
            </a:pPr>
            <a:r>
              <a:rPr sz="878">
                <a:solidFill>
                  <a:srgbClr val="5C5C5C"/>
                </a:solidFill>
                <a:latin typeface="에이투지체 4 Regular"/>
                <a:ea typeface="에이투지체 4 Regular"/>
                <a:cs typeface="에이투지체 4 Regular"/>
              </a:rPr>
              <a:t>기기별 노출은 그룹의 노출 매체 설정으로 제한. 구성 예시는 상품형·계정 설정 확인 후 적용</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10"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1"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2"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27</a:t>
            </a:r>
          </a:p>
        </p:txBody>
      </p:sp>
      <p:sp>
        <p:nvSpPr>
          <p:cNvPr id="2" name="text-234">
            <a:extLst>
              <a:ext uri="{FF2B5EF4-FFF2-40B4-BE49-F238E27FC236}">
                <a16:creationId xmlns:a16="http://schemas.microsoft.com/office/drawing/2014/main" id="{D757F961-2DD6-421D-A8C5-349142659086}"/>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검색어별 </a:t>
            </a:r>
            <a:r>
              <a:rPr lang="ko-KR" altLang="en-US" sz="1900" dirty="0">
                <a:solidFill>
                  <a:schemeClr val="bg1"/>
                </a:solidFill>
                <a:highlight>
                  <a:srgbClr val="0000FF"/>
                </a:highlight>
                <a:latin typeface="에이투지체 8 ExtraBold"/>
                <a:ea typeface="에이투지체 8 ExtraBold"/>
                <a:cs typeface="에이투지체 8 ExtraBold"/>
              </a:rPr>
              <a:t>별도</a:t>
            </a:r>
            <a:r>
              <a:rPr lang="ko-KR" sz="1900" dirty="0">
                <a:solidFill>
                  <a:schemeClr val="bg1"/>
                </a:solidFill>
                <a:highlight>
                  <a:srgbClr val="0000FF"/>
                </a:highlight>
                <a:latin typeface="에이투지체 8 ExtraBold"/>
                <a:ea typeface="에이투지체 8 ExtraBold"/>
                <a:cs typeface="에이투지체 8 ExtraBold"/>
              </a:rPr>
              <a:t> 그룹</a:t>
            </a:r>
            <a:r>
              <a:rPr lang="ko-KR" sz="1900" dirty="0">
                <a:solidFill>
                  <a:srgbClr val="222222"/>
                </a:solidFill>
                <a:latin typeface="에이투지체 8 ExtraBold"/>
                <a:ea typeface="에이투지체 8 ExtraBold"/>
                <a:cs typeface="에이투지체 8 ExtraBold"/>
              </a:rPr>
              <a:t>을 </a:t>
            </a:r>
            <a:r>
              <a:rPr lang="ko-KR" altLang="en-US" sz="1900" dirty="0">
                <a:solidFill>
                  <a:srgbClr val="222222"/>
                </a:solidFill>
                <a:latin typeface="에이투지체 8 ExtraBold"/>
                <a:ea typeface="에이투지체 8 ExtraBold"/>
                <a:cs typeface="에이투지체 8 ExtraBold"/>
              </a:rPr>
              <a:t>생성</a:t>
            </a:r>
            <a:r>
              <a:rPr lang="ko-KR" sz="1900" dirty="0">
                <a:solidFill>
                  <a:srgbClr val="222222"/>
                </a:solidFill>
                <a:latin typeface="에이투지체 8 ExtraBold"/>
                <a:ea typeface="에이투지체 8 ExtraBold"/>
                <a:cs typeface="에이투지체 8 ExtraBold"/>
              </a:rPr>
              <a:t>하고</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누적 성과를 기준으로 제외검색어를 매주 관리합니다</a:t>
            </a:r>
            <a:endParaRPr lang="ko-KR" sz="1900" dirty="0"/>
          </a:p>
        </p:txBody>
      </p:sp>
      <p:sp>
        <p:nvSpPr>
          <p:cNvPr id="3" name="text-235">
            <a:extLst>
              <a:ext uri="{FF2B5EF4-FFF2-40B4-BE49-F238E27FC236}">
                <a16:creationId xmlns:a16="http://schemas.microsoft.com/office/drawing/2014/main" id="{2095A4B1-AA61-41E2-A1EE-F8388E33C690}"/>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쇼핑검색 ④ 검색어 담당 그룹과 주간 관리</a:t>
            </a:r>
            <a:endParaRPr lang="ko-KR" sz="1100" dirty="0"/>
          </a:p>
        </p:txBody>
      </p:sp>
      <p:sp>
        <p:nvSpPr>
          <p:cNvPr id="5" name="text-236">
            <a:extLst>
              <a:ext uri="{FF2B5EF4-FFF2-40B4-BE49-F238E27FC236}">
                <a16:creationId xmlns:a16="http://schemas.microsoft.com/office/drawing/2014/main" id="{BF76DAA0-FC48-4578-A358-531597B088DC}"/>
              </a:ext>
            </a:extLst>
          </p:cNvPr>
          <p:cNvSpPr>
            <a:spLocks noGrp="1"/>
          </p:cNvSpPr>
          <p:nvPr/>
        </p:nvSpPr>
        <p:spPr>
          <a:xfrm>
            <a:off x="552450" y="5212080"/>
            <a:ext cx="11058525" cy="295275"/>
          </a:xfrm>
          <a:prstGeom prst="rect">
            <a:avLst/>
          </a:prstGeom>
          <a:noFill/>
          <a:ln w="0">
            <a:noFill/>
          </a:ln>
        </p:spPr>
        <p:txBody>
          <a:bodyPr wrap="square" lIns="0" tIns="0" rIns="0" bIns="0" anchor="ctr">
            <a:noAutofit/>
          </a:bodyPr>
          <a:lstStyle>
            <a:defPPr algn="l">
              <a:defRPr sz="1305">
                <a:solidFill>
                  <a:srgbClr val="004F9F"/>
                </a:solidFill>
                <a:latin typeface="에이투지체 6 SemiBold"/>
                <a:ea typeface="에이투지체 6 SemiBold"/>
                <a:cs typeface="에이투지체 6 SemiBold"/>
              </a:defRPr>
            </a:defPPr>
          </a:lstStyle>
          <a:p>
            <a:pPr algn="l">
              <a:defRPr sz="1305">
                <a:solidFill>
                  <a:srgbClr val="004F9F"/>
                </a:solidFill>
                <a:latin typeface="에이투지체 6 SemiBold"/>
                <a:ea typeface="에이투지체 6 SemiBold"/>
                <a:cs typeface="에이투지체 6 SemiBold"/>
              </a:defRPr>
            </a:pPr>
            <a:r>
              <a:rPr sz="1305">
                <a:solidFill>
                  <a:srgbClr val="004F9F"/>
                </a:solidFill>
                <a:latin typeface="에이투지체 6 SemiBold"/>
                <a:ea typeface="에이투지체 6 SemiBold"/>
                <a:cs typeface="에이투지체 6 SemiBold"/>
              </a:rPr>
              <a:t>우선 점검  키성장영양제 743,992원, 유아영양제 180,683원 집행에도 전환매출 0원</a:t>
            </a:r>
          </a:p>
        </p:txBody>
      </p:sp>
      <p:sp>
        <p:nvSpPr>
          <p:cNvPr id="6" name="node-237">
            <a:extLst>
              <a:ext uri="{FF2B5EF4-FFF2-40B4-BE49-F238E27FC236}">
                <a16:creationId xmlns:a16="http://schemas.microsoft.com/office/drawing/2014/main" id="{4FB89C9A-87D1-4F6D-A3C8-9B67B77FE8D0}"/>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7" name="text-238">
            <a:extLst>
              <a:ext uri="{FF2B5EF4-FFF2-40B4-BE49-F238E27FC236}">
                <a16:creationId xmlns:a16="http://schemas.microsoft.com/office/drawing/2014/main" id="{009E78D1-2815-4788-944B-2BC50EF2E640}"/>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행사 기간에도 담당 그룹 구조를 유지하고, 행사 수요와 구매 성과에 맞춰 입찰을 조정합니다</a:t>
            </a:r>
          </a:p>
        </p:txBody>
      </p:sp>
      <p:sp>
        <p:nvSpPr>
          <p:cNvPr id="8" name="text-239">
            <a:extLst>
              <a:ext uri="{FF2B5EF4-FFF2-40B4-BE49-F238E27FC236}">
                <a16:creationId xmlns:a16="http://schemas.microsoft.com/office/drawing/2014/main" id="{20A90A9A-C024-44D5-9EEE-C64CD3E413A0}"/>
              </a:ext>
            </a:extLst>
          </p:cNvPr>
          <p:cNvSpPr>
            <a:spLocks noGrp="1"/>
          </p:cNvSpPr>
          <p:nvPr/>
        </p:nvSpPr>
        <p:spPr>
          <a:xfrm>
            <a:off x="552450" y="6076950"/>
            <a:ext cx="11049000" cy="266700"/>
          </a:xfrm>
          <a:prstGeom prst="rect">
            <a:avLst/>
          </a:prstGeom>
          <a:noFill/>
          <a:ln w="0">
            <a:noFill/>
          </a:ln>
        </p:spPr>
        <p:txBody>
          <a:bodyPr wrap="square" lIns="0" tIns="0" rIns="0" bIns="0" anchor="ctr">
            <a:noAutofit/>
          </a:bodyPr>
          <a:lstStyle>
            <a:defPPr algn="l">
              <a:defRPr sz="878">
                <a:solidFill>
                  <a:srgbClr val="5C5C5C"/>
                </a:solidFill>
                <a:latin typeface="에이투지체 4 Regular"/>
                <a:ea typeface="에이투지체 4 Regular"/>
                <a:cs typeface="에이투지체 4 Regular"/>
              </a:defRPr>
            </a:defPPr>
          </a:lstStyle>
          <a:p>
            <a:pPr algn="l">
              <a:defRPr sz="878">
                <a:solidFill>
                  <a:srgbClr val="5C5C5C"/>
                </a:solidFill>
                <a:latin typeface="에이투지체 4 Regular"/>
                <a:ea typeface="에이투지체 4 Regular"/>
                <a:cs typeface="에이투지체 4 Regular"/>
              </a:defRPr>
            </a:pPr>
            <a:r>
              <a:rPr sz="878">
                <a:solidFill>
                  <a:srgbClr val="5C5C5C"/>
                </a:solidFill>
                <a:latin typeface="에이투지체 4 Regular"/>
                <a:ea typeface="에이투지체 4 Regular"/>
                <a:cs typeface="에이투지체 4 Regular"/>
              </a:rPr>
              <a:t>표본이 적은 검색어는 추가 관찰. 실제 입찰 단위는 광고그룹·상품 소재이며 무전환 수치는 9월 특정 행 기준</a:t>
            </a:r>
          </a:p>
        </p:txBody>
      </p:sp>
      <p:sp>
        <p:nvSpPr>
          <p:cNvPr id="13" name="Rounded Rectangle 12"/>
          <p:cNvSpPr/>
          <p:nvPr/>
        </p:nvSpPr>
        <p:spPr>
          <a:xfrm>
            <a:off x="548640" y="2148840"/>
            <a:ext cx="2514600" cy="2743200"/>
          </a:xfrm>
          <a:prstGeom prst="roundRect">
            <a:avLst>
              <a:gd name="adj" fmla="val 2909"/>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777240" y="2377440"/>
            <a:ext cx="384048" cy="384048"/>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77240" y="2377440"/>
            <a:ext cx="384048" cy="384048"/>
          </a:xfrm>
          <a:prstGeom prst="rect">
            <a:avLst/>
          </a:prstGeom>
          <a:noFill/>
        </p:spPr>
        <p:txBody>
          <a:bodyPr wrap="square" lIns="0" tIns="0" rIns="0" bIns="0" anchor="ctr">
            <a:spAutoFit/>
          </a:bodyPr>
          <a:lstStyle/>
          <a:p>
            <a:pPr algn="ctr">
              <a:spcAft>
                <a:spcPts val="300"/>
              </a:spcAft>
            </a:pPr>
            <a:r>
              <a:rPr sz="1100">
                <a:solidFill>
                  <a:srgbClr val="FFFFFF"/>
                </a:solidFill>
                <a:latin typeface="에이투지체 6 SemiBold"/>
                <a:ea typeface="에이투지체 6 SemiBold"/>
              </a:rPr>
              <a:t>01</a:t>
            </a:r>
          </a:p>
        </p:txBody>
      </p:sp>
      <p:sp>
        <p:nvSpPr>
          <p:cNvPr id="16" name="TextBox 15"/>
          <p:cNvSpPr txBox="1"/>
          <p:nvPr/>
        </p:nvSpPr>
        <p:spPr>
          <a:xfrm>
            <a:off x="777240" y="2880360"/>
            <a:ext cx="2103120" cy="215444"/>
          </a:xfrm>
          <a:prstGeom prst="rect">
            <a:avLst/>
          </a:prstGeom>
          <a:noFill/>
        </p:spPr>
        <p:txBody>
          <a:bodyPr wrap="square" lIns="0" tIns="0" rIns="0" bIns="0" anchor="t">
            <a:spAutoFit/>
          </a:bodyPr>
          <a:lstStyle/>
          <a:p>
            <a:pPr algn="l">
              <a:spcAft>
                <a:spcPts val="300"/>
              </a:spcAft>
            </a:pPr>
            <a:r>
              <a:rPr lang="ko-KR" altLang="en-US" sz="1400" dirty="0">
                <a:solidFill>
                  <a:srgbClr val="222222"/>
                </a:solidFill>
                <a:latin typeface="에이투지체 6 SemiBold"/>
                <a:ea typeface="에이투지체 6 SemiBold"/>
              </a:rPr>
              <a:t>검색어</a:t>
            </a:r>
            <a:r>
              <a:rPr sz="1400" dirty="0">
                <a:solidFill>
                  <a:srgbClr val="222222"/>
                </a:solidFill>
                <a:latin typeface="에이투지체 6 SemiBold"/>
                <a:ea typeface="에이투지체 6 SemiBold"/>
              </a:rPr>
              <a:t> </a:t>
            </a:r>
            <a:r>
              <a:rPr sz="1400" dirty="0" err="1">
                <a:solidFill>
                  <a:srgbClr val="222222"/>
                </a:solidFill>
                <a:latin typeface="에이투지체 6 SemiBold"/>
                <a:ea typeface="에이투지체 6 SemiBold"/>
              </a:rPr>
              <a:t>그룹</a:t>
            </a:r>
            <a:r>
              <a:rPr sz="1400" dirty="0">
                <a:solidFill>
                  <a:srgbClr val="222222"/>
                </a:solidFill>
                <a:latin typeface="에이투지체 6 SemiBold"/>
                <a:ea typeface="에이투지체 6 SemiBold"/>
              </a:rPr>
              <a:t> </a:t>
            </a:r>
            <a:r>
              <a:rPr lang="ko-KR" altLang="en-US" sz="1400" dirty="0">
                <a:solidFill>
                  <a:srgbClr val="222222"/>
                </a:solidFill>
                <a:latin typeface="에이투지체 6 SemiBold"/>
                <a:ea typeface="에이투지체 6 SemiBold"/>
              </a:rPr>
              <a:t>생성</a:t>
            </a:r>
            <a:endParaRPr sz="1400" dirty="0">
              <a:solidFill>
                <a:srgbClr val="222222"/>
              </a:solidFill>
              <a:latin typeface="에이투지체 6 SemiBold"/>
              <a:ea typeface="에이투지체 6 SemiBold"/>
            </a:endParaRPr>
          </a:p>
        </p:txBody>
      </p:sp>
      <p:sp>
        <p:nvSpPr>
          <p:cNvPr id="17" name="TextBox 16"/>
          <p:cNvSpPr txBox="1"/>
          <p:nvPr/>
        </p:nvSpPr>
        <p:spPr>
          <a:xfrm>
            <a:off x="777240" y="3337560"/>
            <a:ext cx="2103120" cy="228600"/>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점검</a:t>
            </a:r>
          </a:p>
        </p:txBody>
      </p:sp>
      <p:sp>
        <p:nvSpPr>
          <p:cNvPr id="18" name="TextBox 17"/>
          <p:cNvSpPr txBox="1"/>
          <p:nvPr/>
        </p:nvSpPr>
        <p:spPr>
          <a:xfrm>
            <a:off x="777240" y="3566160"/>
            <a:ext cx="2103120" cy="502920"/>
          </a:xfrm>
          <a:prstGeom prst="rect">
            <a:avLst/>
          </a:prstGeom>
          <a:noFill/>
        </p:spPr>
        <p:txBody>
          <a:bodyPr wrap="square" lIns="0" tIns="0" rIns="0" bIns="0" anchor="t">
            <a:spAutoFit/>
          </a:bodyPr>
          <a:lstStyle/>
          <a:p>
            <a:pPr algn="l">
              <a:spcAft>
                <a:spcPts val="300"/>
              </a:spcAft>
            </a:pPr>
            <a:r>
              <a:rPr sz="1100">
                <a:solidFill>
                  <a:srgbClr val="5C5C5C"/>
                </a:solidFill>
                <a:latin typeface="에이투지체 4 Regular"/>
                <a:ea typeface="에이투지체 4 Regular"/>
              </a:rPr>
              <a:t>같은 검색어의 중복 그룹 확인</a:t>
            </a:r>
          </a:p>
        </p:txBody>
      </p:sp>
      <p:cxnSp>
        <p:nvCxnSpPr>
          <p:cNvPr id="19" name="Connector 18"/>
          <p:cNvCxnSpPr/>
          <p:nvPr/>
        </p:nvCxnSpPr>
        <p:spPr>
          <a:xfrm>
            <a:off x="777240" y="4069080"/>
            <a:ext cx="205740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77240" y="4160520"/>
            <a:ext cx="2103120" cy="228600"/>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실행</a:t>
            </a:r>
          </a:p>
        </p:txBody>
      </p:sp>
      <p:sp>
        <p:nvSpPr>
          <p:cNvPr id="21" name="TextBox 20"/>
          <p:cNvSpPr txBox="1"/>
          <p:nvPr/>
        </p:nvSpPr>
        <p:spPr>
          <a:xfrm>
            <a:off x="777240" y="4389120"/>
            <a:ext cx="2103120" cy="502920"/>
          </a:xfrm>
          <a:prstGeom prst="rect">
            <a:avLst/>
          </a:prstGeom>
          <a:noFill/>
        </p:spPr>
        <p:txBody>
          <a:bodyPr wrap="square" lIns="0" tIns="0" rIns="0" bIns="0" anchor="t">
            <a:spAutoFit/>
          </a:bodyPr>
          <a:lstStyle/>
          <a:p>
            <a:pPr algn="l">
              <a:spcAft>
                <a:spcPts val="300"/>
              </a:spcAft>
            </a:pPr>
            <a:r>
              <a:rPr sz="1100">
                <a:solidFill>
                  <a:srgbClr val="222222"/>
                </a:solidFill>
                <a:latin typeface="에이투지체 5 Medium"/>
                <a:ea typeface="에이투지체 5 Medium"/>
              </a:rPr>
              <a:t>담당 1개 그룹에 집중, 나머지 일치 제외</a:t>
            </a:r>
          </a:p>
        </p:txBody>
      </p:sp>
      <p:sp>
        <p:nvSpPr>
          <p:cNvPr id="22" name="Isosceles Triangle 21"/>
          <p:cNvSpPr/>
          <p:nvPr/>
        </p:nvSpPr>
        <p:spPr>
          <a:xfrm rot="5400000">
            <a:off x="3157728" y="3419856"/>
            <a:ext cx="146304" cy="201168"/>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3398520" y="2148840"/>
            <a:ext cx="2514600" cy="2743200"/>
          </a:xfrm>
          <a:prstGeom prst="roundRect">
            <a:avLst>
              <a:gd name="adj" fmla="val 2909"/>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3627120" y="2377440"/>
            <a:ext cx="384048" cy="384048"/>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627120" y="2377440"/>
            <a:ext cx="384048" cy="384048"/>
          </a:xfrm>
          <a:prstGeom prst="rect">
            <a:avLst/>
          </a:prstGeom>
          <a:noFill/>
        </p:spPr>
        <p:txBody>
          <a:bodyPr wrap="square" lIns="0" tIns="0" rIns="0" bIns="0" anchor="ctr">
            <a:spAutoFit/>
          </a:bodyPr>
          <a:lstStyle/>
          <a:p>
            <a:pPr algn="ctr">
              <a:spcAft>
                <a:spcPts val="300"/>
              </a:spcAft>
            </a:pPr>
            <a:r>
              <a:rPr sz="1100">
                <a:solidFill>
                  <a:srgbClr val="FFFFFF"/>
                </a:solidFill>
                <a:latin typeface="에이투지체 6 SemiBold"/>
                <a:ea typeface="에이투지체 6 SemiBold"/>
              </a:rPr>
              <a:t>02</a:t>
            </a:r>
          </a:p>
        </p:txBody>
      </p:sp>
      <p:sp>
        <p:nvSpPr>
          <p:cNvPr id="26" name="TextBox 25"/>
          <p:cNvSpPr txBox="1"/>
          <p:nvPr/>
        </p:nvSpPr>
        <p:spPr>
          <a:xfrm>
            <a:off x="3627120" y="2880360"/>
            <a:ext cx="2103120" cy="347472"/>
          </a:xfrm>
          <a:prstGeom prst="rect">
            <a:avLst/>
          </a:prstGeom>
          <a:noFill/>
        </p:spPr>
        <p:txBody>
          <a:bodyPr wrap="square" lIns="0" tIns="0" rIns="0" bIns="0" anchor="t">
            <a:spAutoFit/>
          </a:bodyPr>
          <a:lstStyle/>
          <a:p>
            <a:pPr algn="l">
              <a:spcAft>
                <a:spcPts val="300"/>
              </a:spcAft>
            </a:pPr>
            <a:r>
              <a:rPr sz="1400">
                <a:solidFill>
                  <a:srgbClr val="222222"/>
                </a:solidFill>
                <a:latin typeface="에이투지체 6 SemiBold"/>
                <a:ea typeface="에이투지체 6 SemiBold"/>
              </a:rPr>
              <a:t>누적 성과 확인</a:t>
            </a:r>
          </a:p>
        </p:txBody>
      </p:sp>
      <p:sp>
        <p:nvSpPr>
          <p:cNvPr id="27" name="TextBox 26"/>
          <p:cNvSpPr txBox="1"/>
          <p:nvPr/>
        </p:nvSpPr>
        <p:spPr>
          <a:xfrm>
            <a:off x="3627120" y="3337560"/>
            <a:ext cx="2103120" cy="228600"/>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점검</a:t>
            </a:r>
          </a:p>
        </p:txBody>
      </p:sp>
      <p:sp>
        <p:nvSpPr>
          <p:cNvPr id="28" name="TextBox 27"/>
          <p:cNvSpPr txBox="1"/>
          <p:nvPr/>
        </p:nvSpPr>
        <p:spPr>
          <a:xfrm>
            <a:off x="3627120" y="3566160"/>
            <a:ext cx="2103120" cy="169277"/>
          </a:xfrm>
          <a:prstGeom prst="rect">
            <a:avLst/>
          </a:prstGeom>
          <a:noFill/>
        </p:spPr>
        <p:txBody>
          <a:bodyPr wrap="square" lIns="0" tIns="0" rIns="0" bIns="0" anchor="t">
            <a:spAutoFit/>
          </a:bodyPr>
          <a:lstStyle/>
          <a:p>
            <a:pPr algn="l">
              <a:spcAft>
                <a:spcPts val="300"/>
              </a:spcAft>
            </a:pPr>
            <a:r>
              <a:rPr lang="ko-KR" altLang="en-US" sz="1100" dirty="0">
                <a:solidFill>
                  <a:srgbClr val="5C5C5C"/>
                </a:solidFill>
                <a:latin typeface="에이투지체 4 Regular"/>
                <a:ea typeface="에이투지체 4 Regular"/>
              </a:rPr>
              <a:t>주간 매출</a:t>
            </a:r>
            <a:r>
              <a:rPr lang="en-US" altLang="ko-KR" sz="1100" dirty="0">
                <a:solidFill>
                  <a:srgbClr val="5C5C5C"/>
                </a:solidFill>
                <a:latin typeface="에이투지체 4 Regular"/>
                <a:ea typeface="에이투지체 4 Regular"/>
              </a:rPr>
              <a:t>, </a:t>
            </a:r>
            <a:r>
              <a:rPr lang="ko-KR" altLang="en-US" sz="1100" dirty="0">
                <a:solidFill>
                  <a:srgbClr val="5C5C5C"/>
                </a:solidFill>
                <a:latin typeface="에이투지체 4 Regular"/>
                <a:ea typeface="에이투지체 4 Regular"/>
              </a:rPr>
              <a:t>광고비</a:t>
            </a:r>
            <a:r>
              <a:rPr lang="en-US" altLang="ko-KR" sz="1100" dirty="0">
                <a:solidFill>
                  <a:srgbClr val="5C5C5C"/>
                </a:solidFill>
                <a:latin typeface="에이투지체 4 Regular"/>
                <a:ea typeface="에이투지체 4 Regular"/>
              </a:rPr>
              <a:t>,ROAS</a:t>
            </a:r>
            <a:r>
              <a:rPr lang="ko-KR" altLang="en-US" sz="1100" dirty="0">
                <a:solidFill>
                  <a:srgbClr val="5C5C5C"/>
                </a:solidFill>
                <a:latin typeface="에이투지체 4 Regular"/>
                <a:ea typeface="에이투지체 4 Regular"/>
              </a:rPr>
              <a:t> 등 체크</a:t>
            </a:r>
            <a:endParaRPr sz="1100" dirty="0">
              <a:solidFill>
                <a:srgbClr val="5C5C5C"/>
              </a:solidFill>
              <a:latin typeface="에이투지체 4 Regular"/>
              <a:ea typeface="에이투지체 4 Regular"/>
            </a:endParaRPr>
          </a:p>
        </p:txBody>
      </p:sp>
      <p:cxnSp>
        <p:nvCxnSpPr>
          <p:cNvPr id="29" name="Connector 28"/>
          <p:cNvCxnSpPr/>
          <p:nvPr/>
        </p:nvCxnSpPr>
        <p:spPr>
          <a:xfrm>
            <a:off x="3627120" y="4069080"/>
            <a:ext cx="205740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627120" y="4160520"/>
            <a:ext cx="2103120" cy="228600"/>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실행</a:t>
            </a:r>
          </a:p>
        </p:txBody>
      </p:sp>
      <p:sp>
        <p:nvSpPr>
          <p:cNvPr id="31" name="TextBox 30"/>
          <p:cNvSpPr txBox="1"/>
          <p:nvPr/>
        </p:nvSpPr>
        <p:spPr>
          <a:xfrm>
            <a:off x="3627120" y="4389120"/>
            <a:ext cx="2103120" cy="502920"/>
          </a:xfrm>
          <a:prstGeom prst="rect">
            <a:avLst/>
          </a:prstGeom>
          <a:noFill/>
        </p:spPr>
        <p:txBody>
          <a:bodyPr wrap="square" lIns="0" tIns="0" rIns="0" bIns="0" anchor="t">
            <a:spAutoFit/>
          </a:bodyPr>
          <a:lstStyle/>
          <a:p>
            <a:pPr algn="l">
              <a:spcAft>
                <a:spcPts val="300"/>
              </a:spcAft>
            </a:pPr>
            <a:r>
              <a:rPr sz="1100">
                <a:solidFill>
                  <a:srgbClr val="222222"/>
                </a:solidFill>
                <a:latin typeface="에이투지체 5 Medium"/>
                <a:ea typeface="에이투지체 5 Medium"/>
              </a:rPr>
              <a:t>고비용 무전환 조합부터 검토</a:t>
            </a:r>
          </a:p>
        </p:txBody>
      </p:sp>
      <p:sp>
        <p:nvSpPr>
          <p:cNvPr id="32" name="Isosceles Triangle 31"/>
          <p:cNvSpPr/>
          <p:nvPr/>
        </p:nvSpPr>
        <p:spPr>
          <a:xfrm rot="5400000">
            <a:off x="6007608" y="3419856"/>
            <a:ext cx="146304" cy="201168"/>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6248400" y="2148840"/>
            <a:ext cx="2514600" cy="2743200"/>
          </a:xfrm>
          <a:prstGeom prst="roundRect">
            <a:avLst>
              <a:gd name="adj" fmla="val 2909"/>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Oval 33"/>
          <p:cNvSpPr/>
          <p:nvPr/>
        </p:nvSpPr>
        <p:spPr>
          <a:xfrm>
            <a:off x="6477000" y="2377440"/>
            <a:ext cx="384048" cy="384048"/>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477000" y="2377440"/>
            <a:ext cx="384048" cy="384048"/>
          </a:xfrm>
          <a:prstGeom prst="rect">
            <a:avLst/>
          </a:prstGeom>
          <a:noFill/>
        </p:spPr>
        <p:txBody>
          <a:bodyPr wrap="square" lIns="0" tIns="0" rIns="0" bIns="0" anchor="ctr">
            <a:spAutoFit/>
          </a:bodyPr>
          <a:lstStyle/>
          <a:p>
            <a:pPr algn="ctr">
              <a:spcAft>
                <a:spcPts val="300"/>
              </a:spcAft>
            </a:pPr>
            <a:r>
              <a:rPr sz="1100">
                <a:solidFill>
                  <a:srgbClr val="FFFFFF"/>
                </a:solidFill>
                <a:latin typeface="에이투지체 6 SemiBold"/>
                <a:ea typeface="에이투지체 6 SemiBold"/>
              </a:rPr>
              <a:t>03</a:t>
            </a:r>
          </a:p>
        </p:txBody>
      </p:sp>
      <p:sp>
        <p:nvSpPr>
          <p:cNvPr id="36" name="TextBox 35"/>
          <p:cNvSpPr txBox="1"/>
          <p:nvPr/>
        </p:nvSpPr>
        <p:spPr>
          <a:xfrm>
            <a:off x="6477000" y="2880360"/>
            <a:ext cx="2103120" cy="347472"/>
          </a:xfrm>
          <a:prstGeom prst="rect">
            <a:avLst/>
          </a:prstGeom>
          <a:noFill/>
        </p:spPr>
        <p:txBody>
          <a:bodyPr wrap="square" lIns="0" tIns="0" rIns="0" bIns="0" anchor="t">
            <a:spAutoFit/>
          </a:bodyPr>
          <a:lstStyle/>
          <a:p>
            <a:pPr algn="l">
              <a:spcAft>
                <a:spcPts val="300"/>
              </a:spcAft>
            </a:pPr>
            <a:r>
              <a:rPr sz="1400">
                <a:solidFill>
                  <a:srgbClr val="222222"/>
                </a:solidFill>
                <a:latin typeface="에이투지체 6 SemiBold"/>
                <a:ea typeface="에이투지체 6 SemiBold"/>
              </a:rPr>
              <a:t>저효율 조합 조정</a:t>
            </a:r>
          </a:p>
        </p:txBody>
      </p:sp>
      <p:sp>
        <p:nvSpPr>
          <p:cNvPr id="37" name="TextBox 36"/>
          <p:cNvSpPr txBox="1"/>
          <p:nvPr/>
        </p:nvSpPr>
        <p:spPr>
          <a:xfrm>
            <a:off x="6477000" y="3337560"/>
            <a:ext cx="2103120" cy="228600"/>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점검</a:t>
            </a:r>
          </a:p>
        </p:txBody>
      </p:sp>
      <p:sp>
        <p:nvSpPr>
          <p:cNvPr id="38" name="TextBox 37"/>
          <p:cNvSpPr txBox="1"/>
          <p:nvPr/>
        </p:nvSpPr>
        <p:spPr>
          <a:xfrm>
            <a:off x="6477000" y="3566160"/>
            <a:ext cx="2103120" cy="502920"/>
          </a:xfrm>
          <a:prstGeom prst="rect">
            <a:avLst/>
          </a:prstGeom>
          <a:noFill/>
        </p:spPr>
        <p:txBody>
          <a:bodyPr wrap="square" lIns="0" tIns="0" rIns="0" bIns="0" anchor="t">
            <a:spAutoFit/>
          </a:bodyPr>
          <a:lstStyle/>
          <a:p>
            <a:pPr algn="l">
              <a:spcAft>
                <a:spcPts val="300"/>
              </a:spcAft>
            </a:pPr>
            <a:r>
              <a:rPr sz="1100">
                <a:solidFill>
                  <a:srgbClr val="5C5C5C"/>
                </a:solidFill>
                <a:latin typeface="에이투지체 4 Regular"/>
                <a:ea typeface="에이투지체 4 Regular"/>
              </a:rPr>
              <a:t>검색어 관련성·상품·랜딩 점검</a:t>
            </a:r>
          </a:p>
        </p:txBody>
      </p:sp>
      <p:cxnSp>
        <p:nvCxnSpPr>
          <p:cNvPr id="39" name="Connector 38"/>
          <p:cNvCxnSpPr/>
          <p:nvPr/>
        </p:nvCxnSpPr>
        <p:spPr>
          <a:xfrm>
            <a:off x="6477000" y="4069080"/>
            <a:ext cx="2057399"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477000" y="4160520"/>
            <a:ext cx="2103120" cy="228600"/>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실행</a:t>
            </a:r>
          </a:p>
        </p:txBody>
      </p:sp>
      <p:sp>
        <p:nvSpPr>
          <p:cNvPr id="41" name="TextBox 40"/>
          <p:cNvSpPr txBox="1"/>
          <p:nvPr/>
        </p:nvSpPr>
        <p:spPr>
          <a:xfrm>
            <a:off x="6477000" y="4389120"/>
            <a:ext cx="2103120" cy="502920"/>
          </a:xfrm>
          <a:prstGeom prst="rect">
            <a:avLst/>
          </a:prstGeom>
          <a:noFill/>
        </p:spPr>
        <p:txBody>
          <a:bodyPr wrap="square" lIns="0" tIns="0" rIns="0" bIns="0" anchor="t">
            <a:spAutoFit/>
          </a:bodyPr>
          <a:lstStyle/>
          <a:p>
            <a:pPr algn="l">
              <a:spcAft>
                <a:spcPts val="300"/>
              </a:spcAft>
            </a:pPr>
            <a:r>
              <a:rPr sz="1100">
                <a:solidFill>
                  <a:srgbClr val="222222"/>
                </a:solidFill>
                <a:latin typeface="에이투지체 5 Medium"/>
                <a:ea typeface="에이투지체 5 Medium"/>
              </a:rPr>
              <a:t>그룹·상품 단위 입찰 조정과 제외</a:t>
            </a:r>
          </a:p>
        </p:txBody>
      </p:sp>
      <p:sp>
        <p:nvSpPr>
          <p:cNvPr id="42" name="Isosceles Triangle 41"/>
          <p:cNvSpPr/>
          <p:nvPr/>
        </p:nvSpPr>
        <p:spPr>
          <a:xfrm rot="5400000">
            <a:off x="8857488" y="3419856"/>
            <a:ext cx="146304" cy="201168"/>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9098280" y="2148840"/>
            <a:ext cx="2514600" cy="2743200"/>
          </a:xfrm>
          <a:prstGeom prst="roundRect">
            <a:avLst>
              <a:gd name="adj" fmla="val 290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Oval 43"/>
          <p:cNvSpPr/>
          <p:nvPr/>
        </p:nvSpPr>
        <p:spPr>
          <a:xfrm>
            <a:off x="9326880" y="2377440"/>
            <a:ext cx="384048" cy="384048"/>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326880" y="2377440"/>
            <a:ext cx="384048" cy="384048"/>
          </a:xfrm>
          <a:prstGeom prst="rect">
            <a:avLst/>
          </a:prstGeom>
          <a:noFill/>
        </p:spPr>
        <p:txBody>
          <a:bodyPr wrap="square" lIns="0" tIns="0" rIns="0" bIns="0" anchor="ctr">
            <a:spAutoFit/>
          </a:bodyPr>
          <a:lstStyle/>
          <a:p>
            <a:pPr algn="ctr">
              <a:spcAft>
                <a:spcPts val="300"/>
              </a:spcAft>
            </a:pPr>
            <a:r>
              <a:rPr sz="1100">
                <a:solidFill>
                  <a:srgbClr val="FFFFFF"/>
                </a:solidFill>
                <a:latin typeface="에이투지체 6 SemiBold"/>
                <a:ea typeface="에이투지체 6 SemiBold"/>
              </a:rPr>
              <a:t>04</a:t>
            </a:r>
          </a:p>
        </p:txBody>
      </p:sp>
      <p:sp>
        <p:nvSpPr>
          <p:cNvPr id="46" name="TextBox 45"/>
          <p:cNvSpPr txBox="1"/>
          <p:nvPr/>
        </p:nvSpPr>
        <p:spPr>
          <a:xfrm>
            <a:off x="9326880" y="2880360"/>
            <a:ext cx="2103120" cy="347472"/>
          </a:xfrm>
          <a:prstGeom prst="rect">
            <a:avLst/>
          </a:prstGeom>
          <a:noFill/>
        </p:spPr>
        <p:txBody>
          <a:bodyPr wrap="square" lIns="0" tIns="0" rIns="0" bIns="0" anchor="t">
            <a:spAutoFit/>
          </a:bodyPr>
          <a:lstStyle/>
          <a:p>
            <a:pPr algn="l">
              <a:spcAft>
                <a:spcPts val="300"/>
              </a:spcAft>
            </a:pPr>
            <a:r>
              <a:rPr sz="1400">
                <a:solidFill>
                  <a:srgbClr val="222222"/>
                </a:solidFill>
                <a:latin typeface="에이투지체 6 SemiBold"/>
                <a:ea typeface="에이투지체 6 SemiBold"/>
              </a:rPr>
              <a:t>적용 후 확인</a:t>
            </a:r>
          </a:p>
        </p:txBody>
      </p:sp>
      <p:sp>
        <p:nvSpPr>
          <p:cNvPr id="47" name="TextBox 46"/>
          <p:cNvSpPr txBox="1"/>
          <p:nvPr/>
        </p:nvSpPr>
        <p:spPr>
          <a:xfrm>
            <a:off x="9326880" y="3337560"/>
            <a:ext cx="2103120" cy="228600"/>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점검</a:t>
            </a:r>
          </a:p>
        </p:txBody>
      </p:sp>
      <p:sp>
        <p:nvSpPr>
          <p:cNvPr id="48" name="TextBox 47"/>
          <p:cNvSpPr txBox="1"/>
          <p:nvPr/>
        </p:nvSpPr>
        <p:spPr>
          <a:xfrm>
            <a:off x="9326880" y="3566160"/>
            <a:ext cx="2103120" cy="502920"/>
          </a:xfrm>
          <a:prstGeom prst="rect">
            <a:avLst/>
          </a:prstGeom>
          <a:noFill/>
        </p:spPr>
        <p:txBody>
          <a:bodyPr wrap="square" lIns="0" tIns="0" rIns="0" bIns="0" anchor="t">
            <a:spAutoFit/>
          </a:bodyPr>
          <a:lstStyle/>
          <a:p>
            <a:pPr algn="l">
              <a:spcAft>
                <a:spcPts val="300"/>
              </a:spcAft>
            </a:pPr>
            <a:r>
              <a:rPr sz="1100">
                <a:solidFill>
                  <a:srgbClr val="5C5C5C"/>
                </a:solidFill>
                <a:latin typeface="에이투지체 4 Regular"/>
                <a:ea typeface="에이투지체 4 Regular"/>
              </a:rPr>
              <a:t>노출·CPC·전환매출 변화</a:t>
            </a:r>
          </a:p>
        </p:txBody>
      </p:sp>
      <p:cxnSp>
        <p:nvCxnSpPr>
          <p:cNvPr id="49" name="Connector 48"/>
          <p:cNvCxnSpPr/>
          <p:nvPr/>
        </p:nvCxnSpPr>
        <p:spPr>
          <a:xfrm>
            <a:off x="9326880" y="4069080"/>
            <a:ext cx="2057400"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9326880" y="4160520"/>
            <a:ext cx="2103120" cy="228600"/>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실행</a:t>
            </a:r>
          </a:p>
        </p:txBody>
      </p:sp>
      <p:sp>
        <p:nvSpPr>
          <p:cNvPr id="51" name="TextBox 50"/>
          <p:cNvSpPr txBox="1"/>
          <p:nvPr/>
        </p:nvSpPr>
        <p:spPr>
          <a:xfrm>
            <a:off x="9326880" y="4389120"/>
            <a:ext cx="2103120" cy="502920"/>
          </a:xfrm>
          <a:prstGeom prst="rect">
            <a:avLst/>
          </a:prstGeom>
          <a:noFill/>
        </p:spPr>
        <p:txBody>
          <a:bodyPr wrap="square" lIns="0" tIns="0" rIns="0" bIns="0" anchor="t">
            <a:spAutoFit/>
          </a:bodyPr>
          <a:lstStyle/>
          <a:p>
            <a:pPr algn="l">
              <a:spcAft>
                <a:spcPts val="300"/>
              </a:spcAft>
            </a:pPr>
            <a:r>
              <a:rPr sz="1100">
                <a:solidFill>
                  <a:srgbClr val="222222"/>
                </a:solidFill>
                <a:latin typeface="에이투지체 5 Medium"/>
                <a:ea typeface="에이투지체 5 Medium"/>
              </a:rPr>
              <a:t>검증 그룹은 수요 범위 내 예산 확대</a:t>
            </a:r>
          </a:p>
        </p:txBody>
      </p:sp>
      <p:sp>
        <p:nvSpPr>
          <p:cNvPr id="52" name="TextBox 51"/>
          <p:cNvSpPr txBox="1"/>
          <p:nvPr/>
        </p:nvSpPr>
        <p:spPr>
          <a:xfrm>
            <a:off x="548640" y="4919472"/>
            <a:ext cx="11064240" cy="228600"/>
          </a:xfrm>
          <a:prstGeom prst="rect">
            <a:avLst/>
          </a:prstGeom>
          <a:noFill/>
        </p:spPr>
        <p:txBody>
          <a:bodyPr wrap="square" lIns="0" tIns="0" rIns="0" bIns="0" anchor="t">
            <a:spAutoFit/>
          </a:bodyPr>
          <a:lstStyle/>
          <a:p>
            <a:pPr algn="r">
              <a:spcAft>
                <a:spcPts val="300"/>
              </a:spcAft>
            </a:pPr>
            <a:r>
              <a:rPr sz="950">
                <a:solidFill>
                  <a:srgbClr val="004F9F"/>
                </a:solidFill>
                <a:latin typeface="에이투지체 6 SemiBold"/>
                <a:ea typeface="에이투지체 6 SemiBold"/>
              </a:rPr>
              <a:t>주 단위로 01 → 04를 반복합니다</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15"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6"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7"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28</a:t>
            </a:r>
          </a:p>
        </p:txBody>
      </p:sp>
      <p:sp>
        <p:nvSpPr>
          <p:cNvPr id="2" name="text-38">
            <a:extLst>
              <a:ext uri="{FF2B5EF4-FFF2-40B4-BE49-F238E27FC236}">
                <a16:creationId xmlns:a16="http://schemas.microsoft.com/office/drawing/2014/main" id="{60467BD0-79B2-46A8-8057-2FB23B711CD1}"/>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침구업체 B</a:t>
            </a:r>
            <a:r>
              <a:rPr lang="ko-KR" sz="1900" dirty="0">
                <a:solidFill>
                  <a:srgbClr val="222222"/>
                </a:solidFill>
                <a:latin typeface="에이투지체 8 ExtraBold"/>
                <a:ea typeface="에이투지체 8 ExtraBold"/>
                <a:cs typeface="에이투지체 8 ExtraBold"/>
              </a:rPr>
              <a:t>는 고효율 지면을 분리해</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매출 규모와 ROAS를 함께 개선했습니다</a:t>
            </a:r>
            <a:endParaRPr lang="ko-KR" sz="1900" dirty="0"/>
          </a:p>
        </p:txBody>
      </p:sp>
      <p:sp>
        <p:nvSpPr>
          <p:cNvPr id="3" name="text-39">
            <a:extLst>
              <a:ext uri="{FF2B5EF4-FFF2-40B4-BE49-F238E27FC236}">
                <a16:creationId xmlns:a16="http://schemas.microsoft.com/office/drawing/2014/main" id="{8B6785B9-936E-4DF4-9E49-0AFA16A3C71F}"/>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쇼핑검색 성공사례 ① 지면별 분리</a:t>
            </a:r>
            <a:endParaRPr lang="ko-KR" sz="1100" dirty="0"/>
          </a:p>
        </p:txBody>
      </p:sp>
      <p:sp>
        <p:nvSpPr>
          <p:cNvPr id="4" name="text-40">
            <a:extLst>
              <a:ext uri="{FF2B5EF4-FFF2-40B4-BE49-F238E27FC236}">
                <a16:creationId xmlns:a16="http://schemas.microsoft.com/office/drawing/2014/main" id="{DC70B0E1-00EF-46B1-A7B8-FCB8A3EA9C88}"/>
              </a:ext>
            </a:extLst>
          </p:cNvPr>
          <p:cNvSpPr>
            <a:spLocks noGrp="1"/>
          </p:cNvSpPr>
          <p:nvPr/>
        </p:nvSpPr>
        <p:spPr>
          <a:xfrm>
            <a:off x="552450" y="2076450"/>
            <a:ext cx="6000750"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지면별 ROAS  5~9월</a:t>
            </a:r>
          </a:p>
        </p:txBody>
      </p:sp>
      <p:graphicFrame>
        <p:nvGraphicFramePr>
          <p:cNvPr id="5" name="Chart">
            <a:extLst>
              <a:ext uri="{FF2B5EF4-FFF2-40B4-BE49-F238E27FC236}">
                <a16:creationId xmlns:a16="http://schemas.microsoft.com/office/drawing/2014/main" id="{E540A25F-33E9-49B5-8605-C97824A80E9C}"/>
              </a:ext>
            </a:extLst>
          </p:cNvPr>
          <p:cNvGraphicFramePr/>
          <p:nvPr/>
        </p:nvGraphicFramePr>
        <p:xfrm>
          <a:off x="571500" y="2543175"/>
          <a:ext cx="6172200" cy="2447925"/>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41">
            <a:extLst>
              <a:ext uri="{FF2B5EF4-FFF2-40B4-BE49-F238E27FC236}">
                <a16:creationId xmlns:a16="http://schemas.microsoft.com/office/drawing/2014/main" id="{FB5596CA-8358-425A-91DA-08CABA191C2B}"/>
              </a:ext>
            </a:extLst>
          </p:cNvPr>
          <p:cNvSpPr>
            <a:spLocks noGrp="1"/>
          </p:cNvSpPr>
          <p:nvPr/>
        </p:nvSpPr>
        <p:spPr>
          <a:xfrm>
            <a:off x="7534275" y="2247900"/>
            <a:ext cx="3810000" cy="628650"/>
          </a:xfrm>
          <a:prstGeom prst="rect">
            <a:avLst/>
          </a:prstGeom>
          <a:noFill/>
          <a:ln w="0">
            <a:noFill/>
          </a:ln>
        </p:spPr>
        <p:txBody>
          <a:bodyPr wrap="square" lIns="0" tIns="0" rIns="0" bIns="0" anchor="ctr">
            <a:noAutofit/>
          </a:bodyPr>
          <a:lstStyle>
            <a:defPPr algn="l">
              <a:defRPr sz="3300">
                <a:solidFill>
                  <a:srgbClr val="004F9F"/>
                </a:solidFill>
                <a:latin typeface="에이투지체 8 ExtraBold"/>
                <a:ea typeface="에이투지체 8 ExtraBold"/>
                <a:cs typeface="에이투지체 8 ExtraBold"/>
              </a:defRPr>
            </a:defPPr>
          </a:lstStyle>
          <a:p>
            <a:pPr algn="l">
              <a:defRPr sz="3300">
                <a:solidFill>
                  <a:srgbClr val="004F9F"/>
                </a:solidFill>
                <a:latin typeface="에이투지체 8 ExtraBold"/>
                <a:ea typeface="에이투지체 8 ExtraBold"/>
                <a:cs typeface="에이투지체 8 ExtraBold"/>
              </a:defRPr>
            </a:pPr>
            <a:r>
              <a:rPr sz="3300">
                <a:solidFill>
                  <a:srgbClr val="004F9F"/>
                </a:solidFill>
                <a:latin typeface="에이투지체 8 ExtraBold"/>
                <a:ea typeface="에이투지체 8 ExtraBold"/>
                <a:cs typeface="에이투지체 8 ExtraBold"/>
              </a:rPr>
              <a:t>약 3.3배</a:t>
            </a:r>
          </a:p>
        </p:txBody>
      </p:sp>
      <p:sp>
        <p:nvSpPr>
          <p:cNvPr id="7" name="text-42">
            <a:extLst>
              <a:ext uri="{FF2B5EF4-FFF2-40B4-BE49-F238E27FC236}">
                <a16:creationId xmlns:a16="http://schemas.microsoft.com/office/drawing/2014/main" id="{AF73321D-F6C7-40E7-A462-841D3EF151C1}"/>
              </a:ext>
            </a:extLst>
          </p:cNvPr>
          <p:cNvSpPr>
            <a:spLocks noGrp="1"/>
          </p:cNvSpPr>
          <p:nvPr/>
        </p:nvSpPr>
        <p:spPr>
          <a:xfrm>
            <a:off x="7534275" y="2886075"/>
            <a:ext cx="3810000" cy="400050"/>
          </a:xfrm>
          <a:prstGeom prst="rect">
            <a:avLst/>
          </a:prstGeom>
          <a:noFill/>
          <a:ln w="0">
            <a:noFill/>
          </a:ln>
        </p:spPr>
        <p:txBody>
          <a:bodyPr wrap="square" lIns="0" tIns="0" rIns="0" bIns="0" anchor="ctr">
            <a:noAutofit/>
          </a:bodyPr>
          <a:lstStyle>
            <a:defPPr algn="l">
              <a:defRPr sz="1305">
                <a:solidFill>
                  <a:srgbClr val="5C5C5C"/>
                </a:solidFill>
                <a:latin typeface="에이투지체 4 Regular"/>
                <a:ea typeface="에이투지체 4 Regular"/>
                <a:cs typeface="에이투지체 4 Regular"/>
              </a:defRPr>
            </a:defPPr>
          </a:lstStyle>
          <a:p>
            <a:pPr algn="l">
              <a:defRPr sz="1305">
                <a:solidFill>
                  <a:srgbClr val="5C5C5C"/>
                </a:solidFill>
                <a:latin typeface="에이투지체 4 Regular"/>
                <a:ea typeface="에이투지체 4 Regular"/>
                <a:cs typeface="에이투지체 4 Regular"/>
              </a:defRPr>
            </a:pPr>
            <a:r>
              <a:rPr sz="1305">
                <a:solidFill>
                  <a:srgbClr val="5C5C5C"/>
                </a:solidFill>
                <a:latin typeface="에이투지체 4 Regular"/>
                <a:ea typeface="에이투지체 4 Regular"/>
                <a:cs typeface="에이투지체 4 Regular"/>
              </a:rPr>
              <a:t>전년 대비 매출 규모</a:t>
            </a:r>
          </a:p>
        </p:txBody>
      </p:sp>
      <p:sp>
        <p:nvSpPr>
          <p:cNvPr id="8" name="text-43">
            <a:extLst>
              <a:ext uri="{FF2B5EF4-FFF2-40B4-BE49-F238E27FC236}">
                <a16:creationId xmlns:a16="http://schemas.microsoft.com/office/drawing/2014/main" id="{F5311EDD-16E3-47E9-8EAC-FF3387039524}"/>
              </a:ext>
            </a:extLst>
          </p:cNvPr>
          <p:cNvSpPr>
            <a:spLocks noGrp="1"/>
          </p:cNvSpPr>
          <p:nvPr/>
        </p:nvSpPr>
        <p:spPr>
          <a:xfrm>
            <a:off x="7534275" y="3448050"/>
            <a:ext cx="3819525" cy="514350"/>
          </a:xfrm>
          <a:prstGeom prst="rect">
            <a:avLst/>
          </a:prstGeom>
          <a:noFill/>
          <a:ln w="0">
            <a:noFill/>
          </a:ln>
        </p:spPr>
        <p:txBody>
          <a:bodyPr wrap="square" lIns="0" tIns="0" rIns="0" bIns="0" anchor="ctr">
            <a:noAutofit/>
          </a:bodyPr>
          <a:lstStyle>
            <a:defPPr algn="l">
              <a:defRPr sz="2400">
                <a:solidFill>
                  <a:srgbClr val="004F9F"/>
                </a:solidFill>
                <a:latin typeface="에이투지체 8 ExtraBold"/>
                <a:ea typeface="에이투지체 8 ExtraBold"/>
                <a:cs typeface="에이투지체 8 ExtraBold"/>
              </a:defRPr>
            </a:defPPr>
          </a:lstStyle>
          <a:p>
            <a:pPr algn="l">
              <a:defRPr sz="2400">
                <a:solidFill>
                  <a:srgbClr val="004F9F"/>
                </a:solidFill>
                <a:latin typeface="에이투지체 8 ExtraBold"/>
                <a:ea typeface="에이투지체 8 ExtraBold"/>
                <a:cs typeface="에이투지체 8 ExtraBold"/>
              </a:defRPr>
            </a:pPr>
            <a:r>
              <a:rPr sz="2400">
                <a:solidFill>
                  <a:srgbClr val="004F9F"/>
                </a:solidFill>
                <a:latin typeface="에이투지체 8 ExtraBold"/>
                <a:ea typeface="에이투지체 8 ExtraBold"/>
                <a:cs typeface="에이투지체 8 ExtraBold"/>
              </a:rPr>
              <a:t>292%에서 321%</a:t>
            </a:r>
          </a:p>
        </p:txBody>
      </p:sp>
      <p:sp>
        <p:nvSpPr>
          <p:cNvPr id="9" name="text-44">
            <a:extLst>
              <a:ext uri="{FF2B5EF4-FFF2-40B4-BE49-F238E27FC236}">
                <a16:creationId xmlns:a16="http://schemas.microsoft.com/office/drawing/2014/main" id="{089E3C22-6042-47F3-BA01-6B2E079854D1}"/>
              </a:ext>
            </a:extLst>
          </p:cNvPr>
          <p:cNvSpPr>
            <a:spLocks noGrp="1"/>
          </p:cNvSpPr>
          <p:nvPr/>
        </p:nvSpPr>
        <p:spPr>
          <a:xfrm>
            <a:off x="7534275" y="3981450"/>
            <a:ext cx="3810000" cy="333375"/>
          </a:xfrm>
          <a:prstGeom prst="rect">
            <a:avLst/>
          </a:prstGeom>
          <a:noFill/>
          <a:ln w="0">
            <a:noFill/>
          </a:ln>
        </p:spPr>
        <p:txBody>
          <a:bodyPr wrap="square" lIns="0" tIns="0" rIns="0" bIns="0" anchor="ctr">
            <a:noAutofit/>
          </a:bodyPr>
          <a:lstStyle>
            <a:defPPr algn="l">
              <a:defRPr sz="1305">
                <a:solidFill>
                  <a:srgbClr val="5C5C5C"/>
                </a:solidFill>
                <a:latin typeface="에이투지체 4 Regular"/>
                <a:ea typeface="에이투지체 4 Regular"/>
                <a:cs typeface="에이투지체 4 Regular"/>
              </a:defRPr>
            </a:defPPr>
          </a:lstStyle>
          <a:p>
            <a:pPr algn="l">
              <a:defRPr sz="1305">
                <a:solidFill>
                  <a:srgbClr val="5C5C5C"/>
                </a:solidFill>
                <a:latin typeface="에이투지체 4 Regular"/>
                <a:ea typeface="에이투지체 4 Regular"/>
                <a:cs typeface="에이투지체 4 Regular"/>
              </a:defRPr>
            </a:pPr>
            <a:r>
              <a:rPr sz="1305">
                <a:solidFill>
                  <a:srgbClr val="5C5C5C"/>
                </a:solidFill>
                <a:latin typeface="에이투지체 4 Regular"/>
                <a:ea typeface="에이투지체 4 Regular"/>
                <a:cs typeface="에이투지체 4 Regular"/>
              </a:rPr>
              <a:t>전년 대비 ROAS 개선</a:t>
            </a:r>
          </a:p>
        </p:txBody>
      </p:sp>
      <p:sp>
        <p:nvSpPr>
          <p:cNvPr id="10" name="text-45">
            <a:extLst>
              <a:ext uri="{FF2B5EF4-FFF2-40B4-BE49-F238E27FC236}">
                <a16:creationId xmlns:a16="http://schemas.microsoft.com/office/drawing/2014/main" id="{A38F5DDF-006E-49C2-B16A-46BEF753459F}"/>
              </a:ext>
            </a:extLst>
          </p:cNvPr>
          <p:cNvSpPr>
            <a:spLocks noGrp="1"/>
          </p:cNvSpPr>
          <p:nvPr/>
        </p:nvSpPr>
        <p:spPr>
          <a:xfrm>
            <a:off x="7534275" y="4552950"/>
            <a:ext cx="3810000" cy="628650"/>
          </a:xfrm>
          <a:prstGeom prst="rect">
            <a:avLst/>
          </a:prstGeom>
          <a:noFill/>
          <a:ln w="0">
            <a:noFill/>
          </a:ln>
        </p:spPr>
        <p:txBody>
          <a:bodyPr wrap="square" lIns="0" tIns="0" rIns="0" bIns="0" anchor="ctr">
            <a:noAutofit/>
          </a:bodyPr>
          <a:lstStyle>
            <a:defPPr algn="l">
              <a:defRPr sz="1500">
                <a:solidFill>
                  <a:srgbClr val="222222"/>
                </a:solidFill>
                <a:latin typeface="에이투지체 6 SemiBold"/>
                <a:ea typeface="에이투지체 6 SemiBold"/>
                <a:cs typeface="에이투지체 6 SemiBold"/>
              </a:defRPr>
            </a:defPPr>
          </a:lstStyle>
          <a:p>
            <a:pPr algn="l">
              <a:defRPr sz="1500">
                <a:solidFill>
                  <a:srgbClr val="222222"/>
                </a:solidFill>
                <a:latin typeface="에이투지체 6 SemiBold"/>
                <a:ea typeface="에이투지체 6 SemiBold"/>
                <a:cs typeface="에이투지체 6 SemiBold"/>
              </a:defRPr>
            </a:pPr>
            <a:r>
              <a:rPr sz="1500">
                <a:solidFill>
                  <a:srgbClr val="222222"/>
                </a:solidFill>
                <a:latin typeface="에이투지체 6 SemiBold"/>
                <a:ea typeface="에이투지체 6 SemiBold"/>
                <a:cs typeface="에이투지체 6 SemiBold"/>
              </a:rPr>
              <a:t>9월 스토어 지면 694%</a:t>
            </a:r>
          </a:p>
          <a:p>
            <a:pPr algn="l">
              <a:defRPr sz="1500">
                <a:solidFill>
                  <a:srgbClr val="222222"/>
                </a:solidFill>
                <a:latin typeface="에이투지체 6 SemiBold"/>
                <a:ea typeface="에이투지체 6 SemiBold"/>
                <a:cs typeface="에이투지체 6 SemiBold"/>
              </a:defRPr>
            </a:pPr>
            <a:r>
              <a:rPr sz="1500">
                <a:solidFill>
                  <a:srgbClr val="222222"/>
                </a:solidFill>
                <a:latin typeface="에이투지체 6 SemiBold"/>
                <a:ea typeface="에이투지체 6 SemiBold"/>
                <a:cs typeface="에이투지체 6 SemiBold"/>
              </a:rPr>
              <a:t>9월 이외 지면 250%</a:t>
            </a:r>
          </a:p>
        </p:txBody>
      </p:sp>
      <p:sp>
        <p:nvSpPr>
          <p:cNvPr id="11" name="node-46">
            <a:extLst>
              <a:ext uri="{FF2B5EF4-FFF2-40B4-BE49-F238E27FC236}">
                <a16:creationId xmlns:a16="http://schemas.microsoft.com/office/drawing/2014/main" id="{A85306AA-A1D8-41DF-A2E2-35CEC3D77B98}"/>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12" name="text-47">
            <a:extLst>
              <a:ext uri="{FF2B5EF4-FFF2-40B4-BE49-F238E27FC236}">
                <a16:creationId xmlns:a16="http://schemas.microsoft.com/office/drawing/2014/main" id="{12CDF685-08F5-459E-A270-0BA513EEC629}"/>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두드림 적용  지면별 효율 확인, 고효율 지면 전용 그룹 운영, 중복 지면 제외</a:t>
            </a:r>
          </a:p>
        </p:txBody>
      </p:sp>
      <p:sp>
        <p:nvSpPr>
          <p:cNvPr id="13" name="text-48">
            <a:extLst>
              <a:ext uri="{FF2B5EF4-FFF2-40B4-BE49-F238E27FC236}">
                <a16:creationId xmlns:a16="http://schemas.microsoft.com/office/drawing/2014/main" id="{7F827569-A058-47A3-93E1-5F14DC48AD4D}"/>
              </a:ext>
            </a:extLst>
          </p:cNvPr>
          <p:cNvSpPr>
            <a:spLocks noGrp="1"/>
          </p:cNvSpPr>
          <p:nvPr/>
        </p:nvSpPr>
        <p:spPr>
          <a:xfrm>
            <a:off x="552450" y="6076950"/>
            <a:ext cx="11049000" cy="266700"/>
          </a:xfrm>
          <a:prstGeom prst="rect">
            <a:avLst/>
          </a:prstGeom>
          <a:noFill/>
          <a:ln w="0">
            <a:noFill/>
          </a:ln>
        </p:spPr>
        <p:txBody>
          <a:bodyPr wrap="square" lIns="0" tIns="0" rIns="0" bIns="0" anchor="ctr">
            <a:noAutofit/>
          </a:bodyPr>
          <a:lstStyle>
            <a:defPPr algn="l">
              <a:defRPr sz="878">
                <a:solidFill>
                  <a:srgbClr val="5C5C5C"/>
                </a:solidFill>
                <a:latin typeface="에이투지체 4 Regular"/>
                <a:ea typeface="에이투지체 4 Regular"/>
                <a:cs typeface="에이투지체 4 Regular"/>
              </a:defRPr>
            </a:defPPr>
          </a:lstStyle>
          <a:p>
            <a:pPr algn="l">
              <a:defRPr sz="878">
                <a:solidFill>
                  <a:srgbClr val="5C5C5C"/>
                </a:solidFill>
                <a:latin typeface="에이투지체 4 Regular"/>
                <a:ea typeface="에이투지체 4 Regular"/>
                <a:cs typeface="에이투지체 4 Regular"/>
              </a:defRPr>
            </a:pPr>
            <a:r>
              <a:rPr sz="878">
                <a:solidFill>
                  <a:srgbClr val="5C5C5C"/>
                </a:solidFill>
                <a:latin typeface="에이투지체 4 Regular"/>
                <a:ea typeface="에이투지체 4 Regular"/>
                <a:cs typeface="에이투지체 4 Regular"/>
              </a:rPr>
              <a:t>지면별 추이와 전년 대비 성과는 비교 기간이 다릅니다. 수치는 제공 성공사례 기준</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12"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3"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4" name="PGNO"/>
          <p:cNvSpPr txBox="1"/>
          <p:nvPr/>
        </p:nvSpPr>
        <p:spPr>
          <a:xfrm>
            <a:off x="11049000" y="6473952"/>
            <a:ext cx="609600" cy="274320"/>
          </a:xfrm>
          <a:prstGeom prst="rect">
            <a:avLst/>
          </a:prstGeom>
          <a:noFill/>
        </p:spPr>
        <p:txBody>
          <a:bodyPr wrap="square" lIns="0" tIns="0" rIns="0" bIns="0" anchor="t">
            <a:spAutoFit/>
          </a:bodyPr>
          <a:lstStyle/>
          <a:p>
            <a:pPr algn="r"/>
            <a:r>
              <a:rPr sz="800">
                <a:solidFill>
                  <a:srgbClr val="222222"/>
                </a:solidFill>
                <a:latin typeface="에이투지체 6 SemiBold"/>
              </a:rPr>
              <a:t>29</a:t>
            </a:r>
          </a:p>
        </p:txBody>
      </p:sp>
      <p:sp>
        <p:nvSpPr>
          <p:cNvPr id="2" name="text-49">
            <a:extLst>
              <a:ext uri="{FF2B5EF4-FFF2-40B4-BE49-F238E27FC236}">
                <a16:creationId xmlns:a16="http://schemas.microsoft.com/office/drawing/2014/main" id="{7DD7FA59-DF58-43C6-86E2-8B46C39E015E}"/>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이너웨어 업체 C</a:t>
            </a:r>
            <a:r>
              <a:rPr lang="ko-KR" sz="1900" dirty="0">
                <a:solidFill>
                  <a:srgbClr val="222222"/>
                </a:solidFill>
                <a:latin typeface="에이투지체 8 ExtraBold"/>
                <a:ea typeface="에이투지체 8 ExtraBold"/>
                <a:cs typeface="에이투지체 8 ExtraBold"/>
              </a:rPr>
              <a:t>는 검색어별 담당 그룹을 정해</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예산과 입찰을 관리했습니다</a:t>
            </a:r>
            <a:endParaRPr lang="ko-KR" sz="1900" dirty="0"/>
          </a:p>
        </p:txBody>
      </p:sp>
      <p:sp>
        <p:nvSpPr>
          <p:cNvPr id="3" name="text-50">
            <a:extLst>
              <a:ext uri="{FF2B5EF4-FFF2-40B4-BE49-F238E27FC236}">
                <a16:creationId xmlns:a16="http://schemas.microsoft.com/office/drawing/2014/main" id="{932A16F6-4941-45F7-8D2B-CD910AAAEF49}"/>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쇼핑검색 성공사례 ② 검색어 담당 그룹</a:t>
            </a:r>
            <a:endParaRPr lang="ko-KR" sz="1100" dirty="0"/>
          </a:p>
        </p:txBody>
      </p:sp>
      <p:graphicFrame>
        <p:nvGraphicFramePr>
          <p:cNvPr id="4" name="표 3">
            <a:extLst>
              <a:ext uri="{FF2B5EF4-FFF2-40B4-BE49-F238E27FC236}">
                <a16:creationId xmlns:a16="http://schemas.microsoft.com/office/drawing/2014/main" id="{22B979CF-402C-45D6-B415-E93A80921720}"/>
              </a:ext>
            </a:extLst>
          </p:cNvPr>
          <p:cNvGraphicFramePr/>
          <p:nvPr/>
        </p:nvGraphicFramePr>
        <p:xfrm>
          <a:off x="552450" y="2257425"/>
          <a:ext cx="5867400" cy="2333624"/>
        </p:xfrm>
        <a:graphic>
          <a:graphicData uri="http://schemas.openxmlformats.org/drawingml/2006/table">
            <a:tbl>
              <a:tblPr/>
              <a:tblGrid>
                <a:gridCol w="2933700">
                  <a:extLst>
                    <a:ext uri="{9D8B030D-6E8A-4147-A177-3AD203B41FA5}">
                      <a16:colId xmlns:a16="http://schemas.microsoft.com/office/drawing/2014/main" val="20000"/>
                    </a:ext>
                  </a:extLst>
                </a:gridCol>
                <a:gridCol w="1762125">
                  <a:extLst>
                    <a:ext uri="{9D8B030D-6E8A-4147-A177-3AD203B41FA5}">
                      <a16:colId xmlns:a16="http://schemas.microsoft.com/office/drawing/2014/main" val="20001"/>
                    </a:ext>
                  </a:extLst>
                </a:gridCol>
                <a:gridCol w="1171575">
                  <a:extLst>
                    <a:ext uri="{9D8B030D-6E8A-4147-A177-3AD203B41FA5}">
                      <a16:colId xmlns:a16="http://schemas.microsoft.com/office/drawing/2014/main" val="20002"/>
                    </a:ext>
                  </a:extLst>
                </a:gridCol>
              </a:tblGrid>
              <a:tr h="583406">
                <a:tc>
                  <a:txBody>
                    <a:bodyPr/>
                    <a:lstStyle/>
                    <a:p>
                      <a:pPr algn="l"/>
                      <a:r>
                        <a:rPr sz="1275">
                          <a:solidFill>
                            <a:srgbClr val="FFFFFF"/>
                          </a:solidFill>
                          <a:latin typeface="에이투지체 6 SemiBold"/>
                          <a:ea typeface="에이투지체 6 SemiBold"/>
                          <a:cs typeface="에이투지체 6 SemiBold"/>
                        </a:rPr>
                        <a:t>검색어</a:t>
                      </a:r>
                    </a:p>
                  </a:txBody>
                  <a:tcPr anchor="ctr">
                    <a:lnL w="19050">
                      <a:solidFill>
                        <a:srgbClr val="FFFFFF"/>
                      </a:solidFill>
                    </a:lnL>
                    <a:lnR w="19050">
                      <a:solidFill>
                        <a:srgbClr val="FFFFFF"/>
                      </a:solidFill>
                    </a:lnR>
                    <a:lnT w="19050">
                      <a:solidFill>
                        <a:srgbClr val="FFFFFF"/>
                      </a:solidFill>
                    </a:lnT>
                    <a:lnB w="19050">
                      <a:solidFill>
                        <a:srgbClr val="FFFFFF"/>
                      </a:solidFill>
                    </a:lnB>
                    <a:solidFill>
                      <a:srgbClr val="0E3A72"/>
                    </a:solidFill>
                  </a:tcPr>
                </a:tc>
                <a:tc>
                  <a:txBody>
                    <a:bodyPr/>
                    <a:lstStyle/>
                    <a:p>
                      <a:pPr algn="ctr"/>
                      <a:r>
                        <a:rPr sz="1275">
                          <a:solidFill>
                            <a:srgbClr val="FFFFFF"/>
                          </a:solidFill>
                          <a:latin typeface="에이투지체 6 SemiBold"/>
                          <a:ea typeface="에이투지체 6 SemiBold"/>
                          <a:cs typeface="에이투지체 6 SemiBold"/>
                        </a:rPr>
                        <a:t>담당 그룹 비용 비중</a:t>
                      </a:r>
                    </a:p>
                  </a:txBody>
                  <a:tcPr anchor="ctr">
                    <a:lnL w="19050" cap="flat" cmpd="sng" algn="ctr">
                      <a:solidFill>
                        <a:srgbClr val="FFFFFF"/>
                      </a:solidFill>
                      <a:prstDash val="solid"/>
                      <a:round/>
                      <a:headEnd type="none" w="med" len="med"/>
                      <a:tailEnd type="none" w="med" len="med"/>
                    </a:lnL>
                    <a:lnR w="19050">
                      <a:solidFill>
                        <a:srgbClr val="FFFFFF"/>
                      </a:solidFill>
                    </a:lnR>
                    <a:lnT w="19050">
                      <a:solidFill>
                        <a:srgbClr val="FFFFFF"/>
                      </a:solidFill>
                    </a:lnT>
                    <a:lnB w="19050">
                      <a:solidFill>
                        <a:srgbClr val="FFFFFF"/>
                      </a:solidFill>
                    </a:lnB>
                    <a:solidFill>
                      <a:srgbClr val="0E3A72"/>
                    </a:solidFill>
                  </a:tcPr>
                </a:tc>
                <a:tc>
                  <a:txBody>
                    <a:bodyPr/>
                    <a:lstStyle/>
                    <a:p>
                      <a:pPr algn="ctr"/>
                      <a:r>
                        <a:rPr sz="1275">
                          <a:solidFill>
                            <a:srgbClr val="FFFFFF"/>
                          </a:solidFill>
                          <a:latin typeface="에이투지체 6 SemiBold"/>
                          <a:ea typeface="에이투지체 6 SemiBold"/>
                          <a:cs typeface="에이투지체 6 SemiBold"/>
                        </a:rPr>
                        <a:t>ROAS</a:t>
                      </a:r>
                    </a:p>
                  </a:txBody>
                  <a:tcPr anchor="ctr">
                    <a:lnL w="19050" cap="flat" cmpd="sng" algn="ctr">
                      <a:solidFill>
                        <a:srgbClr val="FFFFFF"/>
                      </a:solidFill>
                      <a:prstDash val="solid"/>
                      <a:round/>
                      <a:headEnd type="none" w="med" len="med"/>
                      <a:tailEnd type="none" w="med" len="med"/>
                    </a:lnL>
                    <a:lnR w="19050">
                      <a:solidFill>
                        <a:srgbClr val="FFFFFF"/>
                      </a:solidFill>
                    </a:lnR>
                    <a:lnT w="19050">
                      <a:solidFill>
                        <a:srgbClr val="FFFFFF"/>
                      </a:solidFill>
                    </a:lnT>
                    <a:lnB w="19050">
                      <a:solidFill>
                        <a:srgbClr val="FFFFFF"/>
                      </a:solidFill>
                    </a:lnB>
                    <a:solidFill>
                      <a:srgbClr val="0E3A72"/>
                    </a:solidFill>
                  </a:tcPr>
                </a:tc>
                <a:extLst>
                  <a:ext uri="{0D108BD9-81ED-4DB2-BD59-A6C34878D82A}">
                    <a16:rowId xmlns:a16="http://schemas.microsoft.com/office/drawing/2014/main" val="10000"/>
                  </a:ext>
                </a:extLst>
              </a:tr>
              <a:tr h="583406">
                <a:tc>
                  <a:txBody>
                    <a:bodyPr/>
                    <a:lstStyle/>
                    <a:p>
                      <a:pPr algn="l"/>
                      <a:r>
                        <a:rPr sz="1275">
                          <a:solidFill>
                            <a:srgbClr val="222222"/>
                          </a:solidFill>
                          <a:latin typeface="에이투지체 4 Regular"/>
                          <a:ea typeface="에이투지체 4 Regular"/>
                          <a:cs typeface="에이투지체 4 Regular"/>
                        </a:rPr>
                        <a:t>스포츠브라</a:t>
                      </a:r>
                    </a:p>
                  </a:txBody>
                  <a:tcPr anchor="ctr">
                    <a:lnL w="19050">
                      <a:solidFill>
                        <a:srgbClr val="FFFFFF"/>
                      </a:solidFill>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5F5F5"/>
                    </a:solidFill>
                  </a:tcPr>
                </a:tc>
                <a:tc>
                  <a:txBody>
                    <a:bodyPr/>
                    <a:lstStyle/>
                    <a:p>
                      <a:pPr algn="ctr"/>
                      <a:r>
                        <a:rPr sz="1275">
                          <a:solidFill>
                            <a:srgbClr val="222222"/>
                          </a:solidFill>
                          <a:latin typeface="에이투지체 4 Regular"/>
                          <a:ea typeface="에이투지체 4 Regular"/>
                          <a:cs typeface="에이투지체 4 Regular"/>
                        </a:rPr>
                        <a:t>100%</a:t>
                      </a:r>
                    </a:p>
                  </a:txBody>
                  <a:tcPr anchor="ctr">
                    <a:lnL w="19050" cap="flat" cmpd="sng" algn="ctr">
                      <a:solidFill>
                        <a:srgbClr val="FFFFFF"/>
                      </a:solidFill>
                      <a:prstDash val="solid"/>
                      <a:round/>
                      <a:headEnd type="none" w="med" len="med"/>
                      <a:tailEnd type="none" w="med" len="med"/>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5F5F5"/>
                    </a:solidFill>
                  </a:tcPr>
                </a:tc>
                <a:tc>
                  <a:txBody>
                    <a:bodyPr/>
                    <a:lstStyle/>
                    <a:p>
                      <a:pPr algn="ctr"/>
                      <a:r>
                        <a:rPr sz="1275">
                          <a:solidFill>
                            <a:srgbClr val="222222"/>
                          </a:solidFill>
                          <a:latin typeface="에이투지체 4 Regular"/>
                          <a:ea typeface="에이투지체 4 Regular"/>
                          <a:cs typeface="에이투지체 4 Regular"/>
                        </a:rPr>
                        <a:t>560%</a:t>
                      </a:r>
                    </a:p>
                  </a:txBody>
                  <a:tcPr anchor="ctr">
                    <a:lnL w="19050" cap="flat" cmpd="sng" algn="ctr">
                      <a:solidFill>
                        <a:srgbClr val="FFFFFF"/>
                      </a:solidFill>
                      <a:prstDash val="solid"/>
                      <a:round/>
                      <a:headEnd type="none" w="med" len="med"/>
                      <a:tailEnd type="none" w="med" len="med"/>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5F5F5"/>
                    </a:solidFill>
                  </a:tcPr>
                </a:tc>
                <a:extLst>
                  <a:ext uri="{0D108BD9-81ED-4DB2-BD59-A6C34878D82A}">
                    <a16:rowId xmlns:a16="http://schemas.microsoft.com/office/drawing/2014/main" val="10001"/>
                  </a:ext>
                </a:extLst>
              </a:tr>
              <a:tr h="583406">
                <a:tc>
                  <a:txBody>
                    <a:bodyPr/>
                    <a:lstStyle/>
                    <a:p>
                      <a:pPr algn="l"/>
                      <a:r>
                        <a:rPr sz="1275">
                          <a:solidFill>
                            <a:srgbClr val="222222"/>
                          </a:solidFill>
                          <a:latin typeface="에이투지체 4 Regular"/>
                          <a:ea typeface="에이투지체 4 Regular"/>
                          <a:cs typeface="에이투지체 4 Regular"/>
                        </a:rPr>
                        <a:t>빅사이즈스포츠브라</a:t>
                      </a:r>
                    </a:p>
                  </a:txBody>
                  <a:tcPr anchor="ctr">
                    <a:lnL w="19050">
                      <a:solidFill>
                        <a:srgbClr val="FFFFFF"/>
                      </a:solidFill>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FFFFF"/>
                    </a:solidFill>
                  </a:tcPr>
                </a:tc>
                <a:tc>
                  <a:txBody>
                    <a:bodyPr/>
                    <a:lstStyle/>
                    <a:p>
                      <a:pPr algn="ctr"/>
                      <a:r>
                        <a:rPr sz="1275">
                          <a:solidFill>
                            <a:srgbClr val="222222"/>
                          </a:solidFill>
                          <a:latin typeface="에이투지체 4 Regular"/>
                          <a:ea typeface="에이투지체 4 Regular"/>
                          <a:cs typeface="에이투지체 4 Regular"/>
                        </a:rPr>
                        <a:t>100%</a:t>
                      </a:r>
                    </a:p>
                  </a:txBody>
                  <a:tcPr anchor="ctr">
                    <a:lnL w="19050" cap="flat" cmpd="sng" algn="ctr">
                      <a:solidFill>
                        <a:srgbClr val="FFFFFF"/>
                      </a:solidFill>
                      <a:prstDash val="solid"/>
                      <a:round/>
                      <a:headEnd type="none" w="med" len="med"/>
                      <a:tailEnd type="none" w="med" len="med"/>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FFFFF"/>
                    </a:solidFill>
                  </a:tcPr>
                </a:tc>
                <a:tc>
                  <a:txBody>
                    <a:bodyPr/>
                    <a:lstStyle/>
                    <a:p>
                      <a:pPr algn="ctr"/>
                      <a:r>
                        <a:rPr sz="1275">
                          <a:solidFill>
                            <a:srgbClr val="222222"/>
                          </a:solidFill>
                          <a:latin typeface="에이투지체 4 Regular"/>
                          <a:ea typeface="에이투지체 4 Regular"/>
                          <a:cs typeface="에이투지체 4 Regular"/>
                        </a:rPr>
                        <a:t>592%</a:t>
                      </a:r>
                    </a:p>
                  </a:txBody>
                  <a:tcPr anchor="ctr">
                    <a:lnL w="19050" cap="flat" cmpd="sng" algn="ctr">
                      <a:solidFill>
                        <a:srgbClr val="FFFFFF"/>
                      </a:solidFill>
                      <a:prstDash val="solid"/>
                      <a:round/>
                      <a:headEnd type="none" w="med" len="med"/>
                      <a:tailEnd type="none" w="med" len="med"/>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FFFFF"/>
                    </a:solidFill>
                  </a:tcPr>
                </a:tc>
                <a:extLst>
                  <a:ext uri="{0D108BD9-81ED-4DB2-BD59-A6C34878D82A}">
                    <a16:rowId xmlns:a16="http://schemas.microsoft.com/office/drawing/2014/main" val="10002"/>
                  </a:ext>
                </a:extLst>
              </a:tr>
              <a:tr h="583406">
                <a:tc>
                  <a:txBody>
                    <a:bodyPr/>
                    <a:lstStyle/>
                    <a:p>
                      <a:pPr algn="l"/>
                      <a:r>
                        <a:rPr sz="1275">
                          <a:solidFill>
                            <a:srgbClr val="222222"/>
                          </a:solidFill>
                          <a:latin typeface="에이투지체 4 Regular"/>
                          <a:ea typeface="에이투지체 4 Regular"/>
                          <a:cs typeface="에이투지체 4 Regular"/>
                        </a:rPr>
                        <a:t>러닝스포츠브라</a:t>
                      </a:r>
                    </a:p>
                  </a:txBody>
                  <a:tcPr anchor="ctr">
                    <a:lnL w="19050">
                      <a:solidFill>
                        <a:srgbClr val="FFFFFF"/>
                      </a:solidFill>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5F5F5"/>
                    </a:solidFill>
                  </a:tcPr>
                </a:tc>
                <a:tc>
                  <a:txBody>
                    <a:bodyPr/>
                    <a:lstStyle/>
                    <a:p>
                      <a:pPr algn="ctr"/>
                      <a:r>
                        <a:rPr sz="1275">
                          <a:solidFill>
                            <a:srgbClr val="222222"/>
                          </a:solidFill>
                          <a:latin typeface="에이투지체 4 Regular"/>
                          <a:ea typeface="에이투지체 4 Regular"/>
                          <a:cs typeface="에이투지체 4 Regular"/>
                        </a:rPr>
                        <a:t>93.7%</a:t>
                      </a:r>
                    </a:p>
                  </a:txBody>
                  <a:tcPr anchor="ctr">
                    <a:lnL w="19050" cap="flat" cmpd="sng" algn="ctr">
                      <a:solidFill>
                        <a:srgbClr val="FFFFFF"/>
                      </a:solidFill>
                      <a:prstDash val="solid"/>
                      <a:round/>
                      <a:headEnd type="none" w="med" len="med"/>
                      <a:tailEnd type="none" w="med" len="med"/>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5F5F5"/>
                    </a:solidFill>
                  </a:tcPr>
                </a:tc>
                <a:tc>
                  <a:txBody>
                    <a:bodyPr/>
                    <a:lstStyle/>
                    <a:p>
                      <a:pPr algn="ctr"/>
                      <a:r>
                        <a:rPr sz="1275">
                          <a:solidFill>
                            <a:srgbClr val="222222"/>
                          </a:solidFill>
                          <a:latin typeface="에이투지체 4 Regular"/>
                          <a:ea typeface="에이투지체 4 Regular"/>
                          <a:cs typeface="에이투지체 4 Regular"/>
                        </a:rPr>
                        <a:t>1,196%</a:t>
                      </a:r>
                    </a:p>
                  </a:txBody>
                  <a:tcPr anchor="ctr">
                    <a:lnL w="19050" cap="flat" cmpd="sng" algn="ctr">
                      <a:solidFill>
                        <a:srgbClr val="FFFFFF"/>
                      </a:solidFill>
                      <a:prstDash val="solid"/>
                      <a:round/>
                      <a:headEnd type="none" w="med" len="med"/>
                      <a:tailEnd type="none" w="med" len="med"/>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5F5F5"/>
                    </a:solidFill>
                  </a:tcPr>
                </a:tc>
                <a:extLst>
                  <a:ext uri="{0D108BD9-81ED-4DB2-BD59-A6C34878D82A}">
                    <a16:rowId xmlns:a16="http://schemas.microsoft.com/office/drawing/2014/main" val="10003"/>
                  </a:ext>
                </a:extLst>
              </a:tr>
            </a:tbl>
          </a:graphicData>
        </a:graphic>
      </p:graphicFrame>
      <p:sp>
        <p:nvSpPr>
          <p:cNvPr id="5" name="text-51">
            <a:extLst>
              <a:ext uri="{FF2B5EF4-FFF2-40B4-BE49-F238E27FC236}">
                <a16:creationId xmlns:a16="http://schemas.microsoft.com/office/drawing/2014/main" id="{15E0031A-FE74-4F71-AE0B-8FE096C3FB3D}"/>
              </a:ext>
            </a:extLst>
          </p:cNvPr>
          <p:cNvSpPr>
            <a:spLocks noGrp="1"/>
          </p:cNvSpPr>
          <p:nvPr/>
        </p:nvSpPr>
        <p:spPr>
          <a:xfrm>
            <a:off x="7067550" y="2133600"/>
            <a:ext cx="4381500"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대표 그룹 월별 ROAS</a:t>
            </a:r>
          </a:p>
        </p:txBody>
      </p:sp>
      <p:graphicFrame>
        <p:nvGraphicFramePr>
          <p:cNvPr id="6" name="Chart">
            <a:extLst>
              <a:ext uri="{FF2B5EF4-FFF2-40B4-BE49-F238E27FC236}">
                <a16:creationId xmlns:a16="http://schemas.microsoft.com/office/drawing/2014/main" id="{2C103407-F38C-48AE-921D-E26A03F33C0E}"/>
              </a:ext>
            </a:extLst>
          </p:cNvPr>
          <p:cNvGraphicFramePr/>
          <p:nvPr/>
        </p:nvGraphicFramePr>
        <p:xfrm>
          <a:off x="7067550" y="2581275"/>
          <a:ext cx="4486275" cy="2257425"/>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52">
            <a:extLst>
              <a:ext uri="{FF2B5EF4-FFF2-40B4-BE49-F238E27FC236}">
                <a16:creationId xmlns:a16="http://schemas.microsoft.com/office/drawing/2014/main" id="{70106106-80BC-4741-B76D-12BD616E4BEC}"/>
              </a:ext>
            </a:extLst>
          </p:cNvPr>
          <p:cNvSpPr>
            <a:spLocks noGrp="1"/>
          </p:cNvSpPr>
          <p:nvPr/>
        </p:nvSpPr>
        <p:spPr>
          <a:xfrm>
            <a:off x="552450" y="4848225"/>
            <a:ext cx="10839450" cy="552450"/>
          </a:xfrm>
          <a:prstGeom prst="rect">
            <a:avLst/>
          </a:prstGeom>
          <a:noFill/>
          <a:ln w="0">
            <a:noFill/>
          </a:ln>
        </p:spPr>
        <p:txBody>
          <a:bodyPr wrap="square" lIns="0" tIns="0" rIns="0" bIns="0" anchor="ctr">
            <a:noAutofit/>
          </a:bodyPr>
          <a:lstStyle>
            <a:defPPr algn="l">
              <a:defRPr sz="1463">
                <a:solidFill>
                  <a:srgbClr val="222222"/>
                </a:solidFill>
                <a:latin typeface="에이투지체 6 SemiBold"/>
                <a:ea typeface="에이투지체 6 SemiBold"/>
                <a:cs typeface="에이투지체 6 SemiBold"/>
              </a:defRPr>
            </a:defPPr>
          </a:lstStyle>
          <a:p>
            <a:pPr algn="l">
              <a:defRPr sz="1463">
                <a:solidFill>
                  <a:srgbClr val="222222"/>
                </a:solidFill>
                <a:latin typeface="에이투지체 6 SemiBold"/>
                <a:ea typeface="에이투지체 6 SemiBold"/>
                <a:cs typeface="에이투지체 6 SemiBold"/>
              </a:defRPr>
            </a:pPr>
            <a:r>
              <a:rPr sz="1463">
                <a:solidFill>
                  <a:srgbClr val="222222"/>
                </a:solidFill>
                <a:latin typeface="에이투지체 6 SemiBold"/>
                <a:ea typeface="에이투지체 6 SemiBold"/>
                <a:cs typeface="에이투지체 6 SemiBold"/>
              </a:rPr>
              <a:t>대표 그룹 비용 1.9배 증액에도 ROAS 560~710% 유지</a:t>
            </a:r>
          </a:p>
          <a:p>
            <a:pPr algn="l">
              <a:defRPr sz="1463">
                <a:solidFill>
                  <a:srgbClr val="222222"/>
                </a:solidFill>
                <a:latin typeface="에이투지체 6 SemiBold"/>
                <a:ea typeface="에이투지체 6 SemiBold"/>
                <a:cs typeface="에이투지체 6 SemiBold"/>
              </a:defRPr>
            </a:pPr>
            <a:r>
              <a:rPr sz="1463">
                <a:solidFill>
                  <a:srgbClr val="222222"/>
                </a:solidFill>
                <a:latin typeface="에이투지체 6 SemiBold"/>
                <a:ea typeface="에이투지체 6 SemiBold"/>
                <a:cs typeface="에이투지체 6 SemiBold"/>
              </a:rPr>
              <a:t>세부 그룹 매출은 5월 대비 7월 약 2배</a:t>
            </a:r>
          </a:p>
        </p:txBody>
      </p:sp>
      <p:sp>
        <p:nvSpPr>
          <p:cNvPr id="8" name="node-53">
            <a:extLst>
              <a:ext uri="{FF2B5EF4-FFF2-40B4-BE49-F238E27FC236}">
                <a16:creationId xmlns:a16="http://schemas.microsoft.com/office/drawing/2014/main" id="{3CEC38CE-F26D-46AB-BF84-A4C144C1E3EF}"/>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9" name="text-54">
            <a:extLst>
              <a:ext uri="{FF2B5EF4-FFF2-40B4-BE49-F238E27FC236}">
                <a16:creationId xmlns:a16="http://schemas.microsoft.com/office/drawing/2014/main" id="{940D92C1-A011-4FB5-A0D7-D02F63ADEA3D}"/>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두드림 적용  검색어별 담당 그룹을 지정하고, 다른 그룹의 중복 검색어를 일치 제외</a:t>
            </a:r>
          </a:p>
        </p:txBody>
      </p:sp>
      <p:sp>
        <p:nvSpPr>
          <p:cNvPr id="10" name="text-55">
            <a:extLst>
              <a:ext uri="{FF2B5EF4-FFF2-40B4-BE49-F238E27FC236}">
                <a16:creationId xmlns:a16="http://schemas.microsoft.com/office/drawing/2014/main" id="{3211903B-91C7-4963-9B9F-5566E42474D8}"/>
              </a:ext>
            </a:extLst>
          </p:cNvPr>
          <p:cNvSpPr>
            <a:spLocks noGrp="1"/>
          </p:cNvSpPr>
          <p:nvPr/>
        </p:nvSpPr>
        <p:spPr>
          <a:xfrm>
            <a:off x="552450" y="6076950"/>
            <a:ext cx="11049000" cy="266700"/>
          </a:xfrm>
          <a:prstGeom prst="rect">
            <a:avLst/>
          </a:prstGeom>
          <a:noFill/>
          <a:ln w="0">
            <a:noFill/>
          </a:ln>
        </p:spPr>
        <p:txBody>
          <a:bodyPr wrap="square" lIns="0" tIns="0" rIns="0" bIns="0" anchor="ctr">
            <a:noAutofit/>
          </a:bodyPr>
          <a:lstStyle>
            <a:defPPr algn="l">
              <a:defRPr sz="878">
                <a:solidFill>
                  <a:srgbClr val="5C5C5C"/>
                </a:solidFill>
                <a:latin typeface="에이투지체 4 Regular"/>
                <a:ea typeface="에이투지체 4 Regular"/>
                <a:cs typeface="에이투지체 4 Regular"/>
              </a:defRPr>
            </a:defPPr>
          </a:lstStyle>
          <a:p>
            <a:pPr algn="l">
              <a:defRPr sz="878">
                <a:solidFill>
                  <a:srgbClr val="5C5C5C"/>
                </a:solidFill>
                <a:latin typeface="에이투지체 4 Regular"/>
                <a:ea typeface="에이투지체 4 Regular"/>
                <a:cs typeface="에이투지체 4 Regular"/>
              </a:defRPr>
            </a:pPr>
            <a:r>
              <a:rPr sz="878">
                <a:solidFill>
                  <a:srgbClr val="5C5C5C"/>
                </a:solidFill>
                <a:latin typeface="에이투지체 4 Regular"/>
                <a:ea typeface="에이투지체 4 Regular"/>
                <a:cs typeface="에이투지체 4 Regular"/>
              </a:rPr>
              <a:t>비용 집중도 관리 예시 94~100%. 검색어 자체의 입찰이 아닌 광고그룹·상품 소재 입찰로 운영</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5"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6"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30</a:t>
            </a:r>
          </a:p>
        </p:txBody>
      </p:sp>
      <p:sp>
        <p:nvSpPr>
          <p:cNvPr id="2" name="text-112">
            <a:extLst>
              <a:ext uri="{FF2B5EF4-FFF2-40B4-BE49-F238E27FC236}">
                <a16:creationId xmlns:a16="http://schemas.microsoft.com/office/drawing/2014/main" id="{731378E2-3427-4369-8A28-8FAD5DF90970}"/>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GFA 예산도 키성장 FGO에 집중</a:t>
            </a:r>
            <a:r>
              <a:rPr lang="ko-KR" sz="1900" dirty="0">
                <a:solidFill>
                  <a:srgbClr val="222222"/>
                </a:solidFill>
                <a:latin typeface="에이투지체 8 ExtraBold"/>
                <a:ea typeface="에이투지체 8 ExtraBold"/>
                <a:cs typeface="에이투지체 8 ExtraBold"/>
              </a:rPr>
              <a:t>되어 있어</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FGO 고객을 다른 상품으로 넓히는 운영이 없습니다</a:t>
            </a:r>
            <a:endParaRPr lang="ko-KR" sz="1900" dirty="0"/>
          </a:p>
        </p:txBody>
      </p:sp>
      <p:sp>
        <p:nvSpPr>
          <p:cNvPr id="3" name="text-113">
            <a:extLst>
              <a:ext uri="{FF2B5EF4-FFF2-40B4-BE49-F238E27FC236}">
                <a16:creationId xmlns:a16="http://schemas.microsoft.com/office/drawing/2014/main" id="{F6CD2EA1-5FC6-49CB-980E-D2C5F03D5A7A}"/>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GFA 현황 진단 ①</a:t>
            </a:r>
            <a:endParaRPr lang="ko-KR" sz="1100" dirty="0"/>
          </a:p>
        </p:txBody>
      </p:sp>
      <p:sp>
        <p:nvSpPr>
          <p:cNvPr id="10" name="node-118">
            <a:extLst>
              <a:ext uri="{FF2B5EF4-FFF2-40B4-BE49-F238E27FC236}">
                <a16:creationId xmlns:a16="http://schemas.microsoft.com/office/drawing/2014/main" id="{089BBCF6-B58C-4628-B393-88314E583683}"/>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11" name="text-119">
            <a:extLst>
              <a:ext uri="{FF2B5EF4-FFF2-40B4-BE49-F238E27FC236}">
                <a16:creationId xmlns:a16="http://schemas.microsoft.com/office/drawing/2014/main" id="{B23A2582-E021-450A-B2EF-3D82AA36A1E6}"/>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dirty="0" err="1">
                <a:solidFill>
                  <a:srgbClr val="004F9F"/>
                </a:solidFill>
                <a:latin typeface="에이투지체 6 SemiBold"/>
                <a:ea typeface="에이투지체 6 SemiBold"/>
                <a:cs typeface="에이투지체 6 SemiBold"/>
              </a:rPr>
              <a:t>GFA의</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과제는</a:t>
            </a:r>
            <a:r>
              <a:rPr sz="1358" dirty="0">
                <a:solidFill>
                  <a:srgbClr val="004F9F"/>
                </a:solidFill>
                <a:latin typeface="에이투지체 6 SemiBold"/>
                <a:ea typeface="에이투지체 6 SemiBold"/>
                <a:cs typeface="에이투지체 6 SemiBold"/>
              </a:rPr>
              <a:t> FGO </a:t>
            </a:r>
            <a:r>
              <a:rPr sz="1358" dirty="0" err="1">
                <a:solidFill>
                  <a:srgbClr val="004F9F"/>
                </a:solidFill>
                <a:latin typeface="에이투지체 6 SemiBold"/>
                <a:ea typeface="에이투지체 6 SemiBold"/>
                <a:cs typeface="에이투지체 6 SemiBold"/>
              </a:rPr>
              <a:t>성과를</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지키면서</a:t>
            </a:r>
            <a:r>
              <a:rPr sz="1358" dirty="0">
                <a:solidFill>
                  <a:srgbClr val="004F9F"/>
                </a:solidFill>
                <a:latin typeface="에이투지체 6 SemiBold"/>
                <a:ea typeface="에이투지체 6 SemiBold"/>
                <a:cs typeface="에이투지체 6 SemiBold"/>
              </a:rPr>
              <a:t>, FGO </a:t>
            </a:r>
            <a:r>
              <a:rPr sz="1358" dirty="0" err="1">
                <a:solidFill>
                  <a:srgbClr val="004F9F"/>
                </a:solidFill>
                <a:latin typeface="에이투지체 6 SemiBold"/>
                <a:ea typeface="에이투지체 6 SemiBold"/>
                <a:cs typeface="에이투지체 6 SemiBold"/>
              </a:rPr>
              <a:t>고객을</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다음</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히어로</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상품으로</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넓히는</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것입니다</a:t>
            </a:r>
            <a:endParaRPr sz="1358" dirty="0">
              <a:solidFill>
                <a:srgbClr val="FFFFFF"/>
              </a:solidFill>
              <a:latin typeface="에이투지체 6 SemiBold"/>
              <a:ea typeface="에이투지체 6 SemiBold"/>
              <a:cs typeface="에이투지체 6 SemiBold"/>
            </a:endParaRPr>
          </a:p>
        </p:txBody>
      </p:sp>
      <p:sp>
        <p:nvSpPr>
          <p:cNvPr id="17" name="Rectangle 16"/>
          <p:cNvSpPr/>
          <p:nvPr/>
        </p:nvSpPr>
        <p:spPr>
          <a:xfrm>
            <a:off x="548640" y="2103120"/>
            <a:ext cx="3447288" cy="1051560"/>
          </a:xfrm>
          <a:prstGeom prst="roundRect">
            <a:avLst>
              <a:gd name="adj" fmla="val 695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2103120"/>
            <a:ext cx="3017520" cy="1051560"/>
          </a:xfrm>
          <a:prstGeom prst="rect">
            <a:avLst/>
          </a:prstGeom>
          <a:noFill/>
        </p:spPr>
        <p:txBody>
          <a:bodyPr wrap="square" lIns="0" tIns="0" rIns="0" bIns="0" anchor="ctr">
            <a:spAutoFit/>
          </a:bodyPr>
          <a:lstStyle/>
          <a:p>
            <a:pPr algn="l">
              <a:spcAft>
                <a:spcPts val="100"/>
              </a:spcAft>
            </a:pPr>
            <a:r>
              <a:rPr sz="3000">
                <a:solidFill>
                  <a:srgbClr val="004F9F"/>
                </a:solidFill>
                <a:latin typeface="에이투지체 8 ExtraBold"/>
                <a:ea typeface="에이투지체 8 ExtraBold"/>
              </a:rPr>
              <a:t>68%</a:t>
            </a:r>
          </a:p>
          <a:p>
            <a:pPr algn="l">
              <a:spcAft>
                <a:spcPts val="100"/>
              </a:spcAft>
            </a:pPr>
            <a:r>
              <a:rPr sz="1150">
                <a:solidFill>
                  <a:srgbClr val="5C5C5C"/>
                </a:solidFill>
                <a:latin typeface="에이투지체 6 SemiBold"/>
                <a:ea typeface="에이투지체 6 SemiBold"/>
              </a:rPr>
              <a:t>배너 광고비 중 FGO</a:t>
            </a:r>
          </a:p>
        </p:txBody>
      </p:sp>
      <p:sp>
        <p:nvSpPr>
          <p:cNvPr id="19" name="TextBox 18"/>
          <p:cNvSpPr txBox="1"/>
          <p:nvPr/>
        </p:nvSpPr>
        <p:spPr>
          <a:xfrm>
            <a:off x="548640" y="3337560"/>
            <a:ext cx="3447288" cy="365760"/>
          </a:xfrm>
          <a:prstGeom prst="rect">
            <a:avLst/>
          </a:prstGeom>
          <a:noFill/>
        </p:spPr>
        <p:txBody>
          <a:bodyPr wrap="square" lIns="0" tIns="0" rIns="0" bIns="0" anchor="t">
            <a:spAutoFit/>
          </a:bodyPr>
          <a:lstStyle/>
          <a:p>
            <a:pPr algn="l">
              <a:spcAft>
                <a:spcPts val="300"/>
              </a:spcAft>
            </a:pPr>
            <a:r>
              <a:rPr sz="1575" dirty="0">
                <a:solidFill>
                  <a:srgbClr val="222222"/>
                </a:solidFill>
                <a:latin typeface="에이투지체 6 SemiBold"/>
                <a:ea typeface="에이투지체 6 SemiBold"/>
              </a:rPr>
              <a:t>FGO 외 </a:t>
            </a:r>
            <a:r>
              <a:rPr sz="1575" dirty="0" err="1">
                <a:solidFill>
                  <a:srgbClr val="222222"/>
                </a:solidFill>
                <a:latin typeface="에이투지체 6 SemiBold"/>
                <a:ea typeface="에이투지체 6 SemiBold"/>
              </a:rPr>
              <a:t>상품은</a:t>
            </a:r>
            <a:r>
              <a:rPr sz="1575" dirty="0">
                <a:solidFill>
                  <a:srgbClr val="222222"/>
                </a:solidFill>
                <a:latin typeface="에이투지체 6 SemiBold"/>
                <a:ea typeface="에이투지체 6 SemiBold"/>
              </a:rPr>
              <a:t> </a:t>
            </a:r>
            <a:r>
              <a:rPr sz="1575" dirty="0" err="1">
                <a:solidFill>
                  <a:srgbClr val="222222"/>
                </a:solidFill>
                <a:latin typeface="에이투지체 6 SemiBold"/>
                <a:ea typeface="에이투지체 6 SemiBold"/>
              </a:rPr>
              <a:t>행사</a:t>
            </a:r>
            <a:r>
              <a:rPr sz="1575" dirty="0">
                <a:solidFill>
                  <a:srgbClr val="222222"/>
                </a:solidFill>
                <a:latin typeface="에이투지체 6 SemiBold"/>
                <a:ea typeface="에이투지체 6 SemiBold"/>
              </a:rPr>
              <a:t> </a:t>
            </a:r>
            <a:r>
              <a:rPr sz="1575" dirty="0" err="1">
                <a:solidFill>
                  <a:srgbClr val="222222"/>
                </a:solidFill>
                <a:latin typeface="에이투지체 6 SemiBold"/>
                <a:ea typeface="에이투지체 6 SemiBold"/>
              </a:rPr>
              <a:t>때만</a:t>
            </a:r>
            <a:r>
              <a:rPr sz="1575" dirty="0">
                <a:solidFill>
                  <a:srgbClr val="222222"/>
                </a:solidFill>
                <a:latin typeface="에이투지체 6 SemiBold"/>
                <a:ea typeface="에이투지체 6 SemiBold"/>
              </a:rPr>
              <a:t> </a:t>
            </a:r>
            <a:r>
              <a:rPr sz="1575" dirty="0" err="1">
                <a:solidFill>
                  <a:srgbClr val="222222"/>
                </a:solidFill>
                <a:latin typeface="에이투지체 6 SemiBold"/>
                <a:ea typeface="에이투지체 6 SemiBold"/>
              </a:rPr>
              <a:t>노출</a:t>
            </a:r>
            <a:endParaRPr sz="1575" dirty="0">
              <a:solidFill>
                <a:srgbClr val="222222"/>
              </a:solidFill>
              <a:latin typeface="에이투지체 6 SemiBold"/>
              <a:ea typeface="에이투지체 6 SemiBold"/>
            </a:endParaRPr>
          </a:p>
        </p:txBody>
      </p:sp>
      <p:sp>
        <p:nvSpPr>
          <p:cNvPr id="20" name="TextBox 19"/>
          <p:cNvSpPr txBox="1"/>
          <p:nvPr/>
        </p:nvSpPr>
        <p:spPr>
          <a:xfrm>
            <a:off x="548640" y="3794760"/>
            <a:ext cx="3447288" cy="1097280"/>
          </a:xfrm>
          <a:prstGeom prst="rect">
            <a:avLst/>
          </a:prstGeom>
          <a:noFill/>
        </p:spPr>
        <p:txBody>
          <a:bodyPr wrap="square" lIns="0" tIns="0" rIns="0" bIns="0" anchor="t">
            <a:spAutoFit/>
          </a:bodyPr>
          <a:lstStyle/>
          <a:p>
            <a:pPr algn="l">
              <a:spcAft>
                <a:spcPts val="200"/>
              </a:spcAft>
            </a:pPr>
            <a:r>
              <a:rPr sz="1300" dirty="0" err="1">
                <a:solidFill>
                  <a:srgbClr val="5C5C5C"/>
                </a:solidFill>
                <a:latin typeface="에이투지체 4 Regular"/>
                <a:ea typeface="에이투지체 4 Regular"/>
              </a:rPr>
              <a:t>상시</a:t>
            </a:r>
            <a:r>
              <a:rPr sz="1300" dirty="0">
                <a:solidFill>
                  <a:srgbClr val="5C5C5C"/>
                </a:solidFill>
                <a:latin typeface="에이투지체 4 Regular"/>
                <a:ea typeface="에이투지체 4 Regular"/>
              </a:rPr>
              <a:t> </a:t>
            </a:r>
            <a:r>
              <a:rPr sz="1300" dirty="0" err="1">
                <a:solidFill>
                  <a:srgbClr val="5C5C5C"/>
                </a:solidFill>
                <a:latin typeface="에이투지체 4 Regular"/>
                <a:ea typeface="에이투지체 4 Regular"/>
              </a:rPr>
              <a:t>캠페인은</a:t>
            </a:r>
            <a:r>
              <a:rPr sz="1300" dirty="0">
                <a:solidFill>
                  <a:srgbClr val="5C5C5C"/>
                </a:solidFill>
                <a:latin typeface="에이투지체 4 Regular"/>
                <a:ea typeface="에이투지체 4 Regular"/>
              </a:rPr>
              <a:t> </a:t>
            </a:r>
            <a:r>
              <a:rPr sz="1300" dirty="0" err="1">
                <a:solidFill>
                  <a:srgbClr val="5C5C5C"/>
                </a:solidFill>
                <a:latin typeface="에이투지체 4 Regular"/>
                <a:ea typeface="에이투지체 4 Regular"/>
              </a:rPr>
              <a:t>FGO만</a:t>
            </a:r>
            <a:r>
              <a:rPr sz="1300" dirty="0">
                <a:solidFill>
                  <a:srgbClr val="5C5C5C"/>
                </a:solidFill>
                <a:latin typeface="에이투지체 4 Regular"/>
                <a:ea typeface="에이투지체 4 Regular"/>
              </a:rPr>
              <a:t> </a:t>
            </a:r>
            <a:r>
              <a:rPr sz="1300" dirty="0" err="1">
                <a:solidFill>
                  <a:srgbClr val="5C5C5C"/>
                </a:solidFill>
                <a:latin typeface="에이투지체 4 Regular"/>
                <a:ea typeface="에이투지체 4 Regular"/>
              </a:rPr>
              <a:t>운영</a:t>
            </a:r>
            <a:endParaRPr sz="1300" dirty="0">
              <a:solidFill>
                <a:srgbClr val="5C5C5C"/>
              </a:solidFill>
              <a:latin typeface="에이투지체 4 Regular"/>
              <a:ea typeface="에이투지체 4 Regular"/>
            </a:endParaRPr>
          </a:p>
          <a:p>
            <a:pPr algn="l">
              <a:spcAft>
                <a:spcPts val="200"/>
              </a:spcAft>
            </a:pPr>
            <a:r>
              <a:rPr sz="1300" dirty="0">
                <a:solidFill>
                  <a:srgbClr val="5C5C5C"/>
                </a:solidFill>
                <a:latin typeface="에이투지체 4 Regular"/>
                <a:ea typeface="에이투지체 4 Regular"/>
              </a:rPr>
              <a:t>FGO 외 </a:t>
            </a:r>
            <a:r>
              <a:rPr sz="1300" dirty="0" err="1">
                <a:solidFill>
                  <a:srgbClr val="5C5C5C"/>
                </a:solidFill>
                <a:latin typeface="에이투지체 4 Regular"/>
                <a:ea typeface="에이투지체 4 Regular"/>
              </a:rPr>
              <a:t>상품은</a:t>
            </a:r>
            <a:r>
              <a:rPr sz="1300" dirty="0">
                <a:solidFill>
                  <a:srgbClr val="5C5C5C"/>
                </a:solidFill>
                <a:latin typeface="에이투지체 4 Regular"/>
                <a:ea typeface="에이투지체 4 Regular"/>
              </a:rPr>
              <a:t> </a:t>
            </a:r>
            <a:r>
              <a:rPr sz="1300" dirty="0" err="1">
                <a:solidFill>
                  <a:srgbClr val="5C5C5C"/>
                </a:solidFill>
                <a:latin typeface="에이투지체 4 Regular"/>
                <a:ea typeface="에이투지체 4 Regular"/>
              </a:rPr>
              <a:t>행사</a:t>
            </a:r>
            <a:r>
              <a:rPr sz="1300" dirty="0">
                <a:solidFill>
                  <a:srgbClr val="5C5C5C"/>
                </a:solidFill>
                <a:latin typeface="에이투지체 4 Regular"/>
                <a:ea typeface="에이투지체 4 Regular"/>
              </a:rPr>
              <a:t> </a:t>
            </a:r>
            <a:r>
              <a:rPr sz="1300" dirty="0" err="1">
                <a:solidFill>
                  <a:srgbClr val="5C5C5C"/>
                </a:solidFill>
                <a:latin typeface="에이투지체 4 Regular"/>
                <a:ea typeface="에이투지체 4 Regular"/>
              </a:rPr>
              <a:t>종료와</a:t>
            </a:r>
            <a:r>
              <a:rPr sz="1300" dirty="0">
                <a:solidFill>
                  <a:srgbClr val="5C5C5C"/>
                </a:solidFill>
                <a:latin typeface="에이투지체 4 Regular"/>
                <a:ea typeface="에이투지체 4 Regular"/>
              </a:rPr>
              <a:t> </a:t>
            </a:r>
            <a:r>
              <a:rPr sz="1300" dirty="0" err="1">
                <a:solidFill>
                  <a:srgbClr val="5C5C5C"/>
                </a:solidFill>
                <a:latin typeface="에이투지체 4 Regular"/>
                <a:ea typeface="에이투지체 4 Regular"/>
              </a:rPr>
              <a:t>함께</a:t>
            </a:r>
            <a:endParaRPr sz="1300" dirty="0">
              <a:solidFill>
                <a:srgbClr val="5C5C5C"/>
              </a:solidFill>
              <a:latin typeface="에이투지체 4 Regular"/>
              <a:ea typeface="에이투지체 4 Regular"/>
            </a:endParaRPr>
          </a:p>
          <a:p>
            <a:pPr algn="l">
              <a:spcAft>
                <a:spcPts val="200"/>
              </a:spcAft>
            </a:pPr>
            <a:r>
              <a:rPr sz="1300" dirty="0" err="1">
                <a:solidFill>
                  <a:srgbClr val="5C5C5C"/>
                </a:solidFill>
                <a:latin typeface="에이투지체 4 Regular"/>
                <a:ea typeface="에이투지체 4 Regular"/>
              </a:rPr>
              <a:t>학습이</a:t>
            </a:r>
            <a:r>
              <a:rPr sz="1300" dirty="0">
                <a:solidFill>
                  <a:srgbClr val="5C5C5C"/>
                </a:solidFill>
                <a:latin typeface="에이투지체 4 Regular"/>
                <a:ea typeface="에이투지체 4 Regular"/>
              </a:rPr>
              <a:t> </a:t>
            </a:r>
            <a:r>
              <a:rPr sz="1300" dirty="0" err="1">
                <a:solidFill>
                  <a:srgbClr val="5C5C5C"/>
                </a:solidFill>
                <a:latin typeface="에이투지체 4 Regular"/>
                <a:ea typeface="에이투지체 4 Regular"/>
              </a:rPr>
              <a:t>끊김</a:t>
            </a:r>
            <a:endParaRPr sz="1300" dirty="0">
              <a:solidFill>
                <a:srgbClr val="5C5C5C"/>
              </a:solidFill>
              <a:latin typeface="에이투지체 4 Regular"/>
              <a:ea typeface="에이투지체 4 Regular"/>
            </a:endParaRPr>
          </a:p>
        </p:txBody>
      </p:sp>
      <p:cxnSp>
        <p:nvCxnSpPr>
          <p:cNvPr id="21" name="Connector 20"/>
          <p:cNvCxnSpPr/>
          <p:nvPr/>
        </p:nvCxnSpPr>
        <p:spPr>
          <a:xfrm>
            <a:off x="548640" y="4873752"/>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48640" y="4983480"/>
            <a:ext cx="3447288" cy="365760"/>
          </a:xfrm>
          <a:prstGeom prst="rect">
            <a:avLst/>
          </a:prstGeom>
          <a:noFill/>
        </p:spPr>
        <p:txBody>
          <a:bodyPr wrap="square" lIns="0" tIns="0" rIns="0" bIns="0" anchor="t">
            <a:spAutoFit/>
          </a:bodyPr>
          <a:lstStyle/>
          <a:p>
            <a:pPr algn="l">
              <a:spcAft>
                <a:spcPts val="300"/>
              </a:spcAft>
            </a:pPr>
            <a:r>
              <a:rPr sz="1300">
                <a:solidFill>
                  <a:srgbClr val="004F9F"/>
                </a:solidFill>
                <a:latin typeface="에이투지체 6 SemiBold"/>
                <a:ea typeface="에이투지체 6 SemiBold"/>
              </a:rPr>
              <a:t>슬림웨이 9월 구매 ROAS 72%</a:t>
            </a:r>
          </a:p>
        </p:txBody>
      </p:sp>
      <p:sp>
        <p:nvSpPr>
          <p:cNvPr id="23" name="Rectangle 22"/>
          <p:cNvSpPr/>
          <p:nvPr/>
        </p:nvSpPr>
        <p:spPr>
          <a:xfrm>
            <a:off x="4361688" y="2103120"/>
            <a:ext cx="3447288" cy="1051560"/>
          </a:xfrm>
          <a:prstGeom prst="roundRect">
            <a:avLst>
              <a:gd name="adj" fmla="val 695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90288" y="2103120"/>
            <a:ext cx="3017520" cy="1051560"/>
          </a:xfrm>
          <a:prstGeom prst="rect">
            <a:avLst/>
          </a:prstGeom>
          <a:noFill/>
        </p:spPr>
        <p:txBody>
          <a:bodyPr wrap="square" lIns="0" tIns="0" rIns="0" bIns="0" anchor="ctr">
            <a:spAutoFit/>
          </a:bodyPr>
          <a:lstStyle/>
          <a:p>
            <a:pPr algn="l">
              <a:spcAft>
                <a:spcPts val="100"/>
              </a:spcAft>
            </a:pPr>
            <a:r>
              <a:rPr sz="3000">
                <a:solidFill>
                  <a:srgbClr val="004F9F"/>
                </a:solidFill>
                <a:latin typeface="에이투지체 8 ExtraBold"/>
                <a:ea typeface="에이투지체 8 ExtraBold"/>
              </a:rPr>
              <a:t>4개</a:t>
            </a:r>
          </a:p>
          <a:p>
            <a:pPr algn="l">
              <a:spcAft>
                <a:spcPts val="100"/>
              </a:spcAft>
            </a:pPr>
            <a:r>
              <a:rPr sz="1150">
                <a:solidFill>
                  <a:srgbClr val="5C5C5C"/>
                </a:solidFill>
                <a:latin typeface="에이투지체 6 SemiBold"/>
                <a:ea typeface="에이투지체 6 SemiBold"/>
              </a:rPr>
              <a:t>ADVoost 캠페인</a:t>
            </a:r>
          </a:p>
        </p:txBody>
      </p:sp>
      <p:sp>
        <p:nvSpPr>
          <p:cNvPr id="25" name="TextBox 24"/>
          <p:cNvSpPr txBox="1"/>
          <p:nvPr/>
        </p:nvSpPr>
        <p:spPr>
          <a:xfrm>
            <a:off x="4361688" y="3337560"/>
            <a:ext cx="3447288" cy="365760"/>
          </a:xfrm>
          <a:prstGeom prst="rect">
            <a:avLst/>
          </a:prstGeom>
          <a:noFill/>
        </p:spPr>
        <p:txBody>
          <a:bodyPr wrap="square" lIns="0" tIns="0" rIns="0" bIns="0" anchor="t">
            <a:spAutoFit/>
          </a:bodyPr>
          <a:lstStyle/>
          <a:p>
            <a:pPr algn="l">
              <a:spcAft>
                <a:spcPts val="300"/>
              </a:spcAft>
            </a:pPr>
            <a:r>
              <a:rPr sz="1575">
                <a:solidFill>
                  <a:srgbClr val="222222"/>
                </a:solidFill>
                <a:latin typeface="에이투지체 6 SemiBold"/>
                <a:ea typeface="에이투지체 6 SemiBold"/>
              </a:rPr>
              <a:t>연령 신호로 나눈 전 상품 캠페인</a:t>
            </a:r>
          </a:p>
        </p:txBody>
      </p:sp>
      <p:sp>
        <p:nvSpPr>
          <p:cNvPr id="26" name="TextBox 25"/>
          <p:cNvSpPr txBox="1"/>
          <p:nvPr/>
        </p:nvSpPr>
        <p:spPr>
          <a:xfrm>
            <a:off x="4361688" y="3794760"/>
            <a:ext cx="3447288" cy="1097280"/>
          </a:xfrm>
          <a:prstGeom prst="rect">
            <a:avLst/>
          </a:prstGeom>
          <a:noFill/>
        </p:spPr>
        <p:txBody>
          <a:bodyPr wrap="square" lIns="0" tIns="0" rIns="0" bIns="0" anchor="t">
            <a:spAutoFit/>
          </a:bodyPr>
          <a:lstStyle/>
          <a:p>
            <a:pPr algn="l">
              <a:spcAft>
                <a:spcPts val="200"/>
              </a:spcAft>
            </a:pPr>
            <a:r>
              <a:rPr sz="1300" dirty="0">
                <a:solidFill>
                  <a:srgbClr val="5C5C5C"/>
                </a:solidFill>
                <a:latin typeface="에이투지체 4 Regular"/>
                <a:ea typeface="에이투지체 4 Regular"/>
              </a:rPr>
              <a:t>4개 </a:t>
            </a:r>
            <a:r>
              <a:rPr sz="1300" dirty="0" err="1">
                <a:solidFill>
                  <a:srgbClr val="5C5C5C"/>
                </a:solidFill>
                <a:latin typeface="에이투지체 4 Regular"/>
                <a:ea typeface="에이투지체 4 Regular"/>
              </a:rPr>
              <a:t>캠페인</a:t>
            </a:r>
            <a:r>
              <a:rPr sz="1300" dirty="0">
                <a:solidFill>
                  <a:srgbClr val="5C5C5C"/>
                </a:solidFill>
                <a:latin typeface="에이투지체 4 Regular"/>
                <a:ea typeface="에이투지체 4 Regular"/>
              </a:rPr>
              <a:t> </a:t>
            </a:r>
            <a:r>
              <a:rPr sz="1300" dirty="0" err="1">
                <a:solidFill>
                  <a:srgbClr val="5C5C5C"/>
                </a:solidFill>
                <a:latin typeface="에이투지체 4 Regular"/>
                <a:ea typeface="에이투지체 4 Regular"/>
              </a:rPr>
              <a:t>모두</a:t>
            </a:r>
            <a:r>
              <a:rPr sz="1300" dirty="0">
                <a:solidFill>
                  <a:srgbClr val="5C5C5C"/>
                </a:solidFill>
                <a:latin typeface="에이투지체 4 Regular"/>
                <a:ea typeface="에이투지체 4 Regular"/>
              </a:rPr>
              <a:t> 전 </a:t>
            </a:r>
            <a:r>
              <a:rPr sz="1300" dirty="0" err="1">
                <a:solidFill>
                  <a:srgbClr val="5C5C5C"/>
                </a:solidFill>
                <a:latin typeface="에이투지체 4 Regular"/>
                <a:ea typeface="에이투지체 4 Regular"/>
              </a:rPr>
              <a:t>상품</a:t>
            </a:r>
            <a:r>
              <a:rPr sz="1300" dirty="0">
                <a:solidFill>
                  <a:srgbClr val="5C5C5C"/>
                </a:solidFill>
                <a:latin typeface="에이투지체 4 Regular"/>
                <a:ea typeface="에이투지체 4 Regular"/>
              </a:rPr>
              <a:t> </a:t>
            </a:r>
            <a:r>
              <a:rPr sz="1300" dirty="0" err="1">
                <a:solidFill>
                  <a:srgbClr val="5C5C5C"/>
                </a:solidFill>
                <a:latin typeface="에이투지체 4 Regular"/>
                <a:ea typeface="에이투지체 4 Regular"/>
              </a:rPr>
              <a:t>대상</a:t>
            </a:r>
            <a:endParaRPr sz="1300" dirty="0">
              <a:solidFill>
                <a:srgbClr val="5C5C5C"/>
              </a:solidFill>
              <a:latin typeface="에이투지체 4 Regular"/>
              <a:ea typeface="에이투지체 4 Regular"/>
            </a:endParaRPr>
          </a:p>
          <a:p>
            <a:pPr algn="l">
              <a:spcAft>
                <a:spcPts val="200"/>
              </a:spcAft>
            </a:pPr>
            <a:r>
              <a:rPr sz="1300" dirty="0" err="1">
                <a:solidFill>
                  <a:srgbClr val="5C5C5C"/>
                </a:solidFill>
                <a:latin typeface="에이투지체 4 Regular"/>
                <a:ea typeface="에이투지체 4 Regular"/>
              </a:rPr>
              <a:t>상품별</a:t>
            </a:r>
            <a:r>
              <a:rPr sz="1300" dirty="0">
                <a:solidFill>
                  <a:srgbClr val="5C5C5C"/>
                </a:solidFill>
                <a:latin typeface="에이투지체 4 Regular"/>
                <a:ea typeface="에이투지체 4 Regular"/>
              </a:rPr>
              <a:t> </a:t>
            </a:r>
            <a:r>
              <a:rPr sz="1300" dirty="0" err="1">
                <a:solidFill>
                  <a:srgbClr val="5C5C5C"/>
                </a:solidFill>
                <a:latin typeface="에이투지체 4 Regular"/>
                <a:ea typeface="에이투지체 4 Regular"/>
              </a:rPr>
              <a:t>구매</a:t>
            </a:r>
            <a:r>
              <a:rPr sz="1300" dirty="0">
                <a:solidFill>
                  <a:srgbClr val="5C5C5C"/>
                </a:solidFill>
                <a:latin typeface="에이투지체 4 Regular"/>
                <a:ea typeface="에이투지체 4 Regular"/>
              </a:rPr>
              <a:t> </a:t>
            </a:r>
            <a:r>
              <a:rPr sz="1300" dirty="0" err="1">
                <a:solidFill>
                  <a:srgbClr val="5C5C5C"/>
                </a:solidFill>
                <a:latin typeface="에이투지체 4 Regular"/>
                <a:ea typeface="에이투지체 4 Regular"/>
              </a:rPr>
              <a:t>고객을</a:t>
            </a:r>
            <a:endParaRPr sz="1300" dirty="0">
              <a:solidFill>
                <a:srgbClr val="5C5C5C"/>
              </a:solidFill>
              <a:latin typeface="에이투지체 4 Regular"/>
              <a:ea typeface="에이투지체 4 Regular"/>
            </a:endParaRPr>
          </a:p>
          <a:p>
            <a:pPr algn="l">
              <a:spcAft>
                <a:spcPts val="200"/>
              </a:spcAft>
            </a:pPr>
            <a:r>
              <a:rPr sz="1300" dirty="0" err="1">
                <a:solidFill>
                  <a:srgbClr val="5C5C5C"/>
                </a:solidFill>
                <a:latin typeface="에이투지체 4 Regular"/>
                <a:ea typeface="에이투지체 4 Regular"/>
              </a:rPr>
              <a:t>나눠</a:t>
            </a:r>
            <a:r>
              <a:rPr sz="1300" dirty="0">
                <a:solidFill>
                  <a:srgbClr val="5C5C5C"/>
                </a:solidFill>
                <a:latin typeface="에이투지체 4 Regular"/>
                <a:ea typeface="에이투지체 4 Regular"/>
              </a:rPr>
              <a:t> </a:t>
            </a:r>
            <a:r>
              <a:rPr sz="1300" dirty="0" err="1">
                <a:solidFill>
                  <a:srgbClr val="5C5C5C"/>
                </a:solidFill>
                <a:latin typeface="에이투지체 4 Regular"/>
                <a:ea typeface="에이투지체 4 Regular"/>
              </a:rPr>
              <a:t>학습하지</a:t>
            </a:r>
            <a:r>
              <a:rPr sz="1300" dirty="0">
                <a:solidFill>
                  <a:srgbClr val="5C5C5C"/>
                </a:solidFill>
                <a:latin typeface="에이투지체 4 Regular"/>
                <a:ea typeface="에이투지체 4 Regular"/>
              </a:rPr>
              <a:t> </a:t>
            </a:r>
            <a:r>
              <a:rPr sz="1300" dirty="0" err="1">
                <a:solidFill>
                  <a:srgbClr val="5C5C5C"/>
                </a:solidFill>
                <a:latin typeface="에이투지체 4 Regular"/>
                <a:ea typeface="에이투지체 4 Regular"/>
              </a:rPr>
              <a:t>못함</a:t>
            </a:r>
            <a:endParaRPr sz="1300" dirty="0">
              <a:solidFill>
                <a:srgbClr val="5C5C5C"/>
              </a:solidFill>
              <a:latin typeface="에이투지체 4 Regular"/>
              <a:ea typeface="에이투지체 4 Regular"/>
            </a:endParaRPr>
          </a:p>
        </p:txBody>
      </p:sp>
      <p:cxnSp>
        <p:nvCxnSpPr>
          <p:cNvPr id="27" name="Connector 26"/>
          <p:cNvCxnSpPr/>
          <p:nvPr/>
        </p:nvCxnSpPr>
        <p:spPr>
          <a:xfrm>
            <a:off x="4361688" y="4873752"/>
            <a:ext cx="3447287"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361688" y="4983480"/>
            <a:ext cx="3447288" cy="365760"/>
          </a:xfrm>
          <a:prstGeom prst="rect">
            <a:avLst/>
          </a:prstGeom>
          <a:noFill/>
        </p:spPr>
        <p:txBody>
          <a:bodyPr wrap="square" lIns="0" tIns="0" rIns="0" bIns="0" anchor="t">
            <a:spAutoFit/>
          </a:bodyPr>
          <a:lstStyle/>
          <a:p>
            <a:pPr algn="l">
              <a:spcAft>
                <a:spcPts val="300"/>
              </a:spcAft>
            </a:pPr>
            <a:r>
              <a:rPr sz="1300" dirty="0" err="1">
                <a:solidFill>
                  <a:srgbClr val="004F9F"/>
                </a:solidFill>
                <a:latin typeface="에이투지체 6 SemiBold"/>
                <a:ea typeface="에이투지체 6 SemiBold"/>
              </a:rPr>
              <a:t>ADVoost</a:t>
            </a:r>
            <a:r>
              <a:rPr sz="1300" dirty="0">
                <a:solidFill>
                  <a:srgbClr val="004F9F"/>
                </a:solidFill>
                <a:latin typeface="에이투지체 6 SemiBold"/>
                <a:ea typeface="에이투지체 6 SemiBold"/>
              </a:rPr>
              <a:t> </a:t>
            </a:r>
            <a:r>
              <a:rPr sz="1300" dirty="0" err="1">
                <a:solidFill>
                  <a:srgbClr val="004F9F"/>
                </a:solidFill>
                <a:latin typeface="에이투지체 6 SemiBold"/>
                <a:ea typeface="에이투지체 6 SemiBold"/>
              </a:rPr>
              <a:t>광고비</a:t>
            </a:r>
            <a:r>
              <a:rPr sz="1300" dirty="0">
                <a:solidFill>
                  <a:srgbClr val="004F9F"/>
                </a:solidFill>
                <a:latin typeface="에이투지체 6 SemiBold"/>
                <a:ea typeface="에이투지체 6 SemiBold"/>
              </a:rPr>
              <a:t> </a:t>
            </a:r>
            <a:r>
              <a:rPr sz="1300" dirty="0" err="1">
                <a:solidFill>
                  <a:srgbClr val="004F9F"/>
                </a:solidFill>
                <a:latin typeface="에이투지체 6 SemiBold"/>
                <a:ea typeface="에이투지체 6 SemiBold"/>
              </a:rPr>
              <a:t>비중</a:t>
            </a:r>
            <a:r>
              <a:rPr sz="1300" dirty="0">
                <a:solidFill>
                  <a:srgbClr val="004F9F"/>
                </a:solidFill>
                <a:latin typeface="에이투지체 6 SemiBold"/>
                <a:ea typeface="에이투지체 6 SemiBold"/>
              </a:rPr>
              <a:t> 51%</a:t>
            </a:r>
          </a:p>
        </p:txBody>
      </p:sp>
      <p:sp>
        <p:nvSpPr>
          <p:cNvPr id="29" name="Rectangle 28"/>
          <p:cNvSpPr/>
          <p:nvPr/>
        </p:nvSpPr>
        <p:spPr>
          <a:xfrm>
            <a:off x="8174736" y="2103120"/>
            <a:ext cx="3447288" cy="1051560"/>
          </a:xfrm>
          <a:prstGeom prst="roundRect">
            <a:avLst>
              <a:gd name="adj" fmla="val 6956"/>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403336" y="2103120"/>
            <a:ext cx="3017520" cy="1051560"/>
          </a:xfrm>
          <a:prstGeom prst="rect">
            <a:avLst/>
          </a:prstGeom>
          <a:noFill/>
        </p:spPr>
        <p:txBody>
          <a:bodyPr wrap="square" lIns="0" tIns="0" rIns="0" bIns="0" anchor="ctr">
            <a:spAutoFit/>
          </a:bodyPr>
          <a:lstStyle/>
          <a:p>
            <a:pPr algn="l">
              <a:spcAft>
                <a:spcPts val="100"/>
              </a:spcAft>
            </a:pPr>
            <a:r>
              <a:rPr sz="3000" dirty="0" err="1">
                <a:solidFill>
                  <a:srgbClr val="FFFFFF"/>
                </a:solidFill>
                <a:latin typeface="에이투지체 8 ExtraBold"/>
                <a:ea typeface="에이투지체 8 ExtraBold"/>
              </a:rPr>
              <a:t>전상품</a:t>
            </a:r>
            <a:endParaRPr sz="3000" dirty="0">
              <a:solidFill>
                <a:srgbClr val="FFFFFF"/>
              </a:solidFill>
              <a:latin typeface="에이투지체 8 ExtraBold"/>
              <a:ea typeface="에이투지체 8 ExtraBold"/>
            </a:endParaRPr>
          </a:p>
          <a:p>
            <a:pPr algn="l">
              <a:spcAft>
                <a:spcPts val="100"/>
              </a:spcAft>
            </a:pPr>
            <a:r>
              <a:rPr sz="1150" dirty="0" err="1">
                <a:solidFill>
                  <a:srgbClr val="6FB0E8"/>
                </a:solidFill>
                <a:latin typeface="에이투지체 6 SemiBold"/>
                <a:ea typeface="에이투지체 6 SemiBold"/>
              </a:rPr>
              <a:t>리타겟</a:t>
            </a:r>
            <a:r>
              <a:rPr sz="1150" dirty="0">
                <a:solidFill>
                  <a:srgbClr val="6FB0E8"/>
                </a:solidFill>
                <a:latin typeface="에이투지체 6 SemiBold"/>
                <a:ea typeface="에이투지체 6 SemiBold"/>
              </a:rPr>
              <a:t> </a:t>
            </a:r>
            <a:r>
              <a:rPr sz="1150" dirty="0" err="1">
                <a:solidFill>
                  <a:srgbClr val="6FB0E8"/>
                </a:solidFill>
                <a:latin typeface="에이투지체 6 SemiBold"/>
                <a:ea typeface="에이투지체 6 SemiBold"/>
              </a:rPr>
              <a:t>대상</a:t>
            </a:r>
            <a:endParaRPr sz="1150" dirty="0">
              <a:solidFill>
                <a:srgbClr val="6FB0E8"/>
              </a:solidFill>
              <a:latin typeface="에이투지체 6 SemiBold"/>
              <a:ea typeface="에이투지체 6 SemiBold"/>
            </a:endParaRPr>
          </a:p>
        </p:txBody>
      </p:sp>
      <p:sp>
        <p:nvSpPr>
          <p:cNvPr id="31" name="TextBox 30"/>
          <p:cNvSpPr txBox="1"/>
          <p:nvPr/>
        </p:nvSpPr>
        <p:spPr>
          <a:xfrm>
            <a:off x="8174736" y="3337560"/>
            <a:ext cx="3447288" cy="365760"/>
          </a:xfrm>
          <a:prstGeom prst="rect">
            <a:avLst/>
          </a:prstGeom>
          <a:noFill/>
        </p:spPr>
        <p:txBody>
          <a:bodyPr wrap="square" lIns="0" tIns="0" rIns="0" bIns="0" anchor="t">
            <a:spAutoFit/>
          </a:bodyPr>
          <a:lstStyle/>
          <a:p>
            <a:pPr algn="l">
              <a:spcAft>
                <a:spcPts val="300"/>
              </a:spcAft>
            </a:pPr>
            <a:r>
              <a:rPr sz="1575">
                <a:solidFill>
                  <a:srgbClr val="222222"/>
                </a:solidFill>
                <a:latin typeface="에이투지체 6 SemiBold"/>
                <a:ea typeface="에이투지체 6 SemiBold"/>
              </a:rPr>
              <a:t>FGO 고객 교차 제안 없음</a:t>
            </a:r>
          </a:p>
        </p:txBody>
      </p:sp>
      <p:sp>
        <p:nvSpPr>
          <p:cNvPr id="32" name="TextBox 31"/>
          <p:cNvSpPr txBox="1"/>
          <p:nvPr/>
        </p:nvSpPr>
        <p:spPr>
          <a:xfrm>
            <a:off x="8174736" y="3794760"/>
            <a:ext cx="3447288" cy="1097280"/>
          </a:xfrm>
          <a:prstGeom prst="rect">
            <a:avLst/>
          </a:prstGeom>
          <a:noFill/>
        </p:spPr>
        <p:txBody>
          <a:bodyPr wrap="square" lIns="0" tIns="0" rIns="0" bIns="0" anchor="t">
            <a:spAutoFit/>
          </a:bodyPr>
          <a:lstStyle/>
          <a:p>
            <a:pPr algn="l">
              <a:spcAft>
                <a:spcPts val="200"/>
              </a:spcAft>
            </a:pPr>
            <a:r>
              <a:rPr sz="1300" dirty="0" err="1">
                <a:solidFill>
                  <a:srgbClr val="5C5C5C"/>
                </a:solidFill>
                <a:latin typeface="에이투지체 4 Regular"/>
                <a:ea typeface="에이투지체 4 Regular"/>
              </a:rPr>
              <a:t>리타겟은</a:t>
            </a:r>
            <a:r>
              <a:rPr sz="1300" dirty="0">
                <a:solidFill>
                  <a:srgbClr val="5C5C5C"/>
                </a:solidFill>
                <a:latin typeface="에이투지체 4 Regular"/>
                <a:ea typeface="에이투지체 4 Regular"/>
              </a:rPr>
              <a:t> </a:t>
            </a:r>
            <a:r>
              <a:rPr sz="1300" dirty="0" err="1">
                <a:solidFill>
                  <a:srgbClr val="5C5C5C"/>
                </a:solidFill>
                <a:latin typeface="에이투지체 4 Regular"/>
                <a:ea typeface="에이투지체 4 Regular"/>
              </a:rPr>
              <a:t>카탈로그</a:t>
            </a:r>
            <a:r>
              <a:rPr sz="1300" dirty="0">
                <a:solidFill>
                  <a:srgbClr val="5C5C5C"/>
                </a:solidFill>
                <a:latin typeface="에이투지체 4 Regular"/>
                <a:ea typeface="에이투지체 4 Regular"/>
              </a:rPr>
              <a:t> </a:t>
            </a:r>
            <a:r>
              <a:rPr sz="1300" dirty="0" err="1">
                <a:solidFill>
                  <a:srgbClr val="5C5C5C"/>
                </a:solidFill>
                <a:latin typeface="에이투지체 4 Regular"/>
                <a:ea typeface="에이투지체 4 Regular"/>
              </a:rPr>
              <a:t>전상품</a:t>
            </a:r>
            <a:r>
              <a:rPr sz="1300" dirty="0">
                <a:solidFill>
                  <a:srgbClr val="5C5C5C"/>
                </a:solidFill>
                <a:latin typeface="에이투지체 4 Regular"/>
                <a:ea typeface="에이투지체 4 Regular"/>
              </a:rPr>
              <a:t> 1개</a:t>
            </a:r>
          </a:p>
          <a:p>
            <a:pPr algn="l">
              <a:spcAft>
                <a:spcPts val="200"/>
              </a:spcAft>
            </a:pPr>
            <a:r>
              <a:rPr sz="1300" dirty="0">
                <a:solidFill>
                  <a:srgbClr val="5C5C5C"/>
                </a:solidFill>
                <a:latin typeface="에이투지체 4 Regular"/>
                <a:ea typeface="에이투지체 4 Regular"/>
              </a:rPr>
              <a:t>FGO </a:t>
            </a:r>
            <a:r>
              <a:rPr sz="1300" dirty="0" err="1">
                <a:solidFill>
                  <a:srgbClr val="5C5C5C"/>
                </a:solidFill>
                <a:latin typeface="에이투지체 4 Regular"/>
                <a:ea typeface="에이투지체 4 Regular"/>
              </a:rPr>
              <a:t>방문</a:t>
            </a:r>
            <a:r>
              <a:rPr sz="1300" dirty="0">
                <a:solidFill>
                  <a:srgbClr val="5C5C5C"/>
                </a:solidFill>
                <a:latin typeface="에이투지체 4 Regular"/>
                <a:ea typeface="에이투지체 4 Regular"/>
              </a:rPr>
              <a:t> · </a:t>
            </a:r>
            <a:r>
              <a:rPr sz="1300" dirty="0" err="1">
                <a:solidFill>
                  <a:srgbClr val="5C5C5C"/>
                </a:solidFill>
                <a:latin typeface="에이투지체 4 Regular"/>
                <a:ea typeface="에이투지체 4 Regular"/>
              </a:rPr>
              <a:t>구매</a:t>
            </a:r>
            <a:r>
              <a:rPr sz="1300" dirty="0">
                <a:solidFill>
                  <a:srgbClr val="5C5C5C"/>
                </a:solidFill>
                <a:latin typeface="에이투지체 4 Regular"/>
                <a:ea typeface="에이투지체 4 Regular"/>
              </a:rPr>
              <a:t> </a:t>
            </a:r>
            <a:r>
              <a:rPr sz="1300" dirty="0" err="1">
                <a:solidFill>
                  <a:srgbClr val="5C5C5C"/>
                </a:solidFill>
                <a:latin typeface="에이투지체 4 Regular"/>
                <a:ea typeface="에이투지체 4 Regular"/>
              </a:rPr>
              <a:t>고객에게</a:t>
            </a:r>
            <a:endParaRPr sz="1300" dirty="0">
              <a:solidFill>
                <a:srgbClr val="5C5C5C"/>
              </a:solidFill>
              <a:latin typeface="에이투지체 4 Regular"/>
              <a:ea typeface="에이투지체 4 Regular"/>
            </a:endParaRPr>
          </a:p>
          <a:p>
            <a:pPr algn="l">
              <a:spcAft>
                <a:spcPts val="200"/>
              </a:spcAft>
            </a:pPr>
            <a:r>
              <a:rPr sz="1300" dirty="0" err="1">
                <a:solidFill>
                  <a:srgbClr val="5C5C5C"/>
                </a:solidFill>
                <a:latin typeface="에이투지체 4 Regular"/>
                <a:ea typeface="에이투지체 4 Regular"/>
              </a:rPr>
              <a:t>함께</a:t>
            </a:r>
            <a:r>
              <a:rPr sz="1300" dirty="0">
                <a:solidFill>
                  <a:srgbClr val="5C5C5C"/>
                </a:solidFill>
                <a:latin typeface="에이투지체 4 Regular"/>
                <a:ea typeface="에이투지체 4 Regular"/>
              </a:rPr>
              <a:t> </a:t>
            </a:r>
            <a:r>
              <a:rPr sz="1300" dirty="0" err="1">
                <a:solidFill>
                  <a:srgbClr val="5C5C5C"/>
                </a:solidFill>
                <a:latin typeface="에이투지체 4 Regular"/>
                <a:ea typeface="에이투지체 4 Regular"/>
              </a:rPr>
              <a:t>먹을</a:t>
            </a:r>
            <a:r>
              <a:rPr sz="1300" dirty="0">
                <a:solidFill>
                  <a:srgbClr val="5C5C5C"/>
                </a:solidFill>
                <a:latin typeface="에이투지체 4 Regular"/>
                <a:ea typeface="에이투지체 4 Regular"/>
              </a:rPr>
              <a:t> </a:t>
            </a:r>
            <a:r>
              <a:rPr sz="1300" dirty="0" err="1">
                <a:solidFill>
                  <a:srgbClr val="5C5C5C"/>
                </a:solidFill>
                <a:latin typeface="에이투지체 4 Regular"/>
                <a:ea typeface="에이투지체 4 Regular"/>
              </a:rPr>
              <a:t>영양제를</a:t>
            </a:r>
            <a:r>
              <a:rPr sz="1300" dirty="0">
                <a:solidFill>
                  <a:srgbClr val="5C5C5C"/>
                </a:solidFill>
                <a:latin typeface="에이투지체 4 Regular"/>
                <a:ea typeface="에이투지체 4 Regular"/>
              </a:rPr>
              <a:t> </a:t>
            </a:r>
            <a:r>
              <a:rPr sz="1300" dirty="0" err="1">
                <a:solidFill>
                  <a:srgbClr val="5C5C5C"/>
                </a:solidFill>
                <a:latin typeface="에이투지체 4 Regular"/>
                <a:ea typeface="에이투지체 4 Regular"/>
              </a:rPr>
              <a:t>제안하지</a:t>
            </a:r>
            <a:r>
              <a:rPr sz="1300" dirty="0">
                <a:solidFill>
                  <a:srgbClr val="5C5C5C"/>
                </a:solidFill>
                <a:latin typeface="에이투지체 4 Regular"/>
                <a:ea typeface="에이투지체 4 Regular"/>
              </a:rPr>
              <a:t> </a:t>
            </a:r>
            <a:r>
              <a:rPr sz="1300" dirty="0" err="1">
                <a:solidFill>
                  <a:srgbClr val="5C5C5C"/>
                </a:solidFill>
                <a:latin typeface="에이투지체 4 Regular"/>
                <a:ea typeface="에이투지체 4 Regular"/>
              </a:rPr>
              <a:t>않음</a:t>
            </a:r>
            <a:endParaRPr sz="1300" dirty="0">
              <a:solidFill>
                <a:srgbClr val="5C5C5C"/>
              </a:solidFill>
              <a:latin typeface="에이투지체 4 Regular"/>
              <a:ea typeface="에이투지체 4 Regular"/>
            </a:endParaRPr>
          </a:p>
        </p:txBody>
      </p:sp>
      <p:cxnSp>
        <p:nvCxnSpPr>
          <p:cNvPr id="33" name="Connector 32"/>
          <p:cNvCxnSpPr/>
          <p:nvPr/>
        </p:nvCxnSpPr>
        <p:spPr>
          <a:xfrm>
            <a:off x="8174736" y="4873752"/>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8174736" y="4983480"/>
            <a:ext cx="3447288" cy="365760"/>
          </a:xfrm>
          <a:prstGeom prst="rect">
            <a:avLst/>
          </a:prstGeom>
          <a:noFill/>
        </p:spPr>
        <p:txBody>
          <a:bodyPr wrap="square" lIns="0" tIns="0" rIns="0" bIns="0" anchor="t">
            <a:spAutoFit/>
          </a:bodyPr>
          <a:lstStyle/>
          <a:p>
            <a:pPr algn="l">
              <a:spcAft>
                <a:spcPts val="300"/>
              </a:spcAft>
            </a:pPr>
            <a:r>
              <a:rPr sz="1300" dirty="0">
                <a:solidFill>
                  <a:srgbClr val="004F9F"/>
                </a:solidFill>
                <a:latin typeface="에이투지체 6 SemiBold"/>
                <a:ea typeface="에이투지체 6 SemiBold"/>
              </a:rPr>
              <a:t>FGO </a:t>
            </a:r>
            <a:r>
              <a:rPr sz="1300" dirty="0" err="1">
                <a:solidFill>
                  <a:srgbClr val="004F9F"/>
                </a:solidFill>
                <a:latin typeface="에이투지체 6 SemiBold"/>
                <a:ea typeface="에이투지체 6 SemiBold"/>
              </a:rPr>
              <a:t>고객</a:t>
            </a:r>
            <a:r>
              <a:rPr sz="1300" dirty="0">
                <a:solidFill>
                  <a:srgbClr val="004F9F"/>
                </a:solidFill>
                <a:latin typeface="에이투지체 6 SemiBold"/>
                <a:ea typeface="에이투지체 6 SemiBold"/>
              </a:rPr>
              <a:t> </a:t>
            </a:r>
            <a:r>
              <a:rPr sz="1300" dirty="0" err="1">
                <a:solidFill>
                  <a:srgbClr val="004F9F"/>
                </a:solidFill>
                <a:latin typeface="에이투지체 6 SemiBold"/>
                <a:ea typeface="에이투지체 6 SemiBold"/>
              </a:rPr>
              <a:t>확장</a:t>
            </a:r>
            <a:r>
              <a:rPr sz="1300" dirty="0">
                <a:solidFill>
                  <a:srgbClr val="004F9F"/>
                </a:solidFill>
                <a:latin typeface="에이투지체 6 SemiBold"/>
                <a:ea typeface="에이투지체 6 SemiBold"/>
              </a:rPr>
              <a:t> </a:t>
            </a:r>
            <a:r>
              <a:rPr sz="1300" dirty="0" err="1">
                <a:solidFill>
                  <a:srgbClr val="004F9F"/>
                </a:solidFill>
                <a:latin typeface="에이투지체 6 SemiBold"/>
                <a:ea typeface="에이투지체 6 SemiBold"/>
              </a:rPr>
              <a:t>장치</a:t>
            </a:r>
            <a:r>
              <a:rPr sz="1300" dirty="0">
                <a:solidFill>
                  <a:srgbClr val="004F9F"/>
                </a:solidFill>
                <a:latin typeface="에이투지체 6 SemiBold"/>
                <a:ea typeface="에이투지체 6 SemiBold"/>
              </a:rPr>
              <a:t> </a:t>
            </a:r>
            <a:r>
              <a:rPr sz="1300" dirty="0" err="1">
                <a:solidFill>
                  <a:srgbClr val="004F9F"/>
                </a:solidFill>
                <a:latin typeface="에이투지체 6 SemiBold"/>
                <a:ea typeface="에이투지체 6 SemiBold"/>
              </a:rPr>
              <a:t>부재</a:t>
            </a:r>
            <a:endParaRPr sz="1300" dirty="0">
              <a:solidFill>
                <a:srgbClr val="004F9F"/>
              </a:solidFill>
              <a:latin typeface="에이투지체 6 SemiBold"/>
              <a:ea typeface="에이투지체 6 SemiBold"/>
            </a:endParaRPr>
          </a:p>
        </p:txBody>
      </p:sp>
      <p:sp>
        <p:nvSpPr>
          <p:cNvPr id="5" name="TextBox 1">
            <a:extLst>
              <a:ext uri="{FF2B5EF4-FFF2-40B4-BE49-F238E27FC236}">
                <a16:creationId xmlns:a16="http://schemas.microsoft.com/office/drawing/2014/main" id="{A0C1430A-0425-8E8B-BD76-BCDC346D9D41}"/>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28EF8-0339-3DF3-9BF5-FCC26D95949F}"/>
            </a:ext>
          </a:extLst>
        </p:cNvPr>
        <p:cNvGrpSpPr/>
        <p:nvPr/>
      </p:nvGrpSpPr>
      <p:grpSpPr>
        <a:xfrm>
          <a:off x="0" y="0"/>
          <a:ext cx="0" cy="0"/>
          <a:chOff x="0" y="0"/>
          <a:chExt cx="0" cy="0"/>
        </a:xfrm>
      </p:grpSpPr>
      <p:sp>
        <p:nvSpPr>
          <p:cNvPr id="28" name="TextBox 7">
            <a:extLst>
              <a:ext uri="{FF2B5EF4-FFF2-40B4-BE49-F238E27FC236}">
                <a16:creationId xmlns:a16="http://schemas.microsoft.com/office/drawing/2014/main" id="{9AF6D2B0-A4C8-A4AD-3C93-B2538575BA98}"/>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9" name="TextBox 8">
            <a:extLst>
              <a:ext uri="{FF2B5EF4-FFF2-40B4-BE49-F238E27FC236}">
                <a16:creationId xmlns:a16="http://schemas.microsoft.com/office/drawing/2014/main" id="{8F438337-0802-DE65-3B81-7837F39914AC}"/>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30" name="PGNO">
            <a:extLst>
              <a:ext uri="{FF2B5EF4-FFF2-40B4-BE49-F238E27FC236}">
                <a16:creationId xmlns:a16="http://schemas.microsoft.com/office/drawing/2014/main" id="{04382256-45B3-4A66-C130-E9AA340C366C}"/>
              </a:ext>
            </a:extLst>
          </p:cNvPr>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31</a:t>
            </a:r>
          </a:p>
        </p:txBody>
      </p:sp>
      <p:sp>
        <p:nvSpPr>
          <p:cNvPr id="2" name="text-121">
            <a:extLst>
              <a:ext uri="{FF2B5EF4-FFF2-40B4-BE49-F238E27FC236}">
                <a16:creationId xmlns:a16="http://schemas.microsoft.com/office/drawing/2014/main" id="{BF2F9775-82E4-1ABA-C564-DB83DB85775C}"/>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rgbClr val="222222"/>
                </a:solidFill>
                <a:latin typeface="에이투지체 8 ExtraBold"/>
                <a:ea typeface="에이투지체 8 ExtraBold"/>
                <a:cs typeface="에이투지체 8 ExtraBold"/>
              </a:rPr>
              <a:t>고객 니즈에 따라 필요한 영양제는 크게 달라지지만</a:t>
            </a:r>
            <a:endParaRPr lang="ko-KR" sz="1900" dirty="0"/>
          </a:p>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현재 세팅으로는 GFA 머신러닝이 이 신호를 잡지 못합니다</a:t>
            </a:r>
            <a:endParaRPr lang="ko-KR" sz="1900" dirty="0"/>
          </a:p>
        </p:txBody>
      </p:sp>
      <p:sp>
        <p:nvSpPr>
          <p:cNvPr id="3" name="text-122">
            <a:extLst>
              <a:ext uri="{FF2B5EF4-FFF2-40B4-BE49-F238E27FC236}">
                <a16:creationId xmlns:a16="http://schemas.microsoft.com/office/drawing/2014/main" id="{4AD63CC8-2563-FAA2-8163-71449564770A}"/>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GFA 현황 진단 ②  연령 신호 중심 · 전 상품 혼합</a:t>
            </a:r>
            <a:endParaRPr lang="ko-KR" sz="1100" dirty="0"/>
          </a:p>
        </p:txBody>
      </p:sp>
      <p:sp>
        <p:nvSpPr>
          <p:cNvPr id="4" name="text-123">
            <a:extLst>
              <a:ext uri="{FF2B5EF4-FFF2-40B4-BE49-F238E27FC236}">
                <a16:creationId xmlns:a16="http://schemas.microsoft.com/office/drawing/2014/main" id="{F9372EAE-8FAA-2049-73EC-D150039124CF}"/>
              </a:ext>
            </a:extLst>
          </p:cNvPr>
          <p:cNvSpPr>
            <a:spLocks noGrp="1"/>
          </p:cNvSpPr>
          <p:nvPr/>
        </p:nvSpPr>
        <p:spPr>
          <a:xfrm>
            <a:off x="552450" y="2085975"/>
            <a:ext cx="4953000"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dirty="0" err="1">
                <a:solidFill>
                  <a:srgbClr val="004F9F"/>
                </a:solidFill>
                <a:latin typeface="에이투지체 6 SemiBold"/>
                <a:ea typeface="에이투지체 6 SemiBold"/>
                <a:cs typeface="에이투지체 6 SemiBold"/>
              </a:rPr>
              <a:t>현재</a:t>
            </a:r>
            <a:r>
              <a:rPr sz="1500" dirty="0">
                <a:solidFill>
                  <a:srgbClr val="004F9F"/>
                </a:solidFill>
                <a:latin typeface="에이투지체 6 SemiBold"/>
                <a:ea typeface="에이투지체 6 SemiBold"/>
                <a:cs typeface="에이투지체 6 SemiBold"/>
              </a:rPr>
              <a:t>  </a:t>
            </a:r>
            <a:r>
              <a:rPr sz="1500" dirty="0" err="1">
                <a:solidFill>
                  <a:srgbClr val="004F9F"/>
                </a:solidFill>
                <a:latin typeface="에이투지체 6 SemiBold"/>
                <a:ea typeface="에이투지체 6 SemiBold"/>
                <a:cs typeface="에이투지체 6 SemiBold"/>
              </a:rPr>
              <a:t>연령</a:t>
            </a:r>
            <a:r>
              <a:rPr sz="1500" dirty="0">
                <a:solidFill>
                  <a:srgbClr val="004F9F"/>
                </a:solidFill>
                <a:latin typeface="에이투지체 6 SemiBold"/>
                <a:ea typeface="에이투지체 6 SemiBold"/>
                <a:cs typeface="에이투지체 6 SemiBold"/>
              </a:rPr>
              <a:t> </a:t>
            </a:r>
            <a:r>
              <a:rPr sz="1500" dirty="0" err="1">
                <a:solidFill>
                  <a:srgbClr val="004F9F"/>
                </a:solidFill>
                <a:latin typeface="에이투지체 6 SemiBold"/>
                <a:ea typeface="에이투지체 6 SemiBold"/>
                <a:cs typeface="에이투지체 6 SemiBold"/>
              </a:rPr>
              <a:t>신호</a:t>
            </a:r>
            <a:r>
              <a:rPr sz="1500" dirty="0">
                <a:solidFill>
                  <a:srgbClr val="004F9F"/>
                </a:solidFill>
                <a:latin typeface="에이투지체 6 SemiBold"/>
                <a:ea typeface="에이투지체 6 SemiBold"/>
                <a:cs typeface="에이투지체 6 SemiBold"/>
              </a:rPr>
              <a:t> </a:t>
            </a:r>
            <a:r>
              <a:rPr sz="1500" dirty="0" err="1">
                <a:solidFill>
                  <a:srgbClr val="004F9F"/>
                </a:solidFill>
                <a:latin typeface="에이투지체 6 SemiBold"/>
                <a:ea typeface="에이투지체 6 SemiBold"/>
                <a:cs typeface="에이투지체 6 SemiBold"/>
              </a:rPr>
              <a:t>중심·전</a:t>
            </a:r>
            <a:r>
              <a:rPr sz="1500" dirty="0">
                <a:solidFill>
                  <a:srgbClr val="004F9F"/>
                </a:solidFill>
                <a:latin typeface="에이투지체 6 SemiBold"/>
                <a:ea typeface="에이투지체 6 SemiBold"/>
                <a:cs typeface="에이투지체 6 SemiBold"/>
              </a:rPr>
              <a:t> </a:t>
            </a:r>
            <a:r>
              <a:rPr sz="1500" dirty="0" err="1">
                <a:solidFill>
                  <a:srgbClr val="004F9F"/>
                </a:solidFill>
                <a:latin typeface="에이투지체 6 SemiBold"/>
                <a:ea typeface="에이투지체 6 SemiBold"/>
                <a:cs typeface="에이투지체 6 SemiBold"/>
              </a:rPr>
              <a:t>상품</a:t>
            </a:r>
            <a:r>
              <a:rPr sz="1500" dirty="0">
                <a:solidFill>
                  <a:srgbClr val="004F9F"/>
                </a:solidFill>
                <a:latin typeface="에이투지체 6 SemiBold"/>
                <a:ea typeface="에이투지체 6 SemiBold"/>
                <a:cs typeface="에이투지체 6 SemiBold"/>
              </a:rPr>
              <a:t> </a:t>
            </a:r>
            <a:r>
              <a:rPr sz="1500" dirty="0" err="1">
                <a:solidFill>
                  <a:srgbClr val="004F9F"/>
                </a:solidFill>
                <a:latin typeface="에이투지체 6 SemiBold"/>
                <a:ea typeface="에이투지체 6 SemiBold"/>
                <a:cs typeface="에이투지체 6 SemiBold"/>
              </a:rPr>
              <a:t>반복</a:t>
            </a:r>
            <a:endParaRPr sz="1500" dirty="0">
              <a:solidFill>
                <a:srgbClr val="004F9F"/>
              </a:solidFill>
              <a:latin typeface="에이투지체 6 SemiBold"/>
              <a:ea typeface="에이투지체 6 SemiBold"/>
              <a:cs typeface="에이투지체 6 SemiBold"/>
            </a:endParaRPr>
          </a:p>
        </p:txBody>
      </p:sp>
      <p:sp>
        <p:nvSpPr>
          <p:cNvPr id="5" name="text-124">
            <a:extLst>
              <a:ext uri="{FF2B5EF4-FFF2-40B4-BE49-F238E27FC236}">
                <a16:creationId xmlns:a16="http://schemas.microsoft.com/office/drawing/2014/main" id="{771EF9BE-55FD-1675-9E4B-2D316A43850E}"/>
              </a:ext>
            </a:extLst>
          </p:cNvPr>
          <p:cNvSpPr>
            <a:spLocks noGrp="1"/>
          </p:cNvSpPr>
          <p:nvPr/>
        </p:nvSpPr>
        <p:spPr>
          <a:xfrm>
            <a:off x="6677025" y="2085975"/>
            <a:ext cx="4933950"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lang="ko-KR" altLang="en-US" sz="1500" dirty="0">
                <a:solidFill>
                  <a:srgbClr val="004F9F"/>
                </a:solidFill>
                <a:latin typeface="에이투지체 6 SemiBold"/>
                <a:ea typeface="에이투지체 6 SemiBold"/>
                <a:cs typeface="에이투지체 6 SemiBold"/>
              </a:rPr>
              <a:t>결과  상품마다 다른 고객 신호가 한 캠페인에 섞입니다</a:t>
            </a:r>
            <a:endParaRPr sz="1500" dirty="0">
              <a:solidFill>
                <a:srgbClr val="004F9F"/>
              </a:solidFill>
              <a:latin typeface="에이투지체 6 SemiBold"/>
              <a:ea typeface="에이투지체 6 SemiBold"/>
              <a:cs typeface="에이투지체 6 SemiBold"/>
            </a:endParaRPr>
          </a:p>
        </p:txBody>
      </p:sp>
      <p:sp>
        <p:nvSpPr>
          <p:cNvPr id="6" name="node-125">
            <a:extLst>
              <a:ext uri="{FF2B5EF4-FFF2-40B4-BE49-F238E27FC236}">
                <a16:creationId xmlns:a16="http://schemas.microsoft.com/office/drawing/2014/main" id="{AA49F68D-865C-1A07-04E5-D8479E075BA5}"/>
              </a:ext>
            </a:extLst>
          </p:cNvPr>
          <p:cNvSpPr>
            <a:spLocks noGrp="1"/>
          </p:cNvSpPr>
          <p:nvPr/>
        </p:nvSpPr>
        <p:spPr>
          <a:xfrm>
            <a:off x="552450" y="2552700"/>
            <a:ext cx="4191000" cy="504825"/>
          </a:xfrm>
          <a:prstGeom prst="roundRect">
            <a:avLst>
              <a:gd name="adj" fmla="val 14490"/>
            </a:avLst>
          </a:prstGeom>
          <a:solidFill>
            <a:srgbClr val="F5F5F5"/>
          </a:solidFill>
          <a:ln w="0">
            <a:noFill/>
          </a:ln>
        </p:spPr>
        <p:txBody>
          <a:bodyPr/>
          <a:lstStyle/>
          <a:p>
            <a:endParaRPr lang="ko-KR" altLang="en-US"/>
          </a:p>
        </p:txBody>
      </p:sp>
      <p:sp>
        <p:nvSpPr>
          <p:cNvPr id="7" name="text-126">
            <a:extLst>
              <a:ext uri="{FF2B5EF4-FFF2-40B4-BE49-F238E27FC236}">
                <a16:creationId xmlns:a16="http://schemas.microsoft.com/office/drawing/2014/main" id="{84AECF9C-BDE5-88D1-CE24-C8FC0634AE14}"/>
              </a:ext>
            </a:extLst>
          </p:cNvPr>
          <p:cNvSpPr>
            <a:spLocks noGrp="1"/>
          </p:cNvSpPr>
          <p:nvPr/>
        </p:nvSpPr>
        <p:spPr>
          <a:xfrm>
            <a:off x="666750" y="2600325"/>
            <a:ext cx="3962400" cy="409575"/>
          </a:xfrm>
          <a:prstGeom prst="rect">
            <a:avLst/>
          </a:prstGeom>
          <a:noFill/>
          <a:ln w="0">
            <a:noFill/>
          </a:ln>
        </p:spPr>
        <p:txBody>
          <a:bodyPr wrap="square" lIns="0" tIns="0" rIns="0" bIns="0" anchor="ctr">
            <a:noAutofit/>
          </a:bodyPr>
          <a:lstStyle>
            <a:defPPr algn="ctr">
              <a:defRPr sz="1402">
                <a:solidFill>
                  <a:srgbClr val="222222"/>
                </a:solidFill>
                <a:latin typeface="에이투지체 6 SemiBold"/>
                <a:ea typeface="에이투지체 6 SemiBold"/>
                <a:cs typeface="에이투지체 6 SemiBold"/>
              </a:defRPr>
            </a:defPPr>
          </a:lstStyle>
          <a:p>
            <a:pPr algn="ctr">
              <a:defRPr sz="1402">
                <a:solidFill>
                  <a:srgbClr val="222222"/>
                </a:solidFill>
                <a:latin typeface="에이투지체 6 SemiBold"/>
                <a:ea typeface="에이투지체 6 SemiBold"/>
                <a:cs typeface="에이투지체 6 SemiBold"/>
              </a:defRPr>
            </a:pPr>
            <a:r>
              <a:rPr sz="1402">
                <a:solidFill>
                  <a:srgbClr val="222222"/>
                </a:solidFill>
                <a:latin typeface="에이투지체 6 SemiBold"/>
                <a:ea typeface="에이투지체 6 SemiBold"/>
                <a:cs typeface="에이투지체 6 SemiBold"/>
              </a:rPr>
              <a:t>30대 신호  전 상품</a:t>
            </a:r>
          </a:p>
        </p:txBody>
      </p:sp>
      <p:sp>
        <p:nvSpPr>
          <p:cNvPr id="8" name="node-127">
            <a:extLst>
              <a:ext uri="{FF2B5EF4-FFF2-40B4-BE49-F238E27FC236}">
                <a16:creationId xmlns:a16="http://schemas.microsoft.com/office/drawing/2014/main" id="{CFE4C7D8-CA92-0DE2-EC3D-A127150E4F52}"/>
              </a:ext>
            </a:extLst>
          </p:cNvPr>
          <p:cNvSpPr>
            <a:spLocks noGrp="1"/>
          </p:cNvSpPr>
          <p:nvPr/>
        </p:nvSpPr>
        <p:spPr>
          <a:xfrm>
            <a:off x="552450" y="3190875"/>
            <a:ext cx="4191000" cy="504825"/>
          </a:xfrm>
          <a:prstGeom prst="roundRect">
            <a:avLst>
              <a:gd name="adj" fmla="val 14490"/>
            </a:avLst>
          </a:prstGeom>
          <a:solidFill>
            <a:srgbClr val="F5F5F5"/>
          </a:solidFill>
          <a:ln w="0">
            <a:noFill/>
          </a:ln>
        </p:spPr>
        <p:txBody>
          <a:bodyPr/>
          <a:lstStyle/>
          <a:p>
            <a:endParaRPr lang="ko-KR" altLang="en-US"/>
          </a:p>
        </p:txBody>
      </p:sp>
      <p:sp>
        <p:nvSpPr>
          <p:cNvPr id="9" name="text-128">
            <a:extLst>
              <a:ext uri="{FF2B5EF4-FFF2-40B4-BE49-F238E27FC236}">
                <a16:creationId xmlns:a16="http://schemas.microsoft.com/office/drawing/2014/main" id="{C050B8E3-5306-A230-BE0C-C742B8590400}"/>
              </a:ext>
            </a:extLst>
          </p:cNvPr>
          <p:cNvSpPr>
            <a:spLocks noGrp="1"/>
          </p:cNvSpPr>
          <p:nvPr/>
        </p:nvSpPr>
        <p:spPr>
          <a:xfrm>
            <a:off x="666750" y="3238500"/>
            <a:ext cx="3962400" cy="409575"/>
          </a:xfrm>
          <a:prstGeom prst="rect">
            <a:avLst/>
          </a:prstGeom>
          <a:noFill/>
          <a:ln w="0">
            <a:noFill/>
          </a:ln>
        </p:spPr>
        <p:txBody>
          <a:bodyPr wrap="square" lIns="0" tIns="0" rIns="0" bIns="0" anchor="ctr">
            <a:noAutofit/>
          </a:bodyPr>
          <a:lstStyle>
            <a:defPPr algn="ctr">
              <a:defRPr sz="1402">
                <a:solidFill>
                  <a:srgbClr val="222222"/>
                </a:solidFill>
                <a:latin typeface="에이투지체 6 SemiBold"/>
                <a:ea typeface="에이투지체 6 SemiBold"/>
                <a:cs typeface="에이투지체 6 SemiBold"/>
              </a:defRPr>
            </a:defPPr>
          </a:lstStyle>
          <a:p>
            <a:pPr algn="ctr">
              <a:defRPr sz="1402">
                <a:solidFill>
                  <a:srgbClr val="222222"/>
                </a:solidFill>
                <a:latin typeface="에이투지체 6 SemiBold"/>
                <a:ea typeface="에이투지체 6 SemiBold"/>
                <a:cs typeface="에이투지체 6 SemiBold"/>
              </a:defRPr>
            </a:pPr>
            <a:r>
              <a:rPr sz="1402" dirty="0">
                <a:solidFill>
                  <a:srgbClr val="222222"/>
                </a:solidFill>
                <a:latin typeface="에이투지체 6 SemiBold"/>
                <a:ea typeface="에이투지체 6 SemiBold"/>
                <a:cs typeface="에이투지체 6 SemiBold"/>
              </a:rPr>
              <a:t>40대 </a:t>
            </a:r>
            <a:r>
              <a:rPr sz="1402" dirty="0" err="1">
                <a:solidFill>
                  <a:srgbClr val="222222"/>
                </a:solidFill>
                <a:latin typeface="에이투지체 6 SemiBold"/>
                <a:ea typeface="에이투지체 6 SemiBold"/>
                <a:cs typeface="에이투지체 6 SemiBold"/>
              </a:rPr>
              <a:t>신호</a:t>
            </a:r>
            <a:r>
              <a:rPr sz="1402" dirty="0">
                <a:solidFill>
                  <a:srgbClr val="222222"/>
                </a:solidFill>
                <a:latin typeface="에이투지체 6 SemiBold"/>
                <a:ea typeface="에이투지체 6 SemiBold"/>
                <a:cs typeface="에이투지체 6 SemiBold"/>
              </a:rPr>
              <a:t>  전 </a:t>
            </a:r>
            <a:r>
              <a:rPr sz="1402" dirty="0" err="1">
                <a:solidFill>
                  <a:srgbClr val="222222"/>
                </a:solidFill>
                <a:latin typeface="에이투지체 6 SemiBold"/>
                <a:ea typeface="에이투지체 6 SemiBold"/>
                <a:cs typeface="에이투지체 6 SemiBold"/>
              </a:rPr>
              <a:t>상품</a:t>
            </a:r>
            <a:endParaRPr sz="1402" dirty="0">
              <a:solidFill>
                <a:srgbClr val="222222"/>
              </a:solidFill>
              <a:latin typeface="에이투지체 6 SemiBold"/>
              <a:ea typeface="에이투지체 6 SemiBold"/>
              <a:cs typeface="에이투지체 6 SemiBold"/>
            </a:endParaRPr>
          </a:p>
        </p:txBody>
      </p:sp>
      <p:sp>
        <p:nvSpPr>
          <p:cNvPr id="10" name="node-129">
            <a:extLst>
              <a:ext uri="{FF2B5EF4-FFF2-40B4-BE49-F238E27FC236}">
                <a16:creationId xmlns:a16="http://schemas.microsoft.com/office/drawing/2014/main" id="{E984A232-708F-3535-642E-EC263BFA1496}"/>
              </a:ext>
            </a:extLst>
          </p:cNvPr>
          <p:cNvSpPr>
            <a:spLocks noGrp="1"/>
          </p:cNvSpPr>
          <p:nvPr/>
        </p:nvSpPr>
        <p:spPr>
          <a:xfrm>
            <a:off x="552450" y="3829050"/>
            <a:ext cx="4191000" cy="504825"/>
          </a:xfrm>
          <a:prstGeom prst="roundRect">
            <a:avLst>
              <a:gd name="adj" fmla="val 14490"/>
            </a:avLst>
          </a:prstGeom>
          <a:solidFill>
            <a:srgbClr val="F5F5F5"/>
          </a:solidFill>
          <a:ln w="0">
            <a:noFill/>
          </a:ln>
        </p:spPr>
        <p:txBody>
          <a:bodyPr/>
          <a:lstStyle/>
          <a:p>
            <a:endParaRPr lang="ko-KR" altLang="en-US"/>
          </a:p>
        </p:txBody>
      </p:sp>
      <p:sp>
        <p:nvSpPr>
          <p:cNvPr id="11" name="text-130">
            <a:extLst>
              <a:ext uri="{FF2B5EF4-FFF2-40B4-BE49-F238E27FC236}">
                <a16:creationId xmlns:a16="http://schemas.microsoft.com/office/drawing/2014/main" id="{4B8836A2-DB9B-480C-97BE-A4664019FAE7}"/>
              </a:ext>
            </a:extLst>
          </p:cNvPr>
          <p:cNvSpPr>
            <a:spLocks noGrp="1"/>
          </p:cNvSpPr>
          <p:nvPr/>
        </p:nvSpPr>
        <p:spPr>
          <a:xfrm>
            <a:off x="666750" y="3876675"/>
            <a:ext cx="3962400" cy="409575"/>
          </a:xfrm>
          <a:prstGeom prst="rect">
            <a:avLst/>
          </a:prstGeom>
          <a:noFill/>
          <a:ln w="0">
            <a:noFill/>
          </a:ln>
        </p:spPr>
        <p:txBody>
          <a:bodyPr wrap="square" lIns="0" tIns="0" rIns="0" bIns="0" anchor="ctr">
            <a:noAutofit/>
          </a:bodyPr>
          <a:lstStyle>
            <a:defPPr algn="ctr">
              <a:defRPr sz="1402">
                <a:solidFill>
                  <a:srgbClr val="222222"/>
                </a:solidFill>
                <a:latin typeface="에이투지체 6 SemiBold"/>
                <a:ea typeface="에이투지체 6 SemiBold"/>
                <a:cs typeface="에이투지체 6 SemiBold"/>
              </a:defRPr>
            </a:defPPr>
          </a:lstStyle>
          <a:p>
            <a:pPr algn="ctr">
              <a:defRPr sz="1402">
                <a:solidFill>
                  <a:srgbClr val="222222"/>
                </a:solidFill>
                <a:latin typeface="에이투지체 6 SemiBold"/>
                <a:ea typeface="에이투지체 6 SemiBold"/>
                <a:cs typeface="에이투지체 6 SemiBold"/>
              </a:defRPr>
            </a:pPr>
            <a:r>
              <a:rPr sz="1402" dirty="0">
                <a:solidFill>
                  <a:srgbClr val="222222"/>
                </a:solidFill>
                <a:latin typeface="에이투지체 6 SemiBold"/>
                <a:ea typeface="에이투지체 6 SemiBold"/>
                <a:cs typeface="에이투지체 6 SemiBold"/>
              </a:rPr>
              <a:t>50대 </a:t>
            </a:r>
            <a:r>
              <a:rPr sz="1402" dirty="0" err="1">
                <a:solidFill>
                  <a:srgbClr val="222222"/>
                </a:solidFill>
                <a:latin typeface="에이투지체 6 SemiBold"/>
                <a:ea typeface="에이투지체 6 SemiBold"/>
                <a:cs typeface="에이투지체 6 SemiBold"/>
              </a:rPr>
              <a:t>신호</a:t>
            </a:r>
            <a:r>
              <a:rPr sz="1402" dirty="0">
                <a:solidFill>
                  <a:srgbClr val="222222"/>
                </a:solidFill>
                <a:latin typeface="에이투지체 6 SemiBold"/>
                <a:ea typeface="에이투지체 6 SemiBold"/>
                <a:cs typeface="에이투지체 6 SemiBold"/>
              </a:rPr>
              <a:t>  전 </a:t>
            </a:r>
            <a:r>
              <a:rPr sz="1402" dirty="0" err="1">
                <a:solidFill>
                  <a:srgbClr val="222222"/>
                </a:solidFill>
                <a:latin typeface="에이투지체 6 SemiBold"/>
                <a:ea typeface="에이투지체 6 SemiBold"/>
                <a:cs typeface="에이투지체 6 SemiBold"/>
              </a:rPr>
              <a:t>상품</a:t>
            </a:r>
            <a:endParaRPr sz="1402" dirty="0">
              <a:solidFill>
                <a:srgbClr val="222222"/>
              </a:solidFill>
              <a:latin typeface="에이투지체 6 SemiBold"/>
              <a:ea typeface="에이투지체 6 SemiBold"/>
              <a:cs typeface="에이투지체 6 SemiBold"/>
            </a:endParaRPr>
          </a:p>
        </p:txBody>
      </p:sp>
      <p:sp>
        <p:nvSpPr>
          <p:cNvPr id="12" name="node-131">
            <a:extLst>
              <a:ext uri="{FF2B5EF4-FFF2-40B4-BE49-F238E27FC236}">
                <a16:creationId xmlns:a16="http://schemas.microsoft.com/office/drawing/2014/main" id="{D94F269C-DE99-EF6C-1034-0C50A29A9141}"/>
              </a:ext>
            </a:extLst>
          </p:cNvPr>
          <p:cNvSpPr>
            <a:spLocks noGrp="1"/>
          </p:cNvSpPr>
          <p:nvPr/>
        </p:nvSpPr>
        <p:spPr>
          <a:xfrm>
            <a:off x="552450" y="4467225"/>
            <a:ext cx="4191000" cy="504825"/>
          </a:xfrm>
          <a:prstGeom prst="roundRect">
            <a:avLst>
              <a:gd name="adj" fmla="val 14490"/>
            </a:avLst>
          </a:prstGeom>
          <a:solidFill>
            <a:srgbClr val="F5F5F5"/>
          </a:solidFill>
          <a:ln w="0">
            <a:noFill/>
          </a:ln>
        </p:spPr>
        <p:txBody>
          <a:bodyPr/>
          <a:lstStyle/>
          <a:p>
            <a:endParaRPr lang="ko-KR" altLang="en-US"/>
          </a:p>
        </p:txBody>
      </p:sp>
      <p:sp>
        <p:nvSpPr>
          <p:cNvPr id="13" name="text-132">
            <a:extLst>
              <a:ext uri="{FF2B5EF4-FFF2-40B4-BE49-F238E27FC236}">
                <a16:creationId xmlns:a16="http://schemas.microsoft.com/office/drawing/2014/main" id="{5A42472D-C200-5C13-08F4-B7989AFDC36A}"/>
              </a:ext>
            </a:extLst>
          </p:cNvPr>
          <p:cNvSpPr>
            <a:spLocks noGrp="1"/>
          </p:cNvSpPr>
          <p:nvPr/>
        </p:nvSpPr>
        <p:spPr>
          <a:xfrm>
            <a:off x="666750" y="4514850"/>
            <a:ext cx="3962400" cy="409575"/>
          </a:xfrm>
          <a:prstGeom prst="rect">
            <a:avLst/>
          </a:prstGeom>
          <a:noFill/>
          <a:ln w="0">
            <a:noFill/>
          </a:ln>
        </p:spPr>
        <p:txBody>
          <a:bodyPr wrap="square" lIns="0" tIns="0" rIns="0" bIns="0" anchor="ctr">
            <a:noAutofit/>
          </a:bodyPr>
          <a:lstStyle>
            <a:defPPr algn="ctr">
              <a:defRPr sz="1402">
                <a:solidFill>
                  <a:srgbClr val="222222"/>
                </a:solidFill>
                <a:latin typeface="에이투지체 6 SemiBold"/>
                <a:ea typeface="에이투지체 6 SemiBold"/>
                <a:cs typeface="에이투지체 6 SemiBold"/>
              </a:defRPr>
            </a:defPPr>
          </a:lstStyle>
          <a:p>
            <a:pPr algn="ctr">
              <a:defRPr sz="1402">
                <a:solidFill>
                  <a:srgbClr val="222222"/>
                </a:solidFill>
                <a:latin typeface="에이투지체 6 SemiBold"/>
                <a:ea typeface="에이투지체 6 SemiBold"/>
                <a:cs typeface="에이투지체 6 SemiBold"/>
              </a:defRPr>
            </a:pPr>
            <a:r>
              <a:rPr sz="1402">
                <a:solidFill>
                  <a:srgbClr val="222222"/>
                </a:solidFill>
                <a:latin typeface="에이투지체 6 SemiBold"/>
                <a:ea typeface="에이투지체 6 SemiBold"/>
                <a:cs typeface="에이투지체 6 SemiBold"/>
              </a:rPr>
              <a:t>60대 이상 신호  전 상품</a:t>
            </a:r>
          </a:p>
        </p:txBody>
      </p:sp>
      <p:sp>
        <p:nvSpPr>
          <p:cNvPr id="23" name="화살표: 오른쪽 22">
            <a:extLst>
              <a:ext uri="{FF2B5EF4-FFF2-40B4-BE49-F238E27FC236}">
                <a16:creationId xmlns:a16="http://schemas.microsoft.com/office/drawing/2014/main" id="{17031D75-33CB-88AB-09F9-BE2465630F4F}"/>
              </a:ext>
            </a:extLst>
          </p:cNvPr>
          <p:cNvSpPr>
            <a:spLocks noGrp="1"/>
          </p:cNvSpPr>
          <p:nvPr/>
        </p:nvSpPr>
        <p:spPr>
          <a:xfrm>
            <a:off x="5276850" y="3762375"/>
            <a:ext cx="971550" cy="476250"/>
          </a:xfrm>
          <a:prstGeom prst="rightArrow">
            <a:avLst/>
          </a:prstGeom>
          <a:solidFill>
            <a:srgbClr val="004F9F"/>
          </a:solidFill>
          <a:ln w="0">
            <a:noFill/>
          </a:ln>
        </p:spPr>
        <p:txBody>
          <a:bodyPr/>
          <a:lstStyle/>
          <a:p>
            <a:endParaRPr lang="ko-KR" altLang="en-US"/>
          </a:p>
        </p:txBody>
      </p:sp>
      <p:sp>
        <p:nvSpPr>
          <p:cNvPr id="24" name="node-142">
            <a:extLst>
              <a:ext uri="{FF2B5EF4-FFF2-40B4-BE49-F238E27FC236}">
                <a16:creationId xmlns:a16="http://schemas.microsoft.com/office/drawing/2014/main" id="{5300D22D-F4E3-4E4C-2113-FD9B7D65C0E5}"/>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dirty="0"/>
          </a:p>
        </p:txBody>
      </p:sp>
      <p:sp>
        <p:nvSpPr>
          <p:cNvPr id="25" name="text-143">
            <a:extLst>
              <a:ext uri="{FF2B5EF4-FFF2-40B4-BE49-F238E27FC236}">
                <a16:creationId xmlns:a16="http://schemas.microsoft.com/office/drawing/2014/main" id="{9BAED3D2-52C1-A2DD-BD1B-0C6D1DB58B06}"/>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lang="ko-KR" altLang="en-US" sz="1358" dirty="0">
                <a:solidFill>
                  <a:srgbClr val="004F9F"/>
                </a:solidFill>
                <a:latin typeface="에이투지체 6 SemiBold"/>
                <a:ea typeface="에이투지체 6 SemiBold"/>
                <a:cs typeface="에이투지체 6 SemiBold"/>
              </a:rPr>
              <a:t>상품마다 캠페인을 명확히 나누어</a:t>
            </a:r>
            <a:r>
              <a:rPr lang="en-US" altLang="ko-K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상품별</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구매</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성과와</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예산을</a:t>
            </a:r>
            <a:r>
              <a:rPr sz="1358" dirty="0">
                <a:solidFill>
                  <a:srgbClr val="004F9F"/>
                </a:solidFill>
                <a:latin typeface="에이투지체 6 SemiBold"/>
                <a:ea typeface="에이투지체 6 SemiBold"/>
                <a:cs typeface="에이투지체 6 SemiBold"/>
              </a:rPr>
              <a:t> </a:t>
            </a:r>
            <a:r>
              <a:rPr lang="ko-KR" altLang="en-US" sz="1358" dirty="0">
                <a:solidFill>
                  <a:srgbClr val="004F9F"/>
                </a:solidFill>
                <a:latin typeface="에이투지체 6 SemiBold"/>
                <a:ea typeface="에이투지체 6 SemiBold"/>
                <a:cs typeface="에이투지체 6 SemiBold"/>
              </a:rPr>
              <a:t>관리해야 할 때 입니다</a:t>
            </a:r>
            <a:endParaRPr sz="1358" dirty="0">
              <a:solidFill>
                <a:srgbClr val="FFFFFF"/>
              </a:solidFill>
              <a:latin typeface="에이투지체 6 SemiBold"/>
              <a:ea typeface="에이투지체 6 SemiBold"/>
              <a:cs typeface="에이투지체 6 SemiBold"/>
            </a:endParaRPr>
          </a:p>
        </p:txBody>
      </p:sp>
      <p:sp>
        <p:nvSpPr>
          <p:cNvPr id="31" name="Rectangle 30"/>
          <p:cNvSpPr/>
          <p:nvPr/>
        </p:nvSpPr>
        <p:spPr>
          <a:xfrm>
            <a:off x="6675120" y="2551176"/>
            <a:ext cx="4937760" cy="841248"/>
          </a:xfrm>
          <a:prstGeom prst="roundRect">
            <a:avLst>
              <a:gd name="adj" fmla="val 869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812280" y="2551176"/>
            <a:ext cx="502920" cy="841248"/>
          </a:xfrm>
          <a:prstGeom prst="rect">
            <a:avLst/>
          </a:prstGeom>
          <a:noFill/>
        </p:spPr>
        <p:txBody>
          <a:bodyPr wrap="square" lIns="0" tIns="0" rIns="0" bIns="0" anchor="ctr">
            <a:spAutoFit/>
          </a:bodyPr>
          <a:lstStyle/>
          <a:p>
            <a:pPr algn="l">
              <a:spcAft>
                <a:spcPts val="300"/>
              </a:spcAft>
            </a:pPr>
            <a:r>
              <a:rPr sz="1600">
                <a:solidFill>
                  <a:srgbClr val="004F9F"/>
                </a:solidFill>
                <a:latin typeface="에이투지체 8 ExtraBold"/>
                <a:ea typeface="에이투지체 8 ExtraBold"/>
              </a:rPr>
              <a:t>01</a:t>
            </a:r>
          </a:p>
        </p:txBody>
      </p:sp>
      <p:sp>
        <p:nvSpPr>
          <p:cNvPr id="33" name="TextBox 32"/>
          <p:cNvSpPr txBox="1"/>
          <p:nvPr/>
        </p:nvSpPr>
        <p:spPr>
          <a:xfrm>
            <a:off x="7360920" y="2642616"/>
            <a:ext cx="4114800" cy="731520"/>
          </a:xfrm>
          <a:prstGeom prst="rect">
            <a:avLst/>
          </a:prstGeom>
          <a:noFill/>
        </p:spPr>
        <p:txBody>
          <a:bodyPr wrap="square" lIns="0" tIns="0" rIns="0" bIns="0" anchor="ctr">
            <a:spAutoFit/>
          </a:bodyPr>
          <a:lstStyle/>
          <a:p>
            <a:pPr algn="l">
              <a:spcAft>
                <a:spcPts val="200"/>
              </a:spcAft>
            </a:pPr>
            <a:r>
              <a:rPr sz="1350" dirty="0" err="1">
                <a:solidFill>
                  <a:srgbClr val="222222"/>
                </a:solidFill>
                <a:latin typeface="에이투지체 6 SemiBold"/>
                <a:ea typeface="에이투지체 6 SemiBold"/>
              </a:rPr>
              <a:t>구매</a:t>
            </a:r>
            <a:r>
              <a:rPr sz="1350" dirty="0">
                <a:solidFill>
                  <a:srgbClr val="222222"/>
                </a:solidFill>
                <a:latin typeface="에이투지체 6 SemiBold"/>
                <a:ea typeface="에이투지체 6 SemiBold"/>
              </a:rPr>
              <a:t> </a:t>
            </a:r>
            <a:r>
              <a:rPr sz="1350" dirty="0" err="1">
                <a:solidFill>
                  <a:srgbClr val="222222"/>
                </a:solidFill>
                <a:latin typeface="에이투지체 6 SemiBold"/>
                <a:ea typeface="에이투지체 6 SemiBold"/>
              </a:rPr>
              <a:t>고객이</a:t>
            </a:r>
            <a:r>
              <a:rPr sz="1350" dirty="0">
                <a:solidFill>
                  <a:srgbClr val="222222"/>
                </a:solidFill>
                <a:latin typeface="에이투지체 6 SemiBold"/>
                <a:ea typeface="에이투지체 6 SemiBold"/>
              </a:rPr>
              <a:t> </a:t>
            </a:r>
            <a:r>
              <a:rPr sz="1350" dirty="0" err="1">
                <a:solidFill>
                  <a:srgbClr val="222222"/>
                </a:solidFill>
                <a:latin typeface="에이투지체 6 SemiBold"/>
                <a:ea typeface="에이투지체 6 SemiBold"/>
              </a:rPr>
              <a:t>서로</a:t>
            </a:r>
            <a:r>
              <a:rPr sz="1350" dirty="0">
                <a:solidFill>
                  <a:srgbClr val="222222"/>
                </a:solidFill>
                <a:latin typeface="에이투지체 6 SemiBold"/>
                <a:ea typeface="에이투지체 6 SemiBold"/>
              </a:rPr>
              <a:t> </a:t>
            </a:r>
            <a:r>
              <a:rPr sz="1350" dirty="0" err="1">
                <a:solidFill>
                  <a:srgbClr val="222222"/>
                </a:solidFill>
                <a:latin typeface="에이투지체 6 SemiBold"/>
                <a:ea typeface="에이투지체 6 SemiBold"/>
              </a:rPr>
              <a:t>다른</a:t>
            </a:r>
            <a:r>
              <a:rPr sz="1350" dirty="0">
                <a:solidFill>
                  <a:srgbClr val="222222"/>
                </a:solidFill>
                <a:latin typeface="에이투지체 6 SemiBold"/>
                <a:ea typeface="에이투지체 6 SemiBold"/>
              </a:rPr>
              <a:t> </a:t>
            </a:r>
            <a:r>
              <a:rPr sz="1350" dirty="0" err="1">
                <a:solidFill>
                  <a:srgbClr val="222222"/>
                </a:solidFill>
                <a:latin typeface="에이투지체 6 SemiBold"/>
                <a:ea typeface="에이투지체 6 SemiBold"/>
              </a:rPr>
              <a:t>상품이</a:t>
            </a:r>
            <a:r>
              <a:rPr sz="1350" dirty="0">
                <a:solidFill>
                  <a:srgbClr val="222222"/>
                </a:solidFill>
                <a:latin typeface="에이투지체 6 SemiBold"/>
                <a:ea typeface="에이투지체 6 SemiBold"/>
              </a:rPr>
              <a:t> </a:t>
            </a:r>
            <a:r>
              <a:rPr sz="1350" dirty="0" err="1">
                <a:solidFill>
                  <a:srgbClr val="222222"/>
                </a:solidFill>
                <a:latin typeface="에이투지체 6 SemiBold"/>
                <a:ea typeface="에이투지체 6 SemiBold"/>
              </a:rPr>
              <a:t>함께</a:t>
            </a:r>
            <a:r>
              <a:rPr sz="1350" dirty="0">
                <a:solidFill>
                  <a:srgbClr val="222222"/>
                </a:solidFill>
                <a:latin typeface="에이투지체 6 SemiBold"/>
                <a:ea typeface="에이투지체 6 SemiBold"/>
              </a:rPr>
              <a:t> </a:t>
            </a:r>
            <a:r>
              <a:rPr sz="1350" dirty="0" err="1">
                <a:solidFill>
                  <a:srgbClr val="222222"/>
                </a:solidFill>
                <a:latin typeface="에이투지체 6 SemiBold"/>
                <a:ea typeface="에이투지체 6 SemiBold"/>
              </a:rPr>
              <a:t>학습</a:t>
            </a:r>
            <a:endParaRPr sz="1350" dirty="0">
              <a:solidFill>
                <a:srgbClr val="222222"/>
              </a:solidFill>
              <a:latin typeface="에이투지체 6 SemiBold"/>
              <a:ea typeface="에이투지체 6 SemiBold"/>
            </a:endParaRPr>
          </a:p>
          <a:p>
            <a:pPr algn="l">
              <a:spcAft>
                <a:spcPts val="200"/>
              </a:spcAft>
            </a:pPr>
            <a:r>
              <a:rPr sz="1050" dirty="0" err="1">
                <a:solidFill>
                  <a:srgbClr val="5C5C5C"/>
                </a:solidFill>
                <a:latin typeface="에이투지체 4 Regular"/>
                <a:ea typeface="에이투지체 4 Regular"/>
              </a:rPr>
              <a:t>키성장</a:t>
            </a:r>
            <a:r>
              <a:rPr sz="1050" dirty="0">
                <a:solidFill>
                  <a:srgbClr val="5C5C5C"/>
                </a:solidFill>
                <a:latin typeface="에이투지체 4 Regular"/>
                <a:ea typeface="에이투지체 4 Regular"/>
              </a:rPr>
              <a:t>(</a:t>
            </a:r>
            <a:r>
              <a:rPr sz="1050" dirty="0" err="1">
                <a:solidFill>
                  <a:srgbClr val="5C5C5C"/>
                </a:solidFill>
                <a:latin typeface="에이투지체 4 Regular"/>
                <a:ea typeface="에이투지체 4 Regular"/>
              </a:rPr>
              <a:t>성장기</a:t>
            </a:r>
            <a:r>
              <a:rPr sz="1050" dirty="0">
                <a:solidFill>
                  <a:srgbClr val="5C5C5C"/>
                </a:solidFill>
                <a:latin typeface="에이투지체 4 Regular"/>
                <a:ea typeface="에이투지체 4 Regular"/>
              </a:rPr>
              <a:t> </a:t>
            </a:r>
            <a:r>
              <a:rPr sz="1050" dirty="0" err="1">
                <a:solidFill>
                  <a:srgbClr val="5C5C5C"/>
                </a:solidFill>
                <a:latin typeface="에이투지체 4 Regular"/>
                <a:ea typeface="에이투지체 4 Regular"/>
              </a:rPr>
              <a:t>자녀</a:t>
            </a:r>
            <a:r>
              <a:rPr sz="1050" dirty="0">
                <a:solidFill>
                  <a:srgbClr val="5C5C5C"/>
                </a:solidFill>
                <a:latin typeface="에이투지체 4 Regular"/>
                <a:ea typeface="에이투지체 4 Regular"/>
              </a:rPr>
              <a:t> </a:t>
            </a:r>
            <a:r>
              <a:rPr sz="1050" dirty="0" err="1">
                <a:solidFill>
                  <a:srgbClr val="5C5C5C"/>
                </a:solidFill>
                <a:latin typeface="에이투지체 4 Regular"/>
                <a:ea typeface="에이투지체 4 Regular"/>
              </a:rPr>
              <a:t>부모</a:t>
            </a:r>
            <a:r>
              <a:rPr sz="1050" dirty="0">
                <a:solidFill>
                  <a:srgbClr val="5C5C5C"/>
                </a:solidFill>
                <a:latin typeface="에이투지체 4 Regular"/>
                <a:ea typeface="에이투지체 4 Regular"/>
              </a:rPr>
              <a:t>) · </a:t>
            </a:r>
            <a:r>
              <a:rPr sz="1050" dirty="0" err="1">
                <a:solidFill>
                  <a:srgbClr val="5C5C5C"/>
                </a:solidFill>
                <a:latin typeface="에이투지체 4 Regular"/>
                <a:ea typeface="에이투지체 4 Regular"/>
              </a:rPr>
              <a:t>다이어트</a:t>
            </a:r>
            <a:r>
              <a:rPr sz="1050" dirty="0">
                <a:solidFill>
                  <a:srgbClr val="5C5C5C"/>
                </a:solidFill>
                <a:latin typeface="에이투지체 4 Regular"/>
                <a:ea typeface="에이투지체 4 Regular"/>
              </a:rPr>
              <a:t>(</a:t>
            </a:r>
            <a:r>
              <a:rPr sz="1050" dirty="0" err="1">
                <a:solidFill>
                  <a:srgbClr val="5C5C5C"/>
                </a:solidFill>
                <a:latin typeface="에이투지체 4 Regular"/>
                <a:ea typeface="에이투지체 4 Regular"/>
              </a:rPr>
              <a:t>여성</a:t>
            </a:r>
            <a:r>
              <a:rPr sz="1050" dirty="0">
                <a:solidFill>
                  <a:srgbClr val="5C5C5C"/>
                </a:solidFill>
                <a:latin typeface="에이투지체 4 Regular"/>
                <a:ea typeface="에이투지체 4 Regular"/>
              </a:rPr>
              <a:t>) · </a:t>
            </a:r>
            <a:r>
              <a:rPr sz="1050" dirty="0" err="1">
                <a:solidFill>
                  <a:srgbClr val="5C5C5C"/>
                </a:solidFill>
                <a:latin typeface="에이투지체 4 Regular"/>
                <a:ea typeface="에이투지체 4 Regular"/>
              </a:rPr>
              <a:t>중장년</a:t>
            </a:r>
            <a:r>
              <a:rPr sz="1050" dirty="0">
                <a:solidFill>
                  <a:srgbClr val="5C5C5C"/>
                </a:solidFill>
                <a:latin typeface="에이투지체 4 Regular"/>
                <a:ea typeface="에이투지체 4 Regular"/>
              </a:rPr>
              <a:t> </a:t>
            </a:r>
            <a:r>
              <a:rPr sz="1050" dirty="0" err="1">
                <a:solidFill>
                  <a:srgbClr val="5C5C5C"/>
                </a:solidFill>
                <a:latin typeface="에이투지체 4 Regular"/>
                <a:ea typeface="에이투지체 4 Regular"/>
              </a:rPr>
              <a:t>건강</a:t>
            </a:r>
            <a:r>
              <a:rPr sz="1050" dirty="0">
                <a:solidFill>
                  <a:srgbClr val="5C5C5C"/>
                </a:solidFill>
                <a:latin typeface="에이투지체 4 Regular"/>
                <a:ea typeface="에이투지체 4 Regular"/>
              </a:rPr>
              <a:t> </a:t>
            </a:r>
            <a:r>
              <a:rPr sz="1050" dirty="0" err="1">
                <a:solidFill>
                  <a:srgbClr val="5C5C5C"/>
                </a:solidFill>
                <a:latin typeface="에이투지체 4 Regular"/>
                <a:ea typeface="에이투지체 4 Regular"/>
              </a:rPr>
              <a:t>상품이</a:t>
            </a:r>
            <a:r>
              <a:rPr sz="1050" dirty="0">
                <a:solidFill>
                  <a:srgbClr val="5C5C5C"/>
                </a:solidFill>
                <a:latin typeface="에이투지체 4 Regular"/>
                <a:ea typeface="에이투지체 4 Regular"/>
              </a:rPr>
              <a:t> </a:t>
            </a:r>
            <a:r>
              <a:rPr sz="1050" dirty="0" err="1">
                <a:solidFill>
                  <a:srgbClr val="5C5C5C"/>
                </a:solidFill>
                <a:latin typeface="에이투지체 4 Regular"/>
                <a:ea typeface="에이투지체 4 Regular"/>
              </a:rPr>
              <a:t>같은</a:t>
            </a:r>
            <a:r>
              <a:rPr sz="1050" dirty="0">
                <a:solidFill>
                  <a:srgbClr val="5C5C5C"/>
                </a:solidFill>
                <a:latin typeface="에이투지체 4 Regular"/>
                <a:ea typeface="에이투지체 4 Regular"/>
              </a:rPr>
              <a:t> </a:t>
            </a:r>
            <a:r>
              <a:rPr sz="1050" dirty="0" err="1">
                <a:solidFill>
                  <a:srgbClr val="5C5C5C"/>
                </a:solidFill>
                <a:latin typeface="에이투지체 4 Regular"/>
                <a:ea typeface="에이투지체 4 Regular"/>
              </a:rPr>
              <a:t>캠페인</a:t>
            </a:r>
            <a:r>
              <a:rPr sz="1050" dirty="0">
                <a:solidFill>
                  <a:srgbClr val="5C5C5C"/>
                </a:solidFill>
                <a:latin typeface="에이투지체 4 Regular"/>
                <a:ea typeface="에이투지체 4 Regular"/>
              </a:rPr>
              <a:t> </a:t>
            </a:r>
            <a:r>
              <a:rPr sz="1050" dirty="0" err="1">
                <a:solidFill>
                  <a:srgbClr val="5C5C5C"/>
                </a:solidFill>
                <a:latin typeface="에이투지체 4 Regular"/>
                <a:ea typeface="에이투지체 4 Regular"/>
              </a:rPr>
              <a:t>안에서</a:t>
            </a:r>
            <a:r>
              <a:rPr sz="1050" dirty="0">
                <a:solidFill>
                  <a:srgbClr val="5C5C5C"/>
                </a:solidFill>
                <a:latin typeface="에이투지체 4 Regular"/>
                <a:ea typeface="에이투지체 4 Regular"/>
              </a:rPr>
              <a:t> </a:t>
            </a:r>
            <a:r>
              <a:rPr sz="1050" dirty="0" err="1">
                <a:solidFill>
                  <a:srgbClr val="5C5C5C"/>
                </a:solidFill>
                <a:latin typeface="에이투지체 4 Regular"/>
                <a:ea typeface="에이투지체 4 Regular"/>
              </a:rPr>
              <a:t>학습</a:t>
            </a:r>
            <a:endParaRPr sz="1050" dirty="0">
              <a:solidFill>
                <a:srgbClr val="5C5C5C"/>
              </a:solidFill>
              <a:latin typeface="에이투지체 4 Regular"/>
              <a:ea typeface="에이투지체 4 Regular"/>
            </a:endParaRPr>
          </a:p>
        </p:txBody>
      </p:sp>
      <p:sp>
        <p:nvSpPr>
          <p:cNvPr id="34" name="Rectangle 33"/>
          <p:cNvSpPr/>
          <p:nvPr/>
        </p:nvSpPr>
        <p:spPr>
          <a:xfrm>
            <a:off x="6675120" y="3511296"/>
            <a:ext cx="4937760" cy="841248"/>
          </a:xfrm>
          <a:prstGeom prst="roundRect">
            <a:avLst>
              <a:gd name="adj" fmla="val 869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12280" y="3511296"/>
            <a:ext cx="502920" cy="841248"/>
          </a:xfrm>
          <a:prstGeom prst="rect">
            <a:avLst/>
          </a:prstGeom>
          <a:noFill/>
        </p:spPr>
        <p:txBody>
          <a:bodyPr wrap="square" lIns="0" tIns="0" rIns="0" bIns="0" anchor="ctr">
            <a:spAutoFit/>
          </a:bodyPr>
          <a:lstStyle/>
          <a:p>
            <a:pPr algn="l">
              <a:spcAft>
                <a:spcPts val="300"/>
              </a:spcAft>
            </a:pPr>
            <a:r>
              <a:rPr sz="1600">
                <a:solidFill>
                  <a:srgbClr val="004F9F"/>
                </a:solidFill>
                <a:latin typeface="에이투지체 8 ExtraBold"/>
                <a:ea typeface="에이투지체 8 ExtraBold"/>
              </a:rPr>
              <a:t>02</a:t>
            </a:r>
          </a:p>
        </p:txBody>
      </p:sp>
      <p:sp>
        <p:nvSpPr>
          <p:cNvPr id="36" name="TextBox 35"/>
          <p:cNvSpPr txBox="1"/>
          <p:nvPr/>
        </p:nvSpPr>
        <p:spPr>
          <a:xfrm>
            <a:off x="7360920" y="3602736"/>
            <a:ext cx="4114800" cy="731520"/>
          </a:xfrm>
          <a:prstGeom prst="rect">
            <a:avLst/>
          </a:prstGeom>
          <a:noFill/>
        </p:spPr>
        <p:txBody>
          <a:bodyPr wrap="square" lIns="0" tIns="0" rIns="0" bIns="0" anchor="ctr">
            <a:spAutoFit/>
          </a:bodyPr>
          <a:lstStyle/>
          <a:p>
            <a:pPr algn="l">
              <a:spcAft>
                <a:spcPts val="200"/>
              </a:spcAft>
            </a:pPr>
            <a:r>
              <a:rPr sz="1350" dirty="0" err="1">
                <a:solidFill>
                  <a:srgbClr val="222222"/>
                </a:solidFill>
                <a:latin typeface="에이투지체 6 SemiBold"/>
                <a:ea typeface="에이투지체 6 SemiBold"/>
              </a:rPr>
              <a:t>상품별</a:t>
            </a:r>
            <a:r>
              <a:rPr sz="1350" dirty="0">
                <a:solidFill>
                  <a:srgbClr val="222222"/>
                </a:solidFill>
                <a:latin typeface="에이투지체 6 SemiBold"/>
                <a:ea typeface="에이투지체 6 SemiBold"/>
              </a:rPr>
              <a:t> </a:t>
            </a:r>
            <a:r>
              <a:rPr sz="1350" dirty="0" err="1">
                <a:solidFill>
                  <a:srgbClr val="222222"/>
                </a:solidFill>
                <a:latin typeface="에이투지체 6 SemiBold"/>
                <a:ea typeface="에이투지체 6 SemiBold"/>
              </a:rPr>
              <a:t>성과를</a:t>
            </a:r>
            <a:r>
              <a:rPr sz="1350" dirty="0">
                <a:solidFill>
                  <a:srgbClr val="222222"/>
                </a:solidFill>
                <a:latin typeface="에이투지체 6 SemiBold"/>
                <a:ea typeface="에이투지체 6 SemiBold"/>
              </a:rPr>
              <a:t> </a:t>
            </a:r>
            <a:r>
              <a:rPr sz="1350" dirty="0" err="1">
                <a:solidFill>
                  <a:srgbClr val="222222"/>
                </a:solidFill>
                <a:latin typeface="에이투지체 6 SemiBold"/>
                <a:ea typeface="에이투지체 6 SemiBold"/>
              </a:rPr>
              <a:t>캠페인에서</a:t>
            </a:r>
            <a:r>
              <a:rPr sz="1350" dirty="0">
                <a:solidFill>
                  <a:srgbClr val="222222"/>
                </a:solidFill>
                <a:latin typeface="에이투지체 6 SemiBold"/>
                <a:ea typeface="에이투지체 6 SemiBold"/>
              </a:rPr>
              <a:t> </a:t>
            </a:r>
            <a:r>
              <a:rPr sz="1350" dirty="0" err="1">
                <a:solidFill>
                  <a:srgbClr val="222222"/>
                </a:solidFill>
                <a:latin typeface="에이투지체 6 SemiBold"/>
                <a:ea typeface="에이투지체 6 SemiBold"/>
              </a:rPr>
              <a:t>따로</a:t>
            </a:r>
            <a:r>
              <a:rPr sz="1350" dirty="0">
                <a:solidFill>
                  <a:srgbClr val="222222"/>
                </a:solidFill>
                <a:latin typeface="에이투지체 6 SemiBold"/>
                <a:ea typeface="에이투지체 6 SemiBold"/>
              </a:rPr>
              <a:t> 볼 수 </a:t>
            </a:r>
            <a:r>
              <a:rPr sz="1350" dirty="0" err="1">
                <a:solidFill>
                  <a:srgbClr val="222222"/>
                </a:solidFill>
                <a:latin typeface="에이투지체 6 SemiBold"/>
                <a:ea typeface="에이투지체 6 SemiBold"/>
              </a:rPr>
              <a:t>없음</a:t>
            </a:r>
            <a:endParaRPr sz="1350" dirty="0">
              <a:solidFill>
                <a:srgbClr val="222222"/>
              </a:solidFill>
              <a:latin typeface="에이투지체 6 SemiBold"/>
              <a:ea typeface="에이투지체 6 SemiBold"/>
            </a:endParaRPr>
          </a:p>
          <a:p>
            <a:pPr algn="l">
              <a:spcAft>
                <a:spcPts val="200"/>
              </a:spcAft>
            </a:pPr>
            <a:r>
              <a:rPr sz="1050" dirty="0">
                <a:solidFill>
                  <a:srgbClr val="5C5C5C"/>
                </a:solidFill>
                <a:latin typeface="에이투지체 4 Regular"/>
                <a:ea typeface="에이투지체 4 Regular"/>
              </a:rPr>
              <a:t>4개 </a:t>
            </a:r>
            <a:r>
              <a:rPr sz="1050" dirty="0" err="1">
                <a:solidFill>
                  <a:srgbClr val="5C5C5C"/>
                </a:solidFill>
                <a:latin typeface="에이투지체 4 Regular"/>
                <a:ea typeface="에이투지체 4 Regular"/>
              </a:rPr>
              <a:t>캠페인</a:t>
            </a:r>
            <a:r>
              <a:rPr sz="1050" dirty="0">
                <a:solidFill>
                  <a:srgbClr val="5C5C5C"/>
                </a:solidFill>
                <a:latin typeface="에이투지체 4 Regular"/>
                <a:ea typeface="에이투지체 4 Regular"/>
              </a:rPr>
              <a:t> </a:t>
            </a:r>
            <a:r>
              <a:rPr sz="1050" dirty="0" err="1">
                <a:solidFill>
                  <a:srgbClr val="5C5C5C"/>
                </a:solidFill>
                <a:latin typeface="에이투지체 4 Regular"/>
                <a:ea typeface="에이투지체 4 Regular"/>
              </a:rPr>
              <a:t>모두</a:t>
            </a:r>
            <a:r>
              <a:rPr sz="1050" dirty="0">
                <a:solidFill>
                  <a:srgbClr val="5C5C5C"/>
                </a:solidFill>
                <a:latin typeface="에이투지체 4 Regular"/>
                <a:ea typeface="에이투지체 4 Regular"/>
              </a:rPr>
              <a:t> 전 </a:t>
            </a:r>
            <a:r>
              <a:rPr sz="1050" dirty="0" err="1">
                <a:solidFill>
                  <a:srgbClr val="5C5C5C"/>
                </a:solidFill>
                <a:latin typeface="에이투지체 4 Regular"/>
                <a:ea typeface="에이투지체 4 Regular"/>
              </a:rPr>
              <a:t>상품이라</a:t>
            </a:r>
            <a:r>
              <a:rPr sz="1050" dirty="0">
                <a:solidFill>
                  <a:srgbClr val="5C5C5C"/>
                </a:solidFill>
                <a:latin typeface="에이투지체 4 Regular"/>
                <a:ea typeface="에이투지체 4 Regular"/>
              </a:rPr>
              <a:t>, </a:t>
            </a:r>
            <a:r>
              <a:rPr sz="1050" dirty="0" err="1">
                <a:solidFill>
                  <a:srgbClr val="5C5C5C"/>
                </a:solidFill>
                <a:latin typeface="에이투지체 4 Regular"/>
                <a:ea typeface="에이투지체 4 Regular"/>
              </a:rPr>
              <a:t>어떤</a:t>
            </a:r>
            <a:r>
              <a:rPr sz="1050" dirty="0">
                <a:solidFill>
                  <a:srgbClr val="5C5C5C"/>
                </a:solidFill>
                <a:latin typeface="에이투지체 4 Regular"/>
                <a:ea typeface="에이투지체 4 Regular"/>
              </a:rPr>
              <a:t> </a:t>
            </a:r>
            <a:r>
              <a:rPr sz="1050" dirty="0" err="1">
                <a:solidFill>
                  <a:srgbClr val="5C5C5C"/>
                </a:solidFill>
                <a:latin typeface="에이투지체 4 Regular"/>
                <a:ea typeface="에이투지체 4 Regular"/>
              </a:rPr>
              <a:t>상품이</a:t>
            </a:r>
            <a:r>
              <a:rPr sz="1050" dirty="0">
                <a:solidFill>
                  <a:srgbClr val="5C5C5C"/>
                </a:solidFill>
                <a:latin typeface="에이투지체 4 Regular"/>
                <a:ea typeface="에이투지체 4 Regular"/>
              </a:rPr>
              <a:t> </a:t>
            </a:r>
            <a:r>
              <a:rPr sz="1050" dirty="0" err="1">
                <a:solidFill>
                  <a:srgbClr val="5C5C5C"/>
                </a:solidFill>
                <a:latin typeface="에이투지체 4 Regular"/>
                <a:ea typeface="에이투지체 4 Regular"/>
              </a:rPr>
              <a:t>성과를</a:t>
            </a:r>
            <a:r>
              <a:rPr sz="1050" dirty="0">
                <a:solidFill>
                  <a:srgbClr val="5C5C5C"/>
                </a:solidFill>
                <a:latin typeface="에이투지체 4 Regular"/>
                <a:ea typeface="에이투지체 4 Regular"/>
              </a:rPr>
              <a:t> </a:t>
            </a:r>
            <a:r>
              <a:rPr sz="1050" dirty="0" err="1">
                <a:solidFill>
                  <a:srgbClr val="5C5C5C"/>
                </a:solidFill>
                <a:latin typeface="에이투지체 4 Regular"/>
                <a:ea typeface="에이투지체 4 Regular"/>
              </a:rPr>
              <a:t>냈는지</a:t>
            </a:r>
            <a:r>
              <a:rPr sz="1050" dirty="0">
                <a:solidFill>
                  <a:srgbClr val="5C5C5C"/>
                </a:solidFill>
                <a:latin typeface="에이투지체 4 Regular"/>
                <a:ea typeface="에이투지체 4 Regular"/>
              </a:rPr>
              <a:t> </a:t>
            </a:r>
            <a:r>
              <a:rPr sz="1050" dirty="0" err="1">
                <a:solidFill>
                  <a:srgbClr val="5C5C5C"/>
                </a:solidFill>
                <a:latin typeface="에이투지체 4 Regular"/>
                <a:ea typeface="에이투지체 4 Regular"/>
              </a:rPr>
              <a:t>예산</a:t>
            </a:r>
            <a:r>
              <a:rPr sz="1050" dirty="0">
                <a:solidFill>
                  <a:srgbClr val="5C5C5C"/>
                </a:solidFill>
                <a:latin typeface="에이투지체 4 Regular"/>
                <a:ea typeface="에이투지체 4 Regular"/>
              </a:rPr>
              <a:t> </a:t>
            </a:r>
            <a:r>
              <a:rPr sz="1050" dirty="0" err="1">
                <a:solidFill>
                  <a:srgbClr val="5C5C5C"/>
                </a:solidFill>
                <a:latin typeface="에이투지체 4 Regular"/>
                <a:ea typeface="에이투지체 4 Regular"/>
              </a:rPr>
              <a:t>판단이</a:t>
            </a:r>
            <a:r>
              <a:rPr sz="1050" dirty="0">
                <a:solidFill>
                  <a:srgbClr val="5C5C5C"/>
                </a:solidFill>
                <a:latin typeface="에이투지체 4 Regular"/>
                <a:ea typeface="에이투지체 4 Regular"/>
              </a:rPr>
              <a:t> </a:t>
            </a:r>
            <a:r>
              <a:rPr sz="1050" dirty="0" err="1">
                <a:solidFill>
                  <a:srgbClr val="5C5C5C"/>
                </a:solidFill>
                <a:latin typeface="에이투지체 4 Regular"/>
                <a:ea typeface="에이투지체 4 Regular"/>
              </a:rPr>
              <a:t>어려움</a:t>
            </a:r>
            <a:endParaRPr sz="1050" dirty="0">
              <a:solidFill>
                <a:srgbClr val="5C5C5C"/>
              </a:solidFill>
              <a:latin typeface="에이투지체 4 Regular"/>
              <a:ea typeface="에이투지체 4 Regular"/>
            </a:endParaRPr>
          </a:p>
        </p:txBody>
      </p:sp>
      <p:sp>
        <p:nvSpPr>
          <p:cNvPr id="37" name="Rectangle 36"/>
          <p:cNvSpPr/>
          <p:nvPr/>
        </p:nvSpPr>
        <p:spPr>
          <a:xfrm>
            <a:off x="6675120" y="4471416"/>
            <a:ext cx="4937760" cy="841248"/>
          </a:xfrm>
          <a:prstGeom prst="roundRect">
            <a:avLst>
              <a:gd name="adj" fmla="val 869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812280" y="4471416"/>
            <a:ext cx="502920" cy="841248"/>
          </a:xfrm>
          <a:prstGeom prst="rect">
            <a:avLst/>
          </a:prstGeom>
          <a:noFill/>
        </p:spPr>
        <p:txBody>
          <a:bodyPr wrap="square" lIns="0" tIns="0" rIns="0" bIns="0" anchor="ctr">
            <a:spAutoFit/>
          </a:bodyPr>
          <a:lstStyle/>
          <a:p>
            <a:pPr algn="l">
              <a:spcAft>
                <a:spcPts val="300"/>
              </a:spcAft>
            </a:pPr>
            <a:r>
              <a:rPr sz="1600">
                <a:solidFill>
                  <a:srgbClr val="004F9F"/>
                </a:solidFill>
                <a:latin typeface="에이투지체 8 ExtraBold"/>
                <a:ea typeface="에이투지체 8 ExtraBold"/>
              </a:rPr>
              <a:t>03</a:t>
            </a:r>
          </a:p>
        </p:txBody>
      </p:sp>
      <p:sp>
        <p:nvSpPr>
          <p:cNvPr id="39" name="TextBox 38"/>
          <p:cNvSpPr txBox="1"/>
          <p:nvPr/>
        </p:nvSpPr>
        <p:spPr>
          <a:xfrm>
            <a:off x="7360920" y="4562856"/>
            <a:ext cx="4114800" cy="731520"/>
          </a:xfrm>
          <a:prstGeom prst="rect">
            <a:avLst/>
          </a:prstGeom>
          <a:noFill/>
        </p:spPr>
        <p:txBody>
          <a:bodyPr wrap="square" lIns="0" tIns="0" rIns="0" bIns="0" anchor="ctr">
            <a:spAutoFit/>
          </a:bodyPr>
          <a:lstStyle/>
          <a:p>
            <a:pPr algn="l">
              <a:spcAft>
                <a:spcPts val="200"/>
              </a:spcAft>
            </a:pPr>
            <a:r>
              <a:rPr sz="1350" dirty="0" err="1">
                <a:solidFill>
                  <a:srgbClr val="222222"/>
                </a:solidFill>
                <a:latin typeface="에이투지체 6 SemiBold"/>
                <a:ea typeface="에이투지체 6 SemiBold"/>
              </a:rPr>
              <a:t>예산이</a:t>
            </a:r>
            <a:r>
              <a:rPr sz="1350" dirty="0">
                <a:solidFill>
                  <a:srgbClr val="222222"/>
                </a:solidFill>
                <a:latin typeface="에이투지체 6 SemiBold"/>
                <a:ea typeface="에이투지체 6 SemiBold"/>
              </a:rPr>
              <a:t> </a:t>
            </a:r>
            <a:r>
              <a:rPr sz="1350" dirty="0" err="1">
                <a:solidFill>
                  <a:srgbClr val="222222"/>
                </a:solidFill>
                <a:latin typeface="에이투지체 6 SemiBold"/>
                <a:ea typeface="에이투지체 6 SemiBold"/>
              </a:rPr>
              <a:t>연령</a:t>
            </a:r>
            <a:r>
              <a:rPr sz="1350" dirty="0">
                <a:solidFill>
                  <a:srgbClr val="222222"/>
                </a:solidFill>
                <a:latin typeface="에이투지체 6 SemiBold"/>
                <a:ea typeface="에이투지체 6 SemiBold"/>
              </a:rPr>
              <a:t> </a:t>
            </a:r>
            <a:r>
              <a:rPr sz="1350" dirty="0" err="1">
                <a:solidFill>
                  <a:srgbClr val="222222"/>
                </a:solidFill>
                <a:latin typeface="에이투지체 6 SemiBold"/>
                <a:ea typeface="에이투지체 6 SemiBold"/>
              </a:rPr>
              <a:t>기준으로</a:t>
            </a:r>
            <a:r>
              <a:rPr sz="1350" dirty="0">
                <a:solidFill>
                  <a:srgbClr val="222222"/>
                </a:solidFill>
                <a:latin typeface="에이투지체 6 SemiBold"/>
                <a:ea typeface="에이투지체 6 SemiBold"/>
              </a:rPr>
              <a:t> </a:t>
            </a:r>
            <a:r>
              <a:rPr sz="1350" dirty="0" err="1">
                <a:solidFill>
                  <a:srgbClr val="222222"/>
                </a:solidFill>
                <a:latin typeface="에이투지체 6 SemiBold"/>
                <a:ea typeface="에이투지체 6 SemiBold"/>
              </a:rPr>
              <a:t>배분</a:t>
            </a:r>
            <a:endParaRPr sz="1350" dirty="0">
              <a:solidFill>
                <a:srgbClr val="222222"/>
              </a:solidFill>
              <a:latin typeface="에이투지체 6 SemiBold"/>
              <a:ea typeface="에이투지체 6 SemiBold"/>
            </a:endParaRPr>
          </a:p>
          <a:p>
            <a:pPr algn="l">
              <a:spcAft>
                <a:spcPts val="200"/>
              </a:spcAft>
            </a:pPr>
            <a:r>
              <a:rPr sz="1050" dirty="0">
                <a:solidFill>
                  <a:srgbClr val="5C5C5C"/>
                </a:solidFill>
                <a:latin typeface="에이투지체 4 Regular"/>
                <a:ea typeface="에이투지체 4 Regular"/>
              </a:rPr>
              <a:t>40대 </a:t>
            </a:r>
            <a:r>
              <a:rPr sz="1050" dirty="0" err="1">
                <a:solidFill>
                  <a:srgbClr val="5C5C5C"/>
                </a:solidFill>
                <a:latin typeface="에이투지체 4 Regular"/>
                <a:ea typeface="에이투지체 4 Regular"/>
              </a:rPr>
              <a:t>캠페인이</a:t>
            </a:r>
            <a:r>
              <a:rPr sz="1050" dirty="0">
                <a:solidFill>
                  <a:srgbClr val="5C5C5C"/>
                </a:solidFill>
                <a:latin typeface="에이투지체 4 Regular"/>
                <a:ea typeface="에이투지체 4 Regular"/>
              </a:rPr>
              <a:t> </a:t>
            </a:r>
            <a:r>
              <a:rPr sz="1050" dirty="0" err="1">
                <a:solidFill>
                  <a:srgbClr val="5C5C5C"/>
                </a:solidFill>
                <a:latin typeface="에이투지체 4 Regular"/>
                <a:ea typeface="에이투지체 4 Regular"/>
              </a:rPr>
              <a:t>ADVoost</a:t>
            </a:r>
            <a:r>
              <a:rPr sz="1050" dirty="0">
                <a:solidFill>
                  <a:srgbClr val="5C5C5C"/>
                </a:solidFill>
                <a:latin typeface="에이투지체 4 Regular"/>
                <a:ea typeface="에이투지체 4 Regular"/>
              </a:rPr>
              <a:t> </a:t>
            </a:r>
            <a:r>
              <a:rPr sz="1050" dirty="0" err="1">
                <a:solidFill>
                  <a:srgbClr val="5C5C5C"/>
                </a:solidFill>
                <a:latin typeface="에이투지체 4 Regular"/>
                <a:ea typeface="에이투지체 4 Regular"/>
              </a:rPr>
              <a:t>광고비의</a:t>
            </a:r>
            <a:r>
              <a:rPr sz="1050" dirty="0">
                <a:solidFill>
                  <a:srgbClr val="5C5C5C"/>
                </a:solidFill>
                <a:latin typeface="에이투지체 4 Regular"/>
                <a:ea typeface="에이투지체 4 Regular"/>
              </a:rPr>
              <a:t> 46%(725만 원)로 </a:t>
            </a:r>
            <a:r>
              <a:rPr sz="1050" dirty="0" err="1">
                <a:solidFill>
                  <a:srgbClr val="5C5C5C"/>
                </a:solidFill>
                <a:latin typeface="에이투지체 4 Regular"/>
                <a:ea typeface="에이투지체 4 Regular"/>
              </a:rPr>
              <a:t>가장</a:t>
            </a:r>
            <a:r>
              <a:rPr sz="1050" dirty="0">
                <a:solidFill>
                  <a:srgbClr val="5C5C5C"/>
                </a:solidFill>
                <a:latin typeface="에이투지체 4 Regular"/>
                <a:ea typeface="에이투지체 4 Regular"/>
              </a:rPr>
              <a:t> </a:t>
            </a:r>
            <a:r>
              <a:rPr sz="1050" dirty="0" err="1">
                <a:solidFill>
                  <a:srgbClr val="5C5C5C"/>
                </a:solidFill>
                <a:latin typeface="에이투지체 4 Regular"/>
                <a:ea typeface="에이투지체 4 Regular"/>
              </a:rPr>
              <a:t>크지만</a:t>
            </a:r>
            <a:r>
              <a:rPr sz="1050" dirty="0">
                <a:solidFill>
                  <a:srgbClr val="5C5C5C"/>
                </a:solidFill>
                <a:latin typeface="에이투지체 4 Regular"/>
                <a:ea typeface="에이투지체 4 Regular"/>
              </a:rPr>
              <a:t> </a:t>
            </a:r>
            <a:r>
              <a:rPr sz="1050" dirty="0" err="1">
                <a:solidFill>
                  <a:srgbClr val="5C5C5C"/>
                </a:solidFill>
                <a:latin typeface="에이투지체 4 Regular"/>
                <a:ea typeface="에이투지체 4 Regular"/>
              </a:rPr>
              <a:t>구매</a:t>
            </a:r>
            <a:r>
              <a:rPr sz="1050" dirty="0">
                <a:solidFill>
                  <a:srgbClr val="5C5C5C"/>
                </a:solidFill>
                <a:latin typeface="에이투지체 4 Regular"/>
                <a:ea typeface="에이투지체 4 Regular"/>
              </a:rPr>
              <a:t> </a:t>
            </a:r>
            <a:r>
              <a:rPr sz="1050" dirty="0" err="1">
                <a:solidFill>
                  <a:srgbClr val="5C5C5C"/>
                </a:solidFill>
                <a:latin typeface="에이투지체 4 Regular"/>
                <a:ea typeface="에이투지체 4 Regular"/>
              </a:rPr>
              <a:t>ROAS는</a:t>
            </a:r>
            <a:r>
              <a:rPr sz="1050" dirty="0">
                <a:solidFill>
                  <a:srgbClr val="5C5C5C"/>
                </a:solidFill>
                <a:latin typeface="에이투지체 4 Regular"/>
                <a:ea typeface="에이투지체 4 Regular"/>
              </a:rPr>
              <a:t> 4개 중 </a:t>
            </a:r>
            <a:r>
              <a:rPr sz="1050" dirty="0" err="1">
                <a:solidFill>
                  <a:srgbClr val="5C5C5C"/>
                </a:solidFill>
                <a:latin typeface="에이투지체 4 Regular"/>
                <a:ea typeface="에이투지체 4 Regular"/>
              </a:rPr>
              <a:t>최저</a:t>
            </a:r>
            <a:r>
              <a:rPr sz="1050" dirty="0">
                <a:solidFill>
                  <a:srgbClr val="5C5C5C"/>
                </a:solidFill>
                <a:latin typeface="에이투지체 4 Regular"/>
                <a:ea typeface="에이투지체 4 Regular"/>
              </a:rPr>
              <a:t>(340%)</a:t>
            </a:r>
          </a:p>
        </p:txBody>
      </p:sp>
      <p:sp>
        <p:nvSpPr>
          <p:cNvPr id="15" name="TextBox 1">
            <a:extLst>
              <a:ext uri="{FF2B5EF4-FFF2-40B4-BE49-F238E27FC236}">
                <a16:creationId xmlns:a16="http://schemas.microsoft.com/office/drawing/2014/main" id="{1CB17F1C-C874-6D69-6757-D9DB64B4EE08}"/>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Tree>
    <p:extLst>
      <p:ext uri="{BB962C8B-B14F-4D97-AF65-F5344CB8AC3E}">
        <p14:creationId xmlns:p14="http://schemas.microsoft.com/office/powerpoint/2010/main" val="406399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F203C2-DFCB-0676-B315-E5074F43EB41}"/>
            </a:ext>
          </a:extLst>
        </p:cNvPr>
        <p:cNvGrpSpPr/>
        <p:nvPr/>
      </p:nvGrpSpPr>
      <p:grpSpPr>
        <a:xfrm>
          <a:off x="0" y="0"/>
          <a:ext cx="0" cy="0"/>
          <a:chOff x="0" y="0"/>
          <a:chExt cx="0" cy="0"/>
        </a:xfrm>
      </p:grpSpPr>
      <p:sp>
        <p:nvSpPr>
          <p:cNvPr id="23" name="TextBox 7">
            <a:extLst>
              <a:ext uri="{FF2B5EF4-FFF2-40B4-BE49-F238E27FC236}">
                <a16:creationId xmlns:a16="http://schemas.microsoft.com/office/drawing/2014/main" id="{C622B800-6A2D-37F9-F033-187E7251537C}"/>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4" name="TextBox 8">
            <a:extLst>
              <a:ext uri="{FF2B5EF4-FFF2-40B4-BE49-F238E27FC236}">
                <a16:creationId xmlns:a16="http://schemas.microsoft.com/office/drawing/2014/main" id="{39DA72CA-80F5-9820-216D-2FAB9DF1AEF0}"/>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25" name="PGNO">
            <a:extLst>
              <a:ext uri="{FF2B5EF4-FFF2-40B4-BE49-F238E27FC236}">
                <a16:creationId xmlns:a16="http://schemas.microsoft.com/office/drawing/2014/main" id="{E86BAE67-B034-2AB3-BF32-468F5AED69A0}"/>
              </a:ext>
            </a:extLst>
          </p:cNvPr>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32</a:t>
            </a:r>
          </a:p>
        </p:txBody>
      </p:sp>
      <p:cxnSp>
        <p:nvCxnSpPr>
          <p:cNvPr id="2" name="연결선: 꺾임 1">
            <a:extLst>
              <a:ext uri="{FF2B5EF4-FFF2-40B4-BE49-F238E27FC236}">
                <a16:creationId xmlns:a16="http://schemas.microsoft.com/office/drawing/2014/main" id="{D49ADD78-F92B-76AC-F99C-BC831748DA5E}"/>
              </a:ext>
            </a:extLst>
          </p:cNvPr>
          <p:cNvCxnSpPr>
            <a:stCxn id="12" idx="3"/>
            <a:endCxn id="16" idx="1"/>
          </p:cNvCxnSpPr>
          <p:nvPr/>
        </p:nvCxnSpPr>
        <p:spPr>
          <a:xfrm>
            <a:off x="3429000" y="4452938"/>
            <a:ext cx="657225" cy="338138"/>
          </a:xfrm>
          <a:prstGeom prst="bentConnector3">
            <a:avLst>
              <a:gd name="adj1" fmla="val 50000"/>
            </a:avLst>
          </a:prstGeom>
          <a:ln w="14288">
            <a:solidFill>
              <a:srgbClr val="004F9F"/>
            </a:solidFill>
            <a:tailEnd type="triangle" w="sm" len="sm"/>
          </a:ln>
        </p:spPr>
      </p:cxnSp>
      <p:cxnSp>
        <p:nvCxnSpPr>
          <p:cNvPr id="3" name="연결선: 꺾임 2">
            <a:extLst>
              <a:ext uri="{FF2B5EF4-FFF2-40B4-BE49-F238E27FC236}">
                <a16:creationId xmlns:a16="http://schemas.microsoft.com/office/drawing/2014/main" id="{838DAEA4-A836-0AAD-36B9-F6D1ECC6D39D}"/>
              </a:ext>
            </a:extLst>
          </p:cNvPr>
          <p:cNvCxnSpPr>
            <a:stCxn id="12" idx="3"/>
            <a:endCxn id="14" idx="1"/>
          </p:cNvCxnSpPr>
          <p:nvPr/>
        </p:nvCxnSpPr>
        <p:spPr>
          <a:xfrm flipV="1">
            <a:off x="3429000" y="4086225"/>
            <a:ext cx="657225" cy="366713"/>
          </a:xfrm>
          <a:prstGeom prst="bentConnector3">
            <a:avLst>
              <a:gd name="adj1" fmla="val 50000"/>
            </a:avLst>
          </a:prstGeom>
          <a:ln w="14288">
            <a:solidFill>
              <a:srgbClr val="004F9F"/>
            </a:solidFill>
            <a:tailEnd type="triangle" w="sm" len="sm"/>
          </a:ln>
        </p:spPr>
      </p:cxnSp>
      <p:sp>
        <p:nvSpPr>
          <p:cNvPr id="4" name="text-56">
            <a:extLst>
              <a:ext uri="{FF2B5EF4-FFF2-40B4-BE49-F238E27FC236}">
                <a16:creationId xmlns:a16="http://schemas.microsoft.com/office/drawing/2014/main" id="{7841EA74-82D0-F6A9-B499-4AEFCBFE61E4}"/>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이너웨어 브랜드 스토어 C</a:t>
            </a:r>
            <a:r>
              <a:rPr lang="ko-KR" sz="1900" dirty="0">
                <a:solidFill>
                  <a:srgbClr val="222222"/>
                </a:solidFill>
                <a:latin typeface="에이투지체 8 ExtraBold"/>
                <a:ea typeface="에이투지체 8 ExtraBold"/>
                <a:cs typeface="에이투지체 8 ExtraBold"/>
              </a:rPr>
              <a:t>는 상품군별 캠페인으로</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매출과 고객 기반을 함께 키웠습니다</a:t>
            </a:r>
            <a:endParaRPr lang="ko-KR" sz="1900" dirty="0"/>
          </a:p>
        </p:txBody>
      </p:sp>
      <p:sp>
        <p:nvSpPr>
          <p:cNvPr id="5" name="text-57">
            <a:extLst>
              <a:ext uri="{FF2B5EF4-FFF2-40B4-BE49-F238E27FC236}">
                <a16:creationId xmlns:a16="http://schemas.microsoft.com/office/drawing/2014/main" id="{699281EA-AF92-76BA-6645-86CEF897FBA3}"/>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GFA 캠페인 분리 성공사례</a:t>
            </a:r>
            <a:endParaRPr lang="ko-KR" sz="1100" dirty="0"/>
          </a:p>
        </p:txBody>
      </p:sp>
      <p:sp>
        <p:nvSpPr>
          <p:cNvPr id="6" name="text-58">
            <a:extLst>
              <a:ext uri="{FF2B5EF4-FFF2-40B4-BE49-F238E27FC236}">
                <a16:creationId xmlns:a16="http://schemas.microsoft.com/office/drawing/2014/main" id="{D411EAF5-D024-EDB0-4AED-4E4341028C05}"/>
              </a:ext>
            </a:extLst>
          </p:cNvPr>
          <p:cNvSpPr>
            <a:spLocks noGrp="1"/>
          </p:cNvSpPr>
          <p:nvPr/>
        </p:nvSpPr>
        <p:spPr>
          <a:xfrm>
            <a:off x="552450" y="2152650"/>
            <a:ext cx="2943225" cy="628650"/>
          </a:xfrm>
          <a:prstGeom prst="rect">
            <a:avLst/>
          </a:prstGeom>
          <a:noFill/>
          <a:ln w="0">
            <a:noFill/>
          </a:ln>
        </p:spPr>
        <p:txBody>
          <a:bodyPr wrap="square" lIns="0" tIns="0" rIns="0" bIns="0" anchor="ctr">
            <a:noAutofit/>
          </a:bodyPr>
          <a:lstStyle>
            <a:defPPr algn="l">
              <a:defRPr sz="3300">
                <a:solidFill>
                  <a:srgbClr val="004F9F"/>
                </a:solidFill>
                <a:latin typeface="에이투지체 8 ExtraBold"/>
                <a:ea typeface="에이투지체 8 ExtraBold"/>
                <a:cs typeface="에이투지체 8 ExtraBold"/>
              </a:defRPr>
            </a:defPPr>
          </a:lstStyle>
          <a:p>
            <a:pPr algn="l">
              <a:defRPr sz="3300">
                <a:solidFill>
                  <a:srgbClr val="004F9F"/>
                </a:solidFill>
                <a:latin typeface="에이투지체 8 ExtraBold"/>
                <a:ea typeface="에이투지체 8 ExtraBold"/>
                <a:cs typeface="에이투지체 8 ExtraBold"/>
              </a:defRPr>
            </a:pPr>
            <a:r>
              <a:rPr sz="3300">
                <a:solidFill>
                  <a:srgbClr val="004F9F"/>
                </a:solidFill>
                <a:latin typeface="에이투지체 8 ExtraBold"/>
                <a:ea typeface="에이투지체 8 ExtraBold"/>
                <a:cs typeface="에이투지체 8 ExtraBold"/>
              </a:rPr>
              <a:t>약 1.6배</a:t>
            </a:r>
          </a:p>
        </p:txBody>
      </p:sp>
      <p:sp>
        <p:nvSpPr>
          <p:cNvPr id="7" name="text-59">
            <a:extLst>
              <a:ext uri="{FF2B5EF4-FFF2-40B4-BE49-F238E27FC236}">
                <a16:creationId xmlns:a16="http://schemas.microsoft.com/office/drawing/2014/main" id="{1B99DCF6-C9A1-D8A6-D2C3-48CDD14B29A2}"/>
              </a:ext>
            </a:extLst>
          </p:cNvPr>
          <p:cNvSpPr>
            <a:spLocks noGrp="1"/>
          </p:cNvSpPr>
          <p:nvPr/>
        </p:nvSpPr>
        <p:spPr>
          <a:xfrm>
            <a:off x="552450" y="2790825"/>
            <a:ext cx="2943225" cy="400050"/>
          </a:xfrm>
          <a:prstGeom prst="rect">
            <a:avLst/>
          </a:prstGeom>
          <a:noFill/>
          <a:ln w="0">
            <a:noFill/>
          </a:ln>
        </p:spPr>
        <p:txBody>
          <a:bodyPr wrap="square" lIns="0" tIns="0" rIns="0" bIns="0" anchor="ctr">
            <a:noAutofit/>
          </a:bodyPr>
          <a:lstStyle>
            <a:defPPr algn="l">
              <a:defRPr sz="1305">
                <a:solidFill>
                  <a:srgbClr val="5C5C5C"/>
                </a:solidFill>
                <a:latin typeface="에이투지체 4 Regular"/>
                <a:ea typeface="에이투지체 4 Regular"/>
                <a:cs typeface="에이투지체 4 Regular"/>
              </a:defRPr>
            </a:defPPr>
          </a:lstStyle>
          <a:p>
            <a:pPr algn="l">
              <a:defRPr sz="1305">
                <a:solidFill>
                  <a:srgbClr val="5C5C5C"/>
                </a:solidFill>
                <a:latin typeface="에이투지체 4 Regular"/>
                <a:ea typeface="에이투지체 4 Regular"/>
                <a:cs typeface="에이투지체 4 Regular"/>
              </a:defRPr>
            </a:pPr>
            <a:r>
              <a:rPr sz="1305" dirty="0" err="1">
                <a:solidFill>
                  <a:srgbClr val="5C5C5C"/>
                </a:solidFill>
                <a:latin typeface="에이투지체 4 Regular"/>
                <a:ea typeface="에이투지체 4 Regular"/>
                <a:cs typeface="에이투지체 4 Regular"/>
              </a:rPr>
              <a:t>브랜드스토어</a:t>
            </a:r>
            <a:r>
              <a:rPr sz="1305" dirty="0">
                <a:solidFill>
                  <a:srgbClr val="5C5C5C"/>
                </a:solidFill>
                <a:latin typeface="에이투지체 4 Regular"/>
                <a:ea typeface="에이투지체 4 Regular"/>
                <a:cs typeface="에이투지체 4 Regular"/>
              </a:rPr>
              <a:t> </a:t>
            </a:r>
            <a:r>
              <a:rPr sz="1305" dirty="0" err="1">
                <a:solidFill>
                  <a:srgbClr val="5C5C5C"/>
                </a:solidFill>
                <a:latin typeface="에이투지체 4 Regular"/>
                <a:ea typeface="에이투지체 4 Regular"/>
                <a:cs typeface="에이투지체 4 Regular"/>
              </a:rPr>
              <a:t>전체</a:t>
            </a:r>
            <a:r>
              <a:rPr sz="1305" dirty="0">
                <a:solidFill>
                  <a:srgbClr val="5C5C5C"/>
                </a:solidFill>
                <a:latin typeface="에이투지체 4 Regular"/>
                <a:ea typeface="에이투지체 4 Regular"/>
                <a:cs typeface="에이투지체 4 Regular"/>
              </a:rPr>
              <a:t> </a:t>
            </a:r>
            <a:r>
              <a:rPr sz="1305" dirty="0" err="1">
                <a:solidFill>
                  <a:srgbClr val="5C5C5C"/>
                </a:solidFill>
                <a:latin typeface="에이투지체 4 Regular"/>
                <a:ea typeface="에이투지체 4 Regular"/>
                <a:cs typeface="에이투지체 4 Regular"/>
              </a:rPr>
              <a:t>매출</a:t>
            </a:r>
            <a:endParaRPr sz="1305" dirty="0">
              <a:solidFill>
                <a:srgbClr val="5C5C5C"/>
              </a:solidFill>
              <a:latin typeface="에이투지체 4 Regular"/>
              <a:ea typeface="에이투지체 4 Regular"/>
              <a:cs typeface="에이투지체 4 Regular"/>
            </a:endParaRPr>
          </a:p>
          <a:p>
            <a:pPr algn="l">
              <a:defRPr sz="1305">
                <a:solidFill>
                  <a:srgbClr val="5C5C5C"/>
                </a:solidFill>
                <a:latin typeface="에이투지체 4 Regular"/>
                <a:ea typeface="에이투지체 4 Regular"/>
                <a:cs typeface="에이투지체 4 Regular"/>
              </a:defRPr>
            </a:pPr>
            <a:r>
              <a:rPr sz="1305" dirty="0" err="1">
                <a:solidFill>
                  <a:srgbClr val="5C5C5C"/>
                </a:solidFill>
                <a:latin typeface="에이투지체 4 Regular"/>
                <a:ea typeface="에이투지체 4 Regular"/>
                <a:cs typeface="에이투지체 4 Regular"/>
              </a:rPr>
              <a:t>전년</a:t>
            </a:r>
            <a:r>
              <a:rPr sz="1305" dirty="0">
                <a:solidFill>
                  <a:srgbClr val="5C5C5C"/>
                </a:solidFill>
                <a:latin typeface="에이투지체 4 Regular"/>
                <a:ea typeface="에이투지체 4 Regular"/>
                <a:cs typeface="에이투지체 4 Regular"/>
              </a:rPr>
              <a:t> </a:t>
            </a:r>
            <a:r>
              <a:rPr sz="1305" dirty="0" err="1">
                <a:solidFill>
                  <a:srgbClr val="5C5C5C"/>
                </a:solidFill>
                <a:latin typeface="에이투지체 4 Regular"/>
                <a:ea typeface="에이투지체 4 Regular"/>
                <a:cs typeface="에이투지체 4 Regular"/>
              </a:rPr>
              <a:t>동월</a:t>
            </a:r>
            <a:r>
              <a:rPr sz="1305" dirty="0">
                <a:solidFill>
                  <a:srgbClr val="5C5C5C"/>
                </a:solidFill>
                <a:latin typeface="에이투지체 4 Regular"/>
                <a:ea typeface="에이투지체 4 Regular"/>
                <a:cs typeface="에이투지체 4 Regular"/>
              </a:rPr>
              <a:t> </a:t>
            </a:r>
            <a:r>
              <a:rPr sz="1305" dirty="0" err="1">
                <a:solidFill>
                  <a:srgbClr val="5C5C5C"/>
                </a:solidFill>
                <a:latin typeface="에이투지체 4 Regular"/>
                <a:ea typeface="에이투지체 4 Regular"/>
                <a:cs typeface="에이투지체 4 Regular"/>
              </a:rPr>
              <a:t>대비</a:t>
            </a:r>
            <a:endParaRPr sz="1305" dirty="0">
              <a:solidFill>
                <a:srgbClr val="5C5C5C"/>
              </a:solidFill>
              <a:latin typeface="에이투지체 4 Regular"/>
              <a:ea typeface="에이투지체 4 Regular"/>
              <a:cs typeface="에이투지체 4 Regular"/>
            </a:endParaRPr>
          </a:p>
        </p:txBody>
      </p:sp>
      <p:sp>
        <p:nvSpPr>
          <p:cNvPr id="8" name="text-60">
            <a:extLst>
              <a:ext uri="{FF2B5EF4-FFF2-40B4-BE49-F238E27FC236}">
                <a16:creationId xmlns:a16="http://schemas.microsoft.com/office/drawing/2014/main" id="{919F2849-D702-21AE-4047-084B73B0EB9F}"/>
              </a:ext>
            </a:extLst>
          </p:cNvPr>
          <p:cNvSpPr>
            <a:spLocks noGrp="1"/>
          </p:cNvSpPr>
          <p:nvPr/>
        </p:nvSpPr>
        <p:spPr>
          <a:xfrm>
            <a:off x="3695700" y="2152650"/>
            <a:ext cx="2962275" cy="628650"/>
          </a:xfrm>
          <a:prstGeom prst="rect">
            <a:avLst/>
          </a:prstGeom>
          <a:noFill/>
          <a:ln w="0">
            <a:noFill/>
          </a:ln>
        </p:spPr>
        <p:txBody>
          <a:bodyPr wrap="square" lIns="0" tIns="0" rIns="0" bIns="0" anchor="ctr">
            <a:noAutofit/>
          </a:bodyPr>
          <a:lstStyle>
            <a:defPPr algn="l">
              <a:defRPr sz="3300">
                <a:solidFill>
                  <a:srgbClr val="004F9F"/>
                </a:solidFill>
                <a:latin typeface="에이투지체 8 ExtraBold"/>
                <a:ea typeface="에이투지체 8 ExtraBold"/>
                <a:cs typeface="에이투지체 8 ExtraBold"/>
              </a:defRPr>
            </a:defPPr>
          </a:lstStyle>
          <a:p>
            <a:pPr algn="l">
              <a:defRPr sz="3300">
                <a:solidFill>
                  <a:srgbClr val="004F9F"/>
                </a:solidFill>
                <a:latin typeface="에이투지체 8 ExtraBold"/>
                <a:ea typeface="에이투지체 8 ExtraBold"/>
                <a:cs typeface="에이투지체 8 ExtraBold"/>
              </a:defRPr>
            </a:pPr>
            <a:r>
              <a:rPr sz="3300">
                <a:solidFill>
                  <a:srgbClr val="004F9F"/>
                </a:solidFill>
                <a:latin typeface="에이투지체 8 ExtraBold"/>
                <a:ea typeface="에이투지체 8 ExtraBold"/>
                <a:cs typeface="에이투지체 8 ExtraBold"/>
              </a:rPr>
              <a:t>약 3.1배</a:t>
            </a:r>
          </a:p>
        </p:txBody>
      </p:sp>
      <p:sp>
        <p:nvSpPr>
          <p:cNvPr id="9" name="text-61">
            <a:extLst>
              <a:ext uri="{FF2B5EF4-FFF2-40B4-BE49-F238E27FC236}">
                <a16:creationId xmlns:a16="http://schemas.microsoft.com/office/drawing/2014/main" id="{167F31E4-DD5E-6EAC-6D3A-28D735681073}"/>
              </a:ext>
            </a:extLst>
          </p:cNvPr>
          <p:cNvSpPr>
            <a:spLocks noGrp="1"/>
          </p:cNvSpPr>
          <p:nvPr/>
        </p:nvSpPr>
        <p:spPr>
          <a:xfrm>
            <a:off x="3695700" y="2790825"/>
            <a:ext cx="2962275" cy="400050"/>
          </a:xfrm>
          <a:prstGeom prst="rect">
            <a:avLst/>
          </a:prstGeom>
          <a:noFill/>
          <a:ln w="0">
            <a:noFill/>
          </a:ln>
        </p:spPr>
        <p:txBody>
          <a:bodyPr wrap="square" lIns="0" tIns="0" rIns="0" bIns="0" anchor="ctr">
            <a:noAutofit/>
          </a:bodyPr>
          <a:lstStyle>
            <a:defPPr algn="l">
              <a:defRPr sz="1305">
                <a:solidFill>
                  <a:srgbClr val="5C5C5C"/>
                </a:solidFill>
                <a:latin typeface="에이투지체 4 Regular"/>
                <a:ea typeface="에이투지체 4 Regular"/>
                <a:cs typeface="에이투지체 4 Regular"/>
              </a:defRPr>
            </a:defPPr>
          </a:lstStyle>
          <a:p>
            <a:pPr algn="l">
              <a:defRPr sz="1305">
                <a:solidFill>
                  <a:srgbClr val="5C5C5C"/>
                </a:solidFill>
                <a:latin typeface="에이투지체 4 Regular"/>
                <a:ea typeface="에이투지체 4 Regular"/>
                <a:cs typeface="에이투지체 4 Regular"/>
              </a:defRPr>
            </a:pPr>
            <a:r>
              <a:rPr sz="1305">
                <a:solidFill>
                  <a:srgbClr val="5C5C5C"/>
                </a:solidFill>
                <a:latin typeface="에이투지체 4 Regular"/>
                <a:ea typeface="에이투지체 4 Regular"/>
                <a:cs typeface="에이투지체 4 Regular"/>
              </a:rPr>
              <a:t>알림받기 고객</a:t>
            </a:r>
          </a:p>
          <a:p>
            <a:pPr algn="l">
              <a:defRPr sz="1305">
                <a:solidFill>
                  <a:srgbClr val="5C5C5C"/>
                </a:solidFill>
                <a:latin typeface="에이투지체 4 Regular"/>
                <a:ea typeface="에이투지체 4 Regular"/>
                <a:cs typeface="에이투지체 4 Regular"/>
              </a:defRPr>
            </a:pPr>
            <a:r>
              <a:rPr sz="1305">
                <a:solidFill>
                  <a:srgbClr val="5C5C5C"/>
                </a:solidFill>
                <a:latin typeface="에이투지체 4 Regular"/>
                <a:ea typeface="에이투지체 4 Regular"/>
                <a:cs typeface="에이투지체 4 Regular"/>
              </a:rPr>
              <a:t>25년 1월 대비 26년 9월</a:t>
            </a:r>
          </a:p>
        </p:txBody>
      </p:sp>
      <p:sp>
        <p:nvSpPr>
          <p:cNvPr id="10" name="text-62">
            <a:extLst>
              <a:ext uri="{FF2B5EF4-FFF2-40B4-BE49-F238E27FC236}">
                <a16:creationId xmlns:a16="http://schemas.microsoft.com/office/drawing/2014/main" id="{A2B4B6F0-1B0B-6FA2-22C1-DDB78D6E90D7}"/>
              </a:ext>
            </a:extLst>
          </p:cNvPr>
          <p:cNvSpPr>
            <a:spLocks noGrp="1"/>
          </p:cNvSpPr>
          <p:nvPr/>
        </p:nvSpPr>
        <p:spPr>
          <a:xfrm>
            <a:off x="7486650" y="2038350"/>
            <a:ext cx="4029075"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dirty="0" err="1">
                <a:solidFill>
                  <a:srgbClr val="004F9F"/>
                </a:solidFill>
                <a:latin typeface="에이투지체 6 SemiBold"/>
                <a:ea typeface="에이투지체 6 SemiBold"/>
                <a:cs typeface="에이투지체 6 SemiBold"/>
              </a:rPr>
              <a:t>ADVoost</a:t>
            </a:r>
            <a:r>
              <a:rPr sz="1500" dirty="0">
                <a:solidFill>
                  <a:srgbClr val="004F9F"/>
                </a:solidFill>
                <a:latin typeface="에이투지체 6 SemiBold"/>
                <a:ea typeface="에이투지체 6 SemiBold"/>
                <a:cs typeface="에이투지체 6 SemiBold"/>
              </a:rPr>
              <a:t> ROAS</a:t>
            </a:r>
          </a:p>
        </p:txBody>
      </p:sp>
      <p:graphicFrame>
        <p:nvGraphicFramePr>
          <p:cNvPr id="11" name="Chart">
            <a:extLst>
              <a:ext uri="{FF2B5EF4-FFF2-40B4-BE49-F238E27FC236}">
                <a16:creationId xmlns:a16="http://schemas.microsoft.com/office/drawing/2014/main" id="{AA1C86F9-55A7-3A51-21EE-2074CE2DE4FC}"/>
              </a:ext>
            </a:extLst>
          </p:cNvPr>
          <p:cNvGraphicFramePr/>
          <p:nvPr/>
        </p:nvGraphicFramePr>
        <p:xfrm>
          <a:off x="7410450" y="2428875"/>
          <a:ext cx="4095750" cy="2228850"/>
        </p:xfrm>
        <a:graphic>
          <a:graphicData uri="http://schemas.openxmlformats.org/drawingml/2006/chart">
            <c:chart xmlns:c="http://schemas.openxmlformats.org/drawingml/2006/chart" xmlns:r="http://schemas.openxmlformats.org/officeDocument/2006/relationships" r:id="rId3"/>
          </a:graphicData>
        </a:graphic>
      </p:graphicFrame>
      <p:sp>
        <p:nvSpPr>
          <p:cNvPr id="12" name="node-63">
            <a:extLst>
              <a:ext uri="{FF2B5EF4-FFF2-40B4-BE49-F238E27FC236}">
                <a16:creationId xmlns:a16="http://schemas.microsoft.com/office/drawing/2014/main" id="{65D86D04-1FD5-305D-0A72-C851014E79CC}"/>
              </a:ext>
            </a:extLst>
          </p:cNvPr>
          <p:cNvSpPr>
            <a:spLocks noGrp="1"/>
          </p:cNvSpPr>
          <p:nvPr/>
        </p:nvSpPr>
        <p:spPr>
          <a:xfrm>
            <a:off x="552450" y="4143375"/>
            <a:ext cx="2876550" cy="619125"/>
          </a:xfrm>
          <a:prstGeom prst="roundRect">
            <a:avLst>
              <a:gd name="adj" fmla="val 11815"/>
            </a:avLst>
          </a:prstGeom>
          <a:solidFill>
            <a:srgbClr val="F5F5F5"/>
          </a:solidFill>
          <a:ln w="0">
            <a:noFill/>
          </a:ln>
        </p:spPr>
        <p:txBody>
          <a:bodyPr/>
          <a:lstStyle/>
          <a:p>
            <a:endParaRPr lang="ko-KR" altLang="en-US"/>
          </a:p>
        </p:txBody>
      </p:sp>
      <p:sp>
        <p:nvSpPr>
          <p:cNvPr id="13" name="text-64">
            <a:extLst>
              <a:ext uri="{FF2B5EF4-FFF2-40B4-BE49-F238E27FC236}">
                <a16:creationId xmlns:a16="http://schemas.microsoft.com/office/drawing/2014/main" id="{640AA25C-CF89-969C-7B0F-97102133D33A}"/>
              </a:ext>
            </a:extLst>
          </p:cNvPr>
          <p:cNvSpPr>
            <a:spLocks noGrp="1"/>
          </p:cNvSpPr>
          <p:nvPr/>
        </p:nvSpPr>
        <p:spPr>
          <a:xfrm>
            <a:off x="666750" y="4191000"/>
            <a:ext cx="2647950" cy="523875"/>
          </a:xfrm>
          <a:prstGeom prst="rect">
            <a:avLst/>
          </a:prstGeom>
          <a:noFill/>
          <a:ln w="0">
            <a:noFill/>
          </a:ln>
        </p:spPr>
        <p:txBody>
          <a:bodyPr wrap="square" lIns="0" tIns="0" rIns="0" bIns="0" anchor="ctr">
            <a:noAutofit/>
          </a:bodyPr>
          <a:lstStyle>
            <a:defPPr algn="ctr">
              <a:defRPr sz="1425">
                <a:solidFill>
                  <a:srgbClr val="222222"/>
                </a:solidFill>
                <a:latin typeface="에이투지체 6 SemiBold"/>
                <a:ea typeface="에이투지체 6 SemiBold"/>
                <a:cs typeface="에이투지체 6 SemiBold"/>
              </a:defRPr>
            </a:defPPr>
          </a:lstStyle>
          <a:p>
            <a:pPr algn="ctr">
              <a:defRPr sz="1425">
                <a:solidFill>
                  <a:srgbClr val="222222"/>
                </a:solidFill>
                <a:latin typeface="에이투지체 6 SemiBold"/>
                <a:ea typeface="에이투지체 6 SemiBold"/>
                <a:cs typeface="에이투지체 6 SemiBold"/>
              </a:defRPr>
            </a:pPr>
            <a:r>
              <a:rPr sz="1425">
                <a:solidFill>
                  <a:srgbClr val="222222"/>
                </a:solidFill>
                <a:latin typeface="에이투지체 6 SemiBold"/>
                <a:ea typeface="에이투지체 6 SemiBold"/>
                <a:cs typeface="에이투지체 6 SemiBold"/>
              </a:rPr>
              <a:t>전 상품 통합 캠페인</a:t>
            </a:r>
          </a:p>
        </p:txBody>
      </p:sp>
      <p:sp>
        <p:nvSpPr>
          <p:cNvPr id="14" name="node-65">
            <a:extLst>
              <a:ext uri="{FF2B5EF4-FFF2-40B4-BE49-F238E27FC236}">
                <a16:creationId xmlns:a16="http://schemas.microsoft.com/office/drawing/2014/main" id="{BE7AFF02-4265-8D4F-C3AA-C5A5F54E3C22}"/>
              </a:ext>
            </a:extLst>
          </p:cNvPr>
          <p:cNvSpPr>
            <a:spLocks noGrp="1"/>
          </p:cNvSpPr>
          <p:nvPr/>
        </p:nvSpPr>
        <p:spPr>
          <a:xfrm>
            <a:off x="4086225" y="3810000"/>
            <a:ext cx="2781300" cy="552450"/>
          </a:xfrm>
          <a:prstGeom prst="roundRect">
            <a:avLst>
              <a:gd name="adj" fmla="val 13241"/>
            </a:avLst>
          </a:prstGeom>
          <a:solidFill>
            <a:srgbClr val="EAF2FB"/>
          </a:solidFill>
          <a:ln w="0">
            <a:noFill/>
          </a:ln>
        </p:spPr>
        <p:txBody>
          <a:bodyPr/>
          <a:lstStyle/>
          <a:p>
            <a:endParaRPr lang="ko-KR" altLang="en-US"/>
          </a:p>
        </p:txBody>
      </p:sp>
      <p:sp>
        <p:nvSpPr>
          <p:cNvPr id="15" name="text-66">
            <a:extLst>
              <a:ext uri="{FF2B5EF4-FFF2-40B4-BE49-F238E27FC236}">
                <a16:creationId xmlns:a16="http://schemas.microsoft.com/office/drawing/2014/main" id="{8B3D298B-A0F0-5DC1-977C-AB9EE2FDA3B1}"/>
              </a:ext>
            </a:extLst>
          </p:cNvPr>
          <p:cNvSpPr>
            <a:spLocks noGrp="1"/>
          </p:cNvSpPr>
          <p:nvPr/>
        </p:nvSpPr>
        <p:spPr>
          <a:xfrm>
            <a:off x="4200525" y="3857625"/>
            <a:ext cx="2552700" cy="457200"/>
          </a:xfrm>
          <a:prstGeom prst="rect">
            <a:avLst/>
          </a:prstGeom>
          <a:noFill/>
          <a:ln w="0">
            <a:noFill/>
          </a:ln>
        </p:spPr>
        <p:txBody>
          <a:bodyPr wrap="square" lIns="0" tIns="0" rIns="0" bIns="0" anchor="ctr">
            <a:noAutofit/>
          </a:bodyPr>
          <a:lstStyle>
            <a:defPPr algn="ctr">
              <a:defRPr sz="1425">
                <a:solidFill>
                  <a:srgbClr val="004F9F"/>
                </a:solidFill>
                <a:latin typeface="에이투지체 6 SemiBold"/>
                <a:ea typeface="에이투지체 6 SemiBold"/>
                <a:cs typeface="에이투지체 6 SemiBold"/>
              </a:defRPr>
            </a:defPPr>
          </a:lstStyle>
          <a:p>
            <a:pPr algn="ctr">
              <a:defRPr sz="1425">
                <a:solidFill>
                  <a:srgbClr val="004F9F"/>
                </a:solidFill>
                <a:latin typeface="에이투지체 6 SemiBold"/>
                <a:ea typeface="에이투지체 6 SemiBold"/>
                <a:cs typeface="에이투지체 6 SemiBold"/>
              </a:defRPr>
            </a:pPr>
            <a:r>
              <a:rPr lang="ko-KR" altLang="en-US" sz="1425" dirty="0" err="1">
                <a:solidFill>
                  <a:srgbClr val="004F9F"/>
                </a:solidFill>
                <a:latin typeface="에이투지체 6 SemiBold"/>
                <a:ea typeface="에이투지체 6 SemiBold"/>
                <a:cs typeface="에이투지체 6 SemiBold"/>
              </a:rPr>
              <a:t>이너웨어</a:t>
            </a:r>
            <a:endParaRPr lang="en-US" altLang="ko-KR" sz="1425" dirty="0">
              <a:solidFill>
                <a:srgbClr val="004F9F"/>
              </a:solidFill>
              <a:latin typeface="에이투지체 6 SemiBold"/>
              <a:ea typeface="에이투지체 6 SemiBold"/>
              <a:cs typeface="에이투지체 6 SemiBold"/>
            </a:endParaRPr>
          </a:p>
          <a:p>
            <a:pPr algn="ctr">
              <a:defRPr sz="1425">
                <a:solidFill>
                  <a:srgbClr val="004F9F"/>
                </a:solidFill>
                <a:latin typeface="에이투지체 6 SemiBold"/>
                <a:ea typeface="에이투지체 6 SemiBold"/>
                <a:cs typeface="에이투지체 6 SemiBold"/>
              </a:defRPr>
            </a:pPr>
            <a:r>
              <a:rPr sz="1425" dirty="0" err="1">
                <a:solidFill>
                  <a:srgbClr val="004F9F"/>
                </a:solidFill>
                <a:latin typeface="에이투지체 6 SemiBold"/>
                <a:ea typeface="에이투지체 6 SemiBold"/>
                <a:cs typeface="에이투지체 6 SemiBold"/>
              </a:rPr>
              <a:t>상품군</a:t>
            </a:r>
            <a:r>
              <a:rPr sz="1425" dirty="0">
                <a:solidFill>
                  <a:srgbClr val="004F9F"/>
                </a:solidFill>
                <a:latin typeface="에이투지체 6 SemiBold"/>
                <a:ea typeface="에이투지체 6 SemiBold"/>
                <a:cs typeface="에이투지체 6 SemiBold"/>
              </a:rPr>
              <a:t> </a:t>
            </a:r>
            <a:r>
              <a:rPr sz="1425" dirty="0" err="1">
                <a:solidFill>
                  <a:srgbClr val="004F9F"/>
                </a:solidFill>
                <a:latin typeface="에이투지체 6 SemiBold"/>
                <a:ea typeface="에이투지체 6 SemiBold"/>
                <a:cs typeface="에이투지체 6 SemiBold"/>
              </a:rPr>
              <a:t>전용</a:t>
            </a:r>
            <a:endParaRPr sz="1425" dirty="0">
              <a:solidFill>
                <a:srgbClr val="004F9F"/>
              </a:solidFill>
              <a:latin typeface="에이투지체 6 SemiBold"/>
              <a:ea typeface="에이투지체 6 SemiBold"/>
              <a:cs typeface="에이투지체 6 SemiBold"/>
            </a:endParaRPr>
          </a:p>
        </p:txBody>
      </p:sp>
      <p:sp>
        <p:nvSpPr>
          <p:cNvPr id="16" name="node-67">
            <a:extLst>
              <a:ext uri="{FF2B5EF4-FFF2-40B4-BE49-F238E27FC236}">
                <a16:creationId xmlns:a16="http://schemas.microsoft.com/office/drawing/2014/main" id="{E91A05C2-99C9-9CD3-C5E1-08247FDDC1B5}"/>
              </a:ext>
            </a:extLst>
          </p:cNvPr>
          <p:cNvSpPr>
            <a:spLocks noGrp="1"/>
          </p:cNvSpPr>
          <p:nvPr/>
        </p:nvSpPr>
        <p:spPr>
          <a:xfrm>
            <a:off x="4086225" y="4514850"/>
            <a:ext cx="2781300" cy="552450"/>
          </a:xfrm>
          <a:prstGeom prst="roundRect">
            <a:avLst>
              <a:gd name="adj" fmla="val 13241"/>
            </a:avLst>
          </a:prstGeom>
          <a:solidFill>
            <a:srgbClr val="EAF2FB"/>
          </a:solidFill>
          <a:ln w="0">
            <a:noFill/>
          </a:ln>
        </p:spPr>
        <p:txBody>
          <a:bodyPr/>
          <a:lstStyle/>
          <a:p>
            <a:endParaRPr lang="ko-KR" altLang="en-US"/>
          </a:p>
        </p:txBody>
      </p:sp>
      <p:sp>
        <p:nvSpPr>
          <p:cNvPr id="17" name="text-68">
            <a:extLst>
              <a:ext uri="{FF2B5EF4-FFF2-40B4-BE49-F238E27FC236}">
                <a16:creationId xmlns:a16="http://schemas.microsoft.com/office/drawing/2014/main" id="{706EE9B8-C3A2-9EA3-15FB-A9D2CF8F595D}"/>
              </a:ext>
            </a:extLst>
          </p:cNvPr>
          <p:cNvSpPr>
            <a:spLocks noGrp="1"/>
          </p:cNvSpPr>
          <p:nvPr/>
        </p:nvSpPr>
        <p:spPr>
          <a:xfrm>
            <a:off x="4200525" y="4562475"/>
            <a:ext cx="2552700" cy="457200"/>
          </a:xfrm>
          <a:prstGeom prst="rect">
            <a:avLst/>
          </a:prstGeom>
          <a:noFill/>
          <a:ln w="0">
            <a:noFill/>
          </a:ln>
        </p:spPr>
        <p:txBody>
          <a:bodyPr wrap="square" lIns="0" tIns="0" rIns="0" bIns="0" anchor="ctr">
            <a:noAutofit/>
          </a:bodyPr>
          <a:lstStyle>
            <a:defPPr algn="ctr">
              <a:defRPr sz="1425">
                <a:solidFill>
                  <a:srgbClr val="004F9F"/>
                </a:solidFill>
                <a:latin typeface="에이투지체 6 SemiBold"/>
                <a:ea typeface="에이투지체 6 SemiBold"/>
                <a:cs typeface="에이투지체 6 SemiBold"/>
              </a:defRPr>
            </a:defPPr>
          </a:lstStyle>
          <a:p>
            <a:pPr algn="ctr">
              <a:defRPr sz="1425">
                <a:solidFill>
                  <a:srgbClr val="004F9F"/>
                </a:solidFill>
                <a:latin typeface="에이투지체 6 SemiBold"/>
                <a:ea typeface="에이투지체 6 SemiBold"/>
                <a:cs typeface="에이투지체 6 SemiBold"/>
              </a:defRPr>
            </a:pPr>
            <a:r>
              <a:rPr sz="1425" dirty="0" err="1">
                <a:solidFill>
                  <a:srgbClr val="004F9F"/>
                </a:solidFill>
                <a:latin typeface="에이투지체 6 SemiBold"/>
                <a:ea typeface="에이투지체 6 SemiBold"/>
                <a:cs typeface="에이투지체 6 SemiBold"/>
              </a:rPr>
              <a:t>어패럴</a:t>
            </a:r>
            <a:endParaRPr sz="1425" dirty="0">
              <a:solidFill>
                <a:srgbClr val="004F9F"/>
              </a:solidFill>
              <a:latin typeface="에이투지체 6 SemiBold"/>
              <a:ea typeface="에이투지체 6 SemiBold"/>
              <a:cs typeface="에이투지체 6 SemiBold"/>
            </a:endParaRPr>
          </a:p>
          <a:p>
            <a:pPr algn="ctr">
              <a:defRPr sz="1425">
                <a:solidFill>
                  <a:srgbClr val="004F9F"/>
                </a:solidFill>
                <a:latin typeface="에이투지체 6 SemiBold"/>
                <a:ea typeface="에이투지체 6 SemiBold"/>
                <a:cs typeface="에이투지체 6 SemiBold"/>
              </a:defRPr>
            </a:pPr>
            <a:r>
              <a:rPr sz="1425" dirty="0" err="1">
                <a:solidFill>
                  <a:srgbClr val="004F9F"/>
                </a:solidFill>
                <a:latin typeface="에이투지체 6 SemiBold"/>
                <a:ea typeface="에이투지체 6 SemiBold"/>
                <a:cs typeface="에이투지체 6 SemiBold"/>
              </a:rPr>
              <a:t>상품군</a:t>
            </a:r>
            <a:r>
              <a:rPr sz="1425" dirty="0">
                <a:solidFill>
                  <a:srgbClr val="004F9F"/>
                </a:solidFill>
                <a:latin typeface="에이투지체 6 SemiBold"/>
                <a:ea typeface="에이투지체 6 SemiBold"/>
                <a:cs typeface="에이투지체 6 SemiBold"/>
              </a:rPr>
              <a:t> </a:t>
            </a:r>
            <a:r>
              <a:rPr sz="1425" dirty="0" err="1">
                <a:solidFill>
                  <a:srgbClr val="004F9F"/>
                </a:solidFill>
                <a:latin typeface="에이투지체 6 SemiBold"/>
                <a:ea typeface="에이투지체 6 SemiBold"/>
                <a:cs typeface="에이투지체 6 SemiBold"/>
              </a:rPr>
              <a:t>전용</a:t>
            </a:r>
            <a:endParaRPr sz="1425" dirty="0">
              <a:solidFill>
                <a:srgbClr val="004F9F"/>
              </a:solidFill>
              <a:latin typeface="에이투지체 6 SemiBold"/>
              <a:ea typeface="에이투지체 6 SemiBold"/>
              <a:cs typeface="에이투지체 6 SemiBold"/>
            </a:endParaRPr>
          </a:p>
        </p:txBody>
      </p:sp>
      <p:sp>
        <p:nvSpPr>
          <p:cNvPr id="18" name="text-69">
            <a:extLst>
              <a:ext uri="{FF2B5EF4-FFF2-40B4-BE49-F238E27FC236}">
                <a16:creationId xmlns:a16="http://schemas.microsoft.com/office/drawing/2014/main" id="{1E4AB8FD-9520-B065-A2CD-F19729D57F73}"/>
              </a:ext>
            </a:extLst>
          </p:cNvPr>
          <p:cNvSpPr>
            <a:spLocks noGrp="1"/>
          </p:cNvSpPr>
          <p:nvPr/>
        </p:nvSpPr>
        <p:spPr>
          <a:xfrm>
            <a:off x="7524750" y="4676775"/>
            <a:ext cx="3724275" cy="647700"/>
          </a:xfrm>
          <a:prstGeom prst="rect">
            <a:avLst/>
          </a:prstGeom>
          <a:noFill/>
          <a:ln w="0">
            <a:noFill/>
          </a:ln>
        </p:spPr>
        <p:txBody>
          <a:bodyPr wrap="square" lIns="0" tIns="0" rIns="0" bIns="0" anchor="ctr">
            <a:noAutofit/>
          </a:bodyPr>
          <a:lstStyle>
            <a:defPPr algn="l">
              <a:defRPr sz="1575">
                <a:solidFill>
                  <a:srgbClr val="004F9F"/>
                </a:solidFill>
                <a:latin typeface="에이투지체 6 SemiBold"/>
                <a:ea typeface="에이투지체 6 SemiBold"/>
                <a:cs typeface="에이투지체 6 SemiBold"/>
              </a:defRPr>
            </a:defPPr>
          </a:lstStyle>
          <a:p>
            <a:pPr algn="ctr">
              <a:defRPr sz="1575">
                <a:solidFill>
                  <a:srgbClr val="004F9F"/>
                </a:solidFill>
                <a:latin typeface="에이투지체 6 SemiBold"/>
                <a:ea typeface="에이투지체 6 SemiBold"/>
                <a:cs typeface="에이투지체 6 SemiBold"/>
              </a:defRPr>
            </a:pPr>
            <a:r>
              <a:rPr sz="1575" dirty="0" err="1">
                <a:solidFill>
                  <a:srgbClr val="004F9F"/>
                </a:solidFill>
                <a:latin typeface="에이투지체 6 SemiBold"/>
                <a:ea typeface="에이투지체 6 SemiBold"/>
                <a:cs typeface="에이투지체 6 SemiBold"/>
              </a:rPr>
              <a:t>상품별로</a:t>
            </a:r>
            <a:r>
              <a:rPr sz="1575" dirty="0">
                <a:solidFill>
                  <a:srgbClr val="004F9F"/>
                </a:solidFill>
                <a:latin typeface="에이투지체 6 SemiBold"/>
                <a:ea typeface="에이투지체 6 SemiBold"/>
                <a:cs typeface="에이투지체 6 SemiBold"/>
              </a:rPr>
              <a:t> </a:t>
            </a:r>
            <a:r>
              <a:rPr lang="ko-KR" altLang="en-US" sz="1575" dirty="0">
                <a:solidFill>
                  <a:srgbClr val="004F9F"/>
                </a:solidFill>
                <a:latin typeface="에이투지체 6 SemiBold"/>
                <a:ea typeface="에이투지체 6 SemiBold"/>
                <a:cs typeface="에이투지체 6 SemiBold"/>
              </a:rPr>
              <a:t>니즈가 </a:t>
            </a:r>
            <a:r>
              <a:rPr sz="1575" dirty="0" err="1">
                <a:solidFill>
                  <a:srgbClr val="004F9F"/>
                </a:solidFill>
                <a:latin typeface="에이투지체 6 SemiBold"/>
                <a:ea typeface="에이투지체 6 SemiBold"/>
                <a:cs typeface="에이투지체 6 SemiBold"/>
              </a:rPr>
              <a:t>다른</a:t>
            </a:r>
            <a:r>
              <a:rPr sz="1575" dirty="0">
                <a:solidFill>
                  <a:srgbClr val="004F9F"/>
                </a:solidFill>
                <a:latin typeface="에이투지체 6 SemiBold"/>
                <a:ea typeface="에이투지체 6 SemiBold"/>
                <a:cs typeface="에이투지체 6 SemiBold"/>
              </a:rPr>
              <a:t> </a:t>
            </a:r>
            <a:r>
              <a:rPr sz="1575" dirty="0" err="1">
                <a:solidFill>
                  <a:srgbClr val="004F9F"/>
                </a:solidFill>
                <a:latin typeface="에이투지체 6 SemiBold"/>
                <a:ea typeface="에이투지체 6 SemiBold"/>
                <a:cs typeface="에이투지체 6 SemiBold"/>
              </a:rPr>
              <a:t>고객을</a:t>
            </a:r>
            <a:endParaRPr sz="1575" dirty="0">
              <a:solidFill>
                <a:srgbClr val="004F9F"/>
              </a:solidFill>
              <a:latin typeface="에이투지체 6 SemiBold"/>
              <a:ea typeface="에이투지체 6 SemiBold"/>
              <a:cs typeface="에이투지체 6 SemiBold"/>
            </a:endParaRPr>
          </a:p>
          <a:p>
            <a:pPr algn="ctr">
              <a:defRPr sz="1575">
                <a:solidFill>
                  <a:srgbClr val="004F9F"/>
                </a:solidFill>
                <a:latin typeface="에이투지체 6 SemiBold"/>
                <a:ea typeface="에이투지체 6 SemiBold"/>
                <a:cs typeface="에이투지체 6 SemiBold"/>
              </a:defRPr>
            </a:pPr>
            <a:r>
              <a:rPr sz="1575" dirty="0" err="1">
                <a:solidFill>
                  <a:srgbClr val="004F9F"/>
                </a:solidFill>
                <a:latin typeface="에이투지체 6 SemiBold"/>
                <a:ea typeface="에이투지체 6 SemiBold"/>
                <a:cs typeface="에이투지체 6 SemiBold"/>
              </a:rPr>
              <a:t>따로</a:t>
            </a:r>
            <a:r>
              <a:rPr sz="1575" dirty="0">
                <a:solidFill>
                  <a:srgbClr val="004F9F"/>
                </a:solidFill>
                <a:latin typeface="에이투지체 6 SemiBold"/>
                <a:ea typeface="에이투지체 6 SemiBold"/>
                <a:cs typeface="에이투지체 6 SemiBold"/>
              </a:rPr>
              <a:t> </a:t>
            </a:r>
            <a:r>
              <a:rPr sz="1575" dirty="0" err="1">
                <a:solidFill>
                  <a:srgbClr val="004F9F"/>
                </a:solidFill>
                <a:latin typeface="에이투지체 6 SemiBold"/>
                <a:ea typeface="에이투지체 6 SemiBold"/>
                <a:cs typeface="에이투지체 6 SemiBold"/>
              </a:rPr>
              <a:t>학습하는</a:t>
            </a:r>
            <a:r>
              <a:rPr sz="1575" dirty="0">
                <a:solidFill>
                  <a:srgbClr val="004F9F"/>
                </a:solidFill>
                <a:latin typeface="에이투지체 6 SemiBold"/>
                <a:ea typeface="에이투지체 6 SemiBold"/>
                <a:cs typeface="에이투지체 6 SemiBold"/>
              </a:rPr>
              <a:t> </a:t>
            </a:r>
            <a:r>
              <a:rPr sz="1575" dirty="0" err="1">
                <a:solidFill>
                  <a:srgbClr val="004F9F"/>
                </a:solidFill>
                <a:latin typeface="에이투지체 6 SemiBold"/>
                <a:ea typeface="에이투지체 6 SemiBold"/>
                <a:cs typeface="에이투지체 6 SemiBold"/>
              </a:rPr>
              <a:t>구조</a:t>
            </a:r>
            <a:endParaRPr sz="1575" dirty="0">
              <a:solidFill>
                <a:srgbClr val="004F9F"/>
              </a:solidFill>
              <a:latin typeface="에이투지체 6 SemiBold"/>
              <a:ea typeface="에이투지체 6 SemiBold"/>
              <a:cs typeface="에이투지체 6 SemiBold"/>
            </a:endParaRPr>
          </a:p>
        </p:txBody>
      </p:sp>
      <p:sp>
        <p:nvSpPr>
          <p:cNvPr id="19" name="node-70">
            <a:extLst>
              <a:ext uri="{FF2B5EF4-FFF2-40B4-BE49-F238E27FC236}">
                <a16:creationId xmlns:a16="http://schemas.microsoft.com/office/drawing/2014/main" id="{58CAD849-2A99-80F3-C82D-816ADF816C12}"/>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dirty="0"/>
          </a:p>
        </p:txBody>
      </p:sp>
      <p:sp>
        <p:nvSpPr>
          <p:cNvPr id="20" name="text-71">
            <a:extLst>
              <a:ext uri="{FF2B5EF4-FFF2-40B4-BE49-F238E27FC236}">
                <a16:creationId xmlns:a16="http://schemas.microsoft.com/office/drawing/2014/main" id="{E7580F5F-F1D1-BC80-9804-DCF357FC3ED6}"/>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dirty="0" err="1">
                <a:solidFill>
                  <a:srgbClr val="004F9F"/>
                </a:solidFill>
                <a:latin typeface="에이투지체 6 SemiBold"/>
                <a:ea typeface="에이투지체 6 SemiBold"/>
                <a:cs typeface="에이투지체 6 SemiBold"/>
              </a:rPr>
              <a:t>두드림</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적용</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연령</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신호</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중심의</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구분을</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상품군</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중심으로</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개편</a:t>
            </a:r>
            <a:r>
              <a:rPr lang="ko-KR" altLang="en-US" sz="1358" dirty="0">
                <a:solidFill>
                  <a:srgbClr val="004F9F"/>
                </a:solidFill>
                <a:latin typeface="에이투지체 6 SemiBold"/>
                <a:ea typeface="에이투지체 6 SemiBold"/>
                <a:cs typeface="에이투지체 6 SemiBold"/>
              </a:rPr>
              <a:t>해</a:t>
            </a:r>
            <a:r>
              <a:rPr lang="en-US" altLang="ko-KR" sz="1358" dirty="0">
                <a:solidFill>
                  <a:srgbClr val="004F9F"/>
                </a:solidFill>
                <a:latin typeface="에이투지체 6 SemiBold"/>
                <a:ea typeface="에이투지체 6 SemiBold"/>
                <a:cs typeface="에이투지체 6 SemiBold"/>
              </a:rPr>
              <a:t>, </a:t>
            </a:r>
            <a:r>
              <a:rPr lang="ko-KR" altLang="en-US" sz="1358" dirty="0" err="1">
                <a:solidFill>
                  <a:srgbClr val="004F9F"/>
                </a:solidFill>
                <a:latin typeface="에이투지체 6 SemiBold"/>
                <a:ea typeface="에이투지체 6 SemiBold"/>
                <a:cs typeface="에이투지체 6 SemiBold"/>
              </a:rPr>
              <a:t>머신러닝이</a:t>
            </a:r>
            <a:r>
              <a:rPr lang="ko-KR" altLang="en-US" sz="1358" dirty="0">
                <a:solidFill>
                  <a:srgbClr val="004F9F"/>
                </a:solidFill>
                <a:latin typeface="에이투지체 6 SemiBold"/>
                <a:ea typeface="에이투지체 6 SemiBold"/>
                <a:cs typeface="에이투지체 6 SemiBold"/>
              </a:rPr>
              <a:t> 스스로 고객을 찾아낼 수 있도록 운영합니다</a:t>
            </a:r>
            <a:endParaRPr sz="1358" dirty="0">
              <a:solidFill>
                <a:srgbClr val="FFFFFF"/>
              </a:solidFill>
              <a:latin typeface="에이투지체 6 SemiBold"/>
              <a:ea typeface="에이투지체 6 SemiBold"/>
              <a:cs typeface="에이투지체 6 SemiBold"/>
            </a:endParaRPr>
          </a:p>
        </p:txBody>
      </p:sp>
      <p:sp>
        <p:nvSpPr>
          <p:cNvPr id="26" name="TextBox 1">
            <a:extLst>
              <a:ext uri="{FF2B5EF4-FFF2-40B4-BE49-F238E27FC236}">
                <a16:creationId xmlns:a16="http://schemas.microsoft.com/office/drawing/2014/main" id="{F8749BAA-1CAC-1F37-8779-8018D4A8E10F}"/>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Tree>
    <p:extLst>
      <p:ext uri="{BB962C8B-B14F-4D97-AF65-F5344CB8AC3E}">
        <p14:creationId xmlns:p14="http://schemas.microsoft.com/office/powerpoint/2010/main" val="33489474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5"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6"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33</a:t>
            </a:r>
          </a:p>
        </p:txBody>
      </p:sp>
      <p:sp>
        <p:nvSpPr>
          <p:cNvPr id="2" name="text-112">
            <a:extLst>
              <a:ext uri="{FF2B5EF4-FFF2-40B4-BE49-F238E27FC236}">
                <a16:creationId xmlns:a16="http://schemas.microsoft.com/office/drawing/2014/main" id="{731378E2-3427-4369-8A28-8FAD5DF90970}"/>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GFA 핵심 과제</a:t>
            </a:r>
            <a:r>
              <a:rPr lang="ko-KR" sz="1900" dirty="0">
                <a:solidFill>
                  <a:srgbClr val="222222"/>
                </a:solidFill>
                <a:latin typeface="에이투지체 8 ExtraBold"/>
                <a:ea typeface="에이투지체 8 ExtraBold"/>
                <a:cs typeface="에이투지체 8 ExtraBold"/>
              </a:rPr>
              <a:t>는 세 가지로 나누어</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ADVoost · 리타겟 · 전환 캠페인으로 운영하겠습니다</a:t>
            </a:r>
            <a:endParaRPr lang="ko-KR" sz="1900" dirty="0"/>
          </a:p>
        </p:txBody>
      </p:sp>
      <p:sp>
        <p:nvSpPr>
          <p:cNvPr id="3" name="text-113">
            <a:extLst>
              <a:ext uri="{FF2B5EF4-FFF2-40B4-BE49-F238E27FC236}">
                <a16:creationId xmlns:a16="http://schemas.microsoft.com/office/drawing/2014/main" id="{F6CD2EA1-5FC6-49CB-980E-D2C5F03D5A7A}"/>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GFA 핵심 과제 정리</a:t>
            </a:r>
            <a:endParaRPr lang="ko-KR" sz="1100" dirty="0"/>
          </a:p>
        </p:txBody>
      </p:sp>
      <p:sp>
        <p:nvSpPr>
          <p:cNvPr id="10" name="node-118">
            <a:extLst>
              <a:ext uri="{FF2B5EF4-FFF2-40B4-BE49-F238E27FC236}">
                <a16:creationId xmlns:a16="http://schemas.microsoft.com/office/drawing/2014/main" id="{089BBCF6-B58C-4628-B393-88314E583683}"/>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11" name="text-119">
            <a:extLst>
              <a:ext uri="{FF2B5EF4-FFF2-40B4-BE49-F238E27FC236}">
                <a16:creationId xmlns:a16="http://schemas.microsoft.com/office/drawing/2014/main" id="{B23A2582-E021-450A-B2EF-3D82AA36A1E6}"/>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dirty="0">
                <a:solidFill>
                  <a:srgbClr val="004F9F"/>
                </a:solidFill>
                <a:latin typeface="에이투지체 6 SemiBold"/>
                <a:ea typeface="에이투지체 6 SemiBold"/>
                <a:cs typeface="에이투지체 6 SemiBold"/>
              </a:rPr>
              <a:t>GFA</a:t>
            </a:r>
            <a:r>
              <a:rPr lang="ko-KR" altLang="en-US" sz="1358" dirty="0">
                <a:solidFill>
                  <a:srgbClr val="004F9F"/>
                </a:solidFill>
                <a:latin typeface="에이투지체 6 SemiBold"/>
                <a:ea typeface="에이투지체 6 SemiBold"/>
                <a:cs typeface="에이투지체 6 SemiBold"/>
              </a:rPr>
              <a:t>는</a:t>
            </a:r>
            <a:r>
              <a:rPr sz="1358" dirty="0">
                <a:solidFill>
                  <a:srgbClr val="004F9F"/>
                </a:solidFill>
                <a:latin typeface="에이투지체 6 SemiBold"/>
                <a:ea typeface="에이투지체 6 SemiBold"/>
                <a:cs typeface="에이투지체 6 SemiBold"/>
              </a:rPr>
              <a:t> </a:t>
            </a:r>
            <a:r>
              <a:rPr lang="en-US" sz="1358" dirty="0">
                <a:solidFill>
                  <a:srgbClr val="004F9F"/>
                </a:solidFill>
                <a:latin typeface="에이투지체 6 SemiBold"/>
                <a:ea typeface="에이투지체 6 SemiBold"/>
                <a:cs typeface="에이투지체 6 SemiBold"/>
              </a:rPr>
              <a:t>FGO</a:t>
            </a:r>
            <a:r>
              <a:rPr lang="ko-KR" altLang="en-US" sz="1358" dirty="0">
                <a:solidFill>
                  <a:srgbClr val="004F9F"/>
                </a:solidFill>
                <a:latin typeface="에이투지체 6 SemiBold"/>
                <a:ea typeface="에이투지체 6 SemiBold"/>
                <a:cs typeface="에이투지체 6 SemiBold"/>
              </a:rPr>
              <a:t>를 베이스로 타 상품의 매출 증대의 핵심 매체로 운영합니다</a:t>
            </a:r>
            <a:endParaRPr sz="1358" dirty="0">
              <a:solidFill>
                <a:srgbClr val="FFFFFF"/>
              </a:solidFill>
              <a:latin typeface="에이투지체 6 SemiBold"/>
              <a:ea typeface="에이투지체 6 SemiBold"/>
              <a:cs typeface="에이투지체 6 SemiBold"/>
            </a:endParaRPr>
          </a:p>
        </p:txBody>
      </p:sp>
      <p:sp>
        <p:nvSpPr>
          <p:cNvPr id="17" name="TextBox 16"/>
          <p:cNvSpPr txBox="1"/>
          <p:nvPr/>
        </p:nvSpPr>
        <p:spPr>
          <a:xfrm>
            <a:off x="548640" y="2084831"/>
            <a:ext cx="2423160" cy="237744"/>
          </a:xfrm>
          <a:prstGeom prst="rect">
            <a:avLst/>
          </a:prstGeom>
          <a:noFill/>
        </p:spPr>
        <p:txBody>
          <a:bodyPr wrap="square" lIns="0" tIns="0" rIns="0" bIns="0" anchor="t">
            <a:spAutoFit/>
          </a:bodyPr>
          <a:lstStyle/>
          <a:p>
            <a:pPr algn="l">
              <a:spcAft>
                <a:spcPts val="300"/>
              </a:spcAft>
            </a:pPr>
            <a:r>
              <a:rPr sz="950">
                <a:solidFill>
                  <a:srgbClr val="919191"/>
                </a:solidFill>
                <a:latin typeface="에이투지체 6 SemiBold"/>
                <a:ea typeface="에이투지체 6 SemiBold"/>
              </a:rPr>
              <a:t>핵심 과제</a:t>
            </a:r>
          </a:p>
        </p:txBody>
      </p:sp>
      <p:sp>
        <p:nvSpPr>
          <p:cNvPr id="18" name="TextBox 17"/>
          <p:cNvSpPr txBox="1"/>
          <p:nvPr/>
        </p:nvSpPr>
        <p:spPr>
          <a:xfrm>
            <a:off x="3291840" y="2084831"/>
            <a:ext cx="3931920" cy="237744"/>
          </a:xfrm>
          <a:prstGeom prst="rect">
            <a:avLst/>
          </a:prstGeom>
          <a:noFill/>
        </p:spPr>
        <p:txBody>
          <a:bodyPr wrap="square" lIns="0" tIns="0" rIns="0" bIns="0" anchor="t">
            <a:spAutoFit/>
          </a:bodyPr>
          <a:lstStyle/>
          <a:p>
            <a:pPr algn="l">
              <a:spcAft>
                <a:spcPts val="300"/>
              </a:spcAft>
            </a:pPr>
            <a:r>
              <a:rPr sz="950">
                <a:solidFill>
                  <a:srgbClr val="919191"/>
                </a:solidFill>
                <a:latin typeface="에이투지체 6 SemiBold"/>
                <a:ea typeface="에이투지체 6 SemiBold"/>
              </a:rPr>
              <a:t>GFA 실행</a:t>
            </a:r>
          </a:p>
        </p:txBody>
      </p:sp>
      <p:sp>
        <p:nvSpPr>
          <p:cNvPr id="19" name="TextBox 18"/>
          <p:cNvSpPr txBox="1"/>
          <p:nvPr/>
        </p:nvSpPr>
        <p:spPr>
          <a:xfrm>
            <a:off x="7543800" y="2084831"/>
            <a:ext cx="2103120" cy="237744"/>
          </a:xfrm>
          <a:prstGeom prst="rect">
            <a:avLst/>
          </a:prstGeom>
          <a:noFill/>
        </p:spPr>
        <p:txBody>
          <a:bodyPr wrap="square" lIns="0" tIns="0" rIns="0" bIns="0" anchor="t">
            <a:spAutoFit/>
          </a:bodyPr>
          <a:lstStyle/>
          <a:p>
            <a:pPr algn="l">
              <a:spcAft>
                <a:spcPts val="300"/>
              </a:spcAft>
            </a:pPr>
            <a:r>
              <a:rPr sz="950">
                <a:solidFill>
                  <a:srgbClr val="919191"/>
                </a:solidFill>
                <a:latin typeface="에이투지체 6 SemiBold"/>
                <a:ea typeface="에이투지체 6 SemiBold"/>
              </a:rPr>
              <a:t>캠페인</a:t>
            </a:r>
          </a:p>
        </p:txBody>
      </p:sp>
      <p:sp>
        <p:nvSpPr>
          <p:cNvPr id="20" name="TextBox 19"/>
          <p:cNvSpPr txBox="1"/>
          <p:nvPr/>
        </p:nvSpPr>
        <p:spPr>
          <a:xfrm>
            <a:off x="9966960" y="2084831"/>
            <a:ext cx="1645920" cy="237744"/>
          </a:xfrm>
          <a:prstGeom prst="rect">
            <a:avLst/>
          </a:prstGeom>
          <a:noFill/>
        </p:spPr>
        <p:txBody>
          <a:bodyPr wrap="square" lIns="0" tIns="0" rIns="0" bIns="0" anchor="t">
            <a:spAutoFit/>
          </a:bodyPr>
          <a:lstStyle/>
          <a:p>
            <a:pPr algn="l">
              <a:spcAft>
                <a:spcPts val="300"/>
              </a:spcAft>
            </a:pPr>
            <a:r>
              <a:rPr sz="950">
                <a:solidFill>
                  <a:srgbClr val="919191"/>
                </a:solidFill>
                <a:latin typeface="에이투지체 6 SemiBold"/>
                <a:ea typeface="에이투지체 6 SemiBold"/>
              </a:rPr>
              <a:t>관리 지표</a:t>
            </a:r>
          </a:p>
        </p:txBody>
      </p:sp>
      <p:sp>
        <p:nvSpPr>
          <p:cNvPr id="21" name="Rounded Rectangle 20"/>
          <p:cNvSpPr/>
          <p:nvPr/>
        </p:nvSpPr>
        <p:spPr>
          <a:xfrm>
            <a:off x="548640" y="2395728"/>
            <a:ext cx="2423160" cy="841248"/>
          </a:xfrm>
          <a:prstGeom prst="roundRect">
            <a:avLst>
              <a:gd name="adj" fmla="val 8695"/>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 y="2395728"/>
            <a:ext cx="2148840" cy="841248"/>
          </a:xfrm>
          <a:prstGeom prst="rect">
            <a:avLst/>
          </a:prstGeom>
          <a:noFill/>
        </p:spPr>
        <p:txBody>
          <a:bodyPr wrap="square" lIns="0" tIns="0" rIns="0" bIns="0" anchor="ctr">
            <a:spAutoFit/>
          </a:bodyPr>
          <a:lstStyle/>
          <a:p>
            <a:pPr algn="l">
              <a:spcAft>
                <a:spcPts val="100"/>
              </a:spcAft>
            </a:pPr>
            <a:r>
              <a:rPr sz="1050">
                <a:solidFill>
                  <a:srgbClr val="FFFFFF"/>
                </a:solidFill>
                <a:latin typeface="에이투지체 6 SemiBold"/>
                <a:ea typeface="에이투지체 6 SemiBold"/>
              </a:rPr>
              <a:t>01</a:t>
            </a:r>
          </a:p>
          <a:p>
            <a:pPr algn="l">
              <a:spcAft>
                <a:spcPts val="100"/>
              </a:spcAft>
            </a:pPr>
            <a:r>
              <a:rPr sz="1300">
                <a:solidFill>
                  <a:srgbClr val="FFFFFF"/>
                </a:solidFill>
                <a:latin typeface="에이투지체 6 SemiBold"/>
                <a:ea typeface="에이투지체 6 SemiBold"/>
              </a:rPr>
              <a:t>상품별 구매 고객 학습</a:t>
            </a:r>
          </a:p>
        </p:txBody>
      </p:sp>
      <p:sp>
        <p:nvSpPr>
          <p:cNvPr id="23" name="Rounded Rectangle 22"/>
          <p:cNvSpPr/>
          <p:nvPr/>
        </p:nvSpPr>
        <p:spPr>
          <a:xfrm>
            <a:off x="3291840" y="2395728"/>
            <a:ext cx="3931920" cy="841248"/>
          </a:xfrm>
          <a:prstGeom prst="roundRect">
            <a:avLst>
              <a:gd name="adj" fmla="val 869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493008" y="2395728"/>
            <a:ext cx="3566160" cy="841248"/>
          </a:xfrm>
          <a:prstGeom prst="rect">
            <a:avLst/>
          </a:prstGeom>
          <a:noFill/>
        </p:spPr>
        <p:txBody>
          <a:bodyPr wrap="square" lIns="0" tIns="0" rIns="0" bIns="0" anchor="ctr">
            <a:spAutoFit/>
          </a:bodyPr>
          <a:lstStyle/>
          <a:p>
            <a:pPr algn="l">
              <a:spcAft>
                <a:spcPts val="200"/>
              </a:spcAft>
            </a:pPr>
            <a:r>
              <a:rPr sz="1150">
                <a:solidFill>
                  <a:srgbClr val="222222"/>
                </a:solidFill>
                <a:latin typeface="에이투지체 5 Medium"/>
                <a:ea typeface="에이투지체 5 Medium"/>
              </a:rPr>
              <a:t>카테고리별 상품 캠페인을 분리해</a:t>
            </a:r>
          </a:p>
          <a:p>
            <a:pPr algn="l">
              <a:spcAft>
                <a:spcPts val="200"/>
              </a:spcAft>
            </a:pPr>
            <a:r>
              <a:rPr sz="1150">
                <a:solidFill>
                  <a:srgbClr val="222222"/>
                </a:solidFill>
                <a:latin typeface="에이투지체 5 Medium"/>
                <a:ea typeface="에이투지체 5 Medium"/>
              </a:rPr>
              <a:t>머신러닝이 적합한 고객을 찾도록 돕습니다</a:t>
            </a:r>
          </a:p>
        </p:txBody>
      </p:sp>
      <p:sp>
        <p:nvSpPr>
          <p:cNvPr id="25" name="Rounded Rectangle 24"/>
          <p:cNvSpPr/>
          <p:nvPr/>
        </p:nvSpPr>
        <p:spPr>
          <a:xfrm>
            <a:off x="7543800" y="2487168"/>
            <a:ext cx="2103120" cy="658368"/>
          </a:xfrm>
          <a:prstGeom prst="roundRect">
            <a:avLst>
              <a:gd name="adj" fmla="val 11111"/>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635240" y="2487168"/>
            <a:ext cx="1920239" cy="658368"/>
          </a:xfrm>
          <a:prstGeom prst="rect">
            <a:avLst/>
          </a:prstGeom>
          <a:noFill/>
        </p:spPr>
        <p:txBody>
          <a:bodyPr wrap="square" lIns="0" tIns="0" rIns="0" bIns="0" anchor="ctr">
            <a:spAutoFit/>
          </a:bodyPr>
          <a:lstStyle/>
          <a:p>
            <a:pPr algn="ctr">
              <a:spcAft>
                <a:spcPts val="100"/>
              </a:spcAft>
            </a:pPr>
            <a:r>
              <a:rPr sz="1150">
                <a:solidFill>
                  <a:srgbClr val="004F9F"/>
                </a:solidFill>
                <a:latin typeface="에이투지체 6 SemiBold"/>
                <a:ea typeface="에이투지체 6 SemiBold"/>
              </a:rPr>
              <a:t>ADVoost</a:t>
            </a:r>
          </a:p>
        </p:txBody>
      </p:sp>
      <p:sp>
        <p:nvSpPr>
          <p:cNvPr id="27" name="TextBox 26"/>
          <p:cNvSpPr txBox="1"/>
          <p:nvPr/>
        </p:nvSpPr>
        <p:spPr>
          <a:xfrm>
            <a:off x="9966960" y="2395728"/>
            <a:ext cx="1645920" cy="841248"/>
          </a:xfrm>
          <a:prstGeom prst="rect">
            <a:avLst/>
          </a:prstGeom>
          <a:noFill/>
        </p:spPr>
        <p:txBody>
          <a:bodyPr wrap="square" lIns="0" tIns="0" rIns="0" bIns="0" anchor="ctr">
            <a:spAutoFit/>
          </a:bodyPr>
          <a:lstStyle/>
          <a:p>
            <a:pPr algn="ctr">
              <a:spcAft>
                <a:spcPts val="100"/>
              </a:spcAft>
            </a:pPr>
            <a:r>
              <a:rPr sz="1150">
                <a:solidFill>
                  <a:srgbClr val="222222"/>
                </a:solidFill>
                <a:latin typeface="에이투지체 6 SemiBold"/>
                <a:ea typeface="에이투지체 6 SemiBold"/>
              </a:rPr>
              <a:t>구매 ROAS</a:t>
            </a:r>
          </a:p>
        </p:txBody>
      </p:sp>
      <p:sp>
        <p:nvSpPr>
          <p:cNvPr id="28" name="Isosceles Triangle 27"/>
          <p:cNvSpPr/>
          <p:nvPr/>
        </p:nvSpPr>
        <p:spPr>
          <a:xfrm rot="5400000">
            <a:off x="3017520" y="2715768"/>
            <a:ext cx="146304" cy="201168"/>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Isosceles Triangle 28"/>
          <p:cNvSpPr/>
          <p:nvPr/>
        </p:nvSpPr>
        <p:spPr>
          <a:xfrm rot="5400000">
            <a:off x="7269480" y="2715768"/>
            <a:ext cx="146304" cy="201168"/>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Isosceles Triangle 29"/>
          <p:cNvSpPr/>
          <p:nvPr/>
        </p:nvSpPr>
        <p:spPr>
          <a:xfrm rot="5400000">
            <a:off x="9692640" y="2715768"/>
            <a:ext cx="146304" cy="201168"/>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548640" y="3374136"/>
            <a:ext cx="2423160" cy="841248"/>
          </a:xfrm>
          <a:prstGeom prst="roundRect">
            <a:avLst>
              <a:gd name="adj" fmla="val 869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31520" y="3374136"/>
            <a:ext cx="2148840" cy="841248"/>
          </a:xfrm>
          <a:prstGeom prst="rect">
            <a:avLst/>
          </a:prstGeom>
          <a:noFill/>
        </p:spPr>
        <p:txBody>
          <a:bodyPr wrap="square" lIns="0" tIns="0" rIns="0" bIns="0" anchor="ctr">
            <a:spAutoFit/>
          </a:bodyPr>
          <a:lstStyle/>
          <a:p>
            <a:pPr algn="l">
              <a:spcAft>
                <a:spcPts val="100"/>
              </a:spcAft>
            </a:pPr>
            <a:r>
              <a:rPr sz="1050">
                <a:solidFill>
                  <a:srgbClr val="004F9F"/>
                </a:solidFill>
                <a:latin typeface="에이투지체 6 SemiBold"/>
                <a:ea typeface="에이투지체 6 SemiBold"/>
              </a:rPr>
              <a:t>02</a:t>
            </a:r>
          </a:p>
          <a:p>
            <a:pPr algn="l">
              <a:spcAft>
                <a:spcPts val="100"/>
              </a:spcAft>
            </a:pPr>
            <a:r>
              <a:rPr sz="1300">
                <a:solidFill>
                  <a:srgbClr val="222222"/>
                </a:solidFill>
                <a:latin typeface="에이투지체 6 SemiBold"/>
                <a:ea typeface="에이투지체 6 SemiBold"/>
              </a:rPr>
              <a:t>FGO 고객 확장</a:t>
            </a:r>
          </a:p>
        </p:txBody>
      </p:sp>
      <p:sp>
        <p:nvSpPr>
          <p:cNvPr id="33" name="Rounded Rectangle 32"/>
          <p:cNvSpPr/>
          <p:nvPr/>
        </p:nvSpPr>
        <p:spPr>
          <a:xfrm>
            <a:off x="3291840" y="3374136"/>
            <a:ext cx="3931920" cy="841248"/>
          </a:xfrm>
          <a:prstGeom prst="roundRect">
            <a:avLst>
              <a:gd name="adj" fmla="val 869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493008" y="3374136"/>
            <a:ext cx="3566160" cy="841248"/>
          </a:xfrm>
          <a:prstGeom prst="rect">
            <a:avLst/>
          </a:prstGeom>
          <a:noFill/>
        </p:spPr>
        <p:txBody>
          <a:bodyPr wrap="square" lIns="0" tIns="0" rIns="0" bIns="0" anchor="ctr">
            <a:spAutoFit/>
          </a:bodyPr>
          <a:lstStyle/>
          <a:p>
            <a:pPr algn="l">
              <a:spcAft>
                <a:spcPts val="200"/>
              </a:spcAft>
            </a:pPr>
            <a:r>
              <a:rPr sz="1150">
                <a:solidFill>
                  <a:srgbClr val="222222"/>
                </a:solidFill>
                <a:latin typeface="에이투지체 5 Medium"/>
                <a:ea typeface="에이투지체 5 Medium"/>
              </a:rPr>
              <a:t>FGO 고객에게 패키지 상품을 제안하고</a:t>
            </a:r>
          </a:p>
          <a:p>
            <a:pPr algn="l">
              <a:spcAft>
                <a:spcPts val="200"/>
              </a:spcAft>
            </a:pPr>
            <a:r>
              <a:rPr sz="1150">
                <a:solidFill>
                  <a:srgbClr val="222222"/>
                </a:solidFill>
                <a:latin typeface="에이투지체 5 Medium"/>
                <a:ea typeface="에이투지체 5 Medium"/>
              </a:rPr>
              <a:t>성장 단계별 소재로 재구매를 유도합니다</a:t>
            </a:r>
          </a:p>
        </p:txBody>
      </p:sp>
      <p:sp>
        <p:nvSpPr>
          <p:cNvPr id="35" name="Rounded Rectangle 34"/>
          <p:cNvSpPr/>
          <p:nvPr/>
        </p:nvSpPr>
        <p:spPr>
          <a:xfrm>
            <a:off x="7543800" y="3465576"/>
            <a:ext cx="2103120" cy="658368"/>
          </a:xfrm>
          <a:prstGeom prst="roundRect">
            <a:avLst>
              <a:gd name="adj" fmla="val 11111"/>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635240" y="3465576"/>
            <a:ext cx="1920239" cy="658368"/>
          </a:xfrm>
          <a:prstGeom prst="rect">
            <a:avLst/>
          </a:prstGeom>
          <a:noFill/>
        </p:spPr>
        <p:txBody>
          <a:bodyPr wrap="square" lIns="0" tIns="0" rIns="0" bIns="0" anchor="ctr">
            <a:spAutoFit/>
          </a:bodyPr>
          <a:lstStyle/>
          <a:p>
            <a:pPr algn="ctr">
              <a:spcAft>
                <a:spcPts val="100"/>
              </a:spcAft>
            </a:pPr>
            <a:r>
              <a:rPr sz="1150">
                <a:solidFill>
                  <a:srgbClr val="004F9F"/>
                </a:solidFill>
                <a:latin typeface="에이투지체 6 SemiBold"/>
                <a:ea typeface="에이투지체 6 SemiBold"/>
              </a:rPr>
              <a:t>리타겟</a:t>
            </a:r>
          </a:p>
        </p:txBody>
      </p:sp>
      <p:sp>
        <p:nvSpPr>
          <p:cNvPr id="37" name="TextBox 36"/>
          <p:cNvSpPr txBox="1"/>
          <p:nvPr/>
        </p:nvSpPr>
        <p:spPr>
          <a:xfrm>
            <a:off x="9966960" y="3374136"/>
            <a:ext cx="1645920" cy="841248"/>
          </a:xfrm>
          <a:prstGeom prst="rect">
            <a:avLst/>
          </a:prstGeom>
          <a:noFill/>
        </p:spPr>
        <p:txBody>
          <a:bodyPr wrap="square" lIns="0" tIns="0" rIns="0" bIns="0" anchor="ctr">
            <a:spAutoFit/>
          </a:bodyPr>
          <a:lstStyle/>
          <a:p>
            <a:pPr algn="ctr">
              <a:spcAft>
                <a:spcPts val="100"/>
              </a:spcAft>
            </a:pPr>
            <a:r>
              <a:rPr sz="1150">
                <a:solidFill>
                  <a:srgbClr val="222222"/>
                </a:solidFill>
                <a:latin typeface="에이투지체 6 SemiBold"/>
                <a:ea typeface="에이투지체 6 SemiBold"/>
              </a:rPr>
              <a:t>패키지 매출</a:t>
            </a:r>
          </a:p>
          <a:p>
            <a:pPr algn="ctr">
              <a:spcAft>
                <a:spcPts val="100"/>
              </a:spcAft>
            </a:pPr>
            <a:r>
              <a:rPr sz="1150">
                <a:solidFill>
                  <a:srgbClr val="222222"/>
                </a:solidFill>
                <a:latin typeface="에이투지체 6 SemiBold"/>
                <a:ea typeface="에이투지체 6 SemiBold"/>
              </a:rPr>
              <a:t>고객 관심도</a:t>
            </a:r>
          </a:p>
        </p:txBody>
      </p:sp>
      <p:sp>
        <p:nvSpPr>
          <p:cNvPr id="38" name="Isosceles Triangle 37"/>
          <p:cNvSpPr/>
          <p:nvPr/>
        </p:nvSpPr>
        <p:spPr>
          <a:xfrm rot="5400000">
            <a:off x="3017520" y="3694176"/>
            <a:ext cx="146304" cy="201168"/>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Isosceles Triangle 38"/>
          <p:cNvSpPr/>
          <p:nvPr/>
        </p:nvSpPr>
        <p:spPr>
          <a:xfrm rot="5400000">
            <a:off x="7269480" y="3694176"/>
            <a:ext cx="146304" cy="201168"/>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Isosceles Triangle 39"/>
          <p:cNvSpPr/>
          <p:nvPr/>
        </p:nvSpPr>
        <p:spPr>
          <a:xfrm rot="5400000">
            <a:off x="9692640" y="3694176"/>
            <a:ext cx="146304" cy="201168"/>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548640" y="4352544"/>
            <a:ext cx="2423160" cy="841248"/>
          </a:xfrm>
          <a:prstGeom prst="roundRect">
            <a:avLst>
              <a:gd name="adj" fmla="val 869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31520" y="4352544"/>
            <a:ext cx="2148840" cy="841248"/>
          </a:xfrm>
          <a:prstGeom prst="rect">
            <a:avLst/>
          </a:prstGeom>
          <a:noFill/>
        </p:spPr>
        <p:txBody>
          <a:bodyPr wrap="square" lIns="0" tIns="0" rIns="0" bIns="0" anchor="ctr">
            <a:spAutoFit/>
          </a:bodyPr>
          <a:lstStyle/>
          <a:p>
            <a:pPr algn="l">
              <a:spcAft>
                <a:spcPts val="100"/>
              </a:spcAft>
            </a:pPr>
            <a:r>
              <a:rPr sz="1050">
                <a:solidFill>
                  <a:srgbClr val="004F9F"/>
                </a:solidFill>
                <a:latin typeface="에이투지체 6 SemiBold"/>
                <a:ea typeface="에이투지체 6 SemiBold"/>
              </a:rPr>
              <a:t>03</a:t>
            </a:r>
          </a:p>
          <a:p>
            <a:pPr algn="l">
              <a:spcAft>
                <a:spcPts val="100"/>
              </a:spcAft>
            </a:pPr>
            <a:r>
              <a:rPr sz="1300">
                <a:solidFill>
                  <a:srgbClr val="222222"/>
                </a:solidFill>
                <a:latin typeface="에이투지체 6 SemiBold"/>
                <a:ea typeface="에이투지체 6 SemiBold"/>
              </a:rPr>
              <a:t>비전략 상품 매출 증대</a:t>
            </a:r>
          </a:p>
        </p:txBody>
      </p:sp>
      <p:sp>
        <p:nvSpPr>
          <p:cNvPr id="43" name="Rounded Rectangle 42"/>
          <p:cNvSpPr/>
          <p:nvPr/>
        </p:nvSpPr>
        <p:spPr>
          <a:xfrm>
            <a:off x="3291840" y="4352544"/>
            <a:ext cx="3931920" cy="841248"/>
          </a:xfrm>
          <a:prstGeom prst="roundRect">
            <a:avLst>
              <a:gd name="adj" fmla="val 869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493008" y="4352544"/>
            <a:ext cx="3566160" cy="841248"/>
          </a:xfrm>
          <a:prstGeom prst="rect">
            <a:avLst/>
          </a:prstGeom>
          <a:noFill/>
        </p:spPr>
        <p:txBody>
          <a:bodyPr wrap="square" lIns="0" tIns="0" rIns="0" bIns="0" anchor="ctr">
            <a:spAutoFit/>
          </a:bodyPr>
          <a:lstStyle/>
          <a:p>
            <a:pPr algn="l">
              <a:spcAft>
                <a:spcPts val="200"/>
              </a:spcAft>
            </a:pPr>
            <a:r>
              <a:rPr sz="1150">
                <a:solidFill>
                  <a:srgbClr val="222222"/>
                </a:solidFill>
                <a:latin typeface="에이투지체 5 Medium"/>
                <a:ea typeface="에이투지체 5 Medium"/>
              </a:rPr>
              <a:t>브랜드스토어에서 구매할 이유를 설명해</a:t>
            </a:r>
          </a:p>
          <a:p>
            <a:pPr algn="l">
              <a:spcAft>
                <a:spcPts val="200"/>
              </a:spcAft>
            </a:pPr>
            <a:r>
              <a:rPr sz="1150">
                <a:solidFill>
                  <a:srgbClr val="222222"/>
                </a:solidFill>
                <a:latin typeface="에이투지체 5 Medium"/>
                <a:ea typeface="에이투지체 5 Medium"/>
              </a:rPr>
              <a:t>타 플랫폼 이탈을 최소화합니다</a:t>
            </a:r>
          </a:p>
        </p:txBody>
      </p:sp>
      <p:sp>
        <p:nvSpPr>
          <p:cNvPr id="45" name="Rounded Rectangle 44"/>
          <p:cNvSpPr/>
          <p:nvPr/>
        </p:nvSpPr>
        <p:spPr>
          <a:xfrm>
            <a:off x="7543800" y="4443983"/>
            <a:ext cx="2103120" cy="658368"/>
          </a:xfrm>
          <a:prstGeom prst="roundRect">
            <a:avLst>
              <a:gd name="adj" fmla="val 11111"/>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635240" y="4443983"/>
            <a:ext cx="1920239" cy="658368"/>
          </a:xfrm>
          <a:prstGeom prst="rect">
            <a:avLst/>
          </a:prstGeom>
          <a:noFill/>
        </p:spPr>
        <p:txBody>
          <a:bodyPr wrap="square" lIns="0" tIns="0" rIns="0" bIns="0" anchor="ctr">
            <a:spAutoFit/>
          </a:bodyPr>
          <a:lstStyle/>
          <a:p>
            <a:pPr algn="ctr">
              <a:spcAft>
                <a:spcPts val="100"/>
              </a:spcAft>
            </a:pPr>
            <a:r>
              <a:rPr sz="1150">
                <a:solidFill>
                  <a:srgbClr val="004F9F"/>
                </a:solidFill>
                <a:latin typeface="에이투지체 6 SemiBold"/>
                <a:ea typeface="에이투지체 6 SemiBold"/>
              </a:rPr>
              <a:t>전환</a:t>
            </a:r>
          </a:p>
        </p:txBody>
      </p:sp>
      <p:sp>
        <p:nvSpPr>
          <p:cNvPr id="47" name="TextBox 46"/>
          <p:cNvSpPr txBox="1"/>
          <p:nvPr/>
        </p:nvSpPr>
        <p:spPr>
          <a:xfrm>
            <a:off x="9966960" y="4352544"/>
            <a:ext cx="1645920" cy="841248"/>
          </a:xfrm>
          <a:prstGeom prst="rect">
            <a:avLst/>
          </a:prstGeom>
          <a:noFill/>
        </p:spPr>
        <p:txBody>
          <a:bodyPr wrap="square" lIns="0" tIns="0" rIns="0" bIns="0" anchor="ctr">
            <a:spAutoFit/>
          </a:bodyPr>
          <a:lstStyle/>
          <a:p>
            <a:pPr algn="ctr">
              <a:spcAft>
                <a:spcPts val="100"/>
              </a:spcAft>
            </a:pPr>
            <a:r>
              <a:rPr sz="1150">
                <a:solidFill>
                  <a:srgbClr val="222222"/>
                </a:solidFill>
                <a:latin typeface="에이투지체 6 SemiBold"/>
                <a:ea typeface="에이투지체 6 SemiBold"/>
              </a:rPr>
              <a:t>구매 ROAS</a:t>
            </a:r>
          </a:p>
        </p:txBody>
      </p:sp>
      <p:sp>
        <p:nvSpPr>
          <p:cNvPr id="48" name="Isosceles Triangle 47"/>
          <p:cNvSpPr/>
          <p:nvPr/>
        </p:nvSpPr>
        <p:spPr>
          <a:xfrm rot="5400000">
            <a:off x="3017520" y="4672583"/>
            <a:ext cx="146304" cy="201168"/>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Isosceles Triangle 48"/>
          <p:cNvSpPr/>
          <p:nvPr/>
        </p:nvSpPr>
        <p:spPr>
          <a:xfrm rot="5400000">
            <a:off x="7269480" y="4672583"/>
            <a:ext cx="146304" cy="201168"/>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Isosceles Triangle 49"/>
          <p:cNvSpPr/>
          <p:nvPr/>
        </p:nvSpPr>
        <p:spPr>
          <a:xfrm rot="5400000">
            <a:off x="9692640" y="4672583"/>
            <a:ext cx="146304" cy="201168"/>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1">
            <a:extLst>
              <a:ext uri="{FF2B5EF4-FFF2-40B4-BE49-F238E27FC236}">
                <a16:creationId xmlns:a16="http://schemas.microsoft.com/office/drawing/2014/main" id="{C65F53E4-9300-5F0B-9781-A6D4FB61C1AE}"/>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1"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22"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34</a:t>
            </a:r>
          </a:p>
        </p:txBody>
      </p:sp>
      <p:sp>
        <p:nvSpPr>
          <p:cNvPr id="2" name="text-73">
            <a:extLst>
              <a:ext uri="{FF2B5EF4-FFF2-40B4-BE49-F238E27FC236}">
                <a16:creationId xmlns:a16="http://schemas.microsoft.com/office/drawing/2014/main" id="{31966C0B-22D6-4370-8F19-78B01D3D7849}"/>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GFA 핵심과제 1</a:t>
            </a:r>
            <a:r>
              <a:rPr lang="ko-KR" sz="1900" dirty="0">
                <a:solidFill>
                  <a:srgbClr val="222222"/>
                </a:solidFill>
                <a:latin typeface="에이투지체 8 ExtraBold"/>
                <a:ea typeface="에이투지체 8 ExtraBold"/>
                <a:cs typeface="에이투지체 8 ExtraBold"/>
              </a:rPr>
              <a:t>  상품별 구매 고객 학습</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연령 신호 대신 상품군별 캠페인으로 구매 고객을 학습시킵니다</a:t>
            </a:r>
            <a:endParaRPr lang="ko-KR" sz="1900" dirty="0"/>
          </a:p>
        </p:txBody>
      </p:sp>
      <p:sp>
        <p:nvSpPr>
          <p:cNvPr id="3" name="text-74">
            <a:extLst>
              <a:ext uri="{FF2B5EF4-FFF2-40B4-BE49-F238E27FC236}">
                <a16:creationId xmlns:a16="http://schemas.microsoft.com/office/drawing/2014/main" id="{B691A91B-7AB9-4F41-8B4A-FFA9E11D5B1E}"/>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현재 캠페인 구조와 개편안</a:t>
            </a:r>
            <a:endParaRPr lang="ko-KR" sz="1100" dirty="0"/>
          </a:p>
        </p:txBody>
      </p:sp>
      <p:sp>
        <p:nvSpPr>
          <p:cNvPr id="16" name="node-84">
            <a:extLst>
              <a:ext uri="{FF2B5EF4-FFF2-40B4-BE49-F238E27FC236}">
                <a16:creationId xmlns:a16="http://schemas.microsoft.com/office/drawing/2014/main" id="{EEFEF5B7-3CC6-4ABA-8923-67B55E20FF07}"/>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17" name="text-85">
            <a:extLst>
              <a:ext uri="{FF2B5EF4-FFF2-40B4-BE49-F238E27FC236}">
                <a16:creationId xmlns:a16="http://schemas.microsoft.com/office/drawing/2014/main" id="{3C0A0B00-0202-495B-BDF0-DBE55720A91C}"/>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dirty="0" err="1">
                <a:solidFill>
                  <a:srgbClr val="004F9F"/>
                </a:solidFill>
                <a:latin typeface="에이투지체 6 SemiBold"/>
                <a:ea typeface="에이투지체 6 SemiBold"/>
                <a:cs typeface="에이투지체 6 SemiBold"/>
              </a:rPr>
              <a:t>FGO의</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성과를</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유지하면서</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브랜드스토어에서</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다음</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히어로</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상품을</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만듭니다</a:t>
            </a:r>
            <a:endParaRPr sz="1358" dirty="0">
              <a:solidFill>
                <a:srgbClr val="FFFFFF"/>
              </a:solidFill>
              <a:latin typeface="에이투지체 6 SemiBold"/>
              <a:ea typeface="에이투지체 6 SemiBold"/>
              <a:cs typeface="에이투지체 6 SemiBold"/>
            </a:endParaRPr>
          </a:p>
        </p:txBody>
      </p:sp>
      <p:sp>
        <p:nvSpPr>
          <p:cNvPr id="24" name="text-123">
            <a:extLst>
              <a:ext uri="{FF2B5EF4-FFF2-40B4-BE49-F238E27FC236}">
                <a16:creationId xmlns:a16="http://schemas.microsoft.com/office/drawing/2014/main" id="{CCC09807-AB0F-544F-C4D8-F2228F8FBCAF}"/>
              </a:ext>
            </a:extLst>
          </p:cNvPr>
          <p:cNvSpPr>
            <a:spLocks noGrp="1"/>
          </p:cNvSpPr>
          <p:nvPr/>
        </p:nvSpPr>
        <p:spPr>
          <a:xfrm>
            <a:off x="552450" y="2085975"/>
            <a:ext cx="4953000"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현재  연령 신호 중심·전 상품 반복</a:t>
            </a:r>
          </a:p>
        </p:txBody>
      </p:sp>
      <p:sp>
        <p:nvSpPr>
          <p:cNvPr id="26" name="text-124">
            <a:extLst>
              <a:ext uri="{FF2B5EF4-FFF2-40B4-BE49-F238E27FC236}">
                <a16:creationId xmlns:a16="http://schemas.microsoft.com/office/drawing/2014/main" id="{7B087F0F-1753-025C-EC68-97C89D05F27F}"/>
              </a:ext>
            </a:extLst>
          </p:cNvPr>
          <p:cNvSpPr>
            <a:spLocks noGrp="1"/>
          </p:cNvSpPr>
          <p:nvPr/>
        </p:nvSpPr>
        <p:spPr>
          <a:xfrm>
            <a:off x="6677025" y="2085975"/>
            <a:ext cx="4933950"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개편  상품군별 캠페인과 아이템 세트</a:t>
            </a:r>
          </a:p>
        </p:txBody>
      </p:sp>
      <p:sp>
        <p:nvSpPr>
          <p:cNvPr id="28" name="node-125">
            <a:extLst>
              <a:ext uri="{FF2B5EF4-FFF2-40B4-BE49-F238E27FC236}">
                <a16:creationId xmlns:a16="http://schemas.microsoft.com/office/drawing/2014/main" id="{B8E0988A-762A-93B5-AA19-050DDA02A571}"/>
              </a:ext>
            </a:extLst>
          </p:cNvPr>
          <p:cNvSpPr>
            <a:spLocks noGrp="1"/>
          </p:cNvSpPr>
          <p:nvPr/>
        </p:nvSpPr>
        <p:spPr>
          <a:xfrm>
            <a:off x="552450" y="2552700"/>
            <a:ext cx="4191000" cy="504825"/>
          </a:xfrm>
          <a:prstGeom prst="roundRect">
            <a:avLst>
              <a:gd name="adj" fmla="val 14490"/>
            </a:avLst>
          </a:prstGeom>
          <a:solidFill>
            <a:srgbClr val="F5F5F5"/>
          </a:solidFill>
          <a:ln w="0">
            <a:noFill/>
          </a:ln>
        </p:spPr>
        <p:txBody>
          <a:bodyPr/>
          <a:lstStyle/>
          <a:p>
            <a:endParaRPr lang="ko-KR" altLang="en-US"/>
          </a:p>
        </p:txBody>
      </p:sp>
      <p:sp>
        <p:nvSpPr>
          <p:cNvPr id="30" name="text-126">
            <a:extLst>
              <a:ext uri="{FF2B5EF4-FFF2-40B4-BE49-F238E27FC236}">
                <a16:creationId xmlns:a16="http://schemas.microsoft.com/office/drawing/2014/main" id="{E9248C74-65EB-D2CB-596D-9E00FC728BEE}"/>
              </a:ext>
            </a:extLst>
          </p:cNvPr>
          <p:cNvSpPr>
            <a:spLocks noGrp="1"/>
          </p:cNvSpPr>
          <p:nvPr/>
        </p:nvSpPr>
        <p:spPr>
          <a:xfrm>
            <a:off x="666750" y="2600325"/>
            <a:ext cx="3962400" cy="409575"/>
          </a:xfrm>
          <a:prstGeom prst="rect">
            <a:avLst/>
          </a:prstGeom>
          <a:noFill/>
          <a:ln w="0">
            <a:noFill/>
          </a:ln>
        </p:spPr>
        <p:txBody>
          <a:bodyPr wrap="square" lIns="0" tIns="0" rIns="0" bIns="0" anchor="ctr">
            <a:noAutofit/>
          </a:bodyPr>
          <a:lstStyle>
            <a:defPPr algn="ctr">
              <a:defRPr sz="1402">
                <a:solidFill>
                  <a:srgbClr val="222222"/>
                </a:solidFill>
                <a:latin typeface="에이투지체 6 SemiBold"/>
                <a:ea typeface="에이투지체 6 SemiBold"/>
                <a:cs typeface="에이투지체 6 SemiBold"/>
              </a:defRPr>
            </a:defPPr>
          </a:lstStyle>
          <a:p>
            <a:pPr algn="ctr">
              <a:defRPr sz="1402">
                <a:solidFill>
                  <a:srgbClr val="222222"/>
                </a:solidFill>
                <a:latin typeface="에이투지체 6 SemiBold"/>
                <a:ea typeface="에이투지체 6 SemiBold"/>
                <a:cs typeface="에이투지체 6 SemiBold"/>
              </a:defRPr>
            </a:pPr>
            <a:r>
              <a:rPr sz="1402">
                <a:solidFill>
                  <a:srgbClr val="222222"/>
                </a:solidFill>
                <a:latin typeface="에이투지체 6 SemiBold"/>
                <a:ea typeface="에이투지체 6 SemiBold"/>
                <a:cs typeface="에이투지체 6 SemiBold"/>
              </a:rPr>
              <a:t>30대 신호  전 상품</a:t>
            </a:r>
          </a:p>
        </p:txBody>
      </p:sp>
      <p:sp>
        <p:nvSpPr>
          <p:cNvPr id="32" name="node-127">
            <a:extLst>
              <a:ext uri="{FF2B5EF4-FFF2-40B4-BE49-F238E27FC236}">
                <a16:creationId xmlns:a16="http://schemas.microsoft.com/office/drawing/2014/main" id="{A43ABCF6-F639-3C7D-A496-475733A54B72}"/>
              </a:ext>
            </a:extLst>
          </p:cNvPr>
          <p:cNvSpPr>
            <a:spLocks noGrp="1"/>
          </p:cNvSpPr>
          <p:nvPr/>
        </p:nvSpPr>
        <p:spPr>
          <a:xfrm>
            <a:off x="552450" y="3190875"/>
            <a:ext cx="4191000" cy="504825"/>
          </a:xfrm>
          <a:prstGeom prst="roundRect">
            <a:avLst>
              <a:gd name="adj" fmla="val 14490"/>
            </a:avLst>
          </a:prstGeom>
          <a:solidFill>
            <a:srgbClr val="F5F5F5"/>
          </a:solidFill>
          <a:ln w="0">
            <a:noFill/>
          </a:ln>
        </p:spPr>
        <p:txBody>
          <a:bodyPr/>
          <a:lstStyle/>
          <a:p>
            <a:endParaRPr lang="ko-KR" altLang="en-US"/>
          </a:p>
        </p:txBody>
      </p:sp>
      <p:sp>
        <p:nvSpPr>
          <p:cNvPr id="34" name="text-128">
            <a:extLst>
              <a:ext uri="{FF2B5EF4-FFF2-40B4-BE49-F238E27FC236}">
                <a16:creationId xmlns:a16="http://schemas.microsoft.com/office/drawing/2014/main" id="{F20BEFB9-60DE-CB1E-CBED-31B8115CF9F7}"/>
              </a:ext>
            </a:extLst>
          </p:cNvPr>
          <p:cNvSpPr>
            <a:spLocks noGrp="1"/>
          </p:cNvSpPr>
          <p:nvPr/>
        </p:nvSpPr>
        <p:spPr>
          <a:xfrm>
            <a:off x="666750" y="3238500"/>
            <a:ext cx="3962400" cy="409575"/>
          </a:xfrm>
          <a:prstGeom prst="rect">
            <a:avLst/>
          </a:prstGeom>
          <a:noFill/>
          <a:ln w="0">
            <a:noFill/>
          </a:ln>
        </p:spPr>
        <p:txBody>
          <a:bodyPr wrap="square" lIns="0" tIns="0" rIns="0" bIns="0" anchor="ctr">
            <a:noAutofit/>
          </a:bodyPr>
          <a:lstStyle>
            <a:defPPr algn="ctr">
              <a:defRPr sz="1402">
                <a:solidFill>
                  <a:srgbClr val="222222"/>
                </a:solidFill>
                <a:latin typeface="에이투지체 6 SemiBold"/>
                <a:ea typeface="에이투지체 6 SemiBold"/>
                <a:cs typeface="에이투지체 6 SemiBold"/>
              </a:defRPr>
            </a:defPPr>
          </a:lstStyle>
          <a:p>
            <a:pPr algn="ctr">
              <a:defRPr sz="1402">
                <a:solidFill>
                  <a:srgbClr val="222222"/>
                </a:solidFill>
                <a:latin typeface="에이투지체 6 SemiBold"/>
                <a:ea typeface="에이투지체 6 SemiBold"/>
                <a:cs typeface="에이투지체 6 SemiBold"/>
              </a:defRPr>
            </a:pPr>
            <a:r>
              <a:rPr sz="1402">
                <a:solidFill>
                  <a:srgbClr val="222222"/>
                </a:solidFill>
                <a:latin typeface="에이투지체 6 SemiBold"/>
                <a:ea typeface="에이투지체 6 SemiBold"/>
                <a:cs typeface="에이투지체 6 SemiBold"/>
              </a:rPr>
              <a:t>40대 신호  전 상품</a:t>
            </a:r>
          </a:p>
        </p:txBody>
      </p:sp>
      <p:sp>
        <p:nvSpPr>
          <p:cNvPr id="36" name="node-129">
            <a:extLst>
              <a:ext uri="{FF2B5EF4-FFF2-40B4-BE49-F238E27FC236}">
                <a16:creationId xmlns:a16="http://schemas.microsoft.com/office/drawing/2014/main" id="{ED73241A-883D-A443-6CAC-2A6095C02003}"/>
              </a:ext>
            </a:extLst>
          </p:cNvPr>
          <p:cNvSpPr>
            <a:spLocks noGrp="1"/>
          </p:cNvSpPr>
          <p:nvPr/>
        </p:nvSpPr>
        <p:spPr>
          <a:xfrm>
            <a:off x="552450" y="3829050"/>
            <a:ext cx="4191000" cy="504825"/>
          </a:xfrm>
          <a:prstGeom prst="roundRect">
            <a:avLst>
              <a:gd name="adj" fmla="val 14490"/>
            </a:avLst>
          </a:prstGeom>
          <a:solidFill>
            <a:srgbClr val="F5F5F5"/>
          </a:solidFill>
          <a:ln w="0">
            <a:noFill/>
          </a:ln>
        </p:spPr>
        <p:txBody>
          <a:bodyPr/>
          <a:lstStyle/>
          <a:p>
            <a:endParaRPr lang="ko-KR" altLang="en-US"/>
          </a:p>
        </p:txBody>
      </p:sp>
      <p:sp>
        <p:nvSpPr>
          <p:cNvPr id="38" name="text-130">
            <a:extLst>
              <a:ext uri="{FF2B5EF4-FFF2-40B4-BE49-F238E27FC236}">
                <a16:creationId xmlns:a16="http://schemas.microsoft.com/office/drawing/2014/main" id="{A24DF724-0B58-C66F-3F8A-DC22CC40D232}"/>
              </a:ext>
            </a:extLst>
          </p:cNvPr>
          <p:cNvSpPr>
            <a:spLocks noGrp="1"/>
          </p:cNvSpPr>
          <p:nvPr/>
        </p:nvSpPr>
        <p:spPr>
          <a:xfrm>
            <a:off x="666750" y="3876675"/>
            <a:ext cx="3962400" cy="409575"/>
          </a:xfrm>
          <a:prstGeom prst="rect">
            <a:avLst/>
          </a:prstGeom>
          <a:noFill/>
          <a:ln w="0">
            <a:noFill/>
          </a:ln>
        </p:spPr>
        <p:txBody>
          <a:bodyPr wrap="square" lIns="0" tIns="0" rIns="0" bIns="0" anchor="ctr">
            <a:noAutofit/>
          </a:bodyPr>
          <a:lstStyle>
            <a:defPPr algn="ctr">
              <a:defRPr sz="1402">
                <a:solidFill>
                  <a:srgbClr val="222222"/>
                </a:solidFill>
                <a:latin typeface="에이투지체 6 SemiBold"/>
                <a:ea typeface="에이투지체 6 SemiBold"/>
                <a:cs typeface="에이투지체 6 SemiBold"/>
              </a:defRPr>
            </a:defPPr>
          </a:lstStyle>
          <a:p>
            <a:pPr algn="ctr">
              <a:defRPr sz="1402">
                <a:solidFill>
                  <a:srgbClr val="222222"/>
                </a:solidFill>
                <a:latin typeface="에이투지체 6 SemiBold"/>
                <a:ea typeface="에이투지체 6 SemiBold"/>
                <a:cs typeface="에이투지체 6 SemiBold"/>
              </a:defRPr>
            </a:pPr>
            <a:r>
              <a:rPr sz="1402">
                <a:solidFill>
                  <a:srgbClr val="222222"/>
                </a:solidFill>
                <a:latin typeface="에이투지체 6 SemiBold"/>
                <a:ea typeface="에이투지체 6 SemiBold"/>
                <a:cs typeface="에이투지체 6 SemiBold"/>
              </a:rPr>
              <a:t>50대 신호  전 상품</a:t>
            </a:r>
          </a:p>
        </p:txBody>
      </p:sp>
      <p:sp>
        <p:nvSpPr>
          <p:cNvPr id="40" name="node-131">
            <a:extLst>
              <a:ext uri="{FF2B5EF4-FFF2-40B4-BE49-F238E27FC236}">
                <a16:creationId xmlns:a16="http://schemas.microsoft.com/office/drawing/2014/main" id="{96B85BAE-73CB-666A-77C7-74B5662B5936}"/>
              </a:ext>
            </a:extLst>
          </p:cNvPr>
          <p:cNvSpPr>
            <a:spLocks noGrp="1"/>
          </p:cNvSpPr>
          <p:nvPr/>
        </p:nvSpPr>
        <p:spPr>
          <a:xfrm>
            <a:off x="552450" y="4467225"/>
            <a:ext cx="4191000" cy="504825"/>
          </a:xfrm>
          <a:prstGeom prst="roundRect">
            <a:avLst>
              <a:gd name="adj" fmla="val 14490"/>
            </a:avLst>
          </a:prstGeom>
          <a:solidFill>
            <a:srgbClr val="F5F5F5"/>
          </a:solidFill>
          <a:ln w="0">
            <a:noFill/>
          </a:ln>
        </p:spPr>
        <p:txBody>
          <a:bodyPr/>
          <a:lstStyle/>
          <a:p>
            <a:endParaRPr lang="ko-KR" altLang="en-US"/>
          </a:p>
        </p:txBody>
      </p:sp>
      <p:sp>
        <p:nvSpPr>
          <p:cNvPr id="42" name="text-132">
            <a:extLst>
              <a:ext uri="{FF2B5EF4-FFF2-40B4-BE49-F238E27FC236}">
                <a16:creationId xmlns:a16="http://schemas.microsoft.com/office/drawing/2014/main" id="{0890CA00-A07C-5837-FEB2-610BC9614B9E}"/>
              </a:ext>
            </a:extLst>
          </p:cNvPr>
          <p:cNvSpPr>
            <a:spLocks noGrp="1"/>
          </p:cNvSpPr>
          <p:nvPr/>
        </p:nvSpPr>
        <p:spPr>
          <a:xfrm>
            <a:off x="666750" y="4514850"/>
            <a:ext cx="3962400" cy="409575"/>
          </a:xfrm>
          <a:prstGeom prst="rect">
            <a:avLst/>
          </a:prstGeom>
          <a:noFill/>
          <a:ln w="0">
            <a:noFill/>
          </a:ln>
        </p:spPr>
        <p:txBody>
          <a:bodyPr wrap="square" lIns="0" tIns="0" rIns="0" bIns="0" anchor="ctr">
            <a:noAutofit/>
          </a:bodyPr>
          <a:lstStyle>
            <a:defPPr algn="ctr">
              <a:defRPr sz="1402">
                <a:solidFill>
                  <a:srgbClr val="222222"/>
                </a:solidFill>
                <a:latin typeface="에이투지체 6 SemiBold"/>
                <a:ea typeface="에이투지체 6 SemiBold"/>
                <a:cs typeface="에이투지체 6 SemiBold"/>
              </a:defRPr>
            </a:defPPr>
          </a:lstStyle>
          <a:p>
            <a:pPr algn="ctr">
              <a:defRPr sz="1402">
                <a:solidFill>
                  <a:srgbClr val="222222"/>
                </a:solidFill>
                <a:latin typeface="에이투지체 6 SemiBold"/>
                <a:ea typeface="에이투지체 6 SemiBold"/>
                <a:cs typeface="에이투지체 6 SemiBold"/>
              </a:defRPr>
            </a:pPr>
            <a:r>
              <a:rPr sz="1402">
                <a:solidFill>
                  <a:srgbClr val="222222"/>
                </a:solidFill>
                <a:latin typeface="에이투지체 6 SemiBold"/>
                <a:ea typeface="에이투지체 6 SemiBold"/>
                <a:cs typeface="에이투지체 6 SemiBold"/>
              </a:rPr>
              <a:t>60대 이상 신호  전 상품</a:t>
            </a:r>
          </a:p>
        </p:txBody>
      </p:sp>
      <p:sp>
        <p:nvSpPr>
          <p:cNvPr id="44" name="node-133">
            <a:extLst>
              <a:ext uri="{FF2B5EF4-FFF2-40B4-BE49-F238E27FC236}">
                <a16:creationId xmlns:a16="http://schemas.microsoft.com/office/drawing/2014/main" id="{059D5E50-5A1B-3270-6899-AD4845CB78F6}"/>
              </a:ext>
            </a:extLst>
          </p:cNvPr>
          <p:cNvSpPr>
            <a:spLocks noGrp="1"/>
          </p:cNvSpPr>
          <p:nvPr/>
        </p:nvSpPr>
        <p:spPr>
          <a:xfrm>
            <a:off x="6696075" y="2552700"/>
            <a:ext cx="4886325" cy="504825"/>
          </a:xfrm>
          <a:prstGeom prst="roundRect">
            <a:avLst>
              <a:gd name="adj" fmla="val 14490"/>
            </a:avLst>
          </a:prstGeom>
          <a:solidFill>
            <a:srgbClr val="004F9F"/>
          </a:solidFill>
          <a:ln w="0">
            <a:noFill/>
          </a:ln>
        </p:spPr>
        <p:txBody>
          <a:bodyPr/>
          <a:lstStyle/>
          <a:p>
            <a:endParaRPr lang="ko-KR" altLang="en-US"/>
          </a:p>
        </p:txBody>
      </p:sp>
      <p:sp>
        <p:nvSpPr>
          <p:cNvPr id="46" name="text-134">
            <a:extLst>
              <a:ext uri="{FF2B5EF4-FFF2-40B4-BE49-F238E27FC236}">
                <a16:creationId xmlns:a16="http://schemas.microsoft.com/office/drawing/2014/main" id="{6039740D-CF28-4EBC-8CFB-FDA58AE102AE}"/>
              </a:ext>
            </a:extLst>
          </p:cNvPr>
          <p:cNvSpPr>
            <a:spLocks noGrp="1"/>
          </p:cNvSpPr>
          <p:nvPr/>
        </p:nvSpPr>
        <p:spPr>
          <a:xfrm>
            <a:off x="6810375" y="2600325"/>
            <a:ext cx="4657725" cy="409575"/>
          </a:xfrm>
          <a:prstGeom prst="rect">
            <a:avLst/>
          </a:prstGeom>
          <a:noFill/>
          <a:ln w="0">
            <a:noFill/>
          </a:ln>
        </p:spPr>
        <p:txBody>
          <a:bodyPr wrap="square" lIns="0" tIns="0" rIns="0" bIns="0" anchor="ctr">
            <a:noAutofit/>
          </a:bodyPr>
          <a:lstStyle>
            <a:defPPr algn="ctr">
              <a:defRPr sz="1402">
                <a:solidFill>
                  <a:srgbClr val="FFFFFF"/>
                </a:solidFill>
                <a:latin typeface="에이투지체 6 SemiBold"/>
                <a:ea typeface="에이투지체 6 SemiBold"/>
                <a:cs typeface="에이투지체 6 SemiBold"/>
              </a:defRPr>
            </a:defPPr>
          </a:lstStyle>
          <a:p>
            <a:pPr algn="ctr">
              <a:defRPr sz="1402">
                <a:solidFill>
                  <a:srgbClr val="FFFFFF"/>
                </a:solidFill>
                <a:latin typeface="에이투지체 6 SemiBold"/>
                <a:ea typeface="에이투지체 6 SemiBold"/>
                <a:cs typeface="에이투지체 6 SemiBold"/>
              </a:defRPr>
            </a:pPr>
            <a:r>
              <a:rPr sz="1402">
                <a:solidFill>
                  <a:srgbClr val="FFFFFF"/>
                </a:solidFill>
                <a:latin typeface="에이투지체 6 SemiBold"/>
                <a:ea typeface="에이투지체 6 SemiBold"/>
                <a:cs typeface="에이투지체 6 SemiBold"/>
              </a:rPr>
              <a:t>키성장 FGO</a:t>
            </a:r>
          </a:p>
        </p:txBody>
      </p:sp>
      <p:sp>
        <p:nvSpPr>
          <p:cNvPr id="48" name="node-135">
            <a:extLst>
              <a:ext uri="{FF2B5EF4-FFF2-40B4-BE49-F238E27FC236}">
                <a16:creationId xmlns:a16="http://schemas.microsoft.com/office/drawing/2014/main" id="{6C053DDA-BE52-465D-3627-C0F2343AB812}"/>
              </a:ext>
            </a:extLst>
          </p:cNvPr>
          <p:cNvSpPr>
            <a:spLocks noGrp="1"/>
          </p:cNvSpPr>
          <p:nvPr/>
        </p:nvSpPr>
        <p:spPr>
          <a:xfrm>
            <a:off x="6696075" y="3190875"/>
            <a:ext cx="4886325" cy="504825"/>
          </a:xfrm>
          <a:prstGeom prst="roundRect">
            <a:avLst>
              <a:gd name="adj" fmla="val 14490"/>
            </a:avLst>
          </a:prstGeom>
          <a:solidFill>
            <a:srgbClr val="EAF2FB"/>
          </a:solidFill>
          <a:ln w="0">
            <a:noFill/>
          </a:ln>
        </p:spPr>
        <p:txBody>
          <a:bodyPr/>
          <a:lstStyle/>
          <a:p>
            <a:endParaRPr lang="ko-KR" altLang="en-US"/>
          </a:p>
        </p:txBody>
      </p:sp>
      <p:sp>
        <p:nvSpPr>
          <p:cNvPr id="50" name="text-136">
            <a:extLst>
              <a:ext uri="{FF2B5EF4-FFF2-40B4-BE49-F238E27FC236}">
                <a16:creationId xmlns:a16="http://schemas.microsoft.com/office/drawing/2014/main" id="{EF8A8D5E-CBF2-022A-41B6-C1D913C2CF66}"/>
              </a:ext>
            </a:extLst>
          </p:cNvPr>
          <p:cNvSpPr>
            <a:spLocks noGrp="1"/>
          </p:cNvSpPr>
          <p:nvPr/>
        </p:nvSpPr>
        <p:spPr>
          <a:xfrm>
            <a:off x="6810375" y="3238500"/>
            <a:ext cx="4657725" cy="409575"/>
          </a:xfrm>
          <a:prstGeom prst="rect">
            <a:avLst/>
          </a:prstGeom>
          <a:noFill/>
          <a:ln w="0">
            <a:noFill/>
          </a:ln>
        </p:spPr>
        <p:txBody>
          <a:bodyPr wrap="square" lIns="0" tIns="0" rIns="0" bIns="0" anchor="ctr">
            <a:noAutofit/>
          </a:bodyPr>
          <a:lstStyle>
            <a:defPPr algn="ctr">
              <a:defRPr sz="1402">
                <a:solidFill>
                  <a:srgbClr val="004F9F"/>
                </a:solidFill>
                <a:latin typeface="에이투지체 6 SemiBold"/>
                <a:ea typeface="에이투지체 6 SemiBold"/>
                <a:cs typeface="에이투지체 6 SemiBold"/>
              </a:defRPr>
            </a:defPPr>
          </a:lstStyle>
          <a:p>
            <a:pPr algn="ctr">
              <a:defRPr sz="1402">
                <a:solidFill>
                  <a:srgbClr val="004F9F"/>
                </a:solidFill>
                <a:latin typeface="에이투지체 6 SemiBold"/>
                <a:ea typeface="에이투지체 6 SemiBold"/>
                <a:cs typeface="에이투지체 6 SemiBold"/>
              </a:defRPr>
            </a:pPr>
            <a:r>
              <a:rPr sz="1402">
                <a:solidFill>
                  <a:srgbClr val="004F9F"/>
                </a:solidFill>
                <a:latin typeface="에이투지체 6 SemiBold"/>
                <a:ea typeface="에이투지체 6 SemiBold"/>
                <a:cs typeface="에이투지체 6 SemiBold"/>
              </a:rPr>
              <a:t>아이클타임 기타  칼마디·프로바이오키드</a:t>
            </a:r>
          </a:p>
        </p:txBody>
      </p:sp>
      <p:sp>
        <p:nvSpPr>
          <p:cNvPr id="52" name="node-137">
            <a:extLst>
              <a:ext uri="{FF2B5EF4-FFF2-40B4-BE49-F238E27FC236}">
                <a16:creationId xmlns:a16="http://schemas.microsoft.com/office/drawing/2014/main" id="{966FB47B-6B11-E9C9-7373-89F2AF8262A0}"/>
              </a:ext>
            </a:extLst>
          </p:cNvPr>
          <p:cNvSpPr>
            <a:spLocks noGrp="1"/>
          </p:cNvSpPr>
          <p:nvPr/>
        </p:nvSpPr>
        <p:spPr>
          <a:xfrm>
            <a:off x="6696075" y="3829050"/>
            <a:ext cx="4886325" cy="504825"/>
          </a:xfrm>
          <a:prstGeom prst="roundRect">
            <a:avLst>
              <a:gd name="adj" fmla="val 14490"/>
            </a:avLst>
          </a:prstGeom>
          <a:solidFill>
            <a:srgbClr val="EAF2FB"/>
          </a:solidFill>
          <a:ln w="0">
            <a:noFill/>
          </a:ln>
        </p:spPr>
        <p:txBody>
          <a:bodyPr/>
          <a:lstStyle/>
          <a:p>
            <a:endParaRPr lang="ko-KR" altLang="en-US"/>
          </a:p>
        </p:txBody>
      </p:sp>
      <p:sp>
        <p:nvSpPr>
          <p:cNvPr id="54" name="text-138">
            <a:extLst>
              <a:ext uri="{FF2B5EF4-FFF2-40B4-BE49-F238E27FC236}">
                <a16:creationId xmlns:a16="http://schemas.microsoft.com/office/drawing/2014/main" id="{686D5035-07B6-E248-18EB-916D092AAB16}"/>
              </a:ext>
            </a:extLst>
          </p:cNvPr>
          <p:cNvSpPr>
            <a:spLocks noGrp="1"/>
          </p:cNvSpPr>
          <p:nvPr/>
        </p:nvSpPr>
        <p:spPr>
          <a:xfrm>
            <a:off x="6810375" y="3876675"/>
            <a:ext cx="4657725" cy="409575"/>
          </a:xfrm>
          <a:prstGeom prst="rect">
            <a:avLst/>
          </a:prstGeom>
          <a:noFill/>
          <a:ln w="0">
            <a:noFill/>
          </a:ln>
        </p:spPr>
        <p:txBody>
          <a:bodyPr wrap="square" lIns="0" tIns="0" rIns="0" bIns="0" anchor="ctr">
            <a:noAutofit/>
          </a:bodyPr>
          <a:lstStyle>
            <a:defPPr algn="ctr">
              <a:defRPr sz="1402">
                <a:solidFill>
                  <a:srgbClr val="004F9F"/>
                </a:solidFill>
                <a:latin typeface="에이투지체 6 SemiBold"/>
                <a:ea typeface="에이투지체 6 SemiBold"/>
                <a:cs typeface="에이투지체 6 SemiBold"/>
              </a:defRPr>
            </a:defPPr>
          </a:lstStyle>
          <a:p>
            <a:pPr algn="ctr">
              <a:defRPr sz="1402">
                <a:solidFill>
                  <a:srgbClr val="004F9F"/>
                </a:solidFill>
                <a:latin typeface="에이투지체 6 SemiBold"/>
                <a:ea typeface="에이투지체 6 SemiBold"/>
                <a:cs typeface="에이투지체 6 SemiBold"/>
              </a:defRPr>
            </a:pPr>
            <a:r>
              <a:rPr sz="1402">
                <a:solidFill>
                  <a:srgbClr val="004F9F"/>
                </a:solidFill>
                <a:latin typeface="에이투지체 6 SemiBold"/>
                <a:ea typeface="에이투지체 6 SemiBold"/>
                <a:cs typeface="에이투지체 6 SemiBold"/>
              </a:rPr>
              <a:t>슬림웨이  소액 테스트</a:t>
            </a:r>
          </a:p>
        </p:txBody>
      </p:sp>
      <p:sp>
        <p:nvSpPr>
          <p:cNvPr id="56" name="node-139">
            <a:extLst>
              <a:ext uri="{FF2B5EF4-FFF2-40B4-BE49-F238E27FC236}">
                <a16:creationId xmlns:a16="http://schemas.microsoft.com/office/drawing/2014/main" id="{F25B199E-36DA-1B61-545D-20A37A87E3AB}"/>
              </a:ext>
            </a:extLst>
          </p:cNvPr>
          <p:cNvSpPr>
            <a:spLocks noGrp="1"/>
          </p:cNvSpPr>
          <p:nvPr/>
        </p:nvSpPr>
        <p:spPr>
          <a:xfrm>
            <a:off x="6696075" y="4467225"/>
            <a:ext cx="4886325" cy="504825"/>
          </a:xfrm>
          <a:prstGeom prst="roundRect">
            <a:avLst>
              <a:gd name="adj" fmla="val 14490"/>
            </a:avLst>
          </a:prstGeom>
          <a:solidFill>
            <a:srgbClr val="EAF2FB"/>
          </a:solidFill>
          <a:ln w="0">
            <a:noFill/>
          </a:ln>
        </p:spPr>
        <p:txBody>
          <a:bodyPr/>
          <a:lstStyle/>
          <a:p>
            <a:endParaRPr lang="ko-KR" altLang="en-US"/>
          </a:p>
        </p:txBody>
      </p:sp>
      <p:sp>
        <p:nvSpPr>
          <p:cNvPr id="58" name="text-140">
            <a:extLst>
              <a:ext uri="{FF2B5EF4-FFF2-40B4-BE49-F238E27FC236}">
                <a16:creationId xmlns:a16="http://schemas.microsoft.com/office/drawing/2014/main" id="{F76CB227-9C87-6DD9-8C9A-ED47119B8B86}"/>
              </a:ext>
            </a:extLst>
          </p:cNvPr>
          <p:cNvSpPr>
            <a:spLocks noGrp="1"/>
          </p:cNvSpPr>
          <p:nvPr/>
        </p:nvSpPr>
        <p:spPr>
          <a:xfrm>
            <a:off x="6810375" y="4514850"/>
            <a:ext cx="4657725" cy="409575"/>
          </a:xfrm>
          <a:prstGeom prst="rect">
            <a:avLst/>
          </a:prstGeom>
          <a:noFill/>
          <a:ln w="0">
            <a:noFill/>
          </a:ln>
        </p:spPr>
        <p:txBody>
          <a:bodyPr wrap="square" lIns="0" tIns="0" rIns="0" bIns="0" anchor="ctr">
            <a:noAutofit/>
          </a:bodyPr>
          <a:lstStyle>
            <a:defPPr algn="ctr">
              <a:defRPr sz="1402">
                <a:solidFill>
                  <a:srgbClr val="004F9F"/>
                </a:solidFill>
                <a:latin typeface="에이투지체 6 SemiBold"/>
                <a:ea typeface="에이투지체 6 SemiBold"/>
                <a:cs typeface="에이투지체 6 SemiBold"/>
              </a:defRPr>
            </a:defPPr>
          </a:lstStyle>
          <a:p>
            <a:pPr algn="ctr">
              <a:defRPr sz="1402">
                <a:solidFill>
                  <a:srgbClr val="004F9F"/>
                </a:solidFill>
                <a:latin typeface="에이투지체 6 SemiBold"/>
                <a:ea typeface="에이투지체 6 SemiBold"/>
                <a:cs typeface="에이투지체 6 SemiBold"/>
              </a:defRPr>
            </a:pPr>
            <a:r>
              <a:rPr sz="1402">
                <a:solidFill>
                  <a:srgbClr val="004F9F"/>
                </a:solidFill>
                <a:latin typeface="에이투지체 6 SemiBold"/>
                <a:ea typeface="에이투지체 6 SemiBold"/>
                <a:cs typeface="에이투지체 6 SemiBold"/>
              </a:rPr>
              <a:t>두드림 라인</a:t>
            </a:r>
          </a:p>
        </p:txBody>
      </p:sp>
      <p:sp>
        <p:nvSpPr>
          <p:cNvPr id="60" name="text-141">
            <a:extLst>
              <a:ext uri="{FF2B5EF4-FFF2-40B4-BE49-F238E27FC236}">
                <a16:creationId xmlns:a16="http://schemas.microsoft.com/office/drawing/2014/main" id="{4CF4A7B3-A725-3A2D-6799-73536EC61467}"/>
              </a:ext>
            </a:extLst>
          </p:cNvPr>
          <p:cNvSpPr>
            <a:spLocks noGrp="1"/>
          </p:cNvSpPr>
          <p:nvPr/>
        </p:nvSpPr>
        <p:spPr>
          <a:xfrm>
            <a:off x="5019675" y="3200400"/>
            <a:ext cx="1457325" cy="371475"/>
          </a:xfrm>
          <a:prstGeom prst="rect">
            <a:avLst/>
          </a:prstGeom>
          <a:noFill/>
          <a:ln w="0">
            <a:noFill/>
          </a:ln>
        </p:spPr>
        <p:txBody>
          <a:bodyPr wrap="square" lIns="0" tIns="0" rIns="0" bIns="0" anchor="ctr">
            <a:noAutofit/>
          </a:bodyPr>
          <a:lstStyle>
            <a:defPPr algn="ctr">
              <a:defRPr sz="1275">
                <a:solidFill>
                  <a:srgbClr val="004F9F"/>
                </a:solidFill>
                <a:latin typeface="에이투지체 6 SemiBold"/>
                <a:ea typeface="에이투지체 6 SemiBold"/>
                <a:cs typeface="에이투지체 6 SemiBold"/>
              </a:defRPr>
            </a:defPPr>
          </a:lstStyle>
          <a:p>
            <a:pPr algn="ctr">
              <a:defRPr sz="1275">
                <a:solidFill>
                  <a:srgbClr val="004F9F"/>
                </a:solidFill>
                <a:latin typeface="에이투지체 6 SemiBold"/>
                <a:ea typeface="에이투지체 6 SemiBold"/>
                <a:cs typeface="에이투지체 6 SemiBold"/>
              </a:defRPr>
            </a:pPr>
            <a:r>
              <a:rPr sz="1275">
                <a:solidFill>
                  <a:srgbClr val="004F9F"/>
                </a:solidFill>
                <a:latin typeface="에이투지체 6 SemiBold"/>
                <a:ea typeface="에이투지체 6 SemiBold"/>
                <a:cs typeface="에이투지체 6 SemiBold"/>
              </a:rPr>
              <a:t>상품군 구분</a:t>
            </a:r>
          </a:p>
        </p:txBody>
      </p:sp>
      <p:sp>
        <p:nvSpPr>
          <p:cNvPr id="62" name="화살표: 오른쪽 61">
            <a:extLst>
              <a:ext uri="{FF2B5EF4-FFF2-40B4-BE49-F238E27FC236}">
                <a16:creationId xmlns:a16="http://schemas.microsoft.com/office/drawing/2014/main" id="{1816AA5E-1AE6-EBC2-9BC8-9BAF4288CA7A}"/>
              </a:ext>
            </a:extLst>
          </p:cNvPr>
          <p:cNvSpPr>
            <a:spLocks noGrp="1"/>
          </p:cNvSpPr>
          <p:nvPr/>
        </p:nvSpPr>
        <p:spPr>
          <a:xfrm>
            <a:off x="5276850" y="3762375"/>
            <a:ext cx="971550" cy="476250"/>
          </a:xfrm>
          <a:prstGeom prst="rightArrow">
            <a:avLst/>
          </a:prstGeom>
          <a:solidFill>
            <a:srgbClr val="004F9F"/>
          </a:solidFill>
          <a:ln w="0">
            <a:noFill/>
          </a:ln>
        </p:spPr>
        <p:txBody>
          <a:bodyPr/>
          <a:lstStyle/>
          <a:p>
            <a:endParaRPr lang="ko-KR" altLang="en-US"/>
          </a:p>
        </p:txBody>
      </p:sp>
      <p:sp>
        <p:nvSpPr>
          <p:cNvPr id="5" name="TextBox 1">
            <a:extLst>
              <a:ext uri="{FF2B5EF4-FFF2-40B4-BE49-F238E27FC236}">
                <a16:creationId xmlns:a16="http://schemas.microsoft.com/office/drawing/2014/main" id="{1980A69F-06F9-BC3E-78E0-C4800D4868DB}"/>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853C6-600B-5C64-ED35-D515E255E5D7}"/>
            </a:ext>
          </a:extLst>
        </p:cNvPr>
        <p:cNvGrpSpPr/>
        <p:nvPr/>
      </p:nvGrpSpPr>
      <p:grpSpPr>
        <a:xfrm>
          <a:off x="0" y="0"/>
          <a:ext cx="0" cy="0"/>
          <a:chOff x="0" y="0"/>
          <a:chExt cx="0" cy="0"/>
        </a:xfrm>
      </p:grpSpPr>
      <p:sp>
        <p:nvSpPr>
          <p:cNvPr id="20" name="TextBox 7">
            <a:extLst>
              <a:ext uri="{FF2B5EF4-FFF2-40B4-BE49-F238E27FC236}">
                <a16:creationId xmlns:a16="http://schemas.microsoft.com/office/drawing/2014/main" id="{C09B206C-750A-E248-DB8A-4636B4FF541A}"/>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1" name="TextBox 8">
            <a:extLst>
              <a:ext uri="{FF2B5EF4-FFF2-40B4-BE49-F238E27FC236}">
                <a16:creationId xmlns:a16="http://schemas.microsoft.com/office/drawing/2014/main" id="{6A3AA335-5085-EF21-D62D-39CDCC87BB10}"/>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22" name="PGNO">
            <a:extLst>
              <a:ext uri="{FF2B5EF4-FFF2-40B4-BE49-F238E27FC236}">
                <a16:creationId xmlns:a16="http://schemas.microsoft.com/office/drawing/2014/main" id="{34D14FA6-4DFB-891B-2E20-5DF50D35A0C8}"/>
              </a:ext>
            </a:extLst>
          </p:cNvPr>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35</a:t>
            </a:r>
          </a:p>
        </p:txBody>
      </p:sp>
      <p:sp>
        <p:nvSpPr>
          <p:cNvPr id="2" name="text-73">
            <a:extLst>
              <a:ext uri="{FF2B5EF4-FFF2-40B4-BE49-F238E27FC236}">
                <a16:creationId xmlns:a16="http://schemas.microsoft.com/office/drawing/2014/main" id="{061BB85F-CC59-0661-7ED1-B3C355A2FD90}"/>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GFA 핵심과제 2</a:t>
            </a:r>
            <a:r>
              <a:rPr lang="ko-KR" sz="1900" dirty="0">
                <a:solidFill>
                  <a:srgbClr val="222222"/>
                </a:solidFill>
                <a:latin typeface="에이투지체 8 ExtraBold"/>
                <a:ea typeface="에이투지체 8 ExtraBold"/>
                <a:cs typeface="에이투지체 8 ExtraBold"/>
              </a:rPr>
              <a:t>  FGO 고객 확장</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FGO를 산 고객에게 성장 패키지를 제안합니다</a:t>
            </a:r>
            <a:endParaRPr lang="ko-KR" sz="1900" dirty="0"/>
          </a:p>
        </p:txBody>
      </p:sp>
      <p:sp>
        <p:nvSpPr>
          <p:cNvPr id="3" name="text-74">
            <a:extLst>
              <a:ext uri="{FF2B5EF4-FFF2-40B4-BE49-F238E27FC236}">
                <a16:creationId xmlns:a16="http://schemas.microsoft.com/office/drawing/2014/main" id="{B00493CE-B681-00A8-24FB-E3AC2DCFF95A}"/>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고객 확장 운영 흐름</a:t>
            </a:r>
            <a:endParaRPr lang="ko-KR" sz="1100" dirty="0"/>
          </a:p>
        </p:txBody>
      </p:sp>
      <p:sp>
        <p:nvSpPr>
          <p:cNvPr id="16" name="node-84">
            <a:extLst>
              <a:ext uri="{FF2B5EF4-FFF2-40B4-BE49-F238E27FC236}">
                <a16:creationId xmlns:a16="http://schemas.microsoft.com/office/drawing/2014/main" id="{34C3CFB5-5416-E10E-F81A-80274A60314B}"/>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17" name="text-85">
            <a:extLst>
              <a:ext uri="{FF2B5EF4-FFF2-40B4-BE49-F238E27FC236}">
                <a16:creationId xmlns:a16="http://schemas.microsoft.com/office/drawing/2014/main" id="{D38304D6-B5D1-F013-6F3B-CBCB2F644EF6}"/>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FGO의 성과를 유지하면서, 브랜드스토어에서 다음 히어로 상품을 만듭니다</a:t>
            </a:r>
          </a:p>
        </p:txBody>
      </p:sp>
      <p:sp>
        <p:nvSpPr>
          <p:cNvPr id="23" name="Rectangle 22"/>
          <p:cNvSpPr/>
          <p:nvPr/>
        </p:nvSpPr>
        <p:spPr>
          <a:xfrm>
            <a:off x="548640" y="2103120"/>
            <a:ext cx="5669280" cy="3291840"/>
          </a:xfrm>
          <a:prstGeom prst="roundRect">
            <a:avLst>
              <a:gd name="adj" fmla="val 2222"/>
            </a:avLst>
          </a:prstGeom>
          <a:solidFill>
            <a:srgbClr val="FFFFFF"/>
          </a:solidFill>
          <a:ln w="12700">
            <a:solidFill>
              <a:srgbClr val="D0D0D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8640" y="2103120"/>
            <a:ext cx="5669280" cy="3291840"/>
          </a:xfrm>
          <a:prstGeom prst="rect">
            <a:avLst/>
          </a:prstGeom>
          <a:noFill/>
        </p:spPr>
        <p:txBody>
          <a:bodyPr wrap="square" lIns="0" tIns="0" rIns="0" bIns="0" anchor="ctr">
            <a:spAutoFit/>
          </a:bodyPr>
          <a:lstStyle/>
          <a:p>
            <a:pPr algn="ctr">
              <a:spcAft>
                <a:spcPts val="300"/>
              </a:spcAft>
            </a:pPr>
            <a:r>
              <a:rPr sz="1300" dirty="0" err="1">
                <a:solidFill>
                  <a:srgbClr val="919191"/>
                </a:solidFill>
                <a:latin typeface="에이투지체 6 SemiBold"/>
                <a:ea typeface="에이투지체 6 SemiBold"/>
              </a:rPr>
              <a:t>소재</a:t>
            </a:r>
            <a:endParaRPr sz="1300" dirty="0">
              <a:solidFill>
                <a:srgbClr val="919191"/>
              </a:solidFill>
              <a:latin typeface="에이투지체 6 SemiBold"/>
              <a:ea typeface="에이투지체 6 SemiBold"/>
            </a:endParaRPr>
          </a:p>
        </p:txBody>
      </p:sp>
      <p:sp>
        <p:nvSpPr>
          <p:cNvPr id="25" name="TextBox 24"/>
          <p:cNvSpPr txBox="1"/>
          <p:nvPr/>
        </p:nvSpPr>
        <p:spPr>
          <a:xfrm>
            <a:off x="6583680" y="2103120"/>
            <a:ext cx="5029200" cy="320040"/>
          </a:xfrm>
          <a:prstGeom prst="rect">
            <a:avLst/>
          </a:prstGeom>
          <a:noFill/>
        </p:spPr>
        <p:txBody>
          <a:bodyPr wrap="square" lIns="0" tIns="0" rIns="0" bIns="0" anchor="t">
            <a:spAutoFit/>
          </a:bodyPr>
          <a:lstStyle/>
          <a:p>
            <a:pPr algn="l">
              <a:spcAft>
                <a:spcPts val="300"/>
              </a:spcAft>
            </a:pPr>
            <a:r>
              <a:rPr sz="1500">
                <a:solidFill>
                  <a:srgbClr val="004F9F"/>
                </a:solidFill>
                <a:latin typeface="에이투지체 6 SemiBold"/>
                <a:ea typeface="에이투지체 6 SemiBold"/>
              </a:rPr>
              <a:t>고객 확장 운영</a:t>
            </a:r>
          </a:p>
        </p:txBody>
      </p:sp>
      <p:sp>
        <p:nvSpPr>
          <p:cNvPr id="26" name="Rectangle 25"/>
          <p:cNvSpPr/>
          <p:nvPr/>
        </p:nvSpPr>
        <p:spPr>
          <a:xfrm>
            <a:off x="6583680" y="2560320"/>
            <a:ext cx="5029200" cy="841248"/>
          </a:xfrm>
          <a:prstGeom prst="roundRect">
            <a:avLst>
              <a:gd name="adj" fmla="val 869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66560" y="2560320"/>
            <a:ext cx="1783080" cy="841248"/>
          </a:xfrm>
          <a:prstGeom prst="rect">
            <a:avLst/>
          </a:prstGeom>
          <a:noFill/>
        </p:spPr>
        <p:txBody>
          <a:bodyPr wrap="square" lIns="0" tIns="0" rIns="0" bIns="0" anchor="ctr">
            <a:spAutoFit/>
          </a:bodyPr>
          <a:lstStyle/>
          <a:p>
            <a:pPr algn="l">
              <a:spcAft>
                <a:spcPts val="300"/>
              </a:spcAft>
            </a:pPr>
            <a:r>
              <a:rPr sz="1250">
                <a:solidFill>
                  <a:srgbClr val="004F9F"/>
                </a:solidFill>
                <a:latin typeface="에이투지체 6 SemiBold"/>
                <a:ea typeface="에이투지체 6 SemiBold"/>
              </a:rPr>
              <a:t>FGO 방문 · 미구매</a:t>
            </a:r>
          </a:p>
        </p:txBody>
      </p:sp>
      <p:sp>
        <p:nvSpPr>
          <p:cNvPr id="28" name="TextBox 27"/>
          <p:cNvSpPr txBox="1"/>
          <p:nvPr/>
        </p:nvSpPr>
        <p:spPr>
          <a:xfrm>
            <a:off x="8595360" y="2794995"/>
            <a:ext cx="2926080" cy="371897"/>
          </a:xfrm>
          <a:prstGeom prst="rect">
            <a:avLst/>
          </a:prstGeom>
          <a:noFill/>
        </p:spPr>
        <p:txBody>
          <a:bodyPr wrap="square" lIns="0" tIns="0" rIns="0" bIns="0" anchor="ctr">
            <a:spAutoFit/>
          </a:bodyPr>
          <a:lstStyle/>
          <a:p>
            <a:pPr algn="l">
              <a:spcAft>
                <a:spcPts val="200"/>
              </a:spcAft>
            </a:pPr>
            <a:r>
              <a:rPr sz="1200" dirty="0" err="1">
                <a:solidFill>
                  <a:srgbClr val="222222"/>
                </a:solidFill>
                <a:latin typeface="에이투지체 6 SemiBold"/>
                <a:ea typeface="에이투지체 6 SemiBold"/>
              </a:rPr>
              <a:t>검증된</a:t>
            </a:r>
            <a:r>
              <a:rPr sz="1200" dirty="0">
                <a:solidFill>
                  <a:srgbClr val="222222"/>
                </a:solidFill>
                <a:latin typeface="에이투지체 6 SemiBold"/>
                <a:ea typeface="에이투지체 6 SemiBold"/>
              </a:rPr>
              <a:t> FGO </a:t>
            </a:r>
            <a:r>
              <a:rPr sz="1200" dirty="0" err="1">
                <a:solidFill>
                  <a:srgbClr val="222222"/>
                </a:solidFill>
                <a:latin typeface="에이투지체 6 SemiBold"/>
                <a:ea typeface="에이투지체 6 SemiBold"/>
              </a:rPr>
              <a:t>상시</a:t>
            </a:r>
            <a:r>
              <a:rPr sz="1200" dirty="0">
                <a:solidFill>
                  <a:srgbClr val="222222"/>
                </a:solidFill>
                <a:latin typeface="에이투지체 6 SemiBold"/>
                <a:ea typeface="에이투지체 6 SemiBold"/>
              </a:rPr>
              <a:t> </a:t>
            </a:r>
            <a:r>
              <a:rPr sz="1200" dirty="0" err="1">
                <a:solidFill>
                  <a:srgbClr val="222222"/>
                </a:solidFill>
                <a:latin typeface="에이투지체 6 SemiBold"/>
                <a:ea typeface="에이투지체 6 SemiBold"/>
              </a:rPr>
              <a:t>소재로</a:t>
            </a:r>
            <a:r>
              <a:rPr sz="1200" dirty="0">
                <a:solidFill>
                  <a:srgbClr val="222222"/>
                </a:solidFill>
                <a:latin typeface="에이투지체 6 SemiBold"/>
                <a:ea typeface="에이투지체 6 SemiBold"/>
              </a:rPr>
              <a:t> </a:t>
            </a:r>
            <a:r>
              <a:rPr sz="1200" dirty="0" err="1">
                <a:solidFill>
                  <a:srgbClr val="222222"/>
                </a:solidFill>
                <a:latin typeface="에이투지체 6 SemiBold"/>
                <a:ea typeface="에이투지체 6 SemiBold"/>
              </a:rPr>
              <a:t>구매</a:t>
            </a:r>
            <a:r>
              <a:rPr sz="1200" dirty="0">
                <a:solidFill>
                  <a:srgbClr val="222222"/>
                </a:solidFill>
                <a:latin typeface="에이투지체 6 SemiBold"/>
                <a:ea typeface="에이투지체 6 SemiBold"/>
              </a:rPr>
              <a:t> </a:t>
            </a:r>
            <a:r>
              <a:rPr sz="1200" dirty="0" err="1">
                <a:solidFill>
                  <a:srgbClr val="222222"/>
                </a:solidFill>
                <a:latin typeface="에이투지체 6 SemiBold"/>
                <a:ea typeface="에이투지체 6 SemiBold"/>
              </a:rPr>
              <a:t>유도</a:t>
            </a:r>
            <a:endParaRPr lang="ko-KR" altLang="en-US" sz="1200" dirty="0">
              <a:solidFill>
                <a:srgbClr val="222222"/>
              </a:solidFill>
              <a:latin typeface="에이투지체 6 SemiBold"/>
              <a:ea typeface="에이투지체 6 SemiBold"/>
            </a:endParaRPr>
          </a:p>
          <a:p>
            <a:pPr algn="l">
              <a:spcAft>
                <a:spcPts val="200"/>
              </a:spcAft>
            </a:pPr>
            <a:r>
              <a:rPr lang="en-US" altLang="ko-KR" sz="1050" dirty="0">
                <a:solidFill>
                  <a:srgbClr val="5C5C5C"/>
                </a:solidFill>
                <a:latin typeface="에이투지체 4 Regular"/>
                <a:ea typeface="에이투지체 4 Regular"/>
              </a:rPr>
              <a:t>FGO </a:t>
            </a:r>
            <a:r>
              <a:rPr lang="ko-KR" altLang="en-US" sz="1050" dirty="0" err="1">
                <a:solidFill>
                  <a:srgbClr val="5C5C5C"/>
                </a:solidFill>
                <a:latin typeface="에이투지체 4 Regular"/>
                <a:ea typeface="에이투지체 4 Regular"/>
              </a:rPr>
              <a:t>첫구매를</a:t>
            </a:r>
            <a:r>
              <a:rPr lang="ko-KR" altLang="en-US" sz="1050" dirty="0">
                <a:solidFill>
                  <a:srgbClr val="5C5C5C"/>
                </a:solidFill>
                <a:latin typeface="에이투지체 4 Regular"/>
                <a:ea typeface="에이투지체 4 Regular"/>
              </a:rPr>
              <a:t> 유도해 고객 </a:t>
            </a:r>
            <a:r>
              <a:rPr lang="ko-KR" altLang="en-US" sz="1050" dirty="0" err="1">
                <a:solidFill>
                  <a:srgbClr val="5C5C5C"/>
                </a:solidFill>
                <a:latin typeface="에이투지체 4 Regular"/>
                <a:ea typeface="에이투지체 4 Regular"/>
              </a:rPr>
              <a:t>모수</a:t>
            </a:r>
            <a:r>
              <a:rPr lang="ko-KR" altLang="en-US" sz="1050" dirty="0">
                <a:solidFill>
                  <a:srgbClr val="5C5C5C"/>
                </a:solidFill>
                <a:latin typeface="에이투지체 4 Regular"/>
                <a:ea typeface="에이투지체 4 Regular"/>
              </a:rPr>
              <a:t> 확보</a:t>
            </a:r>
          </a:p>
        </p:txBody>
      </p:sp>
      <p:sp>
        <p:nvSpPr>
          <p:cNvPr id="29" name="Down Arrow 28"/>
          <p:cNvSpPr/>
          <p:nvPr/>
        </p:nvSpPr>
        <p:spPr>
          <a:xfrm>
            <a:off x="9006840" y="3410712"/>
            <a:ext cx="201168" cy="109728"/>
          </a:xfrm>
          <a:prstGeom prst="downArrow">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6583680" y="3520439"/>
            <a:ext cx="5029200" cy="841248"/>
          </a:xfrm>
          <a:prstGeom prst="roundRect">
            <a:avLst>
              <a:gd name="adj" fmla="val 8695"/>
            </a:avLst>
          </a:prstGeom>
          <a:solidFill>
            <a:srgbClr val="EAF2FB"/>
          </a:solidFill>
          <a:ln w="12700">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766560" y="3520439"/>
            <a:ext cx="1783080" cy="841248"/>
          </a:xfrm>
          <a:prstGeom prst="rect">
            <a:avLst/>
          </a:prstGeom>
          <a:noFill/>
        </p:spPr>
        <p:txBody>
          <a:bodyPr wrap="square" lIns="0" tIns="0" rIns="0" bIns="0" anchor="ctr">
            <a:spAutoFit/>
          </a:bodyPr>
          <a:lstStyle/>
          <a:p>
            <a:pPr algn="l">
              <a:spcAft>
                <a:spcPts val="300"/>
              </a:spcAft>
            </a:pPr>
            <a:r>
              <a:rPr sz="1250">
                <a:solidFill>
                  <a:srgbClr val="004F9F"/>
                </a:solidFill>
                <a:latin typeface="에이투지체 6 SemiBold"/>
                <a:ea typeface="에이투지체 6 SemiBold"/>
              </a:rPr>
              <a:t>FGO 구매 고객</a:t>
            </a:r>
          </a:p>
        </p:txBody>
      </p:sp>
      <p:sp>
        <p:nvSpPr>
          <p:cNvPr id="32" name="TextBox 31"/>
          <p:cNvSpPr txBox="1"/>
          <p:nvPr/>
        </p:nvSpPr>
        <p:spPr>
          <a:xfrm>
            <a:off x="8595360" y="3755114"/>
            <a:ext cx="2926080" cy="371897"/>
          </a:xfrm>
          <a:prstGeom prst="rect">
            <a:avLst/>
          </a:prstGeom>
          <a:noFill/>
        </p:spPr>
        <p:txBody>
          <a:bodyPr wrap="square" lIns="0" tIns="0" rIns="0" bIns="0" anchor="ctr">
            <a:spAutoFit/>
          </a:bodyPr>
          <a:lstStyle/>
          <a:p>
            <a:pPr algn="l">
              <a:spcAft>
                <a:spcPts val="200"/>
              </a:spcAft>
            </a:pPr>
            <a:r>
              <a:rPr lang="ko-KR" altLang="en-US" sz="1200" dirty="0">
                <a:solidFill>
                  <a:srgbClr val="222222"/>
                </a:solidFill>
                <a:latin typeface="에이투지체 6 SemiBold"/>
                <a:ea typeface="에이투지체 6 SemiBold"/>
              </a:rPr>
              <a:t>패키지 상품을 통한 타 상품 판매</a:t>
            </a:r>
            <a:endParaRPr sz="1200" dirty="0">
              <a:solidFill>
                <a:srgbClr val="222222"/>
              </a:solidFill>
              <a:latin typeface="에이투지체 6 SemiBold"/>
              <a:ea typeface="에이투지체 6 SemiBold"/>
            </a:endParaRPr>
          </a:p>
          <a:p>
            <a:pPr algn="l">
              <a:spcAft>
                <a:spcPts val="200"/>
              </a:spcAft>
            </a:pPr>
            <a:r>
              <a:rPr lang="ko-KR" altLang="en-US" sz="1050" dirty="0">
                <a:solidFill>
                  <a:srgbClr val="5C5C5C"/>
                </a:solidFill>
                <a:latin typeface="에이투지체 4 Regular"/>
                <a:ea typeface="에이투지체 4 Regular"/>
              </a:rPr>
              <a:t>확보한 고객 </a:t>
            </a:r>
            <a:r>
              <a:rPr lang="ko-KR" altLang="en-US" sz="1050" dirty="0" err="1">
                <a:solidFill>
                  <a:srgbClr val="5C5C5C"/>
                </a:solidFill>
                <a:latin typeface="에이투지체 4 Regular"/>
                <a:ea typeface="에이투지체 4 Regular"/>
              </a:rPr>
              <a:t>모수를</a:t>
            </a:r>
            <a:r>
              <a:rPr lang="ko-KR" altLang="en-US" sz="1050" dirty="0">
                <a:solidFill>
                  <a:srgbClr val="5C5C5C"/>
                </a:solidFill>
                <a:latin typeface="에이투지체 4 Regular"/>
                <a:ea typeface="에이투지체 4 Regular"/>
              </a:rPr>
              <a:t> </a:t>
            </a:r>
            <a:r>
              <a:rPr sz="1050" dirty="0" err="1">
                <a:solidFill>
                  <a:srgbClr val="5C5C5C"/>
                </a:solidFill>
                <a:latin typeface="에이투지체 4 Regular"/>
                <a:ea typeface="에이투지체 4 Regular"/>
              </a:rPr>
              <a:t>성장</a:t>
            </a:r>
            <a:r>
              <a:rPr sz="1050" dirty="0">
                <a:solidFill>
                  <a:srgbClr val="5C5C5C"/>
                </a:solidFill>
                <a:latin typeface="에이투지체 4 Regular"/>
                <a:ea typeface="에이투지체 4 Regular"/>
              </a:rPr>
              <a:t> </a:t>
            </a:r>
            <a:r>
              <a:rPr sz="1050" dirty="0" err="1">
                <a:solidFill>
                  <a:srgbClr val="5C5C5C"/>
                </a:solidFill>
                <a:latin typeface="에이투지체 4 Regular"/>
                <a:ea typeface="에이투지체 4 Regular"/>
              </a:rPr>
              <a:t>단계</a:t>
            </a:r>
            <a:r>
              <a:rPr sz="1050" dirty="0">
                <a:solidFill>
                  <a:srgbClr val="5C5C5C"/>
                </a:solidFill>
                <a:latin typeface="에이투지체 4 Regular"/>
                <a:ea typeface="에이투지체 4 Regular"/>
              </a:rPr>
              <a:t> </a:t>
            </a:r>
            <a:r>
              <a:rPr sz="1050" dirty="0" err="1">
                <a:solidFill>
                  <a:srgbClr val="5C5C5C"/>
                </a:solidFill>
                <a:latin typeface="에이투지체 4 Regular"/>
                <a:ea typeface="에이투지체 4 Regular"/>
              </a:rPr>
              <a:t>패키지로</a:t>
            </a:r>
            <a:r>
              <a:rPr sz="1050" dirty="0">
                <a:solidFill>
                  <a:srgbClr val="5C5C5C"/>
                </a:solidFill>
                <a:latin typeface="에이투지체 4 Regular"/>
                <a:ea typeface="에이투지체 4 Regular"/>
              </a:rPr>
              <a:t> </a:t>
            </a:r>
            <a:r>
              <a:rPr sz="1050" dirty="0" err="1">
                <a:solidFill>
                  <a:srgbClr val="5C5C5C"/>
                </a:solidFill>
                <a:latin typeface="에이투지체 4 Regular"/>
                <a:ea typeface="에이투지체 4 Regular"/>
              </a:rPr>
              <a:t>연결</a:t>
            </a:r>
            <a:endParaRPr sz="1050" dirty="0">
              <a:solidFill>
                <a:srgbClr val="5C5C5C"/>
              </a:solidFill>
              <a:latin typeface="에이투지체 4 Regular"/>
              <a:ea typeface="에이투지체 4 Regular"/>
            </a:endParaRPr>
          </a:p>
        </p:txBody>
      </p:sp>
      <p:sp>
        <p:nvSpPr>
          <p:cNvPr id="33" name="Down Arrow 32"/>
          <p:cNvSpPr/>
          <p:nvPr/>
        </p:nvSpPr>
        <p:spPr>
          <a:xfrm>
            <a:off x="9006840" y="4370831"/>
            <a:ext cx="201168" cy="109728"/>
          </a:xfrm>
          <a:prstGeom prst="downArrow">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6583680" y="4480560"/>
            <a:ext cx="5029200" cy="841248"/>
          </a:xfrm>
          <a:prstGeom prst="roundRect">
            <a:avLst>
              <a:gd name="adj" fmla="val 869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766560" y="4480560"/>
            <a:ext cx="1783080" cy="841248"/>
          </a:xfrm>
          <a:prstGeom prst="rect">
            <a:avLst/>
          </a:prstGeom>
          <a:noFill/>
        </p:spPr>
        <p:txBody>
          <a:bodyPr wrap="square" lIns="0" tIns="0" rIns="0" bIns="0" anchor="ctr">
            <a:spAutoFit/>
          </a:bodyPr>
          <a:lstStyle/>
          <a:p>
            <a:pPr algn="l">
              <a:spcAft>
                <a:spcPts val="300"/>
              </a:spcAft>
            </a:pPr>
            <a:r>
              <a:rPr sz="1250">
                <a:solidFill>
                  <a:srgbClr val="004F9F"/>
                </a:solidFill>
                <a:latin typeface="에이투지체 6 SemiBold"/>
                <a:ea typeface="에이투지체 6 SemiBold"/>
              </a:rPr>
              <a:t>패키지 · 교차 구매 고객</a:t>
            </a:r>
          </a:p>
        </p:txBody>
      </p:sp>
      <p:sp>
        <p:nvSpPr>
          <p:cNvPr id="36" name="TextBox 35"/>
          <p:cNvSpPr txBox="1"/>
          <p:nvPr/>
        </p:nvSpPr>
        <p:spPr>
          <a:xfrm>
            <a:off x="8595360" y="4715235"/>
            <a:ext cx="2926080" cy="371897"/>
          </a:xfrm>
          <a:prstGeom prst="rect">
            <a:avLst/>
          </a:prstGeom>
          <a:noFill/>
        </p:spPr>
        <p:txBody>
          <a:bodyPr wrap="square" lIns="0" tIns="0" rIns="0" bIns="0" anchor="ctr">
            <a:spAutoFit/>
          </a:bodyPr>
          <a:lstStyle/>
          <a:p>
            <a:pPr algn="l">
              <a:spcAft>
                <a:spcPts val="200"/>
              </a:spcAft>
            </a:pPr>
            <a:r>
              <a:rPr sz="1200" dirty="0" err="1">
                <a:solidFill>
                  <a:srgbClr val="222222"/>
                </a:solidFill>
                <a:latin typeface="에이투지체 6 SemiBold"/>
                <a:ea typeface="에이투지체 6 SemiBold"/>
              </a:rPr>
              <a:t>재구매</a:t>
            </a:r>
            <a:r>
              <a:rPr sz="1200" dirty="0">
                <a:solidFill>
                  <a:srgbClr val="222222"/>
                </a:solidFill>
                <a:latin typeface="에이투지체 6 SemiBold"/>
                <a:ea typeface="에이투지체 6 SemiBold"/>
              </a:rPr>
              <a:t> </a:t>
            </a:r>
            <a:r>
              <a:rPr sz="1200" dirty="0" err="1">
                <a:solidFill>
                  <a:srgbClr val="222222"/>
                </a:solidFill>
                <a:latin typeface="에이투지체 6 SemiBold"/>
                <a:ea typeface="에이투지체 6 SemiBold"/>
              </a:rPr>
              <a:t>시점</a:t>
            </a:r>
            <a:r>
              <a:rPr sz="1200" dirty="0">
                <a:solidFill>
                  <a:srgbClr val="222222"/>
                </a:solidFill>
                <a:latin typeface="에이투지체 6 SemiBold"/>
                <a:ea typeface="에이투지체 6 SemiBold"/>
              </a:rPr>
              <a:t> </a:t>
            </a:r>
            <a:r>
              <a:rPr sz="1200" dirty="0" err="1">
                <a:solidFill>
                  <a:srgbClr val="222222"/>
                </a:solidFill>
                <a:latin typeface="에이투지체 6 SemiBold"/>
                <a:ea typeface="에이투지체 6 SemiBold"/>
              </a:rPr>
              <a:t>리마인드</a:t>
            </a:r>
            <a:endParaRPr sz="1200" dirty="0">
              <a:solidFill>
                <a:srgbClr val="222222"/>
              </a:solidFill>
              <a:latin typeface="에이투지체 6 SemiBold"/>
              <a:ea typeface="에이투지체 6 SemiBold"/>
            </a:endParaRPr>
          </a:p>
          <a:p>
            <a:pPr algn="l">
              <a:spcAft>
                <a:spcPts val="200"/>
              </a:spcAft>
            </a:pPr>
            <a:r>
              <a:rPr lang="ko-KR" altLang="en-US" sz="1050" dirty="0">
                <a:solidFill>
                  <a:srgbClr val="5C5C5C"/>
                </a:solidFill>
                <a:latin typeface="에이투지체 4 Regular"/>
                <a:ea typeface="에이투지체 4 Regular"/>
              </a:rPr>
              <a:t>구매 </a:t>
            </a:r>
            <a:r>
              <a:rPr lang="en-US" altLang="ko-KR" sz="1050" dirty="0">
                <a:solidFill>
                  <a:srgbClr val="5C5C5C"/>
                </a:solidFill>
                <a:latin typeface="에이투지체 4 Regular"/>
                <a:ea typeface="에이투지체 4 Regular"/>
              </a:rPr>
              <a:t>3</a:t>
            </a:r>
            <a:r>
              <a:rPr lang="ko-KR" altLang="en-US" sz="1050" dirty="0">
                <a:solidFill>
                  <a:srgbClr val="5C5C5C"/>
                </a:solidFill>
                <a:latin typeface="에이투지체 4 Regular"/>
                <a:ea typeface="에이투지체 4 Regular"/>
              </a:rPr>
              <a:t>개월 이후 고객 </a:t>
            </a:r>
            <a:r>
              <a:rPr lang="ko-KR" altLang="en-US" sz="1050" dirty="0" err="1">
                <a:solidFill>
                  <a:srgbClr val="5C5C5C"/>
                </a:solidFill>
                <a:latin typeface="에이투지체 4 Regular"/>
                <a:ea typeface="에이투지체 4 Regular"/>
              </a:rPr>
              <a:t>리타겟으로</a:t>
            </a:r>
            <a:r>
              <a:rPr lang="ko-KR" altLang="en-US" sz="1050" dirty="0">
                <a:solidFill>
                  <a:srgbClr val="5C5C5C"/>
                </a:solidFill>
                <a:latin typeface="에이투지체 4 Regular"/>
                <a:ea typeface="에이투지체 4 Regular"/>
              </a:rPr>
              <a:t> 구매 유도</a:t>
            </a:r>
            <a:endParaRPr sz="1050" dirty="0">
              <a:solidFill>
                <a:srgbClr val="5C5C5C"/>
              </a:solidFill>
              <a:latin typeface="에이투지체 4 Regular"/>
              <a:ea typeface="에이투지체 4 Regular"/>
            </a:endParaRPr>
          </a:p>
        </p:txBody>
      </p:sp>
      <p:sp>
        <p:nvSpPr>
          <p:cNvPr id="5" name="TextBox 1">
            <a:extLst>
              <a:ext uri="{FF2B5EF4-FFF2-40B4-BE49-F238E27FC236}">
                <a16:creationId xmlns:a16="http://schemas.microsoft.com/office/drawing/2014/main" id="{B9804823-77B0-8494-E0F3-7A60802AF4BF}"/>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Tree>
    <p:extLst>
      <p:ext uri="{BB962C8B-B14F-4D97-AF65-F5344CB8AC3E}">
        <p14:creationId xmlns:p14="http://schemas.microsoft.com/office/powerpoint/2010/main" val="319671625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E8EB0-2F79-78E4-D541-9CF45B038C46}"/>
            </a:ext>
          </a:extLst>
        </p:cNvPr>
        <p:cNvGrpSpPr/>
        <p:nvPr/>
      </p:nvGrpSpPr>
      <p:grpSpPr>
        <a:xfrm>
          <a:off x="0" y="0"/>
          <a:ext cx="0" cy="0"/>
          <a:chOff x="0" y="0"/>
          <a:chExt cx="0" cy="0"/>
        </a:xfrm>
      </p:grpSpPr>
      <p:sp>
        <p:nvSpPr>
          <p:cNvPr id="20" name="TextBox 7">
            <a:extLst>
              <a:ext uri="{FF2B5EF4-FFF2-40B4-BE49-F238E27FC236}">
                <a16:creationId xmlns:a16="http://schemas.microsoft.com/office/drawing/2014/main" id="{CBE18461-6710-A18F-1E37-559D3FE6F735}"/>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1" name="TextBox 8">
            <a:extLst>
              <a:ext uri="{FF2B5EF4-FFF2-40B4-BE49-F238E27FC236}">
                <a16:creationId xmlns:a16="http://schemas.microsoft.com/office/drawing/2014/main" id="{90B9AF86-DD3D-B591-6336-AB58D5F5F4CA}"/>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22" name="PGNO">
            <a:extLst>
              <a:ext uri="{FF2B5EF4-FFF2-40B4-BE49-F238E27FC236}">
                <a16:creationId xmlns:a16="http://schemas.microsoft.com/office/drawing/2014/main" id="{C7933262-D0AA-0B7C-5B5A-5F921ED80ED5}"/>
              </a:ext>
            </a:extLst>
          </p:cNvPr>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36</a:t>
            </a:r>
          </a:p>
        </p:txBody>
      </p:sp>
      <p:sp>
        <p:nvSpPr>
          <p:cNvPr id="2" name="text-73">
            <a:extLst>
              <a:ext uri="{FF2B5EF4-FFF2-40B4-BE49-F238E27FC236}">
                <a16:creationId xmlns:a16="http://schemas.microsoft.com/office/drawing/2014/main" id="{54B72790-1CD4-ED71-0A7A-3021D9112379}"/>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GFA 핵심과제 3</a:t>
            </a:r>
            <a:r>
              <a:rPr lang="ko-KR" sz="1900" dirty="0">
                <a:solidFill>
                  <a:srgbClr val="222222"/>
                </a:solidFill>
                <a:latin typeface="에이투지체 8 ExtraBold"/>
                <a:ea typeface="에이투지체 8 ExtraBold"/>
                <a:cs typeface="에이투지체 8 ExtraBold"/>
              </a:rPr>
              <a:t>  비전략 상품 매출 증대</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FGO 외 상품도 상시 학습시켜 브랜드스토어 구매로 연결합니다</a:t>
            </a:r>
            <a:endParaRPr lang="ko-KR" sz="1900" dirty="0"/>
          </a:p>
        </p:txBody>
      </p:sp>
      <p:sp>
        <p:nvSpPr>
          <p:cNvPr id="3" name="text-74">
            <a:extLst>
              <a:ext uri="{FF2B5EF4-FFF2-40B4-BE49-F238E27FC236}">
                <a16:creationId xmlns:a16="http://schemas.microsoft.com/office/drawing/2014/main" id="{2BC5B753-7FFA-37D7-13AF-FC61B123F62F}"/>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비전략 상품 운영</a:t>
            </a:r>
            <a:endParaRPr lang="ko-KR" sz="1100" dirty="0"/>
          </a:p>
        </p:txBody>
      </p:sp>
      <p:sp>
        <p:nvSpPr>
          <p:cNvPr id="16" name="node-84">
            <a:extLst>
              <a:ext uri="{FF2B5EF4-FFF2-40B4-BE49-F238E27FC236}">
                <a16:creationId xmlns:a16="http://schemas.microsoft.com/office/drawing/2014/main" id="{26DB7FED-8EDB-AD68-DE1E-0FA3033EFAC7}"/>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17" name="text-85">
            <a:extLst>
              <a:ext uri="{FF2B5EF4-FFF2-40B4-BE49-F238E27FC236}">
                <a16:creationId xmlns:a16="http://schemas.microsoft.com/office/drawing/2014/main" id="{8C794726-05A7-C862-F3A4-32F645DD3A18}"/>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dirty="0" err="1">
                <a:solidFill>
                  <a:srgbClr val="004F9F"/>
                </a:solidFill>
                <a:latin typeface="에이투지체 6 SemiBold"/>
                <a:ea typeface="에이투지체 6 SemiBold"/>
                <a:cs typeface="에이투지체 6 SemiBold"/>
              </a:rPr>
              <a:t>FGO의</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성과를</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유지하면서</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브랜드스토어에서</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다음</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히어로</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상품을</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만듭니다</a:t>
            </a:r>
            <a:endParaRPr sz="1358" dirty="0">
              <a:solidFill>
                <a:srgbClr val="FFFFFF"/>
              </a:solidFill>
              <a:latin typeface="에이투지체 6 SemiBold"/>
              <a:ea typeface="에이투지체 6 SemiBold"/>
              <a:cs typeface="에이투지체 6 SemiBold"/>
            </a:endParaRPr>
          </a:p>
        </p:txBody>
      </p:sp>
      <p:sp>
        <p:nvSpPr>
          <p:cNvPr id="23" name="Rectangle 22"/>
          <p:cNvSpPr/>
          <p:nvPr/>
        </p:nvSpPr>
        <p:spPr>
          <a:xfrm>
            <a:off x="548640" y="2103120"/>
            <a:ext cx="5669280" cy="3291840"/>
          </a:xfrm>
          <a:prstGeom prst="roundRect">
            <a:avLst>
              <a:gd name="adj" fmla="val 2222"/>
            </a:avLst>
          </a:prstGeom>
          <a:solidFill>
            <a:srgbClr val="FFFFFF"/>
          </a:solidFill>
          <a:ln w="12700">
            <a:solidFill>
              <a:srgbClr val="D0D0D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48640" y="2103120"/>
            <a:ext cx="5669280" cy="3291840"/>
          </a:xfrm>
          <a:prstGeom prst="rect">
            <a:avLst/>
          </a:prstGeom>
          <a:noFill/>
        </p:spPr>
        <p:txBody>
          <a:bodyPr wrap="square" lIns="0" tIns="0" rIns="0" bIns="0" anchor="ctr">
            <a:spAutoFit/>
          </a:bodyPr>
          <a:lstStyle/>
          <a:p>
            <a:pPr algn="ctr">
              <a:spcAft>
                <a:spcPts val="300"/>
              </a:spcAft>
            </a:pPr>
            <a:r>
              <a:rPr sz="1300">
                <a:solidFill>
                  <a:srgbClr val="919191"/>
                </a:solidFill>
                <a:latin typeface="에이투지체 6 SemiBold"/>
                <a:ea typeface="에이투지체 6 SemiBold"/>
              </a:rPr>
              <a:t>소재</a:t>
            </a:r>
          </a:p>
        </p:txBody>
      </p:sp>
      <p:sp>
        <p:nvSpPr>
          <p:cNvPr id="25" name="TextBox 24"/>
          <p:cNvSpPr txBox="1"/>
          <p:nvPr/>
        </p:nvSpPr>
        <p:spPr>
          <a:xfrm>
            <a:off x="6583680" y="2103120"/>
            <a:ext cx="5029200" cy="320040"/>
          </a:xfrm>
          <a:prstGeom prst="rect">
            <a:avLst/>
          </a:prstGeom>
          <a:noFill/>
        </p:spPr>
        <p:txBody>
          <a:bodyPr wrap="square" lIns="0" tIns="0" rIns="0" bIns="0" anchor="t">
            <a:spAutoFit/>
          </a:bodyPr>
          <a:lstStyle/>
          <a:p>
            <a:pPr algn="l">
              <a:spcAft>
                <a:spcPts val="300"/>
              </a:spcAft>
            </a:pPr>
            <a:r>
              <a:rPr sz="1500">
                <a:solidFill>
                  <a:srgbClr val="004F9F"/>
                </a:solidFill>
                <a:latin typeface="에이투지체 6 SemiBold"/>
                <a:ea typeface="에이투지체 6 SemiBold"/>
              </a:rPr>
              <a:t>비전략 상품 운영</a:t>
            </a:r>
          </a:p>
        </p:txBody>
      </p:sp>
      <p:sp>
        <p:nvSpPr>
          <p:cNvPr id="26" name="Rectangle 25"/>
          <p:cNvSpPr/>
          <p:nvPr/>
        </p:nvSpPr>
        <p:spPr>
          <a:xfrm>
            <a:off x="6583680" y="2560320"/>
            <a:ext cx="5029200" cy="841248"/>
          </a:xfrm>
          <a:prstGeom prst="roundRect">
            <a:avLst>
              <a:gd name="adj" fmla="val 869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720840" y="2560320"/>
            <a:ext cx="457200" cy="841248"/>
          </a:xfrm>
          <a:prstGeom prst="rect">
            <a:avLst/>
          </a:prstGeom>
          <a:noFill/>
        </p:spPr>
        <p:txBody>
          <a:bodyPr wrap="square" lIns="0" tIns="0" rIns="0" bIns="0" anchor="ctr">
            <a:spAutoFit/>
          </a:bodyPr>
          <a:lstStyle/>
          <a:p>
            <a:pPr algn="l">
              <a:spcAft>
                <a:spcPts val="300"/>
              </a:spcAft>
            </a:pPr>
            <a:r>
              <a:rPr sz="1500">
                <a:solidFill>
                  <a:srgbClr val="004F9F"/>
                </a:solidFill>
                <a:latin typeface="에이투지체 8 ExtraBold"/>
                <a:ea typeface="에이투지체 8 ExtraBold"/>
              </a:rPr>
              <a:t>01</a:t>
            </a:r>
          </a:p>
        </p:txBody>
      </p:sp>
      <p:sp>
        <p:nvSpPr>
          <p:cNvPr id="28" name="TextBox 27"/>
          <p:cNvSpPr txBox="1"/>
          <p:nvPr/>
        </p:nvSpPr>
        <p:spPr>
          <a:xfrm>
            <a:off x="7223760" y="2596896"/>
            <a:ext cx="4297680" cy="786384"/>
          </a:xfrm>
          <a:prstGeom prst="rect">
            <a:avLst/>
          </a:prstGeom>
          <a:noFill/>
        </p:spPr>
        <p:txBody>
          <a:bodyPr wrap="square" lIns="0" tIns="0" rIns="0" bIns="0" anchor="ctr">
            <a:spAutoFit/>
          </a:bodyPr>
          <a:lstStyle/>
          <a:p>
            <a:pPr algn="l">
              <a:spcAft>
                <a:spcPts val="100"/>
              </a:spcAft>
            </a:pPr>
            <a:r>
              <a:rPr sz="1250" dirty="0" err="1">
                <a:solidFill>
                  <a:srgbClr val="222222"/>
                </a:solidFill>
                <a:latin typeface="에이투지체 6 SemiBold"/>
                <a:ea typeface="에이투지체 6 SemiBold"/>
              </a:rPr>
              <a:t>행사</a:t>
            </a:r>
            <a:r>
              <a:rPr sz="1250" dirty="0">
                <a:solidFill>
                  <a:srgbClr val="222222"/>
                </a:solidFill>
                <a:latin typeface="에이투지체 6 SemiBold"/>
                <a:ea typeface="에이투지체 6 SemiBold"/>
              </a:rPr>
              <a:t> </a:t>
            </a:r>
            <a:r>
              <a:rPr sz="1250" dirty="0" err="1">
                <a:solidFill>
                  <a:srgbClr val="222222"/>
                </a:solidFill>
                <a:latin typeface="에이투지체 6 SemiBold"/>
                <a:ea typeface="에이투지체 6 SemiBold"/>
              </a:rPr>
              <a:t>밖에서도</a:t>
            </a:r>
            <a:r>
              <a:rPr sz="1250" dirty="0">
                <a:solidFill>
                  <a:srgbClr val="222222"/>
                </a:solidFill>
                <a:latin typeface="에이투지체 6 SemiBold"/>
                <a:ea typeface="에이투지체 6 SemiBold"/>
              </a:rPr>
              <a:t> </a:t>
            </a:r>
            <a:r>
              <a:rPr sz="1250" dirty="0" err="1">
                <a:solidFill>
                  <a:srgbClr val="222222"/>
                </a:solidFill>
                <a:latin typeface="에이투지체 6 SemiBold"/>
                <a:ea typeface="에이투지체 6 SemiBold"/>
              </a:rPr>
              <a:t>상시</a:t>
            </a:r>
            <a:r>
              <a:rPr sz="1250" dirty="0">
                <a:solidFill>
                  <a:srgbClr val="222222"/>
                </a:solidFill>
                <a:latin typeface="에이투지체 6 SemiBold"/>
                <a:ea typeface="에이투지체 6 SemiBold"/>
              </a:rPr>
              <a:t> </a:t>
            </a:r>
            <a:r>
              <a:rPr sz="1250" dirty="0" err="1">
                <a:solidFill>
                  <a:srgbClr val="222222"/>
                </a:solidFill>
                <a:latin typeface="에이투지체 6 SemiBold"/>
                <a:ea typeface="에이투지체 6 SemiBold"/>
              </a:rPr>
              <a:t>운영</a:t>
            </a:r>
            <a:endParaRPr sz="1250" dirty="0">
              <a:solidFill>
                <a:srgbClr val="222222"/>
              </a:solidFill>
              <a:latin typeface="에이투지체 6 SemiBold"/>
              <a:ea typeface="에이투지체 6 SemiBold"/>
            </a:endParaRPr>
          </a:p>
          <a:p>
            <a:pPr algn="l">
              <a:spcAft>
                <a:spcPts val="100"/>
              </a:spcAft>
            </a:pPr>
            <a:r>
              <a:rPr sz="1000" dirty="0" err="1">
                <a:solidFill>
                  <a:srgbClr val="5C5C5C"/>
                </a:solidFill>
                <a:latin typeface="에이투지체 4 Regular"/>
                <a:ea typeface="에이투지체 4 Regular"/>
              </a:rPr>
              <a:t>지금은</a:t>
            </a:r>
            <a:r>
              <a:rPr sz="1000" dirty="0">
                <a:solidFill>
                  <a:srgbClr val="5C5C5C"/>
                </a:solidFill>
                <a:latin typeface="에이투지체 4 Regular"/>
                <a:ea typeface="에이투지체 4 Regular"/>
              </a:rPr>
              <a:t> </a:t>
            </a:r>
            <a:r>
              <a:rPr sz="1000" dirty="0" err="1">
                <a:solidFill>
                  <a:srgbClr val="5C5C5C"/>
                </a:solidFill>
                <a:latin typeface="에이투지체 4 Regular"/>
                <a:ea typeface="에이투지체 4 Regular"/>
              </a:rPr>
              <a:t>행사</a:t>
            </a:r>
            <a:r>
              <a:rPr sz="1000" dirty="0">
                <a:solidFill>
                  <a:srgbClr val="5C5C5C"/>
                </a:solidFill>
                <a:latin typeface="에이투지체 4 Regular"/>
                <a:ea typeface="에이투지체 4 Regular"/>
              </a:rPr>
              <a:t> </a:t>
            </a:r>
            <a:r>
              <a:rPr sz="1000" dirty="0" err="1">
                <a:solidFill>
                  <a:srgbClr val="5C5C5C"/>
                </a:solidFill>
                <a:latin typeface="에이투지체 4 Regular"/>
                <a:ea typeface="에이투지체 4 Regular"/>
              </a:rPr>
              <a:t>때만</a:t>
            </a:r>
            <a:r>
              <a:rPr sz="1000" dirty="0">
                <a:solidFill>
                  <a:srgbClr val="5C5C5C"/>
                </a:solidFill>
                <a:latin typeface="에이투지체 4 Regular"/>
                <a:ea typeface="에이투지체 4 Regular"/>
              </a:rPr>
              <a:t> </a:t>
            </a:r>
            <a:r>
              <a:rPr sz="1000" dirty="0" err="1">
                <a:solidFill>
                  <a:srgbClr val="5C5C5C"/>
                </a:solidFill>
                <a:latin typeface="에이투지체 4 Regular"/>
                <a:ea typeface="에이투지체 4 Regular"/>
              </a:rPr>
              <a:t>노출</a:t>
            </a:r>
            <a:r>
              <a:rPr sz="1000" dirty="0">
                <a:solidFill>
                  <a:srgbClr val="5C5C5C"/>
                </a:solidFill>
                <a:latin typeface="에이투지체 4 Regular"/>
                <a:ea typeface="에이투지체 4 Regular"/>
              </a:rPr>
              <a:t> → </a:t>
            </a:r>
            <a:r>
              <a:rPr sz="1000" dirty="0" err="1">
                <a:solidFill>
                  <a:srgbClr val="5C5C5C"/>
                </a:solidFill>
                <a:latin typeface="에이투지체 4 Regular"/>
                <a:ea typeface="에이투지체 4 Regular"/>
              </a:rPr>
              <a:t>상품군</a:t>
            </a:r>
            <a:r>
              <a:rPr sz="1000" dirty="0">
                <a:solidFill>
                  <a:srgbClr val="5C5C5C"/>
                </a:solidFill>
                <a:latin typeface="에이투지체 4 Regular"/>
                <a:ea typeface="에이투지체 4 Regular"/>
              </a:rPr>
              <a:t> </a:t>
            </a:r>
            <a:r>
              <a:rPr sz="1000" dirty="0" err="1">
                <a:solidFill>
                  <a:srgbClr val="5C5C5C"/>
                </a:solidFill>
                <a:latin typeface="에이투지체 4 Regular"/>
                <a:ea typeface="에이투지체 4 Regular"/>
              </a:rPr>
              <a:t>상시</a:t>
            </a:r>
            <a:r>
              <a:rPr sz="1000" dirty="0">
                <a:solidFill>
                  <a:srgbClr val="5C5C5C"/>
                </a:solidFill>
                <a:latin typeface="에이투지체 4 Regular"/>
                <a:ea typeface="에이투지체 4 Regular"/>
              </a:rPr>
              <a:t> </a:t>
            </a:r>
            <a:r>
              <a:rPr sz="1000" dirty="0" err="1">
                <a:solidFill>
                  <a:srgbClr val="5C5C5C"/>
                </a:solidFill>
                <a:latin typeface="에이투지체 4 Regular"/>
                <a:ea typeface="에이투지체 4 Regular"/>
              </a:rPr>
              <a:t>캠페인으로</a:t>
            </a:r>
            <a:r>
              <a:rPr sz="1000" dirty="0">
                <a:solidFill>
                  <a:srgbClr val="5C5C5C"/>
                </a:solidFill>
                <a:latin typeface="에이투지체 4 Regular"/>
                <a:ea typeface="에이투지체 4 Regular"/>
              </a:rPr>
              <a:t> </a:t>
            </a:r>
            <a:r>
              <a:rPr sz="1000" dirty="0" err="1">
                <a:solidFill>
                  <a:srgbClr val="5C5C5C"/>
                </a:solidFill>
                <a:latin typeface="에이투지체 4 Regular"/>
                <a:ea typeface="에이투지체 4 Regular"/>
              </a:rPr>
              <a:t>학습</a:t>
            </a:r>
            <a:r>
              <a:rPr sz="1000" dirty="0">
                <a:solidFill>
                  <a:srgbClr val="5C5C5C"/>
                </a:solidFill>
                <a:latin typeface="에이투지체 4 Regular"/>
                <a:ea typeface="에이투지체 4 Regular"/>
              </a:rPr>
              <a:t> </a:t>
            </a:r>
            <a:r>
              <a:rPr sz="1000" dirty="0" err="1">
                <a:solidFill>
                  <a:srgbClr val="5C5C5C"/>
                </a:solidFill>
                <a:latin typeface="에이투지체 4 Regular"/>
                <a:ea typeface="에이투지체 4 Regular"/>
              </a:rPr>
              <a:t>유지</a:t>
            </a:r>
            <a:endParaRPr sz="1000" dirty="0">
              <a:solidFill>
                <a:srgbClr val="5C5C5C"/>
              </a:solidFill>
              <a:latin typeface="에이투지체 4 Regular"/>
              <a:ea typeface="에이투지체 4 Regular"/>
            </a:endParaRPr>
          </a:p>
          <a:p>
            <a:pPr algn="l">
              <a:spcAft>
                <a:spcPts val="100"/>
              </a:spcAft>
            </a:pPr>
            <a:r>
              <a:rPr sz="1000" dirty="0">
                <a:solidFill>
                  <a:srgbClr val="004F9F"/>
                </a:solidFill>
                <a:latin typeface="에이투지체 6 SemiBold"/>
                <a:ea typeface="에이투지체 6 SemiBold"/>
              </a:rPr>
              <a:t>FGO </a:t>
            </a:r>
            <a:r>
              <a:rPr sz="1000" dirty="0" err="1">
                <a:solidFill>
                  <a:srgbClr val="004F9F"/>
                </a:solidFill>
                <a:latin typeface="에이투지체 6 SemiBold"/>
                <a:ea typeface="에이투지체 6 SemiBold"/>
              </a:rPr>
              <a:t>상시</a:t>
            </a:r>
            <a:r>
              <a:rPr sz="1000" dirty="0">
                <a:solidFill>
                  <a:srgbClr val="004F9F"/>
                </a:solidFill>
                <a:latin typeface="에이투지체 6 SemiBold"/>
                <a:ea typeface="에이투지체 6 SemiBold"/>
              </a:rPr>
              <a:t> </a:t>
            </a:r>
            <a:r>
              <a:rPr sz="1000" dirty="0" err="1">
                <a:solidFill>
                  <a:srgbClr val="004F9F"/>
                </a:solidFill>
                <a:latin typeface="에이투지체 6 SemiBold"/>
                <a:ea typeface="에이투지체 6 SemiBold"/>
              </a:rPr>
              <a:t>소재</a:t>
            </a:r>
            <a:r>
              <a:rPr sz="1000" dirty="0">
                <a:solidFill>
                  <a:srgbClr val="004F9F"/>
                </a:solidFill>
                <a:latin typeface="에이투지체 6 SemiBold"/>
                <a:ea typeface="에이투지체 6 SemiBold"/>
              </a:rPr>
              <a:t> 409% vs </a:t>
            </a:r>
            <a:r>
              <a:rPr sz="1000" dirty="0" err="1">
                <a:solidFill>
                  <a:srgbClr val="004F9F"/>
                </a:solidFill>
                <a:latin typeface="에이투지체 6 SemiBold"/>
                <a:ea typeface="에이투지체 6 SemiBold"/>
              </a:rPr>
              <a:t>프로모션</a:t>
            </a:r>
            <a:r>
              <a:rPr sz="1000" dirty="0">
                <a:solidFill>
                  <a:srgbClr val="004F9F"/>
                </a:solidFill>
                <a:latin typeface="에이투지체 6 SemiBold"/>
                <a:ea typeface="에이투지체 6 SemiBold"/>
              </a:rPr>
              <a:t> 200%</a:t>
            </a:r>
          </a:p>
        </p:txBody>
      </p:sp>
      <p:sp>
        <p:nvSpPr>
          <p:cNvPr id="29" name="Rectangle 28"/>
          <p:cNvSpPr/>
          <p:nvPr/>
        </p:nvSpPr>
        <p:spPr>
          <a:xfrm>
            <a:off x="6583680" y="3520439"/>
            <a:ext cx="5029200" cy="841248"/>
          </a:xfrm>
          <a:prstGeom prst="roundRect">
            <a:avLst>
              <a:gd name="adj" fmla="val 869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720840" y="3520439"/>
            <a:ext cx="457200" cy="841248"/>
          </a:xfrm>
          <a:prstGeom prst="rect">
            <a:avLst/>
          </a:prstGeom>
          <a:noFill/>
        </p:spPr>
        <p:txBody>
          <a:bodyPr wrap="square" lIns="0" tIns="0" rIns="0" bIns="0" anchor="ctr">
            <a:spAutoFit/>
          </a:bodyPr>
          <a:lstStyle/>
          <a:p>
            <a:pPr algn="l">
              <a:spcAft>
                <a:spcPts val="300"/>
              </a:spcAft>
            </a:pPr>
            <a:r>
              <a:rPr sz="1500">
                <a:solidFill>
                  <a:srgbClr val="004F9F"/>
                </a:solidFill>
                <a:latin typeface="에이투지체 8 ExtraBold"/>
                <a:ea typeface="에이투지체 8 ExtraBold"/>
              </a:rPr>
              <a:t>02</a:t>
            </a:r>
          </a:p>
        </p:txBody>
      </p:sp>
      <p:sp>
        <p:nvSpPr>
          <p:cNvPr id="31" name="TextBox 30"/>
          <p:cNvSpPr txBox="1"/>
          <p:nvPr/>
        </p:nvSpPr>
        <p:spPr>
          <a:xfrm>
            <a:off x="7223760" y="3687314"/>
            <a:ext cx="4297680" cy="525785"/>
          </a:xfrm>
          <a:prstGeom prst="rect">
            <a:avLst/>
          </a:prstGeom>
          <a:noFill/>
        </p:spPr>
        <p:txBody>
          <a:bodyPr wrap="square" lIns="0" tIns="0" rIns="0" bIns="0" anchor="ctr">
            <a:spAutoFit/>
          </a:bodyPr>
          <a:lstStyle/>
          <a:p>
            <a:pPr algn="l">
              <a:spcAft>
                <a:spcPts val="100"/>
              </a:spcAft>
            </a:pPr>
            <a:r>
              <a:rPr sz="1250" dirty="0" err="1">
                <a:solidFill>
                  <a:srgbClr val="222222"/>
                </a:solidFill>
                <a:latin typeface="에이투지체 6 SemiBold"/>
                <a:ea typeface="에이투지체 6 SemiBold"/>
              </a:rPr>
              <a:t>브랜드스토어에서</a:t>
            </a:r>
            <a:r>
              <a:rPr sz="1250" dirty="0">
                <a:solidFill>
                  <a:srgbClr val="222222"/>
                </a:solidFill>
                <a:latin typeface="에이투지체 6 SemiBold"/>
                <a:ea typeface="에이투지체 6 SemiBold"/>
              </a:rPr>
              <a:t> 살 </a:t>
            </a:r>
            <a:r>
              <a:rPr sz="1250" dirty="0" err="1">
                <a:solidFill>
                  <a:srgbClr val="222222"/>
                </a:solidFill>
                <a:latin typeface="에이투지체 6 SemiBold"/>
                <a:ea typeface="에이투지체 6 SemiBold"/>
              </a:rPr>
              <a:t>이유</a:t>
            </a:r>
            <a:endParaRPr sz="1250" dirty="0">
              <a:solidFill>
                <a:srgbClr val="222222"/>
              </a:solidFill>
              <a:latin typeface="에이투지체 6 SemiBold"/>
              <a:ea typeface="에이투지체 6 SemiBold"/>
            </a:endParaRPr>
          </a:p>
          <a:p>
            <a:pPr algn="l">
              <a:spcAft>
                <a:spcPts val="100"/>
              </a:spcAft>
            </a:pPr>
            <a:r>
              <a:rPr sz="1000" dirty="0" err="1">
                <a:solidFill>
                  <a:srgbClr val="5C5C5C"/>
                </a:solidFill>
                <a:latin typeface="에이투지체 4 Regular"/>
                <a:ea typeface="에이투지체 4 Regular"/>
              </a:rPr>
              <a:t>N배송</a:t>
            </a:r>
            <a:r>
              <a:rPr sz="1000" dirty="0">
                <a:solidFill>
                  <a:srgbClr val="5C5C5C"/>
                </a:solidFill>
                <a:latin typeface="에이투지체 4 Regular"/>
                <a:ea typeface="에이투지체 4 Regular"/>
              </a:rPr>
              <a:t> · </a:t>
            </a:r>
            <a:r>
              <a:rPr sz="1000" dirty="0" err="1">
                <a:solidFill>
                  <a:srgbClr val="5C5C5C"/>
                </a:solidFill>
                <a:latin typeface="에이투지체 4 Regular"/>
                <a:ea typeface="에이투지체 4 Regular"/>
              </a:rPr>
              <a:t>N페이</a:t>
            </a:r>
            <a:r>
              <a:rPr sz="1000" dirty="0">
                <a:solidFill>
                  <a:srgbClr val="5C5C5C"/>
                </a:solidFill>
                <a:latin typeface="에이투지체 4 Regular"/>
                <a:ea typeface="에이투지체 4 Regular"/>
              </a:rPr>
              <a:t> </a:t>
            </a:r>
            <a:r>
              <a:rPr sz="1000" dirty="0" err="1">
                <a:solidFill>
                  <a:srgbClr val="5C5C5C"/>
                </a:solidFill>
                <a:latin typeface="에이투지체 4 Regular"/>
                <a:ea typeface="에이투지체 4 Regular"/>
              </a:rPr>
              <a:t>적립</a:t>
            </a:r>
            <a:r>
              <a:rPr sz="1000" dirty="0">
                <a:solidFill>
                  <a:srgbClr val="5C5C5C"/>
                </a:solidFill>
                <a:latin typeface="에이투지체 4 Regular"/>
                <a:ea typeface="에이투지체 4 Regular"/>
              </a:rPr>
              <a:t> · </a:t>
            </a:r>
            <a:r>
              <a:rPr sz="1000" dirty="0" err="1">
                <a:solidFill>
                  <a:srgbClr val="5C5C5C"/>
                </a:solidFill>
                <a:latin typeface="에이투지체 4 Regular"/>
                <a:ea typeface="에이투지체 4 Regular"/>
              </a:rPr>
              <a:t>전용</a:t>
            </a:r>
            <a:r>
              <a:rPr sz="1000" dirty="0">
                <a:solidFill>
                  <a:srgbClr val="5C5C5C"/>
                </a:solidFill>
                <a:latin typeface="에이투지체 4 Regular"/>
                <a:ea typeface="에이투지체 4 Regular"/>
              </a:rPr>
              <a:t> </a:t>
            </a:r>
            <a:r>
              <a:rPr sz="1000" dirty="0" err="1">
                <a:solidFill>
                  <a:srgbClr val="5C5C5C"/>
                </a:solidFill>
                <a:latin typeface="에이투지체 4 Regular"/>
                <a:ea typeface="에이투지체 4 Regular"/>
              </a:rPr>
              <a:t>구성</a:t>
            </a:r>
            <a:r>
              <a:rPr sz="1000" dirty="0">
                <a:solidFill>
                  <a:srgbClr val="5C5C5C"/>
                </a:solidFill>
                <a:latin typeface="에이투지체 4 Regular"/>
                <a:ea typeface="에이투지체 4 Regular"/>
              </a:rPr>
              <a:t>(</a:t>
            </a:r>
            <a:r>
              <a:rPr sz="1000" dirty="0" err="1">
                <a:solidFill>
                  <a:srgbClr val="5C5C5C"/>
                </a:solidFill>
                <a:latin typeface="에이투지체 4 Regular"/>
                <a:ea typeface="에이투지체 4 Regular"/>
              </a:rPr>
              <a:t>패키지</a:t>
            </a:r>
            <a:r>
              <a:rPr sz="1000" dirty="0">
                <a:solidFill>
                  <a:srgbClr val="5C5C5C"/>
                </a:solidFill>
                <a:latin typeface="에이투지체 4 Regular"/>
                <a:ea typeface="에이투지체 4 Regular"/>
              </a:rPr>
              <a:t> · </a:t>
            </a:r>
            <a:r>
              <a:rPr sz="1000" dirty="0" err="1">
                <a:solidFill>
                  <a:srgbClr val="5C5C5C"/>
                </a:solidFill>
                <a:latin typeface="에이투지체 4 Regular"/>
                <a:ea typeface="에이투지체 4 Regular"/>
              </a:rPr>
              <a:t>사은품</a:t>
            </a:r>
            <a:r>
              <a:rPr sz="1000" dirty="0">
                <a:solidFill>
                  <a:srgbClr val="5C5C5C"/>
                </a:solidFill>
                <a:latin typeface="에이투지체 4 Regular"/>
                <a:ea typeface="에이투지체 4 Regular"/>
              </a:rPr>
              <a:t>)을 </a:t>
            </a:r>
            <a:r>
              <a:rPr sz="1000" dirty="0" err="1">
                <a:solidFill>
                  <a:srgbClr val="5C5C5C"/>
                </a:solidFill>
                <a:latin typeface="에이투지체 4 Regular"/>
                <a:ea typeface="에이투지체 4 Regular"/>
              </a:rPr>
              <a:t>소재</a:t>
            </a:r>
            <a:r>
              <a:rPr sz="1000" dirty="0">
                <a:solidFill>
                  <a:srgbClr val="5C5C5C"/>
                </a:solidFill>
                <a:latin typeface="에이투지체 4 Regular"/>
                <a:ea typeface="에이투지체 4 Regular"/>
              </a:rPr>
              <a:t> </a:t>
            </a:r>
            <a:r>
              <a:rPr sz="1000" dirty="0" err="1">
                <a:solidFill>
                  <a:srgbClr val="5C5C5C"/>
                </a:solidFill>
                <a:latin typeface="에이투지체 4 Regular"/>
                <a:ea typeface="에이투지체 4 Regular"/>
              </a:rPr>
              <a:t>전면</a:t>
            </a:r>
            <a:r>
              <a:rPr lang="en-US" sz="1000" dirty="0">
                <a:solidFill>
                  <a:srgbClr val="5C5C5C"/>
                </a:solidFill>
                <a:latin typeface="에이투지체 4 Regular"/>
                <a:ea typeface="에이투지체 4 Regular"/>
              </a:rPr>
              <a:t> </a:t>
            </a:r>
            <a:r>
              <a:rPr lang="ko-KR" altLang="en-US" sz="1000" dirty="0">
                <a:solidFill>
                  <a:srgbClr val="5C5C5C"/>
                </a:solidFill>
                <a:latin typeface="에이투지체 4 Regular"/>
                <a:ea typeface="에이투지체 4 Regular"/>
              </a:rPr>
              <a:t>노출</a:t>
            </a:r>
            <a:endParaRPr sz="1000" dirty="0">
              <a:solidFill>
                <a:srgbClr val="5C5C5C"/>
              </a:solidFill>
              <a:latin typeface="에이투지체 4 Regular"/>
              <a:ea typeface="에이투지체 4 Regular"/>
            </a:endParaRPr>
          </a:p>
          <a:p>
            <a:pPr algn="l">
              <a:spcAft>
                <a:spcPts val="100"/>
              </a:spcAft>
            </a:pPr>
            <a:r>
              <a:rPr sz="1000" dirty="0" err="1">
                <a:solidFill>
                  <a:srgbClr val="004F9F"/>
                </a:solidFill>
                <a:latin typeface="에이투지체 6 SemiBold"/>
                <a:ea typeface="에이투지체 6 SemiBold"/>
              </a:rPr>
              <a:t>가격</a:t>
            </a:r>
            <a:r>
              <a:rPr sz="1000" dirty="0">
                <a:solidFill>
                  <a:srgbClr val="004F9F"/>
                </a:solidFill>
                <a:latin typeface="에이투지체 6 SemiBold"/>
                <a:ea typeface="에이투지체 6 SemiBold"/>
              </a:rPr>
              <a:t> </a:t>
            </a:r>
            <a:r>
              <a:rPr sz="1000" dirty="0" err="1">
                <a:solidFill>
                  <a:srgbClr val="004F9F"/>
                </a:solidFill>
                <a:latin typeface="에이투지체 6 SemiBold"/>
                <a:ea typeface="에이투지체 6 SemiBold"/>
              </a:rPr>
              <a:t>비교에서</a:t>
            </a:r>
            <a:r>
              <a:rPr sz="1000" dirty="0">
                <a:solidFill>
                  <a:srgbClr val="004F9F"/>
                </a:solidFill>
                <a:latin typeface="에이투지체 6 SemiBold"/>
                <a:ea typeface="에이투지체 6 SemiBold"/>
              </a:rPr>
              <a:t> </a:t>
            </a:r>
            <a:r>
              <a:rPr sz="1000" dirty="0" err="1">
                <a:solidFill>
                  <a:srgbClr val="004F9F"/>
                </a:solidFill>
                <a:latin typeface="에이투지체 6 SemiBold"/>
                <a:ea typeface="에이투지체 6 SemiBold"/>
              </a:rPr>
              <a:t>벗어나</a:t>
            </a:r>
            <a:r>
              <a:rPr sz="1000" dirty="0">
                <a:solidFill>
                  <a:srgbClr val="004F9F"/>
                </a:solidFill>
                <a:latin typeface="에이투지체 6 SemiBold"/>
                <a:ea typeface="에이투지체 6 SemiBold"/>
              </a:rPr>
              <a:t> </a:t>
            </a:r>
            <a:r>
              <a:rPr sz="1000" dirty="0" err="1">
                <a:solidFill>
                  <a:srgbClr val="004F9F"/>
                </a:solidFill>
                <a:latin typeface="에이투지체 6 SemiBold"/>
                <a:ea typeface="에이투지체 6 SemiBold"/>
              </a:rPr>
              <a:t>이탈</a:t>
            </a:r>
            <a:r>
              <a:rPr sz="1000" dirty="0">
                <a:solidFill>
                  <a:srgbClr val="004F9F"/>
                </a:solidFill>
                <a:latin typeface="에이투지체 6 SemiBold"/>
                <a:ea typeface="에이투지체 6 SemiBold"/>
              </a:rPr>
              <a:t> </a:t>
            </a:r>
            <a:r>
              <a:rPr sz="1000" dirty="0" err="1">
                <a:solidFill>
                  <a:srgbClr val="004F9F"/>
                </a:solidFill>
                <a:latin typeface="에이투지체 6 SemiBold"/>
                <a:ea typeface="에이투지체 6 SemiBold"/>
              </a:rPr>
              <a:t>방어</a:t>
            </a:r>
            <a:endParaRPr sz="1000" dirty="0">
              <a:solidFill>
                <a:srgbClr val="004F9F"/>
              </a:solidFill>
              <a:latin typeface="에이투지체 6 SemiBold"/>
              <a:ea typeface="에이투지체 6 SemiBold"/>
            </a:endParaRPr>
          </a:p>
        </p:txBody>
      </p:sp>
      <p:sp>
        <p:nvSpPr>
          <p:cNvPr id="32" name="Rectangle 31"/>
          <p:cNvSpPr/>
          <p:nvPr/>
        </p:nvSpPr>
        <p:spPr>
          <a:xfrm>
            <a:off x="6583680" y="4480560"/>
            <a:ext cx="5029200" cy="841248"/>
          </a:xfrm>
          <a:prstGeom prst="roundRect">
            <a:avLst>
              <a:gd name="adj" fmla="val 869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720840" y="4480560"/>
            <a:ext cx="457200" cy="841248"/>
          </a:xfrm>
          <a:prstGeom prst="rect">
            <a:avLst/>
          </a:prstGeom>
          <a:noFill/>
        </p:spPr>
        <p:txBody>
          <a:bodyPr wrap="square" lIns="0" tIns="0" rIns="0" bIns="0" anchor="ctr">
            <a:spAutoFit/>
          </a:bodyPr>
          <a:lstStyle/>
          <a:p>
            <a:pPr algn="l">
              <a:spcAft>
                <a:spcPts val="300"/>
              </a:spcAft>
            </a:pPr>
            <a:r>
              <a:rPr sz="1500">
                <a:solidFill>
                  <a:srgbClr val="004F9F"/>
                </a:solidFill>
                <a:latin typeface="에이투지체 8 ExtraBold"/>
                <a:ea typeface="에이투지체 8 ExtraBold"/>
              </a:rPr>
              <a:t>03</a:t>
            </a:r>
          </a:p>
        </p:txBody>
      </p:sp>
      <p:sp>
        <p:nvSpPr>
          <p:cNvPr id="34" name="TextBox 33"/>
          <p:cNvSpPr txBox="1"/>
          <p:nvPr/>
        </p:nvSpPr>
        <p:spPr>
          <a:xfrm>
            <a:off x="7223760" y="4517136"/>
            <a:ext cx="4297680" cy="786384"/>
          </a:xfrm>
          <a:prstGeom prst="rect">
            <a:avLst/>
          </a:prstGeom>
          <a:noFill/>
        </p:spPr>
        <p:txBody>
          <a:bodyPr wrap="square" lIns="0" tIns="0" rIns="0" bIns="0" anchor="ctr">
            <a:spAutoFit/>
          </a:bodyPr>
          <a:lstStyle/>
          <a:p>
            <a:pPr algn="l">
              <a:spcAft>
                <a:spcPts val="100"/>
              </a:spcAft>
            </a:pPr>
            <a:r>
              <a:rPr sz="1250" dirty="0" err="1">
                <a:solidFill>
                  <a:srgbClr val="222222"/>
                </a:solidFill>
                <a:latin typeface="에이투지체 6 SemiBold"/>
                <a:ea typeface="에이투지체 6 SemiBold"/>
              </a:rPr>
              <a:t>좁고</a:t>
            </a:r>
            <a:r>
              <a:rPr sz="1250" dirty="0">
                <a:solidFill>
                  <a:srgbClr val="222222"/>
                </a:solidFill>
                <a:latin typeface="에이투지체 6 SemiBold"/>
                <a:ea typeface="에이투지체 6 SemiBold"/>
              </a:rPr>
              <a:t> </a:t>
            </a:r>
            <a:r>
              <a:rPr sz="1250" dirty="0" err="1">
                <a:solidFill>
                  <a:srgbClr val="222222"/>
                </a:solidFill>
                <a:latin typeface="에이투지체 6 SemiBold"/>
                <a:ea typeface="에이투지체 6 SemiBold"/>
              </a:rPr>
              <a:t>깊은</a:t>
            </a:r>
            <a:r>
              <a:rPr sz="1250" dirty="0">
                <a:solidFill>
                  <a:srgbClr val="222222"/>
                </a:solidFill>
                <a:latin typeface="에이투지체 6 SemiBold"/>
                <a:ea typeface="에이투지체 6 SemiBold"/>
              </a:rPr>
              <a:t> </a:t>
            </a:r>
            <a:r>
              <a:rPr sz="1250" dirty="0" err="1">
                <a:solidFill>
                  <a:srgbClr val="222222"/>
                </a:solidFill>
                <a:latin typeface="에이투지체 6 SemiBold"/>
                <a:ea typeface="에이투지체 6 SemiBold"/>
              </a:rPr>
              <a:t>테스트</a:t>
            </a:r>
            <a:endParaRPr sz="1250" dirty="0">
              <a:solidFill>
                <a:srgbClr val="222222"/>
              </a:solidFill>
              <a:latin typeface="에이투지체 6 SemiBold"/>
              <a:ea typeface="에이투지체 6 SemiBold"/>
            </a:endParaRPr>
          </a:p>
          <a:p>
            <a:pPr algn="l">
              <a:spcAft>
                <a:spcPts val="100"/>
              </a:spcAft>
            </a:pPr>
            <a:r>
              <a:rPr sz="1000" dirty="0" err="1">
                <a:solidFill>
                  <a:srgbClr val="5C5C5C"/>
                </a:solidFill>
                <a:latin typeface="에이투지체 4 Regular"/>
                <a:ea typeface="에이투지체 4 Regular"/>
              </a:rPr>
              <a:t>상품</a:t>
            </a:r>
            <a:r>
              <a:rPr sz="1000" dirty="0">
                <a:solidFill>
                  <a:srgbClr val="5C5C5C"/>
                </a:solidFill>
                <a:latin typeface="에이투지체 4 Regular"/>
                <a:ea typeface="에이투지체 4 Regular"/>
              </a:rPr>
              <a:t> · </a:t>
            </a:r>
            <a:r>
              <a:rPr sz="1000" dirty="0" err="1">
                <a:solidFill>
                  <a:srgbClr val="5C5C5C"/>
                </a:solidFill>
                <a:latin typeface="에이투지체 4 Regular"/>
                <a:ea typeface="에이투지체 4 Regular"/>
              </a:rPr>
              <a:t>소재를</a:t>
            </a:r>
            <a:r>
              <a:rPr sz="1000" dirty="0">
                <a:solidFill>
                  <a:srgbClr val="5C5C5C"/>
                </a:solidFill>
                <a:latin typeface="에이투지체 4 Regular"/>
                <a:ea typeface="에이투지체 4 Regular"/>
              </a:rPr>
              <a:t> </a:t>
            </a:r>
            <a:r>
              <a:rPr sz="1000" dirty="0" err="1">
                <a:solidFill>
                  <a:srgbClr val="5C5C5C"/>
                </a:solidFill>
                <a:latin typeface="에이투지체 4 Regular"/>
                <a:ea typeface="에이투지체 4 Regular"/>
              </a:rPr>
              <a:t>압축해</a:t>
            </a:r>
            <a:r>
              <a:rPr sz="1000" dirty="0">
                <a:solidFill>
                  <a:srgbClr val="5C5C5C"/>
                </a:solidFill>
                <a:latin typeface="에이투지체 4 Regular"/>
                <a:ea typeface="에이투지체 4 Regular"/>
              </a:rPr>
              <a:t> </a:t>
            </a:r>
            <a:r>
              <a:rPr sz="1000" dirty="0" err="1">
                <a:solidFill>
                  <a:srgbClr val="5C5C5C"/>
                </a:solidFill>
                <a:latin typeface="에이투지체 4 Regular"/>
                <a:ea typeface="에이투지체 4 Regular"/>
              </a:rPr>
              <a:t>조합별</a:t>
            </a:r>
            <a:r>
              <a:rPr sz="1000" dirty="0">
                <a:solidFill>
                  <a:srgbClr val="5C5C5C"/>
                </a:solidFill>
                <a:latin typeface="에이투지체 4 Regular"/>
                <a:ea typeface="에이투지체 4 Regular"/>
              </a:rPr>
              <a:t> </a:t>
            </a:r>
            <a:r>
              <a:rPr sz="1000" dirty="0" err="1">
                <a:solidFill>
                  <a:srgbClr val="5C5C5C"/>
                </a:solidFill>
                <a:latin typeface="에이투지체 4 Regular"/>
                <a:ea typeface="에이투지체 4 Regular"/>
              </a:rPr>
              <a:t>예산을</a:t>
            </a:r>
            <a:r>
              <a:rPr sz="1000" dirty="0">
                <a:solidFill>
                  <a:srgbClr val="5C5C5C"/>
                </a:solidFill>
                <a:latin typeface="에이투지체 4 Regular"/>
                <a:ea typeface="에이투지체 4 Regular"/>
              </a:rPr>
              <a:t> </a:t>
            </a:r>
            <a:r>
              <a:rPr sz="1000" dirty="0" err="1">
                <a:solidFill>
                  <a:srgbClr val="5C5C5C"/>
                </a:solidFill>
                <a:latin typeface="에이투지체 4 Regular"/>
                <a:ea typeface="에이투지체 4 Regular"/>
              </a:rPr>
              <a:t>확보하고</a:t>
            </a:r>
            <a:r>
              <a:rPr sz="1000" dirty="0">
                <a:solidFill>
                  <a:srgbClr val="5C5C5C"/>
                </a:solidFill>
                <a:latin typeface="에이투지체 4 Regular"/>
                <a:ea typeface="에이투지체 4 Regular"/>
              </a:rPr>
              <a:t>, </a:t>
            </a:r>
            <a:r>
              <a:rPr sz="1000" dirty="0" err="1">
                <a:solidFill>
                  <a:srgbClr val="5C5C5C"/>
                </a:solidFill>
                <a:latin typeface="에이투지체 4 Regular"/>
                <a:ea typeface="에이투지체 4 Regular"/>
              </a:rPr>
              <a:t>구매</a:t>
            </a:r>
            <a:r>
              <a:rPr sz="1000" dirty="0">
                <a:solidFill>
                  <a:srgbClr val="5C5C5C"/>
                </a:solidFill>
                <a:latin typeface="에이투지체 4 Regular"/>
                <a:ea typeface="에이투지체 4 Regular"/>
              </a:rPr>
              <a:t> </a:t>
            </a:r>
            <a:r>
              <a:rPr sz="1000" dirty="0" err="1">
                <a:solidFill>
                  <a:srgbClr val="5C5C5C"/>
                </a:solidFill>
                <a:latin typeface="에이투지체 4 Regular"/>
                <a:ea typeface="에이투지체 4 Regular"/>
              </a:rPr>
              <a:t>확인</a:t>
            </a:r>
            <a:r>
              <a:rPr sz="1000" dirty="0">
                <a:solidFill>
                  <a:srgbClr val="5C5C5C"/>
                </a:solidFill>
                <a:latin typeface="에이투지체 4 Regular"/>
                <a:ea typeface="에이투지체 4 Regular"/>
              </a:rPr>
              <a:t> 후 </a:t>
            </a:r>
            <a:r>
              <a:rPr sz="1000" dirty="0" err="1">
                <a:solidFill>
                  <a:srgbClr val="5C5C5C"/>
                </a:solidFill>
                <a:latin typeface="에이투지체 4 Regular"/>
                <a:ea typeface="에이투지체 4 Regular"/>
              </a:rPr>
              <a:t>증액</a:t>
            </a:r>
            <a:endParaRPr sz="1000" dirty="0">
              <a:solidFill>
                <a:srgbClr val="5C5C5C"/>
              </a:solidFill>
              <a:latin typeface="에이투지체 4 Regular"/>
              <a:ea typeface="에이투지체 4 Regular"/>
            </a:endParaRPr>
          </a:p>
          <a:p>
            <a:pPr algn="l">
              <a:spcAft>
                <a:spcPts val="100"/>
              </a:spcAft>
            </a:pPr>
            <a:r>
              <a:rPr sz="1000" dirty="0" err="1">
                <a:solidFill>
                  <a:srgbClr val="004F9F"/>
                </a:solidFill>
                <a:latin typeface="에이투지체 6 SemiBold"/>
                <a:ea typeface="에이투지체 6 SemiBold"/>
              </a:rPr>
              <a:t>슬림웨이</a:t>
            </a:r>
            <a:r>
              <a:rPr sz="1000" dirty="0">
                <a:solidFill>
                  <a:srgbClr val="004F9F"/>
                </a:solidFill>
                <a:latin typeface="에이투지체 6 SemiBold"/>
                <a:ea typeface="에이투지체 6 SemiBold"/>
              </a:rPr>
              <a:t> 9월 </a:t>
            </a:r>
            <a:r>
              <a:rPr sz="1000" dirty="0" err="1">
                <a:solidFill>
                  <a:srgbClr val="004F9F"/>
                </a:solidFill>
                <a:latin typeface="에이투지체 6 SemiBold"/>
                <a:ea typeface="에이투지체 6 SemiBold"/>
              </a:rPr>
              <a:t>구매</a:t>
            </a:r>
            <a:r>
              <a:rPr sz="1000" dirty="0">
                <a:solidFill>
                  <a:srgbClr val="004F9F"/>
                </a:solidFill>
                <a:latin typeface="에이투지체 6 SemiBold"/>
                <a:ea typeface="에이투지체 6 SemiBold"/>
              </a:rPr>
              <a:t> ROAS 72%부터 </a:t>
            </a:r>
            <a:r>
              <a:rPr sz="1000" dirty="0" err="1">
                <a:solidFill>
                  <a:srgbClr val="004F9F"/>
                </a:solidFill>
                <a:latin typeface="에이투지체 6 SemiBold"/>
                <a:ea typeface="에이투지체 6 SemiBold"/>
              </a:rPr>
              <a:t>재정비</a:t>
            </a:r>
            <a:endParaRPr sz="1000" dirty="0">
              <a:solidFill>
                <a:srgbClr val="004F9F"/>
              </a:solidFill>
              <a:latin typeface="에이투지체 6 SemiBold"/>
              <a:ea typeface="에이투지체 6 SemiBold"/>
            </a:endParaRPr>
          </a:p>
        </p:txBody>
      </p:sp>
      <p:sp>
        <p:nvSpPr>
          <p:cNvPr id="5" name="TextBox 1">
            <a:extLst>
              <a:ext uri="{FF2B5EF4-FFF2-40B4-BE49-F238E27FC236}">
                <a16:creationId xmlns:a16="http://schemas.microsoft.com/office/drawing/2014/main" id="{1B2632AD-C4B7-B916-DDB4-CFCB93C7D49B}"/>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Tree>
    <p:extLst>
      <p:ext uri="{BB962C8B-B14F-4D97-AF65-F5344CB8AC3E}">
        <p14:creationId xmlns:p14="http://schemas.microsoft.com/office/powerpoint/2010/main" val="371102762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81954-EB46-62C9-F846-5577BE3C9777}"/>
            </a:ext>
          </a:extLst>
        </p:cNvPr>
        <p:cNvGrpSpPr/>
        <p:nvPr/>
      </p:nvGrpSpPr>
      <p:grpSpPr>
        <a:xfrm>
          <a:off x="0" y="0"/>
          <a:ext cx="0" cy="0"/>
          <a:chOff x="0" y="0"/>
          <a:chExt cx="0" cy="0"/>
        </a:xfrm>
      </p:grpSpPr>
      <p:sp>
        <p:nvSpPr>
          <p:cNvPr id="25" name="TextBox 7">
            <a:extLst>
              <a:ext uri="{FF2B5EF4-FFF2-40B4-BE49-F238E27FC236}">
                <a16:creationId xmlns:a16="http://schemas.microsoft.com/office/drawing/2014/main" id="{6C54383E-6B5E-B682-3904-F8B2272614DC}"/>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6" name="TextBox 8">
            <a:extLst>
              <a:ext uri="{FF2B5EF4-FFF2-40B4-BE49-F238E27FC236}">
                <a16:creationId xmlns:a16="http://schemas.microsoft.com/office/drawing/2014/main" id="{089E1D64-E66B-17E5-8E16-616C6CB4CE1C}"/>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27" name="PGNO">
            <a:extLst>
              <a:ext uri="{FF2B5EF4-FFF2-40B4-BE49-F238E27FC236}">
                <a16:creationId xmlns:a16="http://schemas.microsoft.com/office/drawing/2014/main" id="{64BA7F87-5A1E-4007-77AF-5E733D45FBED}"/>
              </a:ext>
            </a:extLst>
          </p:cNvPr>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37</a:t>
            </a:r>
          </a:p>
        </p:txBody>
      </p:sp>
      <p:sp>
        <p:nvSpPr>
          <p:cNvPr id="2" name="text-157">
            <a:extLst>
              <a:ext uri="{FF2B5EF4-FFF2-40B4-BE49-F238E27FC236}">
                <a16:creationId xmlns:a16="http://schemas.microsoft.com/office/drawing/2014/main" id="{05B52AF8-AF77-616B-7DAE-F9F7B9DC41D3}"/>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GFA 블프 사례</a:t>
            </a:r>
            <a:r>
              <a:rPr lang="ko-KR" sz="1900" dirty="0">
                <a:solidFill>
                  <a:srgbClr val="222222"/>
                </a:solidFill>
                <a:latin typeface="에이투지체 8 ExtraBold"/>
                <a:ea typeface="에이투지체 8 ExtraBold"/>
                <a:cs typeface="에이투지체 8 ExtraBold"/>
              </a:rPr>
              <a:t>  이너웨어 브랜드 스토어 C는 프로모션 당일 집중 후</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1주일간 사전보다 높은 매출과 효율을 이어갔습니다</a:t>
            </a:r>
            <a:endParaRPr lang="ko-KR" sz="1900" dirty="0"/>
          </a:p>
        </p:txBody>
      </p:sp>
      <p:sp>
        <p:nvSpPr>
          <p:cNvPr id="3" name="text-158">
            <a:extLst>
              <a:ext uri="{FF2B5EF4-FFF2-40B4-BE49-F238E27FC236}">
                <a16:creationId xmlns:a16="http://schemas.microsoft.com/office/drawing/2014/main" id="{9F95920A-F337-2CF1-F305-318D6CC17141}"/>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2026년 4월 프로모션 GFA 일별 리포트 기준</a:t>
            </a:r>
            <a:endParaRPr lang="ko-KR" sz="1100" dirty="0"/>
          </a:p>
        </p:txBody>
      </p:sp>
      <p:sp>
        <p:nvSpPr>
          <p:cNvPr id="22" name="node-174">
            <a:extLst>
              <a:ext uri="{FF2B5EF4-FFF2-40B4-BE49-F238E27FC236}">
                <a16:creationId xmlns:a16="http://schemas.microsoft.com/office/drawing/2014/main" id="{A7356A0A-A950-A778-020A-D82178DC2FFA}"/>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23" name="text-175">
            <a:extLst>
              <a:ext uri="{FF2B5EF4-FFF2-40B4-BE49-F238E27FC236}">
                <a16:creationId xmlns:a16="http://schemas.microsoft.com/office/drawing/2014/main" id="{6EC7DCF1-D3D2-9621-6E6B-8CAF3A3D05A2}"/>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dirty="0" err="1">
                <a:solidFill>
                  <a:srgbClr val="004F9F"/>
                </a:solidFill>
                <a:latin typeface="에이투지체 6 SemiBold"/>
                <a:ea typeface="에이투지체 6 SemiBold"/>
                <a:cs typeface="에이투지체 6 SemiBold"/>
              </a:rPr>
              <a:t>브랜드스토어 4월 매출은 전년 동월 대비 약 1.6배, 알림받기 고객은 한 달간 1.28만 명 늘었습니다</a:t>
            </a:r>
            <a:endParaRPr sz="1358" dirty="0">
              <a:solidFill>
                <a:srgbClr val="FFFFFF"/>
              </a:solidFill>
              <a:latin typeface="에이투지체 6 SemiBold"/>
              <a:ea typeface="에이투지체 6 SemiBold"/>
              <a:cs typeface="에이투지체 6 SemiBold"/>
            </a:endParaRPr>
          </a:p>
        </p:txBody>
      </p:sp>
      <p:sp>
        <p:nvSpPr>
          <p:cNvPr id="4" name="node-159">
            <a:extLst>
              <a:ext uri="{FF2B5EF4-FFF2-40B4-BE49-F238E27FC236}">
                <a16:creationId xmlns:a16="http://schemas.microsoft.com/office/drawing/2014/main" id="{31975C1C-580A-4126-BED6-BCA0EB48BC44}"/>
              </a:ext>
            </a:extLst>
          </p:cNvPr>
          <p:cNvSpPr>
            <a:spLocks noGrp="1"/>
          </p:cNvSpPr>
          <p:nvPr/>
        </p:nvSpPr>
        <p:spPr>
          <a:xfrm>
            <a:off x="518160" y="2190750"/>
            <a:ext cx="3611880" cy="600075"/>
          </a:xfrm>
          <a:prstGeom prst="homePlate">
            <a:avLst>
              <a:gd name="adj" fmla="val 30000"/>
            </a:avLst>
          </a:prstGeom>
          <a:solidFill>
            <a:srgbClr val="EAF2FB"/>
          </a:solidFill>
          <a:ln w="0">
            <a:noFill/>
          </a:ln>
        </p:spPr>
        <p:txBody>
          <a:bodyPr/>
          <a:lstStyle/>
          <a:p>
            <a:endParaRPr lang="ko-KR" altLang="en-US"/>
          </a:p>
        </p:txBody>
      </p:sp>
      <p:sp>
        <p:nvSpPr>
          <p:cNvPr id="5" name="text-160">
            <a:extLst>
              <a:ext uri="{FF2B5EF4-FFF2-40B4-BE49-F238E27FC236}">
                <a16:creationId xmlns:a16="http://schemas.microsoft.com/office/drawing/2014/main" id="{9FEEE377-2941-4FCF-8A2F-D4DF19687C33}"/>
              </a:ext>
            </a:extLst>
          </p:cNvPr>
          <p:cNvSpPr>
            <a:spLocks noGrp="1"/>
          </p:cNvSpPr>
          <p:nvPr/>
        </p:nvSpPr>
        <p:spPr>
          <a:xfrm>
            <a:off x="742950" y="2295525"/>
            <a:ext cx="3067050" cy="390525"/>
          </a:xfrm>
          <a:prstGeom prst="rect">
            <a:avLst/>
          </a:prstGeom>
          <a:noFill/>
          <a:ln w="0">
            <a:noFill/>
          </a:ln>
        </p:spPr>
        <p:txBody>
          <a:bodyPr wrap="square" lIns="0" tIns="0" rIns="0" bIns="0" anchor="ctr">
            <a:noAutofit/>
          </a:bodyPr>
          <a:lstStyle>
            <a:defPPr algn="l">
              <a:defRPr sz="1800">
                <a:solidFill>
                  <a:srgbClr val="004F9F"/>
                </a:solidFill>
                <a:latin typeface="에이투지체 6 SemiBold"/>
                <a:ea typeface="에이투지체 6 SemiBold"/>
                <a:cs typeface="에이투지체 6 SemiBold"/>
              </a:defRPr>
            </a:defPPr>
          </a:lstStyle>
          <a:p>
            <a:pPr algn="l">
              <a:defRPr sz="1800">
                <a:solidFill>
                  <a:srgbClr val="004F9F"/>
                </a:solidFill>
                <a:latin typeface="에이투지체 6 SemiBold"/>
                <a:ea typeface="에이투지체 6 SemiBold"/>
                <a:cs typeface="에이투지체 6 SemiBold"/>
              </a:defRPr>
            </a:pPr>
            <a:r>
              <a:rPr sz="1800">
                <a:solidFill>
                  <a:srgbClr val="004F9F"/>
                </a:solidFill>
                <a:latin typeface="에이투지체 6 SemiBold"/>
                <a:ea typeface="에이투지체 6 SemiBold"/>
                <a:cs typeface="에이투지체 6 SemiBold"/>
              </a:rPr>
              <a:t>사전 7일</a:t>
            </a:r>
          </a:p>
        </p:txBody>
      </p:sp>
      <p:sp>
        <p:nvSpPr>
          <p:cNvPr id="6" name="text-161">
            <a:extLst>
              <a:ext uri="{FF2B5EF4-FFF2-40B4-BE49-F238E27FC236}">
                <a16:creationId xmlns:a16="http://schemas.microsoft.com/office/drawing/2014/main" id="{E354213A-79D3-4E93-BE83-5E9EF924D61D}"/>
              </a:ext>
            </a:extLst>
          </p:cNvPr>
          <p:cNvSpPr>
            <a:spLocks noGrp="1"/>
          </p:cNvSpPr>
          <p:nvPr/>
        </p:nvSpPr>
        <p:spPr>
          <a:xfrm>
            <a:off x="552450" y="3067050"/>
            <a:ext cx="3448050" cy="409575"/>
          </a:xfrm>
          <a:prstGeom prst="rect">
            <a:avLst/>
          </a:prstGeom>
          <a:noFill/>
          <a:ln w="0">
            <a:noFill/>
          </a:ln>
        </p:spPr>
        <p:txBody>
          <a:bodyPr wrap="square" lIns="0" tIns="0" rIns="0" bIns="0" anchor="ctr">
            <a:noAutofit/>
          </a:bodyPr>
          <a:lstStyle>
            <a:defPPr algn="l">
              <a:defRPr sz="1575">
                <a:solidFill>
                  <a:srgbClr val="222222"/>
                </a:solidFill>
                <a:latin typeface="에이투지체 6 SemiBold"/>
                <a:ea typeface="에이투지체 6 SemiBold"/>
                <a:cs typeface="에이투지체 6 SemiBold"/>
              </a:defRPr>
            </a:defPPr>
          </a:lstStyle>
          <a:p>
            <a:pPr algn="l">
              <a:defRPr sz="1575">
                <a:solidFill>
                  <a:srgbClr val="222222"/>
                </a:solidFill>
                <a:latin typeface="에이투지체 6 SemiBold"/>
                <a:ea typeface="에이투지체 6 SemiBold"/>
                <a:cs typeface="에이투지체 6 SemiBold"/>
              </a:defRPr>
            </a:pPr>
            <a:r>
              <a:rPr sz="1575">
                <a:solidFill>
                  <a:srgbClr val="222222"/>
                </a:solidFill>
                <a:latin typeface="에이투지체 6 SemiBold"/>
                <a:ea typeface="에이투지체 6 SemiBold"/>
                <a:cs typeface="에이투지체 6 SemiBold"/>
              </a:rPr>
              <a:t>일 평균 GFA 매출 239만 원</a:t>
            </a:r>
          </a:p>
        </p:txBody>
      </p:sp>
      <p:sp>
        <p:nvSpPr>
          <p:cNvPr id="7" name="text-162">
            <a:extLst>
              <a:ext uri="{FF2B5EF4-FFF2-40B4-BE49-F238E27FC236}">
                <a16:creationId xmlns:a16="http://schemas.microsoft.com/office/drawing/2014/main" id="{C786BEF3-7B9E-4872-9BA3-AD517ABA3446}"/>
              </a:ext>
            </a:extLst>
          </p:cNvPr>
          <p:cNvSpPr>
            <a:spLocks noGrp="1"/>
          </p:cNvSpPr>
          <p:nvPr/>
        </p:nvSpPr>
        <p:spPr>
          <a:xfrm>
            <a:off x="552450" y="3676650"/>
            <a:ext cx="3448050" cy="952500"/>
          </a:xfrm>
          <a:prstGeom prst="rect">
            <a:avLst/>
          </a:prstGeom>
          <a:noFill/>
          <a:ln w="0">
            <a:noFill/>
          </a:ln>
        </p:spPr>
        <p:txBody>
          <a:bodyPr wrap="square" lIns="0" tIns="0" rIns="0" bIns="0" anchor="ctr">
            <a:noAutofit/>
          </a:bodyPr>
          <a:lstStyle>
            <a:defPPr algn="l">
              <a:defRPr sz="1402">
                <a:solidFill>
                  <a:srgbClr val="5C5C5C"/>
                </a:solidFill>
                <a:latin typeface="에이투지체 4 Regular"/>
                <a:ea typeface="에이투지체 4 Regular"/>
                <a:cs typeface="에이투지체 4 Regular"/>
              </a:defRPr>
            </a:defPPr>
          </a:lstStyle>
          <a:p>
            <a:pPr algn="l">
              <a:defRPr sz="1402">
                <a:solidFill>
                  <a:srgbClr val="5C5C5C"/>
                </a:solidFill>
                <a:latin typeface="에이투지체 4 Regular"/>
                <a:ea typeface="에이투지체 4 Regular"/>
                <a:cs typeface="에이투지체 4 Regular"/>
              </a:defRPr>
            </a:pPr>
            <a:r>
              <a:rPr sz="1402">
                <a:solidFill>
                  <a:srgbClr val="5C5C5C"/>
                </a:solidFill>
                <a:latin typeface="에이투지체 4 Regular"/>
                <a:ea typeface="에이투지체 4 Regular"/>
                <a:cs typeface="에이투지체 4 Regular"/>
              </a:rPr>
              <a:t>일 광고비 59만 원</a:t>
            </a:r>
          </a:p>
          <a:p>
            <a:pPr algn="l">
              <a:defRPr sz="1402">
                <a:solidFill>
                  <a:srgbClr val="5C5C5C"/>
                </a:solidFill>
                <a:latin typeface="에이투지체 4 Regular"/>
                <a:ea typeface="에이투지체 4 Regular"/>
                <a:cs typeface="에이투지체 4 Regular"/>
              </a:defRPr>
            </a:pPr>
            <a:r>
              <a:rPr sz="1402">
                <a:solidFill>
                  <a:srgbClr val="5C5C5C"/>
                </a:solidFill>
                <a:latin typeface="에이투지체 4 Regular"/>
                <a:ea typeface="에이투지체 4 Regular"/>
                <a:cs typeface="에이투지체 4 Regular"/>
              </a:rPr>
              <a:t>일 평균 전환 48건</a:t>
            </a:r>
          </a:p>
          <a:p>
            <a:pPr algn="l">
              <a:defRPr sz="1402">
                <a:solidFill>
                  <a:srgbClr val="5C5C5C"/>
                </a:solidFill>
                <a:latin typeface="에이투지체 4 Regular"/>
                <a:ea typeface="에이투지체 4 Regular"/>
                <a:cs typeface="에이투지체 4 Regular"/>
              </a:defRPr>
            </a:pPr>
            <a:r>
              <a:rPr sz="1402">
                <a:solidFill>
                  <a:srgbClr val="5C5C5C"/>
                </a:solidFill>
                <a:latin typeface="에이투지체 4 Regular"/>
                <a:ea typeface="에이투지체 4 Regular"/>
                <a:cs typeface="에이투지체 4 Regular"/>
              </a:rPr>
              <a:t>행사 전 상시 운영 구간</a:t>
            </a:r>
          </a:p>
        </p:txBody>
      </p:sp>
      <p:sp>
        <p:nvSpPr>
          <p:cNvPr id="8" name="직선 연결선 7">
            <a:extLst>
              <a:ext uri="{FF2B5EF4-FFF2-40B4-BE49-F238E27FC236}">
                <a16:creationId xmlns:a16="http://schemas.microsoft.com/office/drawing/2014/main" id="{5165DEF0-21FB-4274-A338-7EF052C8D885}"/>
              </a:ext>
            </a:extLst>
          </p:cNvPr>
          <p:cNvSpPr>
            <a:spLocks noGrp="1"/>
          </p:cNvSpPr>
          <p:nvPr/>
        </p:nvSpPr>
        <p:spPr>
          <a:xfrm>
            <a:off x="552450" y="4924425"/>
            <a:ext cx="3448050" cy="0"/>
          </a:xfrm>
          <a:prstGeom prst="line">
            <a:avLst/>
          </a:prstGeom>
          <a:noFill/>
          <a:ln w="9525">
            <a:solidFill>
              <a:srgbClr val="D0D0D0"/>
            </a:solidFill>
          </a:ln>
        </p:spPr>
        <p:txBody>
          <a:bodyPr/>
          <a:lstStyle/>
          <a:p>
            <a:endParaRPr lang="ko-KR" altLang="en-US"/>
          </a:p>
        </p:txBody>
      </p:sp>
      <p:sp>
        <p:nvSpPr>
          <p:cNvPr id="9" name="text-163">
            <a:extLst>
              <a:ext uri="{FF2B5EF4-FFF2-40B4-BE49-F238E27FC236}">
                <a16:creationId xmlns:a16="http://schemas.microsoft.com/office/drawing/2014/main" id="{CA7CB7C4-D079-4EB9-A859-D1158ED6BFF1}"/>
              </a:ext>
            </a:extLst>
          </p:cNvPr>
          <p:cNvSpPr>
            <a:spLocks noGrp="1"/>
          </p:cNvSpPr>
          <p:nvPr/>
        </p:nvSpPr>
        <p:spPr>
          <a:xfrm>
            <a:off x="552450" y="5067300"/>
            <a:ext cx="3448050" cy="371475"/>
          </a:xfrm>
          <a:prstGeom prst="rect">
            <a:avLst/>
          </a:prstGeom>
          <a:noFill/>
          <a:ln w="0">
            <a:noFill/>
          </a:ln>
        </p:spPr>
        <p:txBody>
          <a:bodyPr wrap="square" lIns="0" tIns="0" rIns="0" bIns="0" anchor="ctr">
            <a:noAutofit/>
          </a:bodyPr>
          <a:lstStyle>
            <a:defPPr algn="l">
              <a:defRPr sz="1350">
                <a:solidFill>
                  <a:srgbClr val="004F9F"/>
                </a:solidFill>
                <a:latin typeface="에이투지체 6 SemiBold"/>
                <a:ea typeface="에이투지체 6 SemiBold"/>
                <a:cs typeface="에이투지체 6 SemiBold"/>
              </a:defRPr>
            </a:defPPr>
          </a:lstStyle>
          <a:p>
            <a:pPr algn="l">
              <a:defRPr sz="1350">
                <a:solidFill>
                  <a:srgbClr val="004F9F"/>
                </a:solidFill>
                <a:latin typeface="에이투지체 6 SemiBold"/>
                <a:ea typeface="에이투지체 6 SemiBold"/>
                <a:cs typeface="에이투지체 6 SemiBold"/>
              </a:defRPr>
            </a:pPr>
            <a:r>
              <a:rPr sz="1350">
                <a:solidFill>
                  <a:srgbClr val="004F9F"/>
                </a:solidFill>
                <a:latin typeface="에이투지체 6 SemiBold"/>
                <a:ea typeface="에이투지체 6 SemiBold"/>
                <a:cs typeface="에이투지체 6 SemiBold"/>
              </a:rPr>
              <a:t>ROAS 408%</a:t>
            </a:r>
          </a:p>
        </p:txBody>
      </p:sp>
      <p:sp>
        <p:nvSpPr>
          <p:cNvPr id="10" name="node-164">
            <a:extLst>
              <a:ext uri="{FF2B5EF4-FFF2-40B4-BE49-F238E27FC236}">
                <a16:creationId xmlns:a16="http://schemas.microsoft.com/office/drawing/2014/main" id="{69236DC6-B420-4340-894B-2F5EAA555286}"/>
              </a:ext>
            </a:extLst>
          </p:cNvPr>
          <p:cNvSpPr>
            <a:spLocks noGrp="1"/>
          </p:cNvSpPr>
          <p:nvPr/>
        </p:nvSpPr>
        <p:spPr>
          <a:xfrm>
            <a:off x="4328160" y="2190750"/>
            <a:ext cx="3611880" cy="600075"/>
          </a:xfrm>
          <a:prstGeom prst="chevron">
            <a:avLst>
              <a:gd name="adj" fmla="val 30000"/>
            </a:avLst>
          </a:prstGeom>
          <a:solidFill>
            <a:srgbClr val="004F9F"/>
          </a:solidFill>
          <a:ln w="0">
            <a:noFill/>
          </a:ln>
        </p:spPr>
        <p:txBody>
          <a:bodyPr/>
          <a:lstStyle/>
          <a:p>
            <a:endParaRPr lang="ko-KR" altLang="en-US"/>
          </a:p>
        </p:txBody>
      </p:sp>
      <p:sp>
        <p:nvSpPr>
          <p:cNvPr id="11" name="text-165">
            <a:extLst>
              <a:ext uri="{FF2B5EF4-FFF2-40B4-BE49-F238E27FC236}">
                <a16:creationId xmlns:a16="http://schemas.microsoft.com/office/drawing/2014/main" id="{45502AD4-D054-41A7-AD23-B701AF3C0B1A}"/>
              </a:ext>
            </a:extLst>
          </p:cNvPr>
          <p:cNvSpPr>
            <a:spLocks noGrp="1"/>
          </p:cNvSpPr>
          <p:nvPr/>
        </p:nvSpPr>
        <p:spPr>
          <a:xfrm>
            <a:off x="4552950" y="2295525"/>
            <a:ext cx="3067050" cy="390525"/>
          </a:xfrm>
          <a:prstGeom prst="rect">
            <a:avLst/>
          </a:prstGeom>
          <a:noFill/>
          <a:ln w="0">
            <a:noFill/>
          </a:ln>
        </p:spPr>
        <p:txBody>
          <a:bodyPr wrap="square" lIns="0" tIns="0" rIns="0" bIns="0" anchor="ctr">
            <a:noAutofit/>
          </a:bodyPr>
          <a:lstStyle>
            <a:defPPr algn="l">
              <a:defRPr sz="1800">
                <a:solidFill>
                  <a:srgbClr val="FFFFFF"/>
                </a:solidFill>
                <a:latin typeface="에이투지체 6 SemiBold"/>
                <a:ea typeface="에이투지체 6 SemiBold"/>
                <a:cs typeface="에이투지체 6 SemiBold"/>
              </a:defRPr>
            </a:defPPr>
          </a:lstStyle>
          <a:p>
            <a:pPr algn="l">
              <a:defRPr sz="1800">
                <a:solidFill>
                  <a:srgbClr val="FFFFFF"/>
                </a:solidFill>
                <a:latin typeface="에이투지체 6 SemiBold"/>
                <a:ea typeface="에이투지체 6 SemiBold"/>
                <a:cs typeface="에이투지체 6 SemiBold"/>
              </a:defRPr>
            </a:pPr>
            <a:r>
              <a:rPr lang="ko-KR" altLang="en-US" sz="1800" dirty="0">
                <a:solidFill>
                  <a:srgbClr val="FFFFFF"/>
                </a:solidFill>
                <a:latin typeface="에이투지체 6 SemiBold"/>
                <a:ea typeface="에이투지체 6 SemiBold"/>
                <a:cs typeface="에이투지체 6 SemiBold"/>
              </a:rPr>
              <a:t>행사</a:t>
            </a:r>
            <a:r>
              <a:rPr sz="1800" dirty="0">
                <a:solidFill>
                  <a:srgbClr val="FFFFFF"/>
                </a:solidFill>
                <a:latin typeface="에이투지체 6 SemiBold"/>
                <a:ea typeface="에이투지체 6 SemiBold"/>
                <a:cs typeface="에이투지체 6 SemiBold"/>
              </a:rPr>
              <a:t> </a:t>
            </a:r>
            <a:r>
              <a:rPr sz="1800" dirty="0" err="1">
                <a:solidFill>
                  <a:srgbClr val="FFFFFF"/>
                </a:solidFill>
                <a:latin typeface="에이투지체 6 SemiBold"/>
                <a:ea typeface="에이투지체 6 SemiBold"/>
                <a:cs typeface="에이투지체 6 SemiBold"/>
              </a:rPr>
              <a:t>당일</a:t>
            </a:r>
            <a:endParaRPr sz="1800" dirty="0">
              <a:solidFill>
                <a:srgbClr val="FFFFFF"/>
              </a:solidFill>
              <a:latin typeface="에이투지체 6 SemiBold"/>
              <a:ea typeface="에이투지체 6 SemiBold"/>
              <a:cs typeface="에이투지체 6 SemiBold"/>
            </a:endParaRPr>
          </a:p>
        </p:txBody>
      </p:sp>
      <p:sp>
        <p:nvSpPr>
          <p:cNvPr id="12" name="text-166">
            <a:extLst>
              <a:ext uri="{FF2B5EF4-FFF2-40B4-BE49-F238E27FC236}">
                <a16:creationId xmlns:a16="http://schemas.microsoft.com/office/drawing/2014/main" id="{D0ABDA3D-7F1F-41C0-939E-1EDEDBC4AAAF}"/>
              </a:ext>
            </a:extLst>
          </p:cNvPr>
          <p:cNvSpPr>
            <a:spLocks noGrp="1"/>
          </p:cNvSpPr>
          <p:nvPr/>
        </p:nvSpPr>
        <p:spPr>
          <a:xfrm>
            <a:off x="4362450" y="3067050"/>
            <a:ext cx="3448050" cy="409575"/>
          </a:xfrm>
          <a:prstGeom prst="rect">
            <a:avLst/>
          </a:prstGeom>
          <a:noFill/>
          <a:ln w="0">
            <a:noFill/>
          </a:ln>
        </p:spPr>
        <p:txBody>
          <a:bodyPr wrap="square" lIns="0" tIns="0" rIns="0" bIns="0" anchor="ctr">
            <a:noAutofit/>
          </a:bodyPr>
          <a:lstStyle>
            <a:defPPr algn="l">
              <a:defRPr sz="1575">
                <a:solidFill>
                  <a:srgbClr val="222222"/>
                </a:solidFill>
                <a:latin typeface="에이투지체 6 SemiBold"/>
                <a:ea typeface="에이투지체 6 SemiBold"/>
                <a:cs typeface="에이투지체 6 SemiBold"/>
              </a:defRPr>
            </a:defPPr>
          </a:lstStyle>
          <a:p>
            <a:pPr algn="l">
              <a:defRPr sz="1575">
                <a:solidFill>
                  <a:srgbClr val="222222"/>
                </a:solidFill>
                <a:latin typeface="에이투지체 6 SemiBold"/>
                <a:ea typeface="에이투지체 6 SemiBold"/>
                <a:cs typeface="에이투지체 6 SemiBold"/>
              </a:defRPr>
            </a:pPr>
            <a:r>
              <a:rPr sz="1575">
                <a:solidFill>
                  <a:srgbClr val="222222"/>
                </a:solidFill>
                <a:latin typeface="에이투지체 6 SemiBold"/>
                <a:ea typeface="에이투지체 6 SemiBold"/>
                <a:cs typeface="에이투지체 6 SemiBold"/>
              </a:rPr>
              <a:t>GFA 매출 5,959만 원</a:t>
            </a:r>
          </a:p>
        </p:txBody>
      </p:sp>
      <p:sp>
        <p:nvSpPr>
          <p:cNvPr id="13" name="text-167">
            <a:extLst>
              <a:ext uri="{FF2B5EF4-FFF2-40B4-BE49-F238E27FC236}">
                <a16:creationId xmlns:a16="http://schemas.microsoft.com/office/drawing/2014/main" id="{15EDEFDA-FE0A-49AF-8283-24C6AC96D61D}"/>
              </a:ext>
            </a:extLst>
          </p:cNvPr>
          <p:cNvSpPr>
            <a:spLocks noGrp="1"/>
          </p:cNvSpPr>
          <p:nvPr/>
        </p:nvSpPr>
        <p:spPr>
          <a:xfrm>
            <a:off x="4362450" y="3676650"/>
            <a:ext cx="3448050" cy="952500"/>
          </a:xfrm>
          <a:prstGeom prst="rect">
            <a:avLst/>
          </a:prstGeom>
          <a:noFill/>
          <a:ln w="0">
            <a:noFill/>
          </a:ln>
        </p:spPr>
        <p:txBody>
          <a:bodyPr wrap="square" lIns="0" tIns="0" rIns="0" bIns="0" anchor="ctr">
            <a:noAutofit/>
          </a:bodyPr>
          <a:lstStyle>
            <a:defPPr algn="l">
              <a:defRPr sz="1402">
                <a:solidFill>
                  <a:srgbClr val="5C5C5C"/>
                </a:solidFill>
                <a:latin typeface="에이투지체 4 Regular"/>
                <a:ea typeface="에이투지체 4 Regular"/>
                <a:cs typeface="에이투지체 4 Regular"/>
              </a:defRPr>
            </a:defPPr>
          </a:lstStyle>
          <a:p>
            <a:pPr algn="l">
              <a:defRPr sz="1402">
                <a:solidFill>
                  <a:srgbClr val="5C5C5C"/>
                </a:solidFill>
                <a:latin typeface="에이투지체 4 Regular"/>
                <a:ea typeface="에이투지체 4 Regular"/>
                <a:cs typeface="에이투지체 4 Regular"/>
              </a:defRPr>
            </a:pPr>
            <a:r>
              <a:rPr sz="1402" dirty="0" err="1">
                <a:solidFill>
                  <a:srgbClr val="5C5C5C"/>
                </a:solidFill>
                <a:latin typeface="에이투지체 4 Regular"/>
                <a:ea typeface="에이투지체 4 Regular"/>
                <a:cs typeface="에이투지체 4 Regular"/>
              </a:rPr>
              <a:t>광고비</a:t>
            </a:r>
            <a:r>
              <a:rPr sz="1402" dirty="0">
                <a:solidFill>
                  <a:srgbClr val="5C5C5C"/>
                </a:solidFill>
                <a:latin typeface="에이투지체 4 Regular"/>
                <a:ea typeface="에이투지체 4 Regular"/>
                <a:cs typeface="에이투지체 4 Regular"/>
              </a:rPr>
              <a:t> 948만 원 </a:t>
            </a:r>
            <a:r>
              <a:rPr sz="1402" dirty="0" err="1">
                <a:solidFill>
                  <a:srgbClr val="5C5C5C"/>
                </a:solidFill>
                <a:latin typeface="에이투지체 4 Regular"/>
                <a:ea typeface="에이투지체 4 Regular"/>
                <a:cs typeface="에이투지체 4 Regular"/>
              </a:rPr>
              <a:t>집중</a:t>
            </a:r>
            <a:endParaRPr sz="1402" dirty="0">
              <a:solidFill>
                <a:srgbClr val="5C5C5C"/>
              </a:solidFill>
              <a:latin typeface="에이투지체 4 Regular"/>
              <a:ea typeface="에이투지체 4 Regular"/>
              <a:cs typeface="에이투지체 4 Regular"/>
            </a:endParaRPr>
          </a:p>
          <a:p>
            <a:pPr algn="l">
              <a:defRPr sz="1402">
                <a:solidFill>
                  <a:srgbClr val="5C5C5C"/>
                </a:solidFill>
                <a:latin typeface="에이투지체 4 Regular"/>
                <a:ea typeface="에이투지체 4 Regular"/>
                <a:cs typeface="에이투지체 4 Regular"/>
              </a:defRPr>
            </a:pPr>
            <a:r>
              <a:rPr sz="1402" dirty="0" err="1">
                <a:solidFill>
                  <a:srgbClr val="5C5C5C"/>
                </a:solidFill>
                <a:latin typeface="에이투지체 4 Regular"/>
                <a:ea typeface="에이투지체 4 Regular"/>
                <a:cs typeface="에이투지체 4 Regular"/>
              </a:rPr>
              <a:t>전환</a:t>
            </a:r>
            <a:r>
              <a:rPr sz="1402" dirty="0">
                <a:solidFill>
                  <a:srgbClr val="5C5C5C"/>
                </a:solidFill>
                <a:latin typeface="에이투지체 4 Regular"/>
                <a:ea typeface="에이투지체 4 Regular"/>
                <a:cs typeface="에이투지체 4 Regular"/>
              </a:rPr>
              <a:t> 1,262건 (</a:t>
            </a:r>
            <a:r>
              <a:rPr sz="1402" dirty="0" err="1">
                <a:solidFill>
                  <a:srgbClr val="5C5C5C"/>
                </a:solidFill>
                <a:latin typeface="에이투지체 4 Regular"/>
                <a:ea typeface="에이투지체 4 Regular"/>
                <a:cs typeface="에이투지체 4 Regular"/>
              </a:rPr>
              <a:t>사전</a:t>
            </a:r>
            <a:r>
              <a:rPr sz="1402" dirty="0">
                <a:solidFill>
                  <a:srgbClr val="5C5C5C"/>
                </a:solidFill>
                <a:latin typeface="에이투지체 4 Regular"/>
                <a:ea typeface="에이투지체 4 Regular"/>
                <a:cs typeface="에이투지체 4 Regular"/>
              </a:rPr>
              <a:t> 일 </a:t>
            </a:r>
            <a:r>
              <a:rPr sz="1402" dirty="0" err="1">
                <a:solidFill>
                  <a:srgbClr val="5C5C5C"/>
                </a:solidFill>
                <a:latin typeface="에이투지체 4 Regular"/>
                <a:ea typeface="에이투지체 4 Regular"/>
                <a:cs typeface="에이투지체 4 Regular"/>
              </a:rPr>
              <a:t>평균의</a:t>
            </a:r>
            <a:r>
              <a:rPr sz="1402" dirty="0">
                <a:solidFill>
                  <a:srgbClr val="5C5C5C"/>
                </a:solidFill>
                <a:latin typeface="에이투지체 4 Regular"/>
                <a:ea typeface="에이투지체 4 Regular"/>
                <a:cs typeface="에이투지체 4 Regular"/>
              </a:rPr>
              <a:t> 26배)</a:t>
            </a:r>
          </a:p>
          <a:p>
            <a:pPr algn="l">
              <a:defRPr sz="1402">
                <a:solidFill>
                  <a:srgbClr val="5C5C5C"/>
                </a:solidFill>
                <a:latin typeface="에이투지체 4 Regular"/>
                <a:ea typeface="에이투지체 4 Regular"/>
                <a:cs typeface="에이투지체 4 Regular"/>
              </a:defRPr>
            </a:pPr>
            <a:r>
              <a:rPr sz="1402" dirty="0" err="1">
                <a:solidFill>
                  <a:srgbClr val="5C5C5C"/>
                </a:solidFill>
                <a:latin typeface="에이투지체 4 Regular"/>
                <a:ea typeface="에이투지체 4 Regular"/>
                <a:cs typeface="에이투지체 4 Regular"/>
              </a:rPr>
              <a:t>노출</a:t>
            </a:r>
            <a:r>
              <a:rPr sz="1402" dirty="0">
                <a:solidFill>
                  <a:srgbClr val="5C5C5C"/>
                </a:solidFill>
                <a:latin typeface="에이투지체 4 Regular"/>
                <a:ea typeface="에이투지체 4 Regular"/>
                <a:cs typeface="에이투지체 4 Regular"/>
              </a:rPr>
              <a:t> 411만 회</a:t>
            </a:r>
          </a:p>
        </p:txBody>
      </p:sp>
      <p:sp>
        <p:nvSpPr>
          <p:cNvPr id="14" name="직선 연결선 13">
            <a:extLst>
              <a:ext uri="{FF2B5EF4-FFF2-40B4-BE49-F238E27FC236}">
                <a16:creationId xmlns:a16="http://schemas.microsoft.com/office/drawing/2014/main" id="{5E481E66-F9FB-478D-ABC9-65B16F09263D}"/>
              </a:ext>
            </a:extLst>
          </p:cNvPr>
          <p:cNvSpPr>
            <a:spLocks noGrp="1"/>
          </p:cNvSpPr>
          <p:nvPr/>
        </p:nvSpPr>
        <p:spPr>
          <a:xfrm>
            <a:off x="4362450" y="4924425"/>
            <a:ext cx="3448050" cy="0"/>
          </a:xfrm>
          <a:prstGeom prst="line">
            <a:avLst/>
          </a:prstGeom>
          <a:noFill/>
          <a:ln w="9525">
            <a:solidFill>
              <a:srgbClr val="D0D0D0"/>
            </a:solidFill>
          </a:ln>
        </p:spPr>
        <p:txBody>
          <a:bodyPr/>
          <a:lstStyle/>
          <a:p>
            <a:endParaRPr lang="ko-KR" altLang="en-US"/>
          </a:p>
        </p:txBody>
      </p:sp>
      <p:sp>
        <p:nvSpPr>
          <p:cNvPr id="15" name="text-168">
            <a:extLst>
              <a:ext uri="{FF2B5EF4-FFF2-40B4-BE49-F238E27FC236}">
                <a16:creationId xmlns:a16="http://schemas.microsoft.com/office/drawing/2014/main" id="{7876DFDA-C76B-4F1E-8309-29A3D1CAEDD7}"/>
              </a:ext>
            </a:extLst>
          </p:cNvPr>
          <p:cNvSpPr>
            <a:spLocks noGrp="1"/>
          </p:cNvSpPr>
          <p:nvPr/>
        </p:nvSpPr>
        <p:spPr>
          <a:xfrm>
            <a:off x="4362450" y="5067300"/>
            <a:ext cx="3448050" cy="371475"/>
          </a:xfrm>
          <a:prstGeom prst="rect">
            <a:avLst/>
          </a:prstGeom>
          <a:noFill/>
          <a:ln w="0">
            <a:noFill/>
          </a:ln>
        </p:spPr>
        <p:txBody>
          <a:bodyPr wrap="square" lIns="0" tIns="0" rIns="0" bIns="0" anchor="ctr">
            <a:noAutofit/>
          </a:bodyPr>
          <a:lstStyle>
            <a:defPPr algn="l">
              <a:defRPr sz="1350">
                <a:solidFill>
                  <a:srgbClr val="004F9F"/>
                </a:solidFill>
                <a:latin typeface="에이투지체 6 SemiBold"/>
                <a:ea typeface="에이투지체 6 SemiBold"/>
                <a:cs typeface="에이투지체 6 SemiBold"/>
              </a:defRPr>
            </a:defPPr>
          </a:lstStyle>
          <a:p>
            <a:pPr algn="l">
              <a:defRPr sz="1350">
                <a:solidFill>
                  <a:srgbClr val="004F9F"/>
                </a:solidFill>
                <a:latin typeface="에이투지체 6 SemiBold"/>
                <a:ea typeface="에이투지체 6 SemiBold"/>
                <a:cs typeface="에이투지체 6 SemiBold"/>
              </a:defRPr>
            </a:pPr>
            <a:r>
              <a:rPr sz="1350">
                <a:solidFill>
                  <a:srgbClr val="004F9F"/>
                </a:solidFill>
                <a:latin typeface="에이투지체 6 SemiBold"/>
                <a:ea typeface="에이투지체 6 SemiBold"/>
                <a:cs typeface="에이투지체 6 SemiBold"/>
              </a:rPr>
              <a:t>ROAS 628%</a:t>
            </a:r>
          </a:p>
        </p:txBody>
      </p:sp>
      <p:sp>
        <p:nvSpPr>
          <p:cNvPr id="16" name="node-169">
            <a:extLst>
              <a:ext uri="{FF2B5EF4-FFF2-40B4-BE49-F238E27FC236}">
                <a16:creationId xmlns:a16="http://schemas.microsoft.com/office/drawing/2014/main" id="{89A392AA-2351-4BB6-8B5C-3FE264DD62D9}"/>
              </a:ext>
            </a:extLst>
          </p:cNvPr>
          <p:cNvSpPr>
            <a:spLocks noGrp="1"/>
          </p:cNvSpPr>
          <p:nvPr/>
        </p:nvSpPr>
        <p:spPr>
          <a:xfrm>
            <a:off x="8138160" y="2190750"/>
            <a:ext cx="3611880" cy="600075"/>
          </a:xfrm>
          <a:prstGeom prst="chevron">
            <a:avLst>
              <a:gd name="adj" fmla="val 30000"/>
            </a:avLst>
          </a:prstGeom>
          <a:solidFill>
            <a:srgbClr val="EAF2FB"/>
          </a:solidFill>
          <a:ln w="0">
            <a:noFill/>
          </a:ln>
        </p:spPr>
        <p:txBody>
          <a:bodyPr/>
          <a:lstStyle/>
          <a:p>
            <a:endParaRPr lang="ko-KR" altLang="en-US"/>
          </a:p>
        </p:txBody>
      </p:sp>
      <p:sp>
        <p:nvSpPr>
          <p:cNvPr id="17" name="text-170">
            <a:extLst>
              <a:ext uri="{FF2B5EF4-FFF2-40B4-BE49-F238E27FC236}">
                <a16:creationId xmlns:a16="http://schemas.microsoft.com/office/drawing/2014/main" id="{92020BEF-C55C-4A3C-91C6-6AE8520C0E22}"/>
              </a:ext>
            </a:extLst>
          </p:cNvPr>
          <p:cNvSpPr>
            <a:spLocks noGrp="1"/>
          </p:cNvSpPr>
          <p:nvPr/>
        </p:nvSpPr>
        <p:spPr>
          <a:xfrm>
            <a:off x="8362950" y="2295525"/>
            <a:ext cx="3067050" cy="390525"/>
          </a:xfrm>
          <a:prstGeom prst="rect">
            <a:avLst/>
          </a:prstGeom>
          <a:noFill/>
          <a:ln w="0">
            <a:noFill/>
          </a:ln>
        </p:spPr>
        <p:txBody>
          <a:bodyPr wrap="square" lIns="0" tIns="0" rIns="0" bIns="0" anchor="ctr">
            <a:noAutofit/>
          </a:bodyPr>
          <a:lstStyle>
            <a:defPPr algn="l">
              <a:defRPr sz="1800">
                <a:solidFill>
                  <a:srgbClr val="004F9F"/>
                </a:solidFill>
                <a:latin typeface="에이투지체 6 SemiBold"/>
                <a:ea typeface="에이투지체 6 SemiBold"/>
                <a:cs typeface="에이투지체 6 SemiBold"/>
              </a:defRPr>
            </a:defPPr>
          </a:lstStyle>
          <a:p>
            <a:pPr algn="l">
              <a:defRPr sz="1800">
                <a:solidFill>
                  <a:srgbClr val="004F9F"/>
                </a:solidFill>
                <a:latin typeface="에이투지체 6 SemiBold"/>
                <a:ea typeface="에이투지체 6 SemiBold"/>
                <a:cs typeface="에이투지체 6 SemiBold"/>
              </a:defRPr>
            </a:pPr>
            <a:r>
              <a:rPr sz="1800">
                <a:solidFill>
                  <a:srgbClr val="004F9F"/>
                </a:solidFill>
                <a:latin typeface="에이투지체 6 SemiBold"/>
                <a:ea typeface="에이투지체 6 SemiBold"/>
                <a:cs typeface="에이투지체 6 SemiBold"/>
              </a:rPr>
              <a:t>행사 후 7일</a:t>
            </a:r>
          </a:p>
        </p:txBody>
      </p:sp>
      <p:sp>
        <p:nvSpPr>
          <p:cNvPr id="18" name="text-171">
            <a:extLst>
              <a:ext uri="{FF2B5EF4-FFF2-40B4-BE49-F238E27FC236}">
                <a16:creationId xmlns:a16="http://schemas.microsoft.com/office/drawing/2014/main" id="{CDD8BB85-B1F3-4A22-A7F1-08F6B008D83D}"/>
              </a:ext>
            </a:extLst>
          </p:cNvPr>
          <p:cNvSpPr>
            <a:spLocks noGrp="1"/>
          </p:cNvSpPr>
          <p:nvPr/>
        </p:nvSpPr>
        <p:spPr>
          <a:xfrm>
            <a:off x="8172450" y="3067050"/>
            <a:ext cx="3448050" cy="409575"/>
          </a:xfrm>
          <a:prstGeom prst="rect">
            <a:avLst/>
          </a:prstGeom>
          <a:noFill/>
          <a:ln w="0">
            <a:noFill/>
          </a:ln>
        </p:spPr>
        <p:txBody>
          <a:bodyPr wrap="square" lIns="0" tIns="0" rIns="0" bIns="0" anchor="ctr">
            <a:noAutofit/>
          </a:bodyPr>
          <a:lstStyle>
            <a:defPPr algn="l">
              <a:defRPr sz="1575">
                <a:solidFill>
                  <a:srgbClr val="222222"/>
                </a:solidFill>
                <a:latin typeface="에이투지체 6 SemiBold"/>
                <a:ea typeface="에이투지체 6 SemiBold"/>
                <a:cs typeface="에이투지체 6 SemiBold"/>
              </a:defRPr>
            </a:defPPr>
          </a:lstStyle>
          <a:p>
            <a:pPr algn="l">
              <a:defRPr sz="1575">
                <a:solidFill>
                  <a:srgbClr val="222222"/>
                </a:solidFill>
                <a:latin typeface="에이투지체 6 SemiBold"/>
                <a:ea typeface="에이투지체 6 SemiBold"/>
                <a:cs typeface="에이투지체 6 SemiBold"/>
              </a:defRPr>
            </a:pPr>
            <a:r>
              <a:rPr sz="1575">
                <a:solidFill>
                  <a:srgbClr val="222222"/>
                </a:solidFill>
                <a:latin typeface="에이투지체 6 SemiBold"/>
                <a:ea typeface="에이투지체 6 SemiBold"/>
                <a:cs typeface="에이투지체 6 SemiBold"/>
              </a:rPr>
              <a:t>일 평균 GFA 매출 746만 원</a:t>
            </a:r>
          </a:p>
        </p:txBody>
      </p:sp>
      <p:sp>
        <p:nvSpPr>
          <p:cNvPr id="19" name="text-172">
            <a:extLst>
              <a:ext uri="{FF2B5EF4-FFF2-40B4-BE49-F238E27FC236}">
                <a16:creationId xmlns:a16="http://schemas.microsoft.com/office/drawing/2014/main" id="{C896E230-18D2-4685-972D-CBE5F175D7CB}"/>
              </a:ext>
            </a:extLst>
          </p:cNvPr>
          <p:cNvSpPr>
            <a:spLocks noGrp="1"/>
          </p:cNvSpPr>
          <p:nvPr/>
        </p:nvSpPr>
        <p:spPr>
          <a:xfrm>
            <a:off x="8172450" y="3676650"/>
            <a:ext cx="3448050" cy="952500"/>
          </a:xfrm>
          <a:prstGeom prst="rect">
            <a:avLst/>
          </a:prstGeom>
          <a:noFill/>
          <a:ln w="0">
            <a:noFill/>
          </a:ln>
        </p:spPr>
        <p:txBody>
          <a:bodyPr wrap="square" lIns="0" tIns="0" rIns="0" bIns="0" anchor="ctr">
            <a:noAutofit/>
          </a:bodyPr>
          <a:lstStyle>
            <a:defPPr algn="l">
              <a:defRPr sz="1402">
                <a:solidFill>
                  <a:srgbClr val="5C5C5C"/>
                </a:solidFill>
                <a:latin typeface="에이투지체 4 Regular"/>
                <a:ea typeface="에이투지체 4 Regular"/>
                <a:cs typeface="에이투지체 4 Regular"/>
              </a:defRPr>
            </a:defPPr>
          </a:lstStyle>
          <a:p>
            <a:pPr algn="l">
              <a:defRPr sz="1402">
                <a:solidFill>
                  <a:srgbClr val="5C5C5C"/>
                </a:solidFill>
                <a:latin typeface="에이투지체 4 Regular"/>
                <a:ea typeface="에이투지체 4 Regular"/>
                <a:cs typeface="에이투지체 4 Regular"/>
              </a:defRPr>
            </a:pPr>
            <a:r>
              <a:rPr sz="1402" dirty="0">
                <a:solidFill>
                  <a:srgbClr val="5C5C5C"/>
                </a:solidFill>
                <a:latin typeface="에이투지체 4 Regular"/>
                <a:ea typeface="에이투지체 4 Regular"/>
                <a:cs typeface="에이투지체 4 Regular"/>
              </a:rPr>
              <a:t>일 </a:t>
            </a:r>
            <a:r>
              <a:rPr sz="1402" dirty="0" err="1">
                <a:solidFill>
                  <a:srgbClr val="5C5C5C"/>
                </a:solidFill>
                <a:latin typeface="에이투지체 4 Regular"/>
                <a:ea typeface="에이투지체 4 Regular"/>
                <a:cs typeface="에이투지체 4 Regular"/>
              </a:rPr>
              <a:t>광고비</a:t>
            </a:r>
            <a:r>
              <a:rPr sz="1402" dirty="0">
                <a:solidFill>
                  <a:srgbClr val="5C5C5C"/>
                </a:solidFill>
                <a:latin typeface="에이투지체 4 Regular"/>
                <a:ea typeface="에이투지체 4 Regular"/>
                <a:cs typeface="에이투지체 4 Regular"/>
              </a:rPr>
              <a:t> 102만 원</a:t>
            </a:r>
          </a:p>
          <a:p>
            <a:pPr algn="l">
              <a:defRPr sz="1402">
                <a:solidFill>
                  <a:srgbClr val="5C5C5C"/>
                </a:solidFill>
                <a:latin typeface="에이투지체 4 Regular"/>
                <a:ea typeface="에이투지체 4 Regular"/>
                <a:cs typeface="에이투지체 4 Regular"/>
              </a:defRPr>
            </a:pPr>
            <a:r>
              <a:rPr sz="1402" dirty="0">
                <a:solidFill>
                  <a:srgbClr val="5C5C5C"/>
                </a:solidFill>
                <a:latin typeface="에이투지체 4 Regular"/>
                <a:ea typeface="에이투지체 4 Regular"/>
                <a:cs typeface="에이투지체 4 Regular"/>
              </a:rPr>
              <a:t>일 </a:t>
            </a:r>
            <a:r>
              <a:rPr sz="1402" dirty="0" err="1">
                <a:solidFill>
                  <a:srgbClr val="5C5C5C"/>
                </a:solidFill>
                <a:latin typeface="에이투지체 4 Regular"/>
                <a:ea typeface="에이투지체 4 Regular"/>
                <a:cs typeface="에이투지체 4 Regular"/>
              </a:rPr>
              <a:t>평균</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전환</a:t>
            </a:r>
            <a:r>
              <a:rPr sz="1402" dirty="0">
                <a:solidFill>
                  <a:srgbClr val="5C5C5C"/>
                </a:solidFill>
                <a:latin typeface="에이투지체 4 Regular"/>
                <a:ea typeface="에이투지체 4 Regular"/>
                <a:cs typeface="에이투지체 4 Regular"/>
              </a:rPr>
              <a:t> 144건 (</a:t>
            </a:r>
            <a:r>
              <a:rPr sz="1402" dirty="0" err="1">
                <a:solidFill>
                  <a:srgbClr val="5C5C5C"/>
                </a:solidFill>
                <a:latin typeface="에이투지체 4 Regular"/>
                <a:ea typeface="에이투지체 4 Regular"/>
                <a:cs typeface="에이투지체 4 Regular"/>
              </a:rPr>
              <a:t>사전의</a:t>
            </a:r>
            <a:r>
              <a:rPr sz="1402" dirty="0">
                <a:solidFill>
                  <a:srgbClr val="5C5C5C"/>
                </a:solidFill>
                <a:latin typeface="에이투지체 4 Regular"/>
                <a:ea typeface="에이투지체 4 Regular"/>
                <a:cs typeface="에이투지체 4 Regular"/>
              </a:rPr>
              <a:t> 3배)</a:t>
            </a:r>
          </a:p>
          <a:p>
            <a:pPr algn="l">
              <a:defRPr sz="1402">
                <a:solidFill>
                  <a:srgbClr val="5C5C5C"/>
                </a:solidFill>
                <a:latin typeface="에이투지체 4 Regular"/>
                <a:ea typeface="에이투지체 4 Regular"/>
                <a:cs typeface="에이투지체 4 Regular"/>
              </a:defRPr>
            </a:pPr>
            <a:r>
              <a:rPr sz="1402" dirty="0" err="1">
                <a:solidFill>
                  <a:srgbClr val="5C5C5C"/>
                </a:solidFill>
                <a:latin typeface="에이투지체 4 Regular"/>
                <a:ea typeface="에이투지체 4 Regular"/>
                <a:cs typeface="에이투지체 4 Regular"/>
              </a:rPr>
              <a:t>사전</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대비</a:t>
            </a:r>
            <a:r>
              <a:rPr sz="1402" dirty="0">
                <a:solidFill>
                  <a:srgbClr val="5C5C5C"/>
                </a:solidFill>
                <a:latin typeface="에이투지체 4 Regular"/>
                <a:ea typeface="에이투지체 4 Regular"/>
                <a:cs typeface="에이투지체 4 Regular"/>
              </a:rPr>
              <a:t> 일 </a:t>
            </a:r>
            <a:r>
              <a:rPr sz="1402" dirty="0" err="1">
                <a:solidFill>
                  <a:srgbClr val="5C5C5C"/>
                </a:solidFill>
                <a:latin typeface="에이투지체 4 Regular"/>
                <a:ea typeface="에이투지체 4 Regular"/>
                <a:cs typeface="에이투지체 4 Regular"/>
              </a:rPr>
              <a:t>매출</a:t>
            </a:r>
            <a:r>
              <a:rPr sz="1402" dirty="0">
                <a:solidFill>
                  <a:srgbClr val="5C5C5C"/>
                </a:solidFill>
                <a:latin typeface="에이투지체 4 Regular"/>
                <a:ea typeface="에이투지체 4 Regular"/>
                <a:cs typeface="에이투지체 4 Regular"/>
              </a:rPr>
              <a:t> 약 3.1배</a:t>
            </a:r>
          </a:p>
        </p:txBody>
      </p:sp>
      <p:sp>
        <p:nvSpPr>
          <p:cNvPr id="20" name="직선 연결선 19">
            <a:extLst>
              <a:ext uri="{FF2B5EF4-FFF2-40B4-BE49-F238E27FC236}">
                <a16:creationId xmlns:a16="http://schemas.microsoft.com/office/drawing/2014/main" id="{790A093D-09BE-4112-A6FE-C7FF06391873}"/>
              </a:ext>
            </a:extLst>
          </p:cNvPr>
          <p:cNvSpPr>
            <a:spLocks noGrp="1"/>
          </p:cNvSpPr>
          <p:nvPr/>
        </p:nvSpPr>
        <p:spPr>
          <a:xfrm>
            <a:off x="8172450" y="4924425"/>
            <a:ext cx="3448050" cy="0"/>
          </a:xfrm>
          <a:prstGeom prst="line">
            <a:avLst/>
          </a:prstGeom>
          <a:noFill/>
          <a:ln w="9525">
            <a:solidFill>
              <a:srgbClr val="D0D0D0"/>
            </a:solidFill>
          </a:ln>
        </p:spPr>
        <p:txBody>
          <a:bodyPr/>
          <a:lstStyle/>
          <a:p>
            <a:endParaRPr lang="ko-KR" altLang="en-US"/>
          </a:p>
        </p:txBody>
      </p:sp>
      <p:sp>
        <p:nvSpPr>
          <p:cNvPr id="21" name="text-173">
            <a:extLst>
              <a:ext uri="{FF2B5EF4-FFF2-40B4-BE49-F238E27FC236}">
                <a16:creationId xmlns:a16="http://schemas.microsoft.com/office/drawing/2014/main" id="{C5241276-359D-47C6-B2DB-463B1FE52F6E}"/>
              </a:ext>
            </a:extLst>
          </p:cNvPr>
          <p:cNvSpPr>
            <a:spLocks noGrp="1"/>
          </p:cNvSpPr>
          <p:nvPr/>
        </p:nvSpPr>
        <p:spPr>
          <a:xfrm>
            <a:off x="8172450" y="5067300"/>
            <a:ext cx="3448050" cy="371475"/>
          </a:xfrm>
          <a:prstGeom prst="rect">
            <a:avLst/>
          </a:prstGeom>
          <a:noFill/>
          <a:ln w="0">
            <a:noFill/>
          </a:ln>
        </p:spPr>
        <p:txBody>
          <a:bodyPr wrap="square" lIns="0" tIns="0" rIns="0" bIns="0" anchor="ctr">
            <a:noAutofit/>
          </a:bodyPr>
          <a:lstStyle>
            <a:defPPr algn="l">
              <a:defRPr sz="1350">
                <a:solidFill>
                  <a:srgbClr val="004F9F"/>
                </a:solidFill>
                <a:latin typeface="에이투지체 6 SemiBold"/>
                <a:ea typeface="에이투지체 6 SemiBold"/>
                <a:cs typeface="에이투지체 6 SemiBold"/>
              </a:defRPr>
            </a:defPPr>
          </a:lstStyle>
          <a:p>
            <a:pPr algn="l">
              <a:defRPr sz="1350">
                <a:solidFill>
                  <a:srgbClr val="004F9F"/>
                </a:solidFill>
                <a:latin typeface="에이투지체 6 SemiBold"/>
                <a:ea typeface="에이투지체 6 SemiBold"/>
                <a:cs typeface="에이투지체 6 SemiBold"/>
              </a:defRPr>
            </a:pPr>
            <a:r>
              <a:rPr sz="1350">
                <a:solidFill>
                  <a:srgbClr val="004F9F"/>
                </a:solidFill>
                <a:latin typeface="에이투지체 6 SemiBold"/>
                <a:ea typeface="에이투지체 6 SemiBold"/>
                <a:cs typeface="에이투지체 6 SemiBold"/>
              </a:rPr>
              <a:t>ROAS 734%</a:t>
            </a:r>
          </a:p>
        </p:txBody>
      </p:sp>
      <p:sp>
        <p:nvSpPr>
          <p:cNvPr id="29" name="TextBox 1">
            <a:extLst>
              <a:ext uri="{FF2B5EF4-FFF2-40B4-BE49-F238E27FC236}">
                <a16:creationId xmlns:a16="http://schemas.microsoft.com/office/drawing/2014/main" id="{C6D74078-616D-9750-EA72-12B285D4AC99}"/>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Tree>
    <p:extLst>
      <p:ext uri="{BB962C8B-B14F-4D97-AF65-F5344CB8AC3E}">
        <p14:creationId xmlns:p14="http://schemas.microsoft.com/office/powerpoint/2010/main" val="188355808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6"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27"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38</a:t>
            </a:r>
          </a:p>
        </p:txBody>
      </p:sp>
      <p:sp>
        <p:nvSpPr>
          <p:cNvPr id="2" name="text-157">
            <a:extLst>
              <a:ext uri="{FF2B5EF4-FFF2-40B4-BE49-F238E27FC236}">
                <a16:creationId xmlns:a16="http://schemas.microsoft.com/office/drawing/2014/main" id="{483020E6-F0E5-4BA0-9713-F36F37007143}"/>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GFA 블프 전략</a:t>
            </a:r>
            <a:r>
              <a:rPr lang="ko-KR" sz="1900" dirty="0">
                <a:solidFill>
                  <a:srgbClr val="222222"/>
                </a:solidFill>
                <a:latin typeface="에이투지체 8 ExtraBold"/>
                <a:ea typeface="에이투지체 8 ExtraBold"/>
                <a:cs typeface="에이투지체 8 ExtraBold"/>
              </a:rPr>
              <a:t>  행사 전에 고객을 확보하고</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당일 구매와 행사 후 전환을 순서대로 관리합니다</a:t>
            </a:r>
            <a:endParaRPr lang="ko-KR" sz="1900" dirty="0"/>
          </a:p>
        </p:txBody>
      </p:sp>
      <p:sp>
        <p:nvSpPr>
          <p:cNvPr id="3" name="text-158">
            <a:extLst>
              <a:ext uri="{FF2B5EF4-FFF2-40B4-BE49-F238E27FC236}">
                <a16:creationId xmlns:a16="http://schemas.microsoft.com/office/drawing/2014/main" id="{9B408E03-7D1B-4AF3-AD4D-EE8B0FD37F6E}"/>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두드림B&amp;B 블랙프라이데이 GFA 운영안</a:t>
            </a:r>
            <a:endParaRPr lang="ko-KR" sz="1100" dirty="0"/>
          </a:p>
        </p:txBody>
      </p:sp>
      <p:sp>
        <p:nvSpPr>
          <p:cNvPr id="4" name="node-159">
            <a:extLst>
              <a:ext uri="{FF2B5EF4-FFF2-40B4-BE49-F238E27FC236}">
                <a16:creationId xmlns:a16="http://schemas.microsoft.com/office/drawing/2014/main" id="{31975C1C-580A-4126-BED6-BCA0EB48BC44}"/>
              </a:ext>
            </a:extLst>
          </p:cNvPr>
          <p:cNvSpPr>
            <a:spLocks noGrp="1"/>
          </p:cNvSpPr>
          <p:nvPr/>
        </p:nvSpPr>
        <p:spPr>
          <a:xfrm>
            <a:off x="518160" y="2190750"/>
            <a:ext cx="3611880" cy="600075"/>
          </a:xfrm>
          <a:prstGeom prst="homePlate">
            <a:avLst>
              <a:gd name="adj" fmla="val 30000"/>
            </a:avLst>
          </a:prstGeom>
          <a:solidFill>
            <a:srgbClr val="EAF2FB"/>
          </a:solidFill>
          <a:ln w="0">
            <a:noFill/>
          </a:ln>
        </p:spPr>
        <p:txBody>
          <a:bodyPr/>
          <a:lstStyle/>
          <a:p>
            <a:endParaRPr lang="ko-KR" altLang="en-US"/>
          </a:p>
        </p:txBody>
      </p:sp>
      <p:sp>
        <p:nvSpPr>
          <p:cNvPr id="5" name="text-160">
            <a:extLst>
              <a:ext uri="{FF2B5EF4-FFF2-40B4-BE49-F238E27FC236}">
                <a16:creationId xmlns:a16="http://schemas.microsoft.com/office/drawing/2014/main" id="{9FEEE377-2941-4FCF-8A2F-D4DF19687C33}"/>
              </a:ext>
            </a:extLst>
          </p:cNvPr>
          <p:cNvSpPr>
            <a:spLocks noGrp="1"/>
          </p:cNvSpPr>
          <p:nvPr/>
        </p:nvSpPr>
        <p:spPr>
          <a:xfrm>
            <a:off x="742950" y="2295525"/>
            <a:ext cx="3067050" cy="390525"/>
          </a:xfrm>
          <a:prstGeom prst="rect">
            <a:avLst/>
          </a:prstGeom>
          <a:noFill/>
          <a:ln w="0">
            <a:noFill/>
          </a:ln>
        </p:spPr>
        <p:txBody>
          <a:bodyPr wrap="square" lIns="0" tIns="0" rIns="0" bIns="0" anchor="ctr">
            <a:noAutofit/>
          </a:bodyPr>
          <a:lstStyle>
            <a:defPPr algn="l">
              <a:defRPr sz="1800">
                <a:solidFill>
                  <a:srgbClr val="004F9F"/>
                </a:solidFill>
                <a:latin typeface="에이투지체 6 SemiBold"/>
                <a:ea typeface="에이투지체 6 SemiBold"/>
                <a:cs typeface="에이투지체 6 SemiBold"/>
              </a:defRPr>
            </a:defPPr>
          </a:lstStyle>
          <a:p>
            <a:pPr algn="l">
              <a:defRPr sz="1800">
                <a:solidFill>
                  <a:srgbClr val="004F9F"/>
                </a:solidFill>
                <a:latin typeface="에이투지체 6 SemiBold"/>
                <a:ea typeface="에이투지체 6 SemiBold"/>
                <a:cs typeface="에이투지체 6 SemiBold"/>
              </a:defRPr>
            </a:pPr>
            <a:r>
              <a:rPr sz="1800">
                <a:solidFill>
                  <a:srgbClr val="004F9F"/>
                </a:solidFill>
                <a:latin typeface="에이투지체 6 SemiBold"/>
                <a:ea typeface="에이투지체 6 SemiBold"/>
                <a:cs typeface="에이투지체 6 SemiBold"/>
              </a:rPr>
              <a:t>사전</a:t>
            </a:r>
          </a:p>
        </p:txBody>
      </p:sp>
      <p:sp>
        <p:nvSpPr>
          <p:cNvPr id="6" name="text-161">
            <a:extLst>
              <a:ext uri="{FF2B5EF4-FFF2-40B4-BE49-F238E27FC236}">
                <a16:creationId xmlns:a16="http://schemas.microsoft.com/office/drawing/2014/main" id="{E354213A-79D3-4E93-BE83-5E9EF924D61D}"/>
              </a:ext>
            </a:extLst>
          </p:cNvPr>
          <p:cNvSpPr>
            <a:spLocks noGrp="1"/>
          </p:cNvSpPr>
          <p:nvPr/>
        </p:nvSpPr>
        <p:spPr>
          <a:xfrm>
            <a:off x="552450" y="3067050"/>
            <a:ext cx="3448050" cy="409575"/>
          </a:xfrm>
          <a:prstGeom prst="rect">
            <a:avLst/>
          </a:prstGeom>
          <a:noFill/>
          <a:ln w="0">
            <a:noFill/>
          </a:ln>
        </p:spPr>
        <p:txBody>
          <a:bodyPr wrap="square" lIns="0" tIns="0" rIns="0" bIns="0" anchor="ctr">
            <a:noAutofit/>
          </a:bodyPr>
          <a:lstStyle>
            <a:defPPr algn="l">
              <a:defRPr sz="1575">
                <a:solidFill>
                  <a:srgbClr val="222222"/>
                </a:solidFill>
                <a:latin typeface="에이투지체 6 SemiBold"/>
                <a:ea typeface="에이투지체 6 SemiBold"/>
                <a:cs typeface="에이투지체 6 SemiBold"/>
              </a:defRPr>
            </a:defPPr>
          </a:lstStyle>
          <a:p>
            <a:pPr algn="l">
              <a:defRPr sz="1575">
                <a:solidFill>
                  <a:srgbClr val="222222"/>
                </a:solidFill>
                <a:latin typeface="에이투지체 6 SemiBold"/>
                <a:ea typeface="에이투지체 6 SemiBold"/>
                <a:cs typeface="에이투지체 6 SemiBold"/>
              </a:defRPr>
            </a:pPr>
            <a:r>
              <a:rPr sz="1575">
                <a:solidFill>
                  <a:srgbClr val="222222"/>
                </a:solidFill>
                <a:latin typeface="에이투지체 6 SemiBold"/>
                <a:ea typeface="에이투지체 6 SemiBold"/>
                <a:cs typeface="에이투지체 6 SemiBold"/>
              </a:rPr>
              <a:t>알림받기 고객 확보</a:t>
            </a:r>
          </a:p>
        </p:txBody>
      </p:sp>
      <p:sp>
        <p:nvSpPr>
          <p:cNvPr id="7" name="text-162">
            <a:extLst>
              <a:ext uri="{FF2B5EF4-FFF2-40B4-BE49-F238E27FC236}">
                <a16:creationId xmlns:a16="http://schemas.microsoft.com/office/drawing/2014/main" id="{C786BEF3-7B9E-4872-9BA3-AD517ABA3446}"/>
              </a:ext>
            </a:extLst>
          </p:cNvPr>
          <p:cNvSpPr>
            <a:spLocks noGrp="1"/>
          </p:cNvSpPr>
          <p:nvPr/>
        </p:nvSpPr>
        <p:spPr>
          <a:xfrm>
            <a:off x="552450" y="3676650"/>
            <a:ext cx="3448050" cy="952500"/>
          </a:xfrm>
          <a:prstGeom prst="rect">
            <a:avLst/>
          </a:prstGeom>
          <a:noFill/>
          <a:ln w="0">
            <a:noFill/>
          </a:ln>
        </p:spPr>
        <p:txBody>
          <a:bodyPr wrap="square" lIns="0" tIns="0" rIns="0" bIns="0" anchor="ctr">
            <a:noAutofit/>
          </a:bodyPr>
          <a:lstStyle>
            <a:defPPr algn="l">
              <a:defRPr sz="1402">
                <a:solidFill>
                  <a:srgbClr val="5C5C5C"/>
                </a:solidFill>
                <a:latin typeface="에이투지체 4 Regular"/>
                <a:ea typeface="에이투지체 4 Regular"/>
                <a:cs typeface="에이투지체 4 Regular"/>
              </a:defRPr>
            </a:defPPr>
          </a:lstStyle>
          <a:p>
            <a:pPr algn="l">
              <a:defRPr sz="1402">
                <a:solidFill>
                  <a:srgbClr val="5C5C5C"/>
                </a:solidFill>
                <a:latin typeface="에이투지체 4 Regular"/>
                <a:ea typeface="에이투지체 4 Regular"/>
                <a:cs typeface="에이투지체 4 Regular"/>
              </a:defRPr>
            </a:pPr>
            <a:r>
              <a:rPr sz="1402">
                <a:solidFill>
                  <a:srgbClr val="5C5C5C"/>
                </a:solidFill>
                <a:latin typeface="에이투지체 4 Regular"/>
                <a:ea typeface="에이투지체 4 Regular"/>
                <a:cs typeface="에이투지체 4 Regular"/>
              </a:rPr>
              <a:t>스마트채널 트래픽 확대</a:t>
            </a:r>
          </a:p>
          <a:p>
            <a:pPr algn="l">
              <a:defRPr sz="1402">
                <a:solidFill>
                  <a:srgbClr val="5C5C5C"/>
                </a:solidFill>
                <a:latin typeface="에이투지체 4 Regular"/>
                <a:ea typeface="에이투지체 4 Regular"/>
                <a:cs typeface="에이투지체 4 Regular"/>
              </a:defRPr>
            </a:pPr>
            <a:r>
              <a:rPr sz="1402">
                <a:solidFill>
                  <a:srgbClr val="5C5C5C"/>
                </a:solidFill>
                <a:latin typeface="에이투지체 4 Regular"/>
                <a:ea typeface="에이투지체 4 Regular"/>
                <a:cs typeface="에이투지체 4 Regular"/>
              </a:rPr>
              <a:t>알림받기 혜택 소재 운영</a:t>
            </a:r>
          </a:p>
          <a:p>
            <a:pPr algn="l">
              <a:defRPr sz="1402">
                <a:solidFill>
                  <a:srgbClr val="5C5C5C"/>
                </a:solidFill>
                <a:latin typeface="에이투지체 4 Regular"/>
                <a:ea typeface="에이투지체 4 Regular"/>
                <a:cs typeface="에이투지체 4 Regular"/>
              </a:defRPr>
            </a:pPr>
            <a:r>
              <a:rPr sz="1402">
                <a:solidFill>
                  <a:srgbClr val="5C5C5C"/>
                </a:solidFill>
                <a:latin typeface="에이투지체 4 Regular"/>
                <a:ea typeface="에이투지체 4 Regular"/>
                <a:cs typeface="에이투지체 4 Regular"/>
              </a:rPr>
              <a:t>방문 고객 모수 점검</a:t>
            </a:r>
          </a:p>
        </p:txBody>
      </p:sp>
      <p:sp>
        <p:nvSpPr>
          <p:cNvPr id="8" name="직선 연결선 7">
            <a:extLst>
              <a:ext uri="{FF2B5EF4-FFF2-40B4-BE49-F238E27FC236}">
                <a16:creationId xmlns:a16="http://schemas.microsoft.com/office/drawing/2014/main" id="{5165DEF0-21FB-4274-A338-7EF052C8D885}"/>
              </a:ext>
            </a:extLst>
          </p:cNvPr>
          <p:cNvSpPr>
            <a:spLocks noGrp="1"/>
          </p:cNvSpPr>
          <p:nvPr/>
        </p:nvSpPr>
        <p:spPr>
          <a:xfrm>
            <a:off x="552450" y="4924425"/>
            <a:ext cx="3448050" cy="0"/>
          </a:xfrm>
          <a:prstGeom prst="line">
            <a:avLst/>
          </a:prstGeom>
          <a:noFill/>
          <a:ln w="9525">
            <a:solidFill>
              <a:srgbClr val="D0D0D0"/>
            </a:solidFill>
          </a:ln>
        </p:spPr>
        <p:txBody>
          <a:bodyPr/>
          <a:lstStyle/>
          <a:p>
            <a:endParaRPr lang="ko-KR" altLang="en-US"/>
          </a:p>
        </p:txBody>
      </p:sp>
      <p:sp>
        <p:nvSpPr>
          <p:cNvPr id="9" name="text-163">
            <a:extLst>
              <a:ext uri="{FF2B5EF4-FFF2-40B4-BE49-F238E27FC236}">
                <a16:creationId xmlns:a16="http://schemas.microsoft.com/office/drawing/2014/main" id="{CA7CB7C4-D079-4EB9-A859-D1158ED6BFF1}"/>
              </a:ext>
            </a:extLst>
          </p:cNvPr>
          <p:cNvSpPr>
            <a:spLocks noGrp="1"/>
          </p:cNvSpPr>
          <p:nvPr/>
        </p:nvSpPr>
        <p:spPr>
          <a:xfrm>
            <a:off x="552450" y="5067300"/>
            <a:ext cx="3448050" cy="371475"/>
          </a:xfrm>
          <a:prstGeom prst="rect">
            <a:avLst/>
          </a:prstGeom>
          <a:noFill/>
          <a:ln w="0">
            <a:noFill/>
          </a:ln>
        </p:spPr>
        <p:txBody>
          <a:bodyPr wrap="square" lIns="0" tIns="0" rIns="0" bIns="0" anchor="ctr">
            <a:noAutofit/>
          </a:bodyPr>
          <a:lstStyle>
            <a:defPPr algn="l">
              <a:defRPr sz="1350">
                <a:solidFill>
                  <a:srgbClr val="004F9F"/>
                </a:solidFill>
                <a:latin typeface="에이투지체 6 SemiBold"/>
                <a:ea typeface="에이투지체 6 SemiBold"/>
                <a:cs typeface="에이투지체 6 SemiBold"/>
              </a:defRPr>
            </a:defPPr>
          </a:lstStyle>
          <a:p>
            <a:pPr algn="l">
              <a:defRPr sz="1350">
                <a:solidFill>
                  <a:srgbClr val="004F9F"/>
                </a:solidFill>
                <a:latin typeface="에이투지체 6 SemiBold"/>
                <a:ea typeface="에이투지체 6 SemiBold"/>
                <a:cs typeface="에이투지체 6 SemiBold"/>
              </a:defRPr>
            </a:pPr>
            <a:r>
              <a:rPr sz="1350">
                <a:solidFill>
                  <a:srgbClr val="004F9F"/>
                </a:solidFill>
                <a:latin typeface="에이투지체 6 SemiBold"/>
                <a:ea typeface="에이투지체 6 SemiBold"/>
                <a:cs typeface="에이투지체 6 SemiBold"/>
              </a:rPr>
              <a:t>알림받기 증가 수</a:t>
            </a:r>
          </a:p>
        </p:txBody>
      </p:sp>
      <p:sp>
        <p:nvSpPr>
          <p:cNvPr id="10" name="node-164">
            <a:extLst>
              <a:ext uri="{FF2B5EF4-FFF2-40B4-BE49-F238E27FC236}">
                <a16:creationId xmlns:a16="http://schemas.microsoft.com/office/drawing/2014/main" id="{69236DC6-B420-4340-894B-2F5EAA555286}"/>
              </a:ext>
            </a:extLst>
          </p:cNvPr>
          <p:cNvSpPr>
            <a:spLocks noGrp="1"/>
          </p:cNvSpPr>
          <p:nvPr/>
        </p:nvSpPr>
        <p:spPr>
          <a:xfrm>
            <a:off x="4328160" y="2190750"/>
            <a:ext cx="3611880" cy="600075"/>
          </a:xfrm>
          <a:prstGeom prst="chevron">
            <a:avLst>
              <a:gd name="adj" fmla="val 30000"/>
            </a:avLst>
          </a:prstGeom>
          <a:solidFill>
            <a:srgbClr val="004F9F"/>
          </a:solidFill>
          <a:ln w="0">
            <a:noFill/>
          </a:ln>
        </p:spPr>
        <p:txBody>
          <a:bodyPr/>
          <a:lstStyle/>
          <a:p>
            <a:endParaRPr lang="ko-KR" altLang="en-US"/>
          </a:p>
        </p:txBody>
      </p:sp>
      <p:sp>
        <p:nvSpPr>
          <p:cNvPr id="11" name="text-165">
            <a:extLst>
              <a:ext uri="{FF2B5EF4-FFF2-40B4-BE49-F238E27FC236}">
                <a16:creationId xmlns:a16="http://schemas.microsoft.com/office/drawing/2014/main" id="{45502AD4-D054-41A7-AD23-B701AF3C0B1A}"/>
              </a:ext>
            </a:extLst>
          </p:cNvPr>
          <p:cNvSpPr>
            <a:spLocks noGrp="1"/>
          </p:cNvSpPr>
          <p:nvPr/>
        </p:nvSpPr>
        <p:spPr>
          <a:xfrm>
            <a:off x="4552950" y="2295525"/>
            <a:ext cx="3067050" cy="390525"/>
          </a:xfrm>
          <a:prstGeom prst="rect">
            <a:avLst/>
          </a:prstGeom>
          <a:noFill/>
          <a:ln w="0">
            <a:noFill/>
          </a:ln>
        </p:spPr>
        <p:txBody>
          <a:bodyPr wrap="square" lIns="0" tIns="0" rIns="0" bIns="0" anchor="ctr">
            <a:noAutofit/>
          </a:bodyPr>
          <a:lstStyle>
            <a:defPPr algn="l">
              <a:defRPr sz="1800">
                <a:solidFill>
                  <a:srgbClr val="FFFFFF"/>
                </a:solidFill>
                <a:latin typeface="에이투지체 6 SemiBold"/>
                <a:ea typeface="에이투지체 6 SemiBold"/>
                <a:cs typeface="에이투지체 6 SemiBold"/>
              </a:defRPr>
            </a:defPPr>
          </a:lstStyle>
          <a:p>
            <a:pPr algn="l">
              <a:defRPr sz="1800">
                <a:solidFill>
                  <a:srgbClr val="FFFFFF"/>
                </a:solidFill>
                <a:latin typeface="에이투지체 6 SemiBold"/>
                <a:ea typeface="에이투지체 6 SemiBold"/>
                <a:cs typeface="에이투지체 6 SemiBold"/>
              </a:defRPr>
            </a:pPr>
            <a:r>
              <a:rPr sz="1800">
                <a:solidFill>
                  <a:srgbClr val="FFFFFF"/>
                </a:solidFill>
                <a:latin typeface="에이투지체 6 SemiBold"/>
                <a:ea typeface="에이투지체 6 SemiBold"/>
                <a:cs typeface="에이투지체 6 SemiBold"/>
              </a:rPr>
              <a:t>행사 당일</a:t>
            </a:r>
          </a:p>
        </p:txBody>
      </p:sp>
      <p:sp>
        <p:nvSpPr>
          <p:cNvPr id="12" name="text-166">
            <a:extLst>
              <a:ext uri="{FF2B5EF4-FFF2-40B4-BE49-F238E27FC236}">
                <a16:creationId xmlns:a16="http://schemas.microsoft.com/office/drawing/2014/main" id="{D0ABDA3D-7F1F-41C0-939E-1EDEDBC4AAAF}"/>
              </a:ext>
            </a:extLst>
          </p:cNvPr>
          <p:cNvSpPr>
            <a:spLocks noGrp="1"/>
          </p:cNvSpPr>
          <p:nvPr/>
        </p:nvSpPr>
        <p:spPr>
          <a:xfrm>
            <a:off x="4362450" y="3067050"/>
            <a:ext cx="3448050" cy="409575"/>
          </a:xfrm>
          <a:prstGeom prst="rect">
            <a:avLst/>
          </a:prstGeom>
          <a:noFill/>
          <a:ln w="0">
            <a:noFill/>
          </a:ln>
        </p:spPr>
        <p:txBody>
          <a:bodyPr wrap="square" lIns="0" tIns="0" rIns="0" bIns="0" anchor="ctr">
            <a:noAutofit/>
          </a:bodyPr>
          <a:lstStyle>
            <a:defPPr algn="l">
              <a:defRPr sz="1575">
                <a:solidFill>
                  <a:srgbClr val="222222"/>
                </a:solidFill>
                <a:latin typeface="에이투지체 6 SemiBold"/>
                <a:ea typeface="에이투지체 6 SemiBold"/>
                <a:cs typeface="에이투지체 6 SemiBold"/>
              </a:defRPr>
            </a:defPPr>
          </a:lstStyle>
          <a:p>
            <a:pPr algn="l">
              <a:defRPr sz="1575">
                <a:solidFill>
                  <a:srgbClr val="222222"/>
                </a:solidFill>
                <a:latin typeface="에이투지체 6 SemiBold"/>
                <a:ea typeface="에이투지체 6 SemiBold"/>
                <a:cs typeface="에이투지체 6 SemiBold"/>
              </a:defRPr>
            </a:pPr>
            <a:r>
              <a:rPr sz="1575" dirty="0" err="1">
                <a:solidFill>
                  <a:srgbClr val="222222"/>
                </a:solidFill>
                <a:latin typeface="에이투지체 6 SemiBold"/>
                <a:ea typeface="에이투지체 6 SemiBold"/>
                <a:cs typeface="에이투지체 6 SemiBold"/>
              </a:rPr>
              <a:t>톡톡</a:t>
            </a:r>
            <a:r>
              <a:rPr sz="1575" dirty="0">
                <a:solidFill>
                  <a:srgbClr val="222222"/>
                </a:solidFill>
                <a:latin typeface="에이투지체 6 SemiBold"/>
                <a:ea typeface="에이투지체 6 SemiBold"/>
                <a:cs typeface="에이투지체 6 SemiBold"/>
              </a:rPr>
              <a:t> CRM·GFA </a:t>
            </a:r>
            <a:r>
              <a:rPr sz="1575" dirty="0" err="1">
                <a:solidFill>
                  <a:srgbClr val="222222"/>
                </a:solidFill>
                <a:latin typeface="에이투지체 6 SemiBold"/>
                <a:ea typeface="에이투지체 6 SemiBold"/>
                <a:cs typeface="에이투지체 6 SemiBold"/>
              </a:rPr>
              <a:t>리타겟</a:t>
            </a:r>
            <a:endParaRPr sz="1575" dirty="0">
              <a:solidFill>
                <a:srgbClr val="222222"/>
              </a:solidFill>
              <a:latin typeface="에이투지체 6 SemiBold"/>
              <a:ea typeface="에이투지체 6 SemiBold"/>
              <a:cs typeface="에이투지체 6 SemiBold"/>
            </a:endParaRPr>
          </a:p>
        </p:txBody>
      </p:sp>
      <p:sp>
        <p:nvSpPr>
          <p:cNvPr id="13" name="text-167">
            <a:extLst>
              <a:ext uri="{FF2B5EF4-FFF2-40B4-BE49-F238E27FC236}">
                <a16:creationId xmlns:a16="http://schemas.microsoft.com/office/drawing/2014/main" id="{15EDEFDA-FE0A-49AF-8283-24C6AC96D61D}"/>
              </a:ext>
            </a:extLst>
          </p:cNvPr>
          <p:cNvSpPr>
            <a:spLocks noGrp="1"/>
          </p:cNvSpPr>
          <p:nvPr/>
        </p:nvSpPr>
        <p:spPr>
          <a:xfrm>
            <a:off x="4362450" y="3676650"/>
            <a:ext cx="3448050" cy="952500"/>
          </a:xfrm>
          <a:prstGeom prst="rect">
            <a:avLst/>
          </a:prstGeom>
          <a:noFill/>
          <a:ln w="0">
            <a:noFill/>
          </a:ln>
        </p:spPr>
        <p:txBody>
          <a:bodyPr wrap="square" lIns="0" tIns="0" rIns="0" bIns="0" anchor="ctr">
            <a:noAutofit/>
          </a:bodyPr>
          <a:lstStyle>
            <a:defPPr algn="l">
              <a:defRPr sz="1402">
                <a:solidFill>
                  <a:srgbClr val="5C5C5C"/>
                </a:solidFill>
                <a:latin typeface="에이투지체 4 Regular"/>
                <a:ea typeface="에이투지체 4 Regular"/>
                <a:cs typeface="에이투지체 4 Regular"/>
              </a:defRPr>
            </a:defPPr>
          </a:lstStyle>
          <a:p>
            <a:pPr algn="l">
              <a:defRPr sz="1402">
                <a:solidFill>
                  <a:srgbClr val="5C5C5C"/>
                </a:solidFill>
                <a:latin typeface="에이투지체 4 Regular"/>
                <a:ea typeface="에이투지체 4 Regular"/>
                <a:cs typeface="에이투지체 4 Regular"/>
              </a:defRPr>
            </a:pPr>
            <a:r>
              <a:rPr sz="1402" dirty="0" err="1">
                <a:solidFill>
                  <a:srgbClr val="5C5C5C"/>
                </a:solidFill>
                <a:latin typeface="에이투지체 4 Regular"/>
                <a:ea typeface="에이투지체 4 Regular"/>
                <a:cs typeface="에이투지체 4 Regular"/>
              </a:rPr>
              <a:t>확보</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고객에</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행사</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혜택</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안내</a:t>
            </a:r>
            <a:endParaRPr sz="1402" dirty="0">
              <a:solidFill>
                <a:srgbClr val="5C5C5C"/>
              </a:solidFill>
              <a:latin typeface="에이투지체 4 Regular"/>
              <a:ea typeface="에이투지체 4 Regular"/>
              <a:cs typeface="에이투지체 4 Regular"/>
            </a:endParaRPr>
          </a:p>
          <a:p>
            <a:pPr algn="l">
              <a:defRPr sz="1402">
                <a:solidFill>
                  <a:srgbClr val="5C5C5C"/>
                </a:solidFill>
                <a:latin typeface="에이투지체 4 Regular"/>
                <a:ea typeface="에이투지체 4 Regular"/>
                <a:cs typeface="에이투지체 4 Regular"/>
              </a:defRPr>
            </a:pPr>
            <a:r>
              <a:rPr sz="1402" dirty="0" err="1">
                <a:solidFill>
                  <a:srgbClr val="5C5C5C"/>
                </a:solidFill>
                <a:latin typeface="에이투지체 4 Regular"/>
                <a:ea typeface="에이투지체 4 Regular"/>
                <a:cs typeface="에이투지체 4 Regular"/>
              </a:rPr>
              <a:t>방문·장바구니</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고객</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유입</a:t>
            </a:r>
            <a:endParaRPr sz="1402" dirty="0">
              <a:solidFill>
                <a:srgbClr val="5C5C5C"/>
              </a:solidFill>
              <a:latin typeface="에이투지체 4 Regular"/>
              <a:ea typeface="에이투지체 4 Regular"/>
              <a:cs typeface="에이투지체 4 Regular"/>
            </a:endParaRPr>
          </a:p>
          <a:p>
            <a:pPr algn="l">
              <a:defRPr sz="1402">
                <a:solidFill>
                  <a:srgbClr val="5C5C5C"/>
                </a:solidFill>
                <a:latin typeface="에이투지체 4 Regular"/>
                <a:ea typeface="에이투지체 4 Regular"/>
                <a:cs typeface="에이투지체 4 Regular"/>
              </a:defRPr>
            </a:pPr>
            <a:r>
              <a:rPr sz="1402" dirty="0" err="1">
                <a:solidFill>
                  <a:srgbClr val="5C5C5C"/>
                </a:solidFill>
                <a:latin typeface="에이투지체 4 Regular"/>
                <a:ea typeface="에이투지체 4 Regular"/>
                <a:cs typeface="에이투지체 4 Regular"/>
              </a:rPr>
              <a:t>전환</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소재와</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예산</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집중</a:t>
            </a:r>
            <a:endParaRPr sz="1402" dirty="0">
              <a:solidFill>
                <a:srgbClr val="5C5C5C"/>
              </a:solidFill>
              <a:latin typeface="에이투지체 4 Regular"/>
              <a:ea typeface="에이투지체 4 Regular"/>
              <a:cs typeface="에이투지체 4 Regular"/>
            </a:endParaRPr>
          </a:p>
        </p:txBody>
      </p:sp>
      <p:sp>
        <p:nvSpPr>
          <p:cNvPr id="14" name="직선 연결선 13">
            <a:extLst>
              <a:ext uri="{FF2B5EF4-FFF2-40B4-BE49-F238E27FC236}">
                <a16:creationId xmlns:a16="http://schemas.microsoft.com/office/drawing/2014/main" id="{5E481E66-F9FB-478D-ABC9-65B16F09263D}"/>
              </a:ext>
            </a:extLst>
          </p:cNvPr>
          <p:cNvSpPr>
            <a:spLocks noGrp="1"/>
          </p:cNvSpPr>
          <p:nvPr/>
        </p:nvSpPr>
        <p:spPr>
          <a:xfrm>
            <a:off x="4362450" y="4924425"/>
            <a:ext cx="3448050" cy="0"/>
          </a:xfrm>
          <a:prstGeom prst="line">
            <a:avLst/>
          </a:prstGeom>
          <a:noFill/>
          <a:ln w="9525">
            <a:solidFill>
              <a:srgbClr val="D0D0D0"/>
            </a:solidFill>
          </a:ln>
        </p:spPr>
        <p:txBody>
          <a:bodyPr/>
          <a:lstStyle/>
          <a:p>
            <a:endParaRPr lang="ko-KR" altLang="en-US"/>
          </a:p>
        </p:txBody>
      </p:sp>
      <p:sp>
        <p:nvSpPr>
          <p:cNvPr id="15" name="text-168">
            <a:extLst>
              <a:ext uri="{FF2B5EF4-FFF2-40B4-BE49-F238E27FC236}">
                <a16:creationId xmlns:a16="http://schemas.microsoft.com/office/drawing/2014/main" id="{7876DFDA-C76B-4F1E-8309-29A3D1CAEDD7}"/>
              </a:ext>
            </a:extLst>
          </p:cNvPr>
          <p:cNvSpPr>
            <a:spLocks noGrp="1"/>
          </p:cNvSpPr>
          <p:nvPr/>
        </p:nvSpPr>
        <p:spPr>
          <a:xfrm>
            <a:off x="4362450" y="5067300"/>
            <a:ext cx="3448050" cy="371475"/>
          </a:xfrm>
          <a:prstGeom prst="rect">
            <a:avLst/>
          </a:prstGeom>
          <a:noFill/>
          <a:ln w="0">
            <a:noFill/>
          </a:ln>
        </p:spPr>
        <p:txBody>
          <a:bodyPr wrap="square" lIns="0" tIns="0" rIns="0" bIns="0" anchor="ctr">
            <a:noAutofit/>
          </a:bodyPr>
          <a:lstStyle>
            <a:defPPr algn="l">
              <a:defRPr sz="1350">
                <a:solidFill>
                  <a:srgbClr val="004F9F"/>
                </a:solidFill>
                <a:latin typeface="에이투지체 6 SemiBold"/>
                <a:ea typeface="에이투지체 6 SemiBold"/>
                <a:cs typeface="에이투지체 6 SemiBold"/>
              </a:defRPr>
            </a:defPPr>
          </a:lstStyle>
          <a:p>
            <a:pPr algn="l">
              <a:defRPr sz="1350">
                <a:solidFill>
                  <a:srgbClr val="004F9F"/>
                </a:solidFill>
                <a:latin typeface="에이투지체 6 SemiBold"/>
                <a:ea typeface="에이투지체 6 SemiBold"/>
                <a:cs typeface="에이투지체 6 SemiBold"/>
              </a:defRPr>
            </a:pPr>
            <a:r>
              <a:rPr sz="1350">
                <a:solidFill>
                  <a:srgbClr val="004F9F"/>
                </a:solidFill>
                <a:latin typeface="에이투지체 6 SemiBold"/>
                <a:ea typeface="에이투지체 6 SemiBold"/>
                <a:cs typeface="에이투지체 6 SemiBold"/>
              </a:rPr>
              <a:t>당일 스토어 매출</a:t>
            </a:r>
          </a:p>
        </p:txBody>
      </p:sp>
      <p:sp>
        <p:nvSpPr>
          <p:cNvPr id="16" name="node-169">
            <a:extLst>
              <a:ext uri="{FF2B5EF4-FFF2-40B4-BE49-F238E27FC236}">
                <a16:creationId xmlns:a16="http://schemas.microsoft.com/office/drawing/2014/main" id="{89A392AA-2351-4BB6-8B5C-3FE264DD62D9}"/>
              </a:ext>
            </a:extLst>
          </p:cNvPr>
          <p:cNvSpPr>
            <a:spLocks noGrp="1"/>
          </p:cNvSpPr>
          <p:nvPr/>
        </p:nvSpPr>
        <p:spPr>
          <a:xfrm>
            <a:off x="8138160" y="2190750"/>
            <a:ext cx="3611880" cy="600075"/>
          </a:xfrm>
          <a:prstGeom prst="chevron">
            <a:avLst>
              <a:gd name="adj" fmla="val 30000"/>
            </a:avLst>
          </a:prstGeom>
          <a:solidFill>
            <a:srgbClr val="EAF2FB"/>
          </a:solidFill>
          <a:ln w="0">
            <a:noFill/>
          </a:ln>
        </p:spPr>
        <p:txBody>
          <a:bodyPr/>
          <a:lstStyle/>
          <a:p>
            <a:endParaRPr lang="ko-KR" altLang="en-US"/>
          </a:p>
        </p:txBody>
      </p:sp>
      <p:sp>
        <p:nvSpPr>
          <p:cNvPr id="17" name="text-170">
            <a:extLst>
              <a:ext uri="{FF2B5EF4-FFF2-40B4-BE49-F238E27FC236}">
                <a16:creationId xmlns:a16="http://schemas.microsoft.com/office/drawing/2014/main" id="{92020BEF-C55C-4A3C-91C6-6AE8520C0E22}"/>
              </a:ext>
            </a:extLst>
          </p:cNvPr>
          <p:cNvSpPr>
            <a:spLocks noGrp="1"/>
          </p:cNvSpPr>
          <p:nvPr/>
        </p:nvSpPr>
        <p:spPr>
          <a:xfrm>
            <a:off x="8362950" y="2295525"/>
            <a:ext cx="3067050" cy="390525"/>
          </a:xfrm>
          <a:prstGeom prst="rect">
            <a:avLst/>
          </a:prstGeom>
          <a:noFill/>
          <a:ln w="0">
            <a:noFill/>
          </a:ln>
        </p:spPr>
        <p:txBody>
          <a:bodyPr wrap="square" lIns="0" tIns="0" rIns="0" bIns="0" anchor="ctr">
            <a:noAutofit/>
          </a:bodyPr>
          <a:lstStyle>
            <a:defPPr algn="l">
              <a:defRPr sz="1800">
                <a:solidFill>
                  <a:srgbClr val="004F9F"/>
                </a:solidFill>
                <a:latin typeface="에이투지체 6 SemiBold"/>
                <a:ea typeface="에이투지체 6 SemiBold"/>
                <a:cs typeface="에이투지체 6 SemiBold"/>
              </a:defRPr>
            </a:defPPr>
          </a:lstStyle>
          <a:p>
            <a:pPr algn="l">
              <a:defRPr sz="1800">
                <a:solidFill>
                  <a:srgbClr val="004F9F"/>
                </a:solidFill>
                <a:latin typeface="에이투지체 6 SemiBold"/>
                <a:ea typeface="에이투지체 6 SemiBold"/>
                <a:cs typeface="에이투지체 6 SemiBold"/>
              </a:defRPr>
            </a:pPr>
            <a:r>
              <a:rPr sz="1800">
                <a:solidFill>
                  <a:srgbClr val="004F9F"/>
                </a:solidFill>
                <a:latin typeface="에이투지체 6 SemiBold"/>
                <a:ea typeface="에이투지체 6 SemiBold"/>
                <a:cs typeface="에이투지체 6 SemiBold"/>
              </a:rPr>
              <a:t>행사 후</a:t>
            </a:r>
          </a:p>
        </p:txBody>
      </p:sp>
      <p:sp>
        <p:nvSpPr>
          <p:cNvPr id="18" name="text-171">
            <a:extLst>
              <a:ext uri="{FF2B5EF4-FFF2-40B4-BE49-F238E27FC236}">
                <a16:creationId xmlns:a16="http://schemas.microsoft.com/office/drawing/2014/main" id="{CDD8BB85-B1F3-4A22-A7F1-08F6B008D83D}"/>
              </a:ext>
            </a:extLst>
          </p:cNvPr>
          <p:cNvSpPr>
            <a:spLocks noGrp="1"/>
          </p:cNvSpPr>
          <p:nvPr/>
        </p:nvSpPr>
        <p:spPr>
          <a:xfrm>
            <a:off x="8172450" y="3067050"/>
            <a:ext cx="3448050" cy="409575"/>
          </a:xfrm>
          <a:prstGeom prst="rect">
            <a:avLst/>
          </a:prstGeom>
          <a:noFill/>
          <a:ln w="0">
            <a:noFill/>
          </a:ln>
        </p:spPr>
        <p:txBody>
          <a:bodyPr wrap="square" lIns="0" tIns="0" rIns="0" bIns="0" anchor="ctr">
            <a:noAutofit/>
          </a:bodyPr>
          <a:lstStyle>
            <a:defPPr algn="l">
              <a:defRPr sz="1575">
                <a:solidFill>
                  <a:srgbClr val="222222"/>
                </a:solidFill>
                <a:latin typeface="에이투지체 6 SemiBold"/>
                <a:ea typeface="에이투지체 6 SemiBold"/>
                <a:cs typeface="에이투지체 6 SemiBold"/>
              </a:defRPr>
            </a:defPPr>
          </a:lstStyle>
          <a:p>
            <a:pPr algn="l">
              <a:defRPr sz="1575">
                <a:solidFill>
                  <a:srgbClr val="222222"/>
                </a:solidFill>
                <a:latin typeface="에이투지체 6 SemiBold"/>
                <a:ea typeface="에이투지체 6 SemiBold"/>
                <a:cs typeface="에이투지체 6 SemiBold"/>
              </a:defRPr>
            </a:pPr>
            <a:r>
              <a:rPr sz="1575">
                <a:solidFill>
                  <a:srgbClr val="222222"/>
                </a:solidFill>
                <a:latin typeface="에이투지체 6 SemiBold"/>
                <a:ea typeface="에이투지체 6 SemiBold"/>
                <a:cs typeface="에이투지체 6 SemiBold"/>
              </a:rPr>
              <a:t>미구매 고객 전환</a:t>
            </a:r>
          </a:p>
        </p:txBody>
      </p:sp>
      <p:sp>
        <p:nvSpPr>
          <p:cNvPr id="19" name="text-172">
            <a:extLst>
              <a:ext uri="{FF2B5EF4-FFF2-40B4-BE49-F238E27FC236}">
                <a16:creationId xmlns:a16="http://schemas.microsoft.com/office/drawing/2014/main" id="{C896E230-18D2-4685-972D-CBE5F175D7CB}"/>
              </a:ext>
            </a:extLst>
          </p:cNvPr>
          <p:cNvSpPr>
            <a:spLocks noGrp="1"/>
          </p:cNvSpPr>
          <p:nvPr/>
        </p:nvSpPr>
        <p:spPr>
          <a:xfrm>
            <a:off x="8172450" y="3676650"/>
            <a:ext cx="3448050" cy="952500"/>
          </a:xfrm>
          <a:prstGeom prst="rect">
            <a:avLst/>
          </a:prstGeom>
          <a:noFill/>
          <a:ln w="0">
            <a:noFill/>
          </a:ln>
        </p:spPr>
        <p:txBody>
          <a:bodyPr wrap="square" lIns="0" tIns="0" rIns="0" bIns="0" anchor="ctr">
            <a:noAutofit/>
          </a:bodyPr>
          <a:lstStyle>
            <a:defPPr algn="l">
              <a:defRPr sz="1402">
                <a:solidFill>
                  <a:srgbClr val="5C5C5C"/>
                </a:solidFill>
                <a:latin typeface="에이투지체 4 Regular"/>
                <a:ea typeface="에이투지체 4 Regular"/>
                <a:cs typeface="에이투지체 4 Regular"/>
              </a:defRPr>
            </a:defPPr>
          </a:lstStyle>
          <a:p>
            <a:pPr algn="l">
              <a:defRPr sz="1402">
                <a:solidFill>
                  <a:srgbClr val="5C5C5C"/>
                </a:solidFill>
                <a:latin typeface="에이투지체 4 Regular"/>
                <a:ea typeface="에이투지체 4 Regular"/>
                <a:cs typeface="에이투지체 4 Regular"/>
              </a:defRPr>
            </a:pPr>
            <a:r>
              <a:rPr sz="1402">
                <a:solidFill>
                  <a:srgbClr val="5C5C5C"/>
                </a:solidFill>
                <a:latin typeface="에이투지체 4 Regular"/>
                <a:ea typeface="에이투지체 4 Regular"/>
                <a:cs typeface="에이투지체 4 Regular"/>
              </a:rPr>
              <a:t>미구매 방문 고객 재접촉</a:t>
            </a:r>
          </a:p>
          <a:p>
            <a:pPr algn="l">
              <a:defRPr sz="1402">
                <a:solidFill>
                  <a:srgbClr val="5C5C5C"/>
                </a:solidFill>
                <a:latin typeface="에이투지체 4 Regular"/>
                <a:ea typeface="에이투지체 4 Regular"/>
                <a:cs typeface="에이투지체 4 Regular"/>
              </a:defRPr>
            </a:pPr>
            <a:r>
              <a:rPr sz="1402">
                <a:solidFill>
                  <a:srgbClr val="5C5C5C"/>
                </a:solidFill>
                <a:latin typeface="에이투지체 4 Regular"/>
                <a:ea typeface="에이투지체 4 Regular"/>
                <a:cs typeface="에이투지체 4 Regular"/>
              </a:rPr>
              <a:t>구매 고객 재구매 구분</a:t>
            </a:r>
          </a:p>
          <a:p>
            <a:pPr algn="l">
              <a:defRPr sz="1402">
                <a:solidFill>
                  <a:srgbClr val="5C5C5C"/>
                </a:solidFill>
                <a:latin typeface="에이투지체 4 Regular"/>
                <a:ea typeface="에이투지체 4 Regular"/>
                <a:cs typeface="에이투지체 4 Regular"/>
              </a:defRPr>
            </a:pPr>
            <a:r>
              <a:rPr sz="1402">
                <a:solidFill>
                  <a:srgbClr val="5C5C5C"/>
                </a:solidFill>
                <a:latin typeface="에이투지체 4 Regular"/>
                <a:ea typeface="에이투지체 4 Regular"/>
                <a:cs typeface="에이투지체 4 Regular"/>
              </a:rPr>
              <a:t>검증된 상시 소재 복귀</a:t>
            </a:r>
          </a:p>
        </p:txBody>
      </p:sp>
      <p:sp>
        <p:nvSpPr>
          <p:cNvPr id="20" name="직선 연결선 19">
            <a:extLst>
              <a:ext uri="{FF2B5EF4-FFF2-40B4-BE49-F238E27FC236}">
                <a16:creationId xmlns:a16="http://schemas.microsoft.com/office/drawing/2014/main" id="{790A093D-09BE-4112-A6FE-C7FF06391873}"/>
              </a:ext>
            </a:extLst>
          </p:cNvPr>
          <p:cNvSpPr>
            <a:spLocks noGrp="1"/>
          </p:cNvSpPr>
          <p:nvPr/>
        </p:nvSpPr>
        <p:spPr>
          <a:xfrm>
            <a:off x="8172450" y="4924425"/>
            <a:ext cx="3448050" cy="0"/>
          </a:xfrm>
          <a:prstGeom prst="line">
            <a:avLst/>
          </a:prstGeom>
          <a:noFill/>
          <a:ln w="9525">
            <a:solidFill>
              <a:srgbClr val="D0D0D0"/>
            </a:solidFill>
          </a:ln>
        </p:spPr>
        <p:txBody>
          <a:bodyPr/>
          <a:lstStyle/>
          <a:p>
            <a:endParaRPr lang="ko-KR" altLang="en-US"/>
          </a:p>
        </p:txBody>
      </p:sp>
      <p:sp>
        <p:nvSpPr>
          <p:cNvPr id="21" name="text-173">
            <a:extLst>
              <a:ext uri="{FF2B5EF4-FFF2-40B4-BE49-F238E27FC236}">
                <a16:creationId xmlns:a16="http://schemas.microsoft.com/office/drawing/2014/main" id="{C5241276-359D-47C6-B2DB-463B1FE52F6E}"/>
              </a:ext>
            </a:extLst>
          </p:cNvPr>
          <p:cNvSpPr>
            <a:spLocks noGrp="1"/>
          </p:cNvSpPr>
          <p:nvPr/>
        </p:nvSpPr>
        <p:spPr>
          <a:xfrm>
            <a:off x="8172450" y="5067300"/>
            <a:ext cx="3448050" cy="371475"/>
          </a:xfrm>
          <a:prstGeom prst="rect">
            <a:avLst/>
          </a:prstGeom>
          <a:noFill/>
          <a:ln w="0">
            <a:noFill/>
          </a:ln>
        </p:spPr>
        <p:txBody>
          <a:bodyPr wrap="square" lIns="0" tIns="0" rIns="0" bIns="0" anchor="ctr">
            <a:noAutofit/>
          </a:bodyPr>
          <a:lstStyle>
            <a:defPPr algn="l">
              <a:defRPr sz="1350">
                <a:solidFill>
                  <a:srgbClr val="004F9F"/>
                </a:solidFill>
                <a:latin typeface="에이투지체 6 SemiBold"/>
                <a:ea typeface="에이투지체 6 SemiBold"/>
                <a:cs typeface="에이투지체 6 SemiBold"/>
              </a:defRPr>
            </a:defPPr>
          </a:lstStyle>
          <a:p>
            <a:pPr algn="l">
              <a:defRPr sz="1350">
                <a:solidFill>
                  <a:srgbClr val="004F9F"/>
                </a:solidFill>
                <a:latin typeface="에이투지체 6 SemiBold"/>
                <a:ea typeface="에이투지체 6 SemiBold"/>
                <a:cs typeface="에이투지체 6 SemiBold"/>
              </a:defRPr>
            </a:pPr>
            <a:r>
              <a:rPr sz="1350">
                <a:solidFill>
                  <a:srgbClr val="004F9F"/>
                </a:solidFill>
                <a:latin typeface="에이투지체 6 SemiBold"/>
                <a:ea typeface="에이투지체 6 SemiBold"/>
                <a:cs typeface="에이투지체 6 SemiBold"/>
              </a:rPr>
              <a:t>상품군별 구매 ROAS</a:t>
            </a:r>
          </a:p>
        </p:txBody>
      </p:sp>
      <p:sp>
        <p:nvSpPr>
          <p:cNvPr id="22" name="node-174">
            <a:extLst>
              <a:ext uri="{FF2B5EF4-FFF2-40B4-BE49-F238E27FC236}">
                <a16:creationId xmlns:a16="http://schemas.microsoft.com/office/drawing/2014/main" id="{5F4DF587-0433-42AB-9C9D-626DB7BA64F9}"/>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dirty="0"/>
          </a:p>
        </p:txBody>
      </p:sp>
      <p:sp>
        <p:nvSpPr>
          <p:cNvPr id="23" name="text-175">
            <a:extLst>
              <a:ext uri="{FF2B5EF4-FFF2-40B4-BE49-F238E27FC236}">
                <a16:creationId xmlns:a16="http://schemas.microsoft.com/office/drawing/2014/main" id="{8156FC41-2C72-486C-990E-B80FB8D7BB4F}"/>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dirty="0" err="1">
                <a:solidFill>
                  <a:srgbClr val="004F9F"/>
                </a:solidFill>
                <a:latin typeface="에이투지체 6 SemiBold"/>
                <a:ea typeface="에이투지체 6 SemiBold"/>
                <a:cs typeface="에이투지체 6 SemiBold"/>
              </a:rPr>
              <a:t>고객</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확보</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비용과</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행사</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구매</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성과를</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함께</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보고</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행사</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종료</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후에도</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상시</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학습을</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유지합니다</a:t>
            </a:r>
            <a:endParaRPr sz="1358" dirty="0">
              <a:solidFill>
                <a:srgbClr val="FFFFFF"/>
              </a:solidFill>
              <a:latin typeface="에이투지체 6 SemiBold"/>
              <a:ea typeface="에이투지체 6 SemiBold"/>
              <a:cs typeface="에이투지체 6 SemiBold"/>
            </a:endParaRPr>
          </a:p>
        </p:txBody>
      </p:sp>
      <p:sp>
        <p:nvSpPr>
          <p:cNvPr id="29" name="TextBox 1">
            <a:extLst>
              <a:ext uri="{FF2B5EF4-FFF2-40B4-BE49-F238E27FC236}">
                <a16:creationId xmlns:a16="http://schemas.microsoft.com/office/drawing/2014/main" id="{279503A6-B1FD-24E0-792E-32E40DDA4B6F}"/>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9CDCB-6D63-91EC-9FCE-35C54ABAA390}"/>
            </a:ext>
          </a:extLst>
        </p:cNvPr>
        <p:cNvGrpSpPr/>
        <p:nvPr/>
      </p:nvGrpSpPr>
      <p:grpSpPr>
        <a:xfrm>
          <a:off x="0" y="0"/>
          <a:ext cx="0" cy="0"/>
          <a:chOff x="0" y="0"/>
          <a:chExt cx="0" cy="0"/>
        </a:xfrm>
      </p:grpSpPr>
      <p:sp>
        <p:nvSpPr>
          <p:cNvPr id="25" name="TextBox 7">
            <a:extLst>
              <a:ext uri="{FF2B5EF4-FFF2-40B4-BE49-F238E27FC236}">
                <a16:creationId xmlns:a16="http://schemas.microsoft.com/office/drawing/2014/main" id="{B713BD26-690E-45DC-5839-1059C3B4620F}"/>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6" name="TextBox 8">
            <a:extLst>
              <a:ext uri="{FF2B5EF4-FFF2-40B4-BE49-F238E27FC236}">
                <a16:creationId xmlns:a16="http://schemas.microsoft.com/office/drawing/2014/main" id="{4F6E82AD-8B00-5A3F-A999-1077EC36E14A}"/>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27" name="PGNO">
            <a:extLst>
              <a:ext uri="{FF2B5EF4-FFF2-40B4-BE49-F238E27FC236}">
                <a16:creationId xmlns:a16="http://schemas.microsoft.com/office/drawing/2014/main" id="{3CEE657A-3704-2E87-816F-5F79E6353F57}"/>
              </a:ext>
            </a:extLst>
          </p:cNvPr>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39</a:t>
            </a:r>
          </a:p>
        </p:txBody>
      </p:sp>
      <p:sp>
        <p:nvSpPr>
          <p:cNvPr id="2" name="text-157">
            <a:extLst>
              <a:ext uri="{FF2B5EF4-FFF2-40B4-BE49-F238E27FC236}">
                <a16:creationId xmlns:a16="http://schemas.microsoft.com/office/drawing/2014/main" id="{B5BF84DD-2441-CFAD-1704-F60E594C6472}"/>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GFA 블프 소재</a:t>
            </a:r>
            <a:r>
              <a:rPr lang="ko-KR" sz="1900" dirty="0">
                <a:solidFill>
                  <a:srgbClr val="222222"/>
                </a:solidFill>
                <a:latin typeface="에이투지체 8 ExtraBold"/>
                <a:ea typeface="에이투지체 8 ExtraBold"/>
                <a:cs typeface="에이투지체 8 ExtraBold"/>
              </a:rPr>
              <a:t>  전략에 맞춘 소재 운영으로</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목표 KPI를 효율적으로 달성합니다</a:t>
            </a:r>
            <a:endParaRPr lang="ko-KR" sz="1900" dirty="0"/>
          </a:p>
        </p:txBody>
      </p:sp>
      <p:sp>
        <p:nvSpPr>
          <p:cNvPr id="11" name="node-159">
            <a:extLst>
              <a:ext uri="{FF2B5EF4-FFF2-40B4-BE49-F238E27FC236}">
                <a16:creationId xmlns:a16="http://schemas.microsoft.com/office/drawing/2014/main" id="{E2598B9C-D84B-8611-1CB8-F8E9A0AE1E76}"/>
              </a:ext>
            </a:extLst>
          </p:cNvPr>
          <p:cNvSpPr>
            <a:spLocks noGrp="1"/>
          </p:cNvSpPr>
          <p:nvPr/>
        </p:nvSpPr>
        <p:spPr>
          <a:xfrm>
            <a:off x="518160" y="2083526"/>
            <a:ext cx="3611880" cy="600075"/>
          </a:xfrm>
          <a:prstGeom prst="homePlate">
            <a:avLst>
              <a:gd name="adj" fmla="val 30000"/>
            </a:avLst>
          </a:prstGeom>
          <a:solidFill>
            <a:srgbClr val="EAF2FB"/>
          </a:solidFill>
          <a:ln w="0">
            <a:noFill/>
          </a:ln>
        </p:spPr>
        <p:txBody>
          <a:bodyPr/>
          <a:lstStyle/>
          <a:p>
            <a:endParaRPr lang="ko-KR" altLang="en-US"/>
          </a:p>
        </p:txBody>
      </p:sp>
      <p:sp>
        <p:nvSpPr>
          <p:cNvPr id="13" name="text-160">
            <a:extLst>
              <a:ext uri="{FF2B5EF4-FFF2-40B4-BE49-F238E27FC236}">
                <a16:creationId xmlns:a16="http://schemas.microsoft.com/office/drawing/2014/main" id="{61803DC7-90A6-5290-9B1E-E3B5CE4AECF7}"/>
              </a:ext>
            </a:extLst>
          </p:cNvPr>
          <p:cNvSpPr>
            <a:spLocks noGrp="1"/>
          </p:cNvSpPr>
          <p:nvPr/>
        </p:nvSpPr>
        <p:spPr>
          <a:xfrm>
            <a:off x="742950" y="2188301"/>
            <a:ext cx="3067050" cy="390525"/>
          </a:xfrm>
          <a:prstGeom prst="rect">
            <a:avLst/>
          </a:prstGeom>
          <a:noFill/>
          <a:ln w="0">
            <a:noFill/>
          </a:ln>
        </p:spPr>
        <p:txBody>
          <a:bodyPr wrap="square" lIns="0" tIns="0" rIns="0" bIns="0" anchor="ctr">
            <a:noAutofit/>
          </a:bodyPr>
          <a:lstStyle>
            <a:defPPr algn="l">
              <a:defRPr sz="1800">
                <a:solidFill>
                  <a:srgbClr val="004F9F"/>
                </a:solidFill>
                <a:latin typeface="에이투지체 6 SemiBold"/>
                <a:ea typeface="에이투지체 6 SemiBold"/>
                <a:cs typeface="에이투지체 6 SemiBold"/>
              </a:defRPr>
            </a:defPPr>
          </a:lstStyle>
          <a:p>
            <a:pPr algn="l">
              <a:defRPr sz="1800">
                <a:solidFill>
                  <a:srgbClr val="004F9F"/>
                </a:solidFill>
                <a:latin typeface="에이투지체 6 SemiBold"/>
                <a:ea typeface="에이투지체 6 SemiBold"/>
                <a:cs typeface="에이투지체 6 SemiBold"/>
              </a:defRPr>
            </a:pPr>
            <a:r>
              <a:rPr sz="1800">
                <a:solidFill>
                  <a:srgbClr val="004F9F"/>
                </a:solidFill>
                <a:latin typeface="에이투지체 6 SemiBold"/>
                <a:ea typeface="에이투지체 6 SemiBold"/>
                <a:cs typeface="에이투지체 6 SemiBold"/>
              </a:rPr>
              <a:t>사전</a:t>
            </a:r>
          </a:p>
        </p:txBody>
      </p:sp>
      <p:sp>
        <p:nvSpPr>
          <p:cNvPr id="15" name="node-164">
            <a:extLst>
              <a:ext uri="{FF2B5EF4-FFF2-40B4-BE49-F238E27FC236}">
                <a16:creationId xmlns:a16="http://schemas.microsoft.com/office/drawing/2014/main" id="{4E737E10-49FF-4992-975D-CC534CD6E659}"/>
              </a:ext>
            </a:extLst>
          </p:cNvPr>
          <p:cNvSpPr>
            <a:spLocks noGrp="1"/>
          </p:cNvSpPr>
          <p:nvPr/>
        </p:nvSpPr>
        <p:spPr>
          <a:xfrm>
            <a:off x="4328160" y="2083526"/>
            <a:ext cx="3611880" cy="600075"/>
          </a:xfrm>
          <a:prstGeom prst="chevron">
            <a:avLst>
              <a:gd name="adj" fmla="val 30000"/>
            </a:avLst>
          </a:prstGeom>
          <a:solidFill>
            <a:srgbClr val="004F9F"/>
          </a:solidFill>
          <a:ln w="0">
            <a:noFill/>
          </a:ln>
        </p:spPr>
        <p:txBody>
          <a:bodyPr/>
          <a:lstStyle/>
          <a:p>
            <a:endParaRPr lang="ko-KR" altLang="en-US"/>
          </a:p>
        </p:txBody>
      </p:sp>
      <p:sp>
        <p:nvSpPr>
          <p:cNvPr id="17" name="text-165">
            <a:extLst>
              <a:ext uri="{FF2B5EF4-FFF2-40B4-BE49-F238E27FC236}">
                <a16:creationId xmlns:a16="http://schemas.microsoft.com/office/drawing/2014/main" id="{666BF0E5-2DDB-A820-CEA9-75093984D295}"/>
              </a:ext>
            </a:extLst>
          </p:cNvPr>
          <p:cNvSpPr>
            <a:spLocks noGrp="1"/>
          </p:cNvSpPr>
          <p:nvPr/>
        </p:nvSpPr>
        <p:spPr>
          <a:xfrm>
            <a:off x="4552950" y="2188301"/>
            <a:ext cx="3067050" cy="390525"/>
          </a:xfrm>
          <a:prstGeom prst="rect">
            <a:avLst/>
          </a:prstGeom>
          <a:noFill/>
          <a:ln w="0">
            <a:noFill/>
          </a:ln>
        </p:spPr>
        <p:txBody>
          <a:bodyPr wrap="square" lIns="0" tIns="0" rIns="0" bIns="0" anchor="ctr">
            <a:noAutofit/>
          </a:bodyPr>
          <a:lstStyle>
            <a:defPPr algn="l">
              <a:defRPr sz="1800">
                <a:solidFill>
                  <a:srgbClr val="FFFFFF"/>
                </a:solidFill>
                <a:latin typeface="에이투지체 6 SemiBold"/>
                <a:ea typeface="에이투지체 6 SemiBold"/>
                <a:cs typeface="에이투지체 6 SemiBold"/>
              </a:defRPr>
            </a:defPPr>
          </a:lstStyle>
          <a:p>
            <a:pPr algn="l">
              <a:defRPr sz="1800">
                <a:solidFill>
                  <a:srgbClr val="FFFFFF"/>
                </a:solidFill>
                <a:latin typeface="에이투지체 6 SemiBold"/>
                <a:ea typeface="에이투지체 6 SemiBold"/>
                <a:cs typeface="에이투지체 6 SemiBold"/>
              </a:defRPr>
            </a:pPr>
            <a:r>
              <a:rPr sz="1800">
                <a:solidFill>
                  <a:srgbClr val="FFFFFF"/>
                </a:solidFill>
                <a:latin typeface="에이투지체 6 SemiBold"/>
                <a:ea typeface="에이투지체 6 SemiBold"/>
                <a:cs typeface="에이투지체 6 SemiBold"/>
              </a:rPr>
              <a:t>행사 당일</a:t>
            </a:r>
          </a:p>
        </p:txBody>
      </p:sp>
      <p:sp>
        <p:nvSpPr>
          <p:cNvPr id="19" name="node-169">
            <a:extLst>
              <a:ext uri="{FF2B5EF4-FFF2-40B4-BE49-F238E27FC236}">
                <a16:creationId xmlns:a16="http://schemas.microsoft.com/office/drawing/2014/main" id="{90509A51-28A4-966C-126E-9E02BB692C6E}"/>
              </a:ext>
            </a:extLst>
          </p:cNvPr>
          <p:cNvSpPr>
            <a:spLocks noGrp="1"/>
          </p:cNvSpPr>
          <p:nvPr/>
        </p:nvSpPr>
        <p:spPr>
          <a:xfrm>
            <a:off x="8138160" y="2083526"/>
            <a:ext cx="3611880" cy="600075"/>
          </a:xfrm>
          <a:prstGeom prst="chevron">
            <a:avLst>
              <a:gd name="adj" fmla="val 30000"/>
            </a:avLst>
          </a:prstGeom>
          <a:solidFill>
            <a:srgbClr val="EAF2FB"/>
          </a:solidFill>
          <a:ln w="0">
            <a:noFill/>
          </a:ln>
        </p:spPr>
        <p:txBody>
          <a:bodyPr/>
          <a:lstStyle/>
          <a:p>
            <a:endParaRPr lang="ko-KR" altLang="en-US"/>
          </a:p>
        </p:txBody>
      </p:sp>
      <p:sp>
        <p:nvSpPr>
          <p:cNvPr id="21" name="text-170">
            <a:extLst>
              <a:ext uri="{FF2B5EF4-FFF2-40B4-BE49-F238E27FC236}">
                <a16:creationId xmlns:a16="http://schemas.microsoft.com/office/drawing/2014/main" id="{D14CE24B-662D-9724-74FB-0860AEFA2D70}"/>
              </a:ext>
            </a:extLst>
          </p:cNvPr>
          <p:cNvSpPr>
            <a:spLocks noGrp="1"/>
          </p:cNvSpPr>
          <p:nvPr/>
        </p:nvSpPr>
        <p:spPr>
          <a:xfrm>
            <a:off x="8362950" y="2188301"/>
            <a:ext cx="3067050" cy="390525"/>
          </a:xfrm>
          <a:prstGeom prst="rect">
            <a:avLst/>
          </a:prstGeom>
          <a:noFill/>
          <a:ln w="0">
            <a:noFill/>
          </a:ln>
        </p:spPr>
        <p:txBody>
          <a:bodyPr wrap="square" lIns="0" tIns="0" rIns="0" bIns="0" anchor="ctr">
            <a:noAutofit/>
          </a:bodyPr>
          <a:lstStyle>
            <a:defPPr algn="l">
              <a:defRPr sz="1800">
                <a:solidFill>
                  <a:srgbClr val="004F9F"/>
                </a:solidFill>
                <a:latin typeface="에이투지체 6 SemiBold"/>
                <a:ea typeface="에이투지체 6 SemiBold"/>
                <a:cs typeface="에이투지체 6 SemiBold"/>
              </a:defRPr>
            </a:defPPr>
          </a:lstStyle>
          <a:p>
            <a:pPr algn="l">
              <a:defRPr sz="1800">
                <a:solidFill>
                  <a:srgbClr val="004F9F"/>
                </a:solidFill>
                <a:latin typeface="에이투지체 6 SemiBold"/>
                <a:ea typeface="에이투지체 6 SemiBold"/>
                <a:cs typeface="에이투지체 6 SemiBold"/>
              </a:defRPr>
            </a:pPr>
            <a:r>
              <a:rPr sz="1800">
                <a:solidFill>
                  <a:srgbClr val="004F9F"/>
                </a:solidFill>
                <a:latin typeface="에이투지체 6 SemiBold"/>
                <a:ea typeface="에이투지체 6 SemiBold"/>
                <a:cs typeface="에이투지체 6 SemiBold"/>
              </a:rPr>
              <a:t>행사 후</a:t>
            </a:r>
          </a:p>
        </p:txBody>
      </p:sp>
      <p:sp>
        <p:nvSpPr>
          <p:cNvPr id="4" name="text-158">
            <a:extLst>
              <a:ext uri="{FF2B5EF4-FFF2-40B4-BE49-F238E27FC236}">
                <a16:creationId xmlns:a16="http://schemas.microsoft.com/office/drawing/2014/main" id="{0079C206-3E46-A103-338B-7445DAF49D24}"/>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단계별 소재 운영안</a:t>
            </a:r>
            <a:endParaRPr lang="ko-KR" sz="1100" dirty="0"/>
          </a:p>
        </p:txBody>
      </p:sp>
      <p:sp>
        <p:nvSpPr>
          <p:cNvPr id="5" name="TextBox 1">
            <a:extLst>
              <a:ext uri="{FF2B5EF4-FFF2-40B4-BE49-F238E27FC236}">
                <a16:creationId xmlns:a16="http://schemas.microsoft.com/office/drawing/2014/main" id="{DD5C3A91-3D7D-46F3-9ADC-2E141CA3A9BF}"/>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Tree>
    <p:extLst>
      <p:ext uri="{BB962C8B-B14F-4D97-AF65-F5344CB8AC3E}">
        <p14:creationId xmlns:p14="http://schemas.microsoft.com/office/powerpoint/2010/main" val="1595304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Box 7">
            <a:extLst>
              <a:ext uri="{FF2B5EF4-FFF2-40B4-BE49-F238E27FC236}">
                <a16:creationId xmlns:a16="http://schemas.microsoft.com/office/drawing/2014/main" id="{9AF6D2B0-A4C8-A4AD-3C93-B2538575BA98}"/>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9" name="TextBox 8">
            <a:extLst>
              <a:ext uri="{FF2B5EF4-FFF2-40B4-BE49-F238E27FC236}">
                <a16:creationId xmlns:a16="http://schemas.microsoft.com/office/drawing/2014/main" id="{8F438337-0802-DE65-3B81-7837F39914AC}"/>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30" name="PGNO">
            <a:extLst>
              <a:ext uri="{FF2B5EF4-FFF2-40B4-BE49-F238E27FC236}">
                <a16:creationId xmlns:a16="http://schemas.microsoft.com/office/drawing/2014/main" id="{04382256-45B3-4A66-C130-E9AA340C366C}"/>
              </a:ext>
            </a:extLst>
          </p:cNvPr>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40</a:t>
            </a:r>
          </a:p>
        </p:txBody>
      </p:sp>
      <p:sp>
        <p:nvSpPr>
          <p:cNvPr id="2" name="text-121">
            <a:extLst>
              <a:ext uri="{FF2B5EF4-FFF2-40B4-BE49-F238E27FC236}">
                <a16:creationId xmlns:a16="http://schemas.microsoft.com/office/drawing/2014/main" id="{BF2F9775-82E4-1ABA-C564-DB83DB85775C}"/>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장바구니 최적화와 104개 세트</a:t>
            </a:r>
            <a:r>
              <a:rPr lang="ko-KR" sz="1900" dirty="0">
                <a:solidFill>
                  <a:srgbClr val="222222"/>
                </a:solidFill>
                <a:latin typeface="에이투지체 8 ExtraBold"/>
                <a:ea typeface="에이투지체 8 ExtraBold"/>
                <a:cs typeface="에이투지체 8 ExtraBold"/>
              </a:rPr>
              <a:t>로 예산이 흩어져</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머신러닝이 구매 신호를 학습하지 못하고 있습니다</a:t>
            </a:r>
            <a:endParaRPr lang="ko-KR" sz="1900" dirty="0"/>
          </a:p>
        </p:txBody>
      </p:sp>
      <p:sp>
        <p:nvSpPr>
          <p:cNvPr id="3" name="text-122">
            <a:extLst>
              <a:ext uri="{FF2B5EF4-FFF2-40B4-BE49-F238E27FC236}">
                <a16:creationId xmlns:a16="http://schemas.microsoft.com/office/drawing/2014/main" id="{4AD63CC8-2563-FAA2-8163-71449564770A}"/>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메타 현황 진단  3분기 광고비 대부분을 장바구니 최적화로 집행</a:t>
            </a:r>
            <a:endParaRPr lang="ko-KR" sz="1100" dirty="0"/>
          </a:p>
        </p:txBody>
      </p:sp>
      <p:sp>
        <p:nvSpPr>
          <p:cNvPr id="4" name="text-123">
            <a:extLst>
              <a:ext uri="{FF2B5EF4-FFF2-40B4-BE49-F238E27FC236}">
                <a16:creationId xmlns:a16="http://schemas.microsoft.com/office/drawing/2014/main" id="{F9372EAE-8FAA-2049-73EC-D150039124CF}"/>
              </a:ext>
            </a:extLst>
          </p:cNvPr>
          <p:cNvSpPr>
            <a:spLocks noGrp="1"/>
          </p:cNvSpPr>
          <p:nvPr/>
        </p:nvSpPr>
        <p:spPr>
          <a:xfrm>
            <a:off x="552450" y="2085975"/>
            <a:ext cx="4953000"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dirty="0" err="1">
                <a:solidFill>
                  <a:srgbClr val="004F9F"/>
                </a:solidFill>
                <a:latin typeface="에이투지체 6 SemiBold"/>
                <a:ea typeface="에이투지체 6 SemiBold"/>
                <a:cs typeface="에이투지체 6 SemiBold"/>
              </a:rPr>
              <a:t>현재  장바구니 최적화 · 프로모션별 그룹 분산</a:t>
            </a:r>
            <a:endParaRPr sz="1500" dirty="0">
              <a:solidFill>
                <a:srgbClr val="004F9F"/>
              </a:solidFill>
              <a:latin typeface="에이투지체 6 SemiBold"/>
              <a:ea typeface="에이투지체 6 SemiBold"/>
              <a:cs typeface="에이투지체 6 SemiBold"/>
            </a:endParaRPr>
          </a:p>
        </p:txBody>
      </p:sp>
      <p:sp>
        <p:nvSpPr>
          <p:cNvPr id="5" name="text-124">
            <a:extLst>
              <a:ext uri="{FF2B5EF4-FFF2-40B4-BE49-F238E27FC236}">
                <a16:creationId xmlns:a16="http://schemas.microsoft.com/office/drawing/2014/main" id="{771EF9BE-55FD-1675-9E4B-2D316A43850E}"/>
              </a:ext>
            </a:extLst>
          </p:cNvPr>
          <p:cNvSpPr>
            <a:spLocks noGrp="1"/>
          </p:cNvSpPr>
          <p:nvPr/>
        </p:nvSpPr>
        <p:spPr>
          <a:xfrm>
            <a:off x="6677025" y="2085975"/>
            <a:ext cx="4933950"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lang="ko-KR" altLang="en-US" sz="1500" dirty="0">
                <a:solidFill>
                  <a:srgbClr val="004F9F"/>
                </a:solidFill>
                <a:latin typeface="에이투지체 6 SemiBold"/>
                <a:ea typeface="에이투지체 6 SemiBold"/>
                <a:cs typeface="에이투지체 6 SemiBold"/>
              </a:rPr>
              <a:t>결과  구매 신호가 쌓이지 않아 학습이 완료되지 않습니다</a:t>
            </a:r>
            <a:endParaRPr sz="1500" dirty="0">
              <a:solidFill>
                <a:srgbClr val="004F9F"/>
              </a:solidFill>
              <a:latin typeface="에이투지체 6 SemiBold"/>
              <a:ea typeface="에이투지체 6 SemiBold"/>
              <a:cs typeface="에이투지체 6 SemiBold"/>
            </a:endParaRPr>
          </a:p>
        </p:txBody>
      </p:sp>
      <p:sp>
        <p:nvSpPr>
          <p:cNvPr id="6" name="node-125">
            <a:extLst>
              <a:ext uri="{FF2B5EF4-FFF2-40B4-BE49-F238E27FC236}">
                <a16:creationId xmlns:a16="http://schemas.microsoft.com/office/drawing/2014/main" id="{AA49F68D-865C-1A07-04E5-D8479E075BA5}"/>
              </a:ext>
            </a:extLst>
          </p:cNvPr>
          <p:cNvSpPr>
            <a:spLocks noGrp="1"/>
          </p:cNvSpPr>
          <p:nvPr/>
        </p:nvSpPr>
        <p:spPr>
          <a:xfrm>
            <a:off x="552450" y="2552700"/>
            <a:ext cx="4191000" cy="504825"/>
          </a:xfrm>
          <a:prstGeom prst="roundRect">
            <a:avLst>
              <a:gd name="adj" fmla="val 14490"/>
            </a:avLst>
          </a:prstGeom>
          <a:solidFill>
            <a:srgbClr val="F5F5F5"/>
          </a:solidFill>
          <a:ln w="0">
            <a:noFill/>
          </a:ln>
        </p:spPr>
        <p:txBody>
          <a:bodyPr/>
          <a:lstStyle/>
          <a:p>
            <a:endParaRPr lang="ko-KR" altLang="en-US"/>
          </a:p>
        </p:txBody>
      </p:sp>
      <p:sp>
        <p:nvSpPr>
          <p:cNvPr id="7" name="text-126">
            <a:extLst>
              <a:ext uri="{FF2B5EF4-FFF2-40B4-BE49-F238E27FC236}">
                <a16:creationId xmlns:a16="http://schemas.microsoft.com/office/drawing/2014/main" id="{84AECF9C-BDE5-88D1-CE24-C8FC0634AE14}"/>
              </a:ext>
            </a:extLst>
          </p:cNvPr>
          <p:cNvSpPr>
            <a:spLocks noGrp="1"/>
          </p:cNvSpPr>
          <p:nvPr/>
        </p:nvSpPr>
        <p:spPr>
          <a:xfrm>
            <a:off x="666750" y="2600325"/>
            <a:ext cx="3962400" cy="409575"/>
          </a:xfrm>
          <a:prstGeom prst="rect">
            <a:avLst/>
          </a:prstGeom>
          <a:noFill/>
          <a:ln w="0">
            <a:noFill/>
          </a:ln>
        </p:spPr>
        <p:txBody>
          <a:bodyPr wrap="square" lIns="0" tIns="0" rIns="0" bIns="0" anchor="ctr">
            <a:noAutofit/>
          </a:bodyPr>
          <a:lstStyle>
            <a:defPPr algn="ctr">
              <a:defRPr sz="1402">
                <a:solidFill>
                  <a:srgbClr val="222222"/>
                </a:solidFill>
                <a:latin typeface="에이투지체 6 SemiBold"/>
                <a:ea typeface="에이투지체 6 SemiBold"/>
                <a:cs typeface="에이투지체 6 SemiBold"/>
              </a:defRPr>
            </a:defPPr>
          </a:lstStyle>
          <a:p>
            <a:pPr algn="ctr">
              <a:defRPr sz="1402">
                <a:solidFill>
                  <a:srgbClr val="222222"/>
                </a:solidFill>
                <a:latin typeface="에이투지체 6 SemiBold"/>
                <a:ea typeface="에이투지체 6 SemiBold"/>
                <a:cs typeface="에이투지체 6 SemiBold"/>
              </a:defRPr>
            </a:pPr>
            <a:r>
              <a:rPr sz="1402">
                <a:solidFill>
                  <a:srgbClr val="222222"/>
                </a:solidFill>
                <a:latin typeface="에이투지체 6 SemiBold"/>
                <a:ea typeface="에이투지체 6 SemiBold"/>
                <a:cs typeface="에이투지체 6 SemiBold"/>
              </a:rPr>
              <a:t>장바구니 최적화  2,618만 원 (87%)</a:t>
            </a:r>
          </a:p>
        </p:txBody>
      </p:sp>
      <p:sp>
        <p:nvSpPr>
          <p:cNvPr id="8" name="node-127">
            <a:extLst>
              <a:ext uri="{FF2B5EF4-FFF2-40B4-BE49-F238E27FC236}">
                <a16:creationId xmlns:a16="http://schemas.microsoft.com/office/drawing/2014/main" id="{CFE4C7D8-CA92-0DE2-EC3D-A127150E4F52}"/>
              </a:ext>
            </a:extLst>
          </p:cNvPr>
          <p:cNvSpPr>
            <a:spLocks noGrp="1"/>
          </p:cNvSpPr>
          <p:nvPr/>
        </p:nvSpPr>
        <p:spPr>
          <a:xfrm>
            <a:off x="552450" y="3190875"/>
            <a:ext cx="4191000" cy="504825"/>
          </a:xfrm>
          <a:prstGeom prst="roundRect">
            <a:avLst>
              <a:gd name="adj" fmla="val 14490"/>
            </a:avLst>
          </a:prstGeom>
          <a:solidFill>
            <a:srgbClr val="F5F5F5"/>
          </a:solidFill>
          <a:ln w="0">
            <a:noFill/>
          </a:ln>
        </p:spPr>
        <p:txBody>
          <a:bodyPr/>
          <a:lstStyle/>
          <a:p>
            <a:endParaRPr lang="ko-KR" altLang="en-US"/>
          </a:p>
        </p:txBody>
      </p:sp>
      <p:sp>
        <p:nvSpPr>
          <p:cNvPr id="9" name="text-128">
            <a:extLst>
              <a:ext uri="{FF2B5EF4-FFF2-40B4-BE49-F238E27FC236}">
                <a16:creationId xmlns:a16="http://schemas.microsoft.com/office/drawing/2014/main" id="{C050B8E3-5306-A230-BE0C-C742B8590400}"/>
              </a:ext>
            </a:extLst>
          </p:cNvPr>
          <p:cNvSpPr>
            <a:spLocks noGrp="1"/>
          </p:cNvSpPr>
          <p:nvPr/>
        </p:nvSpPr>
        <p:spPr>
          <a:xfrm>
            <a:off x="666750" y="3238500"/>
            <a:ext cx="3962400" cy="409575"/>
          </a:xfrm>
          <a:prstGeom prst="rect">
            <a:avLst/>
          </a:prstGeom>
          <a:noFill/>
          <a:ln w="0">
            <a:noFill/>
          </a:ln>
        </p:spPr>
        <p:txBody>
          <a:bodyPr wrap="square" lIns="0" tIns="0" rIns="0" bIns="0" anchor="ctr">
            <a:noAutofit/>
          </a:bodyPr>
          <a:lstStyle>
            <a:defPPr algn="ctr">
              <a:defRPr sz="1402">
                <a:solidFill>
                  <a:srgbClr val="222222"/>
                </a:solidFill>
                <a:latin typeface="에이투지체 6 SemiBold"/>
                <a:ea typeface="에이투지체 6 SemiBold"/>
                <a:cs typeface="에이투지체 6 SemiBold"/>
              </a:defRPr>
            </a:defPPr>
          </a:lstStyle>
          <a:p>
            <a:pPr algn="ctr">
              <a:defRPr sz="1402">
                <a:solidFill>
                  <a:srgbClr val="222222"/>
                </a:solidFill>
                <a:latin typeface="에이투지체 6 SemiBold"/>
                <a:ea typeface="에이투지체 6 SemiBold"/>
                <a:cs typeface="에이투지체 6 SemiBold"/>
              </a:defRPr>
            </a:pPr>
            <a:r>
              <a:rPr sz="1402" dirty="0">
                <a:solidFill>
                  <a:srgbClr val="222222"/>
                </a:solidFill>
                <a:latin typeface="에이투지체 6 SemiBold"/>
                <a:ea typeface="에이투지체 6 SemiBold"/>
                <a:cs typeface="에이투지체 6 SemiBold"/>
              </a:rPr>
              <a:t>구매 최적화  27만 원 (0.9%)</a:t>
            </a:r>
          </a:p>
        </p:txBody>
      </p:sp>
      <p:sp>
        <p:nvSpPr>
          <p:cNvPr id="10" name="node-129">
            <a:extLst>
              <a:ext uri="{FF2B5EF4-FFF2-40B4-BE49-F238E27FC236}">
                <a16:creationId xmlns:a16="http://schemas.microsoft.com/office/drawing/2014/main" id="{E984A232-708F-3535-642E-EC263BFA1496}"/>
              </a:ext>
            </a:extLst>
          </p:cNvPr>
          <p:cNvSpPr>
            <a:spLocks noGrp="1"/>
          </p:cNvSpPr>
          <p:nvPr/>
        </p:nvSpPr>
        <p:spPr>
          <a:xfrm>
            <a:off x="552450" y="3829050"/>
            <a:ext cx="4191000" cy="504825"/>
          </a:xfrm>
          <a:prstGeom prst="roundRect">
            <a:avLst>
              <a:gd name="adj" fmla="val 14490"/>
            </a:avLst>
          </a:prstGeom>
          <a:solidFill>
            <a:srgbClr val="F5F5F5"/>
          </a:solidFill>
          <a:ln w="0">
            <a:noFill/>
          </a:ln>
        </p:spPr>
        <p:txBody>
          <a:bodyPr/>
          <a:lstStyle/>
          <a:p>
            <a:endParaRPr lang="ko-KR" altLang="en-US"/>
          </a:p>
        </p:txBody>
      </p:sp>
      <p:sp>
        <p:nvSpPr>
          <p:cNvPr id="11" name="text-130">
            <a:extLst>
              <a:ext uri="{FF2B5EF4-FFF2-40B4-BE49-F238E27FC236}">
                <a16:creationId xmlns:a16="http://schemas.microsoft.com/office/drawing/2014/main" id="{4B8836A2-DB9B-480C-97BE-A4664019FAE7}"/>
              </a:ext>
            </a:extLst>
          </p:cNvPr>
          <p:cNvSpPr>
            <a:spLocks noGrp="1"/>
          </p:cNvSpPr>
          <p:nvPr/>
        </p:nvSpPr>
        <p:spPr>
          <a:xfrm>
            <a:off x="666750" y="3876675"/>
            <a:ext cx="3962400" cy="409575"/>
          </a:xfrm>
          <a:prstGeom prst="rect">
            <a:avLst/>
          </a:prstGeom>
          <a:noFill/>
          <a:ln w="0">
            <a:noFill/>
          </a:ln>
        </p:spPr>
        <p:txBody>
          <a:bodyPr wrap="square" lIns="0" tIns="0" rIns="0" bIns="0" anchor="ctr">
            <a:noAutofit/>
          </a:bodyPr>
          <a:lstStyle>
            <a:defPPr algn="ctr">
              <a:defRPr sz="1402">
                <a:solidFill>
                  <a:srgbClr val="222222"/>
                </a:solidFill>
                <a:latin typeface="에이투지체 6 SemiBold"/>
                <a:ea typeface="에이투지체 6 SemiBold"/>
                <a:cs typeface="에이투지체 6 SemiBold"/>
              </a:defRPr>
            </a:defPPr>
          </a:lstStyle>
          <a:p>
            <a:pPr algn="ctr">
              <a:defRPr sz="1402">
                <a:solidFill>
                  <a:srgbClr val="222222"/>
                </a:solidFill>
                <a:latin typeface="에이투지체 6 SemiBold"/>
                <a:ea typeface="에이투지체 6 SemiBold"/>
                <a:cs typeface="에이투지체 6 SemiBold"/>
              </a:defRPr>
            </a:pPr>
            <a:r>
              <a:rPr sz="1402" dirty="0">
                <a:solidFill>
                  <a:srgbClr val="222222"/>
                </a:solidFill>
                <a:latin typeface="에이투지체 6 SemiBold"/>
                <a:ea typeface="에이투지체 6 SemiBold"/>
                <a:cs typeface="에이투지체 6 SemiBold"/>
              </a:rPr>
              <a:t>프로모션 캠페인 비중  92%</a:t>
            </a:r>
          </a:p>
        </p:txBody>
      </p:sp>
      <p:sp>
        <p:nvSpPr>
          <p:cNvPr id="12" name="node-131">
            <a:extLst>
              <a:ext uri="{FF2B5EF4-FFF2-40B4-BE49-F238E27FC236}">
                <a16:creationId xmlns:a16="http://schemas.microsoft.com/office/drawing/2014/main" id="{D94F269C-DE99-EF6C-1034-0C50A29A9141}"/>
              </a:ext>
            </a:extLst>
          </p:cNvPr>
          <p:cNvSpPr>
            <a:spLocks noGrp="1"/>
          </p:cNvSpPr>
          <p:nvPr/>
        </p:nvSpPr>
        <p:spPr>
          <a:xfrm>
            <a:off x="552450" y="4467225"/>
            <a:ext cx="4191000" cy="504825"/>
          </a:xfrm>
          <a:prstGeom prst="roundRect">
            <a:avLst>
              <a:gd name="adj" fmla="val 14490"/>
            </a:avLst>
          </a:prstGeom>
          <a:solidFill>
            <a:srgbClr val="F5F5F5"/>
          </a:solidFill>
          <a:ln w="0">
            <a:noFill/>
          </a:ln>
        </p:spPr>
        <p:txBody>
          <a:bodyPr/>
          <a:lstStyle/>
          <a:p>
            <a:endParaRPr lang="ko-KR" altLang="en-US"/>
          </a:p>
        </p:txBody>
      </p:sp>
      <p:sp>
        <p:nvSpPr>
          <p:cNvPr id="13" name="text-132">
            <a:extLst>
              <a:ext uri="{FF2B5EF4-FFF2-40B4-BE49-F238E27FC236}">
                <a16:creationId xmlns:a16="http://schemas.microsoft.com/office/drawing/2014/main" id="{5A42472D-C200-5C13-08F4-B7989AFDC36A}"/>
              </a:ext>
            </a:extLst>
          </p:cNvPr>
          <p:cNvSpPr>
            <a:spLocks noGrp="1"/>
          </p:cNvSpPr>
          <p:nvPr/>
        </p:nvSpPr>
        <p:spPr>
          <a:xfrm>
            <a:off x="666750" y="4514850"/>
            <a:ext cx="3962400" cy="409575"/>
          </a:xfrm>
          <a:prstGeom prst="rect">
            <a:avLst/>
          </a:prstGeom>
          <a:noFill/>
          <a:ln w="0">
            <a:noFill/>
          </a:ln>
        </p:spPr>
        <p:txBody>
          <a:bodyPr wrap="square" lIns="0" tIns="0" rIns="0" bIns="0" anchor="ctr">
            <a:noAutofit/>
          </a:bodyPr>
          <a:lstStyle>
            <a:defPPr algn="ctr">
              <a:defRPr sz="1402">
                <a:solidFill>
                  <a:srgbClr val="222222"/>
                </a:solidFill>
                <a:latin typeface="에이투지체 6 SemiBold"/>
                <a:ea typeface="에이투지체 6 SemiBold"/>
                <a:cs typeface="에이투지체 6 SemiBold"/>
              </a:defRPr>
            </a:defPPr>
          </a:lstStyle>
          <a:p>
            <a:pPr algn="ctr">
              <a:defRPr sz="1402">
                <a:solidFill>
                  <a:srgbClr val="222222"/>
                </a:solidFill>
                <a:latin typeface="에이투지체 6 SemiBold"/>
                <a:ea typeface="에이투지체 6 SemiBold"/>
                <a:cs typeface="에이투지체 6 SemiBold"/>
              </a:defRPr>
            </a:pPr>
            <a:r>
              <a:rPr sz="1402">
                <a:solidFill>
                  <a:srgbClr val="222222"/>
                </a:solidFill>
                <a:latin typeface="에이투지체 6 SemiBold"/>
                <a:ea typeface="에이투지체 6 SemiBold"/>
                <a:cs typeface="에이투지체 6 SemiBold"/>
              </a:rPr>
              <a:t>광고 세트 104개 · 광고 327개</a:t>
            </a:r>
          </a:p>
        </p:txBody>
      </p:sp>
      <p:sp>
        <p:nvSpPr>
          <p:cNvPr id="23" name="화살표: 오른쪽 22">
            <a:extLst>
              <a:ext uri="{FF2B5EF4-FFF2-40B4-BE49-F238E27FC236}">
                <a16:creationId xmlns:a16="http://schemas.microsoft.com/office/drawing/2014/main" id="{17031D75-33CB-88AB-09F9-BE2465630F4F}"/>
              </a:ext>
            </a:extLst>
          </p:cNvPr>
          <p:cNvSpPr>
            <a:spLocks noGrp="1"/>
          </p:cNvSpPr>
          <p:nvPr/>
        </p:nvSpPr>
        <p:spPr>
          <a:xfrm>
            <a:off x="5276850" y="3762375"/>
            <a:ext cx="971550" cy="476250"/>
          </a:xfrm>
          <a:prstGeom prst="rightArrow">
            <a:avLst/>
          </a:prstGeom>
          <a:solidFill>
            <a:srgbClr val="004F9F"/>
          </a:solidFill>
          <a:ln w="0">
            <a:noFill/>
          </a:ln>
        </p:spPr>
        <p:txBody>
          <a:bodyPr/>
          <a:lstStyle/>
          <a:p>
            <a:endParaRPr lang="ko-KR" altLang="en-US"/>
          </a:p>
        </p:txBody>
      </p:sp>
      <p:sp>
        <p:nvSpPr>
          <p:cNvPr id="24" name="node-142">
            <a:extLst>
              <a:ext uri="{FF2B5EF4-FFF2-40B4-BE49-F238E27FC236}">
                <a16:creationId xmlns:a16="http://schemas.microsoft.com/office/drawing/2014/main" id="{5300D22D-F4E3-4E4C-2113-FD9B7D65C0E5}"/>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dirty="0"/>
          </a:p>
        </p:txBody>
      </p:sp>
      <p:sp>
        <p:nvSpPr>
          <p:cNvPr id="25" name="text-143">
            <a:extLst>
              <a:ext uri="{FF2B5EF4-FFF2-40B4-BE49-F238E27FC236}">
                <a16:creationId xmlns:a16="http://schemas.microsoft.com/office/drawing/2014/main" id="{9BAED3D2-52C1-A2DD-BD1B-0C6D1DB58B06}"/>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lang="ko-KR" altLang="en-US" sz="1358" dirty="0">
                <a:solidFill>
                  <a:srgbClr val="004F9F"/>
                </a:solidFill>
                <a:latin typeface="에이투지체 6 SemiBold"/>
                <a:ea typeface="에이투지체 6 SemiBold"/>
                <a:cs typeface="에이투지체 6 SemiBold"/>
              </a:rPr>
              <a:t>장바구니 목표는 쓰지 않고, 그룹을 상품 단위로 줄여 구매 신호로 학습을 완료해야 합니다</a:t>
            </a:r>
            <a:endParaRPr sz="1358" dirty="0">
              <a:solidFill>
                <a:srgbClr val="FFFFFF"/>
              </a:solidFill>
              <a:latin typeface="에이투지체 6 SemiBold"/>
              <a:ea typeface="에이투지체 6 SemiBold"/>
              <a:cs typeface="에이투지체 6 SemiBold"/>
            </a:endParaRPr>
          </a:p>
        </p:txBody>
      </p:sp>
      <p:sp>
        <p:nvSpPr>
          <p:cNvPr id="31" name="Rectangle 30"/>
          <p:cNvSpPr/>
          <p:nvPr/>
        </p:nvSpPr>
        <p:spPr>
          <a:xfrm>
            <a:off x="6675120" y="2551176"/>
            <a:ext cx="4937760" cy="841248"/>
          </a:xfrm>
          <a:prstGeom prst="roundRect">
            <a:avLst>
              <a:gd name="adj" fmla="val 869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812280" y="2551176"/>
            <a:ext cx="502920" cy="841248"/>
          </a:xfrm>
          <a:prstGeom prst="rect">
            <a:avLst/>
          </a:prstGeom>
          <a:noFill/>
        </p:spPr>
        <p:txBody>
          <a:bodyPr wrap="square" lIns="0" tIns="0" rIns="0" bIns="0" anchor="ctr">
            <a:spAutoFit/>
          </a:bodyPr>
          <a:lstStyle/>
          <a:p>
            <a:pPr algn="l">
              <a:spcAft>
                <a:spcPts val="300"/>
              </a:spcAft>
            </a:pPr>
            <a:r>
              <a:rPr sz="1600">
                <a:solidFill>
                  <a:srgbClr val="004F9F"/>
                </a:solidFill>
                <a:latin typeface="에이투지체 8 ExtraBold"/>
                <a:ea typeface="에이투지체 8 ExtraBold"/>
              </a:rPr>
              <a:t>01</a:t>
            </a:r>
          </a:p>
        </p:txBody>
      </p:sp>
      <p:sp>
        <p:nvSpPr>
          <p:cNvPr id="33" name="TextBox 32"/>
          <p:cNvSpPr txBox="1"/>
          <p:nvPr/>
        </p:nvSpPr>
        <p:spPr>
          <a:xfrm>
            <a:off x="7360920" y="2642616"/>
            <a:ext cx="4114800" cy="731520"/>
          </a:xfrm>
          <a:prstGeom prst="rect">
            <a:avLst/>
          </a:prstGeom>
          <a:noFill/>
        </p:spPr>
        <p:txBody>
          <a:bodyPr wrap="square" lIns="0" tIns="0" rIns="0" bIns="0" anchor="ctr">
            <a:spAutoFit/>
          </a:bodyPr>
          <a:lstStyle/>
          <a:p>
            <a:pPr algn="l">
              <a:spcAft>
                <a:spcPts val="200"/>
              </a:spcAft>
            </a:pPr>
            <a:r>
              <a:rPr sz="1350" dirty="0" err="1">
                <a:solidFill>
                  <a:srgbClr val="222222"/>
                </a:solidFill>
                <a:latin typeface="에이투지체 6 SemiBold"/>
                <a:ea typeface="에이투지체 6 SemiBold"/>
              </a:rPr>
              <a:t>장바구니는 구매가 아님</a:t>
            </a:r>
            <a:endParaRPr sz="1350" dirty="0">
              <a:solidFill>
                <a:srgbClr val="222222"/>
              </a:solidFill>
              <a:latin typeface="에이투지체 6 SemiBold"/>
              <a:ea typeface="에이투지체 6 SemiBold"/>
            </a:endParaRPr>
          </a:p>
          <a:p>
            <a:pPr algn="l">
              <a:spcAft>
                <a:spcPts val="200"/>
              </a:spcAft>
            </a:pPr>
            <a:r>
              <a:rPr sz="1050" dirty="0" err="1">
                <a:solidFill>
                  <a:srgbClr val="5C5C5C"/>
                </a:solidFill>
                <a:latin typeface="에이투지체 4 Regular"/>
                <a:ea typeface="에이투지체 4 Regular"/>
              </a:rPr>
              <a:t>장바구니를 담는 고객을 찾도록 학습되어, 실제 구매 고객과 구매 성과는 확인할 수 없음</a:t>
            </a:r>
          </a:p>
        </p:txBody>
      </p:sp>
      <p:sp>
        <p:nvSpPr>
          <p:cNvPr id="34" name="Rectangle 33"/>
          <p:cNvSpPr/>
          <p:nvPr/>
        </p:nvSpPr>
        <p:spPr>
          <a:xfrm>
            <a:off x="6675120" y="3511296"/>
            <a:ext cx="4937760" cy="841248"/>
          </a:xfrm>
          <a:prstGeom prst="roundRect">
            <a:avLst>
              <a:gd name="adj" fmla="val 869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12280" y="3511296"/>
            <a:ext cx="502920" cy="841248"/>
          </a:xfrm>
          <a:prstGeom prst="rect">
            <a:avLst/>
          </a:prstGeom>
          <a:noFill/>
        </p:spPr>
        <p:txBody>
          <a:bodyPr wrap="square" lIns="0" tIns="0" rIns="0" bIns="0" anchor="ctr">
            <a:spAutoFit/>
          </a:bodyPr>
          <a:lstStyle/>
          <a:p>
            <a:pPr algn="l">
              <a:spcAft>
                <a:spcPts val="300"/>
              </a:spcAft>
            </a:pPr>
            <a:r>
              <a:rPr sz="1600">
                <a:solidFill>
                  <a:srgbClr val="004F9F"/>
                </a:solidFill>
                <a:latin typeface="에이투지체 8 ExtraBold"/>
                <a:ea typeface="에이투지체 8 ExtraBold"/>
              </a:rPr>
              <a:t>02</a:t>
            </a:r>
          </a:p>
        </p:txBody>
      </p:sp>
      <p:sp>
        <p:nvSpPr>
          <p:cNvPr id="36" name="TextBox 35"/>
          <p:cNvSpPr txBox="1"/>
          <p:nvPr/>
        </p:nvSpPr>
        <p:spPr>
          <a:xfrm>
            <a:off x="7360920" y="3602736"/>
            <a:ext cx="4114800" cy="731520"/>
          </a:xfrm>
          <a:prstGeom prst="rect">
            <a:avLst/>
          </a:prstGeom>
          <a:noFill/>
        </p:spPr>
        <p:txBody>
          <a:bodyPr wrap="square" lIns="0" tIns="0" rIns="0" bIns="0" anchor="ctr">
            <a:spAutoFit/>
          </a:bodyPr>
          <a:lstStyle/>
          <a:p>
            <a:pPr algn="l">
              <a:spcAft>
                <a:spcPts val="200"/>
              </a:spcAft>
            </a:pPr>
            <a:r>
              <a:rPr sz="1350" dirty="0" err="1">
                <a:solidFill>
                  <a:srgbClr val="222222"/>
                </a:solidFill>
                <a:latin typeface="에이투지체 6 SemiBold"/>
                <a:ea typeface="에이투지체 6 SemiBold"/>
              </a:rPr>
              <a:t>그룹당 예산이 학습에 부족</a:t>
            </a:r>
            <a:endParaRPr sz="1350" dirty="0">
              <a:solidFill>
                <a:srgbClr val="222222"/>
              </a:solidFill>
              <a:latin typeface="에이투지체 6 SemiBold"/>
              <a:ea typeface="에이투지체 6 SemiBold"/>
            </a:endParaRPr>
          </a:p>
          <a:p>
            <a:pPr algn="l">
              <a:spcAft>
                <a:spcPts val="200"/>
              </a:spcAft>
            </a:pPr>
            <a:r>
              <a:rPr sz="1050" dirty="0">
                <a:solidFill>
                  <a:srgbClr val="5C5C5C"/>
                </a:solidFill>
                <a:latin typeface="에이투지체 4 Regular"/>
                <a:ea typeface="에이투지체 4 Regular"/>
              </a:rPr>
              <a:t>세트당 3개월 평균 약 29만 원. 구매 단가가 높은 건기식은 구매 신호가 쌓이기 전에 예산이 나뉨</a:t>
            </a:r>
          </a:p>
        </p:txBody>
      </p:sp>
      <p:sp>
        <p:nvSpPr>
          <p:cNvPr id="37" name="Rectangle 36"/>
          <p:cNvSpPr/>
          <p:nvPr/>
        </p:nvSpPr>
        <p:spPr>
          <a:xfrm>
            <a:off x="6675120" y="4471416"/>
            <a:ext cx="4937760" cy="841248"/>
          </a:xfrm>
          <a:prstGeom prst="roundRect">
            <a:avLst>
              <a:gd name="adj" fmla="val 869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812280" y="4471416"/>
            <a:ext cx="502920" cy="841248"/>
          </a:xfrm>
          <a:prstGeom prst="rect">
            <a:avLst/>
          </a:prstGeom>
          <a:noFill/>
        </p:spPr>
        <p:txBody>
          <a:bodyPr wrap="square" lIns="0" tIns="0" rIns="0" bIns="0" anchor="ctr">
            <a:spAutoFit/>
          </a:bodyPr>
          <a:lstStyle/>
          <a:p>
            <a:pPr algn="l">
              <a:spcAft>
                <a:spcPts val="300"/>
              </a:spcAft>
            </a:pPr>
            <a:r>
              <a:rPr sz="1600">
                <a:solidFill>
                  <a:srgbClr val="004F9F"/>
                </a:solidFill>
                <a:latin typeface="에이투지체 8 ExtraBold"/>
                <a:ea typeface="에이투지체 8 ExtraBold"/>
              </a:rPr>
              <a:t>03</a:t>
            </a:r>
          </a:p>
        </p:txBody>
      </p:sp>
      <p:sp>
        <p:nvSpPr>
          <p:cNvPr id="39" name="TextBox 38"/>
          <p:cNvSpPr txBox="1"/>
          <p:nvPr/>
        </p:nvSpPr>
        <p:spPr>
          <a:xfrm>
            <a:off x="7360920" y="4562856"/>
            <a:ext cx="4114800" cy="731520"/>
          </a:xfrm>
          <a:prstGeom prst="rect">
            <a:avLst/>
          </a:prstGeom>
          <a:noFill/>
        </p:spPr>
        <p:txBody>
          <a:bodyPr wrap="square" lIns="0" tIns="0" rIns="0" bIns="0" anchor="ctr">
            <a:spAutoFit/>
          </a:bodyPr>
          <a:lstStyle/>
          <a:p>
            <a:pPr algn="l">
              <a:spcAft>
                <a:spcPts val="200"/>
              </a:spcAft>
            </a:pPr>
            <a:r>
              <a:rPr sz="1350" dirty="0" err="1">
                <a:solidFill>
                  <a:srgbClr val="222222"/>
                </a:solidFill>
                <a:latin typeface="에이투지체 6 SemiBold"/>
                <a:ea typeface="에이투지체 6 SemiBold"/>
              </a:rPr>
              <a:t>행사마다 학습이 다시 시작</a:t>
            </a:r>
            <a:endParaRPr sz="1350" dirty="0">
              <a:solidFill>
                <a:srgbClr val="222222"/>
              </a:solidFill>
              <a:latin typeface="에이투지체 6 SemiBold"/>
              <a:ea typeface="에이투지체 6 SemiBold"/>
            </a:endParaRPr>
          </a:p>
          <a:p>
            <a:pPr algn="l">
              <a:spcAft>
                <a:spcPts val="200"/>
              </a:spcAft>
            </a:pPr>
            <a:r>
              <a:rPr sz="1050" dirty="0">
                <a:solidFill>
                  <a:srgbClr val="5C5C5C"/>
                </a:solidFill>
                <a:latin typeface="에이투지체 4 Regular"/>
                <a:ea typeface="에이투지체 4 Regular"/>
              </a:rPr>
              <a:t>프로모션마다 캠페인을 새로 만들어, 쌓인 학습이 다음 행사로 이어지지 않음</a:t>
            </a:r>
          </a:p>
        </p:txBody>
      </p:sp>
      <p:sp>
        <p:nvSpPr>
          <p:cNvPr id="15" name="TextBox 1">
            <a:extLst>
              <a:ext uri="{FF2B5EF4-FFF2-40B4-BE49-F238E27FC236}">
                <a16:creationId xmlns:a16="http://schemas.microsoft.com/office/drawing/2014/main" id="{F1DD32CB-1DC7-C40F-F5A4-965C800068FE}"/>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5"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6"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41</a:t>
            </a:r>
          </a:p>
        </p:txBody>
      </p:sp>
      <p:sp>
        <p:nvSpPr>
          <p:cNvPr id="2" name="text-112">
            <a:extLst>
              <a:ext uri="{FF2B5EF4-FFF2-40B4-BE49-F238E27FC236}">
                <a16:creationId xmlns:a16="http://schemas.microsoft.com/office/drawing/2014/main" id="{731378E2-3427-4369-8A28-8FAD5DF90970}"/>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메타 핵심 과제</a:t>
            </a:r>
            <a:r>
              <a:rPr lang="ko-KR" sz="1900" dirty="0">
                <a:solidFill>
                  <a:srgbClr val="222222"/>
                </a:solidFill>
                <a:latin typeface="에이투지체 8 ExtraBold"/>
                <a:ea typeface="에이투지체 8 ExtraBold"/>
                <a:cs typeface="에이투지체 8 ExtraBold"/>
              </a:rPr>
              <a:t>도 GFA와 같은 세 가지로 나누어</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구매 최적화 캠페인으로 운영하겠습니다</a:t>
            </a:r>
            <a:endParaRPr lang="ko-KR" sz="1900" dirty="0"/>
          </a:p>
        </p:txBody>
      </p:sp>
      <p:sp>
        <p:nvSpPr>
          <p:cNvPr id="3" name="text-113">
            <a:extLst>
              <a:ext uri="{FF2B5EF4-FFF2-40B4-BE49-F238E27FC236}">
                <a16:creationId xmlns:a16="http://schemas.microsoft.com/office/drawing/2014/main" id="{F6CD2EA1-5FC6-49CB-980E-D2C5F03D5A7A}"/>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메타 핵심 과제 정리</a:t>
            </a:r>
            <a:endParaRPr lang="ko-KR" sz="1100" dirty="0"/>
          </a:p>
        </p:txBody>
      </p:sp>
      <p:sp>
        <p:nvSpPr>
          <p:cNvPr id="10" name="node-118">
            <a:extLst>
              <a:ext uri="{FF2B5EF4-FFF2-40B4-BE49-F238E27FC236}">
                <a16:creationId xmlns:a16="http://schemas.microsoft.com/office/drawing/2014/main" id="{089BBCF6-B58C-4628-B393-88314E583683}"/>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11" name="text-119">
            <a:extLst>
              <a:ext uri="{FF2B5EF4-FFF2-40B4-BE49-F238E27FC236}">
                <a16:creationId xmlns:a16="http://schemas.microsoft.com/office/drawing/2014/main" id="{B23A2582-E021-450A-B2EF-3D82AA36A1E6}"/>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dirty="0">
                <a:solidFill>
                  <a:srgbClr val="004F9F"/>
                </a:solidFill>
                <a:latin typeface="에이투지체 6 SemiBold"/>
                <a:ea typeface="에이투지체 6 SemiBold"/>
                <a:cs typeface="에이투지체 6 SemiBold"/>
              </a:rPr>
              <a:t>메타는 장바구니가 아닌 구매 신호로, FGO 밖의 히어로 상품을 찾는 매체로 운영합니다</a:t>
            </a:r>
          </a:p>
        </p:txBody>
      </p:sp>
      <p:sp>
        <p:nvSpPr>
          <p:cNvPr id="17" name="TextBox 16"/>
          <p:cNvSpPr txBox="1"/>
          <p:nvPr/>
        </p:nvSpPr>
        <p:spPr>
          <a:xfrm>
            <a:off x="548640" y="2084831"/>
            <a:ext cx="2423160" cy="237744"/>
          </a:xfrm>
          <a:prstGeom prst="rect">
            <a:avLst/>
          </a:prstGeom>
          <a:noFill/>
        </p:spPr>
        <p:txBody>
          <a:bodyPr wrap="square" lIns="0" tIns="0" rIns="0" bIns="0" anchor="t">
            <a:spAutoFit/>
          </a:bodyPr>
          <a:lstStyle/>
          <a:p>
            <a:pPr algn="l">
              <a:spcAft>
                <a:spcPts val="300"/>
              </a:spcAft>
            </a:pPr>
            <a:r>
              <a:rPr sz="950">
                <a:solidFill>
                  <a:srgbClr val="919191"/>
                </a:solidFill>
                <a:latin typeface="에이투지체 6 SemiBold"/>
                <a:ea typeface="에이투지체 6 SemiBold"/>
              </a:rPr>
              <a:t>핵심 과제</a:t>
            </a:r>
          </a:p>
        </p:txBody>
      </p:sp>
      <p:sp>
        <p:nvSpPr>
          <p:cNvPr id="18" name="TextBox 17"/>
          <p:cNvSpPr txBox="1"/>
          <p:nvPr/>
        </p:nvSpPr>
        <p:spPr>
          <a:xfrm>
            <a:off x="3291840" y="2084831"/>
            <a:ext cx="3931920" cy="237744"/>
          </a:xfrm>
          <a:prstGeom prst="rect">
            <a:avLst/>
          </a:prstGeom>
          <a:noFill/>
        </p:spPr>
        <p:txBody>
          <a:bodyPr wrap="square" lIns="0" tIns="0" rIns="0" bIns="0" anchor="t">
            <a:spAutoFit/>
          </a:bodyPr>
          <a:lstStyle/>
          <a:p>
            <a:pPr algn="l">
              <a:spcAft>
                <a:spcPts val="300"/>
              </a:spcAft>
            </a:pPr>
            <a:r>
              <a:rPr sz="950">
                <a:solidFill>
                  <a:srgbClr val="919191"/>
                </a:solidFill>
                <a:latin typeface="에이투지체 6 SemiBold"/>
                <a:ea typeface="에이투지체 6 SemiBold"/>
              </a:rPr>
              <a:t>메타 실행</a:t>
            </a:r>
          </a:p>
        </p:txBody>
      </p:sp>
      <p:sp>
        <p:nvSpPr>
          <p:cNvPr id="19" name="TextBox 18"/>
          <p:cNvSpPr txBox="1"/>
          <p:nvPr/>
        </p:nvSpPr>
        <p:spPr>
          <a:xfrm>
            <a:off x="7543800" y="2084831"/>
            <a:ext cx="2103120" cy="237744"/>
          </a:xfrm>
          <a:prstGeom prst="rect">
            <a:avLst/>
          </a:prstGeom>
          <a:noFill/>
        </p:spPr>
        <p:txBody>
          <a:bodyPr wrap="square" lIns="0" tIns="0" rIns="0" bIns="0" anchor="t">
            <a:spAutoFit/>
          </a:bodyPr>
          <a:lstStyle/>
          <a:p>
            <a:pPr algn="l">
              <a:spcAft>
                <a:spcPts val="300"/>
              </a:spcAft>
            </a:pPr>
            <a:r>
              <a:rPr sz="950">
                <a:solidFill>
                  <a:srgbClr val="919191"/>
                </a:solidFill>
                <a:latin typeface="에이투지체 6 SemiBold"/>
                <a:ea typeface="에이투지체 6 SemiBold"/>
              </a:rPr>
              <a:t>캠페인</a:t>
            </a:r>
          </a:p>
        </p:txBody>
      </p:sp>
      <p:sp>
        <p:nvSpPr>
          <p:cNvPr id="20" name="TextBox 19"/>
          <p:cNvSpPr txBox="1"/>
          <p:nvPr/>
        </p:nvSpPr>
        <p:spPr>
          <a:xfrm>
            <a:off x="9966960" y="2084831"/>
            <a:ext cx="1645920" cy="237744"/>
          </a:xfrm>
          <a:prstGeom prst="rect">
            <a:avLst/>
          </a:prstGeom>
          <a:noFill/>
        </p:spPr>
        <p:txBody>
          <a:bodyPr wrap="square" lIns="0" tIns="0" rIns="0" bIns="0" anchor="t">
            <a:spAutoFit/>
          </a:bodyPr>
          <a:lstStyle/>
          <a:p>
            <a:pPr algn="l">
              <a:spcAft>
                <a:spcPts val="300"/>
              </a:spcAft>
            </a:pPr>
            <a:r>
              <a:rPr sz="950">
                <a:solidFill>
                  <a:srgbClr val="919191"/>
                </a:solidFill>
                <a:latin typeface="에이투지체 6 SemiBold"/>
                <a:ea typeface="에이투지체 6 SemiBold"/>
              </a:rPr>
              <a:t>관리 지표</a:t>
            </a:r>
          </a:p>
        </p:txBody>
      </p:sp>
      <p:sp>
        <p:nvSpPr>
          <p:cNvPr id="21" name="Rounded Rectangle 20"/>
          <p:cNvSpPr/>
          <p:nvPr/>
        </p:nvSpPr>
        <p:spPr>
          <a:xfrm>
            <a:off x="548640" y="2395728"/>
            <a:ext cx="2423160" cy="841248"/>
          </a:xfrm>
          <a:prstGeom prst="roundRect">
            <a:avLst>
              <a:gd name="adj" fmla="val 8695"/>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1520" y="2395728"/>
            <a:ext cx="2148840" cy="841248"/>
          </a:xfrm>
          <a:prstGeom prst="rect">
            <a:avLst/>
          </a:prstGeom>
          <a:noFill/>
        </p:spPr>
        <p:txBody>
          <a:bodyPr wrap="square" lIns="0" tIns="0" rIns="0" bIns="0" anchor="ctr">
            <a:spAutoFit/>
          </a:bodyPr>
          <a:lstStyle/>
          <a:p>
            <a:pPr algn="l">
              <a:spcAft>
                <a:spcPts val="100"/>
              </a:spcAft>
            </a:pPr>
            <a:r>
              <a:rPr sz="1050">
                <a:solidFill>
                  <a:srgbClr val="FFFFFF"/>
                </a:solidFill>
                <a:latin typeface="에이투지체 6 SemiBold"/>
                <a:ea typeface="에이투지체 6 SemiBold"/>
              </a:rPr>
              <a:t>01</a:t>
            </a:r>
          </a:p>
          <a:p>
            <a:pPr algn="l">
              <a:spcAft>
                <a:spcPts val="100"/>
              </a:spcAft>
            </a:pPr>
            <a:r>
              <a:rPr sz="1300">
                <a:solidFill>
                  <a:srgbClr val="FFFFFF"/>
                </a:solidFill>
                <a:latin typeface="에이투지체 6 SemiBold"/>
                <a:ea typeface="에이투지체 6 SemiBold"/>
              </a:rPr>
              <a:t>상품별 구매 고객 학습</a:t>
            </a:r>
          </a:p>
        </p:txBody>
      </p:sp>
      <p:sp>
        <p:nvSpPr>
          <p:cNvPr id="23" name="Rounded Rectangle 22"/>
          <p:cNvSpPr/>
          <p:nvPr/>
        </p:nvSpPr>
        <p:spPr>
          <a:xfrm>
            <a:off x="3291840" y="2395728"/>
            <a:ext cx="3931920" cy="841248"/>
          </a:xfrm>
          <a:prstGeom prst="roundRect">
            <a:avLst>
              <a:gd name="adj" fmla="val 869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493008" y="2395728"/>
            <a:ext cx="3566160" cy="841248"/>
          </a:xfrm>
          <a:prstGeom prst="rect">
            <a:avLst/>
          </a:prstGeom>
          <a:noFill/>
        </p:spPr>
        <p:txBody>
          <a:bodyPr wrap="square" lIns="0" tIns="0" rIns="0" bIns="0" anchor="ctr">
            <a:spAutoFit/>
          </a:bodyPr>
          <a:lstStyle/>
          <a:p>
            <a:pPr algn="l">
              <a:spcAft>
                <a:spcPts val="200"/>
              </a:spcAft>
            </a:pPr>
            <a:r>
              <a:rPr sz="1150">
                <a:solidFill>
                  <a:srgbClr val="222222"/>
                </a:solidFill>
                <a:latin typeface="에이투지체 5 Medium"/>
                <a:ea typeface="에이투지체 5 Medium"/>
              </a:rPr>
              <a:t>브랜드별 캠페인을 분리해</a:t>
            </a:r>
          </a:p>
          <a:p>
            <a:pPr algn="l">
              <a:spcAft>
                <a:spcPts val="200"/>
              </a:spcAft>
            </a:pPr>
            <a:r>
              <a:rPr sz="1150">
                <a:solidFill>
                  <a:srgbClr val="222222"/>
                </a:solidFill>
                <a:latin typeface="에이투지체 5 Medium"/>
                <a:ea typeface="에이투지체 5 Medium"/>
              </a:rPr>
              <a:t>머신러닝이 적합한 고객을 찾도록 운영</a:t>
            </a:r>
          </a:p>
        </p:txBody>
      </p:sp>
      <p:sp>
        <p:nvSpPr>
          <p:cNvPr id="25" name="Rounded Rectangle 24"/>
          <p:cNvSpPr/>
          <p:nvPr/>
        </p:nvSpPr>
        <p:spPr>
          <a:xfrm>
            <a:off x="7543800" y="2487168"/>
            <a:ext cx="2103120" cy="658368"/>
          </a:xfrm>
          <a:prstGeom prst="roundRect">
            <a:avLst>
              <a:gd name="adj" fmla="val 11111"/>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635240" y="2487168"/>
            <a:ext cx="1920239" cy="658368"/>
          </a:xfrm>
          <a:prstGeom prst="rect">
            <a:avLst/>
          </a:prstGeom>
          <a:noFill/>
        </p:spPr>
        <p:txBody>
          <a:bodyPr wrap="square" lIns="0" tIns="0" rIns="0" bIns="0" anchor="ctr">
            <a:spAutoFit/>
          </a:bodyPr>
          <a:lstStyle/>
          <a:p>
            <a:pPr algn="ctr">
              <a:spcAft>
                <a:spcPts val="100"/>
              </a:spcAft>
            </a:pPr>
            <a:r>
              <a:rPr sz="1150">
                <a:solidFill>
                  <a:srgbClr val="004F9F"/>
                </a:solidFill>
                <a:latin typeface="에이투지체 6 SemiBold"/>
                <a:ea typeface="에이투지체 6 SemiBold"/>
              </a:rPr>
              <a:t>구매 최적화</a:t>
            </a:r>
          </a:p>
          <a:p>
            <a:pPr algn="ctr">
              <a:spcAft>
                <a:spcPts val="100"/>
              </a:spcAft>
            </a:pPr>
            <a:r>
              <a:rPr sz="1150">
                <a:solidFill>
                  <a:srgbClr val="004F9F"/>
                </a:solidFill>
                <a:latin typeface="에이투지체 6 SemiBold"/>
                <a:ea typeface="에이투지체 6 SemiBold"/>
              </a:rPr>
              <a:t>상품 단위 그룹</a:t>
            </a:r>
          </a:p>
        </p:txBody>
      </p:sp>
      <p:sp>
        <p:nvSpPr>
          <p:cNvPr id="27" name="TextBox 26"/>
          <p:cNvSpPr txBox="1"/>
          <p:nvPr/>
        </p:nvSpPr>
        <p:spPr>
          <a:xfrm>
            <a:off x="9966960" y="2395728"/>
            <a:ext cx="1645920" cy="841248"/>
          </a:xfrm>
          <a:prstGeom prst="rect">
            <a:avLst/>
          </a:prstGeom>
          <a:noFill/>
        </p:spPr>
        <p:txBody>
          <a:bodyPr wrap="square" lIns="0" tIns="0" rIns="0" bIns="0" anchor="ctr">
            <a:spAutoFit/>
          </a:bodyPr>
          <a:lstStyle/>
          <a:p>
            <a:pPr algn="ctr">
              <a:spcAft>
                <a:spcPts val="100"/>
              </a:spcAft>
            </a:pPr>
            <a:r>
              <a:rPr sz="1150">
                <a:solidFill>
                  <a:srgbClr val="222222"/>
                </a:solidFill>
                <a:latin typeface="에이투지체 6 SemiBold"/>
                <a:ea typeface="에이투지체 6 SemiBold"/>
              </a:rPr>
              <a:t>구매 ROAS</a:t>
            </a:r>
          </a:p>
          <a:p>
            <a:pPr algn="ctr">
              <a:spcAft>
                <a:spcPts val="100"/>
              </a:spcAft>
            </a:pPr>
            <a:r>
              <a:rPr sz="1150">
                <a:solidFill>
                  <a:srgbClr val="222222"/>
                </a:solidFill>
                <a:latin typeface="에이투지체 6 SemiBold"/>
                <a:ea typeface="에이투지체 6 SemiBold"/>
              </a:rPr>
              <a:t>구매 CPA</a:t>
            </a:r>
          </a:p>
        </p:txBody>
      </p:sp>
      <p:sp>
        <p:nvSpPr>
          <p:cNvPr id="28" name="Isosceles Triangle 27"/>
          <p:cNvSpPr/>
          <p:nvPr/>
        </p:nvSpPr>
        <p:spPr>
          <a:xfrm rot="5400000">
            <a:off x="3017520" y="2715768"/>
            <a:ext cx="146304" cy="201168"/>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Isosceles Triangle 28"/>
          <p:cNvSpPr/>
          <p:nvPr/>
        </p:nvSpPr>
        <p:spPr>
          <a:xfrm rot="5400000">
            <a:off x="7269480" y="2715768"/>
            <a:ext cx="146304" cy="201168"/>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Isosceles Triangle 29"/>
          <p:cNvSpPr/>
          <p:nvPr/>
        </p:nvSpPr>
        <p:spPr>
          <a:xfrm rot="5400000">
            <a:off x="9692640" y="2715768"/>
            <a:ext cx="146304" cy="201168"/>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548640" y="3374136"/>
            <a:ext cx="2423160" cy="841248"/>
          </a:xfrm>
          <a:prstGeom prst="roundRect">
            <a:avLst>
              <a:gd name="adj" fmla="val 869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31520" y="3374136"/>
            <a:ext cx="2148840" cy="841248"/>
          </a:xfrm>
          <a:prstGeom prst="rect">
            <a:avLst/>
          </a:prstGeom>
          <a:noFill/>
        </p:spPr>
        <p:txBody>
          <a:bodyPr wrap="square" lIns="0" tIns="0" rIns="0" bIns="0" anchor="ctr">
            <a:spAutoFit/>
          </a:bodyPr>
          <a:lstStyle/>
          <a:p>
            <a:pPr algn="l">
              <a:spcAft>
                <a:spcPts val="100"/>
              </a:spcAft>
            </a:pPr>
            <a:r>
              <a:rPr sz="1050">
                <a:solidFill>
                  <a:srgbClr val="004F9F"/>
                </a:solidFill>
                <a:latin typeface="에이투지체 6 SemiBold"/>
                <a:ea typeface="에이투지체 6 SemiBold"/>
              </a:rPr>
              <a:t>02</a:t>
            </a:r>
          </a:p>
          <a:p>
            <a:pPr algn="l">
              <a:spcAft>
                <a:spcPts val="100"/>
              </a:spcAft>
            </a:pPr>
            <a:r>
              <a:rPr sz="1300">
                <a:solidFill>
                  <a:srgbClr val="222222"/>
                </a:solidFill>
                <a:latin typeface="에이투지체 6 SemiBold"/>
                <a:ea typeface="에이투지체 6 SemiBold"/>
              </a:rPr>
              <a:t>FGO 고객 확장</a:t>
            </a:r>
          </a:p>
        </p:txBody>
      </p:sp>
      <p:sp>
        <p:nvSpPr>
          <p:cNvPr id="33" name="Rounded Rectangle 32"/>
          <p:cNvSpPr/>
          <p:nvPr/>
        </p:nvSpPr>
        <p:spPr>
          <a:xfrm>
            <a:off x="3291840" y="3374136"/>
            <a:ext cx="3931920" cy="841248"/>
          </a:xfrm>
          <a:prstGeom prst="roundRect">
            <a:avLst>
              <a:gd name="adj" fmla="val 869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3493008" y="3374136"/>
            <a:ext cx="3566160" cy="841248"/>
          </a:xfrm>
          <a:prstGeom prst="rect">
            <a:avLst/>
          </a:prstGeom>
          <a:noFill/>
        </p:spPr>
        <p:txBody>
          <a:bodyPr wrap="square" lIns="0" tIns="0" rIns="0" bIns="0" anchor="ctr">
            <a:spAutoFit/>
          </a:bodyPr>
          <a:lstStyle/>
          <a:p>
            <a:pPr algn="l">
              <a:spcAft>
                <a:spcPts val="200"/>
              </a:spcAft>
            </a:pPr>
            <a:r>
              <a:rPr sz="1150">
                <a:solidFill>
                  <a:srgbClr val="222222"/>
                </a:solidFill>
                <a:latin typeface="에이투지체 5 Medium"/>
                <a:ea typeface="에이투지체 5 Medium"/>
              </a:rPr>
              <a:t>아이클타임 정보성 슬라이드로</a:t>
            </a:r>
          </a:p>
          <a:p>
            <a:pPr algn="l">
              <a:spcAft>
                <a:spcPts val="200"/>
              </a:spcAft>
            </a:pPr>
            <a:r>
              <a:rPr sz="1150">
                <a:solidFill>
                  <a:srgbClr val="222222"/>
                </a:solidFill>
                <a:latin typeface="에이투지체 5 Medium"/>
                <a:ea typeface="에이투지체 5 Medium"/>
              </a:rPr>
              <a:t>FGO 관심 고객을 패키지 · 영양제로 확대</a:t>
            </a:r>
          </a:p>
        </p:txBody>
      </p:sp>
      <p:sp>
        <p:nvSpPr>
          <p:cNvPr id="35" name="Rounded Rectangle 34"/>
          <p:cNvSpPr/>
          <p:nvPr/>
        </p:nvSpPr>
        <p:spPr>
          <a:xfrm>
            <a:off x="7543800" y="3465576"/>
            <a:ext cx="2103120" cy="658368"/>
          </a:xfrm>
          <a:prstGeom prst="roundRect">
            <a:avLst>
              <a:gd name="adj" fmla="val 11111"/>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635240" y="3465576"/>
            <a:ext cx="1920239" cy="658368"/>
          </a:xfrm>
          <a:prstGeom prst="rect">
            <a:avLst/>
          </a:prstGeom>
          <a:noFill/>
        </p:spPr>
        <p:txBody>
          <a:bodyPr wrap="square" lIns="0" tIns="0" rIns="0" bIns="0" anchor="ctr">
            <a:spAutoFit/>
          </a:bodyPr>
          <a:lstStyle/>
          <a:p>
            <a:pPr algn="ctr">
              <a:spcAft>
                <a:spcPts val="100"/>
              </a:spcAft>
            </a:pPr>
            <a:r>
              <a:rPr sz="1150">
                <a:solidFill>
                  <a:srgbClr val="004F9F"/>
                </a:solidFill>
                <a:latin typeface="에이투지체 6 SemiBold"/>
                <a:ea typeface="에이투지체 6 SemiBold"/>
              </a:rPr>
              <a:t>아이클타임 구매 캠페인</a:t>
            </a:r>
          </a:p>
          <a:p>
            <a:pPr algn="ctr">
              <a:spcAft>
                <a:spcPts val="100"/>
              </a:spcAft>
            </a:pPr>
            <a:r>
              <a:rPr sz="1150">
                <a:solidFill>
                  <a:srgbClr val="004F9F"/>
                </a:solidFill>
                <a:latin typeface="에이투지체 6 SemiBold"/>
                <a:ea typeface="에이투지체 6 SemiBold"/>
              </a:rPr>
              <a:t>정보성 소재</a:t>
            </a:r>
          </a:p>
        </p:txBody>
      </p:sp>
      <p:sp>
        <p:nvSpPr>
          <p:cNvPr id="37" name="TextBox 36"/>
          <p:cNvSpPr txBox="1"/>
          <p:nvPr/>
        </p:nvSpPr>
        <p:spPr>
          <a:xfrm>
            <a:off x="9966960" y="3374136"/>
            <a:ext cx="1645920" cy="841248"/>
          </a:xfrm>
          <a:prstGeom prst="rect">
            <a:avLst/>
          </a:prstGeom>
          <a:noFill/>
        </p:spPr>
        <p:txBody>
          <a:bodyPr wrap="square" lIns="0" tIns="0" rIns="0" bIns="0" anchor="ctr">
            <a:spAutoFit/>
          </a:bodyPr>
          <a:lstStyle/>
          <a:p>
            <a:pPr algn="ctr">
              <a:spcAft>
                <a:spcPts val="100"/>
              </a:spcAft>
            </a:pPr>
            <a:r>
              <a:rPr sz="1150">
                <a:solidFill>
                  <a:srgbClr val="222222"/>
                </a:solidFill>
                <a:latin typeface="에이투지체 6 SemiBold"/>
                <a:ea typeface="에이투지체 6 SemiBold"/>
              </a:rPr>
              <a:t>패키지 구매 수</a:t>
            </a:r>
          </a:p>
        </p:txBody>
      </p:sp>
      <p:sp>
        <p:nvSpPr>
          <p:cNvPr id="38" name="Isosceles Triangle 37"/>
          <p:cNvSpPr/>
          <p:nvPr/>
        </p:nvSpPr>
        <p:spPr>
          <a:xfrm rot="5400000">
            <a:off x="3017520" y="3694176"/>
            <a:ext cx="146304" cy="201168"/>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Isosceles Triangle 38"/>
          <p:cNvSpPr/>
          <p:nvPr/>
        </p:nvSpPr>
        <p:spPr>
          <a:xfrm rot="5400000">
            <a:off x="7269480" y="3694176"/>
            <a:ext cx="146304" cy="201168"/>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Isosceles Triangle 39"/>
          <p:cNvSpPr/>
          <p:nvPr/>
        </p:nvSpPr>
        <p:spPr>
          <a:xfrm rot="5400000">
            <a:off x="9692640" y="3694176"/>
            <a:ext cx="146304" cy="201168"/>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548640" y="4352544"/>
            <a:ext cx="2423160" cy="841248"/>
          </a:xfrm>
          <a:prstGeom prst="roundRect">
            <a:avLst>
              <a:gd name="adj" fmla="val 869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31520" y="4352544"/>
            <a:ext cx="2148840" cy="841248"/>
          </a:xfrm>
          <a:prstGeom prst="rect">
            <a:avLst/>
          </a:prstGeom>
          <a:noFill/>
        </p:spPr>
        <p:txBody>
          <a:bodyPr wrap="square" lIns="0" tIns="0" rIns="0" bIns="0" anchor="ctr">
            <a:spAutoFit/>
          </a:bodyPr>
          <a:lstStyle/>
          <a:p>
            <a:pPr algn="l">
              <a:spcAft>
                <a:spcPts val="100"/>
              </a:spcAft>
            </a:pPr>
            <a:r>
              <a:rPr sz="1050">
                <a:solidFill>
                  <a:srgbClr val="004F9F"/>
                </a:solidFill>
                <a:latin typeface="에이투지체 6 SemiBold"/>
                <a:ea typeface="에이투지체 6 SemiBold"/>
              </a:rPr>
              <a:t>03</a:t>
            </a:r>
          </a:p>
          <a:p>
            <a:pPr algn="l">
              <a:spcAft>
                <a:spcPts val="100"/>
              </a:spcAft>
            </a:pPr>
            <a:r>
              <a:rPr sz="1300">
                <a:solidFill>
                  <a:srgbClr val="222222"/>
                </a:solidFill>
                <a:latin typeface="에이투지체 6 SemiBold"/>
                <a:ea typeface="에이투지체 6 SemiBold"/>
              </a:rPr>
              <a:t>비전략 상품 매출 증대</a:t>
            </a:r>
          </a:p>
        </p:txBody>
      </p:sp>
      <p:sp>
        <p:nvSpPr>
          <p:cNvPr id="43" name="Rounded Rectangle 42"/>
          <p:cNvSpPr/>
          <p:nvPr/>
        </p:nvSpPr>
        <p:spPr>
          <a:xfrm>
            <a:off x="3291840" y="4352544"/>
            <a:ext cx="3931920" cy="841248"/>
          </a:xfrm>
          <a:prstGeom prst="roundRect">
            <a:avLst>
              <a:gd name="adj" fmla="val 869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493008" y="4352544"/>
            <a:ext cx="3566160" cy="841248"/>
          </a:xfrm>
          <a:prstGeom prst="rect">
            <a:avLst/>
          </a:prstGeom>
          <a:noFill/>
        </p:spPr>
        <p:txBody>
          <a:bodyPr wrap="square" lIns="0" tIns="0" rIns="0" bIns="0" anchor="ctr">
            <a:spAutoFit/>
          </a:bodyPr>
          <a:lstStyle/>
          <a:p>
            <a:pPr algn="l">
              <a:spcAft>
                <a:spcPts val="200"/>
              </a:spcAft>
            </a:pPr>
            <a:r>
              <a:rPr sz="1150">
                <a:solidFill>
                  <a:srgbClr val="222222"/>
                </a:solidFill>
                <a:latin typeface="에이투지체 5 Medium"/>
                <a:ea typeface="에이투지체 5 Medium"/>
              </a:rPr>
              <a:t>상품별 반응을 구매 기준으로 다시 검증해</a:t>
            </a:r>
          </a:p>
          <a:p>
            <a:pPr algn="l">
              <a:spcAft>
                <a:spcPts val="200"/>
              </a:spcAft>
            </a:pPr>
            <a:r>
              <a:rPr sz="1150">
                <a:solidFill>
                  <a:srgbClr val="222222"/>
                </a:solidFill>
                <a:latin typeface="에이투지체 5 Medium"/>
                <a:ea typeface="에이투지체 5 Medium"/>
              </a:rPr>
              <a:t>히어로 후보에 예산을 집중</a:t>
            </a:r>
          </a:p>
        </p:txBody>
      </p:sp>
      <p:sp>
        <p:nvSpPr>
          <p:cNvPr id="45" name="Rounded Rectangle 44"/>
          <p:cNvSpPr/>
          <p:nvPr/>
        </p:nvSpPr>
        <p:spPr>
          <a:xfrm>
            <a:off x="7543800" y="4443983"/>
            <a:ext cx="2103120" cy="658368"/>
          </a:xfrm>
          <a:prstGeom prst="roundRect">
            <a:avLst>
              <a:gd name="adj" fmla="val 11111"/>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635240" y="4443983"/>
            <a:ext cx="1920239" cy="658368"/>
          </a:xfrm>
          <a:prstGeom prst="rect">
            <a:avLst/>
          </a:prstGeom>
          <a:noFill/>
        </p:spPr>
        <p:txBody>
          <a:bodyPr wrap="square" lIns="0" tIns="0" rIns="0" bIns="0" anchor="ctr">
            <a:spAutoFit/>
          </a:bodyPr>
          <a:lstStyle/>
          <a:p>
            <a:pPr algn="ctr">
              <a:spcAft>
                <a:spcPts val="100"/>
              </a:spcAft>
            </a:pPr>
            <a:r>
              <a:rPr sz="1150">
                <a:solidFill>
                  <a:srgbClr val="004F9F"/>
                </a:solidFill>
                <a:latin typeface="에이투지체 6 SemiBold"/>
                <a:ea typeface="에이투지체 6 SemiBold"/>
              </a:rPr>
              <a:t>구매 최적화</a:t>
            </a:r>
          </a:p>
          <a:p>
            <a:pPr algn="ctr">
              <a:spcAft>
                <a:spcPts val="100"/>
              </a:spcAft>
            </a:pPr>
            <a:r>
              <a:rPr sz="1150">
                <a:solidFill>
                  <a:srgbClr val="004F9F"/>
                </a:solidFill>
                <a:latin typeface="에이투지체 6 SemiBold"/>
                <a:ea typeface="에이투지체 6 SemiBold"/>
              </a:rPr>
              <a:t>검증 소재 집중</a:t>
            </a:r>
          </a:p>
        </p:txBody>
      </p:sp>
      <p:sp>
        <p:nvSpPr>
          <p:cNvPr id="47" name="TextBox 46"/>
          <p:cNvSpPr txBox="1"/>
          <p:nvPr/>
        </p:nvSpPr>
        <p:spPr>
          <a:xfrm>
            <a:off x="9966960" y="4352544"/>
            <a:ext cx="1645920" cy="841248"/>
          </a:xfrm>
          <a:prstGeom prst="rect">
            <a:avLst/>
          </a:prstGeom>
          <a:noFill/>
        </p:spPr>
        <p:txBody>
          <a:bodyPr wrap="square" lIns="0" tIns="0" rIns="0" bIns="0" anchor="ctr">
            <a:spAutoFit/>
          </a:bodyPr>
          <a:lstStyle/>
          <a:p>
            <a:pPr algn="ctr">
              <a:spcAft>
                <a:spcPts val="100"/>
              </a:spcAft>
            </a:pPr>
            <a:r>
              <a:rPr sz="1150">
                <a:solidFill>
                  <a:srgbClr val="222222"/>
                </a:solidFill>
                <a:latin typeface="에이투지체 6 SemiBold"/>
                <a:ea typeface="에이투지체 6 SemiBold"/>
              </a:rPr>
              <a:t>FGO 외 상품</a:t>
            </a:r>
          </a:p>
          <a:p>
            <a:pPr algn="ctr">
              <a:spcAft>
                <a:spcPts val="100"/>
              </a:spcAft>
            </a:pPr>
            <a:r>
              <a:rPr sz="1150">
                <a:solidFill>
                  <a:srgbClr val="222222"/>
                </a:solidFill>
                <a:latin typeface="에이투지체 6 SemiBold"/>
                <a:ea typeface="에이투지체 6 SemiBold"/>
              </a:rPr>
              <a:t>매출 비중</a:t>
            </a:r>
          </a:p>
        </p:txBody>
      </p:sp>
      <p:sp>
        <p:nvSpPr>
          <p:cNvPr id="48" name="Isosceles Triangle 47"/>
          <p:cNvSpPr/>
          <p:nvPr/>
        </p:nvSpPr>
        <p:spPr>
          <a:xfrm rot="5400000">
            <a:off x="3017520" y="4672583"/>
            <a:ext cx="146304" cy="201168"/>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Isosceles Triangle 48"/>
          <p:cNvSpPr/>
          <p:nvPr/>
        </p:nvSpPr>
        <p:spPr>
          <a:xfrm rot="5400000">
            <a:off x="7269480" y="4672583"/>
            <a:ext cx="146304" cy="201168"/>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Isosceles Triangle 49"/>
          <p:cNvSpPr/>
          <p:nvPr/>
        </p:nvSpPr>
        <p:spPr>
          <a:xfrm rot="5400000">
            <a:off x="9692640" y="4672583"/>
            <a:ext cx="146304" cy="201168"/>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1">
            <a:extLst>
              <a:ext uri="{FF2B5EF4-FFF2-40B4-BE49-F238E27FC236}">
                <a16:creationId xmlns:a16="http://schemas.microsoft.com/office/drawing/2014/main" id="{E1459944-C6E7-877F-305B-729D6A714A4A}"/>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1"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22"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42</a:t>
            </a:r>
          </a:p>
        </p:txBody>
      </p:sp>
      <p:sp>
        <p:nvSpPr>
          <p:cNvPr id="2" name="text-73">
            <a:extLst>
              <a:ext uri="{FF2B5EF4-FFF2-40B4-BE49-F238E27FC236}">
                <a16:creationId xmlns:a16="http://schemas.microsoft.com/office/drawing/2014/main" id="{31966C0B-22D6-4370-8F19-78B01D3D7849}"/>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메타 핵심과제 1</a:t>
            </a:r>
            <a:r>
              <a:rPr lang="ko-KR" sz="1900" dirty="0">
                <a:solidFill>
                  <a:srgbClr val="222222"/>
                </a:solidFill>
                <a:latin typeface="에이투지체 8 ExtraBold"/>
                <a:ea typeface="에이투지체 8 ExtraBold"/>
                <a:cs typeface="에이투지체 8 ExtraBold"/>
              </a:rPr>
              <a:t>  상품별 구매 고객 학습</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장바구니 대신 상품 분류별 구매 최적화로 학습시킵니다</a:t>
            </a:r>
            <a:endParaRPr lang="ko-KR" sz="1900" dirty="0"/>
          </a:p>
        </p:txBody>
      </p:sp>
      <p:sp>
        <p:nvSpPr>
          <p:cNvPr id="3" name="text-74">
            <a:extLst>
              <a:ext uri="{FF2B5EF4-FFF2-40B4-BE49-F238E27FC236}">
                <a16:creationId xmlns:a16="http://schemas.microsoft.com/office/drawing/2014/main" id="{B691A91B-7AB9-4F41-8B4A-FFA9E11D5B1E}"/>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현재 캠페인 구조와 개편안</a:t>
            </a:r>
            <a:endParaRPr lang="ko-KR" sz="1100" dirty="0"/>
          </a:p>
        </p:txBody>
      </p:sp>
      <p:sp>
        <p:nvSpPr>
          <p:cNvPr id="16" name="node-84">
            <a:extLst>
              <a:ext uri="{FF2B5EF4-FFF2-40B4-BE49-F238E27FC236}">
                <a16:creationId xmlns:a16="http://schemas.microsoft.com/office/drawing/2014/main" id="{EEFEF5B7-3CC6-4ABA-8923-67B55E20FF07}"/>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17" name="text-85">
            <a:extLst>
              <a:ext uri="{FF2B5EF4-FFF2-40B4-BE49-F238E27FC236}">
                <a16:creationId xmlns:a16="http://schemas.microsoft.com/office/drawing/2014/main" id="{3C0A0B00-0202-495B-BDF0-DBE55720A91C}"/>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dirty="0" err="1">
                <a:solidFill>
                  <a:srgbClr val="004F9F"/>
                </a:solidFill>
                <a:latin typeface="에이투지체 6 SemiBold"/>
                <a:ea typeface="에이투지체 6 SemiBold"/>
                <a:cs typeface="에이투지체 6 SemiBold"/>
              </a:rPr>
              <a:t>장바구니 목표는 쓰지 않습니다. 그룹당 예산을 모아 구매 신호로 머신러닝 학습을 완료합니다</a:t>
            </a:r>
            <a:endParaRPr sz="1358" dirty="0">
              <a:solidFill>
                <a:srgbClr val="FFFFFF"/>
              </a:solidFill>
              <a:latin typeface="에이투지체 6 SemiBold"/>
              <a:ea typeface="에이투지체 6 SemiBold"/>
              <a:cs typeface="에이투지체 6 SemiBold"/>
            </a:endParaRPr>
          </a:p>
        </p:txBody>
      </p:sp>
      <p:sp>
        <p:nvSpPr>
          <p:cNvPr id="24" name="text-123">
            <a:extLst>
              <a:ext uri="{FF2B5EF4-FFF2-40B4-BE49-F238E27FC236}">
                <a16:creationId xmlns:a16="http://schemas.microsoft.com/office/drawing/2014/main" id="{CCC09807-AB0F-544F-C4D8-F2228F8FBCAF}"/>
              </a:ext>
            </a:extLst>
          </p:cNvPr>
          <p:cNvSpPr>
            <a:spLocks noGrp="1"/>
          </p:cNvSpPr>
          <p:nvPr/>
        </p:nvSpPr>
        <p:spPr>
          <a:xfrm>
            <a:off x="552450" y="2085975"/>
            <a:ext cx="4953000"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현재  장바구니 최적화 · 프로모션별 104개 세트</a:t>
            </a:r>
          </a:p>
        </p:txBody>
      </p:sp>
      <p:sp>
        <p:nvSpPr>
          <p:cNvPr id="26" name="text-124">
            <a:extLst>
              <a:ext uri="{FF2B5EF4-FFF2-40B4-BE49-F238E27FC236}">
                <a16:creationId xmlns:a16="http://schemas.microsoft.com/office/drawing/2014/main" id="{7B087F0F-1753-025C-EC68-97C89D05F27F}"/>
              </a:ext>
            </a:extLst>
          </p:cNvPr>
          <p:cNvSpPr>
            <a:spLocks noGrp="1"/>
          </p:cNvSpPr>
          <p:nvPr/>
        </p:nvSpPr>
        <p:spPr>
          <a:xfrm>
            <a:off x="6677025" y="2085975"/>
            <a:ext cx="4933950"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개편  상품 분류별 구매 최적화 캠페인</a:t>
            </a:r>
          </a:p>
        </p:txBody>
      </p:sp>
      <p:sp>
        <p:nvSpPr>
          <p:cNvPr id="28" name="node-125">
            <a:extLst>
              <a:ext uri="{FF2B5EF4-FFF2-40B4-BE49-F238E27FC236}">
                <a16:creationId xmlns:a16="http://schemas.microsoft.com/office/drawing/2014/main" id="{B8E0988A-762A-93B5-AA19-050DDA02A571}"/>
              </a:ext>
            </a:extLst>
          </p:cNvPr>
          <p:cNvSpPr>
            <a:spLocks noGrp="1"/>
          </p:cNvSpPr>
          <p:nvPr/>
        </p:nvSpPr>
        <p:spPr>
          <a:xfrm>
            <a:off x="552450" y="2552700"/>
            <a:ext cx="4191000" cy="504825"/>
          </a:xfrm>
          <a:prstGeom prst="roundRect">
            <a:avLst>
              <a:gd name="adj" fmla="val 14490"/>
            </a:avLst>
          </a:prstGeom>
          <a:solidFill>
            <a:srgbClr val="F5F5F5"/>
          </a:solidFill>
          <a:ln w="0">
            <a:noFill/>
          </a:ln>
        </p:spPr>
        <p:txBody>
          <a:bodyPr/>
          <a:lstStyle/>
          <a:p>
            <a:endParaRPr lang="ko-KR" altLang="en-US"/>
          </a:p>
        </p:txBody>
      </p:sp>
      <p:sp>
        <p:nvSpPr>
          <p:cNvPr id="30" name="text-126">
            <a:extLst>
              <a:ext uri="{FF2B5EF4-FFF2-40B4-BE49-F238E27FC236}">
                <a16:creationId xmlns:a16="http://schemas.microsoft.com/office/drawing/2014/main" id="{E9248C74-65EB-D2CB-596D-9E00FC728BEE}"/>
              </a:ext>
            </a:extLst>
          </p:cNvPr>
          <p:cNvSpPr>
            <a:spLocks noGrp="1"/>
          </p:cNvSpPr>
          <p:nvPr/>
        </p:nvSpPr>
        <p:spPr>
          <a:xfrm>
            <a:off x="666750" y="2600325"/>
            <a:ext cx="3962400" cy="409575"/>
          </a:xfrm>
          <a:prstGeom prst="rect">
            <a:avLst/>
          </a:prstGeom>
          <a:noFill/>
          <a:ln w="0">
            <a:noFill/>
          </a:ln>
        </p:spPr>
        <p:txBody>
          <a:bodyPr wrap="square" lIns="0" tIns="0" rIns="0" bIns="0" anchor="ctr">
            <a:noAutofit/>
          </a:bodyPr>
          <a:lstStyle>
            <a:defPPr algn="ctr">
              <a:defRPr sz="1402">
                <a:solidFill>
                  <a:srgbClr val="222222"/>
                </a:solidFill>
                <a:latin typeface="에이투지체 6 SemiBold"/>
                <a:ea typeface="에이투지체 6 SemiBold"/>
                <a:cs typeface="에이투지체 6 SemiBold"/>
              </a:defRPr>
            </a:defPPr>
          </a:lstStyle>
          <a:p>
            <a:pPr algn="ctr">
              <a:defRPr sz="1402">
                <a:solidFill>
                  <a:srgbClr val="222222"/>
                </a:solidFill>
                <a:latin typeface="에이투지체 6 SemiBold"/>
                <a:ea typeface="에이투지체 6 SemiBold"/>
                <a:cs typeface="에이투지체 6 SemiBold"/>
              </a:defRPr>
            </a:pPr>
            <a:r>
              <a:rPr sz="1402">
                <a:solidFill>
                  <a:srgbClr val="222222"/>
                </a:solidFill>
                <a:latin typeface="에이투지체 6 SemiBold"/>
                <a:ea typeface="에이투지체 6 SemiBold"/>
                <a:cs typeface="에이투지체 6 SemiBold"/>
              </a:rPr>
              <a:t>프로모션별 캠페인 21개</a:t>
            </a:r>
          </a:p>
        </p:txBody>
      </p:sp>
      <p:sp>
        <p:nvSpPr>
          <p:cNvPr id="32" name="node-127">
            <a:extLst>
              <a:ext uri="{FF2B5EF4-FFF2-40B4-BE49-F238E27FC236}">
                <a16:creationId xmlns:a16="http://schemas.microsoft.com/office/drawing/2014/main" id="{A43ABCF6-F639-3C7D-A496-475733A54B72}"/>
              </a:ext>
            </a:extLst>
          </p:cNvPr>
          <p:cNvSpPr>
            <a:spLocks noGrp="1"/>
          </p:cNvSpPr>
          <p:nvPr/>
        </p:nvSpPr>
        <p:spPr>
          <a:xfrm>
            <a:off x="552450" y="3190875"/>
            <a:ext cx="4191000" cy="504825"/>
          </a:xfrm>
          <a:prstGeom prst="roundRect">
            <a:avLst>
              <a:gd name="adj" fmla="val 14490"/>
            </a:avLst>
          </a:prstGeom>
          <a:solidFill>
            <a:srgbClr val="F5F5F5"/>
          </a:solidFill>
          <a:ln w="0">
            <a:noFill/>
          </a:ln>
        </p:spPr>
        <p:txBody>
          <a:bodyPr/>
          <a:lstStyle/>
          <a:p>
            <a:endParaRPr lang="ko-KR" altLang="en-US"/>
          </a:p>
        </p:txBody>
      </p:sp>
      <p:sp>
        <p:nvSpPr>
          <p:cNvPr id="34" name="text-128">
            <a:extLst>
              <a:ext uri="{FF2B5EF4-FFF2-40B4-BE49-F238E27FC236}">
                <a16:creationId xmlns:a16="http://schemas.microsoft.com/office/drawing/2014/main" id="{F20BEFB9-60DE-CB1E-CBED-31B8115CF9F7}"/>
              </a:ext>
            </a:extLst>
          </p:cNvPr>
          <p:cNvSpPr>
            <a:spLocks noGrp="1"/>
          </p:cNvSpPr>
          <p:nvPr/>
        </p:nvSpPr>
        <p:spPr>
          <a:xfrm>
            <a:off x="666750" y="3238500"/>
            <a:ext cx="3962400" cy="409575"/>
          </a:xfrm>
          <a:prstGeom prst="rect">
            <a:avLst/>
          </a:prstGeom>
          <a:noFill/>
          <a:ln w="0">
            <a:noFill/>
          </a:ln>
        </p:spPr>
        <p:txBody>
          <a:bodyPr wrap="square" lIns="0" tIns="0" rIns="0" bIns="0" anchor="ctr">
            <a:noAutofit/>
          </a:bodyPr>
          <a:lstStyle>
            <a:defPPr algn="ctr">
              <a:defRPr sz="1402">
                <a:solidFill>
                  <a:srgbClr val="222222"/>
                </a:solidFill>
                <a:latin typeface="에이투지체 6 SemiBold"/>
                <a:ea typeface="에이투지체 6 SemiBold"/>
                <a:cs typeface="에이투지체 6 SemiBold"/>
              </a:defRPr>
            </a:defPPr>
          </a:lstStyle>
          <a:p>
            <a:pPr algn="ctr">
              <a:defRPr sz="1402">
                <a:solidFill>
                  <a:srgbClr val="222222"/>
                </a:solidFill>
                <a:latin typeface="에이투지체 6 SemiBold"/>
                <a:ea typeface="에이투지체 6 SemiBold"/>
                <a:cs typeface="에이투지체 6 SemiBold"/>
              </a:defRPr>
            </a:pPr>
            <a:r>
              <a:rPr sz="1402">
                <a:solidFill>
                  <a:srgbClr val="222222"/>
                </a:solidFill>
                <a:latin typeface="에이투지체 6 SemiBold"/>
                <a:ea typeface="에이투지체 6 SemiBold"/>
                <a:cs typeface="에이투지체 6 SemiBold"/>
              </a:rPr>
              <a:t>장바구니 최적화 87%</a:t>
            </a:r>
          </a:p>
        </p:txBody>
      </p:sp>
      <p:sp>
        <p:nvSpPr>
          <p:cNvPr id="36" name="node-129">
            <a:extLst>
              <a:ext uri="{FF2B5EF4-FFF2-40B4-BE49-F238E27FC236}">
                <a16:creationId xmlns:a16="http://schemas.microsoft.com/office/drawing/2014/main" id="{ED73241A-883D-A443-6CAC-2A6095C02003}"/>
              </a:ext>
            </a:extLst>
          </p:cNvPr>
          <p:cNvSpPr>
            <a:spLocks noGrp="1"/>
          </p:cNvSpPr>
          <p:nvPr/>
        </p:nvSpPr>
        <p:spPr>
          <a:xfrm>
            <a:off x="552450" y="3829050"/>
            <a:ext cx="4191000" cy="504825"/>
          </a:xfrm>
          <a:prstGeom prst="roundRect">
            <a:avLst>
              <a:gd name="adj" fmla="val 14490"/>
            </a:avLst>
          </a:prstGeom>
          <a:solidFill>
            <a:srgbClr val="F5F5F5"/>
          </a:solidFill>
          <a:ln w="0">
            <a:noFill/>
          </a:ln>
        </p:spPr>
        <p:txBody>
          <a:bodyPr/>
          <a:lstStyle/>
          <a:p>
            <a:endParaRPr lang="ko-KR" altLang="en-US"/>
          </a:p>
        </p:txBody>
      </p:sp>
      <p:sp>
        <p:nvSpPr>
          <p:cNvPr id="38" name="text-130">
            <a:extLst>
              <a:ext uri="{FF2B5EF4-FFF2-40B4-BE49-F238E27FC236}">
                <a16:creationId xmlns:a16="http://schemas.microsoft.com/office/drawing/2014/main" id="{A24DF724-0B58-C66F-3F8A-DC22CC40D232}"/>
              </a:ext>
            </a:extLst>
          </p:cNvPr>
          <p:cNvSpPr>
            <a:spLocks noGrp="1"/>
          </p:cNvSpPr>
          <p:nvPr/>
        </p:nvSpPr>
        <p:spPr>
          <a:xfrm>
            <a:off x="666750" y="3876675"/>
            <a:ext cx="3962400" cy="409575"/>
          </a:xfrm>
          <a:prstGeom prst="rect">
            <a:avLst/>
          </a:prstGeom>
          <a:noFill/>
          <a:ln w="0">
            <a:noFill/>
          </a:ln>
        </p:spPr>
        <p:txBody>
          <a:bodyPr wrap="square" lIns="0" tIns="0" rIns="0" bIns="0" anchor="ctr">
            <a:noAutofit/>
          </a:bodyPr>
          <a:lstStyle>
            <a:defPPr algn="ctr">
              <a:defRPr sz="1402">
                <a:solidFill>
                  <a:srgbClr val="222222"/>
                </a:solidFill>
                <a:latin typeface="에이투지체 6 SemiBold"/>
                <a:ea typeface="에이투지체 6 SemiBold"/>
                <a:cs typeface="에이투지체 6 SemiBold"/>
              </a:defRPr>
            </a:defPPr>
          </a:lstStyle>
          <a:p>
            <a:pPr algn="ctr">
              <a:defRPr sz="1402">
                <a:solidFill>
                  <a:srgbClr val="222222"/>
                </a:solidFill>
                <a:latin typeface="에이투지체 6 SemiBold"/>
                <a:ea typeface="에이투지체 6 SemiBold"/>
                <a:cs typeface="에이투지체 6 SemiBold"/>
              </a:defRPr>
            </a:pPr>
            <a:r>
              <a:rPr sz="1402">
                <a:solidFill>
                  <a:srgbClr val="222222"/>
                </a:solidFill>
                <a:latin typeface="에이투지체 6 SemiBold"/>
                <a:ea typeface="에이투지체 6 SemiBold"/>
                <a:cs typeface="에이투지체 6 SemiBold"/>
              </a:rPr>
              <a:t>세트 104개 · 광고 327개</a:t>
            </a:r>
          </a:p>
        </p:txBody>
      </p:sp>
      <p:sp>
        <p:nvSpPr>
          <p:cNvPr id="40" name="node-131">
            <a:extLst>
              <a:ext uri="{FF2B5EF4-FFF2-40B4-BE49-F238E27FC236}">
                <a16:creationId xmlns:a16="http://schemas.microsoft.com/office/drawing/2014/main" id="{96B85BAE-73CB-666A-77C7-74B5662B5936}"/>
              </a:ext>
            </a:extLst>
          </p:cNvPr>
          <p:cNvSpPr>
            <a:spLocks noGrp="1"/>
          </p:cNvSpPr>
          <p:nvPr/>
        </p:nvSpPr>
        <p:spPr>
          <a:xfrm>
            <a:off x="552450" y="4467225"/>
            <a:ext cx="4191000" cy="504825"/>
          </a:xfrm>
          <a:prstGeom prst="roundRect">
            <a:avLst>
              <a:gd name="adj" fmla="val 14490"/>
            </a:avLst>
          </a:prstGeom>
          <a:solidFill>
            <a:srgbClr val="F5F5F5"/>
          </a:solidFill>
          <a:ln w="0">
            <a:noFill/>
          </a:ln>
        </p:spPr>
        <p:txBody>
          <a:bodyPr/>
          <a:lstStyle/>
          <a:p>
            <a:endParaRPr lang="ko-KR" altLang="en-US"/>
          </a:p>
        </p:txBody>
      </p:sp>
      <p:sp>
        <p:nvSpPr>
          <p:cNvPr id="42" name="text-132">
            <a:extLst>
              <a:ext uri="{FF2B5EF4-FFF2-40B4-BE49-F238E27FC236}">
                <a16:creationId xmlns:a16="http://schemas.microsoft.com/office/drawing/2014/main" id="{0890CA00-A07C-5837-FEB2-610BC9614B9E}"/>
              </a:ext>
            </a:extLst>
          </p:cNvPr>
          <p:cNvSpPr>
            <a:spLocks noGrp="1"/>
          </p:cNvSpPr>
          <p:nvPr/>
        </p:nvSpPr>
        <p:spPr>
          <a:xfrm>
            <a:off x="666750" y="4514850"/>
            <a:ext cx="3962400" cy="409575"/>
          </a:xfrm>
          <a:prstGeom prst="rect">
            <a:avLst/>
          </a:prstGeom>
          <a:noFill/>
          <a:ln w="0">
            <a:noFill/>
          </a:ln>
        </p:spPr>
        <p:txBody>
          <a:bodyPr wrap="square" lIns="0" tIns="0" rIns="0" bIns="0" anchor="ctr">
            <a:noAutofit/>
          </a:bodyPr>
          <a:lstStyle>
            <a:defPPr algn="ctr">
              <a:defRPr sz="1402">
                <a:solidFill>
                  <a:srgbClr val="222222"/>
                </a:solidFill>
                <a:latin typeface="에이투지체 6 SemiBold"/>
                <a:ea typeface="에이투지체 6 SemiBold"/>
                <a:cs typeface="에이투지체 6 SemiBold"/>
              </a:defRPr>
            </a:defPPr>
          </a:lstStyle>
          <a:p>
            <a:pPr algn="ctr">
              <a:defRPr sz="1402">
                <a:solidFill>
                  <a:srgbClr val="222222"/>
                </a:solidFill>
                <a:latin typeface="에이투지체 6 SemiBold"/>
                <a:ea typeface="에이투지체 6 SemiBold"/>
                <a:cs typeface="에이투지체 6 SemiBold"/>
              </a:defRPr>
            </a:pPr>
            <a:r>
              <a:rPr sz="1402">
                <a:solidFill>
                  <a:srgbClr val="222222"/>
                </a:solidFill>
                <a:latin typeface="에이투지체 6 SemiBold"/>
                <a:ea typeface="에이투지체 6 SemiBold"/>
                <a:cs typeface="에이투지체 6 SemiBold"/>
              </a:rPr>
              <a:t>세트당 3개월 평균 약 29만 원</a:t>
            </a:r>
          </a:p>
        </p:txBody>
      </p:sp>
      <p:sp>
        <p:nvSpPr>
          <p:cNvPr id="44" name="node-133">
            <a:extLst>
              <a:ext uri="{FF2B5EF4-FFF2-40B4-BE49-F238E27FC236}">
                <a16:creationId xmlns:a16="http://schemas.microsoft.com/office/drawing/2014/main" id="{059D5E50-5A1B-3270-6899-AD4845CB78F6}"/>
              </a:ext>
            </a:extLst>
          </p:cNvPr>
          <p:cNvSpPr>
            <a:spLocks noGrp="1"/>
          </p:cNvSpPr>
          <p:nvPr/>
        </p:nvSpPr>
        <p:spPr>
          <a:xfrm>
            <a:off x="6696075" y="2552700"/>
            <a:ext cx="4886325" cy="504825"/>
          </a:xfrm>
          <a:prstGeom prst="roundRect">
            <a:avLst>
              <a:gd name="adj" fmla="val 14490"/>
            </a:avLst>
          </a:prstGeom>
          <a:solidFill>
            <a:srgbClr val="004F9F"/>
          </a:solidFill>
          <a:ln w="0">
            <a:noFill/>
          </a:ln>
        </p:spPr>
        <p:txBody>
          <a:bodyPr/>
          <a:lstStyle/>
          <a:p>
            <a:endParaRPr lang="ko-KR" altLang="en-US"/>
          </a:p>
        </p:txBody>
      </p:sp>
      <p:sp>
        <p:nvSpPr>
          <p:cNvPr id="46" name="text-134">
            <a:extLst>
              <a:ext uri="{FF2B5EF4-FFF2-40B4-BE49-F238E27FC236}">
                <a16:creationId xmlns:a16="http://schemas.microsoft.com/office/drawing/2014/main" id="{6039740D-CF28-4EBC-8CFB-FDA58AE102AE}"/>
              </a:ext>
            </a:extLst>
          </p:cNvPr>
          <p:cNvSpPr>
            <a:spLocks noGrp="1"/>
          </p:cNvSpPr>
          <p:nvPr/>
        </p:nvSpPr>
        <p:spPr>
          <a:xfrm>
            <a:off x="6810375" y="2600325"/>
            <a:ext cx="4657725" cy="409575"/>
          </a:xfrm>
          <a:prstGeom prst="rect">
            <a:avLst/>
          </a:prstGeom>
          <a:noFill/>
          <a:ln w="0">
            <a:noFill/>
          </a:ln>
        </p:spPr>
        <p:txBody>
          <a:bodyPr wrap="square" lIns="0" tIns="0" rIns="0" bIns="0" anchor="ctr">
            <a:noAutofit/>
          </a:bodyPr>
          <a:lstStyle>
            <a:defPPr algn="ctr">
              <a:defRPr sz="1402">
                <a:solidFill>
                  <a:srgbClr val="FFFFFF"/>
                </a:solidFill>
                <a:latin typeface="에이투지체 6 SemiBold"/>
                <a:ea typeface="에이투지체 6 SemiBold"/>
                <a:cs typeface="에이투지체 6 SemiBold"/>
              </a:defRPr>
            </a:defPPr>
          </a:lstStyle>
          <a:p>
            <a:pPr algn="ctr">
              <a:defRPr sz="1402">
                <a:solidFill>
                  <a:srgbClr val="FFFFFF"/>
                </a:solidFill>
                <a:latin typeface="에이투지체 6 SemiBold"/>
                <a:ea typeface="에이투지체 6 SemiBold"/>
                <a:cs typeface="에이투지체 6 SemiBold"/>
              </a:defRPr>
            </a:pPr>
            <a:r>
              <a:rPr sz="1402">
                <a:solidFill>
                  <a:srgbClr val="FFFFFF"/>
                </a:solidFill>
                <a:latin typeface="에이투지체 6 SemiBold"/>
                <a:ea typeface="에이투지체 6 SemiBold"/>
                <a:cs typeface="에이투지체 6 SemiBold"/>
              </a:rPr>
              <a:t>아이클타임  구매 최적화</a:t>
            </a:r>
          </a:p>
        </p:txBody>
      </p:sp>
      <p:sp>
        <p:nvSpPr>
          <p:cNvPr id="48" name="node-135">
            <a:extLst>
              <a:ext uri="{FF2B5EF4-FFF2-40B4-BE49-F238E27FC236}">
                <a16:creationId xmlns:a16="http://schemas.microsoft.com/office/drawing/2014/main" id="{6C053DDA-BE52-465D-3627-C0F2343AB812}"/>
              </a:ext>
            </a:extLst>
          </p:cNvPr>
          <p:cNvSpPr>
            <a:spLocks noGrp="1"/>
          </p:cNvSpPr>
          <p:nvPr/>
        </p:nvSpPr>
        <p:spPr>
          <a:xfrm>
            <a:off x="6696075" y="3190875"/>
            <a:ext cx="4886325" cy="504825"/>
          </a:xfrm>
          <a:prstGeom prst="roundRect">
            <a:avLst>
              <a:gd name="adj" fmla="val 14490"/>
            </a:avLst>
          </a:prstGeom>
          <a:solidFill>
            <a:srgbClr val="EAF2FB"/>
          </a:solidFill>
          <a:ln w="0">
            <a:noFill/>
          </a:ln>
        </p:spPr>
        <p:txBody>
          <a:bodyPr/>
          <a:lstStyle/>
          <a:p>
            <a:endParaRPr lang="ko-KR" altLang="en-US"/>
          </a:p>
        </p:txBody>
      </p:sp>
      <p:sp>
        <p:nvSpPr>
          <p:cNvPr id="50" name="text-136">
            <a:extLst>
              <a:ext uri="{FF2B5EF4-FFF2-40B4-BE49-F238E27FC236}">
                <a16:creationId xmlns:a16="http://schemas.microsoft.com/office/drawing/2014/main" id="{EF8A8D5E-CBF2-022A-41B6-C1D913C2CF66}"/>
              </a:ext>
            </a:extLst>
          </p:cNvPr>
          <p:cNvSpPr>
            <a:spLocks noGrp="1"/>
          </p:cNvSpPr>
          <p:nvPr/>
        </p:nvSpPr>
        <p:spPr>
          <a:xfrm>
            <a:off x="6810375" y="3238500"/>
            <a:ext cx="4657725" cy="409575"/>
          </a:xfrm>
          <a:prstGeom prst="rect">
            <a:avLst/>
          </a:prstGeom>
          <a:noFill/>
          <a:ln w="0">
            <a:noFill/>
          </a:ln>
        </p:spPr>
        <p:txBody>
          <a:bodyPr wrap="square" lIns="0" tIns="0" rIns="0" bIns="0" anchor="ctr">
            <a:noAutofit/>
          </a:bodyPr>
          <a:lstStyle>
            <a:defPPr algn="ctr">
              <a:defRPr sz="1402">
                <a:solidFill>
                  <a:srgbClr val="004F9F"/>
                </a:solidFill>
                <a:latin typeface="에이투지체 6 SemiBold"/>
                <a:ea typeface="에이투지체 6 SemiBold"/>
                <a:cs typeface="에이투지체 6 SemiBold"/>
              </a:defRPr>
            </a:defPPr>
          </a:lstStyle>
          <a:p>
            <a:pPr algn="ctr">
              <a:defRPr sz="1402">
                <a:solidFill>
                  <a:srgbClr val="004F9F"/>
                </a:solidFill>
                <a:latin typeface="에이투지체 6 SemiBold"/>
                <a:ea typeface="에이투지체 6 SemiBold"/>
                <a:cs typeface="에이투지체 6 SemiBold"/>
              </a:defRPr>
            </a:pPr>
            <a:r>
              <a:rPr sz="1402">
                <a:solidFill>
                  <a:srgbClr val="004F9F"/>
                </a:solidFill>
                <a:latin typeface="에이투지체 6 SemiBold"/>
                <a:ea typeface="에이투지체 6 SemiBold"/>
                <a:cs typeface="에이투지체 6 SemiBold"/>
              </a:rPr>
              <a:t>슬림웨이  구매 최적화</a:t>
            </a:r>
          </a:p>
        </p:txBody>
      </p:sp>
      <p:sp>
        <p:nvSpPr>
          <p:cNvPr id="52" name="node-137">
            <a:extLst>
              <a:ext uri="{FF2B5EF4-FFF2-40B4-BE49-F238E27FC236}">
                <a16:creationId xmlns:a16="http://schemas.microsoft.com/office/drawing/2014/main" id="{966FB47B-6B11-E9C9-7373-89F2AF8262A0}"/>
              </a:ext>
            </a:extLst>
          </p:cNvPr>
          <p:cNvSpPr>
            <a:spLocks noGrp="1"/>
          </p:cNvSpPr>
          <p:nvPr/>
        </p:nvSpPr>
        <p:spPr>
          <a:xfrm>
            <a:off x="6696075" y="3829050"/>
            <a:ext cx="4886325" cy="504825"/>
          </a:xfrm>
          <a:prstGeom prst="roundRect">
            <a:avLst>
              <a:gd name="adj" fmla="val 14490"/>
            </a:avLst>
          </a:prstGeom>
          <a:solidFill>
            <a:srgbClr val="EAF2FB"/>
          </a:solidFill>
          <a:ln w="0">
            <a:noFill/>
          </a:ln>
        </p:spPr>
        <p:txBody>
          <a:bodyPr/>
          <a:lstStyle/>
          <a:p>
            <a:endParaRPr lang="ko-KR" altLang="en-US"/>
          </a:p>
        </p:txBody>
      </p:sp>
      <p:sp>
        <p:nvSpPr>
          <p:cNvPr id="54" name="text-138">
            <a:extLst>
              <a:ext uri="{FF2B5EF4-FFF2-40B4-BE49-F238E27FC236}">
                <a16:creationId xmlns:a16="http://schemas.microsoft.com/office/drawing/2014/main" id="{686D5035-07B6-E248-18EB-916D092AAB16}"/>
              </a:ext>
            </a:extLst>
          </p:cNvPr>
          <p:cNvSpPr>
            <a:spLocks noGrp="1"/>
          </p:cNvSpPr>
          <p:nvPr/>
        </p:nvSpPr>
        <p:spPr>
          <a:xfrm>
            <a:off x="6810375" y="3876675"/>
            <a:ext cx="4657725" cy="409575"/>
          </a:xfrm>
          <a:prstGeom prst="rect">
            <a:avLst/>
          </a:prstGeom>
          <a:noFill/>
          <a:ln w="0">
            <a:noFill/>
          </a:ln>
        </p:spPr>
        <p:txBody>
          <a:bodyPr wrap="square" lIns="0" tIns="0" rIns="0" bIns="0" anchor="ctr">
            <a:noAutofit/>
          </a:bodyPr>
          <a:lstStyle>
            <a:defPPr algn="ctr">
              <a:defRPr sz="1402">
                <a:solidFill>
                  <a:srgbClr val="004F9F"/>
                </a:solidFill>
                <a:latin typeface="에이투지체 6 SemiBold"/>
                <a:ea typeface="에이투지체 6 SemiBold"/>
                <a:cs typeface="에이투지체 6 SemiBold"/>
              </a:defRPr>
            </a:defPPr>
          </a:lstStyle>
          <a:p>
            <a:pPr algn="ctr">
              <a:defRPr sz="1402">
                <a:solidFill>
                  <a:srgbClr val="004F9F"/>
                </a:solidFill>
                <a:latin typeface="에이투지체 6 SemiBold"/>
                <a:ea typeface="에이투지체 6 SemiBold"/>
                <a:cs typeface="에이투지체 6 SemiBold"/>
              </a:defRPr>
            </a:pPr>
            <a:r>
              <a:rPr sz="1402">
                <a:solidFill>
                  <a:srgbClr val="004F9F"/>
                </a:solidFill>
                <a:latin typeface="에이투지체 6 SemiBold"/>
                <a:ea typeface="에이투지체 6 SemiBold"/>
                <a:cs typeface="에이투지체 6 SemiBold"/>
              </a:rPr>
              <a:t>두드림몰  구매 최적화</a:t>
            </a:r>
          </a:p>
        </p:txBody>
      </p:sp>
      <p:sp>
        <p:nvSpPr>
          <p:cNvPr id="56" name="node-139">
            <a:extLst>
              <a:ext uri="{FF2B5EF4-FFF2-40B4-BE49-F238E27FC236}">
                <a16:creationId xmlns:a16="http://schemas.microsoft.com/office/drawing/2014/main" id="{F25B199E-36DA-1B61-545D-20A37A87E3AB}"/>
              </a:ext>
            </a:extLst>
          </p:cNvPr>
          <p:cNvSpPr>
            <a:spLocks noGrp="1"/>
          </p:cNvSpPr>
          <p:nvPr/>
        </p:nvSpPr>
        <p:spPr>
          <a:xfrm>
            <a:off x="6696075" y="4467225"/>
            <a:ext cx="4886325" cy="504825"/>
          </a:xfrm>
          <a:prstGeom prst="roundRect">
            <a:avLst>
              <a:gd name="adj" fmla="val 14490"/>
            </a:avLst>
          </a:prstGeom>
          <a:solidFill>
            <a:srgbClr val="EAF2FB"/>
          </a:solidFill>
          <a:ln w="0">
            <a:noFill/>
          </a:ln>
        </p:spPr>
        <p:txBody>
          <a:bodyPr/>
          <a:lstStyle/>
          <a:p>
            <a:endParaRPr lang="ko-KR" altLang="en-US"/>
          </a:p>
        </p:txBody>
      </p:sp>
      <p:sp>
        <p:nvSpPr>
          <p:cNvPr id="58" name="text-140">
            <a:extLst>
              <a:ext uri="{FF2B5EF4-FFF2-40B4-BE49-F238E27FC236}">
                <a16:creationId xmlns:a16="http://schemas.microsoft.com/office/drawing/2014/main" id="{F76CB227-9C87-6DD9-8C9A-ED47119B8B86}"/>
              </a:ext>
            </a:extLst>
          </p:cNvPr>
          <p:cNvSpPr>
            <a:spLocks noGrp="1"/>
          </p:cNvSpPr>
          <p:nvPr/>
        </p:nvSpPr>
        <p:spPr>
          <a:xfrm>
            <a:off x="6810375" y="4514850"/>
            <a:ext cx="4657725" cy="409575"/>
          </a:xfrm>
          <a:prstGeom prst="rect">
            <a:avLst/>
          </a:prstGeom>
          <a:noFill/>
          <a:ln w="0">
            <a:noFill/>
          </a:ln>
        </p:spPr>
        <p:txBody>
          <a:bodyPr wrap="square" lIns="0" tIns="0" rIns="0" bIns="0" anchor="ctr">
            <a:noAutofit/>
          </a:bodyPr>
          <a:lstStyle>
            <a:defPPr algn="ctr">
              <a:defRPr sz="1402">
                <a:solidFill>
                  <a:srgbClr val="004F9F"/>
                </a:solidFill>
                <a:latin typeface="에이투지체 6 SemiBold"/>
                <a:ea typeface="에이투지체 6 SemiBold"/>
                <a:cs typeface="에이투지체 6 SemiBold"/>
              </a:defRPr>
            </a:defPPr>
          </a:lstStyle>
          <a:p>
            <a:pPr algn="ctr">
              <a:defRPr sz="1402">
                <a:solidFill>
                  <a:srgbClr val="004F9F"/>
                </a:solidFill>
                <a:latin typeface="에이투지체 6 SemiBold"/>
                <a:ea typeface="에이투지체 6 SemiBold"/>
                <a:cs typeface="에이투지체 6 SemiBold"/>
              </a:defRPr>
            </a:pPr>
            <a:r>
              <a:rPr sz="1402" dirty="0" err="1">
                <a:solidFill>
                  <a:srgbClr val="004F9F"/>
                </a:solidFill>
                <a:latin typeface="에이투지체 6 SemiBold"/>
                <a:ea typeface="에이투지체 6 SemiBold"/>
                <a:cs typeface="에이투지체 6 SemiBold"/>
              </a:rPr>
              <a:t>그룹은</a:t>
            </a:r>
            <a:r>
              <a:rPr sz="1402" dirty="0">
                <a:solidFill>
                  <a:srgbClr val="004F9F"/>
                </a:solidFill>
                <a:latin typeface="에이투지체 6 SemiBold"/>
                <a:ea typeface="에이투지체 6 SemiBold"/>
                <a:cs typeface="에이투지체 6 SemiBold"/>
              </a:rPr>
              <a:t> </a:t>
            </a:r>
            <a:r>
              <a:rPr sz="1402" dirty="0" err="1">
                <a:solidFill>
                  <a:srgbClr val="004F9F"/>
                </a:solidFill>
                <a:latin typeface="에이투지체 6 SemiBold"/>
                <a:ea typeface="에이투지체 6 SemiBold"/>
                <a:cs typeface="에이투지체 6 SemiBold"/>
              </a:rPr>
              <a:t>상품</a:t>
            </a:r>
            <a:r>
              <a:rPr sz="1402" dirty="0">
                <a:solidFill>
                  <a:srgbClr val="004F9F"/>
                </a:solidFill>
                <a:latin typeface="에이투지체 6 SemiBold"/>
                <a:ea typeface="에이투지체 6 SemiBold"/>
                <a:cs typeface="에이투지체 6 SemiBold"/>
              </a:rPr>
              <a:t> </a:t>
            </a:r>
            <a:r>
              <a:rPr sz="1402" dirty="0" err="1">
                <a:solidFill>
                  <a:srgbClr val="004F9F"/>
                </a:solidFill>
                <a:latin typeface="에이투지체 6 SemiBold"/>
                <a:ea typeface="에이투지체 6 SemiBold"/>
                <a:cs typeface="에이투지체 6 SemiBold"/>
              </a:rPr>
              <a:t>단위로</a:t>
            </a:r>
            <a:r>
              <a:rPr sz="1402" dirty="0">
                <a:solidFill>
                  <a:srgbClr val="004F9F"/>
                </a:solidFill>
                <a:latin typeface="에이투지체 6 SemiBold"/>
                <a:ea typeface="에이투지체 6 SemiBold"/>
                <a:cs typeface="에이투지체 6 SemiBold"/>
              </a:rPr>
              <a:t> </a:t>
            </a:r>
            <a:r>
              <a:rPr sz="1402" dirty="0" err="1">
                <a:solidFill>
                  <a:srgbClr val="004F9F"/>
                </a:solidFill>
                <a:latin typeface="에이투지체 6 SemiBold"/>
                <a:ea typeface="에이투지체 6 SemiBold"/>
                <a:cs typeface="에이투지체 6 SemiBold"/>
              </a:rPr>
              <a:t>축소</a:t>
            </a:r>
            <a:r>
              <a:rPr sz="1402" dirty="0">
                <a:solidFill>
                  <a:srgbClr val="004F9F"/>
                </a:solidFill>
                <a:latin typeface="에이투지체 6 SemiBold"/>
                <a:ea typeface="에이투지체 6 SemiBold"/>
                <a:cs typeface="에이투지체 6 SemiBold"/>
              </a:rPr>
              <a:t> · </a:t>
            </a:r>
            <a:r>
              <a:rPr sz="1402" dirty="0" err="1">
                <a:solidFill>
                  <a:srgbClr val="004F9F"/>
                </a:solidFill>
                <a:latin typeface="에이투지체 6 SemiBold"/>
                <a:ea typeface="에이투지체 6 SemiBold"/>
                <a:cs typeface="에이투지체 6 SemiBold"/>
              </a:rPr>
              <a:t>예산</a:t>
            </a:r>
            <a:r>
              <a:rPr sz="1402" dirty="0">
                <a:solidFill>
                  <a:srgbClr val="004F9F"/>
                </a:solidFill>
                <a:latin typeface="에이투지체 6 SemiBold"/>
                <a:ea typeface="에이투지체 6 SemiBold"/>
                <a:cs typeface="에이투지체 6 SemiBold"/>
              </a:rPr>
              <a:t> </a:t>
            </a:r>
            <a:r>
              <a:rPr sz="1402" dirty="0" err="1">
                <a:solidFill>
                  <a:srgbClr val="004F9F"/>
                </a:solidFill>
                <a:latin typeface="에이투지체 6 SemiBold"/>
                <a:ea typeface="에이투지체 6 SemiBold"/>
                <a:cs typeface="에이투지체 6 SemiBold"/>
              </a:rPr>
              <a:t>집중</a:t>
            </a:r>
            <a:endParaRPr sz="1402" dirty="0">
              <a:solidFill>
                <a:srgbClr val="004F9F"/>
              </a:solidFill>
              <a:latin typeface="에이투지체 6 SemiBold"/>
              <a:ea typeface="에이투지체 6 SemiBold"/>
              <a:cs typeface="에이투지체 6 SemiBold"/>
            </a:endParaRPr>
          </a:p>
        </p:txBody>
      </p:sp>
      <p:sp>
        <p:nvSpPr>
          <p:cNvPr id="60" name="text-141">
            <a:extLst>
              <a:ext uri="{FF2B5EF4-FFF2-40B4-BE49-F238E27FC236}">
                <a16:creationId xmlns:a16="http://schemas.microsoft.com/office/drawing/2014/main" id="{4CF4A7B3-A725-3A2D-6799-73536EC61467}"/>
              </a:ext>
            </a:extLst>
          </p:cNvPr>
          <p:cNvSpPr>
            <a:spLocks noGrp="1"/>
          </p:cNvSpPr>
          <p:nvPr/>
        </p:nvSpPr>
        <p:spPr>
          <a:xfrm>
            <a:off x="5019675" y="3200400"/>
            <a:ext cx="1457325" cy="371475"/>
          </a:xfrm>
          <a:prstGeom prst="rect">
            <a:avLst/>
          </a:prstGeom>
          <a:noFill/>
          <a:ln w="0">
            <a:noFill/>
          </a:ln>
        </p:spPr>
        <p:txBody>
          <a:bodyPr wrap="square" lIns="0" tIns="0" rIns="0" bIns="0" anchor="ctr">
            <a:noAutofit/>
          </a:bodyPr>
          <a:lstStyle>
            <a:defPPr algn="ctr">
              <a:defRPr sz="1275">
                <a:solidFill>
                  <a:srgbClr val="004F9F"/>
                </a:solidFill>
                <a:latin typeface="에이투지체 6 SemiBold"/>
                <a:ea typeface="에이투지체 6 SemiBold"/>
                <a:cs typeface="에이투지체 6 SemiBold"/>
              </a:defRPr>
            </a:defPPr>
          </a:lstStyle>
          <a:p>
            <a:pPr algn="ctr">
              <a:defRPr sz="1275">
                <a:solidFill>
                  <a:srgbClr val="004F9F"/>
                </a:solidFill>
                <a:latin typeface="에이투지체 6 SemiBold"/>
                <a:ea typeface="에이투지체 6 SemiBold"/>
                <a:cs typeface="에이투지체 6 SemiBold"/>
              </a:defRPr>
            </a:pPr>
            <a:r>
              <a:rPr sz="1275">
                <a:solidFill>
                  <a:srgbClr val="004F9F"/>
                </a:solidFill>
                <a:latin typeface="에이투지체 6 SemiBold"/>
                <a:ea typeface="에이투지체 6 SemiBold"/>
                <a:cs typeface="에이투지체 6 SemiBold"/>
              </a:rPr>
              <a:t>구매 기준 전환</a:t>
            </a:r>
          </a:p>
        </p:txBody>
      </p:sp>
      <p:sp>
        <p:nvSpPr>
          <p:cNvPr id="62" name="화살표: 오른쪽 61">
            <a:extLst>
              <a:ext uri="{FF2B5EF4-FFF2-40B4-BE49-F238E27FC236}">
                <a16:creationId xmlns:a16="http://schemas.microsoft.com/office/drawing/2014/main" id="{1816AA5E-1AE6-EBC2-9BC8-9BAF4288CA7A}"/>
              </a:ext>
            </a:extLst>
          </p:cNvPr>
          <p:cNvSpPr>
            <a:spLocks noGrp="1"/>
          </p:cNvSpPr>
          <p:nvPr/>
        </p:nvSpPr>
        <p:spPr>
          <a:xfrm>
            <a:off x="5276850" y="3762375"/>
            <a:ext cx="971550" cy="476250"/>
          </a:xfrm>
          <a:prstGeom prst="rightArrow">
            <a:avLst/>
          </a:prstGeom>
          <a:solidFill>
            <a:srgbClr val="004F9F"/>
          </a:solidFill>
          <a:ln w="0">
            <a:noFill/>
          </a:ln>
        </p:spPr>
        <p:txBody>
          <a:bodyPr/>
          <a:lstStyle/>
          <a:p>
            <a:endParaRPr lang="ko-KR" altLang="en-US"/>
          </a:p>
        </p:txBody>
      </p:sp>
      <p:sp>
        <p:nvSpPr>
          <p:cNvPr id="5" name="TextBox 1">
            <a:extLst>
              <a:ext uri="{FF2B5EF4-FFF2-40B4-BE49-F238E27FC236}">
                <a16:creationId xmlns:a16="http://schemas.microsoft.com/office/drawing/2014/main" id="{F4713D52-95EF-8F30-7992-91E3830F8B09}"/>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7">
            <a:extLst>
              <a:ext uri="{FF2B5EF4-FFF2-40B4-BE49-F238E27FC236}">
                <a16:creationId xmlns:a16="http://schemas.microsoft.com/office/drawing/2014/main" id="{C09B206C-750A-E248-DB8A-4636B4FF541A}"/>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1" name="TextBox 8">
            <a:extLst>
              <a:ext uri="{FF2B5EF4-FFF2-40B4-BE49-F238E27FC236}">
                <a16:creationId xmlns:a16="http://schemas.microsoft.com/office/drawing/2014/main" id="{6A3AA335-5085-EF21-D62D-39CDCC87BB10}"/>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22" name="PGNO">
            <a:extLst>
              <a:ext uri="{FF2B5EF4-FFF2-40B4-BE49-F238E27FC236}">
                <a16:creationId xmlns:a16="http://schemas.microsoft.com/office/drawing/2014/main" id="{34D14FA6-4DFB-891B-2E20-5DF50D35A0C8}"/>
              </a:ext>
            </a:extLst>
          </p:cNvPr>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43</a:t>
            </a:r>
          </a:p>
        </p:txBody>
      </p:sp>
      <p:sp>
        <p:nvSpPr>
          <p:cNvPr id="2" name="text-73">
            <a:extLst>
              <a:ext uri="{FF2B5EF4-FFF2-40B4-BE49-F238E27FC236}">
                <a16:creationId xmlns:a16="http://schemas.microsoft.com/office/drawing/2014/main" id="{061BB85F-CC59-0661-7ED1-B3C355A2FD90}"/>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메타 핵심과제 2</a:t>
            </a:r>
            <a:r>
              <a:rPr lang="ko-KR" sz="1900" dirty="0">
                <a:solidFill>
                  <a:srgbClr val="222222"/>
                </a:solidFill>
                <a:latin typeface="에이투지체 8 ExtraBold"/>
                <a:ea typeface="에이투지체 8 ExtraBold"/>
                <a:cs typeface="에이투지체 8 ExtraBold"/>
              </a:rPr>
              <a:t>  FGO 고객 확장</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정보성 슬라이드로 FGO 고객을 패키지와 다른 영양제로 넓힙니다</a:t>
            </a:r>
            <a:endParaRPr lang="ko-KR" sz="1900" dirty="0"/>
          </a:p>
        </p:txBody>
      </p:sp>
      <p:sp>
        <p:nvSpPr>
          <p:cNvPr id="3" name="text-74">
            <a:extLst>
              <a:ext uri="{FF2B5EF4-FFF2-40B4-BE49-F238E27FC236}">
                <a16:creationId xmlns:a16="http://schemas.microsoft.com/office/drawing/2014/main" id="{B00493CE-B681-00A8-24FB-E3AC2DCFF95A}"/>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아이클타임 정보성 슬라이드 운영안</a:t>
            </a:r>
            <a:endParaRPr lang="ko-KR" sz="1100" dirty="0"/>
          </a:p>
        </p:txBody>
      </p:sp>
      <p:sp>
        <p:nvSpPr>
          <p:cNvPr id="16" name="node-84">
            <a:extLst>
              <a:ext uri="{FF2B5EF4-FFF2-40B4-BE49-F238E27FC236}">
                <a16:creationId xmlns:a16="http://schemas.microsoft.com/office/drawing/2014/main" id="{34C3CFB5-5416-E10E-F81A-80274A60314B}"/>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17" name="text-85">
            <a:extLst>
              <a:ext uri="{FF2B5EF4-FFF2-40B4-BE49-F238E27FC236}">
                <a16:creationId xmlns:a16="http://schemas.microsoft.com/office/drawing/2014/main" id="{D38304D6-B5D1-F013-6F3B-CBCB2F644EF6}"/>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dirty="0" err="1">
                <a:solidFill>
                  <a:srgbClr val="004F9F"/>
                </a:solidFill>
                <a:latin typeface="에이투지체 6 SemiBold"/>
                <a:ea typeface="에이투지체 6 SemiBold"/>
                <a:cs typeface="에이투지체 6 SemiBold"/>
              </a:rPr>
              <a:t>상품을</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먼저</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보여주지</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않고</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부모가</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아이의</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단계를</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찾게</a:t>
            </a:r>
            <a:r>
              <a:rPr sz="1358" dirty="0">
                <a:solidFill>
                  <a:srgbClr val="004F9F"/>
                </a:solidFill>
                <a:latin typeface="에이투지체 6 SemiBold"/>
                <a:ea typeface="에이투지체 6 SemiBold"/>
                <a:cs typeface="에이투지체 6 SemiBold"/>
              </a:rPr>
              <a:t> 한 뒤 </a:t>
            </a:r>
            <a:r>
              <a:rPr sz="1358" dirty="0" err="1">
                <a:solidFill>
                  <a:srgbClr val="004F9F"/>
                </a:solidFill>
                <a:latin typeface="에이투지체 6 SemiBold"/>
                <a:ea typeface="에이투지체 6 SemiBold"/>
                <a:cs typeface="에이투지체 6 SemiBold"/>
              </a:rPr>
              <a:t>아이클타임</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패키지로</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연결합니다</a:t>
            </a:r>
            <a:endParaRPr sz="1358" dirty="0">
              <a:solidFill>
                <a:srgbClr val="FFFFFF"/>
              </a:solidFill>
              <a:latin typeface="에이투지체 6 SemiBold"/>
              <a:ea typeface="에이투지체 6 SemiBold"/>
              <a:cs typeface="에이투지체 6 SemiBold"/>
            </a:endParaRPr>
          </a:p>
        </p:txBody>
      </p:sp>
      <p:sp>
        <p:nvSpPr>
          <p:cNvPr id="23" name="TextBox 22"/>
          <p:cNvSpPr txBox="1"/>
          <p:nvPr/>
        </p:nvSpPr>
        <p:spPr>
          <a:xfrm>
            <a:off x="548640" y="2103120"/>
            <a:ext cx="5760720" cy="320040"/>
          </a:xfrm>
          <a:prstGeom prst="rect">
            <a:avLst/>
          </a:prstGeom>
          <a:noFill/>
        </p:spPr>
        <p:txBody>
          <a:bodyPr wrap="square" lIns="0" tIns="0" rIns="0" bIns="0" anchor="t">
            <a:spAutoFit/>
          </a:bodyPr>
          <a:lstStyle/>
          <a:p>
            <a:pPr algn="l">
              <a:spcAft>
                <a:spcPts val="300"/>
              </a:spcAft>
            </a:pPr>
            <a:r>
              <a:rPr sz="1500">
                <a:solidFill>
                  <a:srgbClr val="004F9F"/>
                </a:solidFill>
                <a:latin typeface="에이투지체 6 SemiBold"/>
                <a:ea typeface="에이투지체 6 SemiBold"/>
              </a:rPr>
              <a:t>정보성 슬라이드 구성</a:t>
            </a:r>
          </a:p>
        </p:txBody>
      </p:sp>
      <p:sp>
        <p:nvSpPr>
          <p:cNvPr id="24" name="Rectangle 23"/>
          <p:cNvSpPr/>
          <p:nvPr/>
        </p:nvSpPr>
        <p:spPr>
          <a:xfrm>
            <a:off x="548640" y="2560320"/>
            <a:ext cx="1810512" cy="1353312"/>
          </a:xfrm>
          <a:prstGeom prst="roundRect">
            <a:avLst>
              <a:gd name="adj" fmla="val 5405"/>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76656" y="2651760"/>
            <a:ext cx="1554480" cy="1188720"/>
          </a:xfrm>
          <a:prstGeom prst="rect">
            <a:avLst/>
          </a:prstGeom>
          <a:noFill/>
        </p:spPr>
        <p:txBody>
          <a:bodyPr wrap="square" lIns="0" tIns="0" rIns="0" bIns="0" anchor="t">
            <a:spAutoFit/>
          </a:bodyPr>
          <a:lstStyle/>
          <a:p>
            <a:pPr algn="l">
              <a:spcAft>
                <a:spcPts val="200"/>
              </a:spcAft>
            </a:pPr>
            <a:r>
              <a:rPr sz="1000">
                <a:solidFill>
                  <a:srgbClr val="6FB0E8"/>
                </a:solidFill>
                <a:latin typeface="에이투지체 8 ExtraBold"/>
                <a:ea typeface="에이투지체 8 ExtraBold"/>
              </a:rPr>
              <a:t>01</a:t>
            </a:r>
          </a:p>
          <a:p>
            <a:pPr algn="l">
              <a:spcAft>
                <a:spcPts val="200"/>
              </a:spcAft>
            </a:pPr>
            <a:r>
              <a:rPr sz="1100">
                <a:solidFill>
                  <a:srgbClr val="FFFFFF"/>
                </a:solidFill>
                <a:latin typeface="에이투지체 6 SemiBold"/>
                <a:ea typeface="에이투지체 6 SemiBold"/>
              </a:rPr>
              <a:t>후킹</a:t>
            </a:r>
          </a:p>
          <a:p>
            <a:pPr algn="l">
              <a:spcAft>
                <a:spcPts val="200"/>
              </a:spcAft>
            </a:pPr>
            <a:r>
              <a:rPr sz="1050">
                <a:solidFill>
                  <a:srgbClr val="FFFFFF"/>
                </a:solidFill>
                <a:latin typeface="에이투지체 6 SemiBold"/>
                <a:ea typeface="에이투지체 6 SemiBold"/>
              </a:rPr>
              <a:t>우리 아이,</a:t>
            </a:r>
          </a:p>
          <a:p>
            <a:pPr algn="l">
              <a:spcAft>
                <a:spcPts val="200"/>
              </a:spcAft>
            </a:pPr>
            <a:r>
              <a:rPr sz="1050">
                <a:solidFill>
                  <a:srgbClr val="FFFFFF"/>
                </a:solidFill>
                <a:latin typeface="에이투지체 6 SemiBold"/>
                <a:ea typeface="에이투지체 6 SemiBold"/>
              </a:rPr>
              <a:t>지금 몇 살인가요?</a:t>
            </a:r>
          </a:p>
        </p:txBody>
      </p:sp>
      <p:sp>
        <p:nvSpPr>
          <p:cNvPr id="26" name="Rectangle 25"/>
          <p:cNvSpPr/>
          <p:nvPr/>
        </p:nvSpPr>
        <p:spPr>
          <a:xfrm>
            <a:off x="2468880" y="2560320"/>
            <a:ext cx="1810512" cy="1353312"/>
          </a:xfrm>
          <a:prstGeom prst="roundRect">
            <a:avLst>
              <a:gd name="adj" fmla="val 540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596896" y="2651760"/>
            <a:ext cx="1554480" cy="1188720"/>
          </a:xfrm>
          <a:prstGeom prst="rect">
            <a:avLst/>
          </a:prstGeom>
          <a:noFill/>
        </p:spPr>
        <p:txBody>
          <a:bodyPr wrap="square" lIns="0" tIns="0" rIns="0" bIns="0" anchor="t">
            <a:spAutoFit/>
          </a:bodyPr>
          <a:lstStyle/>
          <a:p>
            <a:pPr algn="l">
              <a:spcAft>
                <a:spcPts val="200"/>
              </a:spcAft>
            </a:pPr>
            <a:r>
              <a:rPr sz="1000" dirty="0">
                <a:solidFill>
                  <a:srgbClr val="004F9F"/>
                </a:solidFill>
                <a:latin typeface="에이투지체 8 ExtraBold"/>
                <a:ea typeface="에이투지체 8 ExtraBold"/>
              </a:rPr>
              <a:t>02</a:t>
            </a:r>
          </a:p>
          <a:p>
            <a:pPr algn="l">
              <a:spcAft>
                <a:spcPts val="200"/>
              </a:spcAft>
            </a:pPr>
            <a:r>
              <a:rPr sz="1100" dirty="0" err="1">
                <a:solidFill>
                  <a:srgbClr val="004F9F"/>
                </a:solidFill>
                <a:latin typeface="에이투지체 6 SemiBold"/>
                <a:ea typeface="에이투지체 6 SemiBold"/>
              </a:rPr>
              <a:t>유아</a:t>
            </a:r>
            <a:r>
              <a:rPr sz="1100" dirty="0">
                <a:solidFill>
                  <a:srgbClr val="004F9F"/>
                </a:solidFill>
                <a:latin typeface="에이투지체 6 SemiBold"/>
                <a:ea typeface="에이투지체 6 SemiBold"/>
              </a:rPr>
              <a:t> 만 2~3세</a:t>
            </a:r>
          </a:p>
          <a:p>
            <a:pPr algn="l">
              <a:spcAft>
                <a:spcPts val="200"/>
              </a:spcAft>
            </a:pPr>
            <a:r>
              <a:rPr sz="1050" dirty="0" err="1">
                <a:solidFill>
                  <a:srgbClr val="222222"/>
                </a:solidFill>
                <a:latin typeface="에이투지체 4 Regular"/>
                <a:ea typeface="에이투지체 4 Regular"/>
              </a:rPr>
              <a:t>멀티비타민</a:t>
            </a:r>
            <a:r>
              <a:rPr sz="1050" dirty="0">
                <a:solidFill>
                  <a:srgbClr val="222222"/>
                </a:solidFill>
                <a:latin typeface="에이투지체 4 Regular"/>
                <a:ea typeface="에이투지체 4 Regular"/>
              </a:rPr>
              <a:t> </a:t>
            </a:r>
            <a:r>
              <a:rPr sz="1050" dirty="0" err="1">
                <a:solidFill>
                  <a:srgbClr val="222222"/>
                </a:solidFill>
                <a:latin typeface="에이투지체 4 Regular"/>
                <a:ea typeface="에이투지체 4 Regular"/>
              </a:rPr>
              <a:t>밸런스</a:t>
            </a:r>
            <a:endParaRPr sz="1050" dirty="0">
              <a:solidFill>
                <a:srgbClr val="222222"/>
              </a:solidFill>
              <a:latin typeface="에이투지체 4 Regular"/>
              <a:ea typeface="에이투지체 4 Regular"/>
            </a:endParaRPr>
          </a:p>
          <a:p>
            <a:pPr algn="l">
              <a:spcAft>
                <a:spcPts val="200"/>
              </a:spcAft>
            </a:pPr>
            <a:r>
              <a:rPr sz="1050" dirty="0" err="1">
                <a:solidFill>
                  <a:srgbClr val="222222"/>
                </a:solidFill>
                <a:latin typeface="에이투지체 4 Regular"/>
                <a:ea typeface="에이투지체 4 Regular"/>
              </a:rPr>
              <a:t>유산균</a:t>
            </a:r>
            <a:r>
              <a:rPr sz="1050" dirty="0">
                <a:solidFill>
                  <a:srgbClr val="222222"/>
                </a:solidFill>
                <a:latin typeface="에이투지체 4 Regular"/>
                <a:ea typeface="에이투지체 4 Regular"/>
              </a:rPr>
              <a:t> </a:t>
            </a:r>
            <a:r>
              <a:rPr sz="1050" dirty="0" err="1">
                <a:solidFill>
                  <a:srgbClr val="222222"/>
                </a:solidFill>
                <a:latin typeface="에이투지체 4 Regular"/>
                <a:ea typeface="에이투지체 4 Regular"/>
              </a:rPr>
              <a:t>아연D</a:t>
            </a:r>
            <a:endParaRPr sz="1050" dirty="0">
              <a:solidFill>
                <a:srgbClr val="222222"/>
              </a:solidFill>
              <a:latin typeface="에이투지체 4 Regular"/>
              <a:ea typeface="에이투지체 4 Regular"/>
            </a:endParaRPr>
          </a:p>
        </p:txBody>
      </p:sp>
      <p:sp>
        <p:nvSpPr>
          <p:cNvPr id="28" name="Rectangle 27"/>
          <p:cNvSpPr/>
          <p:nvPr/>
        </p:nvSpPr>
        <p:spPr>
          <a:xfrm>
            <a:off x="4389120" y="2560320"/>
            <a:ext cx="1810512" cy="1353312"/>
          </a:xfrm>
          <a:prstGeom prst="roundRect">
            <a:avLst>
              <a:gd name="adj" fmla="val 540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17136" y="2651760"/>
            <a:ext cx="1554480" cy="1188720"/>
          </a:xfrm>
          <a:prstGeom prst="rect">
            <a:avLst/>
          </a:prstGeom>
          <a:noFill/>
        </p:spPr>
        <p:txBody>
          <a:bodyPr wrap="square" lIns="0" tIns="0" rIns="0" bIns="0" anchor="t">
            <a:spAutoFit/>
          </a:bodyPr>
          <a:lstStyle/>
          <a:p>
            <a:pPr algn="l">
              <a:spcAft>
                <a:spcPts val="200"/>
              </a:spcAft>
            </a:pPr>
            <a:r>
              <a:rPr sz="1000" dirty="0">
                <a:solidFill>
                  <a:srgbClr val="004F9F"/>
                </a:solidFill>
                <a:latin typeface="에이투지체 8 ExtraBold"/>
                <a:ea typeface="에이투지체 8 ExtraBold"/>
              </a:rPr>
              <a:t>03</a:t>
            </a:r>
          </a:p>
          <a:p>
            <a:pPr algn="l">
              <a:spcAft>
                <a:spcPts val="200"/>
              </a:spcAft>
            </a:pPr>
            <a:r>
              <a:rPr sz="1100" dirty="0" err="1">
                <a:solidFill>
                  <a:srgbClr val="004F9F"/>
                </a:solidFill>
                <a:latin typeface="에이투지체 6 SemiBold"/>
                <a:ea typeface="에이투지체 6 SemiBold"/>
              </a:rPr>
              <a:t>성장기</a:t>
            </a:r>
            <a:r>
              <a:rPr sz="1100" dirty="0">
                <a:solidFill>
                  <a:srgbClr val="004F9F"/>
                </a:solidFill>
                <a:latin typeface="에이투지체 6 SemiBold"/>
                <a:ea typeface="에이투지체 6 SemiBold"/>
              </a:rPr>
              <a:t> </a:t>
            </a:r>
            <a:r>
              <a:rPr sz="1100" dirty="0" err="1">
                <a:solidFill>
                  <a:srgbClr val="004F9F"/>
                </a:solidFill>
                <a:latin typeface="에이투지체 6 SemiBold"/>
                <a:ea typeface="에이투지체 6 SemiBold"/>
              </a:rPr>
              <a:t>진입</a:t>
            </a:r>
            <a:r>
              <a:rPr sz="1100" dirty="0">
                <a:solidFill>
                  <a:srgbClr val="004F9F"/>
                </a:solidFill>
                <a:latin typeface="에이투지체 6 SemiBold"/>
                <a:ea typeface="에이투지체 6 SemiBold"/>
              </a:rPr>
              <a:t> 4~7세</a:t>
            </a:r>
          </a:p>
          <a:p>
            <a:pPr algn="l">
              <a:spcAft>
                <a:spcPts val="200"/>
              </a:spcAft>
            </a:pPr>
            <a:r>
              <a:rPr sz="1050" dirty="0" err="1">
                <a:solidFill>
                  <a:srgbClr val="222222"/>
                </a:solidFill>
                <a:latin typeface="에이투지체 4 Regular"/>
                <a:ea typeface="에이투지체 4 Regular"/>
              </a:rPr>
              <a:t>키성장</a:t>
            </a:r>
            <a:r>
              <a:rPr sz="1050" dirty="0">
                <a:solidFill>
                  <a:srgbClr val="222222"/>
                </a:solidFill>
                <a:latin typeface="에이투지체 4 Regular"/>
                <a:ea typeface="에이투지체 4 Regular"/>
              </a:rPr>
              <a:t> FGO</a:t>
            </a:r>
          </a:p>
          <a:p>
            <a:pPr algn="l">
              <a:spcAft>
                <a:spcPts val="200"/>
              </a:spcAft>
            </a:pPr>
            <a:r>
              <a:rPr sz="1050" dirty="0" err="1">
                <a:solidFill>
                  <a:srgbClr val="222222"/>
                </a:solidFill>
                <a:latin typeface="에이투지체 4 Regular"/>
                <a:ea typeface="에이투지체 4 Regular"/>
              </a:rPr>
              <a:t>츄어블</a:t>
            </a:r>
            <a:r>
              <a:rPr sz="1050" dirty="0">
                <a:solidFill>
                  <a:srgbClr val="222222"/>
                </a:solidFill>
                <a:latin typeface="에이투지체 4 Regular"/>
                <a:ea typeface="에이투지체 4 Regular"/>
              </a:rPr>
              <a:t> </a:t>
            </a:r>
            <a:r>
              <a:rPr sz="1050" dirty="0" err="1">
                <a:solidFill>
                  <a:srgbClr val="222222"/>
                </a:solidFill>
                <a:latin typeface="에이투지체 4 Regular"/>
                <a:ea typeface="에이투지체 4 Regular"/>
              </a:rPr>
              <a:t>칼마디</a:t>
            </a:r>
            <a:endParaRPr sz="1050" dirty="0">
              <a:solidFill>
                <a:srgbClr val="222222"/>
              </a:solidFill>
              <a:latin typeface="에이투지체 4 Regular"/>
              <a:ea typeface="에이투지체 4 Regular"/>
            </a:endParaRPr>
          </a:p>
        </p:txBody>
      </p:sp>
      <p:sp>
        <p:nvSpPr>
          <p:cNvPr id="30" name="Rectangle 29"/>
          <p:cNvSpPr/>
          <p:nvPr/>
        </p:nvSpPr>
        <p:spPr>
          <a:xfrm>
            <a:off x="548640" y="4023360"/>
            <a:ext cx="1810512" cy="1353312"/>
          </a:xfrm>
          <a:prstGeom prst="roundRect">
            <a:avLst>
              <a:gd name="adj" fmla="val 540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76656" y="4114800"/>
            <a:ext cx="1554480" cy="1188720"/>
          </a:xfrm>
          <a:prstGeom prst="rect">
            <a:avLst/>
          </a:prstGeom>
          <a:noFill/>
        </p:spPr>
        <p:txBody>
          <a:bodyPr wrap="square" lIns="0" tIns="0" rIns="0" bIns="0" anchor="t">
            <a:spAutoFit/>
          </a:bodyPr>
          <a:lstStyle/>
          <a:p>
            <a:pPr algn="l">
              <a:spcAft>
                <a:spcPts val="200"/>
              </a:spcAft>
            </a:pPr>
            <a:r>
              <a:rPr sz="1000">
                <a:solidFill>
                  <a:srgbClr val="004F9F"/>
                </a:solidFill>
                <a:latin typeface="에이투지체 8 ExtraBold"/>
                <a:ea typeface="에이투지체 8 ExtraBold"/>
              </a:rPr>
              <a:t>04</a:t>
            </a:r>
          </a:p>
          <a:p>
            <a:pPr algn="l">
              <a:spcAft>
                <a:spcPts val="200"/>
              </a:spcAft>
            </a:pPr>
            <a:r>
              <a:rPr sz="1100">
                <a:solidFill>
                  <a:srgbClr val="004F9F"/>
                </a:solidFill>
                <a:latin typeface="에이투지체 6 SemiBold"/>
                <a:ea typeface="에이투지체 6 SemiBold"/>
              </a:rPr>
              <a:t>초등 8~13세</a:t>
            </a:r>
          </a:p>
          <a:p>
            <a:pPr algn="l">
              <a:spcAft>
                <a:spcPts val="200"/>
              </a:spcAft>
            </a:pPr>
            <a:r>
              <a:rPr sz="1050">
                <a:solidFill>
                  <a:srgbClr val="222222"/>
                </a:solidFill>
                <a:latin typeface="에이투지체 4 Regular"/>
                <a:ea typeface="에이투지체 4 Regular"/>
              </a:rPr>
              <a:t>키성장 FGO</a:t>
            </a:r>
          </a:p>
          <a:p>
            <a:pPr algn="l">
              <a:spcAft>
                <a:spcPts val="200"/>
              </a:spcAft>
            </a:pPr>
            <a:r>
              <a:rPr sz="1050">
                <a:solidFill>
                  <a:srgbClr val="222222"/>
                </a:solidFill>
                <a:latin typeface="에이투지체 4 Regular"/>
                <a:ea typeface="에이투지체 4 Regular"/>
              </a:rPr>
              <a:t>츄어블 철분</a:t>
            </a:r>
          </a:p>
        </p:txBody>
      </p:sp>
      <p:sp>
        <p:nvSpPr>
          <p:cNvPr id="32" name="Rectangle 31"/>
          <p:cNvSpPr/>
          <p:nvPr/>
        </p:nvSpPr>
        <p:spPr>
          <a:xfrm>
            <a:off x="2468880" y="4023360"/>
            <a:ext cx="1810512" cy="1353312"/>
          </a:xfrm>
          <a:prstGeom prst="roundRect">
            <a:avLst>
              <a:gd name="adj" fmla="val 540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596896" y="4114800"/>
            <a:ext cx="1554480" cy="1188720"/>
          </a:xfrm>
          <a:prstGeom prst="rect">
            <a:avLst/>
          </a:prstGeom>
          <a:noFill/>
        </p:spPr>
        <p:txBody>
          <a:bodyPr wrap="square" lIns="0" tIns="0" rIns="0" bIns="0" anchor="t">
            <a:spAutoFit/>
          </a:bodyPr>
          <a:lstStyle/>
          <a:p>
            <a:pPr algn="l">
              <a:spcAft>
                <a:spcPts val="200"/>
              </a:spcAft>
            </a:pPr>
            <a:r>
              <a:rPr sz="1000" dirty="0">
                <a:solidFill>
                  <a:srgbClr val="004F9F"/>
                </a:solidFill>
                <a:latin typeface="에이투지체 8 ExtraBold"/>
                <a:ea typeface="에이투지체 8 ExtraBold"/>
              </a:rPr>
              <a:t>05</a:t>
            </a:r>
          </a:p>
          <a:p>
            <a:pPr algn="l">
              <a:spcAft>
                <a:spcPts val="200"/>
              </a:spcAft>
            </a:pPr>
            <a:r>
              <a:rPr sz="1100" dirty="0" err="1">
                <a:solidFill>
                  <a:srgbClr val="004F9F"/>
                </a:solidFill>
                <a:latin typeface="에이투지체 6 SemiBold"/>
                <a:ea typeface="에이투지체 6 SemiBold"/>
              </a:rPr>
              <a:t>청소년</a:t>
            </a:r>
            <a:r>
              <a:rPr sz="1100" dirty="0">
                <a:solidFill>
                  <a:srgbClr val="004F9F"/>
                </a:solidFill>
                <a:latin typeface="에이투지체 6 SemiBold"/>
                <a:ea typeface="에이투지체 6 SemiBold"/>
              </a:rPr>
              <a:t> 14~17세</a:t>
            </a:r>
          </a:p>
          <a:p>
            <a:pPr algn="l">
              <a:spcAft>
                <a:spcPts val="200"/>
              </a:spcAft>
            </a:pPr>
            <a:r>
              <a:rPr sz="1050" dirty="0" err="1">
                <a:solidFill>
                  <a:srgbClr val="222222"/>
                </a:solidFill>
                <a:latin typeface="에이투지체 4 Regular"/>
                <a:ea typeface="에이투지체 4 Regular"/>
              </a:rPr>
              <a:t>키성장</a:t>
            </a:r>
            <a:r>
              <a:rPr sz="1050" dirty="0">
                <a:solidFill>
                  <a:srgbClr val="222222"/>
                </a:solidFill>
                <a:latin typeface="에이투지체 4 Regular"/>
                <a:ea typeface="에이투지체 4 Regular"/>
              </a:rPr>
              <a:t> FGO</a:t>
            </a:r>
          </a:p>
          <a:p>
            <a:pPr algn="l">
              <a:spcAft>
                <a:spcPts val="200"/>
              </a:spcAft>
            </a:pPr>
            <a:r>
              <a:rPr sz="1050" dirty="0" err="1">
                <a:solidFill>
                  <a:srgbClr val="222222"/>
                </a:solidFill>
                <a:latin typeface="에이투지체 4 Regular"/>
                <a:ea typeface="에이투지체 4 Regular"/>
              </a:rPr>
              <a:t>프로바이오키드</a:t>
            </a:r>
            <a:endParaRPr sz="1050" dirty="0">
              <a:solidFill>
                <a:srgbClr val="222222"/>
              </a:solidFill>
              <a:latin typeface="에이투지체 4 Regular"/>
              <a:ea typeface="에이투지체 4 Regular"/>
            </a:endParaRPr>
          </a:p>
        </p:txBody>
      </p:sp>
      <p:sp>
        <p:nvSpPr>
          <p:cNvPr id="34" name="Rectangle 33"/>
          <p:cNvSpPr/>
          <p:nvPr/>
        </p:nvSpPr>
        <p:spPr>
          <a:xfrm>
            <a:off x="4389120" y="4023360"/>
            <a:ext cx="1810512" cy="1353312"/>
          </a:xfrm>
          <a:prstGeom prst="roundRect">
            <a:avLst>
              <a:gd name="adj" fmla="val 5405"/>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517136" y="4114800"/>
            <a:ext cx="1554480" cy="1188720"/>
          </a:xfrm>
          <a:prstGeom prst="rect">
            <a:avLst/>
          </a:prstGeom>
          <a:noFill/>
        </p:spPr>
        <p:txBody>
          <a:bodyPr wrap="square" lIns="0" tIns="0" rIns="0" bIns="0" anchor="t">
            <a:spAutoFit/>
          </a:bodyPr>
          <a:lstStyle/>
          <a:p>
            <a:pPr algn="l">
              <a:spcAft>
                <a:spcPts val="200"/>
              </a:spcAft>
            </a:pPr>
            <a:r>
              <a:rPr sz="1000" dirty="0">
                <a:solidFill>
                  <a:srgbClr val="6FB0E8"/>
                </a:solidFill>
                <a:latin typeface="에이투지체 8 ExtraBold"/>
                <a:ea typeface="에이투지체 8 ExtraBold"/>
              </a:rPr>
              <a:t>06</a:t>
            </a:r>
          </a:p>
          <a:p>
            <a:pPr algn="l">
              <a:spcAft>
                <a:spcPts val="200"/>
              </a:spcAft>
            </a:pPr>
            <a:r>
              <a:rPr sz="1100" dirty="0">
                <a:solidFill>
                  <a:srgbClr val="FFFFFF"/>
                </a:solidFill>
                <a:latin typeface="에이투지체 6 SemiBold"/>
                <a:ea typeface="에이투지체 6 SemiBold"/>
              </a:rPr>
              <a:t>CTA</a:t>
            </a:r>
          </a:p>
          <a:p>
            <a:pPr algn="l">
              <a:spcAft>
                <a:spcPts val="200"/>
              </a:spcAft>
            </a:pPr>
            <a:r>
              <a:rPr sz="1050" dirty="0" err="1">
                <a:solidFill>
                  <a:srgbClr val="FFFFFF"/>
                </a:solidFill>
                <a:latin typeface="에이투지체 6 SemiBold"/>
                <a:ea typeface="에이투지체 6 SemiBold"/>
              </a:rPr>
              <a:t>아이클타임</a:t>
            </a:r>
            <a:endParaRPr sz="1050" dirty="0">
              <a:solidFill>
                <a:srgbClr val="FFFFFF"/>
              </a:solidFill>
              <a:latin typeface="에이투지체 6 SemiBold"/>
              <a:ea typeface="에이투지체 6 SemiBold"/>
            </a:endParaRPr>
          </a:p>
          <a:p>
            <a:pPr algn="l">
              <a:spcAft>
                <a:spcPts val="200"/>
              </a:spcAft>
            </a:pPr>
            <a:r>
              <a:rPr sz="1050" dirty="0" err="1">
                <a:solidFill>
                  <a:srgbClr val="FFFFFF"/>
                </a:solidFill>
                <a:latin typeface="에이투지체 6 SemiBold"/>
                <a:ea typeface="에이투지체 6 SemiBold"/>
              </a:rPr>
              <a:t>성장</a:t>
            </a:r>
            <a:r>
              <a:rPr sz="1050" dirty="0">
                <a:solidFill>
                  <a:srgbClr val="FFFFFF"/>
                </a:solidFill>
                <a:latin typeface="에이투지체 6 SemiBold"/>
                <a:ea typeface="에이투지체 6 SemiBold"/>
              </a:rPr>
              <a:t> </a:t>
            </a:r>
            <a:r>
              <a:rPr sz="1050" dirty="0" err="1">
                <a:solidFill>
                  <a:srgbClr val="FFFFFF"/>
                </a:solidFill>
                <a:latin typeface="에이투지체 6 SemiBold"/>
                <a:ea typeface="에이투지체 6 SemiBold"/>
              </a:rPr>
              <a:t>패키지</a:t>
            </a:r>
            <a:r>
              <a:rPr sz="1050" dirty="0">
                <a:solidFill>
                  <a:srgbClr val="FFFFFF"/>
                </a:solidFill>
                <a:latin typeface="에이투지체 6 SemiBold"/>
                <a:ea typeface="에이투지체 6 SemiBold"/>
              </a:rPr>
              <a:t> </a:t>
            </a:r>
            <a:r>
              <a:rPr sz="1050" dirty="0" err="1">
                <a:solidFill>
                  <a:srgbClr val="FFFFFF"/>
                </a:solidFill>
                <a:latin typeface="에이투지체 6 SemiBold"/>
                <a:ea typeface="에이투지체 6 SemiBold"/>
              </a:rPr>
              <a:t>보기</a:t>
            </a:r>
            <a:endParaRPr sz="1050" dirty="0">
              <a:solidFill>
                <a:srgbClr val="FFFFFF"/>
              </a:solidFill>
              <a:latin typeface="에이투지체 6 SemiBold"/>
              <a:ea typeface="에이투지체 6 SemiBold"/>
            </a:endParaRPr>
          </a:p>
        </p:txBody>
      </p:sp>
      <p:sp>
        <p:nvSpPr>
          <p:cNvPr id="36" name="TextBox 35"/>
          <p:cNvSpPr txBox="1"/>
          <p:nvPr/>
        </p:nvSpPr>
        <p:spPr>
          <a:xfrm>
            <a:off x="6583680" y="2103120"/>
            <a:ext cx="5029200" cy="320040"/>
          </a:xfrm>
          <a:prstGeom prst="rect">
            <a:avLst/>
          </a:prstGeom>
          <a:noFill/>
        </p:spPr>
        <p:txBody>
          <a:bodyPr wrap="square" lIns="0" tIns="0" rIns="0" bIns="0" anchor="t">
            <a:spAutoFit/>
          </a:bodyPr>
          <a:lstStyle/>
          <a:p>
            <a:pPr algn="l">
              <a:spcAft>
                <a:spcPts val="300"/>
              </a:spcAft>
            </a:pPr>
            <a:r>
              <a:rPr sz="1500">
                <a:solidFill>
                  <a:srgbClr val="004F9F"/>
                </a:solidFill>
                <a:latin typeface="에이투지체 6 SemiBold"/>
                <a:ea typeface="에이투지체 6 SemiBold"/>
              </a:rPr>
              <a:t>운영 흐름</a:t>
            </a:r>
          </a:p>
        </p:txBody>
      </p:sp>
      <p:sp>
        <p:nvSpPr>
          <p:cNvPr id="37" name="Rectangle 36"/>
          <p:cNvSpPr/>
          <p:nvPr/>
        </p:nvSpPr>
        <p:spPr>
          <a:xfrm>
            <a:off x="6583680" y="2560320"/>
            <a:ext cx="5029200" cy="841248"/>
          </a:xfrm>
          <a:prstGeom prst="roundRect">
            <a:avLst>
              <a:gd name="adj" fmla="val 869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766560" y="2560320"/>
            <a:ext cx="1783080" cy="841248"/>
          </a:xfrm>
          <a:prstGeom prst="rect">
            <a:avLst/>
          </a:prstGeom>
          <a:noFill/>
        </p:spPr>
        <p:txBody>
          <a:bodyPr wrap="square" lIns="0" tIns="0" rIns="0" bIns="0" anchor="ctr">
            <a:spAutoFit/>
          </a:bodyPr>
          <a:lstStyle/>
          <a:p>
            <a:pPr algn="l">
              <a:spcAft>
                <a:spcPts val="300"/>
              </a:spcAft>
            </a:pPr>
            <a:r>
              <a:rPr sz="1250">
                <a:solidFill>
                  <a:srgbClr val="004F9F"/>
                </a:solidFill>
                <a:latin typeface="에이투지체 6 SemiBold"/>
                <a:ea typeface="에이투지체 6 SemiBold"/>
              </a:rPr>
              <a:t>FGO 관심 · 구매 고객</a:t>
            </a:r>
          </a:p>
        </p:txBody>
      </p:sp>
      <p:sp>
        <p:nvSpPr>
          <p:cNvPr id="39" name="TextBox 38"/>
          <p:cNvSpPr txBox="1"/>
          <p:nvPr/>
        </p:nvSpPr>
        <p:spPr>
          <a:xfrm>
            <a:off x="8595360" y="2560320"/>
            <a:ext cx="2926080" cy="841248"/>
          </a:xfrm>
          <a:prstGeom prst="rect">
            <a:avLst/>
          </a:prstGeom>
          <a:noFill/>
        </p:spPr>
        <p:txBody>
          <a:bodyPr wrap="square" lIns="0" tIns="0" rIns="0" bIns="0" anchor="ctr">
            <a:spAutoFit/>
          </a:bodyPr>
          <a:lstStyle/>
          <a:p>
            <a:pPr algn="l">
              <a:spcAft>
                <a:spcPts val="200"/>
              </a:spcAft>
            </a:pPr>
            <a:r>
              <a:rPr sz="1200" dirty="0" err="1">
                <a:solidFill>
                  <a:srgbClr val="222222"/>
                </a:solidFill>
                <a:latin typeface="에이투지체 6 SemiBold"/>
                <a:ea typeface="에이투지체 6 SemiBold"/>
              </a:rPr>
              <a:t>성장</a:t>
            </a:r>
            <a:r>
              <a:rPr sz="1200" dirty="0">
                <a:solidFill>
                  <a:srgbClr val="222222"/>
                </a:solidFill>
                <a:latin typeface="에이투지체 6 SemiBold"/>
                <a:ea typeface="에이투지체 6 SemiBold"/>
              </a:rPr>
              <a:t> </a:t>
            </a:r>
            <a:r>
              <a:rPr sz="1200" dirty="0" err="1">
                <a:solidFill>
                  <a:srgbClr val="222222"/>
                </a:solidFill>
                <a:latin typeface="에이투지체 6 SemiBold"/>
                <a:ea typeface="에이투지체 6 SemiBold"/>
              </a:rPr>
              <a:t>단계별</a:t>
            </a:r>
            <a:r>
              <a:rPr sz="1200" dirty="0">
                <a:solidFill>
                  <a:srgbClr val="222222"/>
                </a:solidFill>
                <a:latin typeface="에이투지체 6 SemiBold"/>
                <a:ea typeface="에이투지체 6 SemiBold"/>
              </a:rPr>
              <a:t> </a:t>
            </a:r>
            <a:r>
              <a:rPr sz="1200" dirty="0" err="1">
                <a:solidFill>
                  <a:srgbClr val="222222"/>
                </a:solidFill>
                <a:latin typeface="에이투지체 6 SemiBold"/>
                <a:ea typeface="에이투지체 6 SemiBold"/>
              </a:rPr>
              <a:t>영양</a:t>
            </a:r>
            <a:r>
              <a:rPr sz="1200" dirty="0">
                <a:solidFill>
                  <a:srgbClr val="222222"/>
                </a:solidFill>
                <a:latin typeface="에이투지체 6 SemiBold"/>
                <a:ea typeface="에이투지체 6 SemiBold"/>
              </a:rPr>
              <a:t> </a:t>
            </a:r>
            <a:r>
              <a:rPr sz="1200" dirty="0" err="1">
                <a:solidFill>
                  <a:srgbClr val="222222"/>
                </a:solidFill>
                <a:latin typeface="에이투지체 6 SemiBold"/>
                <a:ea typeface="에이투지체 6 SemiBold"/>
              </a:rPr>
              <a:t>정보</a:t>
            </a:r>
            <a:r>
              <a:rPr sz="1200" dirty="0">
                <a:solidFill>
                  <a:srgbClr val="222222"/>
                </a:solidFill>
                <a:latin typeface="에이투지체 6 SemiBold"/>
                <a:ea typeface="에이투지체 6 SemiBold"/>
              </a:rPr>
              <a:t> </a:t>
            </a:r>
            <a:r>
              <a:rPr sz="1200" dirty="0" err="1">
                <a:solidFill>
                  <a:srgbClr val="222222"/>
                </a:solidFill>
                <a:latin typeface="에이투지체 6 SemiBold"/>
                <a:ea typeface="에이투지체 6 SemiBold"/>
              </a:rPr>
              <a:t>슬라이드</a:t>
            </a:r>
            <a:endParaRPr sz="1200" dirty="0">
              <a:solidFill>
                <a:srgbClr val="222222"/>
              </a:solidFill>
              <a:latin typeface="에이투지체 6 SemiBold"/>
              <a:ea typeface="에이투지체 6 SemiBold"/>
            </a:endParaRPr>
          </a:p>
          <a:p>
            <a:pPr algn="l">
              <a:spcAft>
                <a:spcPts val="200"/>
              </a:spcAft>
            </a:pPr>
            <a:r>
              <a:rPr sz="1050" dirty="0" err="1">
                <a:solidFill>
                  <a:srgbClr val="5C5C5C"/>
                </a:solidFill>
                <a:latin typeface="에이투지체 4 Regular"/>
                <a:ea typeface="에이투지체 4 Regular"/>
              </a:rPr>
              <a:t>아이</a:t>
            </a:r>
            <a:r>
              <a:rPr sz="1050" dirty="0">
                <a:solidFill>
                  <a:srgbClr val="5C5C5C"/>
                </a:solidFill>
                <a:latin typeface="에이투지체 4 Regular"/>
                <a:ea typeface="에이투지체 4 Regular"/>
              </a:rPr>
              <a:t> </a:t>
            </a:r>
            <a:r>
              <a:rPr sz="1050" dirty="0" err="1">
                <a:solidFill>
                  <a:srgbClr val="5C5C5C"/>
                </a:solidFill>
                <a:latin typeface="에이투지체 4 Regular"/>
                <a:ea typeface="에이투지체 4 Regular"/>
              </a:rPr>
              <a:t>나이로</a:t>
            </a:r>
            <a:r>
              <a:rPr sz="1050" dirty="0">
                <a:solidFill>
                  <a:srgbClr val="5C5C5C"/>
                </a:solidFill>
                <a:latin typeface="에이투지체 4 Regular"/>
                <a:ea typeface="에이투지체 4 Regular"/>
              </a:rPr>
              <a:t> </a:t>
            </a:r>
            <a:r>
              <a:rPr sz="1050" dirty="0" err="1">
                <a:solidFill>
                  <a:srgbClr val="5C5C5C"/>
                </a:solidFill>
                <a:latin typeface="에이투지체 4 Regular"/>
                <a:ea typeface="에이투지체 4 Regular"/>
              </a:rPr>
              <a:t>멈추게</a:t>
            </a:r>
            <a:r>
              <a:rPr sz="1050" dirty="0">
                <a:solidFill>
                  <a:srgbClr val="5C5C5C"/>
                </a:solidFill>
                <a:latin typeface="에이투지체 4 Regular"/>
                <a:ea typeface="에이투지체 4 Regular"/>
              </a:rPr>
              <a:t> </a:t>
            </a:r>
            <a:r>
              <a:rPr sz="1050" dirty="0" err="1">
                <a:solidFill>
                  <a:srgbClr val="5C5C5C"/>
                </a:solidFill>
                <a:latin typeface="에이투지체 4 Regular"/>
                <a:ea typeface="에이투지체 4 Regular"/>
              </a:rPr>
              <a:t>하는</a:t>
            </a:r>
            <a:r>
              <a:rPr sz="1050" dirty="0">
                <a:solidFill>
                  <a:srgbClr val="5C5C5C"/>
                </a:solidFill>
                <a:latin typeface="에이투지체 4 Regular"/>
                <a:ea typeface="에이투지체 4 Regular"/>
              </a:rPr>
              <a:t> 첫 장</a:t>
            </a:r>
          </a:p>
        </p:txBody>
      </p:sp>
      <p:sp>
        <p:nvSpPr>
          <p:cNvPr id="40" name="Down Arrow 39"/>
          <p:cNvSpPr/>
          <p:nvPr/>
        </p:nvSpPr>
        <p:spPr>
          <a:xfrm>
            <a:off x="9006840" y="3410712"/>
            <a:ext cx="201168" cy="109728"/>
          </a:xfrm>
          <a:prstGeom prst="downArrow">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6583680" y="3520439"/>
            <a:ext cx="5029200" cy="841248"/>
          </a:xfrm>
          <a:prstGeom prst="roundRect">
            <a:avLst>
              <a:gd name="adj" fmla="val 8695"/>
            </a:avLst>
          </a:prstGeom>
          <a:solidFill>
            <a:srgbClr val="EAF2FB"/>
          </a:solidFill>
          <a:ln w="12700">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6766560" y="3520439"/>
            <a:ext cx="1783080" cy="841248"/>
          </a:xfrm>
          <a:prstGeom prst="rect">
            <a:avLst/>
          </a:prstGeom>
          <a:noFill/>
        </p:spPr>
        <p:txBody>
          <a:bodyPr wrap="square" lIns="0" tIns="0" rIns="0" bIns="0" anchor="ctr">
            <a:spAutoFit/>
          </a:bodyPr>
          <a:lstStyle/>
          <a:p>
            <a:pPr algn="l">
              <a:spcAft>
                <a:spcPts val="300"/>
              </a:spcAft>
            </a:pPr>
            <a:r>
              <a:rPr sz="1250">
                <a:solidFill>
                  <a:srgbClr val="004F9F"/>
                </a:solidFill>
                <a:latin typeface="에이투지체 6 SemiBold"/>
                <a:ea typeface="에이투지체 6 SemiBold"/>
              </a:rPr>
              <a:t>슬라이드 반응 고객</a:t>
            </a:r>
          </a:p>
        </p:txBody>
      </p:sp>
      <p:sp>
        <p:nvSpPr>
          <p:cNvPr id="43" name="TextBox 42"/>
          <p:cNvSpPr txBox="1"/>
          <p:nvPr/>
        </p:nvSpPr>
        <p:spPr>
          <a:xfrm>
            <a:off x="8595360" y="3520439"/>
            <a:ext cx="2926080" cy="841248"/>
          </a:xfrm>
          <a:prstGeom prst="rect">
            <a:avLst/>
          </a:prstGeom>
          <a:noFill/>
        </p:spPr>
        <p:txBody>
          <a:bodyPr wrap="square" lIns="0" tIns="0" rIns="0" bIns="0" anchor="ctr">
            <a:spAutoFit/>
          </a:bodyPr>
          <a:lstStyle/>
          <a:p>
            <a:pPr algn="l">
              <a:spcAft>
                <a:spcPts val="200"/>
              </a:spcAft>
            </a:pPr>
            <a:r>
              <a:rPr sz="1200" dirty="0" err="1">
                <a:solidFill>
                  <a:srgbClr val="222222"/>
                </a:solidFill>
                <a:latin typeface="에이투지체 6 SemiBold"/>
                <a:ea typeface="에이투지체 6 SemiBold"/>
              </a:rPr>
              <a:t>아이클타임</a:t>
            </a:r>
            <a:r>
              <a:rPr sz="1200" dirty="0">
                <a:solidFill>
                  <a:srgbClr val="222222"/>
                </a:solidFill>
                <a:latin typeface="에이투지체 6 SemiBold"/>
                <a:ea typeface="에이투지체 6 SemiBold"/>
              </a:rPr>
              <a:t> </a:t>
            </a:r>
            <a:r>
              <a:rPr sz="1200" dirty="0" err="1">
                <a:solidFill>
                  <a:srgbClr val="222222"/>
                </a:solidFill>
                <a:latin typeface="에이투지체 6 SemiBold"/>
                <a:ea typeface="에이투지체 6 SemiBold"/>
              </a:rPr>
              <a:t>성장</a:t>
            </a:r>
            <a:r>
              <a:rPr sz="1200" dirty="0">
                <a:solidFill>
                  <a:srgbClr val="222222"/>
                </a:solidFill>
                <a:latin typeface="에이투지체 6 SemiBold"/>
                <a:ea typeface="에이투지체 6 SemiBold"/>
              </a:rPr>
              <a:t> </a:t>
            </a:r>
            <a:r>
              <a:rPr sz="1200" dirty="0" err="1">
                <a:solidFill>
                  <a:srgbClr val="222222"/>
                </a:solidFill>
                <a:latin typeface="에이투지체 6 SemiBold"/>
                <a:ea typeface="에이투지체 6 SemiBold"/>
              </a:rPr>
              <a:t>패키지</a:t>
            </a:r>
            <a:r>
              <a:rPr sz="1200" dirty="0">
                <a:solidFill>
                  <a:srgbClr val="222222"/>
                </a:solidFill>
                <a:latin typeface="에이투지체 6 SemiBold"/>
                <a:ea typeface="에이투지체 6 SemiBold"/>
              </a:rPr>
              <a:t> </a:t>
            </a:r>
            <a:r>
              <a:rPr sz="1200" dirty="0" err="1">
                <a:solidFill>
                  <a:srgbClr val="222222"/>
                </a:solidFill>
                <a:latin typeface="에이투지체 6 SemiBold"/>
                <a:ea typeface="에이투지체 6 SemiBold"/>
              </a:rPr>
              <a:t>제안</a:t>
            </a:r>
            <a:endParaRPr sz="1200" dirty="0">
              <a:solidFill>
                <a:srgbClr val="222222"/>
              </a:solidFill>
              <a:latin typeface="에이투지체 6 SemiBold"/>
              <a:ea typeface="에이투지체 6 SemiBold"/>
            </a:endParaRPr>
          </a:p>
          <a:p>
            <a:pPr algn="l">
              <a:spcAft>
                <a:spcPts val="200"/>
              </a:spcAft>
            </a:pPr>
            <a:r>
              <a:rPr sz="1050" dirty="0" err="1">
                <a:solidFill>
                  <a:srgbClr val="5C5C5C"/>
                </a:solidFill>
                <a:latin typeface="에이투지체 4 Regular"/>
                <a:ea typeface="에이투지체 4 Regular"/>
              </a:rPr>
              <a:t>키성장</a:t>
            </a:r>
            <a:r>
              <a:rPr sz="1050" dirty="0">
                <a:solidFill>
                  <a:srgbClr val="5C5C5C"/>
                </a:solidFill>
                <a:latin typeface="에이투지체 4 Regular"/>
                <a:ea typeface="에이투지체 4 Regular"/>
              </a:rPr>
              <a:t> FGO + </a:t>
            </a:r>
            <a:r>
              <a:rPr sz="1050" dirty="0" err="1">
                <a:solidFill>
                  <a:srgbClr val="5C5C5C"/>
                </a:solidFill>
                <a:latin typeface="에이투지체 4 Regular"/>
                <a:ea typeface="에이투지체 4 Regular"/>
              </a:rPr>
              <a:t>함께</a:t>
            </a:r>
            <a:r>
              <a:rPr sz="1050" dirty="0">
                <a:solidFill>
                  <a:srgbClr val="5C5C5C"/>
                </a:solidFill>
                <a:latin typeface="에이투지체 4 Regular"/>
                <a:ea typeface="에이투지체 4 Regular"/>
              </a:rPr>
              <a:t> </a:t>
            </a:r>
            <a:r>
              <a:rPr sz="1050" dirty="0" err="1">
                <a:solidFill>
                  <a:srgbClr val="5C5C5C"/>
                </a:solidFill>
                <a:latin typeface="에이투지체 4 Regular"/>
                <a:ea typeface="에이투지체 4 Regular"/>
              </a:rPr>
              <a:t>먹을</a:t>
            </a:r>
            <a:r>
              <a:rPr sz="1050" dirty="0">
                <a:solidFill>
                  <a:srgbClr val="5C5C5C"/>
                </a:solidFill>
                <a:latin typeface="에이투지체 4 Regular"/>
                <a:ea typeface="에이투지체 4 Regular"/>
              </a:rPr>
              <a:t> </a:t>
            </a:r>
            <a:r>
              <a:rPr sz="1050" dirty="0" err="1">
                <a:solidFill>
                  <a:srgbClr val="5C5C5C"/>
                </a:solidFill>
                <a:latin typeface="에이투지체 4 Regular"/>
                <a:ea typeface="에이투지체 4 Regular"/>
              </a:rPr>
              <a:t>영양제</a:t>
            </a:r>
            <a:endParaRPr sz="1050" dirty="0">
              <a:solidFill>
                <a:srgbClr val="5C5C5C"/>
              </a:solidFill>
              <a:latin typeface="에이투지체 4 Regular"/>
              <a:ea typeface="에이투지체 4 Regular"/>
            </a:endParaRPr>
          </a:p>
        </p:txBody>
      </p:sp>
      <p:sp>
        <p:nvSpPr>
          <p:cNvPr id="44" name="Down Arrow 43"/>
          <p:cNvSpPr/>
          <p:nvPr/>
        </p:nvSpPr>
        <p:spPr>
          <a:xfrm>
            <a:off x="9006840" y="4370831"/>
            <a:ext cx="201168" cy="109728"/>
          </a:xfrm>
          <a:prstGeom prst="downArrow">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6583680" y="4480560"/>
            <a:ext cx="5029200" cy="841248"/>
          </a:xfrm>
          <a:prstGeom prst="roundRect">
            <a:avLst>
              <a:gd name="adj" fmla="val 869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766560" y="4480560"/>
            <a:ext cx="1783080" cy="841248"/>
          </a:xfrm>
          <a:prstGeom prst="rect">
            <a:avLst/>
          </a:prstGeom>
          <a:noFill/>
        </p:spPr>
        <p:txBody>
          <a:bodyPr wrap="square" lIns="0" tIns="0" rIns="0" bIns="0" anchor="ctr">
            <a:spAutoFit/>
          </a:bodyPr>
          <a:lstStyle/>
          <a:p>
            <a:pPr algn="l">
              <a:spcAft>
                <a:spcPts val="300"/>
              </a:spcAft>
            </a:pPr>
            <a:r>
              <a:rPr sz="1250">
                <a:solidFill>
                  <a:srgbClr val="004F9F"/>
                </a:solidFill>
                <a:latin typeface="에이투지체 6 SemiBold"/>
                <a:ea typeface="에이투지체 6 SemiBold"/>
              </a:rPr>
              <a:t>패키지 구매 고객</a:t>
            </a:r>
          </a:p>
        </p:txBody>
      </p:sp>
      <p:sp>
        <p:nvSpPr>
          <p:cNvPr id="47" name="TextBox 46"/>
          <p:cNvSpPr txBox="1"/>
          <p:nvPr/>
        </p:nvSpPr>
        <p:spPr>
          <a:xfrm>
            <a:off x="8595360" y="4480560"/>
            <a:ext cx="2926080" cy="841248"/>
          </a:xfrm>
          <a:prstGeom prst="rect">
            <a:avLst/>
          </a:prstGeom>
          <a:noFill/>
        </p:spPr>
        <p:txBody>
          <a:bodyPr wrap="square" lIns="0" tIns="0" rIns="0" bIns="0" anchor="ctr">
            <a:spAutoFit/>
          </a:bodyPr>
          <a:lstStyle/>
          <a:p>
            <a:pPr algn="l">
              <a:spcAft>
                <a:spcPts val="200"/>
              </a:spcAft>
            </a:pPr>
            <a:r>
              <a:rPr sz="1200" dirty="0" err="1">
                <a:solidFill>
                  <a:srgbClr val="222222"/>
                </a:solidFill>
                <a:latin typeface="에이투지체 6 SemiBold"/>
                <a:ea typeface="에이투지체 6 SemiBold"/>
              </a:rPr>
              <a:t>다음</a:t>
            </a:r>
            <a:r>
              <a:rPr sz="1200" dirty="0">
                <a:solidFill>
                  <a:srgbClr val="222222"/>
                </a:solidFill>
                <a:latin typeface="에이투지체 6 SemiBold"/>
                <a:ea typeface="에이투지체 6 SemiBold"/>
              </a:rPr>
              <a:t> </a:t>
            </a:r>
            <a:r>
              <a:rPr sz="1200" dirty="0" err="1">
                <a:solidFill>
                  <a:srgbClr val="222222"/>
                </a:solidFill>
                <a:latin typeface="에이투지체 6 SemiBold"/>
                <a:ea typeface="에이투지체 6 SemiBold"/>
              </a:rPr>
              <a:t>단계</a:t>
            </a:r>
            <a:r>
              <a:rPr sz="1200" dirty="0">
                <a:solidFill>
                  <a:srgbClr val="222222"/>
                </a:solidFill>
                <a:latin typeface="에이투지체 6 SemiBold"/>
                <a:ea typeface="에이투지체 6 SemiBold"/>
              </a:rPr>
              <a:t> </a:t>
            </a:r>
            <a:r>
              <a:rPr sz="1200" dirty="0" err="1">
                <a:solidFill>
                  <a:srgbClr val="222222"/>
                </a:solidFill>
                <a:latin typeface="에이투지체 6 SemiBold"/>
                <a:ea typeface="에이투지체 6 SemiBold"/>
              </a:rPr>
              <a:t>영양제</a:t>
            </a:r>
            <a:r>
              <a:rPr sz="1200" dirty="0">
                <a:solidFill>
                  <a:srgbClr val="222222"/>
                </a:solidFill>
                <a:latin typeface="에이투지체 6 SemiBold"/>
                <a:ea typeface="에이투지체 6 SemiBold"/>
              </a:rPr>
              <a:t> · </a:t>
            </a:r>
            <a:r>
              <a:rPr sz="1200" dirty="0" err="1">
                <a:solidFill>
                  <a:srgbClr val="222222"/>
                </a:solidFill>
                <a:latin typeface="에이투지체 6 SemiBold"/>
                <a:ea typeface="에이투지체 6 SemiBold"/>
              </a:rPr>
              <a:t>재구매</a:t>
            </a:r>
            <a:r>
              <a:rPr sz="1200" dirty="0">
                <a:solidFill>
                  <a:srgbClr val="222222"/>
                </a:solidFill>
                <a:latin typeface="에이투지체 6 SemiBold"/>
                <a:ea typeface="에이투지체 6 SemiBold"/>
              </a:rPr>
              <a:t> </a:t>
            </a:r>
            <a:r>
              <a:rPr sz="1200" dirty="0" err="1">
                <a:solidFill>
                  <a:srgbClr val="222222"/>
                </a:solidFill>
                <a:latin typeface="에이투지체 6 SemiBold"/>
                <a:ea typeface="에이투지체 6 SemiBold"/>
              </a:rPr>
              <a:t>제안</a:t>
            </a:r>
            <a:endParaRPr sz="1200" dirty="0">
              <a:solidFill>
                <a:srgbClr val="222222"/>
              </a:solidFill>
              <a:latin typeface="에이투지체 6 SemiBold"/>
              <a:ea typeface="에이투지체 6 SemiBold"/>
            </a:endParaRPr>
          </a:p>
          <a:p>
            <a:pPr algn="l">
              <a:spcAft>
                <a:spcPts val="200"/>
              </a:spcAft>
            </a:pPr>
            <a:r>
              <a:rPr sz="1050" dirty="0" err="1">
                <a:solidFill>
                  <a:srgbClr val="5C5C5C"/>
                </a:solidFill>
                <a:latin typeface="에이투지체 4 Regular"/>
                <a:ea typeface="에이투지체 4 Regular"/>
              </a:rPr>
              <a:t>구매</a:t>
            </a:r>
            <a:r>
              <a:rPr sz="1050" dirty="0">
                <a:solidFill>
                  <a:srgbClr val="5C5C5C"/>
                </a:solidFill>
                <a:latin typeface="에이투지체 4 Regular"/>
                <a:ea typeface="에이투지체 4 Regular"/>
              </a:rPr>
              <a:t> </a:t>
            </a:r>
            <a:r>
              <a:rPr sz="1050" dirty="0" err="1">
                <a:solidFill>
                  <a:srgbClr val="5C5C5C"/>
                </a:solidFill>
                <a:latin typeface="에이투지체 4 Regular"/>
                <a:ea typeface="에이투지체 4 Regular"/>
              </a:rPr>
              <a:t>신호로</a:t>
            </a:r>
            <a:r>
              <a:rPr sz="1050" dirty="0">
                <a:solidFill>
                  <a:srgbClr val="5C5C5C"/>
                </a:solidFill>
                <a:latin typeface="에이투지체 4 Regular"/>
                <a:ea typeface="에이투지체 4 Regular"/>
              </a:rPr>
              <a:t> </a:t>
            </a:r>
            <a:r>
              <a:rPr sz="1050" dirty="0" err="1">
                <a:solidFill>
                  <a:srgbClr val="5C5C5C"/>
                </a:solidFill>
                <a:latin typeface="에이투지체 4 Regular"/>
                <a:ea typeface="에이투지체 4 Regular"/>
              </a:rPr>
              <a:t>학습</a:t>
            </a:r>
            <a:endParaRPr sz="1050" dirty="0">
              <a:solidFill>
                <a:srgbClr val="5C5C5C"/>
              </a:solidFill>
              <a:latin typeface="에이투지체 4 Regular"/>
              <a:ea typeface="에이투지체 4 Regular"/>
            </a:endParaRPr>
          </a:p>
        </p:txBody>
      </p:sp>
      <p:sp>
        <p:nvSpPr>
          <p:cNvPr id="7" name="TextBox 1">
            <a:extLst>
              <a:ext uri="{FF2B5EF4-FFF2-40B4-BE49-F238E27FC236}">
                <a16:creationId xmlns:a16="http://schemas.microsoft.com/office/drawing/2014/main" id="{D7F1D401-FAF6-49E3-0456-85361265FFFB}"/>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7">
            <a:extLst>
              <a:ext uri="{FF2B5EF4-FFF2-40B4-BE49-F238E27FC236}">
                <a16:creationId xmlns:a16="http://schemas.microsoft.com/office/drawing/2014/main" id="{CBE18461-6710-A18F-1E37-559D3FE6F735}"/>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1" name="TextBox 8">
            <a:extLst>
              <a:ext uri="{FF2B5EF4-FFF2-40B4-BE49-F238E27FC236}">
                <a16:creationId xmlns:a16="http://schemas.microsoft.com/office/drawing/2014/main" id="{90B9AF86-DD3D-B591-6336-AB58D5F5F4CA}"/>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22" name="PGNO">
            <a:extLst>
              <a:ext uri="{FF2B5EF4-FFF2-40B4-BE49-F238E27FC236}">
                <a16:creationId xmlns:a16="http://schemas.microsoft.com/office/drawing/2014/main" id="{C7933262-D0AA-0B7C-5B5A-5F921ED80ED5}"/>
              </a:ext>
            </a:extLst>
          </p:cNvPr>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44</a:t>
            </a:r>
          </a:p>
        </p:txBody>
      </p:sp>
      <p:sp>
        <p:nvSpPr>
          <p:cNvPr id="2" name="text-73">
            <a:extLst>
              <a:ext uri="{FF2B5EF4-FFF2-40B4-BE49-F238E27FC236}">
                <a16:creationId xmlns:a16="http://schemas.microsoft.com/office/drawing/2014/main" id="{54B72790-1CD4-ED71-0A7A-3021D9112379}"/>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메타 핵심과제 3</a:t>
            </a:r>
            <a:r>
              <a:rPr lang="ko-KR" sz="1900" dirty="0">
                <a:solidFill>
                  <a:srgbClr val="222222"/>
                </a:solidFill>
                <a:latin typeface="에이투지체 8 ExtraBold"/>
                <a:ea typeface="에이투지체 8 ExtraBold"/>
                <a:cs typeface="에이투지체 8 ExtraBold"/>
              </a:rPr>
              <a:t>  비전략 상품 매출 증대</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상품 분류별로 구매가 확인된 상품을 히어로로 키웁니다</a:t>
            </a:r>
            <a:endParaRPr lang="ko-KR" sz="1900" dirty="0"/>
          </a:p>
        </p:txBody>
      </p:sp>
      <p:sp>
        <p:nvSpPr>
          <p:cNvPr id="3" name="text-74">
            <a:extLst>
              <a:ext uri="{FF2B5EF4-FFF2-40B4-BE49-F238E27FC236}">
                <a16:creationId xmlns:a16="http://schemas.microsoft.com/office/drawing/2014/main" id="{2BC5B753-7FFA-37D7-13AF-FC61B123F62F}"/>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아이클타임 · 슬림웨이 · 두드림몰 상품 분류별 운영</a:t>
            </a:r>
            <a:endParaRPr lang="ko-KR" sz="1100" dirty="0"/>
          </a:p>
        </p:txBody>
      </p:sp>
      <p:sp>
        <p:nvSpPr>
          <p:cNvPr id="16" name="node-84">
            <a:extLst>
              <a:ext uri="{FF2B5EF4-FFF2-40B4-BE49-F238E27FC236}">
                <a16:creationId xmlns:a16="http://schemas.microsoft.com/office/drawing/2014/main" id="{26DB7FED-8EDB-AD68-DE1E-0FA3033EFAC7}"/>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17" name="text-85">
            <a:extLst>
              <a:ext uri="{FF2B5EF4-FFF2-40B4-BE49-F238E27FC236}">
                <a16:creationId xmlns:a16="http://schemas.microsoft.com/office/drawing/2014/main" id="{8C794726-05A7-C862-F3A4-32F645DD3A18}"/>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dirty="0" err="1">
                <a:solidFill>
                  <a:srgbClr val="004F9F"/>
                </a:solidFill>
                <a:latin typeface="에이투지체 6 SemiBold"/>
                <a:ea typeface="에이투지체 6 SemiBold"/>
                <a:cs typeface="에이투지체 6 SemiBold"/>
              </a:rPr>
              <a:t>후보 선정은 3분기 반응을 참고하고, 히어로 판단은 구매 성과로만 합니다</a:t>
            </a:r>
            <a:endParaRPr sz="1358" dirty="0">
              <a:solidFill>
                <a:srgbClr val="FFFFFF"/>
              </a:solidFill>
              <a:latin typeface="에이투지체 6 SemiBold"/>
              <a:ea typeface="에이투지체 6 SemiBold"/>
              <a:cs typeface="에이투지체 6 SemiBold"/>
            </a:endParaRPr>
          </a:p>
        </p:txBody>
      </p:sp>
      <p:sp>
        <p:nvSpPr>
          <p:cNvPr id="23" name="Rectangle 22"/>
          <p:cNvSpPr/>
          <p:nvPr/>
        </p:nvSpPr>
        <p:spPr>
          <a:xfrm>
            <a:off x="548640" y="2194560"/>
            <a:ext cx="3447288" cy="603504"/>
          </a:xfrm>
          <a:prstGeom prst="roundRect">
            <a:avLst>
              <a:gd name="adj" fmla="val 1212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68096" y="2194560"/>
            <a:ext cx="3108960" cy="603504"/>
          </a:xfrm>
          <a:prstGeom prst="rect">
            <a:avLst/>
          </a:prstGeom>
          <a:noFill/>
        </p:spPr>
        <p:txBody>
          <a:bodyPr wrap="square" lIns="0" tIns="0" rIns="0" bIns="0" anchor="ctr">
            <a:spAutoFit/>
          </a:bodyPr>
          <a:lstStyle/>
          <a:p>
            <a:pPr algn="l">
              <a:spcAft>
                <a:spcPts val="300"/>
              </a:spcAft>
            </a:pPr>
            <a:r>
              <a:rPr sz="1800">
                <a:solidFill>
                  <a:srgbClr val="004F9F"/>
                </a:solidFill>
                <a:latin typeface="에이투지체 6 SemiBold"/>
                <a:ea typeface="에이투지체 6 SemiBold"/>
              </a:rPr>
              <a:t>아이클타임   </a:t>
            </a:r>
            <a:r>
              <a:rPr sz="1000">
                <a:solidFill>
                  <a:srgbClr val="5C5C5C"/>
                </a:solidFill>
                <a:latin typeface="에이투지체 4 Regular"/>
                <a:ea typeface="에이투지체 4 Regular"/>
              </a:rPr>
              <a:t>3분기 지출 27.5% · 세트 39개</a:t>
            </a:r>
          </a:p>
        </p:txBody>
      </p:sp>
      <p:sp>
        <p:nvSpPr>
          <p:cNvPr id="25" name="TextBox 24"/>
          <p:cNvSpPr txBox="1"/>
          <p:nvPr/>
        </p:nvSpPr>
        <p:spPr>
          <a:xfrm>
            <a:off x="548640" y="2971800"/>
            <a:ext cx="3447288" cy="640080"/>
          </a:xfrm>
          <a:prstGeom prst="rect">
            <a:avLst/>
          </a:prstGeom>
          <a:noFill/>
        </p:spPr>
        <p:txBody>
          <a:bodyPr wrap="square" lIns="0" tIns="0" rIns="0" bIns="0" anchor="t">
            <a:spAutoFit/>
          </a:bodyPr>
          <a:lstStyle/>
          <a:p>
            <a:pPr algn="l">
              <a:spcAft>
                <a:spcPts val="200"/>
              </a:spcAft>
            </a:pPr>
            <a:r>
              <a:rPr sz="1100">
                <a:solidFill>
                  <a:srgbClr val="5C5C5C"/>
                </a:solidFill>
                <a:latin typeface="에이투지체 6 SemiBold"/>
                <a:ea typeface="에이투지체 6 SemiBold"/>
              </a:rPr>
              <a:t>히어로 후보</a:t>
            </a:r>
          </a:p>
          <a:p>
            <a:pPr algn="l">
              <a:spcAft>
                <a:spcPts val="200"/>
              </a:spcAft>
            </a:pPr>
            <a:r>
              <a:rPr sz="1400">
                <a:solidFill>
                  <a:srgbClr val="222222"/>
                </a:solidFill>
                <a:latin typeface="에이투지체 6 SemiBold"/>
                <a:ea typeface="에이투지체 6 SemiBold"/>
              </a:rPr>
              <a:t>츄어블 칼마디 · 프로바이오키드</a:t>
            </a:r>
          </a:p>
        </p:txBody>
      </p:sp>
      <p:sp>
        <p:nvSpPr>
          <p:cNvPr id="26" name="TextBox 25"/>
          <p:cNvSpPr txBox="1"/>
          <p:nvPr/>
        </p:nvSpPr>
        <p:spPr>
          <a:xfrm>
            <a:off x="548640" y="3749039"/>
            <a:ext cx="3447288" cy="1005840"/>
          </a:xfrm>
          <a:prstGeom prst="rect">
            <a:avLst/>
          </a:prstGeom>
          <a:noFill/>
        </p:spPr>
        <p:txBody>
          <a:bodyPr wrap="square" lIns="0" tIns="0" rIns="0" bIns="0" anchor="t">
            <a:spAutoFit/>
          </a:bodyPr>
          <a:lstStyle/>
          <a:p>
            <a:pPr algn="l">
              <a:spcAft>
                <a:spcPts val="300"/>
              </a:spcAft>
            </a:pPr>
            <a:r>
              <a:rPr sz="1250" dirty="0" err="1">
                <a:solidFill>
                  <a:srgbClr val="5C5C5C"/>
                </a:solidFill>
                <a:latin typeface="에이투지체 4 Regular"/>
                <a:ea typeface="에이투지체 4 Regular"/>
              </a:rPr>
              <a:t>칼마디</a:t>
            </a:r>
            <a:r>
              <a:rPr sz="1250" dirty="0">
                <a:solidFill>
                  <a:srgbClr val="5C5C5C"/>
                </a:solidFill>
                <a:latin typeface="에이투지체 4 Regular"/>
                <a:ea typeface="에이투지체 4 Regular"/>
              </a:rPr>
              <a:t> </a:t>
            </a:r>
            <a:r>
              <a:rPr sz="1250" dirty="0" err="1">
                <a:solidFill>
                  <a:srgbClr val="5C5C5C"/>
                </a:solidFill>
                <a:latin typeface="에이투지체 4 Regular"/>
                <a:ea typeface="에이투지체 4 Regular"/>
              </a:rPr>
              <a:t>장바구니당</a:t>
            </a:r>
            <a:r>
              <a:rPr sz="1250" dirty="0">
                <a:solidFill>
                  <a:srgbClr val="5C5C5C"/>
                </a:solidFill>
                <a:latin typeface="에이투지체 4 Regular"/>
                <a:ea typeface="에이투지체 4 Regular"/>
              </a:rPr>
              <a:t> 3,500원</a:t>
            </a:r>
          </a:p>
          <a:p>
            <a:pPr algn="l">
              <a:spcAft>
                <a:spcPts val="300"/>
              </a:spcAft>
            </a:pPr>
            <a:r>
              <a:rPr sz="1250" dirty="0" err="1">
                <a:solidFill>
                  <a:srgbClr val="5C5C5C"/>
                </a:solidFill>
                <a:latin typeface="에이투지체 4 Regular"/>
                <a:ea typeface="에이투지체 4 Regular"/>
              </a:rPr>
              <a:t>프로바이오키드</a:t>
            </a:r>
            <a:r>
              <a:rPr sz="1250" dirty="0">
                <a:solidFill>
                  <a:srgbClr val="5C5C5C"/>
                </a:solidFill>
                <a:latin typeface="에이투지체 4 Regular"/>
                <a:ea typeface="에이투지체 4 Regular"/>
              </a:rPr>
              <a:t> </a:t>
            </a:r>
            <a:r>
              <a:rPr sz="1250" dirty="0" err="1">
                <a:solidFill>
                  <a:srgbClr val="5C5C5C"/>
                </a:solidFill>
                <a:latin typeface="에이투지체 4 Regular"/>
                <a:ea typeface="에이투지체 4 Regular"/>
              </a:rPr>
              <a:t>지출</a:t>
            </a:r>
            <a:r>
              <a:rPr sz="1250" dirty="0">
                <a:solidFill>
                  <a:srgbClr val="5C5C5C"/>
                </a:solidFill>
                <a:latin typeface="에이투지체 4 Regular"/>
                <a:ea typeface="에이투지체 4 Regular"/>
              </a:rPr>
              <a:t> 11.3%</a:t>
            </a:r>
          </a:p>
          <a:p>
            <a:pPr algn="l">
              <a:spcAft>
                <a:spcPts val="300"/>
              </a:spcAft>
            </a:pPr>
            <a:r>
              <a:rPr sz="1250" dirty="0" err="1">
                <a:solidFill>
                  <a:srgbClr val="5C5C5C"/>
                </a:solidFill>
                <a:latin typeface="에이투지체 4 Regular"/>
                <a:ea typeface="에이투지체 4 Regular"/>
              </a:rPr>
              <a:t>FGO는</a:t>
            </a:r>
            <a:r>
              <a:rPr sz="1250" dirty="0">
                <a:solidFill>
                  <a:srgbClr val="5C5C5C"/>
                </a:solidFill>
                <a:latin typeface="에이투지체 4 Regular"/>
                <a:ea typeface="에이투지체 4 Regular"/>
              </a:rPr>
              <a:t> </a:t>
            </a:r>
            <a:r>
              <a:rPr sz="1250" dirty="0" err="1">
                <a:solidFill>
                  <a:srgbClr val="5C5C5C"/>
                </a:solidFill>
                <a:latin typeface="에이투지체 4 Regular"/>
                <a:ea typeface="에이투지체 4 Regular"/>
              </a:rPr>
              <a:t>패키지</a:t>
            </a:r>
            <a:r>
              <a:rPr sz="1250" dirty="0">
                <a:solidFill>
                  <a:srgbClr val="5C5C5C"/>
                </a:solidFill>
                <a:latin typeface="에이투지체 4 Regular"/>
                <a:ea typeface="에이투지체 4 Regular"/>
              </a:rPr>
              <a:t> </a:t>
            </a:r>
            <a:r>
              <a:rPr sz="1250" dirty="0" err="1">
                <a:solidFill>
                  <a:srgbClr val="5C5C5C"/>
                </a:solidFill>
                <a:latin typeface="에이투지체 4 Regular"/>
                <a:ea typeface="에이투지체 4 Regular"/>
              </a:rPr>
              <a:t>소재로</a:t>
            </a:r>
            <a:r>
              <a:rPr sz="1250" dirty="0">
                <a:solidFill>
                  <a:srgbClr val="5C5C5C"/>
                </a:solidFill>
                <a:latin typeface="에이투지체 4 Regular"/>
                <a:ea typeface="에이투지체 4 Regular"/>
              </a:rPr>
              <a:t> </a:t>
            </a:r>
            <a:r>
              <a:rPr sz="1250" dirty="0" err="1">
                <a:solidFill>
                  <a:srgbClr val="5C5C5C"/>
                </a:solidFill>
                <a:latin typeface="에이투지체 4 Regular"/>
                <a:ea typeface="에이투지체 4 Regular"/>
              </a:rPr>
              <a:t>운영</a:t>
            </a:r>
            <a:endParaRPr sz="1250" dirty="0">
              <a:solidFill>
                <a:srgbClr val="5C5C5C"/>
              </a:solidFill>
              <a:latin typeface="에이투지체 4 Regular"/>
              <a:ea typeface="에이투지체 4 Regular"/>
            </a:endParaRPr>
          </a:p>
        </p:txBody>
      </p:sp>
      <p:cxnSp>
        <p:nvCxnSpPr>
          <p:cNvPr id="27" name="Connector 26"/>
          <p:cNvCxnSpPr/>
          <p:nvPr/>
        </p:nvCxnSpPr>
        <p:spPr>
          <a:xfrm>
            <a:off x="548640" y="4928616"/>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4361688" y="2194560"/>
            <a:ext cx="3447288" cy="603504"/>
          </a:xfrm>
          <a:prstGeom prst="roundRect">
            <a:avLst>
              <a:gd name="adj" fmla="val 12121"/>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81144" y="2194560"/>
            <a:ext cx="3108960" cy="603504"/>
          </a:xfrm>
          <a:prstGeom prst="rect">
            <a:avLst/>
          </a:prstGeom>
          <a:noFill/>
        </p:spPr>
        <p:txBody>
          <a:bodyPr wrap="square" lIns="0" tIns="0" rIns="0" bIns="0" anchor="ctr">
            <a:spAutoFit/>
          </a:bodyPr>
          <a:lstStyle/>
          <a:p>
            <a:pPr algn="l">
              <a:spcAft>
                <a:spcPts val="300"/>
              </a:spcAft>
            </a:pPr>
            <a:r>
              <a:rPr sz="1800">
                <a:solidFill>
                  <a:srgbClr val="FFFFFF"/>
                </a:solidFill>
                <a:latin typeface="에이투지체 6 SemiBold"/>
                <a:ea typeface="에이투지체 6 SemiBold"/>
              </a:rPr>
              <a:t>슬림웨이   </a:t>
            </a:r>
            <a:r>
              <a:rPr sz="1000">
                <a:solidFill>
                  <a:srgbClr val="6FB0E8"/>
                </a:solidFill>
                <a:latin typeface="에이투지체 4 Regular"/>
                <a:ea typeface="에이투지체 4 Regular"/>
              </a:rPr>
              <a:t>3분기 지출 37.0% · 세트 33개</a:t>
            </a:r>
          </a:p>
        </p:txBody>
      </p:sp>
      <p:sp>
        <p:nvSpPr>
          <p:cNvPr id="31" name="TextBox 30"/>
          <p:cNvSpPr txBox="1"/>
          <p:nvPr/>
        </p:nvSpPr>
        <p:spPr>
          <a:xfrm>
            <a:off x="4361688" y="2971800"/>
            <a:ext cx="3447288" cy="640080"/>
          </a:xfrm>
          <a:prstGeom prst="rect">
            <a:avLst/>
          </a:prstGeom>
          <a:noFill/>
        </p:spPr>
        <p:txBody>
          <a:bodyPr wrap="square" lIns="0" tIns="0" rIns="0" bIns="0" anchor="t">
            <a:spAutoFit/>
          </a:bodyPr>
          <a:lstStyle/>
          <a:p>
            <a:pPr algn="l">
              <a:spcAft>
                <a:spcPts val="200"/>
              </a:spcAft>
            </a:pPr>
            <a:r>
              <a:rPr sz="1100" dirty="0" err="1">
                <a:solidFill>
                  <a:srgbClr val="5C5C5C"/>
                </a:solidFill>
                <a:latin typeface="에이투지체 6 SemiBold"/>
                <a:ea typeface="에이투지체 6 SemiBold"/>
              </a:rPr>
              <a:t>히어로</a:t>
            </a:r>
            <a:r>
              <a:rPr sz="1100" dirty="0">
                <a:solidFill>
                  <a:srgbClr val="5C5C5C"/>
                </a:solidFill>
                <a:latin typeface="에이투지체 6 SemiBold"/>
                <a:ea typeface="에이투지체 6 SemiBold"/>
              </a:rPr>
              <a:t> </a:t>
            </a:r>
            <a:r>
              <a:rPr sz="1100" dirty="0" err="1">
                <a:solidFill>
                  <a:srgbClr val="5C5C5C"/>
                </a:solidFill>
                <a:latin typeface="에이투지체 6 SemiBold"/>
                <a:ea typeface="에이투지체 6 SemiBold"/>
              </a:rPr>
              <a:t>후보</a:t>
            </a:r>
            <a:endParaRPr sz="1100" dirty="0">
              <a:solidFill>
                <a:srgbClr val="5C5C5C"/>
              </a:solidFill>
              <a:latin typeface="에이투지체 6 SemiBold"/>
              <a:ea typeface="에이투지체 6 SemiBold"/>
            </a:endParaRPr>
          </a:p>
          <a:p>
            <a:pPr algn="l">
              <a:spcAft>
                <a:spcPts val="200"/>
              </a:spcAft>
            </a:pPr>
            <a:r>
              <a:rPr sz="1400" dirty="0" err="1">
                <a:solidFill>
                  <a:srgbClr val="222222"/>
                </a:solidFill>
                <a:latin typeface="에이투지체 6 SemiBold"/>
                <a:ea typeface="에이투지체 6 SemiBold"/>
              </a:rPr>
              <a:t>쾌변직빵</a:t>
            </a:r>
            <a:r>
              <a:rPr sz="1400" dirty="0">
                <a:solidFill>
                  <a:srgbClr val="222222"/>
                </a:solidFill>
                <a:latin typeface="에이투지체 6 SemiBold"/>
                <a:ea typeface="에이투지체 6 SemiBold"/>
              </a:rPr>
              <a:t> · </a:t>
            </a:r>
            <a:r>
              <a:rPr sz="1400" dirty="0" err="1">
                <a:solidFill>
                  <a:srgbClr val="222222"/>
                </a:solidFill>
                <a:latin typeface="에이투지체 6 SemiBold"/>
                <a:ea typeface="에이투지체 6 SemiBold"/>
              </a:rPr>
              <a:t>올리브엔레드비트샷</a:t>
            </a:r>
            <a:r>
              <a:rPr sz="1400" dirty="0">
                <a:solidFill>
                  <a:srgbClr val="222222"/>
                </a:solidFill>
                <a:latin typeface="에이투지체 6 SemiBold"/>
                <a:ea typeface="에이투지체 6 SemiBold"/>
              </a:rPr>
              <a:t> · </a:t>
            </a:r>
            <a:r>
              <a:rPr sz="1400" dirty="0" err="1">
                <a:solidFill>
                  <a:srgbClr val="222222"/>
                </a:solidFill>
                <a:latin typeface="에이투지체 6 SemiBold"/>
                <a:ea typeface="에이투지체 6 SemiBold"/>
              </a:rPr>
              <a:t>핫버닝부스터</a:t>
            </a:r>
            <a:endParaRPr sz="1400" dirty="0">
              <a:solidFill>
                <a:srgbClr val="222222"/>
              </a:solidFill>
              <a:latin typeface="에이투지체 6 SemiBold"/>
              <a:ea typeface="에이투지체 6 SemiBold"/>
            </a:endParaRPr>
          </a:p>
        </p:txBody>
      </p:sp>
      <p:sp>
        <p:nvSpPr>
          <p:cNvPr id="32" name="TextBox 31"/>
          <p:cNvSpPr txBox="1"/>
          <p:nvPr/>
        </p:nvSpPr>
        <p:spPr>
          <a:xfrm>
            <a:off x="4361688" y="3749039"/>
            <a:ext cx="3447288" cy="1005840"/>
          </a:xfrm>
          <a:prstGeom prst="rect">
            <a:avLst/>
          </a:prstGeom>
          <a:noFill/>
        </p:spPr>
        <p:txBody>
          <a:bodyPr wrap="square" lIns="0" tIns="0" rIns="0" bIns="0" anchor="t">
            <a:spAutoFit/>
          </a:bodyPr>
          <a:lstStyle/>
          <a:p>
            <a:pPr algn="l">
              <a:spcAft>
                <a:spcPts val="300"/>
              </a:spcAft>
            </a:pPr>
            <a:r>
              <a:rPr sz="1250">
                <a:solidFill>
                  <a:srgbClr val="5C5C5C"/>
                </a:solidFill>
                <a:latin typeface="에이투지체 4 Regular"/>
                <a:ea typeface="에이투지체 4 Regular"/>
              </a:rPr>
              <a:t>쾌변직빵 장바구니당 4,140원</a:t>
            </a:r>
          </a:p>
          <a:p>
            <a:pPr algn="l">
              <a:spcAft>
                <a:spcPts val="300"/>
              </a:spcAft>
            </a:pPr>
            <a:r>
              <a:rPr sz="1250">
                <a:solidFill>
                  <a:srgbClr val="5C5C5C"/>
                </a:solidFill>
                <a:latin typeface="에이투지체 4 Regular"/>
                <a:ea typeface="에이투지체 4 Regular"/>
              </a:rPr>
              <a:t>비트샷 장바구니당 3,757원</a:t>
            </a:r>
          </a:p>
          <a:p>
            <a:pPr algn="l">
              <a:spcAft>
                <a:spcPts val="300"/>
              </a:spcAft>
            </a:pPr>
            <a:r>
              <a:rPr sz="1250">
                <a:solidFill>
                  <a:srgbClr val="5C5C5C"/>
                </a:solidFill>
                <a:latin typeface="에이투지체 4 Regular"/>
                <a:ea typeface="에이투지체 4 Regular"/>
              </a:rPr>
              <a:t>핫버닝부스터 CTR 4.0%</a:t>
            </a:r>
          </a:p>
        </p:txBody>
      </p:sp>
      <p:cxnSp>
        <p:nvCxnSpPr>
          <p:cNvPr id="33" name="Connector 32"/>
          <p:cNvCxnSpPr/>
          <p:nvPr/>
        </p:nvCxnSpPr>
        <p:spPr>
          <a:xfrm>
            <a:off x="4361688" y="4928616"/>
            <a:ext cx="3447287"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8174736" y="2194560"/>
            <a:ext cx="3447288" cy="603504"/>
          </a:xfrm>
          <a:prstGeom prst="roundRect">
            <a:avLst>
              <a:gd name="adj" fmla="val 1212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394192" y="2194560"/>
            <a:ext cx="3108960" cy="603504"/>
          </a:xfrm>
          <a:prstGeom prst="rect">
            <a:avLst/>
          </a:prstGeom>
          <a:noFill/>
        </p:spPr>
        <p:txBody>
          <a:bodyPr wrap="square" lIns="0" tIns="0" rIns="0" bIns="0" anchor="ctr">
            <a:spAutoFit/>
          </a:bodyPr>
          <a:lstStyle/>
          <a:p>
            <a:pPr algn="l">
              <a:spcAft>
                <a:spcPts val="300"/>
              </a:spcAft>
            </a:pPr>
            <a:r>
              <a:rPr sz="1800">
                <a:solidFill>
                  <a:srgbClr val="004F9F"/>
                </a:solidFill>
                <a:latin typeface="에이투지체 6 SemiBold"/>
                <a:ea typeface="에이투지체 6 SemiBold"/>
              </a:rPr>
              <a:t>두드림몰   </a:t>
            </a:r>
            <a:r>
              <a:rPr sz="1000">
                <a:solidFill>
                  <a:srgbClr val="5C5C5C"/>
                </a:solidFill>
                <a:latin typeface="에이투지체 4 Regular"/>
                <a:ea typeface="에이투지체 4 Regular"/>
              </a:rPr>
              <a:t>3분기 지출 32.0% · 세트 33개</a:t>
            </a:r>
          </a:p>
        </p:txBody>
      </p:sp>
      <p:sp>
        <p:nvSpPr>
          <p:cNvPr id="37" name="TextBox 36"/>
          <p:cNvSpPr txBox="1"/>
          <p:nvPr/>
        </p:nvSpPr>
        <p:spPr>
          <a:xfrm>
            <a:off x="8174736" y="2971800"/>
            <a:ext cx="3447288" cy="640080"/>
          </a:xfrm>
          <a:prstGeom prst="rect">
            <a:avLst/>
          </a:prstGeom>
          <a:noFill/>
        </p:spPr>
        <p:txBody>
          <a:bodyPr wrap="square" lIns="0" tIns="0" rIns="0" bIns="0" anchor="t">
            <a:spAutoFit/>
          </a:bodyPr>
          <a:lstStyle/>
          <a:p>
            <a:pPr algn="l">
              <a:spcAft>
                <a:spcPts val="200"/>
              </a:spcAft>
            </a:pPr>
            <a:r>
              <a:rPr sz="1100">
                <a:solidFill>
                  <a:srgbClr val="5C5C5C"/>
                </a:solidFill>
                <a:latin typeface="에이투지체 6 SemiBold"/>
                <a:ea typeface="에이투지체 6 SemiBold"/>
              </a:rPr>
              <a:t>히어로 후보</a:t>
            </a:r>
          </a:p>
          <a:p>
            <a:pPr algn="l">
              <a:spcAft>
                <a:spcPts val="200"/>
              </a:spcAft>
            </a:pPr>
            <a:r>
              <a:rPr sz="1400">
                <a:solidFill>
                  <a:srgbClr val="222222"/>
                </a:solidFill>
                <a:latin typeface="에이투지체 6 SemiBold"/>
                <a:ea typeface="에이투지체 6 SemiBold"/>
              </a:rPr>
              <a:t>질건강유산균 · 미오이노시톨</a:t>
            </a:r>
          </a:p>
        </p:txBody>
      </p:sp>
      <p:sp>
        <p:nvSpPr>
          <p:cNvPr id="38" name="TextBox 37"/>
          <p:cNvSpPr txBox="1"/>
          <p:nvPr/>
        </p:nvSpPr>
        <p:spPr>
          <a:xfrm>
            <a:off x="8174736" y="3749039"/>
            <a:ext cx="3447288" cy="1005840"/>
          </a:xfrm>
          <a:prstGeom prst="rect">
            <a:avLst/>
          </a:prstGeom>
          <a:noFill/>
        </p:spPr>
        <p:txBody>
          <a:bodyPr wrap="square" lIns="0" tIns="0" rIns="0" bIns="0" anchor="t">
            <a:spAutoFit/>
          </a:bodyPr>
          <a:lstStyle/>
          <a:p>
            <a:pPr algn="l">
              <a:spcAft>
                <a:spcPts val="300"/>
              </a:spcAft>
            </a:pPr>
            <a:r>
              <a:rPr sz="1250">
                <a:solidFill>
                  <a:srgbClr val="5C5C5C"/>
                </a:solidFill>
                <a:latin typeface="에이투지체 4 Regular"/>
                <a:ea typeface="에이투지체 4 Regular"/>
              </a:rPr>
              <a:t>질건강유산균 지출 16.2%로 최대</a:t>
            </a:r>
          </a:p>
          <a:p>
            <a:pPr algn="l">
              <a:spcAft>
                <a:spcPts val="300"/>
              </a:spcAft>
            </a:pPr>
            <a:r>
              <a:rPr sz="1250">
                <a:solidFill>
                  <a:srgbClr val="5C5C5C"/>
                </a:solidFill>
                <a:latin typeface="에이투지체 4 Regular"/>
                <a:ea typeface="에이투지체 4 Regular"/>
              </a:rPr>
              <a:t>CTR 0.53% → 소재 교체 후 재검증</a:t>
            </a:r>
          </a:p>
          <a:p>
            <a:pPr algn="l">
              <a:spcAft>
                <a:spcPts val="300"/>
              </a:spcAft>
            </a:pPr>
            <a:r>
              <a:rPr sz="1250">
                <a:solidFill>
                  <a:srgbClr val="5C5C5C"/>
                </a:solidFill>
                <a:latin typeface="에이투지체 4 Regular"/>
                <a:ea typeface="에이투지체 4 Regular"/>
              </a:rPr>
              <a:t>미오이노시톨 CTR 2.42%</a:t>
            </a:r>
          </a:p>
        </p:txBody>
      </p:sp>
      <p:cxnSp>
        <p:nvCxnSpPr>
          <p:cNvPr id="39" name="Connector 38"/>
          <p:cNvCxnSpPr/>
          <p:nvPr/>
        </p:nvCxnSpPr>
        <p:spPr>
          <a:xfrm>
            <a:off x="8174736" y="4928616"/>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5" name="TextBox 1">
            <a:extLst>
              <a:ext uri="{FF2B5EF4-FFF2-40B4-BE49-F238E27FC236}">
                <a16:creationId xmlns:a16="http://schemas.microsoft.com/office/drawing/2014/main" id="{20884292-BD78-1A98-38D3-F86E94D40B95}"/>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1"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22"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45</a:t>
            </a:r>
          </a:p>
        </p:txBody>
      </p:sp>
      <p:sp>
        <p:nvSpPr>
          <p:cNvPr id="2" name="text-73">
            <a:extLst>
              <a:ext uri="{FF2B5EF4-FFF2-40B4-BE49-F238E27FC236}">
                <a16:creationId xmlns:a16="http://schemas.microsoft.com/office/drawing/2014/main" id="{31966C0B-22D6-4370-8F19-78B01D3D7849}"/>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메타 블프 전략</a:t>
            </a:r>
            <a:r>
              <a:rPr lang="ko-KR" sz="1900" dirty="0">
                <a:solidFill>
                  <a:srgbClr val="222222"/>
                </a:solidFill>
                <a:latin typeface="에이투지체 8 ExtraBold"/>
                <a:ea typeface="에이투지체 8 ExtraBold"/>
                <a:cs typeface="에이투지체 8 ExtraBold"/>
              </a:rPr>
              <a:t>  행사마다 새 캠페인을 만들지 않고</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학습된 캠페인에 블프 소재와 예산을 더합니다</a:t>
            </a:r>
            <a:endParaRPr lang="ko-KR" sz="1900" dirty="0"/>
          </a:p>
        </p:txBody>
      </p:sp>
      <p:sp>
        <p:nvSpPr>
          <p:cNvPr id="3" name="text-74">
            <a:extLst>
              <a:ext uri="{FF2B5EF4-FFF2-40B4-BE49-F238E27FC236}">
                <a16:creationId xmlns:a16="http://schemas.microsoft.com/office/drawing/2014/main" id="{B691A91B-7AB9-4F41-8B4A-FFA9E11D5B1E}"/>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현재 운영 방식과 개편안 비교</a:t>
            </a:r>
            <a:endParaRPr lang="ko-KR" sz="1100" dirty="0"/>
          </a:p>
        </p:txBody>
      </p:sp>
      <p:sp>
        <p:nvSpPr>
          <p:cNvPr id="16" name="node-84">
            <a:extLst>
              <a:ext uri="{FF2B5EF4-FFF2-40B4-BE49-F238E27FC236}">
                <a16:creationId xmlns:a16="http://schemas.microsoft.com/office/drawing/2014/main" id="{EEFEF5B7-3CC6-4ABA-8923-67B55E20FF07}"/>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17" name="text-85">
            <a:extLst>
              <a:ext uri="{FF2B5EF4-FFF2-40B4-BE49-F238E27FC236}">
                <a16:creationId xmlns:a16="http://schemas.microsoft.com/office/drawing/2014/main" id="{3C0A0B00-0202-495B-BDF0-DBE55720A91C}"/>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dirty="0" err="1">
                <a:solidFill>
                  <a:srgbClr val="004F9F"/>
                </a:solidFill>
                <a:latin typeface="에이투지체 6 SemiBold"/>
                <a:ea typeface="에이투지체 6 SemiBold"/>
                <a:cs typeface="에이투지체 6 SemiBold"/>
              </a:rPr>
              <a:t>11월 초 구조 개편으로 블프 전까지 구매 학습을 끝내두고, 블프에는 예산과 소재만 더합니다</a:t>
            </a:r>
            <a:endParaRPr sz="1358" dirty="0">
              <a:solidFill>
                <a:srgbClr val="FFFFFF"/>
              </a:solidFill>
              <a:latin typeface="에이투지체 6 SemiBold"/>
              <a:ea typeface="에이투지체 6 SemiBold"/>
              <a:cs typeface="에이투지체 6 SemiBold"/>
            </a:endParaRPr>
          </a:p>
        </p:txBody>
      </p:sp>
      <p:sp>
        <p:nvSpPr>
          <p:cNvPr id="24" name="text-123">
            <a:extLst>
              <a:ext uri="{FF2B5EF4-FFF2-40B4-BE49-F238E27FC236}">
                <a16:creationId xmlns:a16="http://schemas.microsoft.com/office/drawing/2014/main" id="{CCC09807-AB0F-544F-C4D8-F2228F8FBCAF}"/>
              </a:ext>
            </a:extLst>
          </p:cNvPr>
          <p:cNvSpPr>
            <a:spLocks noGrp="1"/>
          </p:cNvSpPr>
          <p:nvPr/>
        </p:nvSpPr>
        <p:spPr>
          <a:xfrm>
            <a:off x="552450" y="2085975"/>
            <a:ext cx="4953000"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dirty="0" err="1">
                <a:solidFill>
                  <a:srgbClr val="004F9F"/>
                </a:solidFill>
                <a:latin typeface="에이투지체 6 SemiBold"/>
                <a:ea typeface="에이투지체 6 SemiBold"/>
                <a:cs typeface="에이투지체 6 SemiBold"/>
              </a:rPr>
              <a:t>현재</a:t>
            </a:r>
            <a:r>
              <a:rPr sz="1500" dirty="0">
                <a:solidFill>
                  <a:srgbClr val="004F9F"/>
                </a:solidFill>
                <a:latin typeface="에이투지체 6 SemiBold"/>
                <a:ea typeface="에이투지체 6 SemiBold"/>
                <a:cs typeface="에이투지체 6 SemiBold"/>
              </a:rPr>
              <a:t>  </a:t>
            </a:r>
            <a:r>
              <a:rPr sz="1500" dirty="0" err="1">
                <a:solidFill>
                  <a:srgbClr val="004F9F"/>
                </a:solidFill>
                <a:latin typeface="에이투지체 6 SemiBold"/>
                <a:ea typeface="에이투지체 6 SemiBold"/>
                <a:cs typeface="에이투지체 6 SemiBold"/>
              </a:rPr>
              <a:t>행사별</a:t>
            </a:r>
            <a:r>
              <a:rPr sz="1500" dirty="0">
                <a:solidFill>
                  <a:srgbClr val="004F9F"/>
                </a:solidFill>
                <a:latin typeface="에이투지체 6 SemiBold"/>
                <a:ea typeface="에이투지체 6 SemiBold"/>
                <a:cs typeface="에이투지체 6 SemiBold"/>
              </a:rPr>
              <a:t> </a:t>
            </a:r>
            <a:r>
              <a:rPr sz="1500" dirty="0" err="1">
                <a:solidFill>
                  <a:srgbClr val="004F9F"/>
                </a:solidFill>
                <a:latin typeface="에이투지체 6 SemiBold"/>
                <a:ea typeface="에이투지체 6 SemiBold"/>
                <a:cs typeface="에이투지체 6 SemiBold"/>
              </a:rPr>
              <a:t>캠페인</a:t>
            </a:r>
            <a:r>
              <a:rPr sz="1500" dirty="0">
                <a:solidFill>
                  <a:srgbClr val="004F9F"/>
                </a:solidFill>
                <a:latin typeface="에이투지체 6 SemiBold"/>
                <a:ea typeface="에이투지체 6 SemiBold"/>
                <a:cs typeface="에이투지체 6 SemiBold"/>
              </a:rPr>
              <a:t> </a:t>
            </a:r>
            <a:r>
              <a:rPr sz="1500" dirty="0" err="1">
                <a:solidFill>
                  <a:srgbClr val="004F9F"/>
                </a:solidFill>
                <a:latin typeface="에이투지체 6 SemiBold"/>
                <a:ea typeface="에이투지체 6 SemiBold"/>
                <a:cs typeface="에이투지체 6 SemiBold"/>
              </a:rPr>
              <a:t>신규</a:t>
            </a:r>
            <a:r>
              <a:rPr sz="1500" dirty="0">
                <a:solidFill>
                  <a:srgbClr val="004F9F"/>
                </a:solidFill>
                <a:latin typeface="에이투지체 6 SemiBold"/>
                <a:ea typeface="에이투지체 6 SemiBold"/>
                <a:cs typeface="에이투지체 6 SemiBold"/>
              </a:rPr>
              <a:t> </a:t>
            </a:r>
            <a:r>
              <a:rPr sz="1500" dirty="0" err="1">
                <a:solidFill>
                  <a:srgbClr val="004F9F"/>
                </a:solidFill>
                <a:latin typeface="에이투지체 6 SemiBold"/>
                <a:ea typeface="에이투지체 6 SemiBold"/>
                <a:cs typeface="에이투지체 6 SemiBold"/>
              </a:rPr>
              <a:t>생성</a:t>
            </a:r>
            <a:endParaRPr sz="1500" dirty="0">
              <a:solidFill>
                <a:srgbClr val="004F9F"/>
              </a:solidFill>
              <a:latin typeface="에이투지체 6 SemiBold"/>
              <a:ea typeface="에이투지체 6 SemiBold"/>
              <a:cs typeface="에이투지체 6 SemiBold"/>
            </a:endParaRPr>
          </a:p>
        </p:txBody>
      </p:sp>
      <p:sp>
        <p:nvSpPr>
          <p:cNvPr id="26" name="text-124">
            <a:extLst>
              <a:ext uri="{FF2B5EF4-FFF2-40B4-BE49-F238E27FC236}">
                <a16:creationId xmlns:a16="http://schemas.microsoft.com/office/drawing/2014/main" id="{7B087F0F-1753-025C-EC68-97C89D05F27F}"/>
              </a:ext>
            </a:extLst>
          </p:cNvPr>
          <p:cNvSpPr>
            <a:spLocks noGrp="1"/>
          </p:cNvSpPr>
          <p:nvPr/>
        </p:nvSpPr>
        <p:spPr>
          <a:xfrm>
            <a:off x="6677025" y="2085975"/>
            <a:ext cx="4933950"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dirty="0" err="1">
                <a:solidFill>
                  <a:srgbClr val="004F9F"/>
                </a:solidFill>
                <a:latin typeface="에이투지체 6 SemiBold"/>
                <a:ea typeface="에이투지체 6 SemiBold"/>
                <a:cs typeface="에이투지체 6 SemiBold"/>
              </a:rPr>
              <a:t>개편</a:t>
            </a:r>
            <a:r>
              <a:rPr sz="1500" dirty="0">
                <a:solidFill>
                  <a:srgbClr val="004F9F"/>
                </a:solidFill>
                <a:latin typeface="에이투지체 6 SemiBold"/>
                <a:ea typeface="에이투지체 6 SemiBold"/>
                <a:cs typeface="에이투지체 6 SemiBold"/>
              </a:rPr>
              <a:t>  </a:t>
            </a:r>
            <a:r>
              <a:rPr sz="1500" dirty="0" err="1">
                <a:solidFill>
                  <a:srgbClr val="004F9F"/>
                </a:solidFill>
                <a:latin typeface="에이투지체 6 SemiBold"/>
                <a:ea typeface="에이투지체 6 SemiBold"/>
                <a:cs typeface="에이투지체 6 SemiBold"/>
              </a:rPr>
              <a:t>상품</a:t>
            </a:r>
            <a:r>
              <a:rPr sz="1500" dirty="0">
                <a:solidFill>
                  <a:srgbClr val="004F9F"/>
                </a:solidFill>
                <a:latin typeface="에이투지체 6 SemiBold"/>
                <a:ea typeface="에이투지체 6 SemiBold"/>
                <a:cs typeface="에이투지체 6 SemiBold"/>
              </a:rPr>
              <a:t> </a:t>
            </a:r>
            <a:r>
              <a:rPr sz="1500" dirty="0" err="1">
                <a:solidFill>
                  <a:srgbClr val="004F9F"/>
                </a:solidFill>
                <a:latin typeface="에이투지체 6 SemiBold"/>
                <a:ea typeface="에이투지체 6 SemiBold"/>
                <a:cs typeface="에이투지체 6 SemiBold"/>
              </a:rPr>
              <a:t>분류별</a:t>
            </a:r>
            <a:r>
              <a:rPr sz="1500" dirty="0">
                <a:solidFill>
                  <a:srgbClr val="004F9F"/>
                </a:solidFill>
                <a:latin typeface="에이투지체 6 SemiBold"/>
                <a:ea typeface="에이투지체 6 SemiBold"/>
                <a:cs typeface="에이투지체 6 SemiBold"/>
              </a:rPr>
              <a:t> </a:t>
            </a:r>
            <a:r>
              <a:rPr sz="1500" dirty="0" err="1">
                <a:solidFill>
                  <a:srgbClr val="004F9F"/>
                </a:solidFill>
                <a:latin typeface="에이투지체 6 SemiBold"/>
                <a:ea typeface="에이투지체 6 SemiBold"/>
                <a:cs typeface="에이투지체 6 SemiBold"/>
              </a:rPr>
              <a:t>캠페인</a:t>
            </a:r>
            <a:r>
              <a:rPr sz="1500" dirty="0">
                <a:solidFill>
                  <a:srgbClr val="004F9F"/>
                </a:solidFill>
                <a:latin typeface="에이투지체 6 SemiBold"/>
                <a:ea typeface="에이투지체 6 SemiBold"/>
                <a:cs typeface="에이투지체 6 SemiBold"/>
              </a:rPr>
              <a:t> </a:t>
            </a:r>
            <a:r>
              <a:rPr sz="1500" dirty="0" err="1">
                <a:solidFill>
                  <a:srgbClr val="004F9F"/>
                </a:solidFill>
                <a:latin typeface="에이투지체 6 SemiBold"/>
                <a:ea typeface="에이투지체 6 SemiBold"/>
                <a:cs typeface="에이투지체 6 SemiBold"/>
              </a:rPr>
              <a:t>유지</a:t>
            </a:r>
            <a:r>
              <a:rPr sz="1500" dirty="0">
                <a:solidFill>
                  <a:srgbClr val="004F9F"/>
                </a:solidFill>
                <a:latin typeface="에이투지체 6 SemiBold"/>
                <a:ea typeface="에이투지체 6 SemiBold"/>
                <a:cs typeface="에이투지체 6 SemiBold"/>
              </a:rPr>
              <a:t> · </a:t>
            </a:r>
            <a:r>
              <a:rPr sz="1500" dirty="0" err="1">
                <a:solidFill>
                  <a:srgbClr val="004F9F"/>
                </a:solidFill>
                <a:latin typeface="에이투지체 6 SemiBold"/>
                <a:ea typeface="에이투지체 6 SemiBold"/>
                <a:cs typeface="에이투지체 6 SemiBold"/>
              </a:rPr>
              <a:t>소재만</a:t>
            </a:r>
            <a:r>
              <a:rPr sz="1500" dirty="0">
                <a:solidFill>
                  <a:srgbClr val="004F9F"/>
                </a:solidFill>
                <a:latin typeface="에이투지체 6 SemiBold"/>
                <a:ea typeface="에이투지체 6 SemiBold"/>
                <a:cs typeface="에이투지체 6 SemiBold"/>
              </a:rPr>
              <a:t> </a:t>
            </a:r>
            <a:r>
              <a:rPr sz="1500" dirty="0" err="1">
                <a:solidFill>
                  <a:srgbClr val="004F9F"/>
                </a:solidFill>
                <a:latin typeface="에이투지체 6 SemiBold"/>
                <a:ea typeface="에이투지체 6 SemiBold"/>
                <a:cs typeface="에이투지체 6 SemiBold"/>
              </a:rPr>
              <a:t>교체</a:t>
            </a:r>
            <a:endParaRPr sz="1500" dirty="0">
              <a:solidFill>
                <a:srgbClr val="004F9F"/>
              </a:solidFill>
              <a:latin typeface="에이투지체 6 SemiBold"/>
              <a:ea typeface="에이투지체 6 SemiBold"/>
              <a:cs typeface="에이투지체 6 SemiBold"/>
            </a:endParaRPr>
          </a:p>
        </p:txBody>
      </p:sp>
      <p:sp>
        <p:nvSpPr>
          <p:cNvPr id="28" name="node-125">
            <a:extLst>
              <a:ext uri="{FF2B5EF4-FFF2-40B4-BE49-F238E27FC236}">
                <a16:creationId xmlns:a16="http://schemas.microsoft.com/office/drawing/2014/main" id="{B8E0988A-762A-93B5-AA19-050DDA02A571}"/>
              </a:ext>
            </a:extLst>
          </p:cNvPr>
          <p:cNvSpPr>
            <a:spLocks noGrp="1"/>
          </p:cNvSpPr>
          <p:nvPr/>
        </p:nvSpPr>
        <p:spPr>
          <a:xfrm>
            <a:off x="552450" y="2552700"/>
            <a:ext cx="4191000" cy="504825"/>
          </a:xfrm>
          <a:prstGeom prst="roundRect">
            <a:avLst>
              <a:gd name="adj" fmla="val 14490"/>
            </a:avLst>
          </a:prstGeom>
          <a:solidFill>
            <a:srgbClr val="F5F5F5"/>
          </a:solidFill>
          <a:ln w="0">
            <a:noFill/>
          </a:ln>
        </p:spPr>
        <p:txBody>
          <a:bodyPr/>
          <a:lstStyle/>
          <a:p>
            <a:endParaRPr lang="ko-KR" altLang="en-US"/>
          </a:p>
        </p:txBody>
      </p:sp>
      <p:sp>
        <p:nvSpPr>
          <p:cNvPr id="30" name="text-126">
            <a:extLst>
              <a:ext uri="{FF2B5EF4-FFF2-40B4-BE49-F238E27FC236}">
                <a16:creationId xmlns:a16="http://schemas.microsoft.com/office/drawing/2014/main" id="{E9248C74-65EB-D2CB-596D-9E00FC728BEE}"/>
              </a:ext>
            </a:extLst>
          </p:cNvPr>
          <p:cNvSpPr>
            <a:spLocks noGrp="1"/>
          </p:cNvSpPr>
          <p:nvPr/>
        </p:nvSpPr>
        <p:spPr>
          <a:xfrm>
            <a:off x="666750" y="2600325"/>
            <a:ext cx="3962400" cy="409575"/>
          </a:xfrm>
          <a:prstGeom prst="rect">
            <a:avLst/>
          </a:prstGeom>
          <a:noFill/>
          <a:ln w="0">
            <a:noFill/>
          </a:ln>
        </p:spPr>
        <p:txBody>
          <a:bodyPr wrap="square" lIns="0" tIns="0" rIns="0" bIns="0" anchor="ctr">
            <a:noAutofit/>
          </a:bodyPr>
          <a:lstStyle>
            <a:defPPr algn="ctr">
              <a:defRPr sz="1402">
                <a:solidFill>
                  <a:srgbClr val="222222"/>
                </a:solidFill>
                <a:latin typeface="에이투지체 6 SemiBold"/>
                <a:ea typeface="에이투지체 6 SemiBold"/>
                <a:cs typeface="에이투지체 6 SemiBold"/>
              </a:defRPr>
            </a:defPPr>
          </a:lstStyle>
          <a:p>
            <a:pPr algn="ctr">
              <a:defRPr sz="1402">
                <a:solidFill>
                  <a:srgbClr val="222222"/>
                </a:solidFill>
                <a:latin typeface="에이투지체 6 SemiBold"/>
                <a:ea typeface="에이투지체 6 SemiBold"/>
                <a:cs typeface="에이투지체 6 SemiBold"/>
              </a:defRPr>
            </a:pPr>
            <a:r>
              <a:rPr sz="1402">
                <a:solidFill>
                  <a:srgbClr val="222222"/>
                </a:solidFill>
                <a:latin typeface="에이투지체 6 SemiBold"/>
                <a:ea typeface="에이투지체 6 SemiBold"/>
                <a:cs typeface="에이투지체 6 SemiBold"/>
              </a:rPr>
              <a:t>프로모션 캠페인 비중 92%</a:t>
            </a:r>
          </a:p>
        </p:txBody>
      </p:sp>
      <p:sp>
        <p:nvSpPr>
          <p:cNvPr id="32" name="node-127">
            <a:extLst>
              <a:ext uri="{FF2B5EF4-FFF2-40B4-BE49-F238E27FC236}">
                <a16:creationId xmlns:a16="http://schemas.microsoft.com/office/drawing/2014/main" id="{A43ABCF6-F639-3C7D-A496-475733A54B72}"/>
              </a:ext>
            </a:extLst>
          </p:cNvPr>
          <p:cNvSpPr>
            <a:spLocks noGrp="1"/>
          </p:cNvSpPr>
          <p:nvPr/>
        </p:nvSpPr>
        <p:spPr>
          <a:xfrm>
            <a:off x="552450" y="3190875"/>
            <a:ext cx="4191000" cy="504825"/>
          </a:xfrm>
          <a:prstGeom prst="roundRect">
            <a:avLst>
              <a:gd name="adj" fmla="val 14490"/>
            </a:avLst>
          </a:prstGeom>
          <a:solidFill>
            <a:srgbClr val="F5F5F5"/>
          </a:solidFill>
          <a:ln w="0">
            <a:noFill/>
          </a:ln>
        </p:spPr>
        <p:txBody>
          <a:bodyPr/>
          <a:lstStyle/>
          <a:p>
            <a:endParaRPr lang="ko-KR" altLang="en-US"/>
          </a:p>
        </p:txBody>
      </p:sp>
      <p:sp>
        <p:nvSpPr>
          <p:cNvPr id="34" name="text-128">
            <a:extLst>
              <a:ext uri="{FF2B5EF4-FFF2-40B4-BE49-F238E27FC236}">
                <a16:creationId xmlns:a16="http://schemas.microsoft.com/office/drawing/2014/main" id="{F20BEFB9-60DE-CB1E-CBED-31B8115CF9F7}"/>
              </a:ext>
            </a:extLst>
          </p:cNvPr>
          <p:cNvSpPr>
            <a:spLocks noGrp="1"/>
          </p:cNvSpPr>
          <p:nvPr/>
        </p:nvSpPr>
        <p:spPr>
          <a:xfrm>
            <a:off x="666750" y="3238500"/>
            <a:ext cx="3962400" cy="409575"/>
          </a:xfrm>
          <a:prstGeom prst="rect">
            <a:avLst/>
          </a:prstGeom>
          <a:noFill/>
          <a:ln w="0">
            <a:noFill/>
          </a:ln>
        </p:spPr>
        <p:txBody>
          <a:bodyPr wrap="square" lIns="0" tIns="0" rIns="0" bIns="0" anchor="ctr">
            <a:noAutofit/>
          </a:bodyPr>
          <a:lstStyle>
            <a:defPPr algn="ctr">
              <a:defRPr sz="1402">
                <a:solidFill>
                  <a:srgbClr val="222222"/>
                </a:solidFill>
                <a:latin typeface="에이투지체 6 SemiBold"/>
                <a:ea typeface="에이투지체 6 SemiBold"/>
                <a:cs typeface="에이투지체 6 SemiBold"/>
              </a:defRPr>
            </a:defPPr>
          </a:lstStyle>
          <a:p>
            <a:pPr algn="ctr">
              <a:defRPr sz="1402">
                <a:solidFill>
                  <a:srgbClr val="222222"/>
                </a:solidFill>
                <a:latin typeface="에이투지체 6 SemiBold"/>
                <a:ea typeface="에이투지체 6 SemiBold"/>
                <a:cs typeface="에이투지체 6 SemiBold"/>
              </a:defRPr>
            </a:pPr>
            <a:r>
              <a:rPr sz="1402">
                <a:solidFill>
                  <a:srgbClr val="222222"/>
                </a:solidFill>
                <a:latin typeface="에이투지체 6 SemiBold"/>
                <a:ea typeface="에이투지체 6 SemiBold"/>
                <a:cs typeface="에이투지체 6 SemiBold"/>
              </a:rPr>
              <a:t>3분기 행사별 캠페인 21개</a:t>
            </a:r>
          </a:p>
        </p:txBody>
      </p:sp>
      <p:sp>
        <p:nvSpPr>
          <p:cNvPr id="36" name="node-129">
            <a:extLst>
              <a:ext uri="{FF2B5EF4-FFF2-40B4-BE49-F238E27FC236}">
                <a16:creationId xmlns:a16="http://schemas.microsoft.com/office/drawing/2014/main" id="{ED73241A-883D-A443-6CAC-2A6095C02003}"/>
              </a:ext>
            </a:extLst>
          </p:cNvPr>
          <p:cNvSpPr>
            <a:spLocks noGrp="1"/>
          </p:cNvSpPr>
          <p:nvPr/>
        </p:nvSpPr>
        <p:spPr>
          <a:xfrm>
            <a:off x="552450" y="3829050"/>
            <a:ext cx="4191000" cy="504825"/>
          </a:xfrm>
          <a:prstGeom prst="roundRect">
            <a:avLst>
              <a:gd name="adj" fmla="val 14490"/>
            </a:avLst>
          </a:prstGeom>
          <a:solidFill>
            <a:srgbClr val="F5F5F5"/>
          </a:solidFill>
          <a:ln w="0">
            <a:noFill/>
          </a:ln>
        </p:spPr>
        <p:txBody>
          <a:bodyPr/>
          <a:lstStyle/>
          <a:p>
            <a:endParaRPr lang="ko-KR" altLang="en-US"/>
          </a:p>
        </p:txBody>
      </p:sp>
      <p:sp>
        <p:nvSpPr>
          <p:cNvPr id="38" name="text-130">
            <a:extLst>
              <a:ext uri="{FF2B5EF4-FFF2-40B4-BE49-F238E27FC236}">
                <a16:creationId xmlns:a16="http://schemas.microsoft.com/office/drawing/2014/main" id="{A24DF724-0B58-C66F-3F8A-DC22CC40D232}"/>
              </a:ext>
            </a:extLst>
          </p:cNvPr>
          <p:cNvSpPr>
            <a:spLocks noGrp="1"/>
          </p:cNvSpPr>
          <p:nvPr/>
        </p:nvSpPr>
        <p:spPr>
          <a:xfrm>
            <a:off x="666750" y="3876675"/>
            <a:ext cx="3962400" cy="409575"/>
          </a:xfrm>
          <a:prstGeom prst="rect">
            <a:avLst/>
          </a:prstGeom>
          <a:noFill/>
          <a:ln w="0">
            <a:noFill/>
          </a:ln>
        </p:spPr>
        <p:txBody>
          <a:bodyPr wrap="square" lIns="0" tIns="0" rIns="0" bIns="0" anchor="ctr">
            <a:noAutofit/>
          </a:bodyPr>
          <a:lstStyle>
            <a:defPPr algn="ctr">
              <a:defRPr sz="1402">
                <a:solidFill>
                  <a:srgbClr val="222222"/>
                </a:solidFill>
                <a:latin typeface="에이투지체 6 SemiBold"/>
                <a:ea typeface="에이투지체 6 SemiBold"/>
                <a:cs typeface="에이투지체 6 SemiBold"/>
              </a:defRPr>
            </a:defPPr>
          </a:lstStyle>
          <a:p>
            <a:pPr algn="ctr">
              <a:defRPr sz="1402">
                <a:solidFill>
                  <a:srgbClr val="222222"/>
                </a:solidFill>
                <a:latin typeface="에이투지체 6 SemiBold"/>
                <a:ea typeface="에이투지체 6 SemiBold"/>
                <a:cs typeface="에이투지체 6 SemiBold"/>
              </a:defRPr>
            </a:pPr>
            <a:r>
              <a:rPr sz="1402">
                <a:solidFill>
                  <a:srgbClr val="222222"/>
                </a:solidFill>
                <a:latin typeface="에이투지체 6 SemiBold"/>
                <a:ea typeface="에이투지체 6 SemiBold"/>
                <a:cs typeface="에이투지체 6 SemiBold"/>
              </a:rPr>
              <a:t>행사 종료와 함께 학습 종료</a:t>
            </a:r>
          </a:p>
        </p:txBody>
      </p:sp>
      <p:sp>
        <p:nvSpPr>
          <p:cNvPr id="40" name="node-131">
            <a:extLst>
              <a:ext uri="{FF2B5EF4-FFF2-40B4-BE49-F238E27FC236}">
                <a16:creationId xmlns:a16="http://schemas.microsoft.com/office/drawing/2014/main" id="{96B85BAE-73CB-666A-77C7-74B5662B5936}"/>
              </a:ext>
            </a:extLst>
          </p:cNvPr>
          <p:cNvSpPr>
            <a:spLocks noGrp="1"/>
          </p:cNvSpPr>
          <p:nvPr/>
        </p:nvSpPr>
        <p:spPr>
          <a:xfrm>
            <a:off x="552450" y="4467225"/>
            <a:ext cx="4191000" cy="504825"/>
          </a:xfrm>
          <a:prstGeom prst="roundRect">
            <a:avLst>
              <a:gd name="adj" fmla="val 14490"/>
            </a:avLst>
          </a:prstGeom>
          <a:solidFill>
            <a:srgbClr val="F5F5F5"/>
          </a:solidFill>
          <a:ln w="0">
            <a:noFill/>
          </a:ln>
        </p:spPr>
        <p:txBody>
          <a:bodyPr/>
          <a:lstStyle/>
          <a:p>
            <a:endParaRPr lang="ko-KR" altLang="en-US"/>
          </a:p>
        </p:txBody>
      </p:sp>
      <p:sp>
        <p:nvSpPr>
          <p:cNvPr id="42" name="text-132">
            <a:extLst>
              <a:ext uri="{FF2B5EF4-FFF2-40B4-BE49-F238E27FC236}">
                <a16:creationId xmlns:a16="http://schemas.microsoft.com/office/drawing/2014/main" id="{0890CA00-A07C-5837-FEB2-610BC9614B9E}"/>
              </a:ext>
            </a:extLst>
          </p:cNvPr>
          <p:cNvSpPr>
            <a:spLocks noGrp="1"/>
          </p:cNvSpPr>
          <p:nvPr/>
        </p:nvSpPr>
        <p:spPr>
          <a:xfrm>
            <a:off x="666750" y="4514850"/>
            <a:ext cx="3962400" cy="409575"/>
          </a:xfrm>
          <a:prstGeom prst="rect">
            <a:avLst/>
          </a:prstGeom>
          <a:noFill/>
          <a:ln w="0">
            <a:noFill/>
          </a:ln>
        </p:spPr>
        <p:txBody>
          <a:bodyPr wrap="square" lIns="0" tIns="0" rIns="0" bIns="0" anchor="ctr">
            <a:noAutofit/>
          </a:bodyPr>
          <a:lstStyle>
            <a:defPPr algn="ctr">
              <a:defRPr sz="1402">
                <a:solidFill>
                  <a:srgbClr val="222222"/>
                </a:solidFill>
                <a:latin typeface="에이투지체 6 SemiBold"/>
                <a:ea typeface="에이투지체 6 SemiBold"/>
                <a:cs typeface="에이투지체 6 SemiBold"/>
              </a:defRPr>
            </a:defPPr>
          </a:lstStyle>
          <a:p>
            <a:pPr algn="ctr">
              <a:defRPr sz="1402">
                <a:solidFill>
                  <a:srgbClr val="222222"/>
                </a:solidFill>
                <a:latin typeface="에이투지체 6 SemiBold"/>
                <a:ea typeface="에이투지체 6 SemiBold"/>
                <a:cs typeface="에이투지체 6 SemiBold"/>
              </a:defRPr>
            </a:pPr>
            <a:r>
              <a:rPr sz="1402">
                <a:solidFill>
                  <a:srgbClr val="222222"/>
                </a:solidFill>
                <a:latin typeface="에이투지체 6 SemiBold"/>
                <a:ea typeface="에이투지체 6 SemiBold"/>
                <a:cs typeface="에이투지체 6 SemiBold"/>
              </a:rPr>
              <a:t>다음 행사는 처음부터 다시 학습</a:t>
            </a:r>
          </a:p>
        </p:txBody>
      </p:sp>
      <p:sp>
        <p:nvSpPr>
          <p:cNvPr id="44" name="node-133">
            <a:extLst>
              <a:ext uri="{FF2B5EF4-FFF2-40B4-BE49-F238E27FC236}">
                <a16:creationId xmlns:a16="http://schemas.microsoft.com/office/drawing/2014/main" id="{059D5E50-5A1B-3270-6899-AD4845CB78F6}"/>
              </a:ext>
            </a:extLst>
          </p:cNvPr>
          <p:cNvSpPr>
            <a:spLocks noGrp="1"/>
          </p:cNvSpPr>
          <p:nvPr/>
        </p:nvSpPr>
        <p:spPr>
          <a:xfrm>
            <a:off x="6696075" y="2552700"/>
            <a:ext cx="4886325" cy="504825"/>
          </a:xfrm>
          <a:prstGeom prst="roundRect">
            <a:avLst>
              <a:gd name="adj" fmla="val 14490"/>
            </a:avLst>
          </a:prstGeom>
          <a:solidFill>
            <a:srgbClr val="004F9F"/>
          </a:solidFill>
          <a:ln w="0">
            <a:noFill/>
          </a:ln>
        </p:spPr>
        <p:txBody>
          <a:bodyPr/>
          <a:lstStyle/>
          <a:p>
            <a:endParaRPr lang="ko-KR" altLang="en-US"/>
          </a:p>
        </p:txBody>
      </p:sp>
      <p:sp>
        <p:nvSpPr>
          <p:cNvPr id="46" name="text-134">
            <a:extLst>
              <a:ext uri="{FF2B5EF4-FFF2-40B4-BE49-F238E27FC236}">
                <a16:creationId xmlns:a16="http://schemas.microsoft.com/office/drawing/2014/main" id="{6039740D-CF28-4EBC-8CFB-FDA58AE102AE}"/>
              </a:ext>
            </a:extLst>
          </p:cNvPr>
          <p:cNvSpPr>
            <a:spLocks noGrp="1"/>
          </p:cNvSpPr>
          <p:nvPr/>
        </p:nvSpPr>
        <p:spPr>
          <a:xfrm>
            <a:off x="6810375" y="2600325"/>
            <a:ext cx="4657725" cy="409575"/>
          </a:xfrm>
          <a:prstGeom prst="rect">
            <a:avLst/>
          </a:prstGeom>
          <a:noFill/>
          <a:ln w="0">
            <a:noFill/>
          </a:ln>
        </p:spPr>
        <p:txBody>
          <a:bodyPr wrap="square" lIns="0" tIns="0" rIns="0" bIns="0" anchor="ctr">
            <a:noAutofit/>
          </a:bodyPr>
          <a:lstStyle>
            <a:defPPr algn="ctr">
              <a:defRPr sz="1402">
                <a:solidFill>
                  <a:srgbClr val="FFFFFF"/>
                </a:solidFill>
                <a:latin typeface="에이투지체 6 SemiBold"/>
                <a:ea typeface="에이투지체 6 SemiBold"/>
                <a:cs typeface="에이투지체 6 SemiBold"/>
              </a:defRPr>
            </a:defPPr>
          </a:lstStyle>
          <a:p>
            <a:pPr algn="ctr">
              <a:defRPr sz="1402">
                <a:solidFill>
                  <a:srgbClr val="FFFFFF"/>
                </a:solidFill>
                <a:latin typeface="에이투지체 6 SemiBold"/>
                <a:ea typeface="에이투지체 6 SemiBold"/>
                <a:cs typeface="에이투지체 6 SemiBold"/>
              </a:defRPr>
            </a:pPr>
            <a:r>
              <a:rPr sz="1402" dirty="0" err="1">
                <a:solidFill>
                  <a:srgbClr val="FFFFFF"/>
                </a:solidFill>
                <a:latin typeface="에이투지체 6 SemiBold"/>
                <a:ea typeface="에이투지체 6 SemiBold"/>
                <a:cs typeface="에이투지체 6 SemiBold"/>
              </a:rPr>
              <a:t>아이클타임</a:t>
            </a:r>
            <a:r>
              <a:rPr sz="1402" dirty="0">
                <a:solidFill>
                  <a:srgbClr val="FFFFFF"/>
                </a:solidFill>
                <a:latin typeface="에이투지체 6 SemiBold"/>
                <a:ea typeface="에이투지체 6 SemiBold"/>
                <a:cs typeface="에이투지체 6 SemiBold"/>
              </a:rPr>
              <a:t> · </a:t>
            </a:r>
            <a:r>
              <a:rPr sz="1402" dirty="0" err="1">
                <a:solidFill>
                  <a:srgbClr val="FFFFFF"/>
                </a:solidFill>
                <a:latin typeface="에이투지체 6 SemiBold"/>
                <a:ea typeface="에이투지체 6 SemiBold"/>
                <a:cs typeface="에이투지체 6 SemiBold"/>
              </a:rPr>
              <a:t>슬림웨이</a:t>
            </a:r>
            <a:r>
              <a:rPr sz="1402" dirty="0">
                <a:solidFill>
                  <a:srgbClr val="FFFFFF"/>
                </a:solidFill>
                <a:latin typeface="에이투지체 6 SemiBold"/>
                <a:ea typeface="에이투지체 6 SemiBold"/>
                <a:cs typeface="에이투지체 6 SemiBold"/>
              </a:rPr>
              <a:t> · </a:t>
            </a:r>
            <a:r>
              <a:rPr sz="1402" dirty="0" err="1">
                <a:solidFill>
                  <a:srgbClr val="FFFFFF"/>
                </a:solidFill>
                <a:latin typeface="에이투지체 6 SemiBold"/>
                <a:ea typeface="에이투지체 6 SemiBold"/>
                <a:cs typeface="에이투지체 6 SemiBold"/>
              </a:rPr>
              <a:t>두드림몰</a:t>
            </a:r>
            <a:r>
              <a:rPr sz="1402" dirty="0">
                <a:solidFill>
                  <a:srgbClr val="FFFFFF"/>
                </a:solidFill>
                <a:latin typeface="에이투지체 6 SemiBold"/>
                <a:ea typeface="에이투지체 6 SemiBold"/>
                <a:cs typeface="에이투지체 6 SemiBold"/>
              </a:rPr>
              <a:t> </a:t>
            </a:r>
            <a:r>
              <a:rPr sz="1402" dirty="0" err="1">
                <a:solidFill>
                  <a:srgbClr val="FFFFFF"/>
                </a:solidFill>
                <a:latin typeface="에이투지체 6 SemiBold"/>
                <a:ea typeface="에이투지체 6 SemiBold"/>
                <a:cs typeface="에이투지체 6 SemiBold"/>
              </a:rPr>
              <a:t>캠페인</a:t>
            </a:r>
            <a:r>
              <a:rPr sz="1402" dirty="0">
                <a:solidFill>
                  <a:srgbClr val="FFFFFF"/>
                </a:solidFill>
                <a:latin typeface="에이투지체 6 SemiBold"/>
                <a:ea typeface="에이투지체 6 SemiBold"/>
                <a:cs typeface="에이투지체 6 SemiBold"/>
              </a:rPr>
              <a:t> </a:t>
            </a:r>
            <a:r>
              <a:rPr sz="1402" dirty="0" err="1">
                <a:solidFill>
                  <a:srgbClr val="FFFFFF"/>
                </a:solidFill>
                <a:latin typeface="에이투지체 6 SemiBold"/>
                <a:ea typeface="에이투지체 6 SemiBold"/>
                <a:cs typeface="에이투지체 6 SemiBold"/>
              </a:rPr>
              <a:t>유지</a:t>
            </a:r>
            <a:endParaRPr sz="1402" dirty="0">
              <a:solidFill>
                <a:srgbClr val="FFFFFF"/>
              </a:solidFill>
              <a:latin typeface="에이투지체 6 SemiBold"/>
              <a:ea typeface="에이투지체 6 SemiBold"/>
              <a:cs typeface="에이투지체 6 SemiBold"/>
            </a:endParaRPr>
          </a:p>
        </p:txBody>
      </p:sp>
      <p:sp>
        <p:nvSpPr>
          <p:cNvPr id="48" name="node-135">
            <a:extLst>
              <a:ext uri="{FF2B5EF4-FFF2-40B4-BE49-F238E27FC236}">
                <a16:creationId xmlns:a16="http://schemas.microsoft.com/office/drawing/2014/main" id="{6C053DDA-BE52-465D-3627-C0F2343AB812}"/>
              </a:ext>
            </a:extLst>
          </p:cNvPr>
          <p:cNvSpPr>
            <a:spLocks noGrp="1"/>
          </p:cNvSpPr>
          <p:nvPr/>
        </p:nvSpPr>
        <p:spPr>
          <a:xfrm>
            <a:off x="6696075" y="3190875"/>
            <a:ext cx="4886325" cy="504825"/>
          </a:xfrm>
          <a:prstGeom prst="roundRect">
            <a:avLst>
              <a:gd name="adj" fmla="val 14490"/>
            </a:avLst>
          </a:prstGeom>
          <a:solidFill>
            <a:srgbClr val="EAF2FB"/>
          </a:solidFill>
          <a:ln w="0">
            <a:noFill/>
          </a:ln>
        </p:spPr>
        <p:txBody>
          <a:bodyPr/>
          <a:lstStyle/>
          <a:p>
            <a:endParaRPr lang="ko-KR" altLang="en-US"/>
          </a:p>
        </p:txBody>
      </p:sp>
      <p:sp>
        <p:nvSpPr>
          <p:cNvPr id="50" name="text-136">
            <a:extLst>
              <a:ext uri="{FF2B5EF4-FFF2-40B4-BE49-F238E27FC236}">
                <a16:creationId xmlns:a16="http://schemas.microsoft.com/office/drawing/2014/main" id="{EF8A8D5E-CBF2-022A-41B6-C1D913C2CF66}"/>
              </a:ext>
            </a:extLst>
          </p:cNvPr>
          <p:cNvSpPr>
            <a:spLocks noGrp="1"/>
          </p:cNvSpPr>
          <p:nvPr/>
        </p:nvSpPr>
        <p:spPr>
          <a:xfrm>
            <a:off x="6810375" y="3238500"/>
            <a:ext cx="4657725" cy="409575"/>
          </a:xfrm>
          <a:prstGeom prst="rect">
            <a:avLst/>
          </a:prstGeom>
          <a:noFill/>
          <a:ln w="0">
            <a:noFill/>
          </a:ln>
        </p:spPr>
        <p:txBody>
          <a:bodyPr wrap="square" lIns="0" tIns="0" rIns="0" bIns="0" anchor="ctr">
            <a:noAutofit/>
          </a:bodyPr>
          <a:lstStyle>
            <a:defPPr algn="ctr">
              <a:defRPr sz="1402">
                <a:solidFill>
                  <a:srgbClr val="004F9F"/>
                </a:solidFill>
                <a:latin typeface="에이투지체 6 SemiBold"/>
                <a:ea typeface="에이투지체 6 SemiBold"/>
                <a:cs typeface="에이투지체 6 SemiBold"/>
              </a:defRPr>
            </a:defPPr>
          </a:lstStyle>
          <a:p>
            <a:pPr algn="ctr">
              <a:defRPr sz="1402">
                <a:solidFill>
                  <a:srgbClr val="004F9F"/>
                </a:solidFill>
                <a:latin typeface="에이투지체 6 SemiBold"/>
                <a:ea typeface="에이투지체 6 SemiBold"/>
                <a:cs typeface="에이투지체 6 SemiBold"/>
              </a:defRPr>
            </a:pPr>
            <a:r>
              <a:rPr sz="1402" dirty="0" err="1">
                <a:solidFill>
                  <a:srgbClr val="004F9F"/>
                </a:solidFill>
                <a:latin typeface="에이투지체 6 SemiBold"/>
                <a:ea typeface="에이투지체 6 SemiBold"/>
                <a:cs typeface="에이투지체 6 SemiBold"/>
              </a:rPr>
              <a:t>블프</a:t>
            </a:r>
            <a:r>
              <a:rPr sz="1402" dirty="0">
                <a:solidFill>
                  <a:srgbClr val="004F9F"/>
                </a:solidFill>
                <a:latin typeface="에이투지체 6 SemiBold"/>
                <a:ea typeface="에이투지체 6 SemiBold"/>
                <a:cs typeface="에이투지체 6 SemiBold"/>
              </a:rPr>
              <a:t> </a:t>
            </a:r>
            <a:r>
              <a:rPr lang="ko-KR" altLang="en-US" sz="1402" dirty="0">
                <a:solidFill>
                  <a:srgbClr val="004F9F"/>
                </a:solidFill>
                <a:latin typeface="에이투지체 6 SemiBold"/>
                <a:ea typeface="에이투지체 6 SemiBold"/>
                <a:cs typeface="에이투지체 6 SemiBold"/>
              </a:rPr>
              <a:t>그룹 </a:t>
            </a:r>
            <a:r>
              <a:rPr sz="1402" dirty="0" err="1">
                <a:solidFill>
                  <a:srgbClr val="004F9F"/>
                </a:solidFill>
                <a:latin typeface="에이투지체 6 SemiBold"/>
                <a:ea typeface="에이투지체 6 SemiBold"/>
                <a:cs typeface="에이투지체 6 SemiBold"/>
              </a:rPr>
              <a:t>추가</a:t>
            </a:r>
            <a:r>
              <a:rPr sz="1402" dirty="0">
                <a:solidFill>
                  <a:srgbClr val="004F9F"/>
                </a:solidFill>
                <a:latin typeface="에이투지체 6 SemiBold"/>
                <a:ea typeface="에이투지체 6 SemiBold"/>
                <a:cs typeface="에이투지체 6 SemiBold"/>
              </a:rPr>
              <a:t> · </a:t>
            </a:r>
            <a:r>
              <a:rPr sz="1402" dirty="0" err="1">
                <a:solidFill>
                  <a:srgbClr val="004F9F"/>
                </a:solidFill>
                <a:latin typeface="에이투지체 6 SemiBold"/>
                <a:ea typeface="에이투지체 6 SemiBold"/>
                <a:cs typeface="에이투지체 6 SemiBold"/>
              </a:rPr>
              <a:t>상시</a:t>
            </a:r>
            <a:r>
              <a:rPr sz="1402" dirty="0">
                <a:solidFill>
                  <a:srgbClr val="004F9F"/>
                </a:solidFill>
                <a:latin typeface="에이투지체 6 SemiBold"/>
                <a:ea typeface="에이투지체 6 SemiBold"/>
                <a:cs typeface="에이투지체 6 SemiBold"/>
              </a:rPr>
              <a:t> </a:t>
            </a:r>
            <a:r>
              <a:rPr sz="1402" dirty="0" err="1">
                <a:solidFill>
                  <a:srgbClr val="004F9F"/>
                </a:solidFill>
                <a:latin typeface="에이투지체 6 SemiBold"/>
                <a:ea typeface="에이투지체 6 SemiBold"/>
                <a:cs typeface="에이투지체 6 SemiBold"/>
              </a:rPr>
              <a:t>소재와</a:t>
            </a:r>
            <a:r>
              <a:rPr sz="1402" dirty="0">
                <a:solidFill>
                  <a:srgbClr val="004F9F"/>
                </a:solidFill>
                <a:latin typeface="에이투지체 6 SemiBold"/>
                <a:ea typeface="에이투지체 6 SemiBold"/>
                <a:cs typeface="에이투지체 6 SemiBold"/>
              </a:rPr>
              <a:t> </a:t>
            </a:r>
            <a:r>
              <a:rPr sz="1402" dirty="0" err="1">
                <a:solidFill>
                  <a:srgbClr val="004F9F"/>
                </a:solidFill>
                <a:latin typeface="에이투지체 6 SemiBold"/>
                <a:ea typeface="에이투지체 6 SemiBold"/>
                <a:cs typeface="에이투지체 6 SemiBold"/>
              </a:rPr>
              <a:t>병행</a:t>
            </a:r>
            <a:endParaRPr sz="1402" dirty="0">
              <a:solidFill>
                <a:srgbClr val="004F9F"/>
              </a:solidFill>
              <a:latin typeface="에이투지체 6 SemiBold"/>
              <a:ea typeface="에이투지체 6 SemiBold"/>
              <a:cs typeface="에이투지체 6 SemiBold"/>
            </a:endParaRPr>
          </a:p>
        </p:txBody>
      </p:sp>
      <p:sp>
        <p:nvSpPr>
          <p:cNvPr id="52" name="node-137">
            <a:extLst>
              <a:ext uri="{FF2B5EF4-FFF2-40B4-BE49-F238E27FC236}">
                <a16:creationId xmlns:a16="http://schemas.microsoft.com/office/drawing/2014/main" id="{966FB47B-6B11-E9C9-7373-89F2AF8262A0}"/>
              </a:ext>
            </a:extLst>
          </p:cNvPr>
          <p:cNvSpPr>
            <a:spLocks noGrp="1"/>
          </p:cNvSpPr>
          <p:nvPr/>
        </p:nvSpPr>
        <p:spPr>
          <a:xfrm>
            <a:off x="6696075" y="3829050"/>
            <a:ext cx="4886325" cy="504825"/>
          </a:xfrm>
          <a:prstGeom prst="roundRect">
            <a:avLst>
              <a:gd name="adj" fmla="val 14490"/>
            </a:avLst>
          </a:prstGeom>
          <a:solidFill>
            <a:srgbClr val="EAF2FB"/>
          </a:solidFill>
          <a:ln w="0">
            <a:noFill/>
          </a:ln>
        </p:spPr>
        <p:txBody>
          <a:bodyPr/>
          <a:lstStyle/>
          <a:p>
            <a:endParaRPr lang="ko-KR" altLang="en-US" dirty="0"/>
          </a:p>
        </p:txBody>
      </p:sp>
      <p:sp>
        <p:nvSpPr>
          <p:cNvPr id="54" name="text-138">
            <a:extLst>
              <a:ext uri="{FF2B5EF4-FFF2-40B4-BE49-F238E27FC236}">
                <a16:creationId xmlns:a16="http://schemas.microsoft.com/office/drawing/2014/main" id="{686D5035-07B6-E248-18EB-916D092AAB16}"/>
              </a:ext>
            </a:extLst>
          </p:cNvPr>
          <p:cNvSpPr>
            <a:spLocks noGrp="1"/>
          </p:cNvSpPr>
          <p:nvPr/>
        </p:nvSpPr>
        <p:spPr>
          <a:xfrm>
            <a:off x="6810375" y="3876675"/>
            <a:ext cx="4657725" cy="409575"/>
          </a:xfrm>
          <a:prstGeom prst="rect">
            <a:avLst/>
          </a:prstGeom>
          <a:noFill/>
          <a:ln w="0">
            <a:noFill/>
          </a:ln>
        </p:spPr>
        <p:txBody>
          <a:bodyPr wrap="square" lIns="0" tIns="0" rIns="0" bIns="0" anchor="ctr">
            <a:noAutofit/>
          </a:bodyPr>
          <a:lstStyle>
            <a:defPPr algn="ctr">
              <a:defRPr sz="1402">
                <a:solidFill>
                  <a:srgbClr val="004F9F"/>
                </a:solidFill>
                <a:latin typeface="에이투지체 6 SemiBold"/>
                <a:ea typeface="에이투지체 6 SemiBold"/>
                <a:cs typeface="에이투지체 6 SemiBold"/>
              </a:defRPr>
            </a:defPPr>
          </a:lstStyle>
          <a:p>
            <a:pPr algn="ctr">
              <a:defRPr sz="1402">
                <a:solidFill>
                  <a:srgbClr val="004F9F"/>
                </a:solidFill>
                <a:latin typeface="에이투지체 6 SemiBold"/>
                <a:ea typeface="에이투지체 6 SemiBold"/>
                <a:cs typeface="에이투지체 6 SemiBold"/>
              </a:defRPr>
            </a:pPr>
            <a:r>
              <a:rPr sz="1402" dirty="0" err="1">
                <a:solidFill>
                  <a:srgbClr val="004F9F"/>
                </a:solidFill>
                <a:latin typeface="에이투지체 6 SemiBold"/>
                <a:ea typeface="에이투지체 6 SemiBold"/>
                <a:cs typeface="에이투지체 6 SemiBold"/>
              </a:rPr>
              <a:t>학습된</a:t>
            </a:r>
            <a:r>
              <a:rPr lang="en-US" sz="1402" dirty="0">
                <a:solidFill>
                  <a:srgbClr val="004F9F"/>
                </a:solidFill>
                <a:latin typeface="에이투지체 6 SemiBold"/>
                <a:ea typeface="에이투지체 6 SemiBold"/>
                <a:cs typeface="에이투지체 6 SemiBold"/>
              </a:rPr>
              <a:t> </a:t>
            </a:r>
            <a:r>
              <a:rPr lang="ko-KR" altLang="en-US" sz="1402" dirty="0">
                <a:solidFill>
                  <a:srgbClr val="004F9F"/>
                </a:solidFill>
                <a:latin typeface="에이투지체 6 SemiBold"/>
                <a:ea typeface="에이투지체 6 SemiBold"/>
                <a:cs typeface="에이투지체 6 SemiBold"/>
              </a:rPr>
              <a:t>그룹에 단계별 예산</a:t>
            </a:r>
            <a:r>
              <a:rPr sz="1402" dirty="0">
                <a:solidFill>
                  <a:srgbClr val="004F9F"/>
                </a:solidFill>
                <a:latin typeface="에이투지체 6 SemiBold"/>
                <a:ea typeface="에이투지체 6 SemiBold"/>
                <a:cs typeface="에이투지체 6 SemiBold"/>
              </a:rPr>
              <a:t> </a:t>
            </a:r>
            <a:r>
              <a:rPr sz="1402" dirty="0" err="1">
                <a:solidFill>
                  <a:srgbClr val="004F9F"/>
                </a:solidFill>
                <a:latin typeface="에이투지체 6 SemiBold"/>
                <a:ea typeface="에이투지체 6 SemiBold"/>
                <a:cs typeface="에이투지체 6 SemiBold"/>
              </a:rPr>
              <a:t>증액</a:t>
            </a:r>
            <a:endParaRPr sz="1402" dirty="0">
              <a:solidFill>
                <a:srgbClr val="004F9F"/>
              </a:solidFill>
              <a:latin typeface="에이투지체 6 SemiBold"/>
              <a:ea typeface="에이투지체 6 SemiBold"/>
              <a:cs typeface="에이투지체 6 SemiBold"/>
            </a:endParaRPr>
          </a:p>
        </p:txBody>
      </p:sp>
      <p:sp>
        <p:nvSpPr>
          <p:cNvPr id="56" name="node-139">
            <a:extLst>
              <a:ext uri="{FF2B5EF4-FFF2-40B4-BE49-F238E27FC236}">
                <a16:creationId xmlns:a16="http://schemas.microsoft.com/office/drawing/2014/main" id="{F25B199E-36DA-1B61-545D-20A37A87E3AB}"/>
              </a:ext>
            </a:extLst>
          </p:cNvPr>
          <p:cNvSpPr>
            <a:spLocks noGrp="1"/>
          </p:cNvSpPr>
          <p:nvPr/>
        </p:nvSpPr>
        <p:spPr>
          <a:xfrm>
            <a:off x="6696075" y="4467225"/>
            <a:ext cx="4886325" cy="504825"/>
          </a:xfrm>
          <a:prstGeom prst="roundRect">
            <a:avLst>
              <a:gd name="adj" fmla="val 14490"/>
            </a:avLst>
          </a:prstGeom>
          <a:solidFill>
            <a:srgbClr val="EAF2FB"/>
          </a:solidFill>
          <a:ln w="0">
            <a:noFill/>
          </a:ln>
        </p:spPr>
        <p:txBody>
          <a:bodyPr/>
          <a:lstStyle/>
          <a:p>
            <a:endParaRPr lang="ko-KR" altLang="en-US"/>
          </a:p>
        </p:txBody>
      </p:sp>
      <p:sp>
        <p:nvSpPr>
          <p:cNvPr id="58" name="text-140">
            <a:extLst>
              <a:ext uri="{FF2B5EF4-FFF2-40B4-BE49-F238E27FC236}">
                <a16:creationId xmlns:a16="http://schemas.microsoft.com/office/drawing/2014/main" id="{F76CB227-9C87-6DD9-8C9A-ED47119B8B86}"/>
              </a:ext>
            </a:extLst>
          </p:cNvPr>
          <p:cNvSpPr>
            <a:spLocks noGrp="1"/>
          </p:cNvSpPr>
          <p:nvPr/>
        </p:nvSpPr>
        <p:spPr>
          <a:xfrm>
            <a:off x="6810375" y="4514850"/>
            <a:ext cx="4657725" cy="409575"/>
          </a:xfrm>
          <a:prstGeom prst="rect">
            <a:avLst/>
          </a:prstGeom>
          <a:noFill/>
          <a:ln w="0">
            <a:noFill/>
          </a:ln>
        </p:spPr>
        <p:txBody>
          <a:bodyPr wrap="square" lIns="0" tIns="0" rIns="0" bIns="0" anchor="ctr">
            <a:noAutofit/>
          </a:bodyPr>
          <a:lstStyle>
            <a:defPPr algn="ctr">
              <a:defRPr sz="1402">
                <a:solidFill>
                  <a:srgbClr val="004F9F"/>
                </a:solidFill>
                <a:latin typeface="에이투지체 6 SemiBold"/>
                <a:ea typeface="에이투지체 6 SemiBold"/>
                <a:cs typeface="에이투지체 6 SemiBold"/>
              </a:defRPr>
            </a:defPPr>
          </a:lstStyle>
          <a:p>
            <a:pPr algn="ctr">
              <a:defRPr sz="1402">
                <a:solidFill>
                  <a:srgbClr val="004F9F"/>
                </a:solidFill>
                <a:latin typeface="에이투지체 6 SemiBold"/>
                <a:ea typeface="에이투지체 6 SemiBold"/>
                <a:cs typeface="에이투지체 6 SemiBold"/>
              </a:defRPr>
            </a:pPr>
            <a:r>
              <a:rPr sz="1402" dirty="0" err="1">
                <a:solidFill>
                  <a:srgbClr val="004F9F"/>
                </a:solidFill>
                <a:latin typeface="에이투지체 6 SemiBold"/>
                <a:ea typeface="에이투지체 6 SemiBold"/>
                <a:cs typeface="에이투지체 6 SemiBold"/>
              </a:rPr>
              <a:t>행사</a:t>
            </a:r>
            <a:r>
              <a:rPr sz="1402" dirty="0">
                <a:solidFill>
                  <a:srgbClr val="004F9F"/>
                </a:solidFill>
                <a:latin typeface="에이투지체 6 SemiBold"/>
                <a:ea typeface="에이투지체 6 SemiBold"/>
                <a:cs typeface="에이투지체 6 SemiBold"/>
              </a:rPr>
              <a:t> 후 </a:t>
            </a:r>
            <a:r>
              <a:rPr sz="1402" dirty="0" err="1">
                <a:solidFill>
                  <a:srgbClr val="004F9F"/>
                </a:solidFill>
                <a:latin typeface="에이투지체 6 SemiBold"/>
                <a:ea typeface="에이투지체 6 SemiBold"/>
                <a:cs typeface="에이투지체 6 SemiBold"/>
              </a:rPr>
              <a:t>상시</a:t>
            </a:r>
            <a:r>
              <a:rPr sz="1402" dirty="0">
                <a:solidFill>
                  <a:srgbClr val="004F9F"/>
                </a:solidFill>
                <a:latin typeface="에이투지체 6 SemiBold"/>
                <a:ea typeface="에이투지체 6 SemiBold"/>
                <a:cs typeface="에이투지체 6 SemiBold"/>
              </a:rPr>
              <a:t> </a:t>
            </a:r>
            <a:r>
              <a:rPr sz="1402" dirty="0" err="1">
                <a:solidFill>
                  <a:srgbClr val="004F9F"/>
                </a:solidFill>
                <a:latin typeface="에이투지체 6 SemiBold"/>
                <a:ea typeface="에이투지체 6 SemiBold"/>
                <a:cs typeface="에이투지체 6 SemiBold"/>
              </a:rPr>
              <a:t>소재로</a:t>
            </a:r>
            <a:r>
              <a:rPr sz="1402" dirty="0">
                <a:solidFill>
                  <a:srgbClr val="004F9F"/>
                </a:solidFill>
                <a:latin typeface="에이투지체 6 SemiBold"/>
                <a:ea typeface="에이투지체 6 SemiBold"/>
                <a:cs typeface="에이투지체 6 SemiBold"/>
              </a:rPr>
              <a:t> </a:t>
            </a:r>
            <a:r>
              <a:rPr sz="1402" dirty="0" err="1">
                <a:solidFill>
                  <a:srgbClr val="004F9F"/>
                </a:solidFill>
                <a:latin typeface="에이투지체 6 SemiBold"/>
                <a:ea typeface="에이투지체 6 SemiBold"/>
                <a:cs typeface="에이투지체 6 SemiBold"/>
              </a:rPr>
              <a:t>복귀</a:t>
            </a:r>
            <a:r>
              <a:rPr sz="1402" dirty="0">
                <a:solidFill>
                  <a:srgbClr val="004F9F"/>
                </a:solidFill>
                <a:latin typeface="에이투지체 6 SemiBold"/>
                <a:ea typeface="에이투지체 6 SemiBold"/>
                <a:cs typeface="에이투지체 6 SemiBold"/>
              </a:rPr>
              <a:t> · </a:t>
            </a:r>
            <a:r>
              <a:rPr sz="1402" dirty="0" err="1">
                <a:solidFill>
                  <a:srgbClr val="004F9F"/>
                </a:solidFill>
                <a:latin typeface="에이투지체 6 SemiBold"/>
                <a:ea typeface="에이투지체 6 SemiBold"/>
                <a:cs typeface="에이투지체 6 SemiBold"/>
              </a:rPr>
              <a:t>학습</a:t>
            </a:r>
            <a:r>
              <a:rPr sz="1402" dirty="0">
                <a:solidFill>
                  <a:srgbClr val="004F9F"/>
                </a:solidFill>
                <a:latin typeface="에이투지체 6 SemiBold"/>
                <a:ea typeface="에이투지체 6 SemiBold"/>
                <a:cs typeface="에이투지체 6 SemiBold"/>
              </a:rPr>
              <a:t> </a:t>
            </a:r>
            <a:r>
              <a:rPr sz="1402" dirty="0" err="1">
                <a:solidFill>
                  <a:srgbClr val="004F9F"/>
                </a:solidFill>
                <a:latin typeface="에이투지체 6 SemiBold"/>
                <a:ea typeface="에이투지체 6 SemiBold"/>
                <a:cs typeface="에이투지체 6 SemiBold"/>
              </a:rPr>
              <a:t>유지</a:t>
            </a:r>
            <a:endParaRPr sz="1402" dirty="0">
              <a:solidFill>
                <a:srgbClr val="004F9F"/>
              </a:solidFill>
              <a:latin typeface="에이투지체 6 SemiBold"/>
              <a:ea typeface="에이투지체 6 SemiBold"/>
              <a:cs typeface="에이투지체 6 SemiBold"/>
            </a:endParaRPr>
          </a:p>
        </p:txBody>
      </p:sp>
      <p:sp>
        <p:nvSpPr>
          <p:cNvPr id="60" name="text-141">
            <a:extLst>
              <a:ext uri="{FF2B5EF4-FFF2-40B4-BE49-F238E27FC236}">
                <a16:creationId xmlns:a16="http://schemas.microsoft.com/office/drawing/2014/main" id="{4CF4A7B3-A725-3A2D-6799-73536EC61467}"/>
              </a:ext>
            </a:extLst>
          </p:cNvPr>
          <p:cNvSpPr>
            <a:spLocks noGrp="1"/>
          </p:cNvSpPr>
          <p:nvPr/>
        </p:nvSpPr>
        <p:spPr>
          <a:xfrm>
            <a:off x="5019675" y="3200400"/>
            <a:ext cx="1457325" cy="371475"/>
          </a:xfrm>
          <a:prstGeom prst="rect">
            <a:avLst/>
          </a:prstGeom>
          <a:noFill/>
          <a:ln w="0">
            <a:noFill/>
          </a:ln>
        </p:spPr>
        <p:txBody>
          <a:bodyPr wrap="square" lIns="0" tIns="0" rIns="0" bIns="0" anchor="ctr">
            <a:noAutofit/>
          </a:bodyPr>
          <a:lstStyle>
            <a:defPPr algn="ctr">
              <a:defRPr sz="1275">
                <a:solidFill>
                  <a:srgbClr val="004F9F"/>
                </a:solidFill>
                <a:latin typeface="에이투지체 6 SemiBold"/>
                <a:ea typeface="에이투지체 6 SemiBold"/>
                <a:cs typeface="에이투지체 6 SemiBold"/>
              </a:defRPr>
            </a:defPPr>
          </a:lstStyle>
          <a:p>
            <a:pPr algn="ctr">
              <a:defRPr sz="1275">
                <a:solidFill>
                  <a:srgbClr val="004F9F"/>
                </a:solidFill>
                <a:latin typeface="에이투지체 6 SemiBold"/>
                <a:ea typeface="에이투지체 6 SemiBold"/>
                <a:cs typeface="에이투지체 6 SemiBold"/>
              </a:defRPr>
            </a:pPr>
            <a:r>
              <a:rPr sz="1275">
                <a:solidFill>
                  <a:srgbClr val="004F9F"/>
                </a:solidFill>
                <a:latin typeface="에이투지체 6 SemiBold"/>
                <a:ea typeface="에이투지체 6 SemiBold"/>
                <a:cs typeface="에이투지체 6 SemiBold"/>
              </a:rPr>
              <a:t>블프 운영</a:t>
            </a:r>
          </a:p>
        </p:txBody>
      </p:sp>
      <p:sp>
        <p:nvSpPr>
          <p:cNvPr id="62" name="화살표: 오른쪽 61">
            <a:extLst>
              <a:ext uri="{FF2B5EF4-FFF2-40B4-BE49-F238E27FC236}">
                <a16:creationId xmlns:a16="http://schemas.microsoft.com/office/drawing/2014/main" id="{1816AA5E-1AE6-EBC2-9BC8-9BAF4288CA7A}"/>
              </a:ext>
            </a:extLst>
          </p:cNvPr>
          <p:cNvSpPr>
            <a:spLocks noGrp="1"/>
          </p:cNvSpPr>
          <p:nvPr/>
        </p:nvSpPr>
        <p:spPr>
          <a:xfrm>
            <a:off x="5276850" y="3762375"/>
            <a:ext cx="971550" cy="476250"/>
          </a:xfrm>
          <a:prstGeom prst="rightArrow">
            <a:avLst/>
          </a:prstGeom>
          <a:solidFill>
            <a:srgbClr val="004F9F"/>
          </a:solidFill>
          <a:ln w="0">
            <a:noFill/>
          </a:ln>
        </p:spPr>
        <p:txBody>
          <a:bodyPr/>
          <a:lstStyle/>
          <a:p>
            <a:endParaRPr lang="ko-KR" altLang="en-US"/>
          </a:p>
        </p:txBody>
      </p:sp>
      <p:sp>
        <p:nvSpPr>
          <p:cNvPr id="5" name="TextBox 1">
            <a:extLst>
              <a:ext uri="{FF2B5EF4-FFF2-40B4-BE49-F238E27FC236}">
                <a16:creationId xmlns:a16="http://schemas.microsoft.com/office/drawing/2014/main" id="{C1CBE8A9-D924-5817-2E22-4E8C021E7AB8}"/>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6"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27"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46</a:t>
            </a:r>
          </a:p>
        </p:txBody>
      </p:sp>
      <p:sp>
        <p:nvSpPr>
          <p:cNvPr id="2" name="text-157">
            <a:extLst>
              <a:ext uri="{FF2B5EF4-FFF2-40B4-BE49-F238E27FC236}">
                <a16:creationId xmlns:a16="http://schemas.microsoft.com/office/drawing/2014/main" id="{483020E6-F0E5-4BA0-9713-F36F37007143}"/>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메타 블프 전략</a:t>
            </a:r>
            <a:r>
              <a:rPr lang="ko-KR" sz="1900" dirty="0">
                <a:solidFill>
                  <a:srgbClr val="222222"/>
                </a:solidFill>
                <a:latin typeface="에이투지체 8 ExtraBold"/>
                <a:ea typeface="에이투지체 8 ExtraBold"/>
                <a:cs typeface="에이투지체 8 ExtraBold"/>
              </a:rPr>
              <a:t>  블프 전에 구매 학습을 끝내고</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행사 기간에는 같은 캠페인에서 예산과 소재를 늘립니다</a:t>
            </a:r>
            <a:endParaRPr lang="ko-KR" sz="1900" dirty="0"/>
          </a:p>
        </p:txBody>
      </p:sp>
      <p:sp>
        <p:nvSpPr>
          <p:cNvPr id="3" name="text-158">
            <a:extLst>
              <a:ext uri="{FF2B5EF4-FFF2-40B4-BE49-F238E27FC236}">
                <a16:creationId xmlns:a16="http://schemas.microsoft.com/office/drawing/2014/main" id="{9B408E03-7D1B-4AF3-AD4D-EE8B0FD37F6E}"/>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두드림B&amp;B 블랙프라이데이 메타 운영안</a:t>
            </a:r>
            <a:endParaRPr lang="ko-KR" sz="1100" dirty="0"/>
          </a:p>
        </p:txBody>
      </p:sp>
      <p:sp>
        <p:nvSpPr>
          <p:cNvPr id="4" name="node-159">
            <a:extLst>
              <a:ext uri="{FF2B5EF4-FFF2-40B4-BE49-F238E27FC236}">
                <a16:creationId xmlns:a16="http://schemas.microsoft.com/office/drawing/2014/main" id="{31975C1C-580A-4126-BED6-BCA0EB48BC44}"/>
              </a:ext>
            </a:extLst>
          </p:cNvPr>
          <p:cNvSpPr>
            <a:spLocks noGrp="1"/>
          </p:cNvSpPr>
          <p:nvPr/>
        </p:nvSpPr>
        <p:spPr>
          <a:xfrm>
            <a:off x="518160" y="2190750"/>
            <a:ext cx="3611880" cy="600075"/>
          </a:xfrm>
          <a:prstGeom prst="homePlate">
            <a:avLst>
              <a:gd name="adj" fmla="val 30000"/>
            </a:avLst>
          </a:prstGeom>
          <a:solidFill>
            <a:srgbClr val="EAF2FB"/>
          </a:solidFill>
          <a:ln w="0">
            <a:noFill/>
          </a:ln>
        </p:spPr>
        <p:txBody>
          <a:bodyPr/>
          <a:lstStyle/>
          <a:p>
            <a:endParaRPr lang="ko-KR" altLang="en-US"/>
          </a:p>
        </p:txBody>
      </p:sp>
      <p:sp>
        <p:nvSpPr>
          <p:cNvPr id="5" name="text-160">
            <a:extLst>
              <a:ext uri="{FF2B5EF4-FFF2-40B4-BE49-F238E27FC236}">
                <a16:creationId xmlns:a16="http://schemas.microsoft.com/office/drawing/2014/main" id="{9FEEE377-2941-4FCF-8A2F-D4DF19687C33}"/>
              </a:ext>
            </a:extLst>
          </p:cNvPr>
          <p:cNvSpPr>
            <a:spLocks noGrp="1"/>
          </p:cNvSpPr>
          <p:nvPr/>
        </p:nvSpPr>
        <p:spPr>
          <a:xfrm>
            <a:off x="742950" y="2295525"/>
            <a:ext cx="3067050" cy="390525"/>
          </a:xfrm>
          <a:prstGeom prst="rect">
            <a:avLst/>
          </a:prstGeom>
          <a:noFill/>
          <a:ln w="0">
            <a:noFill/>
          </a:ln>
        </p:spPr>
        <p:txBody>
          <a:bodyPr wrap="square" lIns="0" tIns="0" rIns="0" bIns="0" anchor="ctr">
            <a:noAutofit/>
          </a:bodyPr>
          <a:lstStyle>
            <a:defPPr algn="l">
              <a:defRPr sz="1800">
                <a:solidFill>
                  <a:srgbClr val="004F9F"/>
                </a:solidFill>
                <a:latin typeface="에이투지체 6 SemiBold"/>
                <a:ea typeface="에이투지체 6 SemiBold"/>
                <a:cs typeface="에이투지체 6 SemiBold"/>
              </a:defRPr>
            </a:defPPr>
          </a:lstStyle>
          <a:p>
            <a:pPr algn="l">
              <a:defRPr sz="1800">
                <a:solidFill>
                  <a:srgbClr val="004F9F"/>
                </a:solidFill>
                <a:latin typeface="에이투지체 6 SemiBold"/>
                <a:ea typeface="에이투지체 6 SemiBold"/>
                <a:cs typeface="에이투지체 6 SemiBold"/>
              </a:defRPr>
            </a:pPr>
            <a:r>
              <a:rPr sz="1800" dirty="0" err="1">
                <a:solidFill>
                  <a:srgbClr val="004F9F"/>
                </a:solidFill>
                <a:latin typeface="에이투지체 6 SemiBold"/>
                <a:ea typeface="에이투지체 6 SemiBold"/>
                <a:cs typeface="에이투지체 6 SemiBold"/>
              </a:rPr>
              <a:t>사전</a:t>
            </a:r>
            <a:r>
              <a:rPr sz="1800" dirty="0">
                <a:solidFill>
                  <a:srgbClr val="004F9F"/>
                </a:solidFill>
                <a:latin typeface="에이투지체 6 SemiBold"/>
                <a:ea typeface="에이투지체 6 SemiBold"/>
                <a:cs typeface="에이투지체 6 SemiBold"/>
              </a:rPr>
              <a:t>  11월 1~3주</a:t>
            </a:r>
          </a:p>
        </p:txBody>
      </p:sp>
      <p:sp>
        <p:nvSpPr>
          <p:cNvPr id="6" name="text-161">
            <a:extLst>
              <a:ext uri="{FF2B5EF4-FFF2-40B4-BE49-F238E27FC236}">
                <a16:creationId xmlns:a16="http://schemas.microsoft.com/office/drawing/2014/main" id="{E354213A-79D3-4E93-BE83-5E9EF924D61D}"/>
              </a:ext>
            </a:extLst>
          </p:cNvPr>
          <p:cNvSpPr>
            <a:spLocks noGrp="1"/>
          </p:cNvSpPr>
          <p:nvPr/>
        </p:nvSpPr>
        <p:spPr>
          <a:xfrm>
            <a:off x="552450" y="3067050"/>
            <a:ext cx="3448050" cy="409575"/>
          </a:xfrm>
          <a:prstGeom prst="rect">
            <a:avLst/>
          </a:prstGeom>
          <a:noFill/>
          <a:ln w="0">
            <a:noFill/>
          </a:ln>
        </p:spPr>
        <p:txBody>
          <a:bodyPr wrap="square" lIns="0" tIns="0" rIns="0" bIns="0" anchor="ctr">
            <a:noAutofit/>
          </a:bodyPr>
          <a:lstStyle>
            <a:defPPr algn="l">
              <a:defRPr sz="1575">
                <a:solidFill>
                  <a:srgbClr val="222222"/>
                </a:solidFill>
                <a:latin typeface="에이투지체 6 SemiBold"/>
                <a:ea typeface="에이투지체 6 SemiBold"/>
                <a:cs typeface="에이투지체 6 SemiBold"/>
              </a:defRPr>
            </a:defPPr>
          </a:lstStyle>
          <a:p>
            <a:pPr algn="l">
              <a:defRPr sz="1575">
                <a:solidFill>
                  <a:srgbClr val="222222"/>
                </a:solidFill>
                <a:latin typeface="에이투지체 6 SemiBold"/>
                <a:ea typeface="에이투지체 6 SemiBold"/>
                <a:cs typeface="에이투지체 6 SemiBold"/>
              </a:defRPr>
            </a:pPr>
            <a:r>
              <a:rPr sz="1575">
                <a:solidFill>
                  <a:srgbClr val="222222"/>
                </a:solidFill>
                <a:latin typeface="에이투지체 6 SemiBold"/>
                <a:ea typeface="에이투지체 6 SemiBold"/>
                <a:cs typeface="에이투지체 6 SemiBold"/>
              </a:rPr>
              <a:t>구매 학습 완료</a:t>
            </a:r>
          </a:p>
        </p:txBody>
      </p:sp>
      <p:sp>
        <p:nvSpPr>
          <p:cNvPr id="7" name="text-162">
            <a:extLst>
              <a:ext uri="{FF2B5EF4-FFF2-40B4-BE49-F238E27FC236}">
                <a16:creationId xmlns:a16="http://schemas.microsoft.com/office/drawing/2014/main" id="{C786BEF3-7B9E-4872-9BA3-AD517ABA3446}"/>
              </a:ext>
            </a:extLst>
          </p:cNvPr>
          <p:cNvSpPr>
            <a:spLocks noGrp="1"/>
          </p:cNvSpPr>
          <p:nvPr/>
        </p:nvSpPr>
        <p:spPr>
          <a:xfrm>
            <a:off x="552450" y="3676650"/>
            <a:ext cx="3448050" cy="952500"/>
          </a:xfrm>
          <a:prstGeom prst="rect">
            <a:avLst/>
          </a:prstGeom>
          <a:noFill/>
          <a:ln w="0">
            <a:noFill/>
          </a:ln>
        </p:spPr>
        <p:txBody>
          <a:bodyPr wrap="square" lIns="0" tIns="0" rIns="0" bIns="0" anchor="ctr">
            <a:noAutofit/>
          </a:bodyPr>
          <a:lstStyle>
            <a:defPPr algn="l">
              <a:defRPr sz="1402">
                <a:solidFill>
                  <a:srgbClr val="5C5C5C"/>
                </a:solidFill>
                <a:latin typeface="에이투지체 4 Regular"/>
                <a:ea typeface="에이투지체 4 Regular"/>
                <a:cs typeface="에이투지체 4 Regular"/>
              </a:defRPr>
            </a:defPPr>
          </a:lstStyle>
          <a:p>
            <a:pPr algn="l">
              <a:defRPr sz="1402">
                <a:solidFill>
                  <a:srgbClr val="5C5C5C"/>
                </a:solidFill>
                <a:latin typeface="에이투지체 4 Regular"/>
                <a:ea typeface="에이투지체 4 Regular"/>
                <a:cs typeface="에이투지체 4 Regular"/>
              </a:defRPr>
            </a:pPr>
            <a:r>
              <a:rPr lang="ko-KR" altLang="en-US" sz="1402" dirty="0">
                <a:solidFill>
                  <a:srgbClr val="5C5C5C"/>
                </a:solidFill>
                <a:latin typeface="에이투지체 4 Regular"/>
                <a:ea typeface="에이투지체 4 Regular"/>
                <a:cs typeface="에이투지체 4 Regular"/>
              </a:rPr>
              <a:t>브랜드별</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구매</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최적화</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캠페인</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운영</a:t>
            </a:r>
            <a:endParaRPr sz="1402" dirty="0">
              <a:solidFill>
                <a:srgbClr val="5C5C5C"/>
              </a:solidFill>
              <a:latin typeface="에이투지체 4 Regular"/>
              <a:ea typeface="에이투지체 4 Regular"/>
              <a:cs typeface="에이투지체 4 Regular"/>
            </a:endParaRPr>
          </a:p>
          <a:p>
            <a:pPr algn="l">
              <a:defRPr sz="1402">
                <a:solidFill>
                  <a:srgbClr val="5C5C5C"/>
                </a:solidFill>
                <a:latin typeface="에이투지체 4 Regular"/>
                <a:ea typeface="에이투지체 4 Regular"/>
                <a:cs typeface="에이투지체 4 Regular"/>
              </a:defRPr>
            </a:pPr>
            <a:r>
              <a:rPr sz="1402" dirty="0" err="1">
                <a:solidFill>
                  <a:srgbClr val="5C5C5C"/>
                </a:solidFill>
                <a:latin typeface="에이투지체 4 Regular"/>
                <a:ea typeface="에이투지체 4 Regular"/>
                <a:cs typeface="에이투지체 4 Regular"/>
              </a:rPr>
              <a:t>그룹은</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상품</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단위로</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압축</a:t>
            </a:r>
            <a:endParaRPr sz="1402" dirty="0">
              <a:solidFill>
                <a:srgbClr val="5C5C5C"/>
              </a:solidFill>
              <a:latin typeface="에이투지체 4 Regular"/>
              <a:ea typeface="에이투지체 4 Regular"/>
              <a:cs typeface="에이투지체 4 Regular"/>
            </a:endParaRPr>
          </a:p>
        </p:txBody>
      </p:sp>
      <p:sp>
        <p:nvSpPr>
          <p:cNvPr id="8" name="직선 연결선 7">
            <a:extLst>
              <a:ext uri="{FF2B5EF4-FFF2-40B4-BE49-F238E27FC236}">
                <a16:creationId xmlns:a16="http://schemas.microsoft.com/office/drawing/2014/main" id="{5165DEF0-21FB-4274-A338-7EF052C8D885}"/>
              </a:ext>
            </a:extLst>
          </p:cNvPr>
          <p:cNvSpPr>
            <a:spLocks noGrp="1"/>
          </p:cNvSpPr>
          <p:nvPr/>
        </p:nvSpPr>
        <p:spPr>
          <a:xfrm>
            <a:off x="552450" y="4924425"/>
            <a:ext cx="3448050" cy="0"/>
          </a:xfrm>
          <a:prstGeom prst="line">
            <a:avLst/>
          </a:prstGeom>
          <a:noFill/>
          <a:ln w="9525">
            <a:solidFill>
              <a:srgbClr val="D0D0D0"/>
            </a:solidFill>
          </a:ln>
        </p:spPr>
        <p:txBody>
          <a:bodyPr/>
          <a:lstStyle/>
          <a:p>
            <a:endParaRPr lang="ko-KR" altLang="en-US"/>
          </a:p>
        </p:txBody>
      </p:sp>
      <p:sp>
        <p:nvSpPr>
          <p:cNvPr id="9" name="text-163">
            <a:extLst>
              <a:ext uri="{FF2B5EF4-FFF2-40B4-BE49-F238E27FC236}">
                <a16:creationId xmlns:a16="http://schemas.microsoft.com/office/drawing/2014/main" id="{CA7CB7C4-D079-4EB9-A859-D1158ED6BFF1}"/>
              </a:ext>
            </a:extLst>
          </p:cNvPr>
          <p:cNvSpPr>
            <a:spLocks noGrp="1"/>
          </p:cNvSpPr>
          <p:nvPr/>
        </p:nvSpPr>
        <p:spPr>
          <a:xfrm>
            <a:off x="552450" y="5067300"/>
            <a:ext cx="3448050" cy="371475"/>
          </a:xfrm>
          <a:prstGeom prst="rect">
            <a:avLst/>
          </a:prstGeom>
          <a:noFill/>
          <a:ln w="0">
            <a:noFill/>
          </a:ln>
        </p:spPr>
        <p:txBody>
          <a:bodyPr wrap="square" lIns="0" tIns="0" rIns="0" bIns="0" anchor="ctr">
            <a:noAutofit/>
          </a:bodyPr>
          <a:lstStyle>
            <a:defPPr algn="l">
              <a:defRPr sz="1350">
                <a:solidFill>
                  <a:srgbClr val="004F9F"/>
                </a:solidFill>
                <a:latin typeface="에이투지체 6 SemiBold"/>
                <a:ea typeface="에이투지체 6 SemiBold"/>
                <a:cs typeface="에이투지체 6 SemiBold"/>
              </a:defRPr>
            </a:defPPr>
          </a:lstStyle>
          <a:p>
            <a:pPr algn="l">
              <a:defRPr sz="1350">
                <a:solidFill>
                  <a:srgbClr val="004F9F"/>
                </a:solidFill>
                <a:latin typeface="에이투지체 6 SemiBold"/>
                <a:ea typeface="에이투지체 6 SemiBold"/>
                <a:cs typeface="에이투지체 6 SemiBold"/>
              </a:defRPr>
            </a:pPr>
            <a:r>
              <a:rPr lang="ko-KR" altLang="en-US" sz="1350" dirty="0" err="1">
                <a:solidFill>
                  <a:srgbClr val="004F9F"/>
                </a:solidFill>
                <a:latin typeface="에이투지체 6 SemiBold"/>
                <a:ea typeface="에이투지체 6 SemiBold"/>
                <a:cs typeface="에이투지체 6 SemiBold"/>
              </a:rPr>
              <a:t>머신러닝</a:t>
            </a:r>
            <a:r>
              <a:rPr lang="ko-KR" altLang="en-US" sz="1350" dirty="0">
                <a:solidFill>
                  <a:srgbClr val="004F9F"/>
                </a:solidFill>
                <a:latin typeface="에이투지체 6 SemiBold"/>
                <a:ea typeface="에이투지체 6 SemiBold"/>
                <a:cs typeface="에이투지체 6 SemiBold"/>
              </a:rPr>
              <a:t> 학습</a:t>
            </a:r>
            <a:endParaRPr sz="1350" dirty="0">
              <a:solidFill>
                <a:srgbClr val="004F9F"/>
              </a:solidFill>
              <a:latin typeface="에이투지체 6 SemiBold"/>
              <a:ea typeface="에이투지체 6 SemiBold"/>
              <a:cs typeface="에이투지체 6 SemiBold"/>
            </a:endParaRPr>
          </a:p>
        </p:txBody>
      </p:sp>
      <p:sp>
        <p:nvSpPr>
          <p:cNvPr id="10" name="node-164">
            <a:extLst>
              <a:ext uri="{FF2B5EF4-FFF2-40B4-BE49-F238E27FC236}">
                <a16:creationId xmlns:a16="http://schemas.microsoft.com/office/drawing/2014/main" id="{69236DC6-B420-4340-894B-2F5EAA555286}"/>
              </a:ext>
            </a:extLst>
          </p:cNvPr>
          <p:cNvSpPr>
            <a:spLocks noGrp="1"/>
          </p:cNvSpPr>
          <p:nvPr/>
        </p:nvSpPr>
        <p:spPr>
          <a:xfrm>
            <a:off x="4328160" y="2190750"/>
            <a:ext cx="3611880" cy="600075"/>
          </a:xfrm>
          <a:prstGeom prst="chevron">
            <a:avLst>
              <a:gd name="adj" fmla="val 30000"/>
            </a:avLst>
          </a:prstGeom>
          <a:solidFill>
            <a:srgbClr val="004F9F"/>
          </a:solidFill>
          <a:ln w="0">
            <a:noFill/>
          </a:ln>
        </p:spPr>
        <p:txBody>
          <a:bodyPr/>
          <a:lstStyle/>
          <a:p>
            <a:endParaRPr lang="ko-KR" altLang="en-US"/>
          </a:p>
        </p:txBody>
      </p:sp>
      <p:sp>
        <p:nvSpPr>
          <p:cNvPr id="11" name="text-165">
            <a:extLst>
              <a:ext uri="{FF2B5EF4-FFF2-40B4-BE49-F238E27FC236}">
                <a16:creationId xmlns:a16="http://schemas.microsoft.com/office/drawing/2014/main" id="{45502AD4-D054-41A7-AD23-B701AF3C0B1A}"/>
              </a:ext>
            </a:extLst>
          </p:cNvPr>
          <p:cNvSpPr>
            <a:spLocks noGrp="1"/>
          </p:cNvSpPr>
          <p:nvPr/>
        </p:nvSpPr>
        <p:spPr>
          <a:xfrm>
            <a:off x="4552950" y="2295525"/>
            <a:ext cx="3067050" cy="390525"/>
          </a:xfrm>
          <a:prstGeom prst="rect">
            <a:avLst/>
          </a:prstGeom>
          <a:noFill/>
          <a:ln w="0">
            <a:noFill/>
          </a:ln>
        </p:spPr>
        <p:txBody>
          <a:bodyPr wrap="square" lIns="0" tIns="0" rIns="0" bIns="0" anchor="ctr">
            <a:noAutofit/>
          </a:bodyPr>
          <a:lstStyle>
            <a:defPPr algn="l">
              <a:defRPr sz="1800">
                <a:solidFill>
                  <a:srgbClr val="FFFFFF"/>
                </a:solidFill>
                <a:latin typeface="에이투지체 6 SemiBold"/>
                <a:ea typeface="에이투지체 6 SemiBold"/>
                <a:cs typeface="에이투지체 6 SemiBold"/>
              </a:defRPr>
            </a:defPPr>
          </a:lstStyle>
          <a:p>
            <a:pPr algn="l">
              <a:defRPr sz="1800">
                <a:solidFill>
                  <a:srgbClr val="FFFFFF"/>
                </a:solidFill>
                <a:latin typeface="에이투지체 6 SemiBold"/>
                <a:ea typeface="에이투지체 6 SemiBold"/>
                <a:cs typeface="에이투지체 6 SemiBold"/>
              </a:defRPr>
            </a:pPr>
            <a:r>
              <a:rPr sz="1800">
                <a:solidFill>
                  <a:srgbClr val="FFFFFF"/>
                </a:solidFill>
                <a:latin typeface="에이투지체 6 SemiBold"/>
                <a:ea typeface="에이투지체 6 SemiBold"/>
                <a:cs typeface="에이투지체 6 SemiBold"/>
              </a:rPr>
              <a:t>행사 기간</a:t>
            </a:r>
          </a:p>
        </p:txBody>
      </p:sp>
      <p:sp>
        <p:nvSpPr>
          <p:cNvPr id="12" name="text-166">
            <a:extLst>
              <a:ext uri="{FF2B5EF4-FFF2-40B4-BE49-F238E27FC236}">
                <a16:creationId xmlns:a16="http://schemas.microsoft.com/office/drawing/2014/main" id="{D0ABDA3D-7F1F-41C0-939E-1EDEDBC4AAAF}"/>
              </a:ext>
            </a:extLst>
          </p:cNvPr>
          <p:cNvSpPr>
            <a:spLocks noGrp="1"/>
          </p:cNvSpPr>
          <p:nvPr/>
        </p:nvSpPr>
        <p:spPr>
          <a:xfrm>
            <a:off x="4362450" y="3067050"/>
            <a:ext cx="3448050" cy="409575"/>
          </a:xfrm>
          <a:prstGeom prst="rect">
            <a:avLst/>
          </a:prstGeom>
          <a:noFill/>
          <a:ln w="0">
            <a:noFill/>
          </a:ln>
        </p:spPr>
        <p:txBody>
          <a:bodyPr wrap="square" lIns="0" tIns="0" rIns="0" bIns="0" anchor="ctr">
            <a:noAutofit/>
          </a:bodyPr>
          <a:lstStyle>
            <a:defPPr algn="l">
              <a:defRPr sz="1575">
                <a:solidFill>
                  <a:srgbClr val="222222"/>
                </a:solidFill>
                <a:latin typeface="에이투지체 6 SemiBold"/>
                <a:ea typeface="에이투지체 6 SemiBold"/>
                <a:cs typeface="에이투지체 6 SemiBold"/>
              </a:defRPr>
            </a:defPPr>
          </a:lstStyle>
          <a:p>
            <a:pPr algn="l">
              <a:defRPr sz="1575">
                <a:solidFill>
                  <a:srgbClr val="222222"/>
                </a:solidFill>
                <a:latin typeface="에이투지체 6 SemiBold"/>
                <a:ea typeface="에이투지체 6 SemiBold"/>
                <a:cs typeface="에이투지체 6 SemiBold"/>
              </a:defRPr>
            </a:pPr>
            <a:r>
              <a:rPr sz="1575" dirty="0" err="1">
                <a:solidFill>
                  <a:srgbClr val="222222"/>
                </a:solidFill>
                <a:latin typeface="에이투지체 6 SemiBold"/>
                <a:ea typeface="에이투지체 6 SemiBold"/>
                <a:cs typeface="에이투지체 6 SemiBold"/>
              </a:rPr>
              <a:t>블프</a:t>
            </a:r>
            <a:r>
              <a:rPr sz="1575" dirty="0">
                <a:solidFill>
                  <a:srgbClr val="222222"/>
                </a:solidFill>
                <a:latin typeface="에이투지체 6 SemiBold"/>
                <a:ea typeface="에이투지체 6 SemiBold"/>
                <a:cs typeface="에이투지체 6 SemiBold"/>
              </a:rPr>
              <a:t> </a:t>
            </a:r>
            <a:r>
              <a:rPr sz="1575" dirty="0" err="1">
                <a:solidFill>
                  <a:srgbClr val="222222"/>
                </a:solidFill>
                <a:latin typeface="에이투지체 6 SemiBold"/>
                <a:ea typeface="에이투지체 6 SemiBold"/>
                <a:cs typeface="에이투지체 6 SemiBold"/>
              </a:rPr>
              <a:t>소재</a:t>
            </a:r>
            <a:r>
              <a:rPr sz="1575" dirty="0">
                <a:solidFill>
                  <a:srgbClr val="222222"/>
                </a:solidFill>
                <a:latin typeface="에이투지체 6 SemiBold"/>
                <a:ea typeface="에이투지체 6 SemiBold"/>
                <a:cs typeface="에이투지체 6 SemiBold"/>
              </a:rPr>
              <a:t> · </a:t>
            </a:r>
            <a:r>
              <a:rPr sz="1575" dirty="0" err="1">
                <a:solidFill>
                  <a:srgbClr val="222222"/>
                </a:solidFill>
                <a:latin typeface="에이투지체 6 SemiBold"/>
                <a:ea typeface="에이투지체 6 SemiBold"/>
                <a:cs typeface="에이투지체 6 SemiBold"/>
              </a:rPr>
              <a:t>예산</a:t>
            </a:r>
            <a:r>
              <a:rPr sz="1575" dirty="0">
                <a:solidFill>
                  <a:srgbClr val="222222"/>
                </a:solidFill>
                <a:latin typeface="에이투지체 6 SemiBold"/>
                <a:ea typeface="에이투지체 6 SemiBold"/>
                <a:cs typeface="에이투지체 6 SemiBold"/>
              </a:rPr>
              <a:t> </a:t>
            </a:r>
            <a:r>
              <a:rPr sz="1575" dirty="0" err="1">
                <a:solidFill>
                  <a:srgbClr val="222222"/>
                </a:solidFill>
                <a:latin typeface="에이투지체 6 SemiBold"/>
                <a:ea typeface="에이투지체 6 SemiBold"/>
                <a:cs typeface="에이투지체 6 SemiBold"/>
              </a:rPr>
              <a:t>단계</a:t>
            </a:r>
            <a:r>
              <a:rPr sz="1575" dirty="0">
                <a:solidFill>
                  <a:srgbClr val="222222"/>
                </a:solidFill>
                <a:latin typeface="에이투지체 6 SemiBold"/>
                <a:ea typeface="에이투지체 6 SemiBold"/>
                <a:cs typeface="에이투지체 6 SemiBold"/>
              </a:rPr>
              <a:t> </a:t>
            </a:r>
            <a:r>
              <a:rPr sz="1575" dirty="0" err="1">
                <a:solidFill>
                  <a:srgbClr val="222222"/>
                </a:solidFill>
                <a:latin typeface="에이투지체 6 SemiBold"/>
                <a:ea typeface="에이투지체 6 SemiBold"/>
                <a:cs typeface="에이투지체 6 SemiBold"/>
              </a:rPr>
              <a:t>증액</a:t>
            </a:r>
            <a:endParaRPr sz="1575" dirty="0">
              <a:solidFill>
                <a:srgbClr val="222222"/>
              </a:solidFill>
              <a:latin typeface="에이투지체 6 SemiBold"/>
              <a:ea typeface="에이투지체 6 SemiBold"/>
              <a:cs typeface="에이투지체 6 SemiBold"/>
            </a:endParaRPr>
          </a:p>
        </p:txBody>
      </p:sp>
      <p:sp>
        <p:nvSpPr>
          <p:cNvPr id="13" name="text-167">
            <a:extLst>
              <a:ext uri="{FF2B5EF4-FFF2-40B4-BE49-F238E27FC236}">
                <a16:creationId xmlns:a16="http://schemas.microsoft.com/office/drawing/2014/main" id="{15EDEFDA-FE0A-49AF-8283-24C6AC96D61D}"/>
              </a:ext>
            </a:extLst>
          </p:cNvPr>
          <p:cNvSpPr>
            <a:spLocks noGrp="1"/>
          </p:cNvSpPr>
          <p:nvPr/>
        </p:nvSpPr>
        <p:spPr>
          <a:xfrm>
            <a:off x="4362450" y="3676650"/>
            <a:ext cx="3448050" cy="952500"/>
          </a:xfrm>
          <a:prstGeom prst="rect">
            <a:avLst/>
          </a:prstGeom>
          <a:noFill/>
          <a:ln w="0">
            <a:noFill/>
          </a:ln>
        </p:spPr>
        <p:txBody>
          <a:bodyPr wrap="square" lIns="0" tIns="0" rIns="0" bIns="0" anchor="ctr">
            <a:noAutofit/>
          </a:bodyPr>
          <a:lstStyle>
            <a:defPPr algn="l">
              <a:defRPr sz="1402">
                <a:solidFill>
                  <a:srgbClr val="5C5C5C"/>
                </a:solidFill>
                <a:latin typeface="에이투지체 4 Regular"/>
                <a:ea typeface="에이투지체 4 Regular"/>
                <a:cs typeface="에이투지체 4 Regular"/>
              </a:defRPr>
            </a:defPPr>
          </a:lstStyle>
          <a:p>
            <a:pPr algn="l">
              <a:defRPr sz="1402">
                <a:solidFill>
                  <a:srgbClr val="5C5C5C"/>
                </a:solidFill>
                <a:latin typeface="에이투지체 4 Regular"/>
                <a:ea typeface="에이투지체 4 Regular"/>
                <a:cs typeface="에이투지체 4 Regular"/>
              </a:defRPr>
            </a:pPr>
            <a:r>
              <a:rPr sz="1402" dirty="0" err="1">
                <a:solidFill>
                  <a:srgbClr val="5C5C5C"/>
                </a:solidFill>
                <a:latin typeface="에이투지체 4 Regular"/>
                <a:ea typeface="에이투지체 4 Regular"/>
                <a:cs typeface="에이투지체 4 Regular"/>
              </a:rPr>
              <a:t>같은</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캠페인에</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블프</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소재</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추가</a:t>
            </a:r>
            <a:endParaRPr sz="1402" dirty="0">
              <a:solidFill>
                <a:srgbClr val="5C5C5C"/>
              </a:solidFill>
              <a:latin typeface="에이투지체 4 Regular"/>
              <a:ea typeface="에이투지체 4 Regular"/>
              <a:cs typeface="에이투지체 4 Regular"/>
            </a:endParaRPr>
          </a:p>
          <a:p>
            <a:pPr algn="l">
              <a:defRPr sz="1402">
                <a:solidFill>
                  <a:srgbClr val="5C5C5C"/>
                </a:solidFill>
                <a:latin typeface="에이투지체 4 Regular"/>
                <a:ea typeface="에이투지체 4 Regular"/>
                <a:cs typeface="에이투지체 4 Regular"/>
              </a:defRPr>
            </a:pPr>
            <a:r>
              <a:rPr sz="1402" dirty="0" err="1">
                <a:solidFill>
                  <a:srgbClr val="5C5C5C"/>
                </a:solidFill>
                <a:latin typeface="에이투지체 4 Regular"/>
                <a:ea typeface="에이투지체 4 Regular"/>
                <a:cs typeface="에이투지체 4 Regular"/>
              </a:rPr>
              <a:t>슬림웨이</a:t>
            </a:r>
            <a:r>
              <a:rPr sz="1402" dirty="0">
                <a:solidFill>
                  <a:srgbClr val="5C5C5C"/>
                </a:solidFill>
                <a:latin typeface="에이투지체 4 Regular"/>
                <a:ea typeface="에이투지체 4 Regular"/>
                <a:cs typeface="에이투지체 4 Regular"/>
              </a:rPr>
              <a:t> · </a:t>
            </a:r>
            <a:r>
              <a:rPr sz="1402" dirty="0" err="1">
                <a:solidFill>
                  <a:srgbClr val="5C5C5C"/>
                </a:solidFill>
                <a:latin typeface="에이투지체 4 Regular"/>
                <a:ea typeface="에이투지체 4 Regular"/>
                <a:cs typeface="에이투지체 4 Regular"/>
              </a:rPr>
              <a:t>아이클타임</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영양제</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중심</a:t>
            </a:r>
            <a:endParaRPr sz="1402" dirty="0">
              <a:solidFill>
                <a:srgbClr val="5C5C5C"/>
              </a:solidFill>
              <a:latin typeface="에이투지체 4 Regular"/>
              <a:ea typeface="에이투지체 4 Regular"/>
              <a:cs typeface="에이투지체 4 Regular"/>
            </a:endParaRPr>
          </a:p>
          <a:p>
            <a:pPr algn="l">
              <a:defRPr sz="1402">
                <a:solidFill>
                  <a:srgbClr val="5C5C5C"/>
                </a:solidFill>
                <a:latin typeface="에이투지체 4 Regular"/>
                <a:ea typeface="에이투지체 4 Regular"/>
                <a:cs typeface="에이투지체 4 Regular"/>
              </a:defRPr>
            </a:pPr>
            <a:r>
              <a:rPr sz="1402" dirty="0" err="1">
                <a:solidFill>
                  <a:srgbClr val="5C5C5C"/>
                </a:solidFill>
                <a:latin typeface="에이투지체 4 Regular"/>
                <a:ea typeface="에이투지체 4 Regular"/>
                <a:cs typeface="에이투지체 4 Regular"/>
              </a:rPr>
              <a:t>검증된</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그룹부터</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예산</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증액</a:t>
            </a:r>
            <a:endParaRPr sz="1402" dirty="0">
              <a:solidFill>
                <a:srgbClr val="5C5C5C"/>
              </a:solidFill>
              <a:latin typeface="에이투지체 4 Regular"/>
              <a:ea typeface="에이투지체 4 Regular"/>
              <a:cs typeface="에이투지체 4 Regular"/>
            </a:endParaRPr>
          </a:p>
        </p:txBody>
      </p:sp>
      <p:sp>
        <p:nvSpPr>
          <p:cNvPr id="14" name="직선 연결선 13">
            <a:extLst>
              <a:ext uri="{FF2B5EF4-FFF2-40B4-BE49-F238E27FC236}">
                <a16:creationId xmlns:a16="http://schemas.microsoft.com/office/drawing/2014/main" id="{5E481E66-F9FB-478D-ABC9-65B16F09263D}"/>
              </a:ext>
            </a:extLst>
          </p:cNvPr>
          <p:cNvSpPr>
            <a:spLocks noGrp="1"/>
          </p:cNvSpPr>
          <p:nvPr/>
        </p:nvSpPr>
        <p:spPr>
          <a:xfrm>
            <a:off x="4362450" y="4924425"/>
            <a:ext cx="3448050" cy="0"/>
          </a:xfrm>
          <a:prstGeom prst="line">
            <a:avLst/>
          </a:prstGeom>
          <a:noFill/>
          <a:ln w="9525">
            <a:solidFill>
              <a:srgbClr val="D0D0D0"/>
            </a:solidFill>
          </a:ln>
        </p:spPr>
        <p:txBody>
          <a:bodyPr/>
          <a:lstStyle/>
          <a:p>
            <a:endParaRPr lang="ko-KR" altLang="en-US"/>
          </a:p>
        </p:txBody>
      </p:sp>
      <p:sp>
        <p:nvSpPr>
          <p:cNvPr id="15" name="text-168">
            <a:extLst>
              <a:ext uri="{FF2B5EF4-FFF2-40B4-BE49-F238E27FC236}">
                <a16:creationId xmlns:a16="http://schemas.microsoft.com/office/drawing/2014/main" id="{7876DFDA-C76B-4F1E-8309-29A3D1CAEDD7}"/>
              </a:ext>
            </a:extLst>
          </p:cNvPr>
          <p:cNvSpPr>
            <a:spLocks noGrp="1"/>
          </p:cNvSpPr>
          <p:nvPr/>
        </p:nvSpPr>
        <p:spPr>
          <a:xfrm>
            <a:off x="4362450" y="5067300"/>
            <a:ext cx="3448050" cy="371475"/>
          </a:xfrm>
          <a:prstGeom prst="rect">
            <a:avLst/>
          </a:prstGeom>
          <a:noFill/>
          <a:ln w="0">
            <a:noFill/>
          </a:ln>
        </p:spPr>
        <p:txBody>
          <a:bodyPr wrap="square" lIns="0" tIns="0" rIns="0" bIns="0" anchor="ctr">
            <a:noAutofit/>
          </a:bodyPr>
          <a:lstStyle>
            <a:defPPr algn="l">
              <a:defRPr sz="1350">
                <a:solidFill>
                  <a:srgbClr val="004F9F"/>
                </a:solidFill>
                <a:latin typeface="에이투지체 6 SemiBold"/>
                <a:ea typeface="에이투지체 6 SemiBold"/>
                <a:cs typeface="에이투지체 6 SemiBold"/>
              </a:defRPr>
            </a:defPPr>
          </a:lstStyle>
          <a:p>
            <a:pPr algn="l">
              <a:defRPr sz="1350">
                <a:solidFill>
                  <a:srgbClr val="004F9F"/>
                </a:solidFill>
                <a:latin typeface="에이투지체 6 SemiBold"/>
                <a:ea typeface="에이투지체 6 SemiBold"/>
                <a:cs typeface="에이투지체 6 SemiBold"/>
              </a:defRPr>
            </a:pPr>
            <a:r>
              <a:rPr sz="1350">
                <a:solidFill>
                  <a:srgbClr val="004F9F"/>
                </a:solidFill>
                <a:latin typeface="에이투지체 6 SemiBold"/>
                <a:ea typeface="에이투지체 6 SemiBold"/>
                <a:cs typeface="에이투지체 6 SemiBold"/>
              </a:rPr>
              <a:t>구매 ROAS · FGO 외 상품 매출</a:t>
            </a:r>
          </a:p>
        </p:txBody>
      </p:sp>
      <p:sp>
        <p:nvSpPr>
          <p:cNvPr id="16" name="node-169">
            <a:extLst>
              <a:ext uri="{FF2B5EF4-FFF2-40B4-BE49-F238E27FC236}">
                <a16:creationId xmlns:a16="http://schemas.microsoft.com/office/drawing/2014/main" id="{89A392AA-2351-4BB6-8B5C-3FE264DD62D9}"/>
              </a:ext>
            </a:extLst>
          </p:cNvPr>
          <p:cNvSpPr>
            <a:spLocks noGrp="1"/>
          </p:cNvSpPr>
          <p:nvPr/>
        </p:nvSpPr>
        <p:spPr>
          <a:xfrm>
            <a:off x="8138160" y="2190750"/>
            <a:ext cx="3611880" cy="600075"/>
          </a:xfrm>
          <a:prstGeom prst="chevron">
            <a:avLst>
              <a:gd name="adj" fmla="val 30000"/>
            </a:avLst>
          </a:prstGeom>
          <a:solidFill>
            <a:srgbClr val="EAF2FB"/>
          </a:solidFill>
          <a:ln w="0">
            <a:noFill/>
          </a:ln>
        </p:spPr>
        <p:txBody>
          <a:bodyPr/>
          <a:lstStyle/>
          <a:p>
            <a:endParaRPr lang="ko-KR" altLang="en-US"/>
          </a:p>
        </p:txBody>
      </p:sp>
      <p:sp>
        <p:nvSpPr>
          <p:cNvPr id="17" name="text-170">
            <a:extLst>
              <a:ext uri="{FF2B5EF4-FFF2-40B4-BE49-F238E27FC236}">
                <a16:creationId xmlns:a16="http://schemas.microsoft.com/office/drawing/2014/main" id="{92020BEF-C55C-4A3C-91C6-6AE8520C0E22}"/>
              </a:ext>
            </a:extLst>
          </p:cNvPr>
          <p:cNvSpPr>
            <a:spLocks noGrp="1"/>
          </p:cNvSpPr>
          <p:nvPr/>
        </p:nvSpPr>
        <p:spPr>
          <a:xfrm>
            <a:off x="8362950" y="2295525"/>
            <a:ext cx="3067050" cy="390525"/>
          </a:xfrm>
          <a:prstGeom prst="rect">
            <a:avLst/>
          </a:prstGeom>
          <a:noFill/>
          <a:ln w="0">
            <a:noFill/>
          </a:ln>
        </p:spPr>
        <p:txBody>
          <a:bodyPr wrap="square" lIns="0" tIns="0" rIns="0" bIns="0" anchor="ctr">
            <a:noAutofit/>
          </a:bodyPr>
          <a:lstStyle>
            <a:defPPr algn="l">
              <a:defRPr sz="1800">
                <a:solidFill>
                  <a:srgbClr val="004F9F"/>
                </a:solidFill>
                <a:latin typeface="에이투지체 6 SemiBold"/>
                <a:ea typeface="에이투지체 6 SemiBold"/>
                <a:cs typeface="에이투지체 6 SemiBold"/>
              </a:defRPr>
            </a:defPPr>
          </a:lstStyle>
          <a:p>
            <a:pPr algn="l">
              <a:defRPr sz="1800">
                <a:solidFill>
                  <a:srgbClr val="004F9F"/>
                </a:solidFill>
                <a:latin typeface="에이투지체 6 SemiBold"/>
                <a:ea typeface="에이투지체 6 SemiBold"/>
                <a:cs typeface="에이투지체 6 SemiBold"/>
              </a:defRPr>
            </a:pPr>
            <a:r>
              <a:rPr sz="1800">
                <a:solidFill>
                  <a:srgbClr val="004F9F"/>
                </a:solidFill>
                <a:latin typeface="에이투지체 6 SemiBold"/>
                <a:ea typeface="에이투지체 6 SemiBold"/>
                <a:cs typeface="에이투지체 6 SemiBold"/>
              </a:rPr>
              <a:t>행사 후</a:t>
            </a:r>
          </a:p>
        </p:txBody>
      </p:sp>
      <p:sp>
        <p:nvSpPr>
          <p:cNvPr id="18" name="text-171">
            <a:extLst>
              <a:ext uri="{FF2B5EF4-FFF2-40B4-BE49-F238E27FC236}">
                <a16:creationId xmlns:a16="http://schemas.microsoft.com/office/drawing/2014/main" id="{CDD8BB85-B1F3-4A22-A7F1-08F6B008D83D}"/>
              </a:ext>
            </a:extLst>
          </p:cNvPr>
          <p:cNvSpPr>
            <a:spLocks noGrp="1"/>
          </p:cNvSpPr>
          <p:nvPr/>
        </p:nvSpPr>
        <p:spPr>
          <a:xfrm>
            <a:off x="8172450" y="3067050"/>
            <a:ext cx="3448050" cy="409575"/>
          </a:xfrm>
          <a:prstGeom prst="rect">
            <a:avLst/>
          </a:prstGeom>
          <a:noFill/>
          <a:ln w="0">
            <a:noFill/>
          </a:ln>
        </p:spPr>
        <p:txBody>
          <a:bodyPr wrap="square" lIns="0" tIns="0" rIns="0" bIns="0" anchor="ctr">
            <a:noAutofit/>
          </a:bodyPr>
          <a:lstStyle>
            <a:defPPr algn="l">
              <a:defRPr sz="1575">
                <a:solidFill>
                  <a:srgbClr val="222222"/>
                </a:solidFill>
                <a:latin typeface="에이투지체 6 SemiBold"/>
                <a:ea typeface="에이투지체 6 SemiBold"/>
                <a:cs typeface="에이투지체 6 SemiBold"/>
              </a:defRPr>
            </a:defPPr>
          </a:lstStyle>
          <a:p>
            <a:pPr algn="l">
              <a:defRPr sz="1575">
                <a:solidFill>
                  <a:srgbClr val="222222"/>
                </a:solidFill>
                <a:latin typeface="에이투지체 6 SemiBold"/>
                <a:ea typeface="에이투지체 6 SemiBold"/>
                <a:cs typeface="에이투지체 6 SemiBold"/>
              </a:defRPr>
            </a:pPr>
            <a:r>
              <a:rPr sz="1575" dirty="0" err="1">
                <a:solidFill>
                  <a:srgbClr val="222222"/>
                </a:solidFill>
                <a:latin typeface="에이투지체 6 SemiBold"/>
                <a:ea typeface="에이투지체 6 SemiBold"/>
                <a:cs typeface="에이투지체 6 SemiBold"/>
              </a:rPr>
              <a:t>미구매</a:t>
            </a:r>
            <a:r>
              <a:rPr sz="1575" dirty="0">
                <a:solidFill>
                  <a:srgbClr val="222222"/>
                </a:solidFill>
                <a:latin typeface="에이투지체 6 SemiBold"/>
                <a:ea typeface="에이투지체 6 SemiBold"/>
                <a:cs typeface="에이투지체 6 SemiBold"/>
              </a:rPr>
              <a:t> </a:t>
            </a:r>
            <a:r>
              <a:rPr sz="1575" dirty="0" err="1">
                <a:solidFill>
                  <a:srgbClr val="222222"/>
                </a:solidFill>
                <a:latin typeface="에이투지체 6 SemiBold"/>
                <a:ea typeface="에이투지체 6 SemiBold"/>
                <a:cs typeface="에이투지체 6 SemiBold"/>
              </a:rPr>
              <a:t>고객</a:t>
            </a:r>
            <a:r>
              <a:rPr sz="1575" dirty="0">
                <a:solidFill>
                  <a:srgbClr val="222222"/>
                </a:solidFill>
                <a:latin typeface="에이투지체 6 SemiBold"/>
                <a:ea typeface="에이투지체 6 SemiBold"/>
                <a:cs typeface="에이투지체 6 SemiBold"/>
              </a:rPr>
              <a:t> </a:t>
            </a:r>
            <a:r>
              <a:rPr sz="1575" dirty="0" err="1">
                <a:solidFill>
                  <a:srgbClr val="222222"/>
                </a:solidFill>
                <a:latin typeface="에이투지체 6 SemiBold"/>
                <a:ea typeface="에이투지체 6 SemiBold"/>
                <a:cs typeface="에이투지체 6 SemiBold"/>
              </a:rPr>
              <a:t>회수</a:t>
            </a:r>
            <a:endParaRPr sz="1575" dirty="0">
              <a:solidFill>
                <a:srgbClr val="222222"/>
              </a:solidFill>
              <a:latin typeface="에이투지체 6 SemiBold"/>
              <a:ea typeface="에이투지체 6 SemiBold"/>
              <a:cs typeface="에이투지체 6 SemiBold"/>
            </a:endParaRPr>
          </a:p>
        </p:txBody>
      </p:sp>
      <p:sp>
        <p:nvSpPr>
          <p:cNvPr id="19" name="text-172">
            <a:extLst>
              <a:ext uri="{FF2B5EF4-FFF2-40B4-BE49-F238E27FC236}">
                <a16:creationId xmlns:a16="http://schemas.microsoft.com/office/drawing/2014/main" id="{C896E230-18D2-4685-972D-CBE5F175D7CB}"/>
              </a:ext>
            </a:extLst>
          </p:cNvPr>
          <p:cNvSpPr>
            <a:spLocks noGrp="1"/>
          </p:cNvSpPr>
          <p:nvPr/>
        </p:nvSpPr>
        <p:spPr>
          <a:xfrm>
            <a:off x="8172450" y="3676650"/>
            <a:ext cx="3448050" cy="952500"/>
          </a:xfrm>
          <a:prstGeom prst="rect">
            <a:avLst/>
          </a:prstGeom>
          <a:noFill/>
          <a:ln w="0">
            <a:noFill/>
          </a:ln>
        </p:spPr>
        <p:txBody>
          <a:bodyPr wrap="square" lIns="0" tIns="0" rIns="0" bIns="0" anchor="ctr">
            <a:noAutofit/>
          </a:bodyPr>
          <a:lstStyle>
            <a:defPPr algn="l">
              <a:defRPr sz="1402">
                <a:solidFill>
                  <a:srgbClr val="5C5C5C"/>
                </a:solidFill>
                <a:latin typeface="에이투지체 4 Regular"/>
                <a:ea typeface="에이투지체 4 Regular"/>
                <a:cs typeface="에이투지체 4 Regular"/>
              </a:defRPr>
            </a:defPPr>
          </a:lstStyle>
          <a:p>
            <a:pPr algn="l">
              <a:defRPr sz="1402">
                <a:solidFill>
                  <a:srgbClr val="5C5C5C"/>
                </a:solidFill>
                <a:latin typeface="에이투지체 4 Regular"/>
                <a:ea typeface="에이투지체 4 Regular"/>
                <a:cs typeface="에이투지체 4 Regular"/>
              </a:defRPr>
            </a:pPr>
            <a:r>
              <a:rPr sz="1402" dirty="0" err="1">
                <a:solidFill>
                  <a:srgbClr val="5C5C5C"/>
                </a:solidFill>
                <a:latin typeface="에이투지체 4 Regular"/>
                <a:ea typeface="에이투지체 4 Regular"/>
                <a:cs typeface="에이투지체 4 Regular"/>
              </a:rPr>
              <a:t>방문</a:t>
            </a:r>
            <a:r>
              <a:rPr sz="1402" dirty="0">
                <a:solidFill>
                  <a:srgbClr val="5C5C5C"/>
                </a:solidFill>
                <a:latin typeface="에이투지체 4 Regular"/>
                <a:ea typeface="에이투지체 4 Regular"/>
                <a:cs typeface="에이투지체 4 Regular"/>
              </a:rPr>
              <a:t> · </a:t>
            </a:r>
            <a:r>
              <a:rPr sz="1402" dirty="0" err="1">
                <a:solidFill>
                  <a:srgbClr val="5C5C5C"/>
                </a:solidFill>
                <a:latin typeface="에이투지체 4 Regular"/>
                <a:ea typeface="에이투지체 4 Regular"/>
                <a:cs typeface="에이투지체 4 Regular"/>
              </a:rPr>
              <a:t>미구매</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고객</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리타겟</a:t>
            </a:r>
            <a:endParaRPr sz="1402" dirty="0">
              <a:solidFill>
                <a:srgbClr val="5C5C5C"/>
              </a:solidFill>
              <a:latin typeface="에이투지체 4 Regular"/>
              <a:ea typeface="에이투지체 4 Regular"/>
              <a:cs typeface="에이투지체 4 Regular"/>
            </a:endParaRPr>
          </a:p>
          <a:p>
            <a:pPr algn="l">
              <a:defRPr sz="1402">
                <a:solidFill>
                  <a:srgbClr val="5C5C5C"/>
                </a:solidFill>
                <a:latin typeface="에이투지체 4 Regular"/>
                <a:ea typeface="에이투지체 4 Regular"/>
                <a:cs typeface="에이투지체 4 Regular"/>
              </a:defRPr>
            </a:pPr>
            <a:r>
              <a:rPr sz="1402" dirty="0" err="1">
                <a:solidFill>
                  <a:srgbClr val="5C5C5C"/>
                </a:solidFill>
                <a:latin typeface="에이투지체 4 Regular"/>
                <a:ea typeface="에이투지체 4 Regular"/>
                <a:cs typeface="에이투지체 4 Regular"/>
              </a:rPr>
              <a:t>블프</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소재</a:t>
            </a:r>
            <a:r>
              <a:rPr sz="1402" dirty="0">
                <a:solidFill>
                  <a:srgbClr val="5C5C5C"/>
                </a:solidFill>
                <a:latin typeface="에이투지체 4 Regular"/>
                <a:ea typeface="에이투지체 4 Regular"/>
                <a:cs typeface="에이투지체 4 Regular"/>
              </a:rPr>
              <a:t> OFF, </a:t>
            </a:r>
            <a:r>
              <a:rPr sz="1402" dirty="0" err="1">
                <a:solidFill>
                  <a:srgbClr val="5C5C5C"/>
                </a:solidFill>
                <a:latin typeface="에이투지체 4 Regular"/>
                <a:ea typeface="에이투지체 4 Regular"/>
                <a:cs typeface="에이투지체 4 Regular"/>
              </a:rPr>
              <a:t>상시</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소재</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복귀</a:t>
            </a:r>
            <a:endParaRPr sz="1402" dirty="0">
              <a:solidFill>
                <a:srgbClr val="5C5C5C"/>
              </a:solidFill>
              <a:latin typeface="에이투지체 4 Regular"/>
              <a:ea typeface="에이투지체 4 Regular"/>
              <a:cs typeface="에이투지체 4 Regular"/>
            </a:endParaRPr>
          </a:p>
          <a:p>
            <a:pPr algn="l">
              <a:defRPr sz="1402">
                <a:solidFill>
                  <a:srgbClr val="5C5C5C"/>
                </a:solidFill>
                <a:latin typeface="에이투지체 4 Regular"/>
                <a:ea typeface="에이투지체 4 Regular"/>
                <a:cs typeface="에이투지체 4 Regular"/>
              </a:defRPr>
            </a:pPr>
            <a:r>
              <a:rPr sz="1402" dirty="0" err="1">
                <a:solidFill>
                  <a:srgbClr val="5C5C5C"/>
                </a:solidFill>
                <a:latin typeface="에이투지체 4 Regular"/>
                <a:ea typeface="에이투지체 4 Regular"/>
                <a:cs typeface="에이투지체 4 Regular"/>
              </a:rPr>
              <a:t>캠페인은</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유지해</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학습</a:t>
            </a:r>
            <a:r>
              <a:rPr sz="1402" dirty="0">
                <a:solidFill>
                  <a:srgbClr val="5C5C5C"/>
                </a:solidFill>
                <a:latin typeface="에이투지체 4 Regular"/>
                <a:ea typeface="에이투지체 4 Regular"/>
                <a:cs typeface="에이투지체 4 Regular"/>
              </a:rPr>
              <a:t> </a:t>
            </a:r>
            <a:r>
              <a:rPr sz="1402" dirty="0" err="1">
                <a:solidFill>
                  <a:srgbClr val="5C5C5C"/>
                </a:solidFill>
                <a:latin typeface="에이투지체 4 Regular"/>
                <a:ea typeface="에이투지체 4 Regular"/>
                <a:cs typeface="에이투지체 4 Regular"/>
              </a:rPr>
              <a:t>이어가기</a:t>
            </a:r>
            <a:endParaRPr sz="1402" dirty="0">
              <a:solidFill>
                <a:srgbClr val="5C5C5C"/>
              </a:solidFill>
              <a:latin typeface="에이투지체 4 Regular"/>
              <a:ea typeface="에이투지체 4 Regular"/>
              <a:cs typeface="에이투지체 4 Regular"/>
            </a:endParaRPr>
          </a:p>
        </p:txBody>
      </p:sp>
      <p:sp>
        <p:nvSpPr>
          <p:cNvPr id="20" name="직선 연결선 19">
            <a:extLst>
              <a:ext uri="{FF2B5EF4-FFF2-40B4-BE49-F238E27FC236}">
                <a16:creationId xmlns:a16="http://schemas.microsoft.com/office/drawing/2014/main" id="{790A093D-09BE-4112-A6FE-C7FF06391873}"/>
              </a:ext>
            </a:extLst>
          </p:cNvPr>
          <p:cNvSpPr>
            <a:spLocks noGrp="1"/>
          </p:cNvSpPr>
          <p:nvPr/>
        </p:nvSpPr>
        <p:spPr>
          <a:xfrm>
            <a:off x="8172450" y="4924425"/>
            <a:ext cx="3448050" cy="0"/>
          </a:xfrm>
          <a:prstGeom prst="line">
            <a:avLst/>
          </a:prstGeom>
          <a:noFill/>
          <a:ln w="9525">
            <a:solidFill>
              <a:srgbClr val="D0D0D0"/>
            </a:solidFill>
          </a:ln>
        </p:spPr>
        <p:txBody>
          <a:bodyPr/>
          <a:lstStyle/>
          <a:p>
            <a:endParaRPr lang="ko-KR" altLang="en-US"/>
          </a:p>
        </p:txBody>
      </p:sp>
      <p:sp>
        <p:nvSpPr>
          <p:cNvPr id="21" name="text-173">
            <a:extLst>
              <a:ext uri="{FF2B5EF4-FFF2-40B4-BE49-F238E27FC236}">
                <a16:creationId xmlns:a16="http://schemas.microsoft.com/office/drawing/2014/main" id="{C5241276-359D-47C6-B2DB-463B1FE52F6E}"/>
              </a:ext>
            </a:extLst>
          </p:cNvPr>
          <p:cNvSpPr>
            <a:spLocks noGrp="1"/>
          </p:cNvSpPr>
          <p:nvPr/>
        </p:nvSpPr>
        <p:spPr>
          <a:xfrm>
            <a:off x="8172450" y="5067300"/>
            <a:ext cx="3448050" cy="371475"/>
          </a:xfrm>
          <a:prstGeom prst="rect">
            <a:avLst/>
          </a:prstGeom>
          <a:noFill/>
          <a:ln w="0">
            <a:noFill/>
          </a:ln>
        </p:spPr>
        <p:txBody>
          <a:bodyPr wrap="square" lIns="0" tIns="0" rIns="0" bIns="0" anchor="ctr">
            <a:noAutofit/>
          </a:bodyPr>
          <a:lstStyle>
            <a:defPPr algn="l">
              <a:defRPr sz="1350">
                <a:solidFill>
                  <a:srgbClr val="004F9F"/>
                </a:solidFill>
                <a:latin typeface="에이투지체 6 SemiBold"/>
                <a:ea typeface="에이투지체 6 SemiBold"/>
                <a:cs typeface="에이투지체 6 SemiBold"/>
              </a:defRPr>
            </a:defPPr>
          </a:lstStyle>
          <a:p>
            <a:pPr algn="l">
              <a:defRPr sz="1350">
                <a:solidFill>
                  <a:srgbClr val="004F9F"/>
                </a:solidFill>
                <a:latin typeface="에이투지체 6 SemiBold"/>
                <a:ea typeface="에이투지체 6 SemiBold"/>
                <a:cs typeface="에이투지체 6 SemiBold"/>
              </a:defRPr>
            </a:pPr>
            <a:r>
              <a:rPr sz="1350" dirty="0" err="1">
                <a:solidFill>
                  <a:srgbClr val="004F9F"/>
                </a:solidFill>
                <a:latin typeface="에이투지체 6 SemiBold"/>
                <a:ea typeface="에이투지체 6 SemiBold"/>
                <a:cs typeface="에이투지체 6 SemiBold"/>
              </a:rPr>
              <a:t>행사</a:t>
            </a:r>
            <a:r>
              <a:rPr sz="1350" dirty="0">
                <a:solidFill>
                  <a:srgbClr val="004F9F"/>
                </a:solidFill>
                <a:latin typeface="에이투지체 6 SemiBold"/>
                <a:ea typeface="에이투지체 6 SemiBold"/>
                <a:cs typeface="에이투지체 6 SemiBold"/>
              </a:rPr>
              <a:t> 후 </a:t>
            </a:r>
            <a:r>
              <a:rPr lang="ko-KR" altLang="en-US" sz="1350" dirty="0">
                <a:solidFill>
                  <a:srgbClr val="004F9F"/>
                </a:solidFill>
                <a:latin typeface="에이투지체 6 SemiBold"/>
                <a:ea typeface="에이투지체 6 SemiBold"/>
                <a:cs typeface="에이투지체 6 SemiBold"/>
              </a:rPr>
              <a:t>구매 </a:t>
            </a:r>
            <a:r>
              <a:rPr lang="en-US" altLang="ko-KR" sz="1350" dirty="0">
                <a:solidFill>
                  <a:srgbClr val="004F9F"/>
                </a:solidFill>
                <a:latin typeface="에이투지체 6 SemiBold"/>
                <a:ea typeface="에이투지체 6 SemiBold"/>
                <a:cs typeface="에이투지체 6 SemiBold"/>
              </a:rPr>
              <a:t>ROAS</a:t>
            </a:r>
            <a:endParaRPr sz="1350" dirty="0">
              <a:solidFill>
                <a:srgbClr val="004F9F"/>
              </a:solidFill>
              <a:latin typeface="에이투지체 6 SemiBold"/>
              <a:ea typeface="에이투지체 6 SemiBold"/>
              <a:cs typeface="에이투지체 6 SemiBold"/>
            </a:endParaRPr>
          </a:p>
        </p:txBody>
      </p:sp>
      <p:sp>
        <p:nvSpPr>
          <p:cNvPr id="22" name="node-174">
            <a:extLst>
              <a:ext uri="{FF2B5EF4-FFF2-40B4-BE49-F238E27FC236}">
                <a16:creationId xmlns:a16="http://schemas.microsoft.com/office/drawing/2014/main" id="{5F4DF587-0433-42AB-9C9D-626DB7BA64F9}"/>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23" name="text-175">
            <a:extLst>
              <a:ext uri="{FF2B5EF4-FFF2-40B4-BE49-F238E27FC236}">
                <a16:creationId xmlns:a16="http://schemas.microsoft.com/office/drawing/2014/main" id="{8156FC41-2C72-486C-990E-B80FB8D7BB4F}"/>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행사 고객의 구매 신호도 같은 캠페인에 쌓여, 블프 이후 상시 성과로 이어집니다</a:t>
            </a:r>
          </a:p>
        </p:txBody>
      </p:sp>
      <p:sp>
        <p:nvSpPr>
          <p:cNvPr id="31" name="TextBox 1">
            <a:extLst>
              <a:ext uri="{FF2B5EF4-FFF2-40B4-BE49-F238E27FC236}">
                <a16:creationId xmlns:a16="http://schemas.microsoft.com/office/drawing/2014/main" id="{4CCFDBDE-574D-C536-FFAD-E7872F4E5915}"/>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9"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0"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1" name="PGNO"/>
          <p:cNvSpPr txBox="1"/>
          <p:nvPr/>
        </p:nvSpPr>
        <p:spPr>
          <a:xfrm>
            <a:off x="11292840" y="6473952"/>
            <a:ext cx="365760" cy="123111"/>
          </a:xfrm>
          <a:prstGeom prst="rect">
            <a:avLst/>
          </a:prstGeom>
          <a:noFill/>
        </p:spPr>
        <p:txBody>
          <a:bodyPr wrap="square" lIns="0" tIns="0" rIns="0" bIns="0" anchor="t">
            <a:spAutoFit/>
          </a:bodyPr>
          <a:lstStyle/>
          <a:p>
            <a:pPr algn="r"/>
            <a:r>
              <a:rPr lang="en-US" sz="800" dirty="0">
                <a:solidFill>
                  <a:srgbClr val="222222"/>
                </a:solidFill>
                <a:latin typeface="에이투지체 6 SemiBold"/>
              </a:rPr>
              <a:t>47</a:t>
            </a:r>
            <a:endParaRPr sz="800" dirty="0">
              <a:solidFill>
                <a:srgbClr val="222222"/>
              </a:solidFill>
              <a:latin typeface="에이투지체 6 SemiBold"/>
            </a:endParaRPr>
          </a:p>
        </p:txBody>
      </p:sp>
      <p:sp>
        <p:nvSpPr>
          <p:cNvPr id="2" name="text-272">
            <a:extLst>
              <a:ext uri="{FF2B5EF4-FFF2-40B4-BE49-F238E27FC236}">
                <a16:creationId xmlns:a16="http://schemas.microsoft.com/office/drawing/2014/main" id="{E01913E9-959D-4D04-A222-60110AF65063}"/>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넾다세일 · 브랜드데이 · 두드림 블프</a:t>
            </a:r>
            <a:r>
              <a:rPr lang="ko-KR" sz="1900" dirty="0">
                <a:solidFill>
                  <a:srgbClr val="222222"/>
                </a:solidFill>
                <a:latin typeface="에이투지체 8 ExtraBold"/>
                <a:ea typeface="에이투지체 8 ExtraBold"/>
                <a:cs typeface="에이투지체 8 ExtraBold"/>
              </a:rPr>
              <a:t>를</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같은 행사 운영 체계로 연결합니다</a:t>
            </a:r>
            <a:endParaRPr lang="ko-KR" sz="1900" dirty="0"/>
          </a:p>
        </p:txBody>
      </p:sp>
      <p:sp>
        <p:nvSpPr>
          <p:cNvPr id="3" name="text-273">
            <a:extLst>
              <a:ext uri="{FF2B5EF4-FFF2-40B4-BE49-F238E27FC236}">
                <a16:creationId xmlns:a16="http://schemas.microsoft.com/office/drawing/2014/main" id="{D3FA6A61-A0FD-41E5-B1E0-E4453E2A7337}"/>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네이버 행사 연동 운영</a:t>
            </a:r>
            <a:endParaRPr lang="ko-KR" sz="1100" dirty="0"/>
          </a:p>
        </p:txBody>
      </p:sp>
      <p:sp>
        <p:nvSpPr>
          <p:cNvPr id="5" name="node-274">
            <a:extLst>
              <a:ext uri="{FF2B5EF4-FFF2-40B4-BE49-F238E27FC236}">
                <a16:creationId xmlns:a16="http://schemas.microsoft.com/office/drawing/2014/main" id="{AA50D699-EE35-4D50-856E-D3ABA6794DBF}"/>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6" name="text-275">
            <a:extLst>
              <a:ext uri="{FF2B5EF4-FFF2-40B4-BE49-F238E27FC236}">
                <a16:creationId xmlns:a16="http://schemas.microsoft.com/office/drawing/2014/main" id="{414C2C71-DAD3-4C46-A121-8F7BBBFEE323}"/>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월초 구조 개편과 학습을 선행하고, 행사 일정에 맞춰 확보한 고객을 구매로 연결합니다</a:t>
            </a:r>
          </a:p>
        </p:txBody>
      </p:sp>
      <p:sp>
        <p:nvSpPr>
          <p:cNvPr id="7" name="text-276">
            <a:extLst>
              <a:ext uri="{FF2B5EF4-FFF2-40B4-BE49-F238E27FC236}">
                <a16:creationId xmlns:a16="http://schemas.microsoft.com/office/drawing/2014/main" id="{1039C220-3127-4B9C-8C70-EDB110420EE2}"/>
              </a:ext>
            </a:extLst>
          </p:cNvPr>
          <p:cNvSpPr>
            <a:spLocks noGrp="1"/>
          </p:cNvSpPr>
          <p:nvPr/>
        </p:nvSpPr>
        <p:spPr>
          <a:xfrm>
            <a:off x="552450" y="6076950"/>
            <a:ext cx="11049000" cy="266700"/>
          </a:xfrm>
          <a:prstGeom prst="rect">
            <a:avLst/>
          </a:prstGeom>
          <a:noFill/>
          <a:ln w="0">
            <a:noFill/>
          </a:ln>
        </p:spPr>
        <p:txBody>
          <a:bodyPr wrap="square" lIns="0" tIns="0" rIns="0" bIns="0" anchor="ctr">
            <a:noAutofit/>
          </a:bodyPr>
          <a:lstStyle>
            <a:defPPr algn="l">
              <a:defRPr sz="878">
                <a:solidFill>
                  <a:srgbClr val="5C5C5C"/>
                </a:solidFill>
                <a:latin typeface="에이투지체 4 Regular"/>
                <a:ea typeface="에이투지체 4 Regular"/>
                <a:cs typeface="에이투지체 4 Regular"/>
              </a:defRPr>
            </a:defPPr>
          </a:lstStyle>
          <a:p>
            <a:pPr algn="l">
              <a:defRPr sz="878">
                <a:solidFill>
                  <a:srgbClr val="5C5C5C"/>
                </a:solidFill>
                <a:latin typeface="에이투지체 4 Regular"/>
                <a:ea typeface="에이투지체 4 Regular"/>
                <a:cs typeface="에이투지체 4 Regular"/>
              </a:defRPr>
            </a:pPr>
            <a:r>
              <a:rPr sz="878">
                <a:solidFill>
                  <a:srgbClr val="5C5C5C"/>
                </a:solidFill>
                <a:latin typeface="에이투지체 4 Regular"/>
                <a:ea typeface="에이투지체 4 Regular"/>
                <a:cs typeface="에이투지체 4 Regular"/>
              </a:rPr>
              <a:t>2026년 행사 일정·참여 조건은 확정 후 반영. 전년도 일정을 올해의 확정 일정으로 사용하지 않습니다</a:t>
            </a:r>
          </a:p>
        </p:txBody>
      </p:sp>
      <p:sp>
        <p:nvSpPr>
          <p:cNvPr id="12" name="Pentagon 11"/>
          <p:cNvSpPr/>
          <p:nvPr/>
        </p:nvSpPr>
        <p:spPr>
          <a:xfrm>
            <a:off x="2011680" y="2084831"/>
            <a:ext cx="2468880" cy="420624"/>
          </a:xfrm>
          <a:prstGeom prst="homePlate">
            <a:avLst>
              <a:gd name="adj" fmla="val 32000"/>
            </a:avLst>
          </a:prstGeom>
          <a:solidFill>
            <a:srgbClr val="C9DB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148840" y="2084831"/>
            <a:ext cx="2176272" cy="420624"/>
          </a:xfrm>
          <a:prstGeom prst="rect">
            <a:avLst/>
          </a:prstGeom>
          <a:noFill/>
        </p:spPr>
        <p:txBody>
          <a:bodyPr wrap="square" lIns="0" tIns="0" rIns="0" bIns="0" anchor="ctr">
            <a:spAutoFit/>
          </a:bodyPr>
          <a:lstStyle/>
          <a:p>
            <a:pPr algn="ctr">
              <a:spcAft>
                <a:spcPts val="300"/>
              </a:spcAft>
            </a:pPr>
            <a:r>
              <a:rPr sz="1200">
                <a:solidFill>
                  <a:srgbClr val="0E3A72"/>
                </a:solidFill>
                <a:latin typeface="에이투지체 6 SemiBold"/>
                <a:ea typeface="에이투지체 6 SemiBold"/>
              </a:rPr>
              <a:t>사전 준비</a:t>
            </a:r>
          </a:p>
        </p:txBody>
      </p:sp>
      <p:sp>
        <p:nvSpPr>
          <p:cNvPr id="14" name="Chevron 13"/>
          <p:cNvSpPr/>
          <p:nvPr/>
        </p:nvSpPr>
        <p:spPr>
          <a:xfrm>
            <a:off x="4425696" y="2084831"/>
            <a:ext cx="2468880" cy="420624"/>
          </a:xfrm>
          <a:prstGeom prst="chevron">
            <a:avLst>
              <a:gd name="adj" fmla="val 32000"/>
            </a:avLst>
          </a:prstGeom>
          <a:solidFill>
            <a:srgbClr val="8FB8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62856" y="2084831"/>
            <a:ext cx="2176272" cy="420624"/>
          </a:xfrm>
          <a:prstGeom prst="rect">
            <a:avLst/>
          </a:prstGeom>
          <a:noFill/>
        </p:spPr>
        <p:txBody>
          <a:bodyPr wrap="square" lIns="0" tIns="0" rIns="0" bIns="0" anchor="ctr">
            <a:spAutoFit/>
          </a:bodyPr>
          <a:lstStyle/>
          <a:p>
            <a:pPr algn="ctr">
              <a:spcAft>
                <a:spcPts val="300"/>
              </a:spcAft>
            </a:pPr>
            <a:r>
              <a:rPr sz="1200">
                <a:solidFill>
                  <a:srgbClr val="0E3A72"/>
                </a:solidFill>
                <a:latin typeface="에이투지체 6 SemiBold"/>
                <a:ea typeface="에이투지체 6 SemiBold"/>
              </a:rPr>
              <a:t>행사 전</a:t>
            </a:r>
          </a:p>
        </p:txBody>
      </p:sp>
      <p:sp>
        <p:nvSpPr>
          <p:cNvPr id="16" name="Chevron 15"/>
          <p:cNvSpPr/>
          <p:nvPr/>
        </p:nvSpPr>
        <p:spPr>
          <a:xfrm>
            <a:off x="6839712" y="2084831"/>
            <a:ext cx="2468880" cy="420624"/>
          </a:xfrm>
          <a:prstGeom prst="chevron">
            <a:avLst>
              <a:gd name="adj" fmla="val 32000"/>
            </a:avLst>
          </a:prstGeom>
          <a:solidFill>
            <a:srgbClr val="2E6B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76872" y="2084831"/>
            <a:ext cx="2176272" cy="420624"/>
          </a:xfrm>
          <a:prstGeom prst="rect">
            <a:avLst/>
          </a:prstGeom>
          <a:noFill/>
        </p:spPr>
        <p:txBody>
          <a:bodyPr wrap="square" lIns="0" tIns="0" rIns="0" bIns="0" anchor="ctr">
            <a:spAutoFit/>
          </a:bodyPr>
          <a:lstStyle/>
          <a:p>
            <a:pPr algn="ctr">
              <a:spcAft>
                <a:spcPts val="300"/>
              </a:spcAft>
            </a:pPr>
            <a:r>
              <a:rPr sz="1200">
                <a:solidFill>
                  <a:srgbClr val="FFFFFF"/>
                </a:solidFill>
                <a:latin typeface="에이투지체 6 SemiBold"/>
                <a:ea typeface="에이투지체 6 SemiBold"/>
              </a:rPr>
              <a:t>행사 기간</a:t>
            </a:r>
          </a:p>
        </p:txBody>
      </p:sp>
      <p:sp>
        <p:nvSpPr>
          <p:cNvPr id="18" name="Chevron 17"/>
          <p:cNvSpPr/>
          <p:nvPr/>
        </p:nvSpPr>
        <p:spPr>
          <a:xfrm>
            <a:off x="9253728" y="2084831"/>
            <a:ext cx="2468880" cy="420624"/>
          </a:xfrm>
          <a:prstGeom prst="chevron">
            <a:avLst>
              <a:gd name="adj" fmla="val 32000"/>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90888" y="2084831"/>
            <a:ext cx="2176272" cy="420624"/>
          </a:xfrm>
          <a:prstGeom prst="rect">
            <a:avLst/>
          </a:prstGeom>
          <a:noFill/>
        </p:spPr>
        <p:txBody>
          <a:bodyPr wrap="square" lIns="0" tIns="0" rIns="0" bIns="0" anchor="ctr">
            <a:spAutoFit/>
          </a:bodyPr>
          <a:lstStyle/>
          <a:p>
            <a:pPr algn="ctr">
              <a:spcAft>
                <a:spcPts val="300"/>
              </a:spcAft>
            </a:pPr>
            <a:r>
              <a:rPr sz="1200">
                <a:solidFill>
                  <a:srgbClr val="FFFFFF"/>
                </a:solidFill>
                <a:latin typeface="에이투지체 6 SemiBold"/>
                <a:ea typeface="에이투지체 6 SemiBold"/>
              </a:rPr>
              <a:t>행사 후 1주</a:t>
            </a:r>
          </a:p>
        </p:txBody>
      </p:sp>
      <p:sp>
        <p:nvSpPr>
          <p:cNvPr id="20" name="Rounded Rectangle 19"/>
          <p:cNvSpPr/>
          <p:nvPr/>
        </p:nvSpPr>
        <p:spPr>
          <a:xfrm>
            <a:off x="548640" y="2615184"/>
            <a:ext cx="1325880" cy="658368"/>
          </a:xfrm>
          <a:prstGeom prst="roundRect">
            <a:avLst>
              <a:gd name="adj" fmla="val 1111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48640" y="2615184"/>
            <a:ext cx="1325880" cy="658368"/>
          </a:xfrm>
          <a:prstGeom prst="rect">
            <a:avLst/>
          </a:prstGeom>
          <a:noFill/>
        </p:spPr>
        <p:txBody>
          <a:bodyPr wrap="square" lIns="0" tIns="0" rIns="0" bIns="0" anchor="ctr">
            <a:spAutoFit/>
          </a:bodyPr>
          <a:lstStyle/>
          <a:p>
            <a:pPr algn="ctr">
              <a:spcAft>
                <a:spcPts val="300"/>
              </a:spcAft>
            </a:pPr>
            <a:r>
              <a:rPr sz="1150">
                <a:solidFill>
                  <a:srgbClr val="004F9F"/>
                </a:solidFill>
                <a:latin typeface="에이투지체 6 SemiBold"/>
                <a:ea typeface="에이투지체 6 SemiBold"/>
              </a:rPr>
              <a:t>공통</a:t>
            </a:r>
          </a:p>
        </p:txBody>
      </p:sp>
      <p:sp>
        <p:nvSpPr>
          <p:cNvPr id="22" name="Rounded Rectangle 21"/>
          <p:cNvSpPr/>
          <p:nvPr/>
        </p:nvSpPr>
        <p:spPr>
          <a:xfrm>
            <a:off x="2011680" y="2615184"/>
            <a:ext cx="9601200" cy="658368"/>
          </a:xfrm>
          <a:prstGeom prst="roundRect">
            <a:avLst>
              <a:gd name="adj" fmla="val 11111"/>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121408" y="2615184"/>
            <a:ext cx="2221992" cy="658368"/>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5 Medium"/>
                <a:ea typeface="에이투지체 5 Medium"/>
              </a:rPr>
              <a:t>구조 개편·상품 선정</a:t>
            </a:r>
          </a:p>
          <a:p>
            <a:pPr algn="ctr">
              <a:spcAft>
                <a:spcPts val="100"/>
              </a:spcAft>
            </a:pPr>
            <a:r>
              <a:rPr sz="1050">
                <a:solidFill>
                  <a:srgbClr val="5C5C5C"/>
                </a:solidFill>
                <a:latin typeface="에이투지체 4 Regular"/>
                <a:ea typeface="에이투지체 4 Regular"/>
              </a:rPr>
              <a:t>혜택·재고·배송 확인</a:t>
            </a:r>
          </a:p>
        </p:txBody>
      </p:sp>
      <p:cxnSp>
        <p:nvCxnSpPr>
          <p:cNvPr id="24" name="Connector 23"/>
          <p:cNvCxnSpPr/>
          <p:nvPr/>
        </p:nvCxnSpPr>
        <p:spPr>
          <a:xfrm>
            <a:off x="4398264" y="2743200"/>
            <a:ext cx="0" cy="402336"/>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535424" y="2615184"/>
            <a:ext cx="2221992" cy="658368"/>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5 Medium"/>
                <a:ea typeface="에이투지체 5 Medium"/>
              </a:rPr>
              <a:t>알림받기·방문 고객 확보</a:t>
            </a:r>
          </a:p>
          <a:p>
            <a:pPr algn="ctr">
              <a:spcAft>
                <a:spcPts val="100"/>
              </a:spcAft>
            </a:pPr>
            <a:r>
              <a:rPr sz="1050">
                <a:solidFill>
                  <a:srgbClr val="5C5C5C"/>
                </a:solidFill>
                <a:latin typeface="에이투지체 4 Regular"/>
                <a:ea typeface="에이투지체 4 Regular"/>
              </a:rPr>
              <a:t>검증 소재 선별</a:t>
            </a:r>
          </a:p>
        </p:txBody>
      </p:sp>
      <p:cxnSp>
        <p:nvCxnSpPr>
          <p:cNvPr id="26" name="Connector 25"/>
          <p:cNvCxnSpPr/>
          <p:nvPr/>
        </p:nvCxnSpPr>
        <p:spPr>
          <a:xfrm>
            <a:off x="6812280" y="2743200"/>
            <a:ext cx="0" cy="402336"/>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949440" y="2615184"/>
            <a:ext cx="2221992" cy="658368"/>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5 Medium"/>
                <a:ea typeface="에이투지체 5 Medium"/>
              </a:rPr>
              <a:t>상품·혜택 메시지 통일</a:t>
            </a:r>
          </a:p>
          <a:p>
            <a:pPr algn="ctr">
              <a:spcAft>
                <a:spcPts val="100"/>
              </a:spcAft>
            </a:pPr>
            <a:r>
              <a:rPr sz="1050">
                <a:solidFill>
                  <a:srgbClr val="5C5C5C"/>
                </a:solidFill>
                <a:latin typeface="에이투지체 4 Regular"/>
                <a:ea typeface="에이투지체 4 Regular"/>
              </a:rPr>
              <a:t>예산·재고 매일 점검</a:t>
            </a:r>
          </a:p>
        </p:txBody>
      </p:sp>
      <p:cxnSp>
        <p:nvCxnSpPr>
          <p:cNvPr id="28" name="Connector 27"/>
          <p:cNvCxnSpPr/>
          <p:nvPr/>
        </p:nvCxnSpPr>
        <p:spPr>
          <a:xfrm>
            <a:off x="9226296" y="2743200"/>
            <a:ext cx="0" cy="402336"/>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9363456" y="2615184"/>
            <a:ext cx="2221992" cy="658368"/>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5 Medium"/>
                <a:ea typeface="에이투지체 5 Medium"/>
              </a:rPr>
              <a:t>상시 예산 원복</a:t>
            </a:r>
          </a:p>
          <a:p>
            <a:pPr algn="ctr">
              <a:spcAft>
                <a:spcPts val="100"/>
              </a:spcAft>
            </a:pPr>
            <a:r>
              <a:rPr sz="1050">
                <a:solidFill>
                  <a:srgbClr val="5C5C5C"/>
                </a:solidFill>
                <a:latin typeface="에이투지체 4 Regular"/>
                <a:ea typeface="에이투지체 4 Regular"/>
              </a:rPr>
              <a:t>행사 기여 매출 정리</a:t>
            </a:r>
          </a:p>
        </p:txBody>
      </p:sp>
      <p:sp>
        <p:nvSpPr>
          <p:cNvPr id="30" name="Rounded Rectangle 29"/>
          <p:cNvSpPr/>
          <p:nvPr/>
        </p:nvSpPr>
        <p:spPr>
          <a:xfrm>
            <a:off x="548640" y="3337560"/>
            <a:ext cx="1325880" cy="658368"/>
          </a:xfrm>
          <a:prstGeom prst="roundRect">
            <a:avLst>
              <a:gd name="adj" fmla="val 11111"/>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48640" y="3337560"/>
            <a:ext cx="1325880" cy="658368"/>
          </a:xfrm>
          <a:prstGeom prst="rect">
            <a:avLst/>
          </a:prstGeom>
          <a:noFill/>
        </p:spPr>
        <p:txBody>
          <a:bodyPr wrap="square" lIns="0" tIns="0" rIns="0" bIns="0" anchor="ctr">
            <a:spAutoFit/>
          </a:bodyPr>
          <a:lstStyle/>
          <a:p>
            <a:pPr algn="ctr">
              <a:spcAft>
                <a:spcPts val="300"/>
              </a:spcAft>
            </a:pPr>
            <a:r>
              <a:rPr sz="1150">
                <a:solidFill>
                  <a:srgbClr val="FFFFFF"/>
                </a:solidFill>
                <a:latin typeface="에이투지체 6 SemiBold"/>
                <a:ea typeface="에이투지체 6 SemiBold"/>
              </a:rPr>
              <a:t>GFA·메타</a:t>
            </a:r>
          </a:p>
        </p:txBody>
      </p:sp>
      <p:sp>
        <p:nvSpPr>
          <p:cNvPr id="32" name="Rounded Rectangle 31"/>
          <p:cNvSpPr/>
          <p:nvPr/>
        </p:nvSpPr>
        <p:spPr>
          <a:xfrm>
            <a:off x="2011680" y="3337560"/>
            <a:ext cx="9601200" cy="658368"/>
          </a:xfrm>
          <a:prstGeom prst="roundRect">
            <a:avLst>
              <a:gd name="adj" fmla="val 1111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121408" y="3337560"/>
            <a:ext cx="2221992" cy="658368"/>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5 Medium"/>
                <a:ea typeface="에이투지체 5 Medium"/>
              </a:rPr>
              <a:t>상시 캠페인 학습</a:t>
            </a:r>
          </a:p>
          <a:p>
            <a:pPr algn="ctr">
              <a:spcAft>
                <a:spcPts val="100"/>
              </a:spcAft>
            </a:pPr>
            <a:r>
              <a:rPr sz="1050">
                <a:solidFill>
                  <a:srgbClr val="5C5C5C"/>
                </a:solidFill>
                <a:latin typeface="에이투지체 4 Regular"/>
                <a:ea typeface="에이투지체 4 Regular"/>
              </a:rPr>
              <a:t>구매 이벤트 점검</a:t>
            </a:r>
          </a:p>
        </p:txBody>
      </p:sp>
      <p:cxnSp>
        <p:nvCxnSpPr>
          <p:cNvPr id="34" name="Connector 33"/>
          <p:cNvCxnSpPr/>
          <p:nvPr/>
        </p:nvCxnSpPr>
        <p:spPr>
          <a:xfrm>
            <a:off x="4398264" y="3465576"/>
            <a:ext cx="0" cy="402336"/>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4535424" y="3337560"/>
            <a:ext cx="2221992" cy="658368"/>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5 Medium"/>
                <a:ea typeface="에이투지체 5 Medium"/>
              </a:rPr>
              <a:t>스마트채널 유입</a:t>
            </a:r>
          </a:p>
          <a:p>
            <a:pPr algn="ctr">
              <a:spcAft>
                <a:spcPts val="100"/>
              </a:spcAft>
            </a:pPr>
            <a:r>
              <a:rPr sz="1050">
                <a:solidFill>
                  <a:srgbClr val="5C5C5C"/>
                </a:solidFill>
                <a:latin typeface="에이투지체 4 Regular"/>
                <a:ea typeface="에이투지체 4 Regular"/>
              </a:rPr>
              <a:t>상시 소재 반응 검증</a:t>
            </a:r>
          </a:p>
        </p:txBody>
      </p:sp>
      <p:cxnSp>
        <p:nvCxnSpPr>
          <p:cNvPr id="36" name="Connector 35"/>
          <p:cNvCxnSpPr/>
          <p:nvPr/>
        </p:nvCxnSpPr>
        <p:spPr>
          <a:xfrm>
            <a:off x="6812280" y="3465576"/>
            <a:ext cx="0" cy="402336"/>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949440" y="3337560"/>
            <a:ext cx="2221992" cy="658368"/>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5 Medium"/>
                <a:ea typeface="에이투지체 5 Medium"/>
              </a:rPr>
              <a:t>구매 최적화 소재 집중</a:t>
            </a:r>
          </a:p>
          <a:p>
            <a:pPr algn="ctr">
              <a:spcAft>
                <a:spcPts val="100"/>
              </a:spcAft>
            </a:pPr>
            <a:r>
              <a:rPr sz="1050">
                <a:solidFill>
                  <a:srgbClr val="5C5C5C"/>
                </a:solidFill>
                <a:latin typeface="에이투지체 4 Regular"/>
                <a:ea typeface="에이투지체 4 Regular"/>
              </a:rPr>
              <a:t>톡톡 CRM·리타겟 연계</a:t>
            </a:r>
          </a:p>
        </p:txBody>
      </p:sp>
      <p:cxnSp>
        <p:nvCxnSpPr>
          <p:cNvPr id="38" name="Connector 37"/>
          <p:cNvCxnSpPr/>
          <p:nvPr/>
        </p:nvCxnSpPr>
        <p:spPr>
          <a:xfrm>
            <a:off x="9226296" y="3465576"/>
            <a:ext cx="0" cy="402336"/>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9363456" y="3337560"/>
            <a:ext cx="2221992" cy="658368"/>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5 Medium"/>
                <a:ea typeface="에이투지체 5 Medium"/>
              </a:rPr>
              <a:t>미구매 고객 리타겟</a:t>
            </a:r>
          </a:p>
          <a:p>
            <a:pPr algn="ctr">
              <a:spcAft>
                <a:spcPts val="100"/>
              </a:spcAft>
            </a:pPr>
            <a:r>
              <a:rPr sz="1050">
                <a:solidFill>
                  <a:srgbClr val="5C5C5C"/>
                </a:solidFill>
                <a:latin typeface="에이투지체 4 Regular"/>
                <a:ea typeface="에이투지체 4 Regular"/>
              </a:rPr>
              <a:t>구매 소재 상시 운영</a:t>
            </a:r>
          </a:p>
        </p:txBody>
      </p:sp>
      <p:sp>
        <p:nvSpPr>
          <p:cNvPr id="40" name="Rounded Rectangle 39"/>
          <p:cNvSpPr/>
          <p:nvPr/>
        </p:nvSpPr>
        <p:spPr>
          <a:xfrm>
            <a:off x="548640" y="4059935"/>
            <a:ext cx="1325880" cy="658368"/>
          </a:xfrm>
          <a:prstGeom prst="roundRect">
            <a:avLst>
              <a:gd name="adj" fmla="val 1111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48640" y="4059935"/>
            <a:ext cx="1325880" cy="658368"/>
          </a:xfrm>
          <a:prstGeom prst="rect">
            <a:avLst/>
          </a:prstGeom>
          <a:noFill/>
        </p:spPr>
        <p:txBody>
          <a:bodyPr wrap="square" lIns="0" tIns="0" rIns="0" bIns="0" anchor="ctr">
            <a:spAutoFit/>
          </a:bodyPr>
          <a:lstStyle/>
          <a:p>
            <a:pPr algn="ctr">
              <a:spcAft>
                <a:spcPts val="300"/>
              </a:spcAft>
            </a:pPr>
            <a:r>
              <a:rPr sz="1150">
                <a:solidFill>
                  <a:srgbClr val="004F9F"/>
                </a:solidFill>
                <a:latin typeface="에이투지체 6 SemiBold"/>
                <a:ea typeface="에이투지체 6 SemiBold"/>
              </a:rPr>
              <a:t>쇼핑검색</a:t>
            </a:r>
          </a:p>
        </p:txBody>
      </p:sp>
      <p:sp>
        <p:nvSpPr>
          <p:cNvPr id="42" name="Rounded Rectangle 41"/>
          <p:cNvSpPr/>
          <p:nvPr/>
        </p:nvSpPr>
        <p:spPr>
          <a:xfrm>
            <a:off x="2011680" y="4059935"/>
            <a:ext cx="9601200" cy="658368"/>
          </a:xfrm>
          <a:prstGeom prst="roundRect">
            <a:avLst>
              <a:gd name="adj" fmla="val 11111"/>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2121408" y="4059935"/>
            <a:ext cx="2221992" cy="658368"/>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5 Medium"/>
                <a:ea typeface="에이투지체 5 Medium"/>
              </a:rPr>
              <a:t>중복 검색어 정리</a:t>
            </a:r>
          </a:p>
          <a:p>
            <a:pPr algn="ctr">
              <a:spcAft>
                <a:spcPts val="100"/>
              </a:spcAft>
            </a:pPr>
            <a:r>
              <a:rPr sz="1050">
                <a:solidFill>
                  <a:srgbClr val="5C5C5C"/>
                </a:solidFill>
                <a:latin typeface="에이투지체 4 Regular"/>
                <a:ea typeface="에이투지체 4 Regular"/>
              </a:rPr>
              <a:t>브랜드 예산 보호</a:t>
            </a:r>
          </a:p>
        </p:txBody>
      </p:sp>
      <p:cxnSp>
        <p:nvCxnSpPr>
          <p:cNvPr id="44" name="Connector 43"/>
          <p:cNvCxnSpPr/>
          <p:nvPr/>
        </p:nvCxnSpPr>
        <p:spPr>
          <a:xfrm>
            <a:off x="4398264" y="4187951"/>
            <a:ext cx="0" cy="402337"/>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4535424" y="4059935"/>
            <a:ext cx="2221992" cy="658368"/>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5 Medium"/>
                <a:ea typeface="에이투지체 5 Medium"/>
              </a:rPr>
              <a:t>행사 상품 검색 수요 확인</a:t>
            </a:r>
          </a:p>
          <a:p>
            <a:pPr algn="ctr">
              <a:spcAft>
                <a:spcPts val="100"/>
              </a:spcAft>
            </a:pPr>
            <a:r>
              <a:rPr sz="1050">
                <a:solidFill>
                  <a:srgbClr val="5C5C5C"/>
                </a:solidFill>
                <a:latin typeface="에이투지체 4 Regular"/>
                <a:ea typeface="에이투지체 4 Regular"/>
              </a:rPr>
              <a:t>기기·그룹별 입찰 검증</a:t>
            </a:r>
          </a:p>
        </p:txBody>
      </p:sp>
      <p:cxnSp>
        <p:nvCxnSpPr>
          <p:cNvPr id="46" name="Connector 45"/>
          <p:cNvCxnSpPr/>
          <p:nvPr/>
        </p:nvCxnSpPr>
        <p:spPr>
          <a:xfrm>
            <a:off x="6812280" y="4187951"/>
            <a:ext cx="0" cy="402337"/>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949440" y="4059935"/>
            <a:ext cx="2221992" cy="658368"/>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5 Medium"/>
                <a:ea typeface="에이투지체 5 Medium"/>
              </a:rPr>
              <a:t>브랜드·고효율 수요 회수</a:t>
            </a:r>
          </a:p>
          <a:p>
            <a:pPr algn="ctr">
              <a:spcAft>
                <a:spcPts val="100"/>
              </a:spcAft>
            </a:pPr>
            <a:r>
              <a:rPr sz="1050">
                <a:solidFill>
                  <a:srgbClr val="5C5C5C"/>
                </a:solidFill>
                <a:latin typeface="에이투지체 4 Regular"/>
                <a:ea typeface="에이투지체 4 Regular"/>
              </a:rPr>
              <a:t>행사 검색어 성과 관리</a:t>
            </a:r>
          </a:p>
        </p:txBody>
      </p:sp>
      <p:cxnSp>
        <p:nvCxnSpPr>
          <p:cNvPr id="48" name="Connector 47"/>
          <p:cNvCxnSpPr/>
          <p:nvPr/>
        </p:nvCxnSpPr>
        <p:spPr>
          <a:xfrm>
            <a:off x="9226296" y="4187951"/>
            <a:ext cx="0" cy="402337"/>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9363456" y="4059935"/>
            <a:ext cx="2221992" cy="658368"/>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5 Medium"/>
                <a:ea typeface="에이투지체 5 Medium"/>
              </a:rPr>
              <a:t>누적 전환 재평가</a:t>
            </a:r>
          </a:p>
          <a:p>
            <a:pPr algn="ctr">
              <a:spcAft>
                <a:spcPts val="100"/>
              </a:spcAft>
            </a:pPr>
            <a:r>
              <a:rPr sz="1050">
                <a:solidFill>
                  <a:srgbClr val="5C5C5C"/>
                </a:solidFill>
                <a:latin typeface="에이투지체 4 Regular"/>
                <a:ea typeface="에이투지체 4 Regular"/>
              </a:rPr>
              <a:t>제외검색어 정리</a:t>
            </a:r>
          </a:p>
        </p:txBody>
      </p:sp>
      <p:sp>
        <p:nvSpPr>
          <p:cNvPr id="50" name="Rounded Rectangle 49"/>
          <p:cNvSpPr/>
          <p:nvPr/>
        </p:nvSpPr>
        <p:spPr>
          <a:xfrm>
            <a:off x="548640" y="4782312"/>
            <a:ext cx="1325880" cy="658368"/>
          </a:xfrm>
          <a:prstGeom prst="roundRect">
            <a:avLst>
              <a:gd name="adj" fmla="val 1111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548640" y="4782312"/>
            <a:ext cx="1325880" cy="658368"/>
          </a:xfrm>
          <a:prstGeom prst="rect">
            <a:avLst/>
          </a:prstGeom>
          <a:noFill/>
        </p:spPr>
        <p:txBody>
          <a:bodyPr wrap="square" lIns="0" tIns="0" rIns="0" bIns="0" anchor="ctr">
            <a:spAutoFit/>
          </a:bodyPr>
          <a:lstStyle/>
          <a:p>
            <a:pPr algn="ctr">
              <a:spcAft>
                <a:spcPts val="300"/>
              </a:spcAft>
            </a:pPr>
            <a:r>
              <a:rPr sz="1150">
                <a:solidFill>
                  <a:srgbClr val="004F9F"/>
                </a:solidFill>
                <a:latin typeface="에이투지체 6 SemiBold"/>
                <a:ea typeface="에이투지체 6 SemiBold"/>
              </a:rPr>
              <a:t>쇼핑라이브</a:t>
            </a:r>
          </a:p>
        </p:txBody>
      </p:sp>
      <p:sp>
        <p:nvSpPr>
          <p:cNvPr id="52" name="Rounded Rectangle 51"/>
          <p:cNvSpPr/>
          <p:nvPr/>
        </p:nvSpPr>
        <p:spPr>
          <a:xfrm>
            <a:off x="2011680" y="4782312"/>
            <a:ext cx="9601200" cy="658368"/>
          </a:xfrm>
          <a:prstGeom prst="roundRect">
            <a:avLst>
              <a:gd name="adj" fmla="val 11111"/>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2121408" y="4782312"/>
            <a:ext cx="2221992" cy="658368"/>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5 Medium"/>
                <a:ea typeface="에이투지체 5 Medium"/>
              </a:rPr>
              <a:t>대표 상품과 구성 기획</a:t>
            </a:r>
          </a:p>
          <a:p>
            <a:pPr algn="ctr">
              <a:spcAft>
                <a:spcPts val="100"/>
              </a:spcAft>
            </a:pPr>
            <a:r>
              <a:rPr sz="1050">
                <a:solidFill>
                  <a:srgbClr val="5C5C5C"/>
                </a:solidFill>
                <a:latin typeface="에이투지체 4 Regular"/>
                <a:ea typeface="에이투지체 4 Regular"/>
              </a:rPr>
              <a:t>방송 일정 협의</a:t>
            </a:r>
          </a:p>
        </p:txBody>
      </p:sp>
      <p:cxnSp>
        <p:nvCxnSpPr>
          <p:cNvPr id="54" name="Connector 53"/>
          <p:cNvCxnSpPr/>
          <p:nvPr/>
        </p:nvCxnSpPr>
        <p:spPr>
          <a:xfrm>
            <a:off x="4398264" y="4910328"/>
            <a:ext cx="0" cy="402336"/>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4535424" y="4782312"/>
            <a:ext cx="2221992" cy="658368"/>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5 Medium"/>
                <a:ea typeface="에이투지체 5 Medium"/>
              </a:rPr>
              <a:t>숏클립·방송 알림 홍보</a:t>
            </a:r>
          </a:p>
        </p:txBody>
      </p:sp>
      <p:cxnSp>
        <p:nvCxnSpPr>
          <p:cNvPr id="56" name="Connector 55"/>
          <p:cNvCxnSpPr/>
          <p:nvPr/>
        </p:nvCxnSpPr>
        <p:spPr>
          <a:xfrm>
            <a:off x="6812280" y="4910328"/>
            <a:ext cx="0" cy="402336"/>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6949440" y="4782312"/>
            <a:ext cx="2221992" cy="658368"/>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5 Medium"/>
                <a:ea typeface="에이투지체 5 Medium"/>
              </a:rPr>
              <a:t>GFA·메타 유입 집중</a:t>
            </a:r>
          </a:p>
          <a:p>
            <a:pPr algn="ctr">
              <a:spcAft>
                <a:spcPts val="100"/>
              </a:spcAft>
            </a:pPr>
            <a:r>
              <a:rPr sz="1050">
                <a:solidFill>
                  <a:srgbClr val="5C5C5C"/>
                </a:solidFill>
                <a:latin typeface="에이투지체 4 Regular"/>
                <a:ea typeface="에이투지체 4 Regular"/>
              </a:rPr>
              <a:t>방송 혜택·구성 안내</a:t>
            </a:r>
          </a:p>
        </p:txBody>
      </p:sp>
      <p:cxnSp>
        <p:nvCxnSpPr>
          <p:cNvPr id="58" name="Connector 57"/>
          <p:cNvCxnSpPr/>
          <p:nvPr/>
        </p:nvCxnSpPr>
        <p:spPr>
          <a:xfrm>
            <a:off x="9226296" y="4910328"/>
            <a:ext cx="0" cy="402336"/>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9363456" y="4782312"/>
            <a:ext cx="2221992" cy="658368"/>
          </a:xfrm>
          <a:prstGeom prst="rect">
            <a:avLst/>
          </a:prstGeom>
          <a:noFill/>
        </p:spPr>
        <p:txBody>
          <a:bodyPr wrap="square" lIns="0" tIns="0" rIns="0" bIns="0" anchor="ctr">
            <a:spAutoFit/>
          </a:bodyPr>
          <a:lstStyle/>
          <a:p>
            <a:pPr algn="ctr">
              <a:spcAft>
                <a:spcPts val="100"/>
              </a:spcAft>
            </a:pPr>
            <a:r>
              <a:rPr sz="1050">
                <a:solidFill>
                  <a:srgbClr val="222222"/>
                </a:solidFill>
                <a:latin typeface="에이투지체 5 Medium"/>
                <a:ea typeface="에이투지체 5 Medium"/>
              </a:rPr>
              <a:t>숏클립 재활용</a:t>
            </a:r>
          </a:p>
          <a:p>
            <a:pPr algn="ctr">
              <a:spcAft>
                <a:spcPts val="100"/>
              </a:spcAft>
            </a:pPr>
            <a:r>
              <a:rPr sz="1050">
                <a:solidFill>
                  <a:srgbClr val="5C5C5C"/>
                </a:solidFill>
                <a:latin typeface="에이투지체 4 Regular"/>
                <a:ea typeface="에이투지체 4 Regular"/>
              </a:rPr>
              <a:t>방송 유입 구매 확인</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30"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31"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32" name="PGNO"/>
          <p:cNvSpPr txBox="1"/>
          <p:nvPr/>
        </p:nvSpPr>
        <p:spPr>
          <a:xfrm>
            <a:off x="11292840" y="6473952"/>
            <a:ext cx="365760" cy="123111"/>
          </a:xfrm>
          <a:prstGeom prst="rect">
            <a:avLst/>
          </a:prstGeom>
          <a:noFill/>
        </p:spPr>
        <p:txBody>
          <a:bodyPr wrap="square" lIns="0" tIns="0" rIns="0" bIns="0" anchor="t">
            <a:spAutoFit/>
          </a:bodyPr>
          <a:lstStyle/>
          <a:p>
            <a:pPr algn="r"/>
            <a:r>
              <a:rPr lang="en-US" sz="800" dirty="0">
                <a:solidFill>
                  <a:srgbClr val="222222"/>
                </a:solidFill>
                <a:latin typeface="에이투지체 6 SemiBold"/>
              </a:rPr>
              <a:t>48</a:t>
            </a:r>
            <a:endParaRPr sz="800" dirty="0">
              <a:solidFill>
                <a:srgbClr val="222222"/>
              </a:solidFill>
              <a:latin typeface="에이투지체 6 SemiBold"/>
            </a:endParaRPr>
          </a:p>
        </p:txBody>
      </p:sp>
      <p:cxnSp>
        <p:nvCxnSpPr>
          <p:cNvPr id="2" name="직선 화살표 연결선 1">
            <a:extLst>
              <a:ext uri="{FF2B5EF4-FFF2-40B4-BE49-F238E27FC236}">
                <a16:creationId xmlns:a16="http://schemas.microsoft.com/office/drawing/2014/main" id="{07CA96B4-2A3A-4087-875B-91922E1E9B5C}"/>
              </a:ext>
            </a:extLst>
          </p:cNvPr>
          <p:cNvCxnSpPr>
            <a:stCxn id="20" idx="3"/>
            <a:endCxn id="22" idx="1"/>
          </p:cNvCxnSpPr>
          <p:nvPr/>
        </p:nvCxnSpPr>
        <p:spPr>
          <a:xfrm>
            <a:off x="8743950" y="4400550"/>
            <a:ext cx="323850" cy="0"/>
          </a:xfrm>
          <a:prstGeom prst="straightConnector1">
            <a:avLst/>
          </a:prstGeom>
          <a:ln w="14288">
            <a:solidFill>
              <a:srgbClr val="004F9F"/>
            </a:solidFill>
            <a:tailEnd type="triangle" w="sm" len="sm"/>
          </a:ln>
        </p:spPr>
      </p:cxnSp>
      <p:cxnSp>
        <p:nvCxnSpPr>
          <p:cNvPr id="3" name="직선 화살표 연결선 2">
            <a:extLst>
              <a:ext uri="{FF2B5EF4-FFF2-40B4-BE49-F238E27FC236}">
                <a16:creationId xmlns:a16="http://schemas.microsoft.com/office/drawing/2014/main" id="{4A8BA623-28E6-4921-952D-D964ADA87DE0}"/>
              </a:ext>
            </a:extLst>
          </p:cNvPr>
          <p:cNvCxnSpPr>
            <a:stCxn id="18" idx="3"/>
            <a:endCxn id="20" idx="1"/>
          </p:cNvCxnSpPr>
          <p:nvPr/>
        </p:nvCxnSpPr>
        <p:spPr>
          <a:xfrm>
            <a:off x="5905500" y="4400550"/>
            <a:ext cx="323850" cy="0"/>
          </a:xfrm>
          <a:prstGeom prst="straightConnector1">
            <a:avLst/>
          </a:prstGeom>
          <a:ln w="14288">
            <a:solidFill>
              <a:srgbClr val="004F9F"/>
            </a:solidFill>
            <a:tailEnd type="triangle" w="sm" len="sm"/>
          </a:ln>
        </p:spPr>
      </p:cxnSp>
      <p:cxnSp>
        <p:nvCxnSpPr>
          <p:cNvPr id="4" name="직선 화살표 연결선 3">
            <a:extLst>
              <a:ext uri="{FF2B5EF4-FFF2-40B4-BE49-F238E27FC236}">
                <a16:creationId xmlns:a16="http://schemas.microsoft.com/office/drawing/2014/main" id="{65912ABF-9638-4C1B-BD22-1DAE1AAD5211}"/>
              </a:ext>
            </a:extLst>
          </p:cNvPr>
          <p:cNvCxnSpPr>
            <a:stCxn id="16" idx="3"/>
            <a:endCxn id="18" idx="1"/>
          </p:cNvCxnSpPr>
          <p:nvPr/>
        </p:nvCxnSpPr>
        <p:spPr>
          <a:xfrm>
            <a:off x="3067050" y="4400550"/>
            <a:ext cx="323850" cy="0"/>
          </a:xfrm>
          <a:prstGeom prst="straightConnector1">
            <a:avLst/>
          </a:prstGeom>
          <a:ln w="14288">
            <a:solidFill>
              <a:srgbClr val="004F9F"/>
            </a:solidFill>
            <a:tailEnd type="triangle" w="sm" len="sm"/>
          </a:ln>
        </p:spPr>
      </p:cxnSp>
      <p:sp>
        <p:nvSpPr>
          <p:cNvPr id="5" name="text-277">
            <a:extLst>
              <a:ext uri="{FF2B5EF4-FFF2-40B4-BE49-F238E27FC236}">
                <a16:creationId xmlns:a16="http://schemas.microsoft.com/office/drawing/2014/main" id="{04EBE6F9-037B-45CF-AE77-62B349AE01E4}"/>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쇼핑라이브</a:t>
            </a:r>
            <a:r>
              <a:rPr lang="ko-KR" sz="1900" dirty="0">
                <a:solidFill>
                  <a:srgbClr val="222222"/>
                </a:solidFill>
                <a:latin typeface="에이투지체 8 ExtraBold"/>
                <a:ea typeface="에이투지체 8 ExtraBold"/>
                <a:cs typeface="에이투지체 8 ExtraBold"/>
              </a:rPr>
              <a:t>  상품 설명과 실시간 혜택을</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퍼포먼스 유입과 연결하는 방송을 제안합니다</a:t>
            </a:r>
            <a:endParaRPr lang="ko-KR" sz="1900" dirty="0"/>
          </a:p>
        </p:txBody>
      </p:sp>
      <p:sp>
        <p:nvSpPr>
          <p:cNvPr id="6" name="text-278">
            <a:extLst>
              <a:ext uri="{FF2B5EF4-FFF2-40B4-BE49-F238E27FC236}">
                <a16:creationId xmlns:a16="http://schemas.microsoft.com/office/drawing/2014/main" id="{90752EE8-D857-4CEB-90F1-33F202819B57}"/>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쇼핑라이브 추가 제안 ① 운영 역량</a:t>
            </a:r>
            <a:endParaRPr lang="ko-KR" sz="1100" dirty="0"/>
          </a:p>
        </p:txBody>
      </p:sp>
      <p:sp>
        <p:nvSpPr>
          <p:cNvPr id="7" name="text-279">
            <a:extLst>
              <a:ext uri="{FF2B5EF4-FFF2-40B4-BE49-F238E27FC236}">
                <a16:creationId xmlns:a16="http://schemas.microsoft.com/office/drawing/2014/main" id="{E4BB3416-3B43-4D0C-994F-BE989858046F}"/>
              </a:ext>
            </a:extLst>
          </p:cNvPr>
          <p:cNvSpPr>
            <a:spLocks noGrp="1"/>
          </p:cNvSpPr>
          <p:nvPr/>
        </p:nvSpPr>
        <p:spPr>
          <a:xfrm>
            <a:off x="552450" y="2152650"/>
            <a:ext cx="2390775" cy="628650"/>
          </a:xfrm>
          <a:prstGeom prst="rect">
            <a:avLst/>
          </a:prstGeom>
          <a:noFill/>
          <a:ln w="0">
            <a:noFill/>
          </a:ln>
        </p:spPr>
        <p:txBody>
          <a:bodyPr wrap="square" lIns="0" tIns="0" rIns="0" bIns="0" anchor="ctr">
            <a:noAutofit/>
          </a:bodyPr>
          <a:lstStyle>
            <a:defPPr algn="l">
              <a:defRPr sz="3300">
                <a:solidFill>
                  <a:srgbClr val="004F9F"/>
                </a:solidFill>
                <a:latin typeface="에이투지체 8 ExtraBold"/>
                <a:ea typeface="에이투지체 8 ExtraBold"/>
                <a:cs typeface="에이투지체 8 ExtraBold"/>
              </a:defRPr>
            </a:defPPr>
          </a:lstStyle>
          <a:p>
            <a:pPr algn="l">
              <a:defRPr sz="3300">
                <a:solidFill>
                  <a:srgbClr val="004F9F"/>
                </a:solidFill>
                <a:latin typeface="에이투지체 8 ExtraBold"/>
                <a:ea typeface="에이투지체 8 ExtraBold"/>
                <a:cs typeface="에이투지체 8 ExtraBold"/>
              </a:defRPr>
            </a:pPr>
            <a:r>
              <a:rPr sz="3300">
                <a:solidFill>
                  <a:srgbClr val="004F9F"/>
                </a:solidFill>
                <a:latin typeface="에이투지체 8 ExtraBold"/>
                <a:ea typeface="에이투지체 8 ExtraBold"/>
                <a:cs typeface="에이투지체 8 ExtraBold"/>
              </a:rPr>
              <a:t>1,000편+</a:t>
            </a:r>
          </a:p>
        </p:txBody>
      </p:sp>
      <p:sp>
        <p:nvSpPr>
          <p:cNvPr id="8" name="text-280">
            <a:extLst>
              <a:ext uri="{FF2B5EF4-FFF2-40B4-BE49-F238E27FC236}">
                <a16:creationId xmlns:a16="http://schemas.microsoft.com/office/drawing/2014/main" id="{142F700F-8AF0-4EB5-B53B-EBEBC3E31357}"/>
              </a:ext>
            </a:extLst>
          </p:cNvPr>
          <p:cNvSpPr>
            <a:spLocks noGrp="1"/>
          </p:cNvSpPr>
          <p:nvPr/>
        </p:nvSpPr>
        <p:spPr>
          <a:xfrm>
            <a:off x="552450" y="2790825"/>
            <a:ext cx="2390775" cy="400050"/>
          </a:xfrm>
          <a:prstGeom prst="rect">
            <a:avLst/>
          </a:prstGeom>
          <a:noFill/>
          <a:ln w="0">
            <a:noFill/>
          </a:ln>
        </p:spPr>
        <p:txBody>
          <a:bodyPr wrap="square" lIns="0" tIns="0" rIns="0" bIns="0" anchor="ctr">
            <a:noAutofit/>
          </a:bodyPr>
          <a:lstStyle>
            <a:defPPr algn="l">
              <a:defRPr sz="1305">
                <a:solidFill>
                  <a:srgbClr val="5C5C5C"/>
                </a:solidFill>
                <a:latin typeface="에이투지체 4 Regular"/>
                <a:ea typeface="에이투지체 4 Regular"/>
                <a:cs typeface="에이투지체 4 Regular"/>
              </a:defRPr>
            </a:defPPr>
          </a:lstStyle>
          <a:p>
            <a:pPr algn="l">
              <a:defRPr sz="1305">
                <a:solidFill>
                  <a:srgbClr val="5C5C5C"/>
                </a:solidFill>
                <a:latin typeface="에이투지체 4 Regular"/>
                <a:ea typeface="에이투지체 4 Regular"/>
                <a:cs typeface="에이투지체 4 Regular"/>
              </a:defRPr>
            </a:pPr>
            <a:r>
              <a:rPr sz="1305">
                <a:solidFill>
                  <a:srgbClr val="5C5C5C"/>
                </a:solidFill>
                <a:latin typeface="에이투지체 4 Regular"/>
                <a:ea typeface="에이투지체 4 Regular"/>
                <a:cs typeface="에이투지체 4 Regular"/>
              </a:rPr>
              <a:t>누적 방송 제작</a:t>
            </a:r>
          </a:p>
        </p:txBody>
      </p:sp>
      <p:sp>
        <p:nvSpPr>
          <p:cNvPr id="9" name="text-281">
            <a:extLst>
              <a:ext uri="{FF2B5EF4-FFF2-40B4-BE49-F238E27FC236}">
                <a16:creationId xmlns:a16="http://schemas.microsoft.com/office/drawing/2014/main" id="{71619111-9399-494A-99BE-6E28764E89E3}"/>
              </a:ext>
            </a:extLst>
          </p:cNvPr>
          <p:cNvSpPr>
            <a:spLocks noGrp="1"/>
          </p:cNvSpPr>
          <p:nvPr/>
        </p:nvSpPr>
        <p:spPr>
          <a:xfrm>
            <a:off x="3419475" y="2152650"/>
            <a:ext cx="2390775" cy="628650"/>
          </a:xfrm>
          <a:prstGeom prst="rect">
            <a:avLst/>
          </a:prstGeom>
          <a:noFill/>
          <a:ln w="0">
            <a:noFill/>
          </a:ln>
        </p:spPr>
        <p:txBody>
          <a:bodyPr wrap="square" lIns="0" tIns="0" rIns="0" bIns="0" anchor="ctr">
            <a:noAutofit/>
          </a:bodyPr>
          <a:lstStyle>
            <a:defPPr algn="l">
              <a:defRPr sz="3300">
                <a:solidFill>
                  <a:srgbClr val="004F9F"/>
                </a:solidFill>
                <a:latin typeface="에이투지체 8 ExtraBold"/>
                <a:ea typeface="에이투지체 8 ExtraBold"/>
                <a:cs typeface="에이투지체 8 ExtraBold"/>
              </a:defRPr>
            </a:defPPr>
          </a:lstStyle>
          <a:p>
            <a:pPr algn="l">
              <a:defRPr sz="3300">
                <a:solidFill>
                  <a:srgbClr val="004F9F"/>
                </a:solidFill>
                <a:latin typeface="에이투지체 8 ExtraBold"/>
                <a:ea typeface="에이투지체 8 ExtraBold"/>
                <a:cs typeface="에이투지체 8 ExtraBold"/>
              </a:defRPr>
            </a:pPr>
            <a:r>
              <a:rPr sz="3300">
                <a:solidFill>
                  <a:srgbClr val="004F9F"/>
                </a:solidFill>
                <a:latin typeface="에이투지체 8 ExtraBold"/>
                <a:ea typeface="에이투지체 8 ExtraBold"/>
                <a:cs typeface="에이투지체 8 ExtraBold"/>
              </a:rPr>
              <a:t>35억 원+</a:t>
            </a:r>
          </a:p>
        </p:txBody>
      </p:sp>
      <p:sp>
        <p:nvSpPr>
          <p:cNvPr id="10" name="text-282">
            <a:extLst>
              <a:ext uri="{FF2B5EF4-FFF2-40B4-BE49-F238E27FC236}">
                <a16:creationId xmlns:a16="http://schemas.microsoft.com/office/drawing/2014/main" id="{59A68C73-19DF-47C4-9FF8-0853B6329CC0}"/>
              </a:ext>
            </a:extLst>
          </p:cNvPr>
          <p:cNvSpPr>
            <a:spLocks noGrp="1"/>
          </p:cNvSpPr>
          <p:nvPr/>
        </p:nvSpPr>
        <p:spPr>
          <a:xfrm>
            <a:off x="3419475" y="2790825"/>
            <a:ext cx="2390775" cy="400050"/>
          </a:xfrm>
          <a:prstGeom prst="rect">
            <a:avLst/>
          </a:prstGeom>
          <a:noFill/>
          <a:ln w="0">
            <a:noFill/>
          </a:ln>
        </p:spPr>
        <p:txBody>
          <a:bodyPr wrap="square" lIns="0" tIns="0" rIns="0" bIns="0" anchor="ctr">
            <a:noAutofit/>
          </a:bodyPr>
          <a:lstStyle>
            <a:defPPr algn="l">
              <a:defRPr sz="1305">
                <a:solidFill>
                  <a:srgbClr val="5C5C5C"/>
                </a:solidFill>
                <a:latin typeface="에이투지체 4 Regular"/>
                <a:ea typeface="에이투지체 4 Regular"/>
                <a:cs typeface="에이투지체 4 Regular"/>
              </a:defRPr>
            </a:defPPr>
          </a:lstStyle>
          <a:p>
            <a:pPr algn="l">
              <a:defRPr sz="1305">
                <a:solidFill>
                  <a:srgbClr val="5C5C5C"/>
                </a:solidFill>
                <a:latin typeface="에이투지체 4 Regular"/>
                <a:ea typeface="에이투지체 4 Regular"/>
                <a:cs typeface="에이투지체 4 Regular"/>
              </a:defRPr>
            </a:pPr>
            <a:r>
              <a:rPr sz="1305">
                <a:solidFill>
                  <a:srgbClr val="5C5C5C"/>
                </a:solidFill>
                <a:latin typeface="에이투지체 4 Regular"/>
                <a:ea typeface="에이투지체 4 Regular"/>
                <a:cs typeface="에이투지체 4 Regular"/>
              </a:rPr>
              <a:t>누적 매출</a:t>
            </a:r>
          </a:p>
        </p:txBody>
      </p:sp>
      <p:sp>
        <p:nvSpPr>
          <p:cNvPr id="11" name="text-283">
            <a:extLst>
              <a:ext uri="{FF2B5EF4-FFF2-40B4-BE49-F238E27FC236}">
                <a16:creationId xmlns:a16="http://schemas.microsoft.com/office/drawing/2014/main" id="{EFC98368-7F5B-46E6-B0F0-306B01E12BB9}"/>
              </a:ext>
            </a:extLst>
          </p:cNvPr>
          <p:cNvSpPr>
            <a:spLocks noGrp="1"/>
          </p:cNvSpPr>
          <p:nvPr/>
        </p:nvSpPr>
        <p:spPr>
          <a:xfrm>
            <a:off x="6286500" y="2152650"/>
            <a:ext cx="2390775" cy="628650"/>
          </a:xfrm>
          <a:prstGeom prst="rect">
            <a:avLst/>
          </a:prstGeom>
          <a:noFill/>
          <a:ln w="0">
            <a:noFill/>
          </a:ln>
        </p:spPr>
        <p:txBody>
          <a:bodyPr wrap="square" lIns="0" tIns="0" rIns="0" bIns="0" anchor="ctr">
            <a:noAutofit/>
          </a:bodyPr>
          <a:lstStyle>
            <a:defPPr algn="l">
              <a:defRPr sz="3300">
                <a:solidFill>
                  <a:srgbClr val="004F9F"/>
                </a:solidFill>
                <a:latin typeface="에이투지체 8 ExtraBold"/>
                <a:ea typeface="에이투지체 8 ExtraBold"/>
                <a:cs typeface="에이투지체 8 ExtraBold"/>
              </a:defRPr>
            </a:defPPr>
          </a:lstStyle>
          <a:p>
            <a:pPr algn="l">
              <a:defRPr sz="3300">
                <a:solidFill>
                  <a:srgbClr val="004F9F"/>
                </a:solidFill>
                <a:latin typeface="에이투지체 8 ExtraBold"/>
                <a:ea typeface="에이투지체 8 ExtraBold"/>
                <a:cs typeface="에이투지체 8 ExtraBold"/>
              </a:defRPr>
            </a:pPr>
            <a:r>
              <a:rPr sz="3300">
                <a:solidFill>
                  <a:srgbClr val="004F9F"/>
                </a:solidFill>
                <a:latin typeface="에이투지체 8 ExtraBold"/>
                <a:ea typeface="에이투지체 8 ExtraBold"/>
                <a:cs typeface="에이투지체 8 ExtraBold"/>
              </a:rPr>
              <a:t>900만 명</a:t>
            </a:r>
          </a:p>
        </p:txBody>
      </p:sp>
      <p:sp>
        <p:nvSpPr>
          <p:cNvPr id="12" name="text-284">
            <a:extLst>
              <a:ext uri="{FF2B5EF4-FFF2-40B4-BE49-F238E27FC236}">
                <a16:creationId xmlns:a16="http://schemas.microsoft.com/office/drawing/2014/main" id="{2DFFF014-2069-43C7-A6A1-9C614CB44915}"/>
              </a:ext>
            </a:extLst>
          </p:cNvPr>
          <p:cNvSpPr>
            <a:spLocks noGrp="1"/>
          </p:cNvSpPr>
          <p:nvPr/>
        </p:nvSpPr>
        <p:spPr>
          <a:xfrm>
            <a:off x="6286500" y="2790825"/>
            <a:ext cx="2390775" cy="400050"/>
          </a:xfrm>
          <a:prstGeom prst="rect">
            <a:avLst/>
          </a:prstGeom>
          <a:noFill/>
          <a:ln w="0">
            <a:noFill/>
          </a:ln>
        </p:spPr>
        <p:txBody>
          <a:bodyPr wrap="square" lIns="0" tIns="0" rIns="0" bIns="0" anchor="ctr">
            <a:noAutofit/>
          </a:bodyPr>
          <a:lstStyle>
            <a:defPPr algn="l">
              <a:defRPr sz="1305">
                <a:solidFill>
                  <a:srgbClr val="5C5C5C"/>
                </a:solidFill>
                <a:latin typeface="에이투지체 4 Regular"/>
                <a:ea typeface="에이투지체 4 Regular"/>
                <a:cs typeface="에이투지체 4 Regular"/>
              </a:defRPr>
            </a:defPPr>
          </a:lstStyle>
          <a:p>
            <a:pPr algn="l">
              <a:defRPr sz="1305">
                <a:solidFill>
                  <a:srgbClr val="5C5C5C"/>
                </a:solidFill>
                <a:latin typeface="에이투지체 4 Regular"/>
                <a:ea typeface="에이투지체 4 Regular"/>
                <a:cs typeface="에이투지체 4 Regular"/>
              </a:defRPr>
            </a:pPr>
            <a:r>
              <a:rPr sz="1305">
                <a:solidFill>
                  <a:srgbClr val="5C5C5C"/>
                </a:solidFill>
                <a:latin typeface="에이투지체 4 Regular"/>
                <a:ea typeface="에이투지체 4 Regular"/>
                <a:cs typeface="에이투지체 4 Regular"/>
              </a:rPr>
              <a:t>누적 시청</a:t>
            </a:r>
          </a:p>
        </p:txBody>
      </p:sp>
      <p:sp>
        <p:nvSpPr>
          <p:cNvPr id="13" name="text-285">
            <a:extLst>
              <a:ext uri="{FF2B5EF4-FFF2-40B4-BE49-F238E27FC236}">
                <a16:creationId xmlns:a16="http://schemas.microsoft.com/office/drawing/2014/main" id="{626FF9CC-EB71-4ACF-A8A2-35C6B9B376A4}"/>
              </a:ext>
            </a:extLst>
          </p:cNvPr>
          <p:cNvSpPr>
            <a:spLocks noGrp="1"/>
          </p:cNvSpPr>
          <p:nvPr/>
        </p:nvSpPr>
        <p:spPr>
          <a:xfrm>
            <a:off x="9153525" y="2152650"/>
            <a:ext cx="2457450" cy="628650"/>
          </a:xfrm>
          <a:prstGeom prst="rect">
            <a:avLst/>
          </a:prstGeom>
          <a:noFill/>
          <a:ln w="0">
            <a:noFill/>
          </a:ln>
        </p:spPr>
        <p:txBody>
          <a:bodyPr wrap="square" lIns="0" tIns="0" rIns="0" bIns="0" anchor="ctr">
            <a:noAutofit/>
          </a:bodyPr>
          <a:lstStyle>
            <a:defPPr algn="l">
              <a:defRPr sz="3300">
                <a:solidFill>
                  <a:srgbClr val="004F9F"/>
                </a:solidFill>
                <a:latin typeface="에이투지체 8 ExtraBold"/>
                <a:ea typeface="에이투지체 8 ExtraBold"/>
                <a:cs typeface="에이투지체 8 ExtraBold"/>
              </a:defRPr>
            </a:defPPr>
          </a:lstStyle>
          <a:p>
            <a:pPr algn="l">
              <a:defRPr sz="3300">
                <a:solidFill>
                  <a:srgbClr val="004F9F"/>
                </a:solidFill>
                <a:latin typeface="에이투지체 8 ExtraBold"/>
                <a:ea typeface="에이투지체 8 ExtraBold"/>
                <a:cs typeface="에이투지체 8 ExtraBold"/>
              </a:defRPr>
            </a:pPr>
            <a:r>
              <a:rPr sz="3300">
                <a:solidFill>
                  <a:srgbClr val="004F9F"/>
                </a:solidFill>
                <a:latin typeface="에이투지체 8 ExtraBold"/>
                <a:ea typeface="에이투지체 8 ExtraBold"/>
                <a:cs typeface="에이투지체 8 ExtraBold"/>
              </a:rPr>
              <a:t>4%</a:t>
            </a:r>
          </a:p>
        </p:txBody>
      </p:sp>
      <p:sp>
        <p:nvSpPr>
          <p:cNvPr id="14" name="text-286">
            <a:extLst>
              <a:ext uri="{FF2B5EF4-FFF2-40B4-BE49-F238E27FC236}">
                <a16:creationId xmlns:a16="http://schemas.microsoft.com/office/drawing/2014/main" id="{397378DD-A136-4D7C-9118-34CFA9FA0C8A}"/>
              </a:ext>
            </a:extLst>
          </p:cNvPr>
          <p:cNvSpPr>
            <a:spLocks noGrp="1"/>
          </p:cNvSpPr>
          <p:nvPr/>
        </p:nvSpPr>
        <p:spPr>
          <a:xfrm>
            <a:off x="9153525" y="2790825"/>
            <a:ext cx="2457450" cy="400050"/>
          </a:xfrm>
          <a:prstGeom prst="rect">
            <a:avLst/>
          </a:prstGeom>
          <a:noFill/>
          <a:ln w="0">
            <a:noFill/>
          </a:ln>
        </p:spPr>
        <p:txBody>
          <a:bodyPr wrap="square" lIns="0" tIns="0" rIns="0" bIns="0" anchor="ctr">
            <a:noAutofit/>
          </a:bodyPr>
          <a:lstStyle>
            <a:defPPr algn="l">
              <a:defRPr sz="1305">
                <a:solidFill>
                  <a:srgbClr val="5C5C5C"/>
                </a:solidFill>
                <a:latin typeface="에이투지체 4 Regular"/>
                <a:ea typeface="에이투지체 4 Regular"/>
                <a:cs typeface="에이투지체 4 Regular"/>
              </a:defRPr>
            </a:defPPr>
          </a:lstStyle>
          <a:p>
            <a:pPr algn="l">
              <a:defRPr sz="1305">
                <a:solidFill>
                  <a:srgbClr val="5C5C5C"/>
                </a:solidFill>
                <a:latin typeface="에이투지체 4 Regular"/>
                <a:ea typeface="에이투지체 4 Regular"/>
                <a:cs typeface="에이투지체 4 Regular"/>
              </a:defRPr>
            </a:pPr>
            <a:r>
              <a:rPr sz="1305">
                <a:solidFill>
                  <a:srgbClr val="5C5C5C"/>
                </a:solidFill>
                <a:latin typeface="에이투지체 4 Regular"/>
                <a:ea typeface="에이투지체 4 Regular"/>
                <a:cs typeface="에이투지체 4 Regular"/>
              </a:rPr>
              <a:t>평균 구매전환율</a:t>
            </a:r>
          </a:p>
        </p:txBody>
      </p:sp>
      <p:sp>
        <p:nvSpPr>
          <p:cNvPr id="15" name="text-287">
            <a:extLst>
              <a:ext uri="{FF2B5EF4-FFF2-40B4-BE49-F238E27FC236}">
                <a16:creationId xmlns:a16="http://schemas.microsoft.com/office/drawing/2014/main" id="{1395EAB8-2E07-4734-85EA-05FB9FE3A5F9}"/>
              </a:ext>
            </a:extLst>
          </p:cNvPr>
          <p:cNvSpPr>
            <a:spLocks noGrp="1"/>
          </p:cNvSpPr>
          <p:nvPr/>
        </p:nvSpPr>
        <p:spPr>
          <a:xfrm>
            <a:off x="552450" y="3686175"/>
            <a:ext cx="10763250"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두드림 행사 방송 운영 구성</a:t>
            </a:r>
          </a:p>
        </p:txBody>
      </p:sp>
      <p:sp>
        <p:nvSpPr>
          <p:cNvPr id="16" name="node-288">
            <a:extLst>
              <a:ext uri="{FF2B5EF4-FFF2-40B4-BE49-F238E27FC236}">
                <a16:creationId xmlns:a16="http://schemas.microsoft.com/office/drawing/2014/main" id="{E8ADE54A-AAC2-4429-A4B6-99BBCD29BCD7}"/>
              </a:ext>
            </a:extLst>
          </p:cNvPr>
          <p:cNvSpPr>
            <a:spLocks noGrp="1"/>
          </p:cNvSpPr>
          <p:nvPr/>
        </p:nvSpPr>
        <p:spPr>
          <a:xfrm>
            <a:off x="552450" y="4105275"/>
            <a:ext cx="2514600" cy="590550"/>
          </a:xfrm>
          <a:prstGeom prst="roundRect">
            <a:avLst>
              <a:gd name="adj" fmla="val 12387"/>
            </a:avLst>
          </a:prstGeom>
          <a:solidFill>
            <a:srgbClr val="F5F5F5"/>
          </a:solidFill>
          <a:ln w="0">
            <a:noFill/>
          </a:ln>
        </p:spPr>
        <p:txBody>
          <a:bodyPr/>
          <a:lstStyle/>
          <a:p>
            <a:endParaRPr lang="ko-KR" altLang="en-US"/>
          </a:p>
        </p:txBody>
      </p:sp>
      <p:sp>
        <p:nvSpPr>
          <p:cNvPr id="17" name="text-289">
            <a:extLst>
              <a:ext uri="{FF2B5EF4-FFF2-40B4-BE49-F238E27FC236}">
                <a16:creationId xmlns:a16="http://schemas.microsoft.com/office/drawing/2014/main" id="{13772EC3-DC09-4578-93DD-9FD8AD46BE74}"/>
              </a:ext>
            </a:extLst>
          </p:cNvPr>
          <p:cNvSpPr>
            <a:spLocks noGrp="1"/>
          </p:cNvSpPr>
          <p:nvPr/>
        </p:nvSpPr>
        <p:spPr>
          <a:xfrm>
            <a:off x="666750" y="4152900"/>
            <a:ext cx="2286000" cy="495300"/>
          </a:xfrm>
          <a:prstGeom prst="rect">
            <a:avLst/>
          </a:prstGeom>
          <a:noFill/>
          <a:ln w="0">
            <a:noFill/>
          </a:ln>
        </p:spPr>
        <p:txBody>
          <a:bodyPr wrap="square" lIns="0" tIns="0" rIns="0" bIns="0" anchor="ctr">
            <a:noAutofit/>
          </a:bodyPr>
          <a:lstStyle>
            <a:defPPr algn="ctr">
              <a:defRPr sz="1425">
                <a:solidFill>
                  <a:srgbClr val="222222"/>
                </a:solidFill>
                <a:latin typeface="에이투지체 6 SemiBold"/>
                <a:ea typeface="에이투지체 6 SemiBold"/>
                <a:cs typeface="에이투지체 6 SemiBold"/>
              </a:defRPr>
            </a:defPPr>
          </a:lstStyle>
          <a:p>
            <a:pPr algn="ctr">
              <a:defRPr sz="1425">
                <a:solidFill>
                  <a:srgbClr val="222222"/>
                </a:solidFill>
                <a:latin typeface="에이투지체 6 SemiBold"/>
                <a:ea typeface="에이투지체 6 SemiBold"/>
                <a:cs typeface="에이투지체 6 SemiBold"/>
              </a:defRPr>
            </a:pPr>
            <a:r>
              <a:rPr sz="1425">
                <a:solidFill>
                  <a:srgbClr val="222222"/>
                </a:solidFill>
                <a:latin typeface="에이투지체 6 SemiBold"/>
                <a:ea typeface="에이투지체 6 SemiBold"/>
                <a:cs typeface="에이투지체 6 SemiBold"/>
              </a:rPr>
              <a:t>상품·혜택 기획</a:t>
            </a:r>
          </a:p>
        </p:txBody>
      </p:sp>
      <p:sp>
        <p:nvSpPr>
          <p:cNvPr id="18" name="node-290">
            <a:extLst>
              <a:ext uri="{FF2B5EF4-FFF2-40B4-BE49-F238E27FC236}">
                <a16:creationId xmlns:a16="http://schemas.microsoft.com/office/drawing/2014/main" id="{28C19402-0351-4284-B33A-1B79542FC21C}"/>
              </a:ext>
            </a:extLst>
          </p:cNvPr>
          <p:cNvSpPr>
            <a:spLocks noGrp="1"/>
          </p:cNvSpPr>
          <p:nvPr/>
        </p:nvSpPr>
        <p:spPr>
          <a:xfrm>
            <a:off x="3390900" y="4105275"/>
            <a:ext cx="2514600" cy="590550"/>
          </a:xfrm>
          <a:prstGeom prst="roundRect">
            <a:avLst>
              <a:gd name="adj" fmla="val 12387"/>
            </a:avLst>
          </a:prstGeom>
          <a:solidFill>
            <a:srgbClr val="F5F5F5"/>
          </a:solidFill>
          <a:ln w="0">
            <a:noFill/>
          </a:ln>
        </p:spPr>
        <p:txBody>
          <a:bodyPr/>
          <a:lstStyle/>
          <a:p>
            <a:endParaRPr lang="ko-KR" altLang="en-US"/>
          </a:p>
        </p:txBody>
      </p:sp>
      <p:sp>
        <p:nvSpPr>
          <p:cNvPr id="19" name="text-291">
            <a:extLst>
              <a:ext uri="{FF2B5EF4-FFF2-40B4-BE49-F238E27FC236}">
                <a16:creationId xmlns:a16="http://schemas.microsoft.com/office/drawing/2014/main" id="{359DDF92-B975-47DD-913C-21B1F2546567}"/>
              </a:ext>
            </a:extLst>
          </p:cNvPr>
          <p:cNvSpPr>
            <a:spLocks noGrp="1"/>
          </p:cNvSpPr>
          <p:nvPr/>
        </p:nvSpPr>
        <p:spPr>
          <a:xfrm>
            <a:off x="3505200" y="4152900"/>
            <a:ext cx="2286000" cy="495300"/>
          </a:xfrm>
          <a:prstGeom prst="rect">
            <a:avLst/>
          </a:prstGeom>
          <a:noFill/>
          <a:ln w="0">
            <a:noFill/>
          </a:ln>
        </p:spPr>
        <p:txBody>
          <a:bodyPr wrap="square" lIns="0" tIns="0" rIns="0" bIns="0" anchor="ctr">
            <a:noAutofit/>
          </a:bodyPr>
          <a:lstStyle>
            <a:defPPr algn="ctr">
              <a:defRPr sz="1425">
                <a:solidFill>
                  <a:srgbClr val="222222"/>
                </a:solidFill>
                <a:latin typeface="에이투지체 6 SemiBold"/>
                <a:ea typeface="에이투지체 6 SemiBold"/>
                <a:cs typeface="에이투지체 6 SemiBold"/>
              </a:defRPr>
            </a:defPPr>
          </a:lstStyle>
          <a:p>
            <a:pPr algn="ctr">
              <a:defRPr sz="1425">
                <a:solidFill>
                  <a:srgbClr val="222222"/>
                </a:solidFill>
                <a:latin typeface="에이투지체 6 SemiBold"/>
                <a:ea typeface="에이투지체 6 SemiBold"/>
                <a:cs typeface="에이투지체 6 SemiBold"/>
              </a:defRPr>
            </a:pPr>
            <a:r>
              <a:rPr sz="1425">
                <a:solidFill>
                  <a:srgbClr val="222222"/>
                </a:solidFill>
                <a:latin typeface="에이투지체 6 SemiBold"/>
                <a:ea typeface="에이투지체 6 SemiBold"/>
                <a:cs typeface="에이투지체 6 SemiBold"/>
              </a:rPr>
              <a:t>대본·소재 제작</a:t>
            </a:r>
          </a:p>
        </p:txBody>
      </p:sp>
      <p:sp>
        <p:nvSpPr>
          <p:cNvPr id="20" name="node-292">
            <a:extLst>
              <a:ext uri="{FF2B5EF4-FFF2-40B4-BE49-F238E27FC236}">
                <a16:creationId xmlns:a16="http://schemas.microsoft.com/office/drawing/2014/main" id="{E1D68CE4-A225-4B03-A12F-DC748D044B59}"/>
              </a:ext>
            </a:extLst>
          </p:cNvPr>
          <p:cNvSpPr>
            <a:spLocks noGrp="1"/>
          </p:cNvSpPr>
          <p:nvPr/>
        </p:nvSpPr>
        <p:spPr>
          <a:xfrm>
            <a:off x="6229350" y="4105275"/>
            <a:ext cx="2514600" cy="590550"/>
          </a:xfrm>
          <a:prstGeom prst="roundRect">
            <a:avLst>
              <a:gd name="adj" fmla="val 12387"/>
            </a:avLst>
          </a:prstGeom>
          <a:solidFill>
            <a:srgbClr val="004F9F"/>
          </a:solidFill>
          <a:ln w="0">
            <a:noFill/>
          </a:ln>
        </p:spPr>
        <p:txBody>
          <a:bodyPr/>
          <a:lstStyle/>
          <a:p>
            <a:endParaRPr lang="ko-KR" altLang="en-US"/>
          </a:p>
        </p:txBody>
      </p:sp>
      <p:sp>
        <p:nvSpPr>
          <p:cNvPr id="21" name="text-293">
            <a:extLst>
              <a:ext uri="{FF2B5EF4-FFF2-40B4-BE49-F238E27FC236}">
                <a16:creationId xmlns:a16="http://schemas.microsoft.com/office/drawing/2014/main" id="{A64F6586-1E02-4BDA-93CA-66BFB0AC20A5}"/>
              </a:ext>
            </a:extLst>
          </p:cNvPr>
          <p:cNvSpPr>
            <a:spLocks noGrp="1"/>
          </p:cNvSpPr>
          <p:nvPr/>
        </p:nvSpPr>
        <p:spPr>
          <a:xfrm>
            <a:off x="6343650" y="4152900"/>
            <a:ext cx="2286000" cy="495300"/>
          </a:xfrm>
          <a:prstGeom prst="rect">
            <a:avLst/>
          </a:prstGeom>
          <a:noFill/>
          <a:ln w="0">
            <a:noFill/>
          </a:ln>
        </p:spPr>
        <p:txBody>
          <a:bodyPr wrap="square" lIns="0" tIns="0" rIns="0" bIns="0" anchor="ctr">
            <a:noAutofit/>
          </a:bodyPr>
          <a:lstStyle>
            <a:defPPr algn="ctr">
              <a:defRPr sz="1425">
                <a:solidFill>
                  <a:srgbClr val="FFFFFF"/>
                </a:solidFill>
                <a:latin typeface="에이투지체 6 SemiBold"/>
                <a:ea typeface="에이투지체 6 SemiBold"/>
                <a:cs typeface="에이투지체 6 SemiBold"/>
              </a:defRPr>
            </a:defPPr>
          </a:lstStyle>
          <a:p>
            <a:pPr algn="ctr">
              <a:defRPr sz="1425">
                <a:solidFill>
                  <a:srgbClr val="FFFFFF"/>
                </a:solidFill>
                <a:latin typeface="에이투지체 6 SemiBold"/>
                <a:ea typeface="에이투지체 6 SemiBold"/>
                <a:cs typeface="에이투지체 6 SemiBold"/>
              </a:defRPr>
            </a:pPr>
            <a:r>
              <a:rPr sz="1425">
                <a:solidFill>
                  <a:srgbClr val="FFFFFF"/>
                </a:solidFill>
                <a:latin typeface="에이투지체 6 SemiBold"/>
                <a:ea typeface="에이투지체 6 SemiBold"/>
                <a:cs typeface="에이투지체 6 SemiBold"/>
              </a:rPr>
              <a:t>라이브 방송</a:t>
            </a:r>
          </a:p>
        </p:txBody>
      </p:sp>
      <p:sp>
        <p:nvSpPr>
          <p:cNvPr id="22" name="node-294">
            <a:extLst>
              <a:ext uri="{FF2B5EF4-FFF2-40B4-BE49-F238E27FC236}">
                <a16:creationId xmlns:a16="http://schemas.microsoft.com/office/drawing/2014/main" id="{16D7331A-0A87-493A-9D1F-8A1BE8784BB5}"/>
              </a:ext>
            </a:extLst>
          </p:cNvPr>
          <p:cNvSpPr>
            <a:spLocks noGrp="1"/>
          </p:cNvSpPr>
          <p:nvPr/>
        </p:nvSpPr>
        <p:spPr>
          <a:xfrm>
            <a:off x="9067800" y="4105275"/>
            <a:ext cx="2514600" cy="590550"/>
          </a:xfrm>
          <a:prstGeom prst="roundRect">
            <a:avLst>
              <a:gd name="adj" fmla="val 12387"/>
            </a:avLst>
          </a:prstGeom>
          <a:solidFill>
            <a:srgbClr val="F5F5F5"/>
          </a:solidFill>
          <a:ln w="0">
            <a:noFill/>
          </a:ln>
        </p:spPr>
        <p:txBody>
          <a:bodyPr/>
          <a:lstStyle/>
          <a:p>
            <a:endParaRPr lang="ko-KR" altLang="en-US"/>
          </a:p>
        </p:txBody>
      </p:sp>
      <p:sp>
        <p:nvSpPr>
          <p:cNvPr id="23" name="text-295">
            <a:extLst>
              <a:ext uri="{FF2B5EF4-FFF2-40B4-BE49-F238E27FC236}">
                <a16:creationId xmlns:a16="http://schemas.microsoft.com/office/drawing/2014/main" id="{85DB2568-89F1-48CE-A7CC-5DA11DC0ADEB}"/>
              </a:ext>
            </a:extLst>
          </p:cNvPr>
          <p:cNvSpPr>
            <a:spLocks noGrp="1"/>
          </p:cNvSpPr>
          <p:nvPr/>
        </p:nvSpPr>
        <p:spPr>
          <a:xfrm>
            <a:off x="9182100" y="4152900"/>
            <a:ext cx="2286000" cy="495300"/>
          </a:xfrm>
          <a:prstGeom prst="rect">
            <a:avLst/>
          </a:prstGeom>
          <a:noFill/>
          <a:ln w="0">
            <a:noFill/>
          </a:ln>
        </p:spPr>
        <p:txBody>
          <a:bodyPr wrap="square" lIns="0" tIns="0" rIns="0" bIns="0" anchor="ctr">
            <a:noAutofit/>
          </a:bodyPr>
          <a:lstStyle>
            <a:defPPr algn="ctr">
              <a:defRPr sz="1425">
                <a:solidFill>
                  <a:srgbClr val="222222"/>
                </a:solidFill>
                <a:latin typeface="에이투지체 6 SemiBold"/>
                <a:ea typeface="에이투지체 6 SemiBold"/>
                <a:cs typeface="에이투지체 6 SemiBold"/>
              </a:defRPr>
            </a:defPPr>
          </a:lstStyle>
          <a:p>
            <a:pPr algn="ctr">
              <a:defRPr sz="1425">
                <a:solidFill>
                  <a:srgbClr val="222222"/>
                </a:solidFill>
                <a:latin typeface="에이투지체 6 SemiBold"/>
                <a:ea typeface="에이투지체 6 SemiBold"/>
                <a:cs typeface="에이투지체 6 SemiBold"/>
              </a:defRPr>
            </a:pPr>
            <a:r>
              <a:rPr sz="1425">
                <a:solidFill>
                  <a:srgbClr val="222222"/>
                </a:solidFill>
                <a:latin typeface="에이투지체 6 SemiBold"/>
                <a:ea typeface="에이투지체 6 SemiBold"/>
                <a:cs typeface="에이투지체 6 SemiBold"/>
              </a:rPr>
              <a:t>편집·성과 분석</a:t>
            </a:r>
          </a:p>
        </p:txBody>
      </p:sp>
      <p:sp>
        <p:nvSpPr>
          <p:cNvPr id="24" name="text-296">
            <a:extLst>
              <a:ext uri="{FF2B5EF4-FFF2-40B4-BE49-F238E27FC236}">
                <a16:creationId xmlns:a16="http://schemas.microsoft.com/office/drawing/2014/main" id="{FE0FDC22-02BB-45EC-B2C9-AA4568C9D023}"/>
              </a:ext>
            </a:extLst>
          </p:cNvPr>
          <p:cNvSpPr>
            <a:spLocks noGrp="1"/>
          </p:cNvSpPr>
          <p:nvPr/>
        </p:nvSpPr>
        <p:spPr>
          <a:xfrm>
            <a:off x="552450" y="4876800"/>
            <a:ext cx="5124450" cy="552450"/>
          </a:xfrm>
          <a:prstGeom prst="rect">
            <a:avLst/>
          </a:prstGeom>
          <a:noFill/>
          <a:ln w="0">
            <a:noFill/>
          </a:ln>
        </p:spPr>
        <p:txBody>
          <a:bodyPr wrap="square" lIns="0" tIns="0" rIns="0" bIns="0" anchor="ctr">
            <a:noAutofit/>
          </a:bodyPr>
          <a:lstStyle>
            <a:defPPr algn="l">
              <a:defRPr sz="1402">
                <a:solidFill>
                  <a:srgbClr val="5C5C5C"/>
                </a:solidFill>
                <a:latin typeface="에이투지체 4 Regular"/>
                <a:ea typeface="에이투지체 4 Regular"/>
                <a:cs typeface="에이투지체 4 Regular"/>
              </a:defRPr>
            </a:defPPr>
          </a:lstStyle>
          <a:p>
            <a:pPr algn="l">
              <a:defRPr sz="1402">
                <a:solidFill>
                  <a:srgbClr val="5C5C5C"/>
                </a:solidFill>
                <a:latin typeface="에이투지체 4 Regular"/>
                <a:ea typeface="에이투지체 4 Regular"/>
                <a:cs typeface="에이투지체 4 Regular"/>
              </a:defRPr>
            </a:pPr>
            <a:r>
              <a:rPr sz="1402">
                <a:solidFill>
                  <a:srgbClr val="5C5C5C"/>
                </a:solidFill>
                <a:latin typeface="에이투지체 4 Regular"/>
                <a:ea typeface="에이투지체 4 Regular"/>
                <a:cs typeface="에이투지체 4 Regular"/>
              </a:rPr>
              <a:t>상품의 실제 기능성·섭취 방식 설명</a:t>
            </a:r>
          </a:p>
          <a:p>
            <a:pPr algn="l">
              <a:defRPr sz="1402">
                <a:solidFill>
                  <a:srgbClr val="5C5C5C"/>
                </a:solidFill>
                <a:latin typeface="에이투지체 4 Regular"/>
                <a:ea typeface="에이투지체 4 Regular"/>
                <a:cs typeface="에이투지체 4 Regular"/>
              </a:defRPr>
            </a:pPr>
            <a:r>
              <a:rPr sz="1402">
                <a:solidFill>
                  <a:srgbClr val="5C5C5C"/>
                </a:solidFill>
                <a:latin typeface="에이투지체 4 Regular"/>
                <a:ea typeface="에이투지체 4 Regular"/>
                <a:cs typeface="에이투지체 4 Regular"/>
              </a:rPr>
              <a:t>전용 구성과 혜택을 시연·안내</a:t>
            </a:r>
          </a:p>
        </p:txBody>
      </p:sp>
      <p:sp>
        <p:nvSpPr>
          <p:cNvPr id="25" name="text-297">
            <a:extLst>
              <a:ext uri="{FF2B5EF4-FFF2-40B4-BE49-F238E27FC236}">
                <a16:creationId xmlns:a16="http://schemas.microsoft.com/office/drawing/2014/main" id="{507D5280-B1D2-4798-B888-13E2679E6BC7}"/>
              </a:ext>
            </a:extLst>
          </p:cNvPr>
          <p:cNvSpPr>
            <a:spLocks noGrp="1"/>
          </p:cNvSpPr>
          <p:nvPr/>
        </p:nvSpPr>
        <p:spPr>
          <a:xfrm>
            <a:off x="6438900" y="4876800"/>
            <a:ext cx="5124450" cy="552450"/>
          </a:xfrm>
          <a:prstGeom prst="rect">
            <a:avLst/>
          </a:prstGeom>
          <a:noFill/>
          <a:ln w="0">
            <a:noFill/>
          </a:ln>
        </p:spPr>
        <p:txBody>
          <a:bodyPr wrap="square" lIns="0" tIns="0" rIns="0" bIns="0" anchor="ctr">
            <a:noAutofit/>
          </a:bodyPr>
          <a:lstStyle>
            <a:defPPr algn="l">
              <a:defRPr sz="1402">
                <a:solidFill>
                  <a:srgbClr val="5C5C5C"/>
                </a:solidFill>
                <a:latin typeface="에이투지체 4 Regular"/>
                <a:ea typeface="에이투지체 4 Regular"/>
                <a:cs typeface="에이투지체 4 Regular"/>
              </a:defRPr>
            </a:defPPr>
          </a:lstStyle>
          <a:p>
            <a:pPr algn="l">
              <a:defRPr sz="1402">
                <a:solidFill>
                  <a:srgbClr val="5C5C5C"/>
                </a:solidFill>
                <a:latin typeface="에이투지체 4 Regular"/>
                <a:ea typeface="에이투지체 4 Regular"/>
                <a:cs typeface="에이투지체 4 Regular"/>
              </a:defRPr>
            </a:pPr>
            <a:r>
              <a:rPr sz="1402">
                <a:solidFill>
                  <a:srgbClr val="5C5C5C"/>
                </a:solidFill>
                <a:latin typeface="에이투지체 4 Regular"/>
                <a:ea typeface="에이투지체 4 Regular"/>
                <a:cs typeface="에이투지체 4 Regular"/>
              </a:rPr>
              <a:t>방송 유입과 구매 성과를 구분해 확인</a:t>
            </a:r>
          </a:p>
          <a:p>
            <a:pPr algn="l">
              <a:defRPr sz="1402">
                <a:solidFill>
                  <a:srgbClr val="5C5C5C"/>
                </a:solidFill>
                <a:latin typeface="에이투지체 4 Regular"/>
                <a:ea typeface="에이투지체 4 Regular"/>
                <a:cs typeface="에이투지체 4 Regular"/>
              </a:defRPr>
            </a:pPr>
            <a:r>
              <a:rPr sz="1402">
                <a:solidFill>
                  <a:srgbClr val="5C5C5C"/>
                </a:solidFill>
                <a:latin typeface="에이투지체 4 Regular"/>
                <a:ea typeface="에이투지체 4 Regular"/>
                <a:cs typeface="에이투지체 4 Regular"/>
              </a:rPr>
              <a:t>방송 후 활용할 숏클립 소재 확보</a:t>
            </a:r>
          </a:p>
        </p:txBody>
      </p:sp>
      <p:sp>
        <p:nvSpPr>
          <p:cNvPr id="26" name="node-298">
            <a:extLst>
              <a:ext uri="{FF2B5EF4-FFF2-40B4-BE49-F238E27FC236}">
                <a16:creationId xmlns:a16="http://schemas.microsoft.com/office/drawing/2014/main" id="{01DBFD5D-DE74-4126-B06A-91F9B9D133AB}"/>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27" name="text-299">
            <a:extLst>
              <a:ext uri="{FF2B5EF4-FFF2-40B4-BE49-F238E27FC236}">
                <a16:creationId xmlns:a16="http://schemas.microsoft.com/office/drawing/2014/main" id="{E85187EF-1D4C-47C0-9CDA-50BFC6F46E57}"/>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행사 상품의 설명과 구매 혜택을 묶고, 방송 전후 광고를 같은 상품으로 연결합니다</a:t>
            </a:r>
          </a:p>
        </p:txBody>
      </p:sp>
      <p:sp>
        <p:nvSpPr>
          <p:cNvPr id="28" name="text-300">
            <a:extLst>
              <a:ext uri="{FF2B5EF4-FFF2-40B4-BE49-F238E27FC236}">
                <a16:creationId xmlns:a16="http://schemas.microsoft.com/office/drawing/2014/main" id="{2D9F0257-5223-4510-8F8D-B0BE017F43E7}"/>
              </a:ext>
            </a:extLst>
          </p:cNvPr>
          <p:cNvSpPr>
            <a:spLocks noGrp="1"/>
          </p:cNvSpPr>
          <p:nvPr/>
        </p:nvSpPr>
        <p:spPr>
          <a:xfrm>
            <a:off x="552450" y="6076950"/>
            <a:ext cx="11049000" cy="266700"/>
          </a:xfrm>
          <a:prstGeom prst="rect">
            <a:avLst/>
          </a:prstGeom>
          <a:noFill/>
          <a:ln w="0">
            <a:noFill/>
          </a:ln>
        </p:spPr>
        <p:txBody>
          <a:bodyPr wrap="square" lIns="0" tIns="0" rIns="0" bIns="0" anchor="ctr">
            <a:noAutofit/>
          </a:bodyPr>
          <a:lstStyle>
            <a:defPPr algn="l">
              <a:defRPr sz="878">
                <a:solidFill>
                  <a:srgbClr val="5C5C5C"/>
                </a:solidFill>
                <a:latin typeface="에이투지체 4 Regular"/>
                <a:ea typeface="에이투지체 4 Regular"/>
                <a:cs typeface="에이투지체 4 Regular"/>
              </a:defRPr>
            </a:defPPr>
          </a:lstStyle>
          <a:p>
            <a:pPr algn="l">
              <a:defRPr sz="878">
                <a:solidFill>
                  <a:srgbClr val="5C5C5C"/>
                </a:solidFill>
                <a:latin typeface="에이투지체 4 Regular"/>
                <a:ea typeface="에이투지체 4 Regular"/>
                <a:cs typeface="에이투지체 4 Regular"/>
              </a:defRPr>
            </a:pPr>
            <a:r>
              <a:rPr sz="878">
                <a:solidFill>
                  <a:srgbClr val="5C5C5C"/>
                </a:solidFill>
                <a:latin typeface="에이투지체 4 Regular"/>
                <a:ea typeface="에이투지체 4 Regular"/>
                <a:cs typeface="에이투지체 4 Regular"/>
              </a:rPr>
              <a:t>실적은 가안 기재 기준. 집계 기간·전환율 산식·원본 소개서 대조 후 확정하며 두드림 예상 실적과 구분</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19"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0"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21" name="PGNO"/>
          <p:cNvSpPr txBox="1"/>
          <p:nvPr/>
        </p:nvSpPr>
        <p:spPr>
          <a:xfrm>
            <a:off x="11292840" y="6473952"/>
            <a:ext cx="365760" cy="123111"/>
          </a:xfrm>
          <a:prstGeom prst="rect">
            <a:avLst/>
          </a:prstGeom>
          <a:noFill/>
        </p:spPr>
        <p:txBody>
          <a:bodyPr wrap="square" lIns="0" tIns="0" rIns="0" bIns="0" anchor="t">
            <a:spAutoFit/>
          </a:bodyPr>
          <a:lstStyle/>
          <a:p>
            <a:pPr algn="r"/>
            <a:r>
              <a:rPr lang="en-US" sz="800" dirty="0">
                <a:solidFill>
                  <a:srgbClr val="222222"/>
                </a:solidFill>
                <a:latin typeface="에이투지체 6 SemiBold"/>
              </a:rPr>
              <a:t>49</a:t>
            </a:r>
            <a:endParaRPr sz="800" dirty="0">
              <a:solidFill>
                <a:srgbClr val="222222"/>
              </a:solidFill>
              <a:latin typeface="에이투지체 6 SemiBold"/>
            </a:endParaRPr>
          </a:p>
        </p:txBody>
      </p:sp>
      <p:sp>
        <p:nvSpPr>
          <p:cNvPr id="2" name="text-301">
            <a:extLst>
              <a:ext uri="{FF2B5EF4-FFF2-40B4-BE49-F238E27FC236}">
                <a16:creationId xmlns:a16="http://schemas.microsoft.com/office/drawing/2014/main" id="{627C45D1-ADF3-42C9-AA6B-C215ACDDD6C3}"/>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행사 연동 방송</a:t>
            </a:r>
            <a:r>
              <a:rPr lang="ko-KR" sz="1900" dirty="0">
                <a:solidFill>
                  <a:srgbClr val="222222"/>
                </a:solidFill>
                <a:latin typeface="에이투지체 8 ExtraBold"/>
                <a:ea typeface="에이투지체 8 ExtraBold"/>
                <a:cs typeface="에이투지체 8 ExtraBold"/>
              </a:rPr>
              <a:t>  사전 숏클립부터 당일 방송 유입</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방송 후 구매까지 같은 상품으로 운영합니다</a:t>
            </a:r>
            <a:endParaRPr lang="ko-KR" sz="1900" dirty="0"/>
          </a:p>
        </p:txBody>
      </p:sp>
      <p:sp>
        <p:nvSpPr>
          <p:cNvPr id="3" name="text-302">
            <a:extLst>
              <a:ext uri="{FF2B5EF4-FFF2-40B4-BE49-F238E27FC236}">
                <a16:creationId xmlns:a16="http://schemas.microsoft.com/office/drawing/2014/main" id="{D5B53FAA-4505-435C-8752-BEF9E3C09345}"/>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쇼핑라이브 추가 제안 ② 행사 연동 방송</a:t>
            </a:r>
            <a:endParaRPr lang="ko-KR" sz="1100" dirty="0"/>
          </a:p>
        </p:txBody>
      </p:sp>
      <p:sp>
        <p:nvSpPr>
          <p:cNvPr id="4" name="node-303">
            <a:extLst>
              <a:ext uri="{FF2B5EF4-FFF2-40B4-BE49-F238E27FC236}">
                <a16:creationId xmlns:a16="http://schemas.microsoft.com/office/drawing/2014/main" id="{D45B0778-2738-45C7-9281-CF49E48B07C6}"/>
              </a:ext>
            </a:extLst>
          </p:cNvPr>
          <p:cNvSpPr>
            <a:spLocks noGrp="1"/>
          </p:cNvSpPr>
          <p:nvPr/>
        </p:nvSpPr>
        <p:spPr>
          <a:xfrm>
            <a:off x="552450" y="2181225"/>
            <a:ext cx="3611880" cy="590550"/>
          </a:xfrm>
          <a:prstGeom prst="homePlate">
            <a:avLst>
              <a:gd name="adj" fmla="val 30000"/>
            </a:avLst>
          </a:prstGeom>
          <a:solidFill>
            <a:srgbClr val="EAF2FB"/>
          </a:solidFill>
          <a:ln w="0">
            <a:noFill/>
          </a:ln>
        </p:spPr>
        <p:txBody>
          <a:bodyPr/>
          <a:lstStyle/>
          <a:p>
            <a:endParaRPr lang="ko-KR" altLang="en-US"/>
          </a:p>
        </p:txBody>
      </p:sp>
      <p:sp>
        <p:nvSpPr>
          <p:cNvPr id="5" name="text-304">
            <a:extLst>
              <a:ext uri="{FF2B5EF4-FFF2-40B4-BE49-F238E27FC236}">
                <a16:creationId xmlns:a16="http://schemas.microsoft.com/office/drawing/2014/main" id="{C57260C4-D50E-4A76-9DC4-070F06014C7C}"/>
              </a:ext>
            </a:extLst>
          </p:cNvPr>
          <p:cNvSpPr>
            <a:spLocks noGrp="1"/>
          </p:cNvSpPr>
          <p:nvPr/>
        </p:nvSpPr>
        <p:spPr>
          <a:xfrm>
            <a:off x="742950" y="2305050"/>
            <a:ext cx="3067050" cy="323850"/>
          </a:xfrm>
          <a:prstGeom prst="rect">
            <a:avLst/>
          </a:prstGeom>
          <a:noFill/>
          <a:ln w="0">
            <a:noFill/>
          </a:ln>
        </p:spPr>
        <p:txBody>
          <a:bodyPr wrap="square" lIns="0" tIns="0" rIns="0" bIns="0" anchor="ctr">
            <a:noAutofit/>
          </a:bodyPr>
          <a:lstStyle>
            <a:defPPr algn="l">
              <a:defRPr sz="1725">
                <a:solidFill>
                  <a:srgbClr val="004F9F"/>
                </a:solidFill>
                <a:latin typeface="에이투지체 6 SemiBold"/>
                <a:ea typeface="에이투지체 6 SemiBold"/>
                <a:cs typeface="에이투지체 6 SemiBold"/>
              </a:defRPr>
            </a:defPPr>
          </a:lstStyle>
          <a:p>
            <a:pPr algn="l">
              <a:defRPr sz="1725">
                <a:solidFill>
                  <a:srgbClr val="004F9F"/>
                </a:solidFill>
                <a:latin typeface="에이투지체 6 SemiBold"/>
                <a:ea typeface="에이투지체 6 SemiBold"/>
                <a:cs typeface="에이투지체 6 SemiBold"/>
              </a:defRPr>
            </a:pPr>
            <a:r>
              <a:rPr sz="1725">
                <a:solidFill>
                  <a:srgbClr val="004F9F"/>
                </a:solidFill>
                <a:latin typeface="에이투지체 6 SemiBold"/>
                <a:ea typeface="에이투지체 6 SemiBold"/>
                <a:cs typeface="에이투지체 6 SemiBold"/>
              </a:rPr>
              <a:t>방송 전</a:t>
            </a:r>
          </a:p>
        </p:txBody>
      </p:sp>
      <p:sp>
        <p:nvSpPr>
          <p:cNvPr id="6" name="text-305">
            <a:extLst>
              <a:ext uri="{FF2B5EF4-FFF2-40B4-BE49-F238E27FC236}">
                <a16:creationId xmlns:a16="http://schemas.microsoft.com/office/drawing/2014/main" id="{6C4B4EEF-3AB0-4705-9CB6-A47C99D2D5C0}"/>
              </a:ext>
            </a:extLst>
          </p:cNvPr>
          <p:cNvSpPr>
            <a:spLocks noGrp="1"/>
          </p:cNvSpPr>
          <p:nvPr/>
        </p:nvSpPr>
        <p:spPr>
          <a:xfrm>
            <a:off x="552450" y="3000375"/>
            <a:ext cx="3448050" cy="390525"/>
          </a:xfrm>
          <a:prstGeom prst="rect">
            <a:avLst/>
          </a:prstGeom>
          <a:noFill/>
          <a:ln w="0">
            <a:noFill/>
          </a:ln>
        </p:spPr>
        <p:txBody>
          <a:bodyPr wrap="square" lIns="0" tIns="0" rIns="0" bIns="0" anchor="ctr">
            <a:noAutofit/>
          </a:bodyPr>
          <a:lstStyle>
            <a:defPPr algn="l">
              <a:defRPr sz="1575">
                <a:solidFill>
                  <a:srgbClr val="222222"/>
                </a:solidFill>
                <a:latin typeface="에이투지체 6 SemiBold"/>
                <a:ea typeface="에이투지체 6 SemiBold"/>
                <a:cs typeface="에이투지체 6 SemiBold"/>
              </a:defRPr>
            </a:defPPr>
          </a:lstStyle>
          <a:p>
            <a:pPr algn="l">
              <a:defRPr sz="1575">
                <a:solidFill>
                  <a:srgbClr val="222222"/>
                </a:solidFill>
                <a:latin typeface="에이투지체 6 SemiBold"/>
                <a:ea typeface="에이투지체 6 SemiBold"/>
                <a:cs typeface="에이투지체 6 SemiBold"/>
              </a:defRPr>
            </a:pPr>
            <a:r>
              <a:rPr sz="1575">
                <a:solidFill>
                  <a:srgbClr val="222222"/>
                </a:solidFill>
                <a:latin typeface="에이투지체 6 SemiBold"/>
                <a:ea typeface="에이투지체 6 SemiBold"/>
                <a:cs typeface="에이투지체 6 SemiBold"/>
              </a:rPr>
              <a:t>숏클립·방송 알림</a:t>
            </a:r>
          </a:p>
        </p:txBody>
      </p:sp>
      <p:sp>
        <p:nvSpPr>
          <p:cNvPr id="7" name="text-306">
            <a:extLst>
              <a:ext uri="{FF2B5EF4-FFF2-40B4-BE49-F238E27FC236}">
                <a16:creationId xmlns:a16="http://schemas.microsoft.com/office/drawing/2014/main" id="{54F34448-C4F6-454D-8B02-B9E314262A02}"/>
              </a:ext>
            </a:extLst>
          </p:cNvPr>
          <p:cNvSpPr>
            <a:spLocks noGrp="1"/>
          </p:cNvSpPr>
          <p:nvPr/>
        </p:nvSpPr>
        <p:spPr>
          <a:xfrm>
            <a:off x="552450" y="3600450"/>
            <a:ext cx="3448050" cy="981075"/>
          </a:xfrm>
          <a:prstGeom prst="rect">
            <a:avLst/>
          </a:prstGeom>
          <a:noFill/>
          <a:ln w="0">
            <a:noFill/>
          </a:ln>
        </p:spPr>
        <p:txBody>
          <a:bodyPr wrap="square" lIns="0" tIns="0" rIns="0" bIns="0" anchor="ctr">
            <a:noAutofit/>
          </a:bodyPr>
          <a:lstStyle>
            <a:defPPr algn="l">
              <a:defRPr sz="1365">
                <a:solidFill>
                  <a:srgbClr val="5C5C5C"/>
                </a:solidFill>
                <a:latin typeface="에이투지체 4 Regular"/>
                <a:ea typeface="에이투지체 4 Regular"/>
                <a:cs typeface="에이투지체 4 Regular"/>
              </a:defRPr>
            </a:defPPr>
          </a:lstStyle>
          <a:p>
            <a:pPr algn="l">
              <a:defRPr sz="1365">
                <a:solidFill>
                  <a:srgbClr val="5C5C5C"/>
                </a:solidFill>
                <a:latin typeface="에이투지체 4 Regular"/>
                <a:ea typeface="에이투지체 4 Regular"/>
                <a:cs typeface="에이투지체 4 Regular"/>
              </a:defRPr>
            </a:pPr>
            <a:r>
              <a:rPr sz="1365">
                <a:solidFill>
                  <a:srgbClr val="5C5C5C"/>
                </a:solidFill>
                <a:latin typeface="에이투지체 4 Regular"/>
                <a:ea typeface="에이투지체 4 Regular"/>
                <a:cs typeface="에이투지체 4 Regular"/>
              </a:rPr>
              <a:t>대표 상품·섭취 편의 설명</a:t>
            </a:r>
          </a:p>
          <a:p>
            <a:pPr algn="l">
              <a:defRPr sz="1365">
                <a:solidFill>
                  <a:srgbClr val="5C5C5C"/>
                </a:solidFill>
                <a:latin typeface="에이투지체 4 Regular"/>
                <a:ea typeface="에이투지체 4 Regular"/>
                <a:cs typeface="에이투지체 4 Regular"/>
              </a:defRPr>
            </a:pPr>
            <a:r>
              <a:rPr sz="1365">
                <a:solidFill>
                  <a:srgbClr val="5C5C5C"/>
                </a:solidFill>
                <a:latin typeface="에이투지체 4 Regular"/>
                <a:ea typeface="에이투지체 4 Regular"/>
                <a:cs typeface="에이투지체 4 Regular"/>
              </a:rPr>
              <a:t>행사 혜택 사전 안내</a:t>
            </a:r>
          </a:p>
          <a:p>
            <a:pPr algn="l">
              <a:defRPr sz="1365">
                <a:solidFill>
                  <a:srgbClr val="5C5C5C"/>
                </a:solidFill>
                <a:latin typeface="에이투지체 4 Regular"/>
                <a:ea typeface="에이투지체 4 Regular"/>
                <a:cs typeface="에이투지체 4 Regular"/>
              </a:defRPr>
            </a:pPr>
            <a:r>
              <a:rPr sz="1365">
                <a:solidFill>
                  <a:srgbClr val="5C5C5C"/>
                </a:solidFill>
                <a:latin typeface="에이투지체 4 Regular"/>
                <a:ea typeface="에이투지체 4 Regular"/>
                <a:cs typeface="에이투지체 4 Regular"/>
              </a:rPr>
              <a:t>알림받기·방문 모수 확보</a:t>
            </a:r>
          </a:p>
        </p:txBody>
      </p:sp>
      <p:sp>
        <p:nvSpPr>
          <p:cNvPr id="8" name="node-307">
            <a:extLst>
              <a:ext uri="{FF2B5EF4-FFF2-40B4-BE49-F238E27FC236}">
                <a16:creationId xmlns:a16="http://schemas.microsoft.com/office/drawing/2014/main" id="{D0444F2C-7F03-4E46-BF8A-915E669951B2}"/>
              </a:ext>
            </a:extLst>
          </p:cNvPr>
          <p:cNvSpPr>
            <a:spLocks noGrp="1"/>
          </p:cNvSpPr>
          <p:nvPr/>
        </p:nvSpPr>
        <p:spPr>
          <a:xfrm>
            <a:off x="4362450" y="2181225"/>
            <a:ext cx="3611880" cy="590550"/>
          </a:xfrm>
          <a:prstGeom prst="chevron">
            <a:avLst>
              <a:gd name="adj" fmla="val 30000"/>
            </a:avLst>
          </a:prstGeom>
          <a:solidFill>
            <a:srgbClr val="004F9F"/>
          </a:solidFill>
          <a:ln w="0">
            <a:noFill/>
          </a:ln>
        </p:spPr>
        <p:txBody>
          <a:bodyPr/>
          <a:lstStyle/>
          <a:p>
            <a:endParaRPr lang="ko-KR" altLang="en-US"/>
          </a:p>
        </p:txBody>
      </p:sp>
      <p:sp>
        <p:nvSpPr>
          <p:cNvPr id="9" name="text-308">
            <a:extLst>
              <a:ext uri="{FF2B5EF4-FFF2-40B4-BE49-F238E27FC236}">
                <a16:creationId xmlns:a16="http://schemas.microsoft.com/office/drawing/2014/main" id="{ACA19D0D-FA8C-42A8-94D1-77B7D4585C78}"/>
              </a:ext>
            </a:extLst>
          </p:cNvPr>
          <p:cNvSpPr>
            <a:spLocks noGrp="1"/>
          </p:cNvSpPr>
          <p:nvPr/>
        </p:nvSpPr>
        <p:spPr>
          <a:xfrm>
            <a:off x="4552950" y="2305050"/>
            <a:ext cx="3067050" cy="323850"/>
          </a:xfrm>
          <a:prstGeom prst="rect">
            <a:avLst/>
          </a:prstGeom>
          <a:noFill/>
          <a:ln w="0">
            <a:noFill/>
          </a:ln>
        </p:spPr>
        <p:txBody>
          <a:bodyPr wrap="square" lIns="0" tIns="0" rIns="0" bIns="0" anchor="ctr">
            <a:noAutofit/>
          </a:bodyPr>
          <a:lstStyle>
            <a:defPPr algn="l">
              <a:defRPr sz="1725">
                <a:solidFill>
                  <a:srgbClr val="FFFFFF"/>
                </a:solidFill>
                <a:latin typeface="에이투지체 6 SemiBold"/>
                <a:ea typeface="에이투지체 6 SemiBold"/>
                <a:cs typeface="에이투지체 6 SemiBold"/>
              </a:defRPr>
            </a:defPPr>
          </a:lstStyle>
          <a:p>
            <a:pPr algn="l">
              <a:defRPr sz="1725">
                <a:solidFill>
                  <a:srgbClr val="FFFFFF"/>
                </a:solidFill>
                <a:latin typeface="에이투지체 6 SemiBold"/>
                <a:ea typeface="에이투지체 6 SemiBold"/>
                <a:cs typeface="에이투지체 6 SemiBold"/>
              </a:defRPr>
            </a:pPr>
            <a:r>
              <a:rPr sz="1725">
                <a:solidFill>
                  <a:srgbClr val="FFFFFF"/>
                </a:solidFill>
                <a:latin typeface="에이투지체 6 SemiBold"/>
                <a:ea typeface="에이투지체 6 SemiBold"/>
                <a:cs typeface="에이투지체 6 SemiBold"/>
              </a:rPr>
              <a:t>방송 당일</a:t>
            </a:r>
          </a:p>
        </p:txBody>
      </p:sp>
      <p:sp>
        <p:nvSpPr>
          <p:cNvPr id="10" name="text-309">
            <a:extLst>
              <a:ext uri="{FF2B5EF4-FFF2-40B4-BE49-F238E27FC236}">
                <a16:creationId xmlns:a16="http://schemas.microsoft.com/office/drawing/2014/main" id="{079AF999-561F-4C43-BC48-7031E787BBE7}"/>
              </a:ext>
            </a:extLst>
          </p:cNvPr>
          <p:cNvSpPr>
            <a:spLocks noGrp="1"/>
          </p:cNvSpPr>
          <p:nvPr/>
        </p:nvSpPr>
        <p:spPr>
          <a:xfrm>
            <a:off x="4362450" y="3000375"/>
            <a:ext cx="3448050" cy="390525"/>
          </a:xfrm>
          <a:prstGeom prst="rect">
            <a:avLst/>
          </a:prstGeom>
          <a:noFill/>
          <a:ln w="0">
            <a:noFill/>
          </a:ln>
        </p:spPr>
        <p:txBody>
          <a:bodyPr wrap="square" lIns="0" tIns="0" rIns="0" bIns="0" anchor="ctr">
            <a:noAutofit/>
          </a:bodyPr>
          <a:lstStyle>
            <a:defPPr algn="l">
              <a:defRPr sz="1575">
                <a:solidFill>
                  <a:srgbClr val="222222"/>
                </a:solidFill>
                <a:latin typeface="에이투지체 6 SemiBold"/>
                <a:ea typeface="에이투지체 6 SemiBold"/>
                <a:cs typeface="에이투지체 6 SemiBold"/>
              </a:defRPr>
            </a:defPPr>
          </a:lstStyle>
          <a:p>
            <a:pPr algn="l">
              <a:defRPr sz="1575">
                <a:solidFill>
                  <a:srgbClr val="222222"/>
                </a:solidFill>
                <a:latin typeface="에이투지체 6 SemiBold"/>
                <a:ea typeface="에이투지체 6 SemiBold"/>
                <a:cs typeface="에이투지체 6 SemiBold"/>
              </a:defRPr>
            </a:pPr>
            <a:r>
              <a:rPr sz="1575">
                <a:solidFill>
                  <a:srgbClr val="222222"/>
                </a:solidFill>
                <a:latin typeface="에이투지체 6 SemiBold"/>
                <a:ea typeface="에이투지체 6 SemiBold"/>
                <a:cs typeface="에이투지체 6 SemiBold"/>
              </a:rPr>
              <a:t>GFA·메타 유입 집중</a:t>
            </a:r>
          </a:p>
        </p:txBody>
      </p:sp>
      <p:sp>
        <p:nvSpPr>
          <p:cNvPr id="11" name="text-310">
            <a:extLst>
              <a:ext uri="{FF2B5EF4-FFF2-40B4-BE49-F238E27FC236}">
                <a16:creationId xmlns:a16="http://schemas.microsoft.com/office/drawing/2014/main" id="{DDF01039-DBE1-4473-BB7A-E844309353E6}"/>
              </a:ext>
            </a:extLst>
          </p:cNvPr>
          <p:cNvSpPr>
            <a:spLocks noGrp="1"/>
          </p:cNvSpPr>
          <p:nvPr/>
        </p:nvSpPr>
        <p:spPr>
          <a:xfrm>
            <a:off x="4362450" y="3600450"/>
            <a:ext cx="3448050" cy="981075"/>
          </a:xfrm>
          <a:prstGeom prst="rect">
            <a:avLst/>
          </a:prstGeom>
          <a:noFill/>
          <a:ln w="0">
            <a:noFill/>
          </a:ln>
        </p:spPr>
        <p:txBody>
          <a:bodyPr wrap="square" lIns="0" tIns="0" rIns="0" bIns="0" anchor="ctr">
            <a:noAutofit/>
          </a:bodyPr>
          <a:lstStyle>
            <a:defPPr algn="l">
              <a:defRPr sz="1365">
                <a:solidFill>
                  <a:srgbClr val="5C5C5C"/>
                </a:solidFill>
                <a:latin typeface="에이투지체 4 Regular"/>
                <a:ea typeface="에이투지체 4 Regular"/>
                <a:cs typeface="에이투지체 4 Regular"/>
              </a:defRPr>
            </a:defPPr>
          </a:lstStyle>
          <a:p>
            <a:pPr algn="l">
              <a:defRPr sz="1365">
                <a:solidFill>
                  <a:srgbClr val="5C5C5C"/>
                </a:solidFill>
                <a:latin typeface="에이투지체 4 Regular"/>
                <a:ea typeface="에이투지체 4 Regular"/>
                <a:cs typeface="에이투지체 4 Regular"/>
              </a:defRPr>
            </a:pPr>
            <a:r>
              <a:rPr sz="1365">
                <a:solidFill>
                  <a:srgbClr val="5C5C5C"/>
                </a:solidFill>
                <a:latin typeface="에이투지체 4 Regular"/>
                <a:ea typeface="에이투지체 4 Regular"/>
                <a:cs typeface="에이투지체 4 Regular"/>
              </a:rPr>
              <a:t>방송 상품으로 광고 메시지 통일</a:t>
            </a:r>
          </a:p>
          <a:p>
            <a:pPr algn="l">
              <a:defRPr sz="1365">
                <a:solidFill>
                  <a:srgbClr val="5C5C5C"/>
                </a:solidFill>
                <a:latin typeface="에이투지체 4 Regular"/>
                <a:ea typeface="에이투지체 4 Regular"/>
                <a:cs typeface="에이투지체 4 Regular"/>
              </a:defRPr>
            </a:pPr>
            <a:r>
              <a:rPr sz="1365">
                <a:solidFill>
                  <a:srgbClr val="5C5C5C"/>
                </a:solidFill>
                <a:latin typeface="에이투지체 4 Regular"/>
                <a:ea typeface="에이투지체 4 Regular"/>
                <a:cs typeface="에이투지체 4 Regular"/>
              </a:rPr>
              <a:t>전용 구성·혜택 안내</a:t>
            </a:r>
          </a:p>
          <a:p>
            <a:pPr algn="l">
              <a:defRPr sz="1365">
                <a:solidFill>
                  <a:srgbClr val="5C5C5C"/>
                </a:solidFill>
                <a:latin typeface="에이투지체 4 Regular"/>
                <a:ea typeface="에이투지체 4 Regular"/>
                <a:cs typeface="에이투지체 4 Regular"/>
              </a:defRPr>
            </a:pPr>
            <a:r>
              <a:rPr sz="1365">
                <a:solidFill>
                  <a:srgbClr val="5C5C5C"/>
                </a:solidFill>
                <a:latin typeface="에이투지체 4 Regular"/>
                <a:ea typeface="에이투지체 4 Regular"/>
                <a:cs typeface="에이투지체 4 Regular"/>
              </a:rPr>
              <a:t>댓글 질문을 설명에 반영</a:t>
            </a:r>
          </a:p>
        </p:txBody>
      </p:sp>
      <p:sp>
        <p:nvSpPr>
          <p:cNvPr id="12" name="node-311">
            <a:extLst>
              <a:ext uri="{FF2B5EF4-FFF2-40B4-BE49-F238E27FC236}">
                <a16:creationId xmlns:a16="http://schemas.microsoft.com/office/drawing/2014/main" id="{75AF390A-E715-4A1C-9EA7-3530F1B3334C}"/>
              </a:ext>
            </a:extLst>
          </p:cNvPr>
          <p:cNvSpPr>
            <a:spLocks noGrp="1"/>
          </p:cNvSpPr>
          <p:nvPr/>
        </p:nvSpPr>
        <p:spPr>
          <a:xfrm>
            <a:off x="8172450" y="2181225"/>
            <a:ext cx="3611880" cy="590550"/>
          </a:xfrm>
          <a:prstGeom prst="chevron">
            <a:avLst>
              <a:gd name="adj" fmla="val 30000"/>
            </a:avLst>
          </a:prstGeom>
          <a:solidFill>
            <a:srgbClr val="EAF2FB"/>
          </a:solidFill>
          <a:ln w="0">
            <a:noFill/>
          </a:ln>
        </p:spPr>
        <p:txBody>
          <a:bodyPr/>
          <a:lstStyle/>
          <a:p>
            <a:endParaRPr lang="ko-KR" altLang="en-US"/>
          </a:p>
        </p:txBody>
      </p:sp>
      <p:sp>
        <p:nvSpPr>
          <p:cNvPr id="13" name="text-312">
            <a:extLst>
              <a:ext uri="{FF2B5EF4-FFF2-40B4-BE49-F238E27FC236}">
                <a16:creationId xmlns:a16="http://schemas.microsoft.com/office/drawing/2014/main" id="{D7C142D4-4A12-45A2-B8C3-49AD80E77E59}"/>
              </a:ext>
            </a:extLst>
          </p:cNvPr>
          <p:cNvSpPr>
            <a:spLocks noGrp="1"/>
          </p:cNvSpPr>
          <p:nvPr/>
        </p:nvSpPr>
        <p:spPr>
          <a:xfrm>
            <a:off x="8362950" y="2305050"/>
            <a:ext cx="3067050" cy="323850"/>
          </a:xfrm>
          <a:prstGeom prst="rect">
            <a:avLst/>
          </a:prstGeom>
          <a:noFill/>
          <a:ln w="0">
            <a:noFill/>
          </a:ln>
        </p:spPr>
        <p:txBody>
          <a:bodyPr wrap="square" lIns="0" tIns="0" rIns="0" bIns="0" anchor="ctr">
            <a:noAutofit/>
          </a:bodyPr>
          <a:lstStyle>
            <a:defPPr algn="l">
              <a:defRPr sz="1725">
                <a:solidFill>
                  <a:srgbClr val="004F9F"/>
                </a:solidFill>
                <a:latin typeface="에이투지체 6 SemiBold"/>
                <a:ea typeface="에이투지체 6 SemiBold"/>
                <a:cs typeface="에이투지체 6 SemiBold"/>
              </a:defRPr>
            </a:defPPr>
          </a:lstStyle>
          <a:p>
            <a:pPr algn="l">
              <a:defRPr sz="1725">
                <a:solidFill>
                  <a:srgbClr val="004F9F"/>
                </a:solidFill>
                <a:latin typeface="에이투지체 6 SemiBold"/>
                <a:ea typeface="에이투지체 6 SemiBold"/>
                <a:cs typeface="에이투지체 6 SemiBold"/>
              </a:defRPr>
            </a:pPr>
            <a:r>
              <a:rPr sz="1725">
                <a:solidFill>
                  <a:srgbClr val="004F9F"/>
                </a:solidFill>
                <a:latin typeface="에이투지체 6 SemiBold"/>
                <a:ea typeface="에이투지체 6 SemiBold"/>
                <a:cs typeface="에이투지체 6 SemiBold"/>
              </a:rPr>
              <a:t>방송 후</a:t>
            </a:r>
          </a:p>
        </p:txBody>
      </p:sp>
      <p:sp>
        <p:nvSpPr>
          <p:cNvPr id="14" name="text-313">
            <a:extLst>
              <a:ext uri="{FF2B5EF4-FFF2-40B4-BE49-F238E27FC236}">
                <a16:creationId xmlns:a16="http://schemas.microsoft.com/office/drawing/2014/main" id="{EE94ED39-6A5F-42C0-89C1-FD06145D2D07}"/>
              </a:ext>
            </a:extLst>
          </p:cNvPr>
          <p:cNvSpPr>
            <a:spLocks noGrp="1"/>
          </p:cNvSpPr>
          <p:nvPr/>
        </p:nvSpPr>
        <p:spPr>
          <a:xfrm>
            <a:off x="8172450" y="3000375"/>
            <a:ext cx="3448050" cy="390525"/>
          </a:xfrm>
          <a:prstGeom prst="rect">
            <a:avLst/>
          </a:prstGeom>
          <a:noFill/>
          <a:ln w="0">
            <a:noFill/>
          </a:ln>
        </p:spPr>
        <p:txBody>
          <a:bodyPr wrap="square" lIns="0" tIns="0" rIns="0" bIns="0" anchor="ctr">
            <a:noAutofit/>
          </a:bodyPr>
          <a:lstStyle>
            <a:defPPr algn="l">
              <a:defRPr sz="1575">
                <a:solidFill>
                  <a:srgbClr val="222222"/>
                </a:solidFill>
                <a:latin typeface="에이투지체 6 SemiBold"/>
                <a:ea typeface="에이투지체 6 SemiBold"/>
                <a:cs typeface="에이투지체 6 SemiBold"/>
              </a:defRPr>
            </a:defPPr>
          </a:lstStyle>
          <a:p>
            <a:pPr algn="l">
              <a:defRPr sz="1575">
                <a:solidFill>
                  <a:srgbClr val="222222"/>
                </a:solidFill>
                <a:latin typeface="에이투지체 6 SemiBold"/>
                <a:ea typeface="에이투지체 6 SemiBold"/>
                <a:cs typeface="에이투지체 6 SemiBold"/>
              </a:defRPr>
            </a:pPr>
            <a:r>
              <a:rPr sz="1575">
                <a:solidFill>
                  <a:srgbClr val="222222"/>
                </a:solidFill>
                <a:latin typeface="에이투지체 6 SemiBold"/>
                <a:ea typeface="에이투지체 6 SemiBold"/>
                <a:cs typeface="에이투지체 6 SemiBold"/>
              </a:rPr>
              <a:t>숏클립 재활용</a:t>
            </a:r>
          </a:p>
        </p:txBody>
      </p:sp>
      <p:sp>
        <p:nvSpPr>
          <p:cNvPr id="15" name="text-314">
            <a:extLst>
              <a:ext uri="{FF2B5EF4-FFF2-40B4-BE49-F238E27FC236}">
                <a16:creationId xmlns:a16="http://schemas.microsoft.com/office/drawing/2014/main" id="{1BAE6A54-D6F8-431B-85C8-F62F2D236566}"/>
              </a:ext>
            </a:extLst>
          </p:cNvPr>
          <p:cNvSpPr>
            <a:spLocks noGrp="1"/>
          </p:cNvSpPr>
          <p:nvPr/>
        </p:nvSpPr>
        <p:spPr>
          <a:xfrm>
            <a:off x="8172450" y="3600450"/>
            <a:ext cx="3448050" cy="981075"/>
          </a:xfrm>
          <a:prstGeom prst="rect">
            <a:avLst/>
          </a:prstGeom>
          <a:noFill/>
          <a:ln w="0">
            <a:noFill/>
          </a:ln>
        </p:spPr>
        <p:txBody>
          <a:bodyPr wrap="square" lIns="0" tIns="0" rIns="0" bIns="0" anchor="ctr">
            <a:noAutofit/>
          </a:bodyPr>
          <a:lstStyle>
            <a:defPPr algn="l">
              <a:defRPr sz="1365">
                <a:solidFill>
                  <a:srgbClr val="5C5C5C"/>
                </a:solidFill>
                <a:latin typeface="에이투지체 4 Regular"/>
                <a:ea typeface="에이투지체 4 Regular"/>
                <a:cs typeface="에이투지체 4 Regular"/>
              </a:defRPr>
            </a:defPPr>
          </a:lstStyle>
          <a:p>
            <a:pPr algn="l">
              <a:defRPr sz="1365">
                <a:solidFill>
                  <a:srgbClr val="5C5C5C"/>
                </a:solidFill>
                <a:latin typeface="에이투지체 4 Regular"/>
                <a:ea typeface="에이투지체 4 Regular"/>
                <a:cs typeface="에이투지체 4 Regular"/>
              </a:defRPr>
            </a:pPr>
            <a:r>
              <a:rPr sz="1365">
                <a:solidFill>
                  <a:srgbClr val="5C5C5C"/>
                </a:solidFill>
                <a:latin typeface="에이투지체 4 Regular"/>
                <a:ea typeface="에이투지체 4 Regular"/>
                <a:cs typeface="에이투지체 4 Regular"/>
              </a:rPr>
              <a:t>설명·질문 구간을 짧게 편집</a:t>
            </a:r>
          </a:p>
          <a:p>
            <a:pPr algn="l">
              <a:defRPr sz="1365">
                <a:solidFill>
                  <a:srgbClr val="5C5C5C"/>
                </a:solidFill>
                <a:latin typeface="에이투지체 4 Regular"/>
                <a:ea typeface="에이투지체 4 Regular"/>
                <a:cs typeface="에이투지체 4 Regular"/>
              </a:defRPr>
            </a:pPr>
            <a:r>
              <a:rPr sz="1365">
                <a:solidFill>
                  <a:srgbClr val="5C5C5C"/>
                </a:solidFill>
                <a:latin typeface="에이투지체 4 Regular"/>
                <a:ea typeface="에이투지체 4 Regular"/>
                <a:cs typeface="에이투지체 4 Regular"/>
              </a:rPr>
              <a:t>방문·미구매 고객 재접촉</a:t>
            </a:r>
          </a:p>
          <a:p>
            <a:pPr algn="l">
              <a:defRPr sz="1365">
                <a:solidFill>
                  <a:srgbClr val="5C5C5C"/>
                </a:solidFill>
                <a:latin typeface="에이투지체 4 Regular"/>
                <a:ea typeface="에이투지체 4 Regular"/>
                <a:cs typeface="에이투지체 4 Regular"/>
              </a:defRPr>
            </a:pPr>
            <a:r>
              <a:rPr sz="1365">
                <a:solidFill>
                  <a:srgbClr val="5C5C5C"/>
                </a:solidFill>
                <a:latin typeface="에이투지체 4 Regular"/>
                <a:ea typeface="에이투지체 4 Regular"/>
                <a:cs typeface="에이투지체 4 Regular"/>
              </a:rPr>
              <a:t>스토어 구매 성과 추적</a:t>
            </a:r>
          </a:p>
        </p:txBody>
      </p:sp>
      <p:graphicFrame>
        <p:nvGraphicFramePr>
          <p:cNvPr id="16" name="표 15">
            <a:extLst>
              <a:ext uri="{FF2B5EF4-FFF2-40B4-BE49-F238E27FC236}">
                <a16:creationId xmlns:a16="http://schemas.microsoft.com/office/drawing/2014/main" id="{05DC4C4E-C99E-40E4-B678-1CB8F7BFBA67}"/>
              </a:ext>
            </a:extLst>
          </p:cNvPr>
          <p:cNvGraphicFramePr/>
          <p:nvPr>
            <p:extLst>
              <p:ext uri="{D42A27DB-BD31-4B8C-83A1-F6EECF244321}">
                <p14:modId xmlns:p14="http://schemas.microsoft.com/office/powerpoint/2010/main" val="2191346354"/>
              </p:ext>
            </p:extLst>
          </p:nvPr>
        </p:nvGraphicFramePr>
        <p:xfrm>
          <a:off x="542925" y="4994583"/>
          <a:ext cx="11058525" cy="711200"/>
        </p:xfrm>
        <a:graphic>
          <a:graphicData uri="http://schemas.openxmlformats.org/drawingml/2006/table">
            <a:tbl>
              <a:tblPr/>
              <a:tblGrid>
                <a:gridCol w="3162300">
                  <a:extLst>
                    <a:ext uri="{9D8B030D-6E8A-4147-A177-3AD203B41FA5}">
                      <a16:colId xmlns:a16="http://schemas.microsoft.com/office/drawing/2014/main" val="20000"/>
                    </a:ext>
                  </a:extLst>
                </a:gridCol>
                <a:gridCol w="3181350">
                  <a:extLst>
                    <a:ext uri="{9D8B030D-6E8A-4147-A177-3AD203B41FA5}">
                      <a16:colId xmlns:a16="http://schemas.microsoft.com/office/drawing/2014/main" val="20001"/>
                    </a:ext>
                  </a:extLst>
                </a:gridCol>
                <a:gridCol w="4714875">
                  <a:extLst>
                    <a:ext uri="{9D8B030D-6E8A-4147-A177-3AD203B41FA5}">
                      <a16:colId xmlns:a16="http://schemas.microsoft.com/office/drawing/2014/main" val="20002"/>
                    </a:ext>
                  </a:extLst>
                </a:gridCol>
              </a:tblGrid>
              <a:tr h="355600">
                <a:tc>
                  <a:txBody>
                    <a:bodyPr/>
                    <a:lstStyle/>
                    <a:p>
                      <a:pPr algn="l"/>
                      <a:r>
                        <a:rPr sz="1238" dirty="0" err="1">
                          <a:solidFill>
                            <a:srgbClr val="FFFFFF"/>
                          </a:solidFill>
                          <a:latin typeface="에이투지체 6 SemiBold"/>
                          <a:ea typeface="에이투지체 6 SemiBold"/>
                          <a:cs typeface="에이투지체 6 SemiBold"/>
                        </a:rPr>
                        <a:t>가안</a:t>
                      </a:r>
                      <a:r>
                        <a:rPr sz="1238" dirty="0">
                          <a:solidFill>
                            <a:srgbClr val="FFFFFF"/>
                          </a:solidFill>
                          <a:latin typeface="에이투지체 6 SemiBold"/>
                          <a:ea typeface="에이투지체 6 SemiBold"/>
                          <a:cs typeface="에이투지체 6 SemiBold"/>
                        </a:rPr>
                        <a:t> </a:t>
                      </a:r>
                      <a:r>
                        <a:rPr sz="1238" dirty="0" err="1">
                          <a:solidFill>
                            <a:srgbClr val="FFFFFF"/>
                          </a:solidFill>
                          <a:latin typeface="에이투지체 6 SemiBold"/>
                          <a:ea typeface="에이투지체 6 SemiBold"/>
                          <a:cs typeface="에이투지체 6 SemiBold"/>
                        </a:rPr>
                        <a:t>비용</a:t>
                      </a:r>
                      <a:r>
                        <a:rPr sz="1238" dirty="0">
                          <a:solidFill>
                            <a:srgbClr val="FFFFFF"/>
                          </a:solidFill>
                          <a:latin typeface="에이투지체 6 SemiBold"/>
                          <a:ea typeface="에이투지체 6 SemiBold"/>
                          <a:cs typeface="에이투지체 6 SemiBold"/>
                        </a:rPr>
                        <a:t> </a:t>
                      </a:r>
                      <a:r>
                        <a:rPr sz="1238" dirty="0" err="1">
                          <a:solidFill>
                            <a:srgbClr val="FFFFFF"/>
                          </a:solidFill>
                          <a:latin typeface="에이투지체 6 SemiBold"/>
                          <a:ea typeface="에이투지체 6 SemiBold"/>
                          <a:cs typeface="에이투지체 6 SemiBold"/>
                        </a:rPr>
                        <a:t>기준</a:t>
                      </a:r>
                      <a:endParaRPr sz="1238" dirty="0">
                        <a:solidFill>
                          <a:srgbClr val="FFFFFF"/>
                        </a:solidFill>
                        <a:latin typeface="에이투지체 6 SemiBold"/>
                        <a:ea typeface="에이투지체 6 SemiBold"/>
                        <a:cs typeface="에이투지체 6 SemiBold"/>
                      </a:endParaRPr>
                    </a:p>
                  </a:txBody>
                  <a:tcPr anchor="ctr">
                    <a:lnL w="19050">
                      <a:solidFill>
                        <a:srgbClr val="FFFFFF"/>
                      </a:solidFill>
                    </a:lnL>
                    <a:lnR w="19050">
                      <a:solidFill>
                        <a:srgbClr val="FFFFFF"/>
                      </a:solidFill>
                    </a:lnR>
                    <a:lnT w="19050">
                      <a:solidFill>
                        <a:srgbClr val="FFFFFF"/>
                      </a:solidFill>
                    </a:lnT>
                    <a:lnB w="19050">
                      <a:solidFill>
                        <a:srgbClr val="FFFFFF"/>
                      </a:solidFill>
                    </a:lnB>
                    <a:solidFill>
                      <a:srgbClr val="0E3A72"/>
                    </a:solidFill>
                  </a:tcPr>
                </a:tc>
                <a:tc>
                  <a:txBody>
                    <a:bodyPr/>
                    <a:lstStyle/>
                    <a:p>
                      <a:pPr algn="l"/>
                      <a:r>
                        <a:rPr sz="1238" dirty="0" err="1">
                          <a:solidFill>
                            <a:srgbClr val="FFFFFF"/>
                          </a:solidFill>
                          <a:latin typeface="에이투지체 6 SemiBold"/>
                          <a:ea typeface="에이투지체 6 SemiBold"/>
                          <a:cs typeface="에이투지체 6 SemiBold"/>
                        </a:rPr>
                        <a:t>금액</a:t>
                      </a:r>
                      <a:endParaRPr sz="1238" dirty="0">
                        <a:solidFill>
                          <a:srgbClr val="FFFFFF"/>
                        </a:solidFill>
                        <a:latin typeface="에이투지체 6 SemiBold"/>
                        <a:ea typeface="에이투지체 6 SemiBold"/>
                        <a:cs typeface="에이투지체 6 SemiBold"/>
                      </a:endParaRPr>
                    </a:p>
                  </a:txBody>
                  <a:tcPr anchor="ctr">
                    <a:lnL w="19050" cap="flat" cmpd="sng" algn="ctr">
                      <a:solidFill>
                        <a:srgbClr val="FFFFFF"/>
                      </a:solidFill>
                      <a:prstDash val="solid"/>
                      <a:round/>
                      <a:headEnd type="none" w="med" len="med"/>
                      <a:tailEnd type="none" w="med" len="med"/>
                    </a:lnL>
                    <a:lnR w="19050">
                      <a:solidFill>
                        <a:srgbClr val="FFFFFF"/>
                      </a:solidFill>
                    </a:lnR>
                    <a:lnT w="19050">
                      <a:solidFill>
                        <a:srgbClr val="FFFFFF"/>
                      </a:solidFill>
                    </a:lnT>
                    <a:lnB w="19050">
                      <a:solidFill>
                        <a:srgbClr val="FFFFFF"/>
                      </a:solidFill>
                    </a:lnB>
                    <a:solidFill>
                      <a:srgbClr val="0E3A72"/>
                    </a:solidFill>
                  </a:tcPr>
                </a:tc>
                <a:tc>
                  <a:txBody>
                    <a:bodyPr/>
                    <a:lstStyle/>
                    <a:p>
                      <a:pPr algn="l"/>
                      <a:r>
                        <a:rPr sz="1238">
                          <a:solidFill>
                            <a:srgbClr val="FFFFFF"/>
                          </a:solidFill>
                          <a:latin typeface="에이투지체 6 SemiBold"/>
                          <a:ea typeface="에이투지체 6 SemiBold"/>
                          <a:cs typeface="에이투지체 6 SemiBold"/>
                        </a:rPr>
                        <a:t>확정할 내용</a:t>
                      </a:r>
                    </a:p>
                  </a:txBody>
                  <a:tcPr anchor="ctr">
                    <a:lnL w="19050" cap="flat" cmpd="sng" algn="ctr">
                      <a:solidFill>
                        <a:srgbClr val="FFFFFF"/>
                      </a:solidFill>
                      <a:prstDash val="solid"/>
                      <a:round/>
                      <a:headEnd type="none" w="med" len="med"/>
                      <a:tailEnd type="none" w="med" len="med"/>
                    </a:lnL>
                    <a:lnR w="19050">
                      <a:solidFill>
                        <a:srgbClr val="FFFFFF"/>
                      </a:solidFill>
                    </a:lnR>
                    <a:lnT w="19050">
                      <a:solidFill>
                        <a:srgbClr val="FFFFFF"/>
                      </a:solidFill>
                    </a:lnT>
                    <a:lnB w="19050">
                      <a:solidFill>
                        <a:srgbClr val="FFFFFF"/>
                      </a:solidFill>
                    </a:lnB>
                    <a:solidFill>
                      <a:srgbClr val="0E3A72"/>
                    </a:solidFill>
                  </a:tcPr>
                </a:tc>
                <a:extLst>
                  <a:ext uri="{0D108BD9-81ED-4DB2-BD59-A6C34878D82A}">
                    <a16:rowId xmlns:a16="http://schemas.microsoft.com/office/drawing/2014/main" val="10000"/>
                  </a:ext>
                </a:extLst>
              </a:tr>
              <a:tr h="355600">
                <a:tc>
                  <a:txBody>
                    <a:bodyPr/>
                    <a:lstStyle/>
                    <a:p>
                      <a:pPr algn="l"/>
                      <a:r>
                        <a:rPr sz="1238">
                          <a:solidFill>
                            <a:srgbClr val="222222"/>
                          </a:solidFill>
                          <a:latin typeface="에이투지체 4 Regular"/>
                          <a:ea typeface="에이투지체 4 Regular"/>
                          <a:cs typeface="에이투지체 4 Regular"/>
                        </a:rPr>
                        <a:t>Type A 방송 제작</a:t>
                      </a:r>
                    </a:p>
                  </a:txBody>
                  <a:tcPr anchor="ctr">
                    <a:lnL w="19050">
                      <a:solidFill>
                        <a:srgbClr val="FFFFFF"/>
                      </a:solidFill>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5F5F5"/>
                    </a:solidFill>
                  </a:tcPr>
                </a:tc>
                <a:tc>
                  <a:txBody>
                    <a:bodyPr/>
                    <a:lstStyle/>
                    <a:p>
                      <a:pPr algn="l"/>
                      <a:r>
                        <a:rPr sz="1238">
                          <a:solidFill>
                            <a:srgbClr val="222222"/>
                          </a:solidFill>
                          <a:latin typeface="에이투지체 4 Regular"/>
                          <a:ea typeface="에이투지체 4 Regular"/>
                          <a:cs typeface="에이투지체 4 Regular"/>
                        </a:rPr>
                        <a:t>회당 100만 원  VAT 별도</a:t>
                      </a:r>
                    </a:p>
                  </a:txBody>
                  <a:tcPr anchor="ctr">
                    <a:lnL w="19050" cap="flat" cmpd="sng" algn="ctr">
                      <a:solidFill>
                        <a:srgbClr val="FFFFFF"/>
                      </a:solidFill>
                      <a:prstDash val="solid"/>
                      <a:round/>
                      <a:headEnd type="none" w="med" len="med"/>
                      <a:tailEnd type="none" w="med" len="med"/>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5F5F5"/>
                    </a:solidFill>
                  </a:tcPr>
                </a:tc>
                <a:tc>
                  <a:txBody>
                    <a:bodyPr/>
                    <a:lstStyle/>
                    <a:p>
                      <a:pPr algn="l"/>
                      <a:r>
                        <a:rPr sz="1238" dirty="0" err="1">
                          <a:solidFill>
                            <a:srgbClr val="222222"/>
                          </a:solidFill>
                          <a:latin typeface="에이투지체 4 Regular"/>
                          <a:ea typeface="에이투지체 4 Regular"/>
                          <a:cs typeface="에이투지체 4 Regular"/>
                        </a:rPr>
                        <a:t>방송</a:t>
                      </a:r>
                      <a:r>
                        <a:rPr sz="1238" dirty="0">
                          <a:solidFill>
                            <a:srgbClr val="222222"/>
                          </a:solidFill>
                          <a:latin typeface="에이투지체 4 Regular"/>
                          <a:ea typeface="에이투지체 4 Regular"/>
                          <a:cs typeface="에이투지체 4 Regular"/>
                        </a:rPr>
                        <a:t> </a:t>
                      </a:r>
                      <a:r>
                        <a:rPr sz="1238" dirty="0" err="1">
                          <a:solidFill>
                            <a:srgbClr val="222222"/>
                          </a:solidFill>
                          <a:latin typeface="에이투지체 4 Regular"/>
                          <a:ea typeface="에이투지체 4 Regular"/>
                          <a:cs typeface="에이투지체 4 Regular"/>
                        </a:rPr>
                        <a:t>횟수·제작</a:t>
                      </a:r>
                      <a:r>
                        <a:rPr sz="1238" dirty="0">
                          <a:solidFill>
                            <a:srgbClr val="222222"/>
                          </a:solidFill>
                          <a:latin typeface="에이투지체 4 Regular"/>
                          <a:ea typeface="에이투지체 4 Regular"/>
                          <a:cs typeface="에이투지체 4 Regular"/>
                        </a:rPr>
                        <a:t> </a:t>
                      </a:r>
                      <a:r>
                        <a:rPr sz="1238" dirty="0" err="1">
                          <a:solidFill>
                            <a:srgbClr val="222222"/>
                          </a:solidFill>
                          <a:latin typeface="에이투지체 4 Regular"/>
                          <a:ea typeface="에이투지체 4 Regular"/>
                          <a:cs typeface="에이투지체 4 Regular"/>
                        </a:rPr>
                        <a:t>범위·견적</a:t>
                      </a:r>
                      <a:endParaRPr sz="1238" dirty="0">
                        <a:solidFill>
                          <a:srgbClr val="222222"/>
                        </a:solidFill>
                        <a:latin typeface="에이투지체 4 Regular"/>
                        <a:ea typeface="에이투지체 4 Regular"/>
                        <a:cs typeface="에이투지체 4 Regular"/>
                      </a:endParaRPr>
                    </a:p>
                  </a:txBody>
                  <a:tcPr anchor="ctr">
                    <a:lnL w="19050" cap="flat" cmpd="sng" algn="ctr">
                      <a:solidFill>
                        <a:srgbClr val="FFFFFF"/>
                      </a:solidFill>
                      <a:prstDash val="solid"/>
                      <a:round/>
                      <a:headEnd type="none" w="med" len="med"/>
                      <a:tailEnd type="none" w="med" len="med"/>
                    </a:lnL>
                    <a:lnR w="19050">
                      <a:solidFill>
                        <a:srgbClr val="FFFFFF"/>
                      </a:solidFill>
                    </a:lnR>
                    <a:lnT w="19050" cap="flat" cmpd="sng" algn="ctr">
                      <a:solidFill>
                        <a:srgbClr val="FFFFFF"/>
                      </a:solidFill>
                      <a:prstDash val="solid"/>
                      <a:round/>
                      <a:headEnd type="none" w="med" len="med"/>
                      <a:tailEnd type="none" w="med" len="med"/>
                    </a:lnT>
                    <a:lnB w="19050">
                      <a:solidFill>
                        <a:srgbClr val="FFFFFF"/>
                      </a:solidFill>
                    </a:lnB>
                    <a:solidFill>
                      <a:srgbClr val="F5F5F5"/>
                    </a:solidFill>
                  </a:tcPr>
                </a:tc>
                <a:extLst>
                  <a:ext uri="{0D108BD9-81ED-4DB2-BD59-A6C34878D82A}">
                    <a16:rowId xmlns:a16="http://schemas.microsoft.com/office/drawing/2014/main" val="10001"/>
                  </a:ext>
                </a:extLst>
              </a:tr>
            </a:tbl>
          </a:graphicData>
        </a:graphic>
      </p:graphicFrame>
      <p:sp>
        <p:nvSpPr>
          <p:cNvPr id="17" name="text-315">
            <a:extLst>
              <a:ext uri="{FF2B5EF4-FFF2-40B4-BE49-F238E27FC236}">
                <a16:creationId xmlns:a16="http://schemas.microsoft.com/office/drawing/2014/main" id="{B88B8A63-4C7C-4B4C-991D-CA9BBB66E0CC}"/>
              </a:ext>
            </a:extLst>
          </p:cNvPr>
          <p:cNvSpPr>
            <a:spLocks noGrp="1"/>
          </p:cNvSpPr>
          <p:nvPr/>
        </p:nvSpPr>
        <p:spPr>
          <a:xfrm>
            <a:off x="552450" y="6057900"/>
            <a:ext cx="11049000" cy="266700"/>
          </a:xfrm>
          <a:prstGeom prst="rect">
            <a:avLst/>
          </a:prstGeom>
          <a:noFill/>
          <a:ln w="0">
            <a:noFill/>
          </a:ln>
        </p:spPr>
        <p:txBody>
          <a:bodyPr wrap="square" lIns="0" tIns="0" rIns="0" bIns="0" anchor="ctr">
            <a:noAutofit/>
          </a:bodyPr>
          <a:lstStyle>
            <a:defPPr algn="l">
              <a:defRPr sz="878">
                <a:solidFill>
                  <a:srgbClr val="5C5C5C"/>
                </a:solidFill>
                <a:latin typeface="에이투지체 4 Regular"/>
                <a:ea typeface="에이투지체 4 Regular"/>
                <a:cs typeface="에이투지체 4 Regular"/>
              </a:defRPr>
            </a:defPPr>
          </a:lstStyle>
          <a:p>
            <a:pPr algn="l">
              <a:defRPr sz="878">
                <a:solidFill>
                  <a:srgbClr val="5C5C5C"/>
                </a:solidFill>
                <a:latin typeface="에이투지체 4 Regular"/>
                <a:ea typeface="에이투지체 4 Regular"/>
                <a:cs typeface="에이투지체 4 Regular"/>
              </a:defRPr>
            </a:pPr>
            <a:r>
              <a:rPr sz="878">
                <a:solidFill>
                  <a:srgbClr val="5C5C5C"/>
                </a:solidFill>
                <a:latin typeface="에이투지체 4 Regular"/>
                <a:ea typeface="에이투지체 4 Regular"/>
                <a:cs typeface="에이투지체 4 Regular"/>
              </a:rPr>
              <a:t>방송 일정·비용은 제안안. 가안 기재 단가와 예산을 원본 견적 및 실제 제작 범위에 맞춰 최종 확정</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쿠팡 주력 상품이 핵심 검색어 첫 화면에 없습니다</a:t>
            </a:r>
          </a:p>
          <a:p>
            <a:pPr>
              <a:lnSpc>
                <a:spcPts val="2600"/>
              </a:lnSpc>
            </a:pPr>
            <a:r>
              <a:rPr sz="1900" b="0">
                <a:solidFill>
                  <a:srgbClr val="222222"/>
                </a:solidFill>
                <a:latin typeface="에이투지체 8 ExtraBold"/>
                <a:ea typeface="에이투지체 8 ExtraBold"/>
                <a:cs typeface="에이투지체 8 ExtraBold"/>
              </a:rPr>
              <a:t>로켓배송과 리뷰는 이미 갖춘 상태입니다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a:solidFill>
                  <a:srgbClr val="5C5C5C"/>
                </a:solidFill>
                <a:latin typeface="에이투지체 5 Medium"/>
                <a:ea typeface="에이투지체 5 Medium"/>
                <a:cs typeface="에이투지체 5 Medium"/>
              </a:rPr>
              <a:t>쿠팡 현황 진단 ①</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702565"/>
            <a:ext cx="10671048" cy="207749"/>
          </a:xfrm>
          <a:prstGeom prst="rect">
            <a:avLst/>
          </a:prstGeom>
          <a:noFill/>
        </p:spPr>
        <p:txBody>
          <a:bodyPr wrap="square" lIns="0" tIns="0" rIns="0" bIns="0" anchor="ctr">
            <a:spAutoFit/>
          </a:bodyPr>
          <a:lstStyle/>
          <a:p>
            <a:pPr algn="l"/>
            <a:r>
              <a:rPr sz="1350" b="0" dirty="0" err="1">
                <a:solidFill>
                  <a:srgbClr val="004F9F"/>
                </a:solidFill>
                <a:latin typeface="에이투지체 6 SemiBold"/>
                <a:ea typeface="에이투지체 6 SemiBold"/>
                <a:cs typeface="에이투지체 6 SemiBold"/>
              </a:rPr>
              <a:t>이미</a:t>
            </a:r>
            <a:r>
              <a:rPr sz="1350" b="0" dirty="0">
                <a:solidFill>
                  <a:srgbClr val="004F9F"/>
                </a:solidFill>
                <a:latin typeface="에이투지체 6 SemiBold"/>
                <a:ea typeface="에이투지체 6 SemiBold"/>
                <a:cs typeface="에이투지체 6 SemiBold"/>
              </a:rPr>
              <a:t> </a:t>
            </a:r>
            <a:r>
              <a:rPr sz="1350" b="0" dirty="0" err="1">
                <a:solidFill>
                  <a:srgbClr val="004F9F"/>
                </a:solidFill>
                <a:latin typeface="에이투지체 6 SemiBold"/>
                <a:ea typeface="에이투지체 6 SemiBold"/>
                <a:cs typeface="에이투지체 6 SemiBold"/>
              </a:rPr>
              <a:t>갖춘</a:t>
            </a:r>
            <a:r>
              <a:rPr sz="1350" b="0" dirty="0">
                <a:solidFill>
                  <a:srgbClr val="004F9F"/>
                </a:solidFill>
                <a:latin typeface="에이투지체 6 SemiBold"/>
                <a:ea typeface="에이투지체 6 SemiBold"/>
                <a:cs typeface="에이투지체 6 SemiBold"/>
              </a:rPr>
              <a:t> </a:t>
            </a:r>
            <a:r>
              <a:rPr sz="1350" b="0" dirty="0" err="1">
                <a:solidFill>
                  <a:srgbClr val="004F9F"/>
                </a:solidFill>
                <a:latin typeface="에이투지체 6 SemiBold"/>
                <a:ea typeface="에이투지체 6 SemiBold"/>
                <a:cs typeface="에이투지체 6 SemiBold"/>
              </a:rPr>
              <a:t>로켓</a:t>
            </a:r>
            <a:r>
              <a:rPr sz="1350" b="0" dirty="0">
                <a:solidFill>
                  <a:srgbClr val="004F9F"/>
                </a:solidFill>
                <a:latin typeface="에이투지체 6 SemiBold"/>
                <a:ea typeface="에이투지체 6 SemiBold"/>
                <a:cs typeface="에이투지체 6 SemiBold"/>
              </a:rPr>
              <a:t> </a:t>
            </a:r>
            <a:r>
              <a:rPr sz="1350" b="0" dirty="0" err="1">
                <a:solidFill>
                  <a:srgbClr val="004F9F"/>
                </a:solidFill>
                <a:latin typeface="에이투지체 6 SemiBold"/>
                <a:ea typeface="에이투지체 6 SemiBold"/>
                <a:cs typeface="에이투지체 6 SemiBold"/>
              </a:rPr>
              <a:t>상품을</a:t>
            </a:r>
            <a:r>
              <a:rPr sz="1350" b="0" dirty="0">
                <a:solidFill>
                  <a:srgbClr val="004F9F"/>
                </a:solidFill>
                <a:latin typeface="에이투지체 6 SemiBold"/>
                <a:ea typeface="에이투지체 6 SemiBold"/>
                <a:cs typeface="에이투지체 6 SemiBold"/>
              </a:rPr>
              <a:t> </a:t>
            </a:r>
            <a:r>
              <a:rPr lang="ko-KR" altLang="en-US" sz="1350" dirty="0">
                <a:solidFill>
                  <a:srgbClr val="004F9F"/>
                </a:solidFill>
                <a:latin typeface="에이투지체 6 SemiBold"/>
                <a:ea typeface="에이투지체 6 SemiBold"/>
                <a:cs typeface="에이투지체 6 SemiBold"/>
              </a:rPr>
              <a:t>검색 결과에서 원활하게 </a:t>
            </a:r>
            <a:r>
              <a:rPr sz="1350" b="0" dirty="0" err="1">
                <a:solidFill>
                  <a:srgbClr val="004F9F"/>
                </a:solidFill>
                <a:latin typeface="에이투지체 6 SemiBold"/>
                <a:ea typeface="에이투지체 6 SemiBold"/>
                <a:cs typeface="에이투지체 6 SemiBold"/>
              </a:rPr>
              <a:t>보이</a:t>
            </a:r>
            <a:r>
              <a:rPr lang="ko-KR" altLang="en-US" sz="1350" b="0" dirty="0">
                <a:solidFill>
                  <a:srgbClr val="004F9F"/>
                </a:solidFill>
                <a:latin typeface="에이투지체 6 SemiBold"/>
                <a:ea typeface="에이투지체 6 SemiBold"/>
                <a:cs typeface="에이투지체 6 SemiBold"/>
              </a:rPr>
              <a:t>게 하</a:t>
            </a:r>
            <a:r>
              <a:rPr sz="1350" b="0" dirty="0">
                <a:solidFill>
                  <a:srgbClr val="004F9F"/>
                </a:solidFill>
                <a:latin typeface="에이투지체 6 SemiBold"/>
                <a:ea typeface="에이투지체 6 SemiBold"/>
                <a:cs typeface="에이투지체 6 SemiBold"/>
              </a:rPr>
              <a:t>는 </a:t>
            </a:r>
            <a:r>
              <a:rPr sz="1350" b="0" dirty="0" err="1">
                <a:solidFill>
                  <a:srgbClr val="004F9F"/>
                </a:solidFill>
                <a:latin typeface="에이투지체 6 SemiBold"/>
                <a:ea typeface="에이투지체 6 SemiBold"/>
                <a:cs typeface="에이투지체 6 SemiBold"/>
              </a:rPr>
              <a:t>것이</a:t>
            </a:r>
            <a:r>
              <a:rPr sz="1350" b="0" dirty="0">
                <a:solidFill>
                  <a:srgbClr val="004F9F"/>
                </a:solidFill>
                <a:latin typeface="에이투지체 6 SemiBold"/>
                <a:ea typeface="에이투지체 6 SemiBold"/>
                <a:cs typeface="에이투지체 6 SemiBold"/>
              </a:rPr>
              <a:t> </a:t>
            </a:r>
            <a:r>
              <a:rPr sz="1350" b="0" dirty="0" err="1">
                <a:solidFill>
                  <a:srgbClr val="004F9F"/>
                </a:solidFill>
                <a:latin typeface="에이투지체 6 SemiBold"/>
                <a:ea typeface="에이투지체 6 SemiBold"/>
                <a:cs typeface="에이투지체 6 SemiBold"/>
              </a:rPr>
              <a:t>쿠팡의</a:t>
            </a:r>
            <a:r>
              <a:rPr sz="1350" b="0" dirty="0">
                <a:solidFill>
                  <a:srgbClr val="004F9F"/>
                </a:solidFill>
                <a:latin typeface="에이투지체 6 SemiBold"/>
                <a:ea typeface="에이투지체 6 SemiBold"/>
                <a:cs typeface="에이투지체 6 SemiBold"/>
              </a:rPr>
              <a:t> </a:t>
            </a:r>
            <a:r>
              <a:rPr sz="1350" b="0" dirty="0" err="1">
                <a:solidFill>
                  <a:srgbClr val="004F9F"/>
                </a:solidFill>
                <a:latin typeface="에이투지체 6 SemiBold"/>
                <a:ea typeface="에이투지체 6 SemiBold"/>
                <a:cs typeface="에이투지체 6 SemiBold"/>
              </a:rPr>
              <a:t>과제입니다</a:t>
            </a:r>
            <a:endParaRPr sz="1350" b="0" dirty="0">
              <a:solidFill>
                <a:srgbClr val="004F9F"/>
              </a:solidFill>
              <a:latin typeface="에이투지체 6 SemiBold"/>
              <a:ea typeface="에이투지체 6 SemiBold"/>
              <a:cs typeface="에이투지체 6 SemiBold"/>
            </a:endParaRP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상품: 2026.10.12 (주)두드림비엔비 쿠팡 브랜드샵 / 검색: 2026.10.13 쿠팡 PC 검색 화면 기준 (비로그인). 검색 결과는 새로고침, 사용자별로 달라짐</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33</a:t>
            </a:r>
          </a:p>
        </p:txBody>
      </p:sp>
      <p:sp>
        <p:nvSpPr>
          <p:cNvPr id="11" name="Rounded Rectangle 10"/>
          <p:cNvSpPr/>
          <p:nvPr/>
        </p:nvSpPr>
        <p:spPr>
          <a:xfrm>
            <a:off x="548640" y="2103120"/>
            <a:ext cx="3447288" cy="1051560"/>
          </a:xfrm>
          <a:prstGeom prst="roundRect">
            <a:avLst>
              <a:gd name="adj" fmla="val 695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157984"/>
            <a:ext cx="3017520" cy="530352"/>
          </a:xfrm>
          <a:prstGeom prst="rect">
            <a:avLst/>
          </a:prstGeom>
          <a:noFill/>
        </p:spPr>
        <p:txBody>
          <a:bodyPr wrap="square" lIns="0" tIns="0" rIns="0" bIns="0" anchor="t">
            <a:spAutoFit/>
          </a:bodyPr>
          <a:lstStyle/>
          <a:p>
            <a:pPr algn="l"/>
            <a:r>
              <a:rPr sz="2800" b="0">
                <a:solidFill>
                  <a:srgbClr val="004F9F"/>
                </a:solidFill>
                <a:latin typeface="에이투지체 8 ExtraBold"/>
                <a:ea typeface="에이투지체 8 ExtraBold"/>
                <a:cs typeface="에이투지체 8 ExtraBold"/>
              </a:rPr>
              <a:t>리뷰 827 · 968</a:t>
            </a:r>
          </a:p>
        </p:txBody>
      </p:sp>
      <p:sp>
        <p:nvSpPr>
          <p:cNvPr id="13" name="TextBox 12"/>
          <p:cNvSpPr txBox="1"/>
          <p:nvPr/>
        </p:nvSpPr>
        <p:spPr>
          <a:xfrm>
            <a:off x="777240" y="2724912"/>
            <a:ext cx="3017520" cy="320040"/>
          </a:xfrm>
          <a:prstGeom prst="rect">
            <a:avLst/>
          </a:prstGeom>
          <a:noFill/>
        </p:spPr>
        <p:txBody>
          <a:bodyPr wrap="square" lIns="0" tIns="0" rIns="0" bIns="0" anchor="t">
            <a:spAutoFit/>
          </a:bodyPr>
          <a:lstStyle/>
          <a:p>
            <a:pPr algn="l"/>
            <a:r>
              <a:rPr sz="1150" b="0">
                <a:solidFill>
                  <a:srgbClr val="5C5C5C"/>
                </a:solidFill>
                <a:latin typeface="에이투지체 6 SemiBold"/>
                <a:ea typeface="에이투지체 6 SemiBold"/>
                <a:cs typeface="에이투지체 6 SemiBold"/>
              </a:rPr>
              <a:t>FGO · 카무트 로켓 상품</a:t>
            </a:r>
          </a:p>
        </p:txBody>
      </p:sp>
      <p:sp>
        <p:nvSpPr>
          <p:cNvPr id="14" name="TextBox 13"/>
          <p:cNvSpPr txBox="1"/>
          <p:nvPr/>
        </p:nvSpPr>
        <p:spPr>
          <a:xfrm>
            <a:off x="548640"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구매 조건은 갖춰진 상태</a:t>
            </a:r>
          </a:p>
        </p:txBody>
      </p:sp>
      <p:sp>
        <p:nvSpPr>
          <p:cNvPr id="15" name="TextBox 14"/>
          <p:cNvSpPr txBox="1"/>
          <p:nvPr/>
        </p:nvSpPr>
        <p:spPr>
          <a:xfrm>
            <a:off x="548640"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주력 상품 모두 로켓 판매</a:t>
            </a:r>
          </a:p>
          <a:p>
            <a:pPr algn="l"/>
            <a:r>
              <a:rPr sz="1300" b="0">
                <a:solidFill>
                  <a:srgbClr val="5C5C5C"/>
                </a:solidFill>
                <a:latin typeface="에이투지체 4 Regular"/>
                <a:ea typeface="에이투지체 4 Regular"/>
                <a:cs typeface="에이투지체 4 Regular"/>
              </a:rPr>
              <a:t>철분 · 유산균 등도 리뷰 65~588</a:t>
            </a:r>
          </a:p>
          <a:p>
            <a:pPr algn="l"/>
            <a:r>
              <a:rPr sz="1300" b="0">
                <a:solidFill>
                  <a:srgbClr val="5C5C5C"/>
                </a:solidFill>
                <a:latin typeface="에이투지체 4 Regular"/>
                <a:ea typeface="에이투지체 4 Regular"/>
                <a:cs typeface="에이투지체 4 Regular"/>
              </a:rPr>
              <a:t>외부몰 중 가장 큰 매체</a:t>
            </a:r>
          </a:p>
        </p:txBody>
      </p:sp>
      <p:cxnSp>
        <p:nvCxnSpPr>
          <p:cNvPr id="16" name="Connector 15"/>
          <p:cNvCxnSpPr/>
          <p:nvPr/>
        </p:nvCxnSpPr>
        <p:spPr>
          <a:xfrm>
            <a:off x="548640" y="4873752"/>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광고로 넓힐 기반은 확보</a:t>
            </a:r>
          </a:p>
        </p:txBody>
      </p:sp>
      <p:sp>
        <p:nvSpPr>
          <p:cNvPr id="18" name="Rounded Rectangle 17"/>
          <p:cNvSpPr/>
          <p:nvPr/>
        </p:nvSpPr>
        <p:spPr>
          <a:xfrm>
            <a:off x="4361688" y="2103120"/>
            <a:ext cx="3447288" cy="1051560"/>
          </a:xfrm>
          <a:prstGeom prst="roundRect">
            <a:avLst>
              <a:gd name="adj" fmla="val 695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90288" y="2157984"/>
            <a:ext cx="3017520" cy="530352"/>
          </a:xfrm>
          <a:prstGeom prst="rect">
            <a:avLst/>
          </a:prstGeom>
          <a:noFill/>
        </p:spPr>
        <p:txBody>
          <a:bodyPr wrap="square" lIns="0" tIns="0" rIns="0" bIns="0" anchor="t">
            <a:spAutoFit/>
          </a:bodyPr>
          <a:lstStyle/>
          <a:p>
            <a:pPr algn="l"/>
            <a:r>
              <a:rPr sz="2800" b="0">
                <a:solidFill>
                  <a:srgbClr val="004F9F"/>
                </a:solidFill>
                <a:latin typeface="에이투지체 8 ExtraBold"/>
                <a:ea typeface="에이투지체 8 ExtraBold"/>
                <a:cs typeface="에이투지체 8 ExtraBold"/>
              </a:rPr>
              <a:t>3개 중 0</a:t>
            </a:r>
          </a:p>
        </p:txBody>
      </p:sp>
      <p:sp>
        <p:nvSpPr>
          <p:cNvPr id="20" name="TextBox 19"/>
          <p:cNvSpPr txBox="1"/>
          <p:nvPr/>
        </p:nvSpPr>
        <p:spPr>
          <a:xfrm>
            <a:off x="4590288" y="2724912"/>
            <a:ext cx="3017520" cy="320040"/>
          </a:xfrm>
          <a:prstGeom prst="rect">
            <a:avLst/>
          </a:prstGeom>
          <a:noFill/>
        </p:spPr>
        <p:txBody>
          <a:bodyPr wrap="square" lIns="0" tIns="0" rIns="0" bIns="0" anchor="t">
            <a:spAutoFit/>
          </a:bodyPr>
          <a:lstStyle/>
          <a:p>
            <a:pPr algn="l"/>
            <a:r>
              <a:rPr sz="1150" b="0">
                <a:solidFill>
                  <a:srgbClr val="5C5C5C"/>
                </a:solidFill>
                <a:latin typeface="에이투지체 6 SemiBold"/>
                <a:ea typeface="에이투지체 6 SemiBold"/>
                <a:cs typeface="에이투지체 6 SemiBold"/>
              </a:rPr>
              <a:t>대표 검색어 첫 화면 노출</a:t>
            </a:r>
          </a:p>
        </p:txBody>
      </p:sp>
      <p:sp>
        <p:nvSpPr>
          <p:cNvPr id="21" name="TextBox 20"/>
          <p:cNvSpPr txBox="1"/>
          <p:nvPr/>
        </p:nvSpPr>
        <p:spPr>
          <a:xfrm>
            <a:off x="4361688"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대표 검색어에서 보이지 않음</a:t>
            </a:r>
          </a:p>
        </p:txBody>
      </p:sp>
      <p:sp>
        <p:nvSpPr>
          <p:cNvPr id="22" name="TextBox 21"/>
          <p:cNvSpPr txBox="1"/>
          <p:nvPr/>
        </p:nvSpPr>
        <p:spPr>
          <a:xfrm>
            <a:off x="4361688"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키성장영양제, 키크는영양제, 카무트효소</a:t>
            </a:r>
          </a:p>
          <a:p>
            <a:pPr algn="l"/>
            <a:r>
              <a:rPr sz="1300" b="0">
                <a:solidFill>
                  <a:srgbClr val="5C5C5C"/>
                </a:solidFill>
                <a:latin typeface="에이투지체 4 Regular"/>
                <a:ea typeface="에이투지체 4 Regular"/>
                <a:cs typeface="에이투지체 4 Regular"/>
              </a:rPr>
              <a:t>첫 화면에 두드림 상품 없음</a:t>
            </a:r>
          </a:p>
          <a:p>
            <a:pPr algn="l"/>
            <a:r>
              <a:rPr sz="1300" b="0">
                <a:solidFill>
                  <a:srgbClr val="5C5C5C"/>
                </a:solidFill>
                <a:latin typeface="에이투지체 4 Regular"/>
                <a:ea typeface="에이투지체 4 Regular"/>
                <a:cs typeface="에이투지체 4 Regular"/>
              </a:rPr>
              <a:t>광고 자리는 키움정, 키앤이거, 그레인온 등</a:t>
            </a:r>
          </a:p>
        </p:txBody>
      </p:sp>
      <p:cxnSp>
        <p:nvCxnSpPr>
          <p:cNvPr id="23" name="Connector 22"/>
          <p:cNvCxnSpPr/>
          <p:nvPr/>
        </p:nvCxnSpPr>
        <p:spPr>
          <a:xfrm>
            <a:off x="4361688" y="4873752"/>
            <a:ext cx="3447287"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361688"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카테고리 검색 수요가 경쟁 상품에 집중</a:t>
            </a:r>
          </a:p>
        </p:txBody>
      </p:sp>
      <p:sp>
        <p:nvSpPr>
          <p:cNvPr id="25" name="Rounded Rectangle 24"/>
          <p:cNvSpPr/>
          <p:nvPr/>
        </p:nvSpPr>
        <p:spPr>
          <a:xfrm>
            <a:off x="8174736" y="2103120"/>
            <a:ext cx="3447288" cy="1051560"/>
          </a:xfrm>
          <a:prstGeom prst="roundRect">
            <a:avLst>
              <a:gd name="adj" fmla="val 6956"/>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03336" y="2157984"/>
            <a:ext cx="3017520" cy="530352"/>
          </a:xfrm>
          <a:prstGeom prst="rect">
            <a:avLst/>
          </a:prstGeom>
          <a:noFill/>
        </p:spPr>
        <p:txBody>
          <a:bodyPr wrap="square" lIns="0" tIns="0" rIns="0" bIns="0" anchor="t">
            <a:spAutoFit/>
          </a:bodyPr>
          <a:lstStyle/>
          <a:p>
            <a:pPr algn="l"/>
            <a:r>
              <a:rPr sz="2800" b="0">
                <a:solidFill>
                  <a:srgbClr val="FFFFFF"/>
                </a:solidFill>
                <a:latin typeface="에이투지체 8 ExtraBold"/>
                <a:ea typeface="에이투지체 8 ExtraBold"/>
                <a:cs typeface="에이투지체 8 ExtraBold"/>
              </a:rPr>
              <a:t>경쟁사 광고</a:t>
            </a:r>
          </a:p>
        </p:txBody>
      </p:sp>
      <p:sp>
        <p:nvSpPr>
          <p:cNvPr id="27" name="TextBox 26"/>
          <p:cNvSpPr txBox="1"/>
          <p:nvPr/>
        </p:nvSpPr>
        <p:spPr>
          <a:xfrm>
            <a:off x="8403336" y="2724912"/>
            <a:ext cx="3017520" cy="176972"/>
          </a:xfrm>
          <a:prstGeom prst="rect">
            <a:avLst/>
          </a:prstGeom>
          <a:noFill/>
        </p:spPr>
        <p:txBody>
          <a:bodyPr wrap="square" lIns="0" tIns="0" rIns="0" bIns="0" anchor="t">
            <a:spAutoFit/>
          </a:bodyPr>
          <a:lstStyle/>
          <a:p>
            <a:pPr algn="l"/>
            <a:r>
              <a:rPr sz="1150" b="0" dirty="0" err="1">
                <a:solidFill>
                  <a:srgbClr val="C9DAEE"/>
                </a:solidFill>
                <a:latin typeface="에이투지체 6 SemiBold"/>
                <a:ea typeface="에이투지체 6 SemiBold"/>
                <a:cs typeface="에이투지체 6 SemiBold"/>
              </a:rPr>
              <a:t>자사</a:t>
            </a:r>
            <a:r>
              <a:rPr sz="1150" b="0" dirty="0">
                <a:solidFill>
                  <a:srgbClr val="C9DAEE"/>
                </a:solidFill>
                <a:latin typeface="에이투지체 6 SemiBold"/>
                <a:ea typeface="에이투지체 6 SemiBold"/>
                <a:cs typeface="에이투지체 6 SemiBold"/>
              </a:rPr>
              <a:t> </a:t>
            </a:r>
            <a:r>
              <a:rPr sz="1150" b="0" dirty="0" err="1">
                <a:solidFill>
                  <a:srgbClr val="C9DAEE"/>
                </a:solidFill>
                <a:latin typeface="에이투지체 6 SemiBold"/>
                <a:ea typeface="에이투지체 6 SemiBold"/>
                <a:cs typeface="에이투지체 6 SemiBold"/>
              </a:rPr>
              <a:t>브랜드</a:t>
            </a:r>
            <a:r>
              <a:rPr sz="1150" b="0" dirty="0">
                <a:solidFill>
                  <a:srgbClr val="C9DAEE"/>
                </a:solidFill>
                <a:latin typeface="에이투지체 6 SemiBold"/>
                <a:ea typeface="에이투지체 6 SemiBold"/>
                <a:cs typeface="에이투지체 6 SemiBold"/>
              </a:rPr>
              <a:t> </a:t>
            </a:r>
            <a:r>
              <a:rPr lang="ko-KR" altLang="en-US" sz="1150" dirty="0">
                <a:solidFill>
                  <a:srgbClr val="C9DAEE"/>
                </a:solidFill>
                <a:latin typeface="에이투지체 6 SemiBold"/>
                <a:ea typeface="에이투지체 6 SemiBold"/>
                <a:cs typeface="에이투지체 6 SemiBold"/>
              </a:rPr>
              <a:t>키워드</a:t>
            </a:r>
            <a:r>
              <a:rPr sz="1150" b="0" dirty="0">
                <a:solidFill>
                  <a:srgbClr val="C9DAEE"/>
                </a:solidFill>
                <a:latin typeface="에이투지체 6 SemiBold"/>
                <a:ea typeface="에이투지체 6 SemiBold"/>
                <a:cs typeface="에이투지체 6 SemiBold"/>
              </a:rPr>
              <a:t> </a:t>
            </a:r>
            <a:r>
              <a:rPr lang="ko-KR" altLang="en-US" sz="1150" b="0" dirty="0">
                <a:solidFill>
                  <a:srgbClr val="C9DAEE"/>
                </a:solidFill>
                <a:latin typeface="에이투지체 6 SemiBold"/>
                <a:ea typeface="에이투지체 6 SemiBold"/>
                <a:cs typeface="에이투지체 6 SemiBold"/>
              </a:rPr>
              <a:t>검색 결과</a:t>
            </a:r>
            <a:endParaRPr sz="1150" b="0" dirty="0">
              <a:solidFill>
                <a:srgbClr val="C9DAEE"/>
              </a:solidFill>
              <a:latin typeface="에이투지체 6 SemiBold"/>
              <a:ea typeface="에이투지체 6 SemiBold"/>
              <a:cs typeface="에이투지체 6 SemiBold"/>
            </a:endParaRPr>
          </a:p>
        </p:txBody>
      </p:sp>
      <p:sp>
        <p:nvSpPr>
          <p:cNvPr id="28" name="TextBox 27"/>
          <p:cNvSpPr txBox="1"/>
          <p:nvPr/>
        </p:nvSpPr>
        <p:spPr>
          <a:xfrm>
            <a:off x="8174736"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브랜드 검색어에 경쟁사 광고 노출</a:t>
            </a:r>
          </a:p>
        </p:txBody>
      </p:sp>
      <p:sp>
        <p:nvSpPr>
          <p:cNvPr id="29" name="TextBox 28"/>
          <p:cNvSpPr txBox="1"/>
          <p:nvPr/>
        </p:nvSpPr>
        <p:spPr>
          <a:xfrm>
            <a:off x="8174736"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아이클타임 검색 첫 줄에 경쟁사 광고</a:t>
            </a:r>
          </a:p>
          <a:p>
            <a:pPr algn="l"/>
            <a:r>
              <a:rPr sz="1300" b="0">
                <a:solidFill>
                  <a:srgbClr val="5C5C5C"/>
                </a:solidFill>
                <a:latin typeface="에이투지체 4 Regular"/>
                <a:ea typeface="에이투지체 4 Regular"/>
                <a:cs typeface="에이투지체 4 Regular"/>
              </a:rPr>
              <a:t>반대로 경쟁사 브랜드 검색에는</a:t>
            </a:r>
          </a:p>
          <a:p>
            <a:pPr algn="l"/>
            <a:r>
              <a:rPr sz="1300" b="0">
                <a:solidFill>
                  <a:srgbClr val="5C5C5C"/>
                </a:solidFill>
                <a:latin typeface="에이투지체 4 Regular"/>
                <a:ea typeface="에이투지체 4 Regular"/>
                <a:cs typeface="에이투지체 4 Regular"/>
              </a:rPr>
              <a:t>두드림 노출 없음</a:t>
            </a:r>
          </a:p>
        </p:txBody>
      </p:sp>
      <p:cxnSp>
        <p:nvCxnSpPr>
          <p:cNvPr id="30" name="Connector 29"/>
          <p:cNvCxnSpPr/>
          <p:nvPr/>
        </p:nvCxnSpPr>
        <p:spPr>
          <a:xfrm>
            <a:off x="8174736" y="4873752"/>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4736"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검색어별 운영 구조 정리 필요</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dirty="0" err="1">
                <a:solidFill>
                  <a:srgbClr val="FFFFFF"/>
                </a:solidFill>
                <a:highlight>
                  <a:srgbClr val="0000FF"/>
                </a:highlight>
                <a:latin typeface="에이투지체 8 ExtraBold"/>
                <a:ea typeface="에이투지체 8 ExtraBold"/>
                <a:cs typeface="에이투지체 8 ExtraBold"/>
              </a:rPr>
              <a:t>아이클타임</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검색</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결과에</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경쟁사</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광고가</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나오고</a:t>
            </a:r>
            <a:endParaRPr sz="1900" b="0" dirty="0">
              <a:solidFill>
                <a:srgbClr val="FFFFFF"/>
              </a:solidFill>
              <a:highlight>
                <a:srgbClr val="0000FF"/>
              </a:highlight>
              <a:latin typeface="에이투지체 8 ExtraBold"/>
              <a:ea typeface="에이투지체 8 ExtraBold"/>
              <a:cs typeface="에이투지체 8 ExtraBold"/>
            </a:endParaRPr>
          </a:p>
          <a:p>
            <a:pPr>
              <a:lnSpc>
                <a:spcPts val="2600"/>
              </a:lnSpc>
            </a:pPr>
            <a:r>
              <a:rPr sz="1900" b="0" dirty="0" err="1">
                <a:solidFill>
                  <a:srgbClr val="222222"/>
                </a:solidFill>
                <a:latin typeface="에이투지체 8 ExtraBold"/>
                <a:ea typeface="에이투지체 8 ExtraBold"/>
                <a:cs typeface="에이투지체 8 ExtraBold"/>
              </a:rPr>
              <a:t>경쟁사</a:t>
            </a:r>
            <a:r>
              <a:rPr sz="1900" b="0" dirty="0">
                <a:solidFill>
                  <a:srgbClr val="222222"/>
                </a:solidFill>
                <a:latin typeface="에이투지체 8 ExtraBold"/>
                <a:ea typeface="에이투지체 8 ExtraBold"/>
                <a:cs typeface="에이투지체 8 ExtraBold"/>
              </a:rPr>
              <a:t> </a:t>
            </a:r>
            <a:r>
              <a:rPr sz="1900" b="0" dirty="0" err="1">
                <a:solidFill>
                  <a:srgbClr val="222222"/>
                </a:solidFill>
                <a:latin typeface="에이투지체 8 ExtraBold"/>
                <a:ea typeface="에이투지체 8 ExtraBold"/>
                <a:cs typeface="에이투지체 8 ExtraBold"/>
              </a:rPr>
              <a:t>브랜드</a:t>
            </a:r>
            <a:r>
              <a:rPr sz="1900" b="0" dirty="0">
                <a:solidFill>
                  <a:srgbClr val="222222"/>
                </a:solidFill>
                <a:latin typeface="에이투지체 8 ExtraBold"/>
                <a:ea typeface="에이투지체 8 ExtraBold"/>
                <a:cs typeface="에이투지체 8 ExtraBold"/>
              </a:rPr>
              <a:t> </a:t>
            </a:r>
            <a:r>
              <a:rPr sz="1900" b="0" dirty="0" err="1">
                <a:solidFill>
                  <a:srgbClr val="222222"/>
                </a:solidFill>
                <a:latin typeface="에이투지체 8 ExtraBold"/>
                <a:ea typeface="에이투지체 8 ExtraBold"/>
                <a:cs typeface="에이투지체 8 ExtraBold"/>
              </a:rPr>
              <a:t>검색</a:t>
            </a:r>
            <a:r>
              <a:rPr sz="1900" b="0" dirty="0">
                <a:solidFill>
                  <a:srgbClr val="222222"/>
                </a:solidFill>
                <a:latin typeface="에이투지체 8 ExtraBold"/>
                <a:ea typeface="에이투지체 8 ExtraBold"/>
                <a:cs typeface="에이투지체 8 ExtraBold"/>
              </a:rPr>
              <a:t> </a:t>
            </a:r>
            <a:r>
              <a:rPr sz="1900" b="0" dirty="0" err="1">
                <a:solidFill>
                  <a:srgbClr val="222222"/>
                </a:solidFill>
                <a:latin typeface="에이투지체 8 ExtraBold"/>
                <a:ea typeface="에이투지체 8 ExtraBold"/>
                <a:cs typeface="에이투지체 8 ExtraBold"/>
              </a:rPr>
              <a:t>결과에는</a:t>
            </a:r>
            <a:r>
              <a:rPr sz="1900" b="0" dirty="0">
                <a:solidFill>
                  <a:srgbClr val="222222"/>
                </a:solidFill>
                <a:latin typeface="에이투지체 8 ExtraBold"/>
                <a:ea typeface="에이투지체 8 ExtraBold"/>
                <a:cs typeface="에이투지체 8 ExtraBold"/>
              </a:rPr>
              <a:t> </a:t>
            </a:r>
            <a:r>
              <a:rPr sz="1900" b="0" dirty="0" err="1">
                <a:solidFill>
                  <a:srgbClr val="222222"/>
                </a:solidFill>
                <a:latin typeface="에이투지체 8 ExtraBold"/>
                <a:ea typeface="에이투지체 8 ExtraBold"/>
                <a:cs typeface="에이투지체 8 ExtraBold"/>
              </a:rPr>
              <a:t>두드림</a:t>
            </a:r>
            <a:r>
              <a:rPr sz="1900" b="0" dirty="0">
                <a:solidFill>
                  <a:srgbClr val="222222"/>
                </a:solidFill>
                <a:latin typeface="에이투지체 8 ExtraBold"/>
                <a:ea typeface="에이투지체 8 ExtraBold"/>
                <a:cs typeface="에이투지체 8 ExtraBold"/>
              </a:rPr>
              <a:t> </a:t>
            </a:r>
            <a:r>
              <a:rPr sz="1900" b="0" dirty="0" err="1">
                <a:solidFill>
                  <a:srgbClr val="222222"/>
                </a:solidFill>
                <a:latin typeface="에이투지체 8 ExtraBold"/>
                <a:ea typeface="에이투지체 8 ExtraBold"/>
                <a:cs typeface="에이투지체 8 ExtraBold"/>
              </a:rPr>
              <a:t>상품이</a:t>
            </a:r>
            <a:r>
              <a:rPr sz="1900" b="0" dirty="0">
                <a:solidFill>
                  <a:srgbClr val="222222"/>
                </a:solidFill>
                <a:latin typeface="에이투지체 8 ExtraBold"/>
                <a:ea typeface="에이투지체 8 ExtraBold"/>
                <a:cs typeface="에이투지체 8 ExtraBold"/>
              </a:rPr>
              <a:t> </a:t>
            </a:r>
            <a:r>
              <a:rPr sz="1900" b="0" dirty="0" err="1">
                <a:solidFill>
                  <a:srgbClr val="222222"/>
                </a:solidFill>
                <a:latin typeface="에이투지체 8 ExtraBold"/>
                <a:ea typeface="에이투지체 8 ExtraBold"/>
                <a:cs typeface="에이투지체 8 ExtraBold"/>
              </a:rPr>
              <a:t>없습니다</a:t>
            </a:r>
            <a:endParaRPr sz="1900" b="0" dirty="0">
              <a:solidFill>
                <a:srgbClr val="222222"/>
              </a:solidFill>
              <a:latin typeface="에이투지체 8 ExtraBold"/>
              <a:ea typeface="에이투지체 8 ExtraBold"/>
              <a:cs typeface="에이투지체 8 ExtraBold"/>
            </a:endParaRP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dirty="0" err="1">
                <a:solidFill>
                  <a:srgbClr val="5C5C5C"/>
                </a:solidFill>
                <a:latin typeface="에이투지체 5 Medium"/>
                <a:ea typeface="에이투지체 5 Medium"/>
                <a:cs typeface="에이투지체 5 Medium"/>
              </a:rPr>
              <a:t>쿠팡</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현황</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진단</a:t>
            </a:r>
            <a:r>
              <a:rPr sz="1100" b="0" dirty="0">
                <a:solidFill>
                  <a:srgbClr val="5C5C5C"/>
                </a:solidFill>
                <a:latin typeface="에이투지체 5 Medium"/>
                <a:ea typeface="에이투지체 5 Medium"/>
                <a:cs typeface="에이투지체 5 Medium"/>
              </a:rPr>
              <a:t> ②  </a:t>
            </a:r>
            <a:r>
              <a:rPr sz="1100" b="0" dirty="0" err="1">
                <a:solidFill>
                  <a:srgbClr val="5C5C5C"/>
                </a:solidFill>
                <a:latin typeface="에이투지체 5 Medium"/>
                <a:ea typeface="에이투지체 5 Medium"/>
                <a:cs typeface="에이투지체 5 Medium"/>
              </a:rPr>
              <a:t>브랜드</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검색어</a:t>
            </a:r>
            <a:endParaRPr sz="1100" b="0" dirty="0">
              <a:solidFill>
                <a:srgbClr val="5C5C5C"/>
              </a:solidFill>
              <a:latin typeface="에이투지체 5 Medium"/>
              <a:ea typeface="에이투지체 5 Medium"/>
              <a:cs typeface="에이투지체 5 Medium"/>
            </a:endParaRP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브랜드 검색어 광고 자리를 지키면서, 경쟁사 브랜드 검색어도 제외하지 않고 성과를 보겠습니다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쿠팡 PC 검색 화면 기준 (비로그인). 검색 결과는 새로고침, 사용자별로 달라짐</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34</a:t>
            </a:r>
          </a:p>
        </p:txBody>
      </p:sp>
      <p:sp>
        <p:nvSpPr>
          <p:cNvPr id="11" name="TextBox 10"/>
          <p:cNvSpPr txBox="1"/>
          <p:nvPr/>
        </p:nvSpPr>
        <p:spPr>
          <a:xfrm>
            <a:off x="548640" y="1993392"/>
            <a:ext cx="576072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자사 브랜드  </a:t>
            </a:r>
            <a:r>
              <a:rPr sz="1250" b="0">
                <a:solidFill>
                  <a:srgbClr val="222222"/>
                </a:solidFill>
                <a:latin typeface="에이투지체 6 SemiBold"/>
                <a:ea typeface="에이투지체 6 SemiBold"/>
                <a:cs typeface="에이투지체 6 SemiBold"/>
              </a:rPr>
              <a:t>"아이클타임" 검색, 첫 줄 광고 자리에 키움정</a:t>
            </a:r>
          </a:p>
        </p:txBody>
      </p:sp>
      <p:pic>
        <p:nvPicPr>
          <p:cNvPr id="12" name="Picture 11" descr="aicle.png"/>
          <p:cNvPicPr>
            <a:picLocks noChangeAspect="1"/>
          </p:cNvPicPr>
          <p:nvPr/>
        </p:nvPicPr>
        <p:blipFill>
          <a:blip r:embed="rId2"/>
          <a:stretch>
            <a:fillRect/>
          </a:stretch>
        </p:blipFill>
        <p:spPr>
          <a:xfrm>
            <a:off x="548640" y="2331720"/>
            <a:ext cx="5760720" cy="3174136"/>
          </a:xfrm>
          <a:prstGeom prst="rect">
            <a:avLst/>
          </a:prstGeom>
          <a:ln w="9525">
            <a:solidFill>
              <a:srgbClr val="DDDDDD"/>
            </a:solidFill>
          </a:ln>
        </p:spPr>
      </p:pic>
      <p:sp>
        <p:nvSpPr>
          <p:cNvPr id="13" name="TextBox 12"/>
          <p:cNvSpPr txBox="1"/>
          <p:nvPr/>
        </p:nvSpPr>
        <p:spPr>
          <a:xfrm>
            <a:off x="6583680" y="1993392"/>
            <a:ext cx="502920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경쟁사 브랜드  </a:t>
            </a:r>
            <a:r>
              <a:rPr sz="1250" b="0">
                <a:solidFill>
                  <a:srgbClr val="222222"/>
                </a:solidFill>
                <a:latin typeface="에이투지체 6 SemiBold"/>
                <a:ea typeface="에이투지체 6 SemiBold"/>
                <a:cs typeface="에이투지체 6 SemiBold"/>
              </a:rPr>
              <a:t>두드림 노출 없음</a:t>
            </a:r>
          </a:p>
        </p:txBody>
      </p:sp>
      <p:pic>
        <p:nvPicPr>
          <p:cNvPr id="14" name="Picture 13" descr="kium.png"/>
          <p:cNvPicPr>
            <a:picLocks noChangeAspect="1"/>
          </p:cNvPicPr>
          <p:nvPr/>
        </p:nvPicPr>
        <p:blipFill>
          <a:blip r:embed="rId3"/>
          <a:stretch>
            <a:fillRect/>
          </a:stretch>
        </p:blipFill>
        <p:spPr>
          <a:xfrm>
            <a:off x="6583680" y="2331720"/>
            <a:ext cx="2697480" cy="1503566"/>
          </a:xfrm>
          <a:prstGeom prst="rect">
            <a:avLst/>
          </a:prstGeom>
          <a:ln w="9525">
            <a:solidFill>
              <a:srgbClr val="DDDDDD"/>
            </a:solidFill>
          </a:ln>
        </p:spPr>
      </p:pic>
      <p:sp>
        <p:nvSpPr>
          <p:cNvPr id="15" name="TextBox 14"/>
          <p:cNvSpPr txBox="1"/>
          <p:nvPr/>
        </p:nvSpPr>
        <p:spPr>
          <a:xfrm>
            <a:off x="9464040" y="2606039"/>
            <a:ext cx="2148840" cy="320040"/>
          </a:xfrm>
          <a:prstGeom prst="rect">
            <a:avLst/>
          </a:prstGeom>
          <a:noFill/>
        </p:spPr>
        <p:txBody>
          <a:bodyPr wrap="square" lIns="0" tIns="0" rIns="0" bIns="0" anchor="t">
            <a:spAutoFit/>
          </a:bodyPr>
          <a:lstStyle/>
          <a:p>
            <a:pPr algn="l"/>
            <a:r>
              <a:rPr sz="1250" b="0">
                <a:solidFill>
                  <a:srgbClr val="222222"/>
                </a:solidFill>
                <a:latin typeface="에이투지체 8 ExtraBold"/>
                <a:ea typeface="에이투지체 8 ExtraBold"/>
                <a:cs typeface="에이투지체 8 ExtraBold"/>
              </a:rPr>
              <a:t>"키움정" 검색</a:t>
            </a:r>
          </a:p>
        </p:txBody>
      </p:sp>
      <p:sp>
        <p:nvSpPr>
          <p:cNvPr id="16" name="TextBox 15"/>
          <p:cNvSpPr txBox="1"/>
          <p:nvPr/>
        </p:nvSpPr>
        <p:spPr>
          <a:xfrm>
            <a:off x="9464040" y="2953512"/>
            <a:ext cx="2148840" cy="548640"/>
          </a:xfrm>
          <a:prstGeom prst="rect">
            <a:avLst/>
          </a:prstGeom>
          <a:noFill/>
        </p:spPr>
        <p:txBody>
          <a:bodyPr wrap="square" lIns="0" tIns="0" rIns="0" bIns="0" anchor="t">
            <a:spAutoFit/>
          </a:bodyPr>
          <a:lstStyle/>
          <a:p>
            <a:pPr algn="l"/>
            <a:r>
              <a:rPr sz="1150" b="0">
                <a:solidFill>
                  <a:srgbClr val="5C5C5C"/>
                </a:solidFill>
                <a:latin typeface="에이투지체 4 Regular"/>
                <a:ea typeface="에이투지체 4 Regular"/>
                <a:cs typeface="에이투지체 4 Regular"/>
              </a:rPr>
              <a:t>첫 화면 전부 키움정</a:t>
            </a:r>
          </a:p>
        </p:txBody>
      </p:sp>
      <p:pic>
        <p:nvPicPr>
          <p:cNvPr id="17" name="Picture 16" descr="howtoki.png"/>
          <p:cNvPicPr>
            <a:picLocks noChangeAspect="1"/>
          </p:cNvPicPr>
          <p:nvPr/>
        </p:nvPicPr>
        <p:blipFill>
          <a:blip r:embed="rId4"/>
          <a:stretch>
            <a:fillRect/>
          </a:stretch>
        </p:blipFill>
        <p:spPr>
          <a:xfrm>
            <a:off x="6583680" y="3931920"/>
            <a:ext cx="2697480" cy="1490971"/>
          </a:xfrm>
          <a:prstGeom prst="rect">
            <a:avLst/>
          </a:prstGeom>
          <a:ln w="9525">
            <a:solidFill>
              <a:srgbClr val="DDDDDD"/>
            </a:solidFill>
          </a:ln>
        </p:spPr>
      </p:pic>
      <p:sp>
        <p:nvSpPr>
          <p:cNvPr id="18" name="TextBox 17"/>
          <p:cNvSpPr txBox="1"/>
          <p:nvPr/>
        </p:nvSpPr>
        <p:spPr>
          <a:xfrm>
            <a:off x="9464040" y="4206240"/>
            <a:ext cx="2148840" cy="320040"/>
          </a:xfrm>
          <a:prstGeom prst="rect">
            <a:avLst/>
          </a:prstGeom>
          <a:noFill/>
        </p:spPr>
        <p:txBody>
          <a:bodyPr wrap="square" lIns="0" tIns="0" rIns="0" bIns="0" anchor="t">
            <a:spAutoFit/>
          </a:bodyPr>
          <a:lstStyle/>
          <a:p>
            <a:pPr algn="l"/>
            <a:r>
              <a:rPr sz="1250" b="0">
                <a:solidFill>
                  <a:srgbClr val="222222"/>
                </a:solidFill>
                <a:latin typeface="에이투지체 8 ExtraBold"/>
                <a:ea typeface="에이투지체 8 ExtraBold"/>
                <a:cs typeface="에이투지체 8 ExtraBold"/>
              </a:rPr>
              <a:t>"하우투키" 검색</a:t>
            </a:r>
          </a:p>
        </p:txBody>
      </p:sp>
      <p:sp>
        <p:nvSpPr>
          <p:cNvPr id="19" name="TextBox 18"/>
          <p:cNvSpPr txBox="1"/>
          <p:nvPr/>
        </p:nvSpPr>
        <p:spPr>
          <a:xfrm>
            <a:off x="9464040" y="4553712"/>
            <a:ext cx="2148840" cy="548640"/>
          </a:xfrm>
          <a:prstGeom prst="rect">
            <a:avLst/>
          </a:prstGeom>
          <a:noFill/>
        </p:spPr>
        <p:txBody>
          <a:bodyPr wrap="square" lIns="0" tIns="0" rIns="0" bIns="0" anchor="t">
            <a:spAutoFit/>
          </a:bodyPr>
          <a:lstStyle/>
          <a:p>
            <a:pPr algn="l"/>
            <a:r>
              <a:rPr sz="1150" b="0">
                <a:solidFill>
                  <a:srgbClr val="5C5C5C"/>
                </a:solidFill>
                <a:latin typeface="에이투지체 4 Regular"/>
                <a:ea typeface="에이투지체 4 Regular"/>
                <a:cs typeface="에이투지체 4 Regular"/>
              </a:rPr>
              <a:t>광고 자리는 젬, 키앤이거</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대표 검색어 3개</a:t>
            </a:r>
            <a:r>
              <a:rPr sz="1900" b="0">
                <a:solidFill>
                  <a:srgbClr val="222222"/>
                </a:solidFill>
                <a:latin typeface="에이투지체 8 ExtraBold"/>
                <a:ea typeface="에이투지체 8 ExtraBold"/>
                <a:cs typeface="에이투지체 8 ExtraBold"/>
              </a:rPr>
              <a:t> 모두</a:t>
            </a:r>
          </a:p>
          <a:p>
            <a:pPr>
              <a:lnSpc>
                <a:spcPts val="2600"/>
              </a:lnSpc>
            </a:pPr>
            <a:r>
              <a:rPr sz="1900" b="0">
                <a:solidFill>
                  <a:srgbClr val="222222"/>
                </a:solidFill>
                <a:latin typeface="에이투지체 8 ExtraBold"/>
                <a:ea typeface="에이투지체 8 ExtraBold"/>
                <a:cs typeface="에이투지체 8 ExtraBold"/>
              </a:rPr>
              <a:t>첫 화면에 두드림 상품이 없습니다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dirty="0" err="1">
                <a:solidFill>
                  <a:srgbClr val="5C5C5C"/>
                </a:solidFill>
                <a:latin typeface="에이투지체 5 Medium"/>
                <a:ea typeface="에이투지체 5 Medium"/>
                <a:cs typeface="에이투지체 5 Medium"/>
              </a:rPr>
              <a:t>쿠팡</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현황</a:t>
            </a:r>
            <a:r>
              <a:rPr sz="1100" b="0" dirty="0">
                <a:solidFill>
                  <a:srgbClr val="5C5C5C"/>
                </a:solidFill>
                <a:latin typeface="에이투지체 5 Medium"/>
                <a:ea typeface="에이투지체 5 Medium"/>
                <a:cs typeface="에이투지체 5 Medium"/>
              </a:rPr>
              <a:t> </a:t>
            </a:r>
            <a:r>
              <a:rPr sz="1100" b="0" err="1">
                <a:solidFill>
                  <a:srgbClr val="5C5C5C"/>
                </a:solidFill>
                <a:latin typeface="에이투지체 5 Medium"/>
                <a:ea typeface="에이투지체 5 Medium"/>
                <a:cs typeface="에이투지체 5 Medium"/>
              </a:rPr>
              <a:t>진단</a:t>
            </a:r>
            <a:r>
              <a:rPr sz="1100" b="0">
                <a:solidFill>
                  <a:srgbClr val="5C5C5C"/>
                </a:solidFill>
                <a:latin typeface="에이투지체 5 Medium"/>
                <a:ea typeface="에이투지체 5 Medium"/>
                <a:cs typeface="에이투지체 5 Medium"/>
              </a:rPr>
              <a:t> ③  </a:t>
            </a:r>
            <a:r>
              <a:rPr sz="1100" b="0" dirty="0" err="1">
                <a:solidFill>
                  <a:srgbClr val="5C5C5C"/>
                </a:solidFill>
                <a:latin typeface="에이투지체 5 Medium"/>
                <a:ea typeface="에이투지체 5 Medium"/>
                <a:cs typeface="에이투지체 5 Medium"/>
              </a:rPr>
              <a:t>대표</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검색어</a:t>
            </a:r>
            <a:endParaRPr sz="1100" b="0" dirty="0">
              <a:solidFill>
                <a:srgbClr val="5C5C5C"/>
              </a:solidFill>
              <a:latin typeface="에이투지체 5 Medium"/>
              <a:ea typeface="에이투지체 5 Medium"/>
              <a:cs typeface="에이투지체 5 Medium"/>
            </a:endParaRP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대표 검색어에서는 리뷰 수천~수만 개의 경쟁 상품이 광고와 랭킹 상위에 함께 노출되고 있습니다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쿠팡 PC 검색 화면 기준 (비로그인). 검색 결과는 새로고침, 사용자별로 달라짐 / 괄호는 리뷰 수</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35</a:t>
            </a:r>
          </a:p>
        </p:txBody>
      </p:sp>
      <p:sp>
        <p:nvSpPr>
          <p:cNvPr id="11" name="TextBox 10"/>
          <p:cNvSpPr txBox="1"/>
          <p:nvPr/>
        </p:nvSpPr>
        <p:spPr>
          <a:xfrm>
            <a:off x="548640" y="1993392"/>
            <a:ext cx="35661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"키성장영양제"  </a:t>
            </a:r>
            <a:r>
              <a:rPr sz="1250" b="0">
                <a:solidFill>
                  <a:srgbClr val="222222"/>
                </a:solidFill>
                <a:latin typeface="에이투지체 6 SemiBold"/>
                <a:ea typeface="에이투지체 6 SemiBold"/>
                <a:cs typeface="에이투지체 6 SemiBold"/>
              </a:rPr>
              <a:t>두드림 미노출</a:t>
            </a:r>
          </a:p>
        </p:txBody>
      </p:sp>
      <p:pic>
        <p:nvPicPr>
          <p:cNvPr id="12" name="Picture 11" descr="kisj.png"/>
          <p:cNvPicPr>
            <a:picLocks noChangeAspect="1"/>
          </p:cNvPicPr>
          <p:nvPr/>
        </p:nvPicPr>
        <p:blipFill>
          <a:blip r:embed="rId2"/>
          <a:stretch>
            <a:fillRect/>
          </a:stretch>
        </p:blipFill>
        <p:spPr>
          <a:xfrm>
            <a:off x="548640" y="2331720"/>
            <a:ext cx="3566160" cy="1912531"/>
          </a:xfrm>
          <a:prstGeom prst="rect">
            <a:avLst/>
          </a:prstGeom>
          <a:ln w="9525">
            <a:solidFill>
              <a:srgbClr val="DDDDDD"/>
            </a:solidFill>
          </a:ln>
        </p:spPr>
      </p:pic>
      <p:sp>
        <p:nvSpPr>
          <p:cNvPr id="13" name="TextBox 12"/>
          <p:cNvSpPr txBox="1"/>
          <p:nvPr/>
        </p:nvSpPr>
        <p:spPr>
          <a:xfrm>
            <a:off x="548640" y="4434840"/>
            <a:ext cx="3566160" cy="1051560"/>
          </a:xfrm>
          <a:prstGeom prst="rect">
            <a:avLst/>
          </a:prstGeom>
          <a:noFill/>
        </p:spPr>
        <p:txBody>
          <a:bodyPr wrap="square" lIns="0" tIns="0" rIns="0" bIns="0" anchor="t">
            <a:spAutoFit/>
          </a:bodyPr>
          <a:lstStyle/>
          <a:p>
            <a:pPr algn="l">
              <a:spcAft>
                <a:spcPts val="400"/>
              </a:spcAft>
            </a:pPr>
            <a:r>
              <a:rPr sz="1000" b="0">
                <a:solidFill>
                  <a:srgbClr val="004F9F"/>
                </a:solidFill>
                <a:latin typeface="에이투지체 6 SemiBold"/>
                <a:ea typeface="에이투지체 6 SemiBold"/>
                <a:cs typeface="에이투지체 6 SemiBold"/>
              </a:rPr>
              <a:t>광고  </a:t>
            </a:r>
            <a:r>
              <a:rPr sz="1000" b="0">
                <a:solidFill>
                  <a:srgbClr val="222222"/>
                </a:solidFill>
                <a:latin typeface="에이투지체 4 Regular"/>
                <a:ea typeface="에이투지체 4 Regular"/>
                <a:cs typeface="에이투지체 4 Regular"/>
              </a:rPr>
              <a:t>키움정, 키앤이거, 드림톨, 센치엘, 하이크니</a:t>
            </a:r>
          </a:p>
          <a:p>
            <a:pPr algn="l">
              <a:spcAft>
                <a:spcPts val="400"/>
              </a:spcAft>
            </a:pPr>
            <a:r>
              <a:rPr sz="1000" b="0">
                <a:solidFill>
                  <a:srgbClr val="004F9F"/>
                </a:solidFill>
                <a:latin typeface="에이투지체 6 SemiBold"/>
                <a:ea typeface="에이투지체 6 SemiBold"/>
                <a:cs typeface="에이투지체 6 SemiBold"/>
              </a:rPr>
              <a:t>랭킹  </a:t>
            </a:r>
            <a:r>
              <a:rPr sz="1000" b="0">
                <a:solidFill>
                  <a:srgbClr val="222222"/>
                </a:solidFill>
                <a:latin typeface="에이투지체 4 Regular"/>
                <a:ea typeface="에이투지체 4 Regular"/>
                <a:cs typeface="에이투지체 4 Regular"/>
              </a:rPr>
              <a:t>키앤이거 (2,750), 골밀도 강화 (60), 키클레오 (100)</a:t>
            </a:r>
          </a:p>
        </p:txBody>
      </p:sp>
      <p:sp>
        <p:nvSpPr>
          <p:cNvPr id="14" name="TextBox 13"/>
          <p:cNvSpPr txBox="1"/>
          <p:nvPr/>
        </p:nvSpPr>
        <p:spPr>
          <a:xfrm>
            <a:off x="4297679" y="1993392"/>
            <a:ext cx="35661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"키크는영양제"  </a:t>
            </a:r>
            <a:r>
              <a:rPr sz="1250" b="0">
                <a:solidFill>
                  <a:srgbClr val="222222"/>
                </a:solidFill>
                <a:latin typeface="에이투지체 6 SemiBold"/>
                <a:ea typeface="에이투지체 6 SemiBold"/>
                <a:cs typeface="에이투지체 6 SemiBold"/>
              </a:rPr>
              <a:t>두드림 미노출</a:t>
            </a:r>
          </a:p>
        </p:txBody>
      </p:sp>
      <p:pic>
        <p:nvPicPr>
          <p:cNvPr id="15" name="Picture 14" descr="kikeun.png"/>
          <p:cNvPicPr>
            <a:picLocks noChangeAspect="1"/>
          </p:cNvPicPr>
          <p:nvPr/>
        </p:nvPicPr>
        <p:blipFill>
          <a:blip r:embed="rId3"/>
          <a:stretch>
            <a:fillRect/>
          </a:stretch>
        </p:blipFill>
        <p:spPr>
          <a:xfrm>
            <a:off x="4297679" y="2331720"/>
            <a:ext cx="3566160" cy="1990193"/>
          </a:xfrm>
          <a:prstGeom prst="rect">
            <a:avLst/>
          </a:prstGeom>
          <a:ln w="9525">
            <a:solidFill>
              <a:srgbClr val="DDDDDD"/>
            </a:solidFill>
          </a:ln>
        </p:spPr>
      </p:pic>
      <p:sp>
        <p:nvSpPr>
          <p:cNvPr id="16" name="TextBox 15"/>
          <p:cNvSpPr txBox="1"/>
          <p:nvPr/>
        </p:nvSpPr>
        <p:spPr>
          <a:xfrm>
            <a:off x="4297679" y="4434840"/>
            <a:ext cx="3566160" cy="1051560"/>
          </a:xfrm>
          <a:prstGeom prst="rect">
            <a:avLst/>
          </a:prstGeom>
          <a:noFill/>
        </p:spPr>
        <p:txBody>
          <a:bodyPr wrap="square" lIns="0" tIns="0" rIns="0" bIns="0" anchor="t">
            <a:spAutoFit/>
          </a:bodyPr>
          <a:lstStyle/>
          <a:p>
            <a:pPr algn="l">
              <a:spcAft>
                <a:spcPts val="400"/>
              </a:spcAft>
            </a:pPr>
            <a:r>
              <a:rPr sz="1000" b="0">
                <a:solidFill>
                  <a:srgbClr val="004F9F"/>
                </a:solidFill>
                <a:latin typeface="에이투지체 6 SemiBold"/>
                <a:ea typeface="에이투지체 6 SemiBold"/>
                <a:cs typeface="에이투지체 6 SemiBold"/>
              </a:rPr>
              <a:t>광고  </a:t>
            </a:r>
            <a:r>
              <a:rPr sz="1000" b="0">
                <a:solidFill>
                  <a:srgbClr val="222222"/>
                </a:solidFill>
                <a:latin typeface="에이투지체 4 Regular"/>
                <a:ea typeface="에이투지체 4 Regular"/>
                <a:cs typeface="에이투지체 4 Regular"/>
              </a:rPr>
              <a:t>키앤이거, 키움정, 드림톨, 펜트로반</a:t>
            </a:r>
          </a:p>
          <a:p>
            <a:pPr algn="l">
              <a:spcAft>
                <a:spcPts val="400"/>
              </a:spcAft>
            </a:pPr>
            <a:r>
              <a:rPr sz="1000" b="0">
                <a:solidFill>
                  <a:srgbClr val="004F9F"/>
                </a:solidFill>
                <a:latin typeface="에이투지체 6 SemiBold"/>
                <a:ea typeface="에이투지체 6 SemiBold"/>
                <a:cs typeface="에이투지체 6 SemiBold"/>
              </a:rPr>
              <a:t>랭킹  </a:t>
            </a:r>
            <a:r>
              <a:rPr sz="1000" b="0">
                <a:solidFill>
                  <a:srgbClr val="222222"/>
                </a:solidFill>
                <a:latin typeface="에이투지체 4 Regular"/>
                <a:ea typeface="에이투지체 4 Regular"/>
                <a:cs typeface="에이투지체 4 Regular"/>
              </a:rPr>
              <a:t>키클레오 (100), 알파이 (1,251), 키초스틱</a:t>
            </a:r>
          </a:p>
        </p:txBody>
      </p:sp>
      <p:sp>
        <p:nvSpPr>
          <p:cNvPr id="17" name="TextBox 16"/>
          <p:cNvSpPr txBox="1"/>
          <p:nvPr/>
        </p:nvSpPr>
        <p:spPr>
          <a:xfrm>
            <a:off x="8046719" y="1993392"/>
            <a:ext cx="35661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"카무트효소"  </a:t>
            </a:r>
            <a:r>
              <a:rPr sz="1250" b="0">
                <a:solidFill>
                  <a:srgbClr val="222222"/>
                </a:solidFill>
                <a:latin typeface="에이투지체 6 SemiBold"/>
                <a:ea typeface="에이투지체 6 SemiBold"/>
                <a:cs typeface="에이투지체 6 SemiBold"/>
              </a:rPr>
              <a:t>두드림 미노출</a:t>
            </a:r>
          </a:p>
        </p:txBody>
      </p:sp>
      <p:pic>
        <p:nvPicPr>
          <p:cNvPr id="18" name="Picture 17" descr="kamut.png"/>
          <p:cNvPicPr>
            <a:picLocks noChangeAspect="1"/>
          </p:cNvPicPr>
          <p:nvPr/>
        </p:nvPicPr>
        <p:blipFill>
          <a:blip r:embed="rId4"/>
          <a:stretch>
            <a:fillRect/>
          </a:stretch>
        </p:blipFill>
        <p:spPr>
          <a:xfrm>
            <a:off x="8046719" y="2331720"/>
            <a:ext cx="3566160" cy="1988404"/>
          </a:xfrm>
          <a:prstGeom prst="rect">
            <a:avLst/>
          </a:prstGeom>
          <a:ln w="9525">
            <a:solidFill>
              <a:srgbClr val="DDDDDD"/>
            </a:solidFill>
          </a:ln>
        </p:spPr>
      </p:pic>
      <p:sp>
        <p:nvSpPr>
          <p:cNvPr id="19" name="TextBox 18"/>
          <p:cNvSpPr txBox="1"/>
          <p:nvPr/>
        </p:nvSpPr>
        <p:spPr>
          <a:xfrm>
            <a:off x="8046719" y="4434840"/>
            <a:ext cx="3566160" cy="1051560"/>
          </a:xfrm>
          <a:prstGeom prst="rect">
            <a:avLst/>
          </a:prstGeom>
          <a:noFill/>
        </p:spPr>
        <p:txBody>
          <a:bodyPr wrap="square" lIns="0" tIns="0" rIns="0" bIns="0" anchor="t">
            <a:spAutoFit/>
          </a:bodyPr>
          <a:lstStyle/>
          <a:p>
            <a:pPr algn="l">
              <a:spcAft>
                <a:spcPts val="400"/>
              </a:spcAft>
            </a:pPr>
            <a:r>
              <a:rPr sz="1000" b="0">
                <a:solidFill>
                  <a:srgbClr val="004F9F"/>
                </a:solidFill>
                <a:latin typeface="에이투지체 6 SemiBold"/>
                <a:ea typeface="에이투지체 6 SemiBold"/>
                <a:cs typeface="에이투지체 6 SemiBold"/>
              </a:rPr>
              <a:t>광고  </a:t>
            </a:r>
            <a:r>
              <a:rPr sz="1000" b="0">
                <a:solidFill>
                  <a:srgbClr val="222222"/>
                </a:solidFill>
                <a:latin typeface="에이투지체 4 Regular"/>
                <a:ea typeface="에이투지체 4 Regular"/>
                <a:cs typeface="에이투지체 4 Regular"/>
              </a:rPr>
              <a:t>여에스더, 비타민마을, 정품 골든, 동국제약, SSF</a:t>
            </a:r>
          </a:p>
          <a:p>
            <a:pPr algn="l">
              <a:spcAft>
                <a:spcPts val="400"/>
              </a:spcAft>
            </a:pPr>
            <a:r>
              <a:rPr sz="1000" b="0">
                <a:solidFill>
                  <a:srgbClr val="004F9F"/>
                </a:solidFill>
                <a:latin typeface="에이투지체 6 SemiBold"/>
                <a:ea typeface="에이투지체 6 SemiBold"/>
                <a:cs typeface="에이투지체 6 SemiBold"/>
              </a:rPr>
              <a:t>랭킹  </a:t>
            </a:r>
            <a:r>
              <a:rPr sz="1000" b="0">
                <a:solidFill>
                  <a:srgbClr val="222222"/>
                </a:solidFill>
                <a:latin typeface="에이투지체 4 Regular"/>
                <a:ea typeface="에이투지체 4 Regular"/>
                <a:cs typeface="에이투지체 4 Regular"/>
              </a:rPr>
              <a:t>골드 카무트 MAX (1,226), 카무트 골드G (14,664), 그레인온 (3,644)</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쿠팡 핵심 과제</a:t>
            </a:r>
            <a:r>
              <a:rPr sz="1900" b="0">
                <a:solidFill>
                  <a:srgbClr val="222222"/>
                </a:solidFill>
                <a:latin typeface="에이투지체 8 ExtraBold"/>
                <a:ea typeface="에이투지체 8 ExtraBold"/>
                <a:cs typeface="에이투지체 8 ExtraBold"/>
              </a:rPr>
              <a:t>는 네 가지로 나누어</a:t>
            </a:r>
          </a:p>
          <a:p>
            <a:pPr>
              <a:lnSpc>
                <a:spcPts val="2600"/>
              </a:lnSpc>
            </a:pPr>
            <a:r>
              <a:rPr sz="1900" b="0">
                <a:solidFill>
                  <a:srgbClr val="222222"/>
                </a:solidFill>
                <a:latin typeface="에이투지체 8 ExtraBold"/>
                <a:ea typeface="에이투지체 8 ExtraBold"/>
                <a:cs typeface="에이투지체 8 ExtraBold"/>
              </a:rPr>
              <a:t>매출 최적화 캠페인 안에서 운영하겠습니다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a:solidFill>
                  <a:srgbClr val="5C5C5C"/>
                </a:solidFill>
                <a:latin typeface="에이투지체 5 Medium"/>
                <a:ea typeface="에이투지체 5 Medium"/>
                <a:cs typeface="에이투지체 5 Medium"/>
              </a:rPr>
              <a:t>쿠팡 핵심 과제 정리</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쿠팡에서는 리뷰가 쌓인 로켓 상품을 앞세워 FGO와 다음 히어로 상품의 검색 수요를 넓혀 가겠습니다</a:t>
            </a:r>
          </a:p>
        </p:txBody>
      </p:sp>
      <p:sp>
        <p:nvSpPr>
          <p:cNvPr id="7" name="TextBox 6"/>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8" name="TextBox 7"/>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9" name="TextBox 8"/>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36</a:t>
            </a:r>
          </a:p>
        </p:txBody>
      </p:sp>
      <p:sp>
        <p:nvSpPr>
          <p:cNvPr id="10" name="TextBox 9"/>
          <p:cNvSpPr txBox="1"/>
          <p:nvPr/>
        </p:nvSpPr>
        <p:spPr>
          <a:xfrm>
            <a:off x="548640" y="2084831"/>
            <a:ext cx="242316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핵심 과제</a:t>
            </a:r>
          </a:p>
        </p:txBody>
      </p:sp>
      <p:sp>
        <p:nvSpPr>
          <p:cNvPr id="11" name="TextBox 10"/>
          <p:cNvSpPr txBox="1"/>
          <p:nvPr/>
        </p:nvSpPr>
        <p:spPr>
          <a:xfrm>
            <a:off x="3291840" y="2084831"/>
            <a:ext cx="393192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쿠팡 실행</a:t>
            </a:r>
          </a:p>
        </p:txBody>
      </p:sp>
      <p:sp>
        <p:nvSpPr>
          <p:cNvPr id="12" name="TextBox 11"/>
          <p:cNvSpPr txBox="1"/>
          <p:nvPr/>
        </p:nvSpPr>
        <p:spPr>
          <a:xfrm>
            <a:off x="7543800" y="2084831"/>
            <a:ext cx="210312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운영</a:t>
            </a:r>
          </a:p>
        </p:txBody>
      </p:sp>
      <p:sp>
        <p:nvSpPr>
          <p:cNvPr id="13" name="TextBox 12"/>
          <p:cNvSpPr txBox="1"/>
          <p:nvPr/>
        </p:nvSpPr>
        <p:spPr>
          <a:xfrm>
            <a:off x="9966960" y="2084831"/>
            <a:ext cx="164592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관리 지표</a:t>
            </a:r>
          </a:p>
        </p:txBody>
      </p:sp>
      <p:sp>
        <p:nvSpPr>
          <p:cNvPr id="14" name="Rounded Rectangle 13"/>
          <p:cNvSpPr/>
          <p:nvPr/>
        </p:nvSpPr>
        <p:spPr>
          <a:xfrm>
            <a:off x="548640" y="2395728"/>
            <a:ext cx="2423160" cy="640080"/>
          </a:xfrm>
          <a:prstGeom prst="roundRect">
            <a:avLst>
              <a:gd name="adj" fmla="val 11428"/>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2395728"/>
            <a:ext cx="2148840" cy="640080"/>
          </a:xfrm>
          <a:prstGeom prst="rect">
            <a:avLst/>
          </a:prstGeom>
          <a:noFill/>
        </p:spPr>
        <p:txBody>
          <a:bodyPr wrap="square" lIns="0" tIns="0" rIns="0" bIns="0" anchor="ctr">
            <a:spAutoFit/>
          </a:bodyPr>
          <a:lstStyle/>
          <a:p>
            <a:pPr algn="l"/>
            <a:r>
              <a:rPr sz="1050" b="0">
                <a:solidFill>
                  <a:srgbClr val="FFFFFF"/>
                </a:solidFill>
                <a:latin typeface="에이투지체 6 SemiBold"/>
                <a:ea typeface="에이투지체 6 SemiBold"/>
                <a:cs typeface="에이투지체 6 SemiBold"/>
              </a:rPr>
              <a:t>01</a:t>
            </a:r>
          </a:p>
          <a:p>
            <a:pPr algn="l"/>
            <a:r>
              <a:rPr sz="1300" b="0">
                <a:solidFill>
                  <a:srgbClr val="FFFFFF"/>
                </a:solidFill>
                <a:latin typeface="에이투지체 6 SemiBold"/>
                <a:ea typeface="에이투지체 6 SemiBold"/>
                <a:cs typeface="에이투지체 6 SemiBold"/>
              </a:rPr>
              <a:t>캠페인 구조 정리</a:t>
            </a:r>
          </a:p>
        </p:txBody>
      </p:sp>
      <p:sp>
        <p:nvSpPr>
          <p:cNvPr id="16" name="Rounded Rectangle 15"/>
          <p:cNvSpPr/>
          <p:nvPr/>
        </p:nvSpPr>
        <p:spPr>
          <a:xfrm>
            <a:off x="3291840" y="2395728"/>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93008" y="2395728"/>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목표 ROAS 기준 학습이라 객단가로 나누고</a:t>
            </a:r>
          </a:p>
          <a:p>
            <a:pPr algn="l"/>
            <a:r>
              <a:rPr sz="1100" b="0">
                <a:solidFill>
                  <a:srgbClr val="222222"/>
                </a:solidFill>
                <a:latin typeface="에이투지체 5 Medium"/>
                <a:ea typeface="에이투지체 5 Medium"/>
                <a:cs typeface="에이투지체 5 Medium"/>
              </a:rPr>
              <a:t>리뷰가 쌓인 로켓 상품부터 운영합니다</a:t>
            </a:r>
          </a:p>
        </p:txBody>
      </p:sp>
      <p:sp>
        <p:nvSpPr>
          <p:cNvPr id="18" name="Rounded Rectangle 17"/>
          <p:cNvSpPr/>
          <p:nvPr/>
        </p:nvSpPr>
        <p:spPr>
          <a:xfrm>
            <a:off x="7543800" y="2468880"/>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35240" y="2468880"/>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매출 최적화 A, B, C</a:t>
            </a:r>
          </a:p>
        </p:txBody>
      </p:sp>
      <p:sp>
        <p:nvSpPr>
          <p:cNvPr id="20" name="TextBox 19"/>
          <p:cNvSpPr txBox="1"/>
          <p:nvPr/>
        </p:nvSpPr>
        <p:spPr>
          <a:xfrm>
            <a:off x="9966960" y="2395728"/>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캠페인별 ROAS</a:t>
            </a:r>
          </a:p>
        </p:txBody>
      </p:sp>
      <p:sp>
        <p:nvSpPr>
          <p:cNvPr id="21" name="Isosceles Triangle 20"/>
          <p:cNvSpPr/>
          <p:nvPr/>
        </p:nvSpPr>
        <p:spPr>
          <a:xfrm rot="5400000">
            <a:off x="2990088" y="2642616"/>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Isosceles Triangle 21"/>
          <p:cNvSpPr/>
          <p:nvPr/>
        </p:nvSpPr>
        <p:spPr>
          <a:xfrm rot="5400000">
            <a:off x="7242048" y="2642616"/>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Isosceles Triangle 22"/>
          <p:cNvSpPr/>
          <p:nvPr/>
        </p:nvSpPr>
        <p:spPr>
          <a:xfrm rot="5400000">
            <a:off x="9665208" y="2642616"/>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48640" y="3145536"/>
            <a:ext cx="2423160"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3145536"/>
            <a:ext cx="2148840" cy="640080"/>
          </a:xfrm>
          <a:prstGeom prst="rect">
            <a:avLst/>
          </a:prstGeom>
          <a:noFill/>
        </p:spPr>
        <p:txBody>
          <a:bodyPr wrap="square" lIns="0" tIns="0" rIns="0" bIns="0" anchor="ctr">
            <a:spAutoFit/>
          </a:bodyPr>
          <a:lstStyle/>
          <a:p>
            <a:pPr algn="l"/>
            <a:r>
              <a:rPr sz="1050" b="0">
                <a:solidFill>
                  <a:srgbClr val="004F9F"/>
                </a:solidFill>
                <a:latin typeface="에이투지체 6 SemiBold"/>
                <a:ea typeface="에이투지체 6 SemiBold"/>
                <a:cs typeface="에이투지체 6 SemiBold"/>
              </a:rPr>
              <a:t>02</a:t>
            </a:r>
          </a:p>
          <a:p>
            <a:pPr algn="l"/>
            <a:r>
              <a:rPr sz="1300" b="0">
                <a:solidFill>
                  <a:srgbClr val="222222"/>
                </a:solidFill>
                <a:latin typeface="에이투지체 6 SemiBold"/>
                <a:ea typeface="에이투지체 6 SemiBold"/>
                <a:cs typeface="에이투지체 6 SemiBold"/>
              </a:rPr>
              <a:t>검색어 노출 확대</a:t>
            </a:r>
          </a:p>
        </p:txBody>
      </p:sp>
      <p:sp>
        <p:nvSpPr>
          <p:cNvPr id="26" name="Rounded Rectangle 25"/>
          <p:cNvSpPr/>
          <p:nvPr/>
        </p:nvSpPr>
        <p:spPr>
          <a:xfrm>
            <a:off x="3291840" y="3145536"/>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93008" y="3145536"/>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브랜드 검색어는 상시 노출하고</a:t>
            </a:r>
          </a:p>
          <a:p>
            <a:pPr algn="l"/>
            <a:r>
              <a:rPr sz="1100" b="0">
                <a:solidFill>
                  <a:srgbClr val="222222"/>
                </a:solidFill>
                <a:latin typeface="에이투지체 5 Medium"/>
                <a:ea typeface="에이투지체 5 Medium"/>
                <a:cs typeface="에이투지체 5 Medium"/>
              </a:rPr>
              <a:t>대표·경쟁사 검색어는 제외 없이 성과를 봅니다</a:t>
            </a:r>
          </a:p>
        </p:txBody>
      </p:sp>
      <p:sp>
        <p:nvSpPr>
          <p:cNvPr id="28" name="Rounded Rectangle 27"/>
          <p:cNvSpPr/>
          <p:nvPr/>
        </p:nvSpPr>
        <p:spPr>
          <a:xfrm>
            <a:off x="7543800" y="3218688"/>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635240" y="3218688"/>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매출 최적화</a:t>
            </a:r>
          </a:p>
          <a:p>
            <a:pPr algn="ctr"/>
            <a:r>
              <a:rPr sz="1050" b="0">
                <a:solidFill>
                  <a:srgbClr val="004F9F"/>
                </a:solidFill>
                <a:latin typeface="에이투지체 6 SemiBold"/>
                <a:ea typeface="에이투지체 6 SemiBold"/>
                <a:cs typeface="에이투지체 6 SemiBold"/>
              </a:rPr>
              <a:t>검색어 리포트</a:t>
            </a:r>
          </a:p>
        </p:txBody>
      </p:sp>
      <p:sp>
        <p:nvSpPr>
          <p:cNvPr id="30" name="TextBox 29"/>
          <p:cNvSpPr txBox="1"/>
          <p:nvPr/>
        </p:nvSpPr>
        <p:spPr>
          <a:xfrm>
            <a:off x="9966960" y="3145536"/>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검색어별 전환</a:t>
            </a:r>
          </a:p>
          <a:p>
            <a:pPr algn="ctr"/>
            <a:r>
              <a:rPr sz="1100" b="0">
                <a:solidFill>
                  <a:srgbClr val="222222"/>
                </a:solidFill>
                <a:latin typeface="에이투지체 6 SemiBold"/>
                <a:ea typeface="에이투지체 6 SemiBold"/>
                <a:cs typeface="에이투지체 6 SemiBold"/>
              </a:rPr>
              <a:t>무전환 비용</a:t>
            </a:r>
          </a:p>
        </p:txBody>
      </p:sp>
      <p:sp>
        <p:nvSpPr>
          <p:cNvPr id="31" name="Isosceles Triangle 30"/>
          <p:cNvSpPr/>
          <p:nvPr/>
        </p:nvSpPr>
        <p:spPr>
          <a:xfrm rot="5400000">
            <a:off x="2990088" y="3392424"/>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Isosceles Triangle 31"/>
          <p:cNvSpPr/>
          <p:nvPr/>
        </p:nvSpPr>
        <p:spPr>
          <a:xfrm rot="5400000">
            <a:off x="7242048" y="3392424"/>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Isosceles Triangle 32"/>
          <p:cNvSpPr/>
          <p:nvPr/>
        </p:nvSpPr>
        <p:spPr>
          <a:xfrm rot="5400000">
            <a:off x="9665208" y="3392424"/>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548640" y="3895344"/>
            <a:ext cx="2423160"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31520" y="3895344"/>
            <a:ext cx="2148840" cy="640080"/>
          </a:xfrm>
          <a:prstGeom prst="rect">
            <a:avLst/>
          </a:prstGeom>
          <a:noFill/>
        </p:spPr>
        <p:txBody>
          <a:bodyPr wrap="square" lIns="0" tIns="0" rIns="0" bIns="0" anchor="ctr">
            <a:spAutoFit/>
          </a:bodyPr>
          <a:lstStyle/>
          <a:p>
            <a:pPr algn="l"/>
            <a:r>
              <a:rPr sz="1050" b="0">
                <a:solidFill>
                  <a:srgbClr val="004F9F"/>
                </a:solidFill>
                <a:latin typeface="에이투지체 6 SemiBold"/>
                <a:ea typeface="에이투지체 6 SemiBold"/>
                <a:cs typeface="에이투지체 6 SemiBold"/>
              </a:rPr>
              <a:t>03</a:t>
            </a:r>
          </a:p>
          <a:p>
            <a:pPr algn="l"/>
            <a:r>
              <a:rPr sz="1300" b="0">
                <a:solidFill>
                  <a:srgbClr val="222222"/>
                </a:solidFill>
                <a:latin typeface="에이투지체 6 SemiBold"/>
                <a:ea typeface="에이투지체 6 SemiBold"/>
                <a:cs typeface="에이투지체 6 SemiBold"/>
              </a:rPr>
              <a:t>성장 패키지 상품</a:t>
            </a:r>
          </a:p>
        </p:txBody>
      </p:sp>
      <p:sp>
        <p:nvSpPr>
          <p:cNvPr id="36" name="Rounded Rectangle 35"/>
          <p:cNvSpPr/>
          <p:nvPr/>
        </p:nvSpPr>
        <p:spPr>
          <a:xfrm>
            <a:off x="3291840" y="3895344"/>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493008" y="3895344"/>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FGO 세트 상품 등록을 두드림에 제안하고</a:t>
            </a:r>
          </a:p>
          <a:p>
            <a:pPr algn="l"/>
            <a:r>
              <a:rPr sz="1100" b="0">
                <a:solidFill>
                  <a:srgbClr val="222222"/>
                </a:solidFill>
                <a:latin typeface="에이투지체 5 Medium"/>
                <a:ea typeface="에이투지체 5 Medium"/>
                <a:cs typeface="에이투지체 5 Medium"/>
              </a:rPr>
              <a:t>등록되면 어린이영양제 등 넓은 검색어까지 노출합니다</a:t>
            </a:r>
          </a:p>
        </p:txBody>
      </p:sp>
      <p:sp>
        <p:nvSpPr>
          <p:cNvPr id="38" name="Rounded Rectangle 37"/>
          <p:cNvSpPr/>
          <p:nvPr/>
        </p:nvSpPr>
        <p:spPr>
          <a:xfrm>
            <a:off x="7543800" y="3968496"/>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635240" y="3968496"/>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매출 최적화 A</a:t>
            </a:r>
          </a:p>
          <a:p>
            <a:pPr algn="ctr"/>
            <a:r>
              <a:rPr sz="1050" b="0">
                <a:solidFill>
                  <a:srgbClr val="004F9F"/>
                </a:solidFill>
                <a:latin typeface="에이투지체 6 SemiBold"/>
                <a:ea typeface="에이투지체 6 SemiBold"/>
                <a:cs typeface="에이투지체 6 SemiBold"/>
              </a:rPr>
              <a:t>키성장 캠페인</a:t>
            </a:r>
          </a:p>
        </p:txBody>
      </p:sp>
      <p:sp>
        <p:nvSpPr>
          <p:cNvPr id="40" name="TextBox 39"/>
          <p:cNvSpPr txBox="1"/>
          <p:nvPr/>
        </p:nvSpPr>
        <p:spPr>
          <a:xfrm>
            <a:off x="9966960" y="3895344"/>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세트 매출</a:t>
            </a:r>
          </a:p>
          <a:p>
            <a:pPr algn="ctr"/>
            <a:r>
              <a:rPr sz="1100" b="0">
                <a:solidFill>
                  <a:srgbClr val="222222"/>
                </a:solidFill>
                <a:latin typeface="에이투지체 6 SemiBold"/>
                <a:ea typeface="에이투지체 6 SemiBold"/>
                <a:cs typeface="에이투지체 6 SemiBold"/>
              </a:rPr>
              <a:t>FGO 외 매출 비중</a:t>
            </a:r>
          </a:p>
        </p:txBody>
      </p:sp>
      <p:sp>
        <p:nvSpPr>
          <p:cNvPr id="41" name="Isosceles Triangle 40"/>
          <p:cNvSpPr/>
          <p:nvPr/>
        </p:nvSpPr>
        <p:spPr>
          <a:xfrm rot="5400000">
            <a:off x="2990088" y="4142231"/>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Isosceles Triangle 41"/>
          <p:cNvSpPr/>
          <p:nvPr/>
        </p:nvSpPr>
        <p:spPr>
          <a:xfrm rot="5400000">
            <a:off x="7242048" y="4142231"/>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Isosceles Triangle 42"/>
          <p:cNvSpPr/>
          <p:nvPr/>
        </p:nvSpPr>
        <p:spPr>
          <a:xfrm rot="5400000">
            <a:off x="9665208" y="4142231"/>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548640" y="4645152"/>
            <a:ext cx="2423160"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31520" y="4645152"/>
            <a:ext cx="2148840" cy="640080"/>
          </a:xfrm>
          <a:prstGeom prst="rect">
            <a:avLst/>
          </a:prstGeom>
          <a:noFill/>
        </p:spPr>
        <p:txBody>
          <a:bodyPr wrap="square" lIns="0" tIns="0" rIns="0" bIns="0" anchor="ctr">
            <a:spAutoFit/>
          </a:bodyPr>
          <a:lstStyle/>
          <a:p>
            <a:pPr algn="l"/>
            <a:r>
              <a:rPr sz="1050" b="0">
                <a:solidFill>
                  <a:srgbClr val="004F9F"/>
                </a:solidFill>
                <a:latin typeface="에이투지체 6 SemiBold"/>
                <a:ea typeface="에이투지체 6 SemiBold"/>
                <a:cs typeface="에이투지체 6 SemiBold"/>
              </a:rPr>
              <a:t>04</a:t>
            </a:r>
          </a:p>
          <a:p>
            <a:pPr algn="l"/>
            <a:r>
              <a:rPr sz="1300" b="0">
                <a:solidFill>
                  <a:srgbClr val="222222"/>
                </a:solidFill>
                <a:latin typeface="에이투지체 6 SemiBold"/>
                <a:ea typeface="에이투지체 6 SemiBold"/>
                <a:cs typeface="에이투지체 6 SemiBold"/>
              </a:rPr>
              <a:t>행사 기간 집중</a:t>
            </a:r>
          </a:p>
        </p:txBody>
      </p:sp>
      <p:sp>
        <p:nvSpPr>
          <p:cNvPr id="46" name="Rounded Rectangle 45"/>
          <p:cNvSpPr/>
          <p:nvPr/>
        </p:nvSpPr>
        <p:spPr>
          <a:xfrm>
            <a:off x="3291840" y="4645152"/>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493008" y="4645152"/>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상시 캠페인을 유지한 채</a:t>
            </a:r>
          </a:p>
          <a:p>
            <a:pPr algn="l"/>
            <a:r>
              <a:rPr sz="1100" b="0">
                <a:solidFill>
                  <a:srgbClr val="222222"/>
                </a:solidFill>
                <a:latin typeface="에이투지체 5 Medium"/>
                <a:ea typeface="에이투지체 5 Medium"/>
                <a:cs typeface="에이투지체 5 Medium"/>
              </a:rPr>
              <a:t>블프 기간 예산과 목표 ROAS만 조정합니다</a:t>
            </a:r>
          </a:p>
        </p:txBody>
      </p:sp>
      <p:sp>
        <p:nvSpPr>
          <p:cNvPr id="48" name="Rounded Rectangle 47"/>
          <p:cNvSpPr/>
          <p:nvPr/>
        </p:nvSpPr>
        <p:spPr>
          <a:xfrm>
            <a:off x="7543800" y="4718304"/>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635240" y="4718304"/>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기존 캠페인 유지</a:t>
            </a:r>
          </a:p>
        </p:txBody>
      </p:sp>
      <p:sp>
        <p:nvSpPr>
          <p:cNvPr id="50" name="TextBox 49"/>
          <p:cNvSpPr txBox="1"/>
          <p:nvPr/>
        </p:nvSpPr>
        <p:spPr>
          <a:xfrm>
            <a:off x="9966960" y="4645152"/>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행사 기간 ROAS</a:t>
            </a:r>
          </a:p>
        </p:txBody>
      </p:sp>
      <p:sp>
        <p:nvSpPr>
          <p:cNvPr id="51" name="Isosceles Triangle 50"/>
          <p:cNvSpPr/>
          <p:nvPr/>
        </p:nvSpPr>
        <p:spPr>
          <a:xfrm rot="5400000">
            <a:off x="2990088" y="4892040"/>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Isosceles Triangle 51"/>
          <p:cNvSpPr/>
          <p:nvPr/>
        </p:nvSpPr>
        <p:spPr>
          <a:xfrm rot="5400000">
            <a:off x="7242048" y="4892040"/>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Isosceles Triangle 52"/>
          <p:cNvSpPr/>
          <p:nvPr/>
        </p:nvSpPr>
        <p:spPr>
          <a:xfrm rot="5400000">
            <a:off x="9665208" y="4892040"/>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객단가가 다른 상품을 섞으면</a:t>
            </a:r>
            <a:r>
              <a:rPr sz="1900" b="0">
                <a:solidFill>
                  <a:srgbClr val="222222"/>
                </a:solidFill>
                <a:latin typeface="에이투지체 8 ExtraBold"/>
                <a:ea typeface="에이투지체 8 ExtraBold"/>
                <a:cs typeface="에이투지체 8 ExtraBold"/>
              </a:rPr>
              <a:t> 저가 상품이 밀립니다</a:t>
            </a:r>
          </a:p>
          <a:p>
            <a:pPr>
              <a:lnSpc>
                <a:spcPts val="2600"/>
              </a:lnSpc>
            </a:pPr>
            <a:r>
              <a:rPr sz="1900" b="0">
                <a:solidFill>
                  <a:srgbClr val="222222"/>
                </a:solidFill>
                <a:latin typeface="에이투지체 8 ExtraBold"/>
                <a:ea typeface="에이투지체 8 ExtraBold"/>
                <a:cs typeface="에이투지체 8 ExtraBold"/>
              </a:rPr>
              <a:t>목표 ROAS 기준으로 입찰하는 구조이기 때문입니다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a:solidFill>
                  <a:srgbClr val="5C5C5C"/>
                </a:solidFill>
                <a:latin typeface="에이투지체 5 Medium"/>
                <a:ea typeface="에이투지체 5 Medium"/>
                <a:cs typeface="에이투지체 5 Medium"/>
              </a:rPr>
              <a:t>쿠팡 핵심과제 1  매출 최적화 캠페인의 입찰 방식</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고가인 키성장은 단독 캠페인으로 두고, 나머지는 객단가가 비슷한 상품끼리 묶습니다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목표 ROAS 400%는 계산 예시 / 판매가: 2026.10.12 (주)두드림비엔비 쿠팡 브랜드샵 1개 구성 기준 / 판매 1건당 광고비 = 판매가 ÷ 목표 ROAS</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37</a:t>
            </a:r>
          </a:p>
        </p:txBody>
      </p:sp>
      <p:sp>
        <p:nvSpPr>
          <p:cNvPr id="11" name="Rounded Rectangle 10"/>
          <p:cNvSpPr/>
          <p:nvPr/>
        </p:nvSpPr>
        <p:spPr>
          <a:xfrm>
            <a:off x="548640" y="2103120"/>
            <a:ext cx="6492240" cy="3291840"/>
          </a:xfrm>
          <a:prstGeom prst="roundRect">
            <a:avLst>
              <a:gd name="adj" fmla="val 2222"/>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240280"/>
            <a:ext cx="6035040" cy="320040"/>
          </a:xfrm>
          <a:prstGeom prst="rect">
            <a:avLst/>
          </a:prstGeom>
          <a:noFill/>
        </p:spPr>
        <p:txBody>
          <a:bodyPr wrap="square" lIns="0" tIns="0" rIns="0" bIns="0" anchor="t">
            <a:spAutoFit/>
          </a:bodyPr>
          <a:lstStyle/>
          <a:p>
            <a:pPr algn="l"/>
            <a:r>
              <a:rPr sz="1400" b="0">
                <a:solidFill>
                  <a:srgbClr val="222222"/>
                </a:solidFill>
                <a:latin typeface="에이투지체 8 ExtraBold"/>
                <a:ea typeface="에이투지체 8 ExtraBold"/>
                <a:cs typeface="에이투지체 8 ExtraBold"/>
              </a:rPr>
              <a:t>목표 ROAS 400%일 때, 판매 1건에 쓸 수 있는 광고비</a:t>
            </a:r>
          </a:p>
        </p:txBody>
      </p:sp>
      <p:graphicFrame>
        <p:nvGraphicFramePr>
          <p:cNvPr id="13" name="Chart 12"/>
          <p:cNvGraphicFramePr>
            <a:graphicFrameLocks noGrp="1"/>
          </p:cNvGraphicFramePr>
          <p:nvPr/>
        </p:nvGraphicFramePr>
        <p:xfrm>
          <a:off x="685800" y="2606040"/>
          <a:ext cx="6263640" cy="2286000"/>
        </p:xfrm>
        <a:graphic>
          <a:graphicData uri="http://schemas.openxmlformats.org/drawingml/2006/chart">
            <c:chart xmlns:c="http://schemas.openxmlformats.org/drawingml/2006/chart" xmlns:r="http://schemas.openxmlformats.org/officeDocument/2006/relationships" r:id="rId2"/>
          </a:graphicData>
        </a:graphic>
      </p:graphicFrame>
      <p:sp>
        <p:nvSpPr>
          <p:cNvPr id="14" name="TextBox 13"/>
          <p:cNvSpPr txBox="1"/>
          <p:nvPr/>
        </p:nvSpPr>
        <p:spPr>
          <a:xfrm>
            <a:off x="777240" y="4983480"/>
            <a:ext cx="6035040" cy="320040"/>
          </a:xfrm>
          <a:prstGeom prst="rect">
            <a:avLst/>
          </a:prstGeom>
          <a:noFill/>
        </p:spPr>
        <p:txBody>
          <a:bodyPr wrap="square" lIns="0" tIns="0" rIns="0" bIns="0" anchor="t">
            <a:spAutoFit/>
          </a:bodyPr>
          <a:lstStyle/>
          <a:p>
            <a:pPr algn="l"/>
            <a:r>
              <a:rPr sz="1400" b="0">
                <a:solidFill>
                  <a:srgbClr val="004F9F"/>
                </a:solidFill>
                <a:latin typeface="에이투지체 8 ExtraBold"/>
                <a:ea typeface="에이투지체 8 ExtraBold"/>
                <a:cs typeface="에이투지체 8 ExtraBold"/>
              </a:rPr>
              <a:t>약 8.6배  </a:t>
            </a:r>
            <a:r>
              <a:rPr sz="1150" b="0">
                <a:solidFill>
                  <a:srgbClr val="222222"/>
                </a:solidFill>
                <a:latin typeface="에이투지체 6 SemiBold"/>
                <a:ea typeface="에이투지체 6 SemiBold"/>
                <a:cs typeface="에이투지체 6 SemiBold"/>
              </a:rPr>
              <a:t>FGO와 카무트 1개의 판매 1건당 광고비 차이</a:t>
            </a:r>
          </a:p>
        </p:txBody>
      </p:sp>
      <p:sp>
        <p:nvSpPr>
          <p:cNvPr id="15" name="Rounded Rectangle 14"/>
          <p:cNvSpPr/>
          <p:nvPr/>
        </p:nvSpPr>
        <p:spPr>
          <a:xfrm>
            <a:off x="7269480" y="2103120"/>
            <a:ext cx="4343400" cy="1572768"/>
          </a:xfrm>
          <a:prstGeom prst="roundRect">
            <a:avLst>
              <a:gd name="adj" fmla="val 4651"/>
            </a:avLst>
          </a:prstGeom>
          <a:solidFill>
            <a:srgbClr val="FFFFFF"/>
          </a:solidFill>
          <a:ln w="9525">
            <a:solidFill>
              <a:srgbClr val="D0D0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498079" y="2212848"/>
            <a:ext cx="3931920" cy="292608"/>
          </a:xfrm>
          <a:prstGeom prst="rect">
            <a:avLst/>
          </a:prstGeom>
          <a:noFill/>
        </p:spPr>
        <p:txBody>
          <a:bodyPr wrap="square" lIns="0" tIns="0" rIns="0" bIns="0" anchor="t">
            <a:spAutoFit/>
          </a:bodyPr>
          <a:lstStyle/>
          <a:p>
            <a:pPr algn="l"/>
            <a:r>
              <a:rPr sz="1350" b="0">
                <a:solidFill>
                  <a:srgbClr val="222222"/>
                </a:solidFill>
                <a:latin typeface="에이투지체 8 ExtraBold"/>
                <a:ea typeface="에이투지체 8 ExtraBold"/>
                <a:cs typeface="에이투지체 8 ExtraBold"/>
              </a:rPr>
              <a:t>한 캠페인에 섞으면</a:t>
            </a:r>
          </a:p>
        </p:txBody>
      </p:sp>
      <p:sp>
        <p:nvSpPr>
          <p:cNvPr id="17" name="TextBox 16"/>
          <p:cNvSpPr txBox="1"/>
          <p:nvPr/>
        </p:nvSpPr>
        <p:spPr>
          <a:xfrm>
            <a:off x="7498079" y="2578608"/>
            <a:ext cx="3931920" cy="1051560"/>
          </a:xfrm>
          <a:prstGeom prst="rect">
            <a:avLst/>
          </a:prstGeom>
          <a:noFill/>
        </p:spPr>
        <p:txBody>
          <a:bodyPr wrap="square" lIns="0" tIns="0" rIns="0" bIns="0" anchor="t">
            <a:spAutoFit/>
          </a:bodyPr>
          <a:lstStyle/>
          <a:p>
            <a:pPr algn="l">
              <a:spcAft>
                <a:spcPts val="200"/>
              </a:spcAft>
            </a:pPr>
            <a:r>
              <a:rPr sz="1150" b="0">
                <a:solidFill>
                  <a:srgbClr val="5C5C5C"/>
                </a:solidFill>
                <a:latin typeface="에이투지체 4 Regular"/>
                <a:ea typeface="에이투지체 4 Regular"/>
                <a:cs typeface="에이투지체 4 Regular"/>
              </a:rPr>
              <a:t>저가 상품은 쓸 수 있는 광고비가 적어</a:t>
            </a:r>
          </a:p>
          <a:p>
            <a:pPr algn="l">
              <a:spcAft>
                <a:spcPts val="200"/>
              </a:spcAft>
            </a:pPr>
            <a:r>
              <a:rPr sz="1150" b="0">
                <a:solidFill>
                  <a:srgbClr val="5C5C5C"/>
                </a:solidFill>
                <a:latin typeface="에이투지체 4 Regular"/>
                <a:ea typeface="에이투지체 4 Regular"/>
                <a:cs typeface="에이투지체 4 Regular"/>
              </a:rPr>
              <a:t>입찰에서 밀리고 노출이 줄어듭니다</a:t>
            </a:r>
          </a:p>
          <a:p>
            <a:pPr algn="l">
              <a:spcAft>
                <a:spcPts val="200"/>
              </a:spcAft>
            </a:pPr>
            <a:r>
              <a:rPr sz="1150" b="0">
                <a:solidFill>
                  <a:srgbClr val="5C5C5C"/>
                </a:solidFill>
                <a:latin typeface="에이투지체 4 Regular"/>
                <a:ea typeface="에이투지체 4 Regular"/>
                <a:cs typeface="에이투지체 4 Regular"/>
              </a:rPr>
              <a:t>캠페인 ROAS는 고가 상품 성과에 가려집니다</a:t>
            </a:r>
          </a:p>
        </p:txBody>
      </p:sp>
      <p:sp>
        <p:nvSpPr>
          <p:cNvPr id="18" name="Rounded Rectangle 17"/>
          <p:cNvSpPr/>
          <p:nvPr/>
        </p:nvSpPr>
        <p:spPr>
          <a:xfrm>
            <a:off x="7269480" y="3822191"/>
            <a:ext cx="4343400" cy="1572768"/>
          </a:xfrm>
          <a:prstGeom prst="roundRect">
            <a:avLst>
              <a:gd name="adj" fmla="val 4651"/>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498079" y="3931920"/>
            <a:ext cx="3931920" cy="292608"/>
          </a:xfrm>
          <a:prstGeom prst="rect">
            <a:avLst/>
          </a:prstGeom>
          <a:noFill/>
        </p:spPr>
        <p:txBody>
          <a:bodyPr wrap="square" lIns="0" tIns="0" rIns="0" bIns="0" anchor="t">
            <a:spAutoFit/>
          </a:bodyPr>
          <a:lstStyle/>
          <a:p>
            <a:pPr algn="l"/>
            <a:r>
              <a:rPr sz="1350" b="0">
                <a:solidFill>
                  <a:srgbClr val="004F9F"/>
                </a:solidFill>
                <a:latin typeface="에이투지체 8 ExtraBold"/>
                <a:ea typeface="에이투지체 8 ExtraBold"/>
                <a:cs typeface="에이투지체 8 ExtraBold"/>
              </a:rPr>
              <a:t>객단가별로 나누면</a:t>
            </a:r>
          </a:p>
        </p:txBody>
      </p:sp>
      <p:sp>
        <p:nvSpPr>
          <p:cNvPr id="20" name="TextBox 19"/>
          <p:cNvSpPr txBox="1"/>
          <p:nvPr/>
        </p:nvSpPr>
        <p:spPr>
          <a:xfrm>
            <a:off x="7498079" y="4297680"/>
            <a:ext cx="3931920" cy="1051560"/>
          </a:xfrm>
          <a:prstGeom prst="rect">
            <a:avLst/>
          </a:prstGeom>
          <a:noFill/>
        </p:spPr>
        <p:txBody>
          <a:bodyPr wrap="square" lIns="0" tIns="0" rIns="0" bIns="0" anchor="t">
            <a:spAutoFit/>
          </a:bodyPr>
          <a:lstStyle/>
          <a:p>
            <a:pPr algn="l">
              <a:spcAft>
                <a:spcPts val="200"/>
              </a:spcAft>
            </a:pPr>
            <a:r>
              <a:rPr sz="1150" b="0">
                <a:solidFill>
                  <a:srgbClr val="222222"/>
                </a:solidFill>
                <a:latin typeface="에이투지체 4 Regular"/>
                <a:ea typeface="에이투지체 4 Regular"/>
                <a:cs typeface="에이투지체 4 Regular"/>
              </a:rPr>
              <a:t>캠페인마다 객단가에 맞는 목표 ROAS 설정</a:t>
            </a:r>
          </a:p>
          <a:p>
            <a:pPr algn="l">
              <a:spcAft>
                <a:spcPts val="200"/>
              </a:spcAft>
            </a:pPr>
            <a:r>
              <a:rPr sz="1150" b="0">
                <a:solidFill>
                  <a:srgbClr val="222222"/>
                </a:solidFill>
                <a:latin typeface="에이투지체 4 Regular"/>
                <a:ea typeface="에이투지체 4 Regular"/>
                <a:cs typeface="에이투지체 4 Regular"/>
              </a:rPr>
              <a:t>저가 상품도 학습과 노출이 유지됩니다</a:t>
            </a:r>
          </a:p>
          <a:p>
            <a:pPr algn="l">
              <a:spcAft>
                <a:spcPts val="200"/>
              </a:spcAft>
            </a:pPr>
            <a:r>
              <a:rPr sz="1150" b="0">
                <a:solidFill>
                  <a:srgbClr val="222222"/>
                </a:solidFill>
                <a:latin typeface="에이투지체 4 Regular"/>
                <a:ea typeface="에이투지체 4 Regular"/>
                <a:cs typeface="에이투지체 4 Regular"/>
              </a:rPr>
              <a:t>상품군별 성과를 따로 판단할 수 있습니다</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12"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3"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4"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38</a:t>
            </a:r>
          </a:p>
        </p:txBody>
      </p:sp>
      <p:sp>
        <p:nvSpPr>
          <p:cNvPr id="2" name="text-316">
            <a:extLst>
              <a:ext uri="{FF2B5EF4-FFF2-40B4-BE49-F238E27FC236}">
                <a16:creationId xmlns:a16="http://schemas.microsoft.com/office/drawing/2014/main" id="{843E8BB5-650C-4AE5-976F-1108B65F67AD}"/>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고가인 키성장만 따로</a:t>
            </a:r>
            <a:r>
              <a:rPr lang="ko-KR" sz="1900" dirty="0">
                <a:solidFill>
                  <a:srgbClr val="222222"/>
                </a:solidFill>
                <a:latin typeface="에이투지체 8 ExtraBold"/>
                <a:ea typeface="에이투지체 8 ExtraBold"/>
                <a:cs typeface="에이투지체 8 ExtraBold"/>
              </a:rPr>
              <a:t> 운영하고</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나머지는 상품군별로 묶어 제외 키워드를 관리합니다</a:t>
            </a:r>
            <a:endParaRPr lang="ko-KR" sz="1900" dirty="0"/>
          </a:p>
        </p:txBody>
      </p:sp>
      <p:sp>
        <p:nvSpPr>
          <p:cNvPr id="3" name="text-317">
            <a:extLst>
              <a:ext uri="{FF2B5EF4-FFF2-40B4-BE49-F238E27FC236}">
                <a16:creationId xmlns:a16="http://schemas.microsoft.com/office/drawing/2014/main" id="{B8E4258E-54B5-4DFC-8333-DCFD9F526E74}"/>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쿠팡 핵심과제 1  객단가 기준 캠페인 구성</a:t>
            </a:r>
            <a:endParaRPr lang="ko-KR" sz="1100" dirty="0"/>
          </a:p>
        </p:txBody>
      </p:sp>
      <p:sp>
        <p:nvSpPr>
          <p:cNvPr id="8" name="node-321">
            <a:extLst>
              <a:ext uri="{FF2B5EF4-FFF2-40B4-BE49-F238E27FC236}">
                <a16:creationId xmlns:a16="http://schemas.microsoft.com/office/drawing/2014/main" id="{6F8A91DE-2907-4FB2-BEDF-5F39371F9BF8}"/>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9" name="text-322">
            <a:extLst>
              <a:ext uri="{FF2B5EF4-FFF2-40B4-BE49-F238E27FC236}">
                <a16:creationId xmlns:a16="http://schemas.microsoft.com/office/drawing/2014/main" id="{47EDEF8F-615E-460E-9002-B4E740153410}"/>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dirty="0">
                <a:solidFill>
                  <a:srgbClr val="004F9F"/>
                </a:solidFill>
                <a:latin typeface="에이투지체 6 SemiBold"/>
                <a:ea typeface="에이투지체 6 SemiBold"/>
                <a:cs typeface="에이투지체 6 SemiBold"/>
              </a:rPr>
              <a:t>캠페인마다 객단가에 맞는 목표 ROAS를 두고, 리뷰가 쌓인 로켓 상품부터 주 단위로 성과를 확인합니다</a:t>
            </a:r>
          </a:p>
        </p:txBody>
      </p:sp>
      <p:sp>
        <p:nvSpPr>
          <p:cNvPr id="15" name="Rounded Rectangle 14"/>
          <p:cNvSpPr/>
          <p:nvPr/>
        </p:nvSpPr>
        <p:spPr>
          <a:xfrm>
            <a:off x="548640" y="2103120"/>
            <a:ext cx="3447288" cy="2487168"/>
          </a:xfrm>
          <a:prstGeom prst="roundRect">
            <a:avLst>
              <a:gd name="adj" fmla="val 2941"/>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22959" y="2359152"/>
            <a:ext cx="512064" cy="51206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ruler_FFFFFF.png"/>
          <p:cNvPicPr>
            <a:picLocks noChangeAspect="1"/>
          </p:cNvPicPr>
          <p:nvPr/>
        </p:nvPicPr>
        <p:blipFill>
          <a:blip r:embed="rId3"/>
          <a:stretch>
            <a:fillRect/>
          </a:stretch>
        </p:blipFill>
        <p:spPr>
          <a:xfrm>
            <a:off x="956096" y="2492288"/>
            <a:ext cx="245790" cy="245790"/>
          </a:xfrm>
          <a:prstGeom prst="rect">
            <a:avLst/>
          </a:prstGeom>
        </p:spPr>
      </p:pic>
      <p:sp>
        <p:nvSpPr>
          <p:cNvPr id="18" name="TextBox 17"/>
          <p:cNvSpPr txBox="1"/>
          <p:nvPr/>
        </p:nvSpPr>
        <p:spPr>
          <a:xfrm>
            <a:off x="1481328" y="2340863"/>
            <a:ext cx="2350008" cy="237744"/>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캠페인 A</a:t>
            </a:r>
          </a:p>
        </p:txBody>
      </p:sp>
      <p:sp>
        <p:nvSpPr>
          <p:cNvPr id="19" name="TextBox 18"/>
          <p:cNvSpPr txBox="1"/>
          <p:nvPr/>
        </p:nvSpPr>
        <p:spPr>
          <a:xfrm>
            <a:off x="1481328" y="2560320"/>
            <a:ext cx="2350008" cy="347472"/>
          </a:xfrm>
          <a:prstGeom prst="rect">
            <a:avLst/>
          </a:prstGeom>
          <a:noFill/>
        </p:spPr>
        <p:txBody>
          <a:bodyPr wrap="square" lIns="0" tIns="0" rIns="0" bIns="0" anchor="t">
            <a:spAutoFit/>
          </a:bodyPr>
          <a:lstStyle/>
          <a:p>
            <a:pPr algn="l">
              <a:spcAft>
                <a:spcPts val="300"/>
              </a:spcAft>
            </a:pPr>
            <a:r>
              <a:rPr sz="1400">
                <a:solidFill>
                  <a:srgbClr val="222222"/>
                </a:solidFill>
                <a:latin typeface="에이투지체 6 SemiBold"/>
                <a:ea typeface="에이투지체 6 SemiBold"/>
              </a:rPr>
              <a:t>키성장</a:t>
            </a:r>
          </a:p>
        </p:txBody>
      </p:sp>
      <p:sp>
        <p:nvSpPr>
          <p:cNvPr id="20" name="TextBox 19"/>
          <p:cNvSpPr txBox="1"/>
          <p:nvPr/>
        </p:nvSpPr>
        <p:spPr>
          <a:xfrm>
            <a:off x="822959" y="3090672"/>
            <a:ext cx="1097280" cy="237744"/>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객단가</a:t>
            </a:r>
          </a:p>
        </p:txBody>
      </p:sp>
      <p:sp>
        <p:nvSpPr>
          <p:cNvPr id="21" name="TextBox 20"/>
          <p:cNvSpPr txBox="1"/>
          <p:nvPr/>
        </p:nvSpPr>
        <p:spPr>
          <a:xfrm>
            <a:off x="822959" y="3291839"/>
            <a:ext cx="2898648" cy="384048"/>
          </a:xfrm>
          <a:prstGeom prst="rect">
            <a:avLst/>
          </a:prstGeom>
          <a:noFill/>
        </p:spPr>
        <p:txBody>
          <a:bodyPr wrap="square" lIns="0" tIns="0" rIns="0" bIns="0" anchor="t">
            <a:spAutoFit/>
          </a:bodyPr>
          <a:lstStyle/>
          <a:p>
            <a:pPr algn="l">
              <a:spcAft>
                <a:spcPts val="300"/>
              </a:spcAft>
            </a:pPr>
            <a:r>
              <a:rPr sz="1900">
                <a:solidFill>
                  <a:srgbClr val="004F9F"/>
                </a:solidFill>
                <a:latin typeface="에이투지체 8 ExtraBold"/>
                <a:ea typeface="에이투지체 8 ExtraBold"/>
              </a:rPr>
              <a:t>13.4만 원</a:t>
            </a:r>
          </a:p>
        </p:txBody>
      </p:sp>
      <p:sp>
        <p:nvSpPr>
          <p:cNvPr id="22" name="TextBox 21"/>
          <p:cNvSpPr txBox="1"/>
          <p:nvPr/>
        </p:nvSpPr>
        <p:spPr>
          <a:xfrm>
            <a:off x="822959" y="3694176"/>
            <a:ext cx="2898648" cy="237744"/>
          </a:xfrm>
          <a:prstGeom prst="rect">
            <a:avLst/>
          </a:prstGeom>
          <a:noFill/>
        </p:spPr>
        <p:txBody>
          <a:bodyPr wrap="square" lIns="0" tIns="0" rIns="0" bIns="0" anchor="t">
            <a:spAutoFit/>
          </a:bodyPr>
          <a:lstStyle/>
          <a:p>
            <a:pPr algn="l">
              <a:spcAft>
                <a:spcPts val="300"/>
              </a:spcAft>
            </a:pPr>
            <a:r>
              <a:rPr sz="1000">
                <a:solidFill>
                  <a:srgbClr val="5C5C5C"/>
                </a:solidFill>
                <a:latin typeface="에이투지체 4 Regular"/>
                <a:ea typeface="에이투지체 4 Regular"/>
              </a:rPr>
              <a:t>키성장 FGO 1박스</a:t>
            </a:r>
          </a:p>
        </p:txBody>
      </p:sp>
      <p:cxnSp>
        <p:nvCxnSpPr>
          <p:cNvPr id="23" name="Connector 22"/>
          <p:cNvCxnSpPr/>
          <p:nvPr/>
        </p:nvCxnSpPr>
        <p:spPr>
          <a:xfrm>
            <a:off x="822959" y="3995927"/>
            <a:ext cx="2898649"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22959" y="4059935"/>
            <a:ext cx="2898648" cy="457200"/>
          </a:xfrm>
          <a:prstGeom prst="rect">
            <a:avLst/>
          </a:prstGeom>
          <a:noFill/>
        </p:spPr>
        <p:txBody>
          <a:bodyPr wrap="square" lIns="0" tIns="0" rIns="0" bIns="0" anchor="ctr">
            <a:spAutoFit/>
          </a:bodyPr>
          <a:lstStyle/>
          <a:p>
            <a:pPr algn="l">
              <a:spcAft>
                <a:spcPts val="100"/>
              </a:spcAft>
            </a:pPr>
            <a:r>
              <a:rPr sz="1150">
                <a:solidFill>
                  <a:srgbClr val="222222"/>
                </a:solidFill>
                <a:latin typeface="에이투지체 6 SemiBold"/>
                <a:ea typeface="에이투지체 6 SemiBold"/>
              </a:rPr>
              <a:t>단독 캠페인 · 목표 ROAS 별도</a:t>
            </a:r>
          </a:p>
          <a:p>
            <a:pPr algn="l">
              <a:spcAft>
                <a:spcPts val="100"/>
              </a:spcAft>
            </a:pPr>
            <a:r>
              <a:rPr sz="950">
                <a:solidFill>
                  <a:srgbClr val="919191"/>
                </a:solidFill>
                <a:latin typeface="에이투지체 4 Regular"/>
                <a:ea typeface="에이투지체 4 Regular"/>
              </a:rPr>
              <a:t>로켓 · 리뷰 827</a:t>
            </a:r>
          </a:p>
        </p:txBody>
      </p:sp>
      <p:sp>
        <p:nvSpPr>
          <p:cNvPr id="25" name="Rounded Rectangle 24"/>
          <p:cNvSpPr/>
          <p:nvPr/>
        </p:nvSpPr>
        <p:spPr>
          <a:xfrm>
            <a:off x="4361688" y="2103120"/>
            <a:ext cx="3447288" cy="2487168"/>
          </a:xfrm>
          <a:prstGeom prst="roundRect">
            <a:avLst>
              <a:gd name="adj" fmla="val 2941"/>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4636007" y="2359152"/>
            <a:ext cx="512064" cy="51206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wheat_FFFFFF.png"/>
          <p:cNvPicPr>
            <a:picLocks noChangeAspect="1"/>
          </p:cNvPicPr>
          <p:nvPr/>
        </p:nvPicPr>
        <p:blipFill>
          <a:blip r:embed="rId4"/>
          <a:stretch>
            <a:fillRect/>
          </a:stretch>
        </p:blipFill>
        <p:spPr>
          <a:xfrm>
            <a:off x="4769144" y="2492288"/>
            <a:ext cx="245790" cy="245790"/>
          </a:xfrm>
          <a:prstGeom prst="rect">
            <a:avLst/>
          </a:prstGeom>
        </p:spPr>
      </p:pic>
      <p:sp>
        <p:nvSpPr>
          <p:cNvPr id="28" name="TextBox 27"/>
          <p:cNvSpPr txBox="1"/>
          <p:nvPr/>
        </p:nvSpPr>
        <p:spPr>
          <a:xfrm>
            <a:off x="5294375" y="2340863"/>
            <a:ext cx="2350008" cy="237744"/>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캠페인 B</a:t>
            </a:r>
          </a:p>
        </p:txBody>
      </p:sp>
      <p:sp>
        <p:nvSpPr>
          <p:cNvPr id="29" name="TextBox 28"/>
          <p:cNvSpPr txBox="1"/>
          <p:nvPr/>
        </p:nvSpPr>
        <p:spPr>
          <a:xfrm>
            <a:off x="5294375" y="2560320"/>
            <a:ext cx="2350008" cy="347472"/>
          </a:xfrm>
          <a:prstGeom prst="rect">
            <a:avLst/>
          </a:prstGeom>
          <a:noFill/>
        </p:spPr>
        <p:txBody>
          <a:bodyPr wrap="square" lIns="0" tIns="0" rIns="0" bIns="0" anchor="t">
            <a:spAutoFit/>
          </a:bodyPr>
          <a:lstStyle/>
          <a:p>
            <a:pPr algn="l">
              <a:spcAft>
                <a:spcPts val="300"/>
              </a:spcAft>
            </a:pPr>
            <a:r>
              <a:rPr sz="1400">
                <a:solidFill>
                  <a:srgbClr val="222222"/>
                </a:solidFill>
                <a:latin typeface="에이투지체 6 SemiBold"/>
                <a:ea typeface="에이투지체 6 SemiBold"/>
              </a:rPr>
              <a:t>카무트 · 슬림웨이</a:t>
            </a:r>
          </a:p>
        </p:txBody>
      </p:sp>
      <p:sp>
        <p:nvSpPr>
          <p:cNvPr id="30" name="TextBox 29"/>
          <p:cNvSpPr txBox="1"/>
          <p:nvPr/>
        </p:nvSpPr>
        <p:spPr>
          <a:xfrm>
            <a:off x="4636007" y="3090672"/>
            <a:ext cx="1097280" cy="237744"/>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객단가</a:t>
            </a:r>
          </a:p>
        </p:txBody>
      </p:sp>
      <p:sp>
        <p:nvSpPr>
          <p:cNvPr id="31" name="TextBox 30"/>
          <p:cNvSpPr txBox="1"/>
          <p:nvPr/>
        </p:nvSpPr>
        <p:spPr>
          <a:xfrm>
            <a:off x="4636007" y="3291839"/>
            <a:ext cx="2898648" cy="384048"/>
          </a:xfrm>
          <a:prstGeom prst="rect">
            <a:avLst/>
          </a:prstGeom>
          <a:noFill/>
        </p:spPr>
        <p:txBody>
          <a:bodyPr wrap="square" lIns="0" tIns="0" rIns="0" bIns="0" anchor="t">
            <a:spAutoFit/>
          </a:bodyPr>
          <a:lstStyle/>
          <a:p>
            <a:pPr algn="l">
              <a:spcAft>
                <a:spcPts val="300"/>
              </a:spcAft>
            </a:pPr>
            <a:r>
              <a:rPr sz="1900">
                <a:solidFill>
                  <a:srgbClr val="222222"/>
                </a:solidFill>
                <a:latin typeface="에이투지체 8 ExtraBold"/>
                <a:ea typeface="에이투지체 8 ExtraBold"/>
              </a:rPr>
              <a:t>1.5~6.4만 원</a:t>
            </a:r>
          </a:p>
        </p:txBody>
      </p:sp>
      <p:sp>
        <p:nvSpPr>
          <p:cNvPr id="32" name="TextBox 31"/>
          <p:cNvSpPr txBox="1"/>
          <p:nvPr/>
        </p:nvSpPr>
        <p:spPr>
          <a:xfrm>
            <a:off x="4636007" y="3694176"/>
            <a:ext cx="2898648" cy="237744"/>
          </a:xfrm>
          <a:prstGeom prst="rect">
            <a:avLst/>
          </a:prstGeom>
          <a:noFill/>
        </p:spPr>
        <p:txBody>
          <a:bodyPr wrap="square" lIns="0" tIns="0" rIns="0" bIns="0" anchor="t">
            <a:spAutoFit/>
          </a:bodyPr>
          <a:lstStyle/>
          <a:p>
            <a:pPr algn="l">
              <a:spcAft>
                <a:spcPts val="300"/>
              </a:spcAft>
            </a:pPr>
            <a:r>
              <a:rPr sz="1000">
                <a:solidFill>
                  <a:srgbClr val="5C5C5C"/>
                </a:solidFill>
                <a:latin typeface="에이투지체 4 Regular"/>
                <a:ea typeface="에이투지체 4 Regular"/>
              </a:rPr>
              <a:t>카무트 효소 1~6개</a:t>
            </a:r>
          </a:p>
        </p:txBody>
      </p:sp>
      <p:cxnSp>
        <p:nvCxnSpPr>
          <p:cNvPr id="33" name="Connector 32"/>
          <p:cNvCxnSpPr/>
          <p:nvPr/>
        </p:nvCxnSpPr>
        <p:spPr>
          <a:xfrm>
            <a:off x="4636007" y="3995927"/>
            <a:ext cx="2898648"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4636007" y="4059935"/>
            <a:ext cx="2898648" cy="457200"/>
          </a:xfrm>
          <a:prstGeom prst="rect">
            <a:avLst/>
          </a:prstGeom>
          <a:noFill/>
        </p:spPr>
        <p:txBody>
          <a:bodyPr wrap="square" lIns="0" tIns="0" rIns="0" bIns="0" anchor="ctr">
            <a:spAutoFit/>
          </a:bodyPr>
          <a:lstStyle/>
          <a:p>
            <a:pPr algn="l">
              <a:spcAft>
                <a:spcPts val="100"/>
              </a:spcAft>
            </a:pPr>
            <a:r>
              <a:rPr sz="1150">
                <a:solidFill>
                  <a:srgbClr val="222222"/>
                </a:solidFill>
                <a:latin typeface="에이투지체 6 SemiBold"/>
                <a:ea typeface="에이투지체 6 SemiBold"/>
              </a:rPr>
              <a:t>리뷰 많은 카무트 중심으로 효율 확보</a:t>
            </a:r>
          </a:p>
          <a:p>
            <a:pPr algn="l">
              <a:spcAft>
                <a:spcPts val="100"/>
              </a:spcAft>
            </a:pPr>
            <a:r>
              <a:rPr sz="950">
                <a:solidFill>
                  <a:srgbClr val="919191"/>
                </a:solidFill>
                <a:latin typeface="에이투지체 4 Regular"/>
                <a:ea typeface="에이투지체 4 Regular"/>
              </a:rPr>
              <a:t>로켓 · 리뷰 968</a:t>
            </a:r>
          </a:p>
        </p:txBody>
      </p:sp>
      <p:sp>
        <p:nvSpPr>
          <p:cNvPr id="35" name="Rounded Rectangle 34"/>
          <p:cNvSpPr/>
          <p:nvPr/>
        </p:nvSpPr>
        <p:spPr>
          <a:xfrm>
            <a:off x="8174736" y="2103120"/>
            <a:ext cx="3447288" cy="2487168"/>
          </a:xfrm>
          <a:prstGeom prst="roundRect">
            <a:avLst>
              <a:gd name="adj" fmla="val 2941"/>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8449056" y="2359152"/>
            <a:ext cx="512064" cy="51206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7" name="Picture 36" descr="pill_FFFFFF.png"/>
          <p:cNvPicPr>
            <a:picLocks noChangeAspect="1"/>
          </p:cNvPicPr>
          <p:nvPr/>
        </p:nvPicPr>
        <p:blipFill>
          <a:blip r:embed="rId5"/>
          <a:stretch>
            <a:fillRect/>
          </a:stretch>
        </p:blipFill>
        <p:spPr>
          <a:xfrm>
            <a:off x="8582192" y="2492288"/>
            <a:ext cx="245790" cy="245790"/>
          </a:xfrm>
          <a:prstGeom prst="rect">
            <a:avLst/>
          </a:prstGeom>
        </p:spPr>
      </p:pic>
      <p:sp>
        <p:nvSpPr>
          <p:cNvPr id="38" name="TextBox 37"/>
          <p:cNvSpPr txBox="1"/>
          <p:nvPr/>
        </p:nvSpPr>
        <p:spPr>
          <a:xfrm>
            <a:off x="9107424" y="2340863"/>
            <a:ext cx="2350008" cy="237744"/>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캠페인 C</a:t>
            </a:r>
          </a:p>
        </p:txBody>
      </p:sp>
      <p:sp>
        <p:nvSpPr>
          <p:cNvPr id="39" name="TextBox 38"/>
          <p:cNvSpPr txBox="1"/>
          <p:nvPr/>
        </p:nvSpPr>
        <p:spPr>
          <a:xfrm>
            <a:off x="9107424" y="2560320"/>
            <a:ext cx="2350008" cy="347472"/>
          </a:xfrm>
          <a:prstGeom prst="rect">
            <a:avLst/>
          </a:prstGeom>
          <a:noFill/>
        </p:spPr>
        <p:txBody>
          <a:bodyPr wrap="square" lIns="0" tIns="0" rIns="0" bIns="0" anchor="t">
            <a:spAutoFit/>
          </a:bodyPr>
          <a:lstStyle/>
          <a:p>
            <a:pPr algn="l">
              <a:spcAft>
                <a:spcPts val="300"/>
              </a:spcAft>
            </a:pPr>
            <a:r>
              <a:rPr sz="1400">
                <a:solidFill>
                  <a:srgbClr val="222222"/>
                </a:solidFill>
                <a:latin typeface="에이투지체 6 SemiBold"/>
                <a:ea typeface="에이투지체 6 SemiBold"/>
              </a:rPr>
              <a:t>아이클타임 데일리</a:t>
            </a:r>
          </a:p>
        </p:txBody>
      </p:sp>
      <p:sp>
        <p:nvSpPr>
          <p:cNvPr id="40" name="TextBox 39"/>
          <p:cNvSpPr txBox="1"/>
          <p:nvPr/>
        </p:nvSpPr>
        <p:spPr>
          <a:xfrm>
            <a:off x="8449056" y="3090672"/>
            <a:ext cx="1097280" cy="237744"/>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객단가</a:t>
            </a:r>
          </a:p>
        </p:txBody>
      </p:sp>
      <p:sp>
        <p:nvSpPr>
          <p:cNvPr id="41" name="TextBox 40"/>
          <p:cNvSpPr txBox="1"/>
          <p:nvPr/>
        </p:nvSpPr>
        <p:spPr>
          <a:xfrm>
            <a:off x="8449056" y="3291839"/>
            <a:ext cx="2898648" cy="384048"/>
          </a:xfrm>
          <a:prstGeom prst="rect">
            <a:avLst/>
          </a:prstGeom>
          <a:noFill/>
        </p:spPr>
        <p:txBody>
          <a:bodyPr wrap="square" lIns="0" tIns="0" rIns="0" bIns="0" anchor="t">
            <a:spAutoFit/>
          </a:bodyPr>
          <a:lstStyle/>
          <a:p>
            <a:pPr algn="l">
              <a:spcAft>
                <a:spcPts val="300"/>
              </a:spcAft>
            </a:pPr>
            <a:r>
              <a:rPr sz="1900">
                <a:solidFill>
                  <a:srgbClr val="222222"/>
                </a:solidFill>
                <a:latin typeface="에이투지체 8 ExtraBold"/>
                <a:ea typeface="에이투지체 8 ExtraBold"/>
              </a:rPr>
              <a:t>1.8~4.3만 원</a:t>
            </a:r>
          </a:p>
        </p:txBody>
      </p:sp>
      <p:sp>
        <p:nvSpPr>
          <p:cNvPr id="42" name="TextBox 41"/>
          <p:cNvSpPr txBox="1"/>
          <p:nvPr/>
        </p:nvSpPr>
        <p:spPr>
          <a:xfrm>
            <a:off x="8449056" y="3694176"/>
            <a:ext cx="2898648" cy="237744"/>
          </a:xfrm>
          <a:prstGeom prst="rect">
            <a:avLst/>
          </a:prstGeom>
          <a:noFill/>
        </p:spPr>
        <p:txBody>
          <a:bodyPr wrap="square" lIns="0" tIns="0" rIns="0" bIns="0" anchor="t">
            <a:spAutoFit/>
          </a:bodyPr>
          <a:lstStyle/>
          <a:p>
            <a:pPr algn="l">
              <a:spcAft>
                <a:spcPts val="300"/>
              </a:spcAft>
            </a:pPr>
            <a:r>
              <a:rPr sz="1000">
                <a:solidFill>
                  <a:srgbClr val="5C5C5C"/>
                </a:solidFill>
                <a:latin typeface="에이투지체 4 Regular"/>
                <a:ea typeface="에이투지체 4 Regular"/>
              </a:rPr>
              <a:t>철분 · 유산균 · 칼마디 · 멀티비타민</a:t>
            </a:r>
          </a:p>
        </p:txBody>
      </p:sp>
      <p:cxnSp>
        <p:nvCxnSpPr>
          <p:cNvPr id="43" name="Connector 42"/>
          <p:cNvCxnSpPr/>
          <p:nvPr/>
        </p:nvCxnSpPr>
        <p:spPr>
          <a:xfrm>
            <a:off x="8449056" y="3995927"/>
            <a:ext cx="2898648"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8449056" y="4059935"/>
            <a:ext cx="2898648" cy="457200"/>
          </a:xfrm>
          <a:prstGeom prst="rect">
            <a:avLst/>
          </a:prstGeom>
          <a:noFill/>
        </p:spPr>
        <p:txBody>
          <a:bodyPr wrap="square" lIns="0" tIns="0" rIns="0" bIns="0" anchor="ctr">
            <a:spAutoFit/>
          </a:bodyPr>
          <a:lstStyle/>
          <a:p>
            <a:pPr algn="l">
              <a:spcAft>
                <a:spcPts val="100"/>
              </a:spcAft>
            </a:pPr>
            <a:r>
              <a:rPr sz="1150">
                <a:solidFill>
                  <a:srgbClr val="222222"/>
                </a:solidFill>
                <a:latin typeface="에이투지체 6 SemiBold"/>
                <a:ea typeface="에이투지체 6 SemiBold"/>
              </a:rPr>
              <a:t>리뷰 많은 철분 · 유산균부터 추가</a:t>
            </a:r>
          </a:p>
          <a:p>
            <a:pPr algn="l">
              <a:spcAft>
                <a:spcPts val="100"/>
              </a:spcAft>
            </a:pPr>
            <a:r>
              <a:rPr sz="950">
                <a:solidFill>
                  <a:srgbClr val="919191"/>
                </a:solidFill>
                <a:latin typeface="에이투지체 4 Regular"/>
                <a:ea typeface="에이투지체 4 Regular"/>
              </a:rPr>
              <a:t>로켓 · 리뷰 65~588</a:t>
            </a:r>
          </a:p>
        </p:txBody>
      </p:sp>
      <p:sp>
        <p:nvSpPr>
          <p:cNvPr id="45" name="Rounded Rectangle 44"/>
          <p:cNvSpPr/>
          <p:nvPr/>
        </p:nvSpPr>
        <p:spPr>
          <a:xfrm>
            <a:off x="548640" y="4754880"/>
            <a:ext cx="3566160" cy="457200"/>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6" name="Picture 45" descr="package_004F9F.png"/>
          <p:cNvPicPr>
            <a:picLocks noChangeAspect="1"/>
          </p:cNvPicPr>
          <p:nvPr/>
        </p:nvPicPr>
        <p:blipFill>
          <a:blip r:embed="rId6"/>
          <a:stretch>
            <a:fillRect/>
          </a:stretch>
        </p:blipFill>
        <p:spPr>
          <a:xfrm>
            <a:off x="685800" y="4837176"/>
            <a:ext cx="292608" cy="292608"/>
          </a:xfrm>
          <a:prstGeom prst="rect">
            <a:avLst/>
          </a:prstGeom>
        </p:spPr>
      </p:pic>
      <p:sp>
        <p:nvSpPr>
          <p:cNvPr id="47" name="TextBox 46"/>
          <p:cNvSpPr txBox="1"/>
          <p:nvPr/>
        </p:nvSpPr>
        <p:spPr>
          <a:xfrm>
            <a:off x="1097280" y="4754880"/>
            <a:ext cx="2926080" cy="457200"/>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5 Medium"/>
                <a:ea typeface="에이투지체 5 Medium"/>
              </a:rPr>
              <a:t>캠페인당 상품 10개 이하</a:t>
            </a:r>
          </a:p>
        </p:txBody>
      </p:sp>
      <p:sp>
        <p:nvSpPr>
          <p:cNvPr id="48" name="Rounded Rectangle 47"/>
          <p:cNvSpPr/>
          <p:nvPr/>
        </p:nvSpPr>
        <p:spPr>
          <a:xfrm>
            <a:off x="4297679" y="4754880"/>
            <a:ext cx="3566160" cy="457200"/>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9" name="Picture 48" descr="copy-x_004F9F.png"/>
          <p:cNvPicPr>
            <a:picLocks noChangeAspect="1"/>
          </p:cNvPicPr>
          <p:nvPr/>
        </p:nvPicPr>
        <p:blipFill>
          <a:blip r:embed="rId7"/>
          <a:stretch>
            <a:fillRect/>
          </a:stretch>
        </p:blipFill>
        <p:spPr>
          <a:xfrm>
            <a:off x="4434840" y="4837176"/>
            <a:ext cx="292608" cy="292608"/>
          </a:xfrm>
          <a:prstGeom prst="rect">
            <a:avLst/>
          </a:prstGeom>
        </p:spPr>
      </p:pic>
      <p:sp>
        <p:nvSpPr>
          <p:cNvPr id="50" name="TextBox 49"/>
          <p:cNvSpPr txBox="1"/>
          <p:nvPr/>
        </p:nvSpPr>
        <p:spPr>
          <a:xfrm>
            <a:off x="4846319" y="4754880"/>
            <a:ext cx="2926080" cy="457200"/>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5 Medium"/>
                <a:ea typeface="에이투지체 5 Medium"/>
              </a:rPr>
              <a:t>캠페인 간 상품 중복 없이 운영</a:t>
            </a:r>
          </a:p>
        </p:txBody>
      </p:sp>
      <p:sp>
        <p:nvSpPr>
          <p:cNvPr id="51" name="Rounded Rectangle 50"/>
          <p:cNvSpPr/>
          <p:nvPr/>
        </p:nvSpPr>
        <p:spPr>
          <a:xfrm>
            <a:off x="8046719" y="4754880"/>
            <a:ext cx="3566160" cy="457200"/>
          </a:xfrm>
          <a:prstGeom prst="roundRect">
            <a:avLst>
              <a:gd name="adj" fmla="val 16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2" name="Picture 51" descr="calendar-check_004F9F.png"/>
          <p:cNvPicPr>
            <a:picLocks noChangeAspect="1"/>
          </p:cNvPicPr>
          <p:nvPr/>
        </p:nvPicPr>
        <p:blipFill>
          <a:blip r:embed="rId8"/>
          <a:stretch>
            <a:fillRect/>
          </a:stretch>
        </p:blipFill>
        <p:spPr>
          <a:xfrm>
            <a:off x="8183879" y="4837176"/>
            <a:ext cx="292608" cy="292608"/>
          </a:xfrm>
          <a:prstGeom prst="rect">
            <a:avLst/>
          </a:prstGeom>
        </p:spPr>
      </p:pic>
      <p:sp>
        <p:nvSpPr>
          <p:cNvPr id="53" name="TextBox 52"/>
          <p:cNvSpPr txBox="1"/>
          <p:nvPr/>
        </p:nvSpPr>
        <p:spPr>
          <a:xfrm>
            <a:off x="8595359" y="4754880"/>
            <a:ext cx="2926080" cy="457200"/>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5 Medium"/>
                <a:ea typeface="에이투지체 5 Medium"/>
              </a:rPr>
              <a:t>검색어 · 상품 성과 주간 점검</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검색어를 브랜드·대표·경쟁사로 나눠</a:t>
            </a:r>
          </a:p>
          <a:p>
            <a:pPr>
              <a:lnSpc>
                <a:spcPts val="2600"/>
              </a:lnSpc>
            </a:pPr>
            <a:r>
              <a:rPr sz="1900" b="0">
                <a:solidFill>
                  <a:srgbClr val="222222"/>
                </a:solidFill>
                <a:latin typeface="에이투지체 8 ExtraBold"/>
                <a:ea typeface="에이투지체 8 ExtraBold"/>
                <a:cs typeface="에이투지체 8 ExtraBold"/>
              </a:rPr>
              <a:t>유형마다 노출 범위와 제외 기준을 다르게 운영합니다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a:solidFill>
                  <a:srgbClr val="5C5C5C"/>
                </a:solidFill>
                <a:latin typeface="에이투지체 5 Medium"/>
                <a:ea typeface="에이투지체 5 Medium"/>
                <a:cs typeface="에이투지체 5 Medium"/>
              </a:rPr>
              <a:t>쿠팡 핵심과제 2  검색어 노출 확대</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검색어는 매출 최적화 캠페인의 제외 설정으로 관리하고, 성과가 확인된 검색어부터 예산을 늘립니다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경쟁사명은 검색어로만 활용하고 상품명과 소재에는 사용하지 않습니다</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39</a:t>
            </a:r>
          </a:p>
        </p:txBody>
      </p:sp>
      <p:sp>
        <p:nvSpPr>
          <p:cNvPr id="11" name="Rounded Rectangle 10"/>
          <p:cNvSpPr/>
          <p:nvPr/>
        </p:nvSpPr>
        <p:spPr>
          <a:xfrm>
            <a:off x="548640" y="2103120"/>
            <a:ext cx="3447288" cy="868680"/>
          </a:xfrm>
          <a:prstGeom prst="roundRect">
            <a:avLst>
              <a:gd name="adj" fmla="val 842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103120"/>
            <a:ext cx="3017520" cy="868680"/>
          </a:xfrm>
          <a:prstGeom prst="rect">
            <a:avLst/>
          </a:prstGeom>
          <a:noFill/>
        </p:spPr>
        <p:txBody>
          <a:bodyPr wrap="square" lIns="0" tIns="0" rIns="0" bIns="0" anchor="ctr">
            <a:spAutoFit/>
          </a:bodyPr>
          <a:lstStyle/>
          <a:p>
            <a:pPr algn="l"/>
            <a:r>
              <a:rPr sz="1500" b="0">
                <a:solidFill>
                  <a:srgbClr val="004F9F"/>
                </a:solidFill>
                <a:latin typeface="에이투지체 8 ExtraBold"/>
                <a:ea typeface="에이투지체 8 ExtraBold"/>
                <a:cs typeface="에이투지체 8 ExtraBold"/>
              </a:rPr>
              <a:t>자사 브랜드 검색어</a:t>
            </a:r>
          </a:p>
          <a:p>
            <a:pPr algn="l"/>
            <a:r>
              <a:rPr sz="1200" b="0">
                <a:solidFill>
                  <a:srgbClr val="5C5C5C"/>
                </a:solidFill>
                <a:latin typeface="에이투지체 6 SemiBold"/>
                <a:ea typeface="에이투지체 6 SemiBold"/>
                <a:cs typeface="에이투지체 6 SemiBold"/>
              </a:rPr>
              <a:t>아이클타임을 찾는 고객</a:t>
            </a:r>
          </a:p>
        </p:txBody>
      </p:sp>
      <p:sp>
        <p:nvSpPr>
          <p:cNvPr id="13" name="TextBox 12"/>
          <p:cNvSpPr txBox="1"/>
          <p:nvPr/>
        </p:nvSpPr>
        <p:spPr>
          <a:xfrm>
            <a:off x="548640" y="3090672"/>
            <a:ext cx="3447288" cy="502920"/>
          </a:xfrm>
          <a:prstGeom prst="rect">
            <a:avLst/>
          </a:prstGeom>
          <a:noFill/>
        </p:spPr>
        <p:txBody>
          <a:bodyPr wrap="square" lIns="0" tIns="0" rIns="0" bIns="0" anchor="t">
            <a:spAutoFit/>
          </a:bodyPr>
          <a:lstStyle/>
          <a:p>
            <a:pPr algn="l"/>
            <a:r>
              <a:rPr sz="1200" b="0">
                <a:solidFill>
                  <a:srgbClr val="222222"/>
                </a:solidFill>
                <a:latin typeface="에이투지체 6 SemiBold"/>
                <a:ea typeface="에이투지체 6 SemiBold"/>
                <a:cs typeface="에이투지체 6 SemiBold"/>
              </a:rPr>
              <a:t>아이클타임, 두드림, 아이클타임 키성장</a:t>
            </a:r>
          </a:p>
        </p:txBody>
      </p:sp>
      <p:sp>
        <p:nvSpPr>
          <p:cNvPr id="14" name="TextBox 13"/>
          <p:cNvSpPr txBox="1"/>
          <p:nvPr/>
        </p:nvSpPr>
        <p:spPr>
          <a:xfrm>
            <a:off x="548640" y="3566160"/>
            <a:ext cx="3447288" cy="292608"/>
          </a:xfrm>
          <a:prstGeom prst="rect">
            <a:avLst/>
          </a:prstGeom>
          <a:noFill/>
        </p:spPr>
        <p:txBody>
          <a:bodyPr wrap="square" lIns="0" tIns="0" rIns="0" bIns="0" anchor="t">
            <a:spAutoFit/>
          </a:bodyPr>
          <a:lstStyle/>
          <a:p>
            <a:pPr algn="l"/>
            <a:r>
              <a:rPr sz="1150" b="0">
                <a:solidFill>
                  <a:srgbClr val="004F9F"/>
                </a:solidFill>
                <a:latin typeface="에이투지체 6 SemiBold"/>
                <a:ea typeface="에이투지체 6 SemiBold"/>
                <a:cs typeface="에이투지체 6 SemiBold"/>
              </a:rPr>
              <a:t>현재  </a:t>
            </a:r>
            <a:r>
              <a:rPr sz="1150" b="0">
                <a:solidFill>
                  <a:srgbClr val="5C5C5C"/>
                </a:solidFill>
                <a:latin typeface="에이투지체 4 Regular"/>
                <a:ea typeface="에이투지체 4 Regular"/>
                <a:cs typeface="에이투지체 4 Regular"/>
              </a:rPr>
              <a:t>아이클타임 첫 줄에 키움정 광고</a:t>
            </a:r>
          </a:p>
        </p:txBody>
      </p:sp>
      <p:sp>
        <p:nvSpPr>
          <p:cNvPr id="15" name="TextBox 14"/>
          <p:cNvSpPr txBox="1"/>
          <p:nvPr/>
        </p:nvSpPr>
        <p:spPr>
          <a:xfrm>
            <a:off x="548640" y="3931920"/>
            <a:ext cx="3447288" cy="685800"/>
          </a:xfrm>
          <a:prstGeom prst="rect">
            <a:avLst/>
          </a:prstGeom>
          <a:noFill/>
        </p:spPr>
        <p:txBody>
          <a:bodyPr wrap="square" lIns="0" tIns="0" rIns="0" bIns="0" anchor="t">
            <a:spAutoFit/>
          </a:bodyPr>
          <a:lstStyle/>
          <a:p>
            <a:pPr algn="l">
              <a:spcAft>
                <a:spcPts val="200"/>
              </a:spcAft>
            </a:pPr>
            <a:r>
              <a:rPr sz="1150" b="0">
                <a:solidFill>
                  <a:srgbClr val="004F9F"/>
                </a:solidFill>
                <a:latin typeface="에이투지체 6 SemiBold"/>
                <a:ea typeface="에이투지체 6 SemiBold"/>
                <a:cs typeface="에이투지체 6 SemiBold"/>
              </a:rPr>
              <a:t>운영  </a:t>
            </a:r>
            <a:r>
              <a:rPr sz="1150" b="0">
                <a:solidFill>
                  <a:srgbClr val="222222"/>
                </a:solidFill>
                <a:latin typeface="에이투지체 4 Regular"/>
                <a:ea typeface="에이투지체 4 Regular"/>
                <a:cs typeface="에이투지체 4 Regular"/>
              </a:rPr>
              <a:t>제외 없이 상시 노출</a:t>
            </a:r>
          </a:p>
          <a:p>
            <a:pPr algn="l">
              <a:spcAft>
                <a:spcPts val="200"/>
              </a:spcAft>
            </a:pPr>
            <a:r>
              <a:rPr sz="1150" b="0">
                <a:solidFill>
                  <a:srgbClr val="222222"/>
                </a:solidFill>
                <a:latin typeface="에이투지체 4 Regular"/>
                <a:ea typeface="에이투지체 4 Regular"/>
                <a:cs typeface="에이투지체 4 Regular"/>
              </a:rPr>
              <a:t>          브랜드 검색 광고 자리 주간 확인</a:t>
            </a:r>
          </a:p>
        </p:txBody>
      </p:sp>
      <p:cxnSp>
        <p:nvCxnSpPr>
          <p:cNvPr id="16" name="Connector 15"/>
          <p:cNvCxnSpPr/>
          <p:nvPr/>
        </p:nvCxnSpPr>
        <p:spPr>
          <a:xfrm>
            <a:off x="548640" y="4663440"/>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736592"/>
            <a:ext cx="3447288" cy="292608"/>
          </a:xfrm>
          <a:prstGeom prst="rect">
            <a:avLst/>
          </a:prstGeom>
          <a:noFill/>
        </p:spPr>
        <p:txBody>
          <a:bodyPr wrap="square" lIns="0" tIns="0" rIns="0" bIns="0" anchor="t">
            <a:spAutoFit/>
          </a:bodyPr>
          <a:lstStyle/>
          <a:p>
            <a:pPr algn="l"/>
            <a:r>
              <a:rPr sz="1150" b="0">
                <a:solidFill>
                  <a:srgbClr val="004F9F"/>
                </a:solidFill>
                <a:latin typeface="에이투지체 6 SemiBold"/>
                <a:ea typeface="에이투지체 6 SemiBold"/>
                <a:cs typeface="에이투지체 6 SemiBold"/>
              </a:rPr>
              <a:t>지표  브랜드 검색어 전환</a:t>
            </a:r>
          </a:p>
        </p:txBody>
      </p:sp>
      <p:sp>
        <p:nvSpPr>
          <p:cNvPr id="18" name="Rounded Rectangle 17"/>
          <p:cNvSpPr/>
          <p:nvPr/>
        </p:nvSpPr>
        <p:spPr>
          <a:xfrm>
            <a:off x="4361688" y="2103120"/>
            <a:ext cx="3447288" cy="868680"/>
          </a:xfrm>
          <a:prstGeom prst="roundRect">
            <a:avLst>
              <a:gd name="adj" fmla="val 842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90288" y="2103120"/>
            <a:ext cx="3017520" cy="868680"/>
          </a:xfrm>
          <a:prstGeom prst="rect">
            <a:avLst/>
          </a:prstGeom>
          <a:noFill/>
        </p:spPr>
        <p:txBody>
          <a:bodyPr wrap="square" lIns="0" tIns="0" rIns="0" bIns="0" anchor="ctr">
            <a:spAutoFit/>
          </a:bodyPr>
          <a:lstStyle/>
          <a:p>
            <a:pPr algn="l"/>
            <a:r>
              <a:rPr sz="1500" b="0">
                <a:solidFill>
                  <a:srgbClr val="004F9F"/>
                </a:solidFill>
                <a:latin typeface="에이투지체 8 ExtraBold"/>
                <a:ea typeface="에이투지체 8 ExtraBold"/>
                <a:cs typeface="에이투지체 8 ExtraBold"/>
              </a:rPr>
              <a:t>대표 검색어</a:t>
            </a:r>
          </a:p>
          <a:p>
            <a:pPr algn="l"/>
            <a:r>
              <a:rPr sz="1200" b="0">
                <a:solidFill>
                  <a:srgbClr val="5C5C5C"/>
                </a:solidFill>
                <a:latin typeface="에이투지체 6 SemiBold"/>
                <a:ea typeface="에이투지체 6 SemiBold"/>
                <a:cs typeface="에이투지체 6 SemiBold"/>
              </a:rPr>
              <a:t>카테고리를 탐색하는 고객</a:t>
            </a:r>
          </a:p>
        </p:txBody>
      </p:sp>
      <p:sp>
        <p:nvSpPr>
          <p:cNvPr id="20" name="TextBox 19"/>
          <p:cNvSpPr txBox="1"/>
          <p:nvPr/>
        </p:nvSpPr>
        <p:spPr>
          <a:xfrm>
            <a:off x="4361688" y="3090672"/>
            <a:ext cx="3447288" cy="502920"/>
          </a:xfrm>
          <a:prstGeom prst="rect">
            <a:avLst/>
          </a:prstGeom>
          <a:noFill/>
        </p:spPr>
        <p:txBody>
          <a:bodyPr wrap="square" lIns="0" tIns="0" rIns="0" bIns="0" anchor="t">
            <a:spAutoFit/>
          </a:bodyPr>
          <a:lstStyle/>
          <a:p>
            <a:pPr algn="l"/>
            <a:r>
              <a:rPr sz="1200" b="0">
                <a:solidFill>
                  <a:srgbClr val="222222"/>
                </a:solidFill>
                <a:latin typeface="에이투지체 6 SemiBold"/>
                <a:ea typeface="에이투지체 6 SemiBold"/>
                <a:cs typeface="에이투지체 6 SemiBold"/>
              </a:rPr>
              <a:t>키성장영양제, 키크는영양제, 카무트효소</a:t>
            </a:r>
          </a:p>
        </p:txBody>
      </p:sp>
      <p:sp>
        <p:nvSpPr>
          <p:cNvPr id="21" name="TextBox 20"/>
          <p:cNvSpPr txBox="1"/>
          <p:nvPr/>
        </p:nvSpPr>
        <p:spPr>
          <a:xfrm>
            <a:off x="4361688" y="3566160"/>
            <a:ext cx="3447288" cy="292608"/>
          </a:xfrm>
          <a:prstGeom prst="rect">
            <a:avLst/>
          </a:prstGeom>
          <a:noFill/>
        </p:spPr>
        <p:txBody>
          <a:bodyPr wrap="square" lIns="0" tIns="0" rIns="0" bIns="0" anchor="t">
            <a:spAutoFit/>
          </a:bodyPr>
          <a:lstStyle/>
          <a:p>
            <a:pPr algn="l"/>
            <a:r>
              <a:rPr sz="1150" b="0">
                <a:solidFill>
                  <a:srgbClr val="004F9F"/>
                </a:solidFill>
                <a:latin typeface="에이투지체 6 SemiBold"/>
                <a:ea typeface="에이투지체 6 SemiBold"/>
                <a:cs typeface="에이투지체 6 SemiBold"/>
              </a:rPr>
              <a:t>현재  </a:t>
            </a:r>
            <a:r>
              <a:rPr sz="1150" b="0">
                <a:solidFill>
                  <a:srgbClr val="5C5C5C"/>
                </a:solidFill>
                <a:latin typeface="에이투지체 4 Regular"/>
                <a:ea typeface="에이투지체 4 Regular"/>
                <a:cs typeface="에이투지체 4 Regular"/>
              </a:rPr>
              <a:t>첫 화면 미노출</a:t>
            </a:r>
          </a:p>
        </p:txBody>
      </p:sp>
      <p:sp>
        <p:nvSpPr>
          <p:cNvPr id="22" name="TextBox 21"/>
          <p:cNvSpPr txBox="1"/>
          <p:nvPr/>
        </p:nvSpPr>
        <p:spPr>
          <a:xfrm>
            <a:off x="4361688" y="3931920"/>
            <a:ext cx="3447288" cy="685800"/>
          </a:xfrm>
          <a:prstGeom prst="rect">
            <a:avLst/>
          </a:prstGeom>
          <a:noFill/>
        </p:spPr>
        <p:txBody>
          <a:bodyPr wrap="square" lIns="0" tIns="0" rIns="0" bIns="0" anchor="t">
            <a:spAutoFit/>
          </a:bodyPr>
          <a:lstStyle/>
          <a:p>
            <a:pPr algn="l">
              <a:spcAft>
                <a:spcPts val="200"/>
              </a:spcAft>
            </a:pPr>
            <a:r>
              <a:rPr sz="1150" b="0">
                <a:solidFill>
                  <a:srgbClr val="004F9F"/>
                </a:solidFill>
                <a:latin typeface="에이투지체 6 SemiBold"/>
                <a:ea typeface="에이투지체 6 SemiBold"/>
                <a:cs typeface="에이투지체 6 SemiBold"/>
              </a:rPr>
              <a:t>운영  </a:t>
            </a:r>
            <a:r>
              <a:rPr sz="1150" b="0">
                <a:solidFill>
                  <a:srgbClr val="222222"/>
                </a:solidFill>
                <a:latin typeface="에이투지체 4 Regular"/>
                <a:ea typeface="에이투지체 4 Regular"/>
                <a:cs typeface="에이투지체 4 Regular"/>
              </a:rPr>
              <a:t>리뷰 많은 FGO, 카무트 중심 노출</a:t>
            </a:r>
          </a:p>
          <a:p>
            <a:pPr algn="l">
              <a:spcAft>
                <a:spcPts val="200"/>
              </a:spcAft>
            </a:pPr>
            <a:r>
              <a:rPr sz="1150" b="0">
                <a:solidFill>
                  <a:srgbClr val="222222"/>
                </a:solidFill>
                <a:latin typeface="에이투지체 4 Regular"/>
                <a:ea typeface="에이투지체 4 Regular"/>
                <a:cs typeface="에이투지체 4 Regular"/>
              </a:rPr>
              <a:t>          예산과 목표 ROAS로 노출 범위 조정</a:t>
            </a:r>
          </a:p>
        </p:txBody>
      </p:sp>
      <p:cxnSp>
        <p:nvCxnSpPr>
          <p:cNvPr id="23" name="Connector 22"/>
          <p:cNvCxnSpPr/>
          <p:nvPr/>
        </p:nvCxnSpPr>
        <p:spPr>
          <a:xfrm>
            <a:off x="4361688" y="4663440"/>
            <a:ext cx="3447287"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361688" y="4736592"/>
            <a:ext cx="3447288" cy="292608"/>
          </a:xfrm>
          <a:prstGeom prst="rect">
            <a:avLst/>
          </a:prstGeom>
          <a:noFill/>
        </p:spPr>
        <p:txBody>
          <a:bodyPr wrap="square" lIns="0" tIns="0" rIns="0" bIns="0" anchor="t">
            <a:spAutoFit/>
          </a:bodyPr>
          <a:lstStyle/>
          <a:p>
            <a:pPr algn="l"/>
            <a:r>
              <a:rPr sz="1150" b="0">
                <a:solidFill>
                  <a:srgbClr val="004F9F"/>
                </a:solidFill>
                <a:latin typeface="에이투지체 6 SemiBold"/>
                <a:ea typeface="에이투지체 6 SemiBold"/>
                <a:cs typeface="에이투지체 6 SemiBold"/>
              </a:rPr>
              <a:t>지표  대표 검색어 노출, 전환</a:t>
            </a:r>
          </a:p>
        </p:txBody>
      </p:sp>
      <p:sp>
        <p:nvSpPr>
          <p:cNvPr id="25" name="Rounded Rectangle 24"/>
          <p:cNvSpPr/>
          <p:nvPr/>
        </p:nvSpPr>
        <p:spPr>
          <a:xfrm>
            <a:off x="8174736" y="2103120"/>
            <a:ext cx="3447288" cy="868680"/>
          </a:xfrm>
          <a:prstGeom prst="roundRect">
            <a:avLst>
              <a:gd name="adj" fmla="val 8421"/>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03336" y="2103120"/>
            <a:ext cx="3017520" cy="868680"/>
          </a:xfrm>
          <a:prstGeom prst="rect">
            <a:avLst/>
          </a:prstGeom>
          <a:noFill/>
        </p:spPr>
        <p:txBody>
          <a:bodyPr wrap="square" lIns="0" tIns="0" rIns="0" bIns="0" anchor="ctr">
            <a:spAutoFit/>
          </a:bodyPr>
          <a:lstStyle/>
          <a:p>
            <a:pPr algn="l"/>
            <a:r>
              <a:rPr sz="1500" b="0">
                <a:solidFill>
                  <a:srgbClr val="FFFFFF"/>
                </a:solidFill>
                <a:latin typeface="에이투지체 8 ExtraBold"/>
                <a:ea typeface="에이투지체 8 ExtraBold"/>
                <a:cs typeface="에이투지체 8 ExtraBold"/>
              </a:rPr>
              <a:t>경쟁사 브랜드 검색어</a:t>
            </a:r>
          </a:p>
          <a:p>
            <a:pPr algn="l"/>
            <a:r>
              <a:rPr sz="1200" b="0">
                <a:solidFill>
                  <a:srgbClr val="C9DAEE"/>
                </a:solidFill>
                <a:latin typeface="에이투지체 6 SemiBold"/>
                <a:ea typeface="에이투지체 6 SemiBold"/>
                <a:cs typeface="에이투지체 6 SemiBold"/>
              </a:rPr>
              <a:t>경쟁 상품을 찾는 고객</a:t>
            </a:r>
          </a:p>
        </p:txBody>
      </p:sp>
      <p:sp>
        <p:nvSpPr>
          <p:cNvPr id="27" name="TextBox 26"/>
          <p:cNvSpPr txBox="1"/>
          <p:nvPr/>
        </p:nvSpPr>
        <p:spPr>
          <a:xfrm>
            <a:off x="8174736" y="3090672"/>
            <a:ext cx="3447288" cy="502920"/>
          </a:xfrm>
          <a:prstGeom prst="rect">
            <a:avLst/>
          </a:prstGeom>
          <a:noFill/>
        </p:spPr>
        <p:txBody>
          <a:bodyPr wrap="square" lIns="0" tIns="0" rIns="0" bIns="0" anchor="t">
            <a:spAutoFit/>
          </a:bodyPr>
          <a:lstStyle/>
          <a:p>
            <a:pPr algn="l"/>
            <a:r>
              <a:rPr sz="1200" b="0">
                <a:solidFill>
                  <a:srgbClr val="222222"/>
                </a:solidFill>
                <a:latin typeface="에이투지체 6 SemiBold"/>
                <a:ea typeface="에이투지체 6 SemiBold"/>
                <a:cs typeface="에이투지체 6 SemiBold"/>
              </a:rPr>
              <a:t>키움정, 하우투키, 키앤이거, 키클레오</a:t>
            </a:r>
          </a:p>
        </p:txBody>
      </p:sp>
      <p:sp>
        <p:nvSpPr>
          <p:cNvPr id="28" name="TextBox 27"/>
          <p:cNvSpPr txBox="1"/>
          <p:nvPr/>
        </p:nvSpPr>
        <p:spPr>
          <a:xfrm>
            <a:off x="8174736" y="3566160"/>
            <a:ext cx="3447288" cy="292608"/>
          </a:xfrm>
          <a:prstGeom prst="rect">
            <a:avLst/>
          </a:prstGeom>
          <a:noFill/>
        </p:spPr>
        <p:txBody>
          <a:bodyPr wrap="square" lIns="0" tIns="0" rIns="0" bIns="0" anchor="t">
            <a:spAutoFit/>
          </a:bodyPr>
          <a:lstStyle/>
          <a:p>
            <a:pPr algn="l"/>
            <a:r>
              <a:rPr sz="1150" b="0">
                <a:solidFill>
                  <a:srgbClr val="004F9F"/>
                </a:solidFill>
                <a:latin typeface="에이투지체 6 SemiBold"/>
                <a:ea typeface="에이투지체 6 SemiBold"/>
                <a:cs typeface="에이투지체 6 SemiBold"/>
              </a:rPr>
              <a:t>현재  </a:t>
            </a:r>
            <a:r>
              <a:rPr sz="1150" b="0">
                <a:solidFill>
                  <a:srgbClr val="5C5C5C"/>
                </a:solidFill>
                <a:latin typeface="에이투지체 4 Regular"/>
                <a:ea typeface="에이투지체 4 Regular"/>
                <a:cs typeface="에이투지체 4 Regular"/>
              </a:rPr>
              <a:t>두드림 노출 없음</a:t>
            </a:r>
          </a:p>
        </p:txBody>
      </p:sp>
      <p:sp>
        <p:nvSpPr>
          <p:cNvPr id="29" name="TextBox 28"/>
          <p:cNvSpPr txBox="1"/>
          <p:nvPr/>
        </p:nvSpPr>
        <p:spPr>
          <a:xfrm>
            <a:off x="8174736" y="3931920"/>
            <a:ext cx="3447288" cy="685800"/>
          </a:xfrm>
          <a:prstGeom prst="rect">
            <a:avLst/>
          </a:prstGeom>
          <a:noFill/>
        </p:spPr>
        <p:txBody>
          <a:bodyPr wrap="square" lIns="0" tIns="0" rIns="0" bIns="0" anchor="t">
            <a:spAutoFit/>
          </a:bodyPr>
          <a:lstStyle/>
          <a:p>
            <a:pPr algn="l">
              <a:spcAft>
                <a:spcPts val="200"/>
              </a:spcAft>
            </a:pPr>
            <a:r>
              <a:rPr sz="1150" b="0">
                <a:solidFill>
                  <a:srgbClr val="004F9F"/>
                </a:solidFill>
                <a:latin typeface="에이투지체 6 SemiBold"/>
                <a:ea typeface="에이투지체 6 SemiBold"/>
                <a:cs typeface="에이투지체 6 SemiBold"/>
              </a:rPr>
              <a:t>운영  </a:t>
            </a:r>
            <a:r>
              <a:rPr sz="1150" b="0">
                <a:solidFill>
                  <a:srgbClr val="222222"/>
                </a:solidFill>
                <a:latin typeface="에이투지체 4 Regular"/>
                <a:ea typeface="에이투지체 4 Regular"/>
                <a:cs typeface="에이투지체 4 Regular"/>
              </a:rPr>
              <a:t>제외 키워드로 막지 않고 성과 확인</a:t>
            </a:r>
          </a:p>
          <a:p>
            <a:pPr algn="l">
              <a:spcAft>
                <a:spcPts val="200"/>
              </a:spcAft>
            </a:pPr>
            <a:r>
              <a:rPr sz="1150" b="0">
                <a:solidFill>
                  <a:srgbClr val="222222"/>
                </a:solidFill>
                <a:latin typeface="에이투지체 4 Regular"/>
                <a:ea typeface="에이투지체 4 Regular"/>
                <a:cs typeface="에이투지체 4 Regular"/>
              </a:rPr>
              <a:t>          5클릭 이상 무전환 검색어만 제외</a:t>
            </a:r>
          </a:p>
        </p:txBody>
      </p:sp>
      <p:cxnSp>
        <p:nvCxnSpPr>
          <p:cNvPr id="30" name="Connector 29"/>
          <p:cNvCxnSpPr/>
          <p:nvPr/>
        </p:nvCxnSpPr>
        <p:spPr>
          <a:xfrm>
            <a:off x="8174736" y="4663440"/>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4736" y="4736592"/>
            <a:ext cx="3447288" cy="292608"/>
          </a:xfrm>
          <a:prstGeom prst="rect">
            <a:avLst/>
          </a:prstGeom>
          <a:noFill/>
        </p:spPr>
        <p:txBody>
          <a:bodyPr wrap="square" lIns="0" tIns="0" rIns="0" bIns="0" anchor="t">
            <a:spAutoFit/>
          </a:bodyPr>
          <a:lstStyle/>
          <a:p>
            <a:pPr algn="l"/>
            <a:r>
              <a:rPr sz="1150" b="0">
                <a:solidFill>
                  <a:srgbClr val="004F9F"/>
                </a:solidFill>
                <a:latin typeface="에이투지체 6 SemiBold"/>
                <a:ea typeface="에이투지체 6 SemiBold"/>
                <a:cs typeface="에이투지체 6 SemiBold"/>
              </a:rPr>
              <a:t>지표  경쟁사 검색어 전환</a:t>
            </a:r>
          </a:p>
        </p:txBody>
      </p:sp>
      <p:sp>
        <p:nvSpPr>
          <p:cNvPr id="32" name="Rounded Rectangle 31"/>
          <p:cNvSpPr/>
          <p:nvPr/>
        </p:nvSpPr>
        <p:spPr>
          <a:xfrm>
            <a:off x="548640" y="5102352"/>
            <a:ext cx="11064240" cy="365760"/>
          </a:xfrm>
          <a:prstGeom prst="roundRect">
            <a:avLst>
              <a:gd name="adj" fmla="val 2000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31520" y="5102352"/>
            <a:ext cx="10698480" cy="365760"/>
          </a:xfrm>
          <a:prstGeom prst="rect">
            <a:avLst/>
          </a:prstGeom>
          <a:noFill/>
        </p:spPr>
        <p:txBody>
          <a:bodyPr wrap="square" lIns="0" tIns="0" rIns="0" bIns="0" anchor="ctr">
            <a:spAutoFit/>
          </a:bodyPr>
          <a:lstStyle/>
          <a:p>
            <a:pPr algn="l"/>
            <a:r>
              <a:rPr sz="1150" b="0">
                <a:solidFill>
                  <a:srgbClr val="004F9F"/>
                </a:solidFill>
                <a:latin typeface="에이투지체 6 SemiBold"/>
                <a:ea typeface="에이투지체 6 SemiBold"/>
                <a:cs typeface="에이투지체 6 SemiBold"/>
              </a:rPr>
              <a:t>확장 검토  </a:t>
            </a:r>
            <a:r>
              <a:rPr sz="1150" b="0">
                <a:solidFill>
                  <a:srgbClr val="222222"/>
                </a:solidFill>
                <a:latin typeface="에이투지체 5 Medium"/>
                <a:ea typeface="에이투지체 5 Medium"/>
                <a:cs typeface="에이투지체 5 Medium"/>
              </a:rPr>
              <a:t>경쟁사, 브랜드 검색어 성과가 확인되면 수동 성과형 캠페인 도입을 검토합니다</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FGO 세트 상품 등록을 제안하고</a:t>
            </a:r>
          </a:p>
          <a:p>
            <a:pPr>
              <a:lnSpc>
                <a:spcPts val="2600"/>
              </a:lnSpc>
            </a:pPr>
            <a:r>
              <a:rPr sz="1900" b="0">
                <a:solidFill>
                  <a:srgbClr val="222222"/>
                </a:solidFill>
                <a:latin typeface="에이투지체 8 ExtraBold"/>
                <a:ea typeface="에이투지체 8 ExtraBold"/>
                <a:cs typeface="에이투지체 8 ExtraBold"/>
              </a:rPr>
              <a:t>등록되면 어린이영양제 같은 넓은 검색어까지 광고합니다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a:solidFill>
                  <a:srgbClr val="5C5C5C"/>
                </a:solidFill>
                <a:latin typeface="에이투지체 5 Medium"/>
                <a:ea typeface="에이투지체 5 Medium"/>
                <a:cs typeface="에이투지체 5 Medium"/>
              </a:rPr>
              <a:t>쿠팡 핵심과제 3  성장 패키지 상품</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세트 구성과 가격은 두드림과 협의하고, 등록된 세트는 기존 캠페인에 넣어 검색어별 성과를 확인합니다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경쟁사 사례: 2026.10.13 쿠팡 "어린이영양제" 검색 결과와 상품 페이지 기준 / 패키지 구성은 GFA 핵심과제 2와 동일하며, 구성과 가격은 두드림과 협의</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40</a:t>
            </a:r>
          </a:p>
        </p:txBody>
      </p:sp>
      <p:sp>
        <p:nvSpPr>
          <p:cNvPr id="11" name="TextBox 10"/>
          <p:cNvSpPr txBox="1"/>
          <p:nvPr/>
        </p:nvSpPr>
        <p:spPr>
          <a:xfrm>
            <a:off x="548640" y="1993392"/>
            <a:ext cx="603504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경쟁사 사례  </a:t>
            </a:r>
            <a:r>
              <a:rPr sz="1250" b="0">
                <a:solidFill>
                  <a:srgbClr val="222222"/>
                </a:solidFill>
                <a:latin typeface="에이투지체 6 SemiBold"/>
                <a:ea typeface="에이투지체 6 SemiBold"/>
                <a:cs typeface="에이투지체 6 SemiBold"/>
              </a:rPr>
              <a:t>키움정 + 멀티비타민 구미젤리 특가세트</a:t>
            </a:r>
          </a:p>
        </p:txBody>
      </p:sp>
      <p:pic>
        <p:nvPicPr>
          <p:cNvPr id="12" name="Picture 11" descr="kids.png"/>
          <p:cNvPicPr>
            <a:picLocks noChangeAspect="1"/>
          </p:cNvPicPr>
          <p:nvPr/>
        </p:nvPicPr>
        <p:blipFill>
          <a:blip r:embed="rId2"/>
          <a:stretch>
            <a:fillRect/>
          </a:stretch>
        </p:blipFill>
        <p:spPr>
          <a:xfrm>
            <a:off x="548640" y="2331720"/>
            <a:ext cx="3108960" cy="3088289"/>
          </a:xfrm>
          <a:prstGeom prst="rect">
            <a:avLst/>
          </a:prstGeom>
          <a:ln w="9525">
            <a:solidFill>
              <a:srgbClr val="DDDDDD"/>
            </a:solidFill>
          </a:ln>
        </p:spPr>
      </p:pic>
      <p:pic>
        <p:nvPicPr>
          <p:cNvPr id="13" name="Picture 12" descr="kium_set.png"/>
          <p:cNvPicPr>
            <a:picLocks noChangeAspect="1"/>
          </p:cNvPicPr>
          <p:nvPr/>
        </p:nvPicPr>
        <p:blipFill>
          <a:blip r:embed="rId3"/>
          <a:stretch>
            <a:fillRect/>
          </a:stretch>
        </p:blipFill>
        <p:spPr>
          <a:xfrm>
            <a:off x="3794760" y="2331720"/>
            <a:ext cx="3017520" cy="981839"/>
          </a:xfrm>
          <a:prstGeom prst="rect">
            <a:avLst/>
          </a:prstGeom>
          <a:ln w="9525">
            <a:solidFill>
              <a:srgbClr val="DDDDDD"/>
            </a:solidFill>
          </a:ln>
        </p:spPr>
      </p:pic>
      <p:sp>
        <p:nvSpPr>
          <p:cNvPr id="14" name="TextBox 13"/>
          <p:cNvSpPr txBox="1"/>
          <p:nvPr/>
        </p:nvSpPr>
        <p:spPr>
          <a:xfrm>
            <a:off x="3794760" y="3429000"/>
            <a:ext cx="3017520" cy="2011680"/>
          </a:xfrm>
          <a:prstGeom prst="rect">
            <a:avLst/>
          </a:prstGeom>
          <a:noFill/>
        </p:spPr>
        <p:txBody>
          <a:bodyPr wrap="square" lIns="0" tIns="0" rIns="0" bIns="0" anchor="t">
            <a:spAutoFit/>
          </a:bodyPr>
          <a:lstStyle/>
          <a:p>
            <a:pPr algn="l">
              <a:spcAft>
                <a:spcPts val="600"/>
              </a:spcAft>
            </a:pPr>
            <a:r>
              <a:rPr sz="1100" b="0">
                <a:solidFill>
                  <a:srgbClr val="004F9F"/>
                </a:solidFill>
                <a:latin typeface="에이투지체 6 SemiBold"/>
                <a:ea typeface="에이투지체 6 SemiBold"/>
                <a:cs typeface="에이투지체 6 SemiBold"/>
              </a:rPr>
              <a:t>구성  </a:t>
            </a:r>
            <a:r>
              <a:rPr sz="1100" b="0">
                <a:solidFill>
                  <a:srgbClr val="222222"/>
                </a:solidFill>
                <a:latin typeface="에이투지체 4 Regular"/>
                <a:ea typeface="에이투지체 4 Regular"/>
                <a:cs typeface="에이투지체 4 Regular"/>
              </a:rPr>
              <a:t>키움정 1병 + 멀티비타민 구미젤리 1박스</a:t>
            </a:r>
          </a:p>
          <a:p>
            <a:pPr algn="l">
              <a:spcAft>
                <a:spcPts val="600"/>
              </a:spcAft>
            </a:pPr>
            <a:r>
              <a:rPr sz="1100" b="0">
                <a:solidFill>
                  <a:srgbClr val="004F9F"/>
                </a:solidFill>
                <a:latin typeface="에이투지체 6 SemiBold"/>
                <a:ea typeface="에이투지체 6 SemiBold"/>
                <a:cs typeface="에이투지체 6 SemiBold"/>
              </a:rPr>
              <a:t>가격  </a:t>
            </a:r>
            <a:r>
              <a:rPr sz="1100" b="0">
                <a:solidFill>
                  <a:srgbClr val="222222"/>
                </a:solidFill>
                <a:latin typeface="에이투지체 4 Regular"/>
                <a:ea typeface="에이투지체 4 Regular"/>
                <a:cs typeface="에이투지체 4 Regular"/>
              </a:rPr>
              <a:t>58,900원 (정가 대비 25% 할인)</a:t>
            </a:r>
          </a:p>
          <a:p>
            <a:pPr algn="l">
              <a:spcAft>
                <a:spcPts val="600"/>
              </a:spcAft>
            </a:pPr>
            <a:r>
              <a:rPr sz="1100" b="0">
                <a:solidFill>
                  <a:srgbClr val="004F9F"/>
                </a:solidFill>
                <a:latin typeface="에이투지체 6 SemiBold"/>
                <a:ea typeface="에이투지체 6 SemiBold"/>
                <a:cs typeface="에이투지체 6 SemiBold"/>
              </a:rPr>
              <a:t>노출  </a:t>
            </a:r>
            <a:r>
              <a:rPr sz="1100" b="0">
                <a:solidFill>
                  <a:srgbClr val="222222"/>
                </a:solidFill>
                <a:latin typeface="에이투지체 4 Regular"/>
                <a:ea typeface="에이투지체 4 Regular"/>
                <a:cs typeface="에이투지체 4 Regular"/>
              </a:rPr>
              <a:t>"어린이영양제" 첫 화면</a:t>
            </a:r>
          </a:p>
          <a:p>
            <a:pPr algn="l">
              <a:spcAft>
                <a:spcPts val="600"/>
              </a:spcAft>
            </a:pPr>
            <a:r>
              <a:rPr sz="1100" b="0">
                <a:solidFill>
                  <a:srgbClr val="004F9F"/>
                </a:solidFill>
                <a:latin typeface="에이투지체 6 SemiBold"/>
                <a:ea typeface="에이투지체 6 SemiBold"/>
                <a:cs typeface="에이투지체 6 SemiBold"/>
              </a:rPr>
              <a:t>효과  </a:t>
            </a:r>
            <a:r>
              <a:rPr sz="1100" b="0">
                <a:solidFill>
                  <a:srgbClr val="222222"/>
                </a:solidFill>
                <a:latin typeface="에이투지체 4 Regular"/>
                <a:ea typeface="에이투지체 4 Regular"/>
                <a:cs typeface="에이투지체 4 Regular"/>
              </a:rPr>
              <a:t>키 성장 검색 밖의 수요까지 대표 상품으로 연결</a:t>
            </a:r>
          </a:p>
        </p:txBody>
      </p:sp>
      <p:sp>
        <p:nvSpPr>
          <p:cNvPr id="15" name="Rounded Rectangle 14"/>
          <p:cNvSpPr/>
          <p:nvPr/>
        </p:nvSpPr>
        <p:spPr>
          <a:xfrm>
            <a:off x="7040880" y="2103120"/>
            <a:ext cx="4572000" cy="3310128"/>
          </a:xfrm>
          <a:prstGeom prst="roundRect">
            <a:avLst>
              <a:gd name="adj" fmla="val 2209"/>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269480" y="2212848"/>
            <a:ext cx="4114800" cy="320040"/>
          </a:xfrm>
          <a:prstGeom prst="rect">
            <a:avLst/>
          </a:prstGeom>
          <a:noFill/>
        </p:spPr>
        <p:txBody>
          <a:bodyPr wrap="square" lIns="0" tIns="0" rIns="0" bIns="0" anchor="t">
            <a:spAutoFit/>
          </a:bodyPr>
          <a:lstStyle/>
          <a:p>
            <a:pPr algn="l"/>
            <a:r>
              <a:rPr sz="1350" b="0">
                <a:solidFill>
                  <a:srgbClr val="222222"/>
                </a:solidFill>
                <a:latin typeface="에이투지체 8 ExtraBold"/>
                <a:ea typeface="에이투지체 8 ExtraBold"/>
                <a:cs typeface="에이투지체 8 ExtraBold"/>
              </a:rPr>
              <a:t>두드림 성장 패키지 제안 (쿠팡 세트 상품)</a:t>
            </a:r>
          </a:p>
        </p:txBody>
      </p:sp>
      <p:sp>
        <p:nvSpPr>
          <p:cNvPr id="17" name="Rounded Rectangle 16"/>
          <p:cNvSpPr/>
          <p:nvPr/>
        </p:nvSpPr>
        <p:spPr>
          <a:xfrm>
            <a:off x="7269480" y="2633472"/>
            <a:ext cx="1234440" cy="402336"/>
          </a:xfrm>
          <a:prstGeom prst="roundRect">
            <a:avLst>
              <a:gd name="adj" fmla="val 18181"/>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69480" y="2633472"/>
            <a:ext cx="1234440" cy="402336"/>
          </a:xfrm>
          <a:prstGeom prst="rect">
            <a:avLst/>
          </a:prstGeom>
          <a:noFill/>
        </p:spPr>
        <p:txBody>
          <a:bodyPr wrap="square" lIns="0" tIns="0" rIns="0" bIns="0" anchor="ctr">
            <a:spAutoFit/>
          </a:bodyPr>
          <a:lstStyle/>
          <a:p>
            <a:pPr algn="ctr"/>
            <a:r>
              <a:rPr sz="1050" b="0">
                <a:solidFill>
                  <a:srgbClr val="FFFFFF"/>
                </a:solidFill>
                <a:latin typeface="에이투지체 6 SemiBold"/>
                <a:ea typeface="에이투지체 6 SemiBold"/>
                <a:cs typeface="에이투지체 6 SemiBold"/>
              </a:rPr>
              <a:t>성장 시작</a:t>
            </a:r>
          </a:p>
        </p:txBody>
      </p:sp>
      <p:sp>
        <p:nvSpPr>
          <p:cNvPr id="19" name="TextBox 18"/>
          <p:cNvSpPr txBox="1"/>
          <p:nvPr/>
        </p:nvSpPr>
        <p:spPr>
          <a:xfrm>
            <a:off x="8613648" y="2633472"/>
            <a:ext cx="685800" cy="402336"/>
          </a:xfrm>
          <a:prstGeom prst="rect">
            <a:avLst/>
          </a:prstGeom>
          <a:noFill/>
        </p:spPr>
        <p:txBody>
          <a:bodyPr wrap="square" lIns="0" tIns="0" rIns="0" bIns="0" anchor="ctr">
            <a:spAutoFit/>
          </a:bodyPr>
          <a:lstStyle/>
          <a:p>
            <a:pPr algn="l"/>
            <a:r>
              <a:rPr sz="1000" b="0">
                <a:solidFill>
                  <a:srgbClr val="919191"/>
                </a:solidFill>
                <a:latin typeface="에이투지체 6 SemiBold"/>
                <a:ea typeface="에이투지체 6 SemiBold"/>
                <a:cs typeface="에이투지체 6 SemiBold"/>
              </a:rPr>
              <a:t>4~7세</a:t>
            </a:r>
          </a:p>
        </p:txBody>
      </p:sp>
      <p:sp>
        <p:nvSpPr>
          <p:cNvPr id="20" name="TextBox 19"/>
          <p:cNvSpPr txBox="1"/>
          <p:nvPr/>
        </p:nvSpPr>
        <p:spPr>
          <a:xfrm>
            <a:off x="9281160" y="2633472"/>
            <a:ext cx="2240280" cy="402336"/>
          </a:xfrm>
          <a:prstGeom prst="rect">
            <a:avLst/>
          </a:prstGeom>
          <a:noFill/>
        </p:spPr>
        <p:txBody>
          <a:bodyPr wrap="square" lIns="0" tIns="0" rIns="0" bIns="0" anchor="ctr">
            <a:spAutoFit/>
          </a:bodyPr>
          <a:lstStyle/>
          <a:p>
            <a:pPr algn="l"/>
            <a:r>
              <a:rPr sz="1050" b="0">
                <a:solidFill>
                  <a:srgbClr val="222222"/>
                </a:solidFill>
                <a:latin typeface="에이투지체 5 Medium"/>
                <a:ea typeface="에이투지체 5 Medium"/>
                <a:cs typeface="에이투지체 5 Medium"/>
              </a:rPr>
              <a:t>FGO + 츄어블 칼마디</a:t>
            </a:r>
          </a:p>
        </p:txBody>
      </p:sp>
      <p:sp>
        <p:nvSpPr>
          <p:cNvPr id="21" name="Rounded Rectangle 20"/>
          <p:cNvSpPr/>
          <p:nvPr/>
        </p:nvSpPr>
        <p:spPr>
          <a:xfrm>
            <a:off x="7269480" y="3145536"/>
            <a:ext cx="1234440" cy="402336"/>
          </a:xfrm>
          <a:prstGeom prst="roundRect">
            <a:avLst>
              <a:gd name="adj" fmla="val 18181"/>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269480" y="3145536"/>
            <a:ext cx="1234440" cy="402336"/>
          </a:xfrm>
          <a:prstGeom prst="rect">
            <a:avLst/>
          </a:prstGeom>
          <a:noFill/>
        </p:spPr>
        <p:txBody>
          <a:bodyPr wrap="square" lIns="0" tIns="0" rIns="0" bIns="0" anchor="ctr">
            <a:spAutoFit/>
          </a:bodyPr>
          <a:lstStyle/>
          <a:p>
            <a:pPr algn="ctr"/>
            <a:r>
              <a:rPr sz="1050" b="0">
                <a:solidFill>
                  <a:srgbClr val="FFFFFF"/>
                </a:solidFill>
                <a:latin typeface="에이투지체 6 SemiBold"/>
                <a:ea typeface="에이투지체 6 SemiBold"/>
                <a:cs typeface="에이투지체 6 SemiBold"/>
              </a:rPr>
              <a:t>초등 성장</a:t>
            </a:r>
          </a:p>
        </p:txBody>
      </p:sp>
      <p:sp>
        <p:nvSpPr>
          <p:cNvPr id="23" name="TextBox 22"/>
          <p:cNvSpPr txBox="1"/>
          <p:nvPr/>
        </p:nvSpPr>
        <p:spPr>
          <a:xfrm>
            <a:off x="8613648" y="3145536"/>
            <a:ext cx="685800" cy="402336"/>
          </a:xfrm>
          <a:prstGeom prst="rect">
            <a:avLst/>
          </a:prstGeom>
          <a:noFill/>
        </p:spPr>
        <p:txBody>
          <a:bodyPr wrap="square" lIns="0" tIns="0" rIns="0" bIns="0" anchor="ctr">
            <a:spAutoFit/>
          </a:bodyPr>
          <a:lstStyle/>
          <a:p>
            <a:pPr algn="l"/>
            <a:r>
              <a:rPr sz="1000" b="0">
                <a:solidFill>
                  <a:srgbClr val="919191"/>
                </a:solidFill>
                <a:latin typeface="에이투지체 6 SemiBold"/>
                <a:ea typeface="에이투지체 6 SemiBold"/>
                <a:cs typeface="에이투지체 6 SemiBold"/>
              </a:rPr>
              <a:t>8~13세</a:t>
            </a:r>
          </a:p>
        </p:txBody>
      </p:sp>
      <p:sp>
        <p:nvSpPr>
          <p:cNvPr id="24" name="TextBox 23"/>
          <p:cNvSpPr txBox="1"/>
          <p:nvPr/>
        </p:nvSpPr>
        <p:spPr>
          <a:xfrm>
            <a:off x="9281160" y="3145536"/>
            <a:ext cx="2240280" cy="402336"/>
          </a:xfrm>
          <a:prstGeom prst="rect">
            <a:avLst/>
          </a:prstGeom>
          <a:noFill/>
        </p:spPr>
        <p:txBody>
          <a:bodyPr wrap="square" lIns="0" tIns="0" rIns="0" bIns="0" anchor="ctr">
            <a:spAutoFit/>
          </a:bodyPr>
          <a:lstStyle/>
          <a:p>
            <a:pPr algn="l"/>
            <a:r>
              <a:rPr sz="1050" b="0">
                <a:solidFill>
                  <a:srgbClr val="222222"/>
                </a:solidFill>
                <a:latin typeface="에이투지체 5 Medium"/>
                <a:ea typeface="에이투지체 5 Medium"/>
                <a:cs typeface="에이투지체 5 Medium"/>
              </a:rPr>
              <a:t>FGO + 칼마디 + 철분</a:t>
            </a:r>
          </a:p>
        </p:txBody>
      </p:sp>
      <p:sp>
        <p:nvSpPr>
          <p:cNvPr id="25" name="Rounded Rectangle 24"/>
          <p:cNvSpPr/>
          <p:nvPr/>
        </p:nvSpPr>
        <p:spPr>
          <a:xfrm>
            <a:off x="7269480" y="3657600"/>
            <a:ext cx="1234440" cy="402336"/>
          </a:xfrm>
          <a:prstGeom prst="roundRect">
            <a:avLst>
              <a:gd name="adj" fmla="val 18181"/>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269480" y="3657600"/>
            <a:ext cx="1234440" cy="402336"/>
          </a:xfrm>
          <a:prstGeom prst="rect">
            <a:avLst/>
          </a:prstGeom>
          <a:noFill/>
        </p:spPr>
        <p:txBody>
          <a:bodyPr wrap="square" lIns="0" tIns="0" rIns="0" bIns="0" anchor="ctr">
            <a:spAutoFit/>
          </a:bodyPr>
          <a:lstStyle/>
          <a:p>
            <a:pPr algn="ctr"/>
            <a:r>
              <a:rPr sz="1050" b="0">
                <a:solidFill>
                  <a:srgbClr val="FFFFFF"/>
                </a:solidFill>
                <a:latin typeface="에이투지체 6 SemiBold"/>
                <a:ea typeface="에이투지체 6 SemiBold"/>
                <a:cs typeface="에이투지체 6 SemiBold"/>
              </a:rPr>
              <a:t>청소년</a:t>
            </a:r>
          </a:p>
        </p:txBody>
      </p:sp>
      <p:sp>
        <p:nvSpPr>
          <p:cNvPr id="27" name="TextBox 26"/>
          <p:cNvSpPr txBox="1"/>
          <p:nvPr/>
        </p:nvSpPr>
        <p:spPr>
          <a:xfrm>
            <a:off x="8613648" y="3657600"/>
            <a:ext cx="685800" cy="402336"/>
          </a:xfrm>
          <a:prstGeom prst="rect">
            <a:avLst/>
          </a:prstGeom>
          <a:noFill/>
        </p:spPr>
        <p:txBody>
          <a:bodyPr wrap="square" lIns="0" tIns="0" rIns="0" bIns="0" anchor="ctr">
            <a:spAutoFit/>
          </a:bodyPr>
          <a:lstStyle/>
          <a:p>
            <a:pPr algn="l"/>
            <a:r>
              <a:rPr sz="1000" b="0">
                <a:solidFill>
                  <a:srgbClr val="919191"/>
                </a:solidFill>
                <a:latin typeface="에이투지체 6 SemiBold"/>
                <a:ea typeface="에이투지체 6 SemiBold"/>
                <a:cs typeface="에이투지체 6 SemiBold"/>
              </a:rPr>
              <a:t>14~17세</a:t>
            </a:r>
          </a:p>
        </p:txBody>
      </p:sp>
      <p:sp>
        <p:nvSpPr>
          <p:cNvPr id="28" name="TextBox 27"/>
          <p:cNvSpPr txBox="1"/>
          <p:nvPr/>
        </p:nvSpPr>
        <p:spPr>
          <a:xfrm>
            <a:off x="9281160" y="3657600"/>
            <a:ext cx="2240280" cy="402336"/>
          </a:xfrm>
          <a:prstGeom prst="rect">
            <a:avLst/>
          </a:prstGeom>
          <a:noFill/>
        </p:spPr>
        <p:txBody>
          <a:bodyPr wrap="square" lIns="0" tIns="0" rIns="0" bIns="0" anchor="ctr">
            <a:spAutoFit/>
          </a:bodyPr>
          <a:lstStyle/>
          <a:p>
            <a:pPr algn="l"/>
            <a:r>
              <a:rPr sz="1050" b="0">
                <a:solidFill>
                  <a:srgbClr val="222222"/>
                </a:solidFill>
                <a:latin typeface="에이투지체 5 Medium"/>
                <a:ea typeface="에이투지체 5 Medium"/>
                <a:cs typeface="에이투지체 5 Medium"/>
              </a:rPr>
              <a:t>FGO + 프로바이오키드</a:t>
            </a:r>
          </a:p>
        </p:txBody>
      </p:sp>
      <p:sp>
        <p:nvSpPr>
          <p:cNvPr id="29" name="Rounded Rectangle 28"/>
          <p:cNvSpPr/>
          <p:nvPr/>
        </p:nvSpPr>
        <p:spPr>
          <a:xfrm>
            <a:off x="7269480" y="4169664"/>
            <a:ext cx="1234440" cy="402336"/>
          </a:xfrm>
          <a:prstGeom prst="roundRect">
            <a:avLst>
              <a:gd name="adj" fmla="val 18181"/>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269480" y="4169664"/>
            <a:ext cx="1234440" cy="402336"/>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유아 스타터</a:t>
            </a:r>
          </a:p>
        </p:txBody>
      </p:sp>
      <p:sp>
        <p:nvSpPr>
          <p:cNvPr id="31" name="TextBox 30"/>
          <p:cNvSpPr txBox="1"/>
          <p:nvPr/>
        </p:nvSpPr>
        <p:spPr>
          <a:xfrm>
            <a:off x="8613648" y="4169664"/>
            <a:ext cx="685800" cy="402336"/>
          </a:xfrm>
          <a:prstGeom prst="rect">
            <a:avLst/>
          </a:prstGeom>
          <a:noFill/>
        </p:spPr>
        <p:txBody>
          <a:bodyPr wrap="square" lIns="0" tIns="0" rIns="0" bIns="0" anchor="ctr">
            <a:spAutoFit/>
          </a:bodyPr>
          <a:lstStyle/>
          <a:p>
            <a:pPr algn="l"/>
            <a:r>
              <a:rPr sz="1000" b="0">
                <a:solidFill>
                  <a:srgbClr val="919191"/>
                </a:solidFill>
                <a:latin typeface="에이투지체 6 SemiBold"/>
                <a:ea typeface="에이투지체 6 SemiBold"/>
                <a:cs typeface="에이투지체 6 SemiBold"/>
              </a:rPr>
              <a:t>2~3세</a:t>
            </a:r>
          </a:p>
        </p:txBody>
      </p:sp>
      <p:sp>
        <p:nvSpPr>
          <p:cNvPr id="32" name="TextBox 31"/>
          <p:cNvSpPr txBox="1"/>
          <p:nvPr/>
        </p:nvSpPr>
        <p:spPr>
          <a:xfrm>
            <a:off x="9281160" y="4169664"/>
            <a:ext cx="2240280" cy="402336"/>
          </a:xfrm>
          <a:prstGeom prst="rect">
            <a:avLst/>
          </a:prstGeom>
          <a:noFill/>
        </p:spPr>
        <p:txBody>
          <a:bodyPr wrap="square" lIns="0" tIns="0" rIns="0" bIns="0" anchor="ctr">
            <a:spAutoFit/>
          </a:bodyPr>
          <a:lstStyle/>
          <a:p>
            <a:pPr algn="l"/>
            <a:r>
              <a:rPr sz="1050" b="0">
                <a:solidFill>
                  <a:srgbClr val="222222"/>
                </a:solidFill>
                <a:latin typeface="에이투지체 5 Medium"/>
                <a:ea typeface="에이투지체 5 Medium"/>
                <a:cs typeface="에이투지체 5 Medium"/>
              </a:rPr>
              <a:t>멀티비타민 + 유산균 아연D + 철분</a:t>
            </a:r>
          </a:p>
        </p:txBody>
      </p:sp>
      <p:sp>
        <p:nvSpPr>
          <p:cNvPr id="33" name="TextBox 32"/>
          <p:cNvSpPr txBox="1"/>
          <p:nvPr/>
        </p:nvSpPr>
        <p:spPr>
          <a:xfrm>
            <a:off x="7269480" y="4709160"/>
            <a:ext cx="4114800" cy="640080"/>
          </a:xfrm>
          <a:prstGeom prst="rect">
            <a:avLst/>
          </a:prstGeom>
          <a:noFill/>
        </p:spPr>
        <p:txBody>
          <a:bodyPr wrap="square" lIns="0" tIns="0" rIns="0" bIns="0" anchor="t">
            <a:spAutoFit/>
          </a:bodyPr>
          <a:lstStyle/>
          <a:p>
            <a:pPr algn="l">
              <a:spcAft>
                <a:spcPts val="300"/>
              </a:spcAft>
            </a:pPr>
            <a:r>
              <a:rPr sz="1000" b="0">
                <a:solidFill>
                  <a:srgbClr val="004F9F"/>
                </a:solidFill>
                <a:latin typeface="에이투지체 6 SemiBold"/>
                <a:ea typeface="에이투지체 6 SemiBold"/>
                <a:cs typeface="에이투지체 6 SemiBold"/>
              </a:rPr>
              <a:t>이미 판매 중  </a:t>
            </a:r>
            <a:r>
              <a:rPr sz="1000" b="0">
                <a:solidFill>
                  <a:srgbClr val="5C5C5C"/>
                </a:solidFill>
                <a:latin typeface="에이투지체 4 Regular"/>
                <a:ea typeface="에이투지체 4 Regular"/>
                <a:cs typeface="에이투지체 4 Regular"/>
              </a:rPr>
              <a:t>FGO + 눈건강 루테인 세트 (리뷰 89)</a:t>
            </a:r>
          </a:p>
          <a:p>
            <a:pPr algn="l">
              <a:spcAft>
                <a:spcPts val="300"/>
              </a:spcAft>
            </a:pPr>
            <a:r>
              <a:rPr sz="1000" b="0">
                <a:solidFill>
                  <a:srgbClr val="004F9F"/>
                </a:solidFill>
                <a:latin typeface="에이투지체 6 SemiBold"/>
                <a:ea typeface="에이투지체 6 SemiBold"/>
                <a:cs typeface="에이투지체 6 SemiBold"/>
              </a:rPr>
              <a:t>운영  </a:t>
            </a:r>
            <a:r>
              <a:rPr sz="1000" b="0">
                <a:solidFill>
                  <a:srgbClr val="5C5C5C"/>
                </a:solidFill>
                <a:latin typeface="에이투지체 4 Regular"/>
                <a:ea typeface="에이투지체 4 Regular"/>
                <a:cs typeface="에이투지체 4 Regular"/>
              </a:rPr>
              <a:t>FGO 세트는 키성장 캠페인, 유아 세트는 데일리 캠페인</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지마켓은 광고 상품이 일부에 그치고</a:t>
            </a:r>
          </a:p>
          <a:p>
            <a:pPr>
              <a:lnSpc>
                <a:spcPts val="2600"/>
              </a:lnSpc>
            </a:pPr>
            <a:r>
              <a:rPr sz="1900" b="0">
                <a:solidFill>
                  <a:srgbClr val="222222"/>
                </a:solidFill>
                <a:latin typeface="에이투지체 8 ExtraBold"/>
                <a:ea typeface="에이투지체 8 ExtraBold"/>
                <a:cs typeface="에이투지체 8 ExtraBold"/>
              </a:rPr>
              <a:t>11번가는 광고 영역에 보이지 않습니다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dirty="0">
                <a:solidFill>
                  <a:srgbClr val="5C5C5C"/>
                </a:solidFill>
                <a:latin typeface="에이투지체 5 Medium"/>
                <a:ea typeface="에이투지체 5 Medium"/>
                <a:cs typeface="에이투지체 5 Medium"/>
              </a:rPr>
              <a:t>지마켓·11번가 </a:t>
            </a:r>
            <a:r>
              <a:rPr sz="1100" b="0" dirty="0" err="1">
                <a:solidFill>
                  <a:srgbClr val="5C5C5C"/>
                </a:solidFill>
                <a:latin typeface="에이투지체 5 Medium"/>
                <a:ea typeface="에이투지체 5 Medium"/>
                <a:cs typeface="에이투지체 5 Medium"/>
              </a:rPr>
              <a:t>현황</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진단</a:t>
            </a:r>
            <a:r>
              <a:rPr sz="1100" b="0" dirty="0">
                <a:solidFill>
                  <a:srgbClr val="5C5C5C"/>
                </a:solidFill>
                <a:latin typeface="에이투지체 5 Medium"/>
                <a:ea typeface="에이투지체 5 Medium"/>
                <a:cs typeface="에이투지체 5 Medium"/>
              </a:rPr>
              <a:t> ①</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지마켓은 광고 영역을 채우는 것이, 11번가는 공식 스토어 노출을 시작하는 것이 과제입니다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광고비: 11월 미디어믹스 제안안 / 지마켓: 2026.10.13 지마켓 PC 검색 화면 기준. 검색 결과는 새로고침, 사용자별로 달라짐 / 괄호는 리뷰 수 / 11번가: 2026.10.13 11번가 PC 검색 화면 기준. 검색 결과는 새로고침, 사용자별로 달라짐</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41</a:t>
            </a:r>
          </a:p>
        </p:txBody>
      </p:sp>
      <p:sp>
        <p:nvSpPr>
          <p:cNvPr id="11" name="Rounded Rectangle 10"/>
          <p:cNvSpPr/>
          <p:nvPr/>
        </p:nvSpPr>
        <p:spPr>
          <a:xfrm>
            <a:off x="548640" y="2103120"/>
            <a:ext cx="3447288" cy="1051560"/>
          </a:xfrm>
          <a:prstGeom prst="roundRect">
            <a:avLst>
              <a:gd name="adj" fmla="val 695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157984"/>
            <a:ext cx="3017520" cy="530352"/>
          </a:xfrm>
          <a:prstGeom prst="rect">
            <a:avLst/>
          </a:prstGeom>
          <a:noFill/>
        </p:spPr>
        <p:txBody>
          <a:bodyPr wrap="square" lIns="0" tIns="0" rIns="0" bIns="0" anchor="t">
            <a:spAutoFit/>
          </a:bodyPr>
          <a:lstStyle/>
          <a:p>
            <a:pPr algn="l"/>
            <a:r>
              <a:rPr sz="2800" b="0">
                <a:solidFill>
                  <a:srgbClr val="004F9F"/>
                </a:solidFill>
                <a:latin typeface="에이투지체 8 ExtraBold"/>
                <a:ea typeface="에이투지체 8 ExtraBold"/>
                <a:cs typeface="에이투지체 8 ExtraBold"/>
              </a:rPr>
              <a:t>광고 운영 중</a:t>
            </a:r>
          </a:p>
        </p:txBody>
      </p:sp>
      <p:sp>
        <p:nvSpPr>
          <p:cNvPr id="13" name="TextBox 12"/>
          <p:cNvSpPr txBox="1"/>
          <p:nvPr/>
        </p:nvSpPr>
        <p:spPr>
          <a:xfrm>
            <a:off x="777240" y="2724912"/>
            <a:ext cx="3017520" cy="320040"/>
          </a:xfrm>
          <a:prstGeom prst="rect">
            <a:avLst/>
          </a:prstGeom>
          <a:noFill/>
        </p:spPr>
        <p:txBody>
          <a:bodyPr wrap="square" lIns="0" tIns="0" rIns="0" bIns="0" anchor="t">
            <a:spAutoFit/>
          </a:bodyPr>
          <a:lstStyle/>
          <a:p>
            <a:pPr algn="l"/>
            <a:r>
              <a:rPr sz="1150" b="0">
                <a:solidFill>
                  <a:srgbClr val="5C5C5C"/>
                </a:solidFill>
                <a:latin typeface="에이투지체 6 SemiBold"/>
                <a:ea typeface="에이투지체 6 SemiBold"/>
                <a:cs typeface="에이투지체 6 SemiBold"/>
              </a:rPr>
              <a:t>지마켓 먼저 둘러보세요 (파워클릭)</a:t>
            </a:r>
          </a:p>
        </p:txBody>
      </p:sp>
      <p:sp>
        <p:nvSpPr>
          <p:cNvPr id="14" name="TextBox 13"/>
          <p:cNvSpPr txBox="1"/>
          <p:nvPr/>
        </p:nvSpPr>
        <p:spPr>
          <a:xfrm>
            <a:off x="548640"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광고 상품은 일부만 노출</a:t>
            </a:r>
          </a:p>
        </p:txBody>
      </p:sp>
      <p:sp>
        <p:nvSpPr>
          <p:cNvPr id="15" name="TextBox 14"/>
          <p:cNvSpPr txBox="1"/>
          <p:nvPr/>
        </p:nvSpPr>
        <p:spPr>
          <a:xfrm>
            <a:off x="548640"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미니샵에는 아이클타임 상품 다수</a:t>
            </a:r>
          </a:p>
          <a:p>
            <a:pPr algn="l"/>
            <a:r>
              <a:rPr sz="1300" b="0">
                <a:solidFill>
                  <a:srgbClr val="5C5C5C"/>
                </a:solidFill>
                <a:latin typeface="에이투지체 4 Regular"/>
                <a:ea typeface="에이투지체 4 Regular"/>
                <a:cs typeface="에이투지체 4 Regular"/>
              </a:rPr>
              <a:t>광고 영역은 FGO, 프로바이오키드 위주</a:t>
            </a:r>
          </a:p>
          <a:p>
            <a:pPr algn="l"/>
            <a:r>
              <a:rPr sz="1300" b="0">
                <a:solidFill>
                  <a:srgbClr val="5C5C5C"/>
                </a:solidFill>
                <a:latin typeface="에이투지체 4 Regular"/>
                <a:ea typeface="에이투지체 4 Regular"/>
                <a:cs typeface="에이투지체 4 Regular"/>
              </a:rPr>
              <a:t>브랜드 검색어 광고 자리에 경쟁사</a:t>
            </a:r>
          </a:p>
        </p:txBody>
      </p:sp>
      <p:cxnSp>
        <p:nvCxnSpPr>
          <p:cNvPr id="16" name="Connector 15"/>
          <p:cNvCxnSpPr/>
          <p:nvPr/>
        </p:nvCxnSpPr>
        <p:spPr>
          <a:xfrm>
            <a:off x="548640" y="4873752"/>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브랜드 검색어부터 채우기</a:t>
            </a:r>
          </a:p>
        </p:txBody>
      </p:sp>
      <p:sp>
        <p:nvSpPr>
          <p:cNvPr id="18" name="Rounded Rectangle 17"/>
          <p:cNvSpPr/>
          <p:nvPr/>
        </p:nvSpPr>
        <p:spPr>
          <a:xfrm>
            <a:off x="4361688" y="2103120"/>
            <a:ext cx="3447288" cy="1051560"/>
          </a:xfrm>
          <a:prstGeom prst="roundRect">
            <a:avLst>
              <a:gd name="adj" fmla="val 695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90288" y="2157984"/>
            <a:ext cx="3017520" cy="530352"/>
          </a:xfrm>
          <a:prstGeom prst="rect">
            <a:avLst/>
          </a:prstGeom>
          <a:noFill/>
        </p:spPr>
        <p:txBody>
          <a:bodyPr wrap="square" lIns="0" tIns="0" rIns="0" bIns="0" anchor="t">
            <a:spAutoFit/>
          </a:bodyPr>
          <a:lstStyle/>
          <a:p>
            <a:pPr algn="l"/>
            <a:r>
              <a:rPr sz="2800" b="0">
                <a:solidFill>
                  <a:srgbClr val="004F9F"/>
                </a:solidFill>
                <a:latin typeface="에이투지체 8 ExtraBold"/>
                <a:ea typeface="에이투지체 8 ExtraBold"/>
                <a:cs typeface="에이투지체 8 ExtraBold"/>
              </a:rPr>
              <a:t>리뷰 7</a:t>
            </a:r>
          </a:p>
        </p:txBody>
      </p:sp>
      <p:sp>
        <p:nvSpPr>
          <p:cNvPr id="20" name="TextBox 19"/>
          <p:cNvSpPr txBox="1"/>
          <p:nvPr/>
        </p:nvSpPr>
        <p:spPr>
          <a:xfrm>
            <a:off x="4590288" y="2724912"/>
            <a:ext cx="3017520" cy="320040"/>
          </a:xfrm>
          <a:prstGeom prst="rect">
            <a:avLst/>
          </a:prstGeom>
          <a:noFill/>
        </p:spPr>
        <p:txBody>
          <a:bodyPr wrap="square" lIns="0" tIns="0" rIns="0" bIns="0" anchor="t">
            <a:spAutoFit/>
          </a:bodyPr>
          <a:lstStyle/>
          <a:p>
            <a:pPr algn="l"/>
            <a:r>
              <a:rPr sz="1150" b="0">
                <a:solidFill>
                  <a:srgbClr val="5C5C5C"/>
                </a:solidFill>
                <a:latin typeface="에이투지체 6 SemiBold"/>
                <a:ea typeface="에이투지체 6 SemiBold"/>
                <a:cs typeface="에이투지체 6 SemiBold"/>
              </a:rPr>
              <a:t>지마켓 FGO 1박스 리뷰</a:t>
            </a:r>
          </a:p>
        </p:txBody>
      </p:sp>
      <p:sp>
        <p:nvSpPr>
          <p:cNvPr id="21" name="TextBox 20"/>
          <p:cNvSpPr txBox="1"/>
          <p:nvPr/>
        </p:nvSpPr>
        <p:spPr>
          <a:xfrm>
            <a:off x="4361688"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경쟁 상품과 리뷰 격차</a:t>
            </a:r>
          </a:p>
        </p:txBody>
      </p:sp>
      <p:sp>
        <p:nvSpPr>
          <p:cNvPr id="22" name="TextBox 21"/>
          <p:cNvSpPr txBox="1"/>
          <p:nvPr/>
        </p:nvSpPr>
        <p:spPr>
          <a:xfrm>
            <a:off x="4361688"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키움정 1개월 리뷰 102, 구매 5,161</a:t>
            </a:r>
          </a:p>
          <a:p>
            <a:pPr algn="l"/>
            <a:r>
              <a:rPr sz="1300" b="0">
                <a:solidFill>
                  <a:srgbClr val="5C5C5C"/>
                </a:solidFill>
                <a:latin typeface="에이투지체 4 Regular"/>
                <a:ea typeface="에이투지체 4 Regular"/>
                <a:cs typeface="에이투지체 4 Regular"/>
              </a:rPr>
              <a:t>그레인온 카무트 리뷰 14,274</a:t>
            </a:r>
          </a:p>
          <a:p>
            <a:pPr algn="l"/>
            <a:r>
              <a:rPr sz="1300" b="0">
                <a:solidFill>
                  <a:srgbClr val="5C5C5C"/>
                </a:solidFill>
                <a:latin typeface="에이투지체 4 Regular"/>
                <a:ea typeface="에이투지체 4 Regular"/>
                <a:cs typeface="에이투지체 4 Regular"/>
              </a:rPr>
              <a:t>슬림웨이는 리뷰 없이 구매 8</a:t>
            </a:r>
          </a:p>
        </p:txBody>
      </p:sp>
      <p:cxnSp>
        <p:nvCxnSpPr>
          <p:cNvPr id="23" name="Connector 22"/>
          <p:cNvCxnSpPr/>
          <p:nvPr/>
        </p:nvCxnSpPr>
        <p:spPr>
          <a:xfrm>
            <a:off x="4361688" y="4873752"/>
            <a:ext cx="3447287"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361688"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경쟁 상품과 리뷰 수 차이가 큼</a:t>
            </a:r>
          </a:p>
        </p:txBody>
      </p:sp>
      <p:sp>
        <p:nvSpPr>
          <p:cNvPr id="25" name="Rounded Rectangle 24"/>
          <p:cNvSpPr/>
          <p:nvPr/>
        </p:nvSpPr>
        <p:spPr>
          <a:xfrm>
            <a:off x="8174736" y="2103120"/>
            <a:ext cx="3447288" cy="1051560"/>
          </a:xfrm>
          <a:prstGeom prst="roundRect">
            <a:avLst>
              <a:gd name="adj" fmla="val 6956"/>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03336" y="2157984"/>
            <a:ext cx="3017520" cy="530352"/>
          </a:xfrm>
          <a:prstGeom prst="rect">
            <a:avLst/>
          </a:prstGeom>
          <a:noFill/>
        </p:spPr>
        <p:txBody>
          <a:bodyPr wrap="square" lIns="0" tIns="0" rIns="0" bIns="0" anchor="t">
            <a:spAutoFit/>
          </a:bodyPr>
          <a:lstStyle/>
          <a:p>
            <a:pPr algn="l"/>
            <a:r>
              <a:rPr sz="2800" b="0">
                <a:solidFill>
                  <a:srgbClr val="FFFFFF"/>
                </a:solidFill>
                <a:latin typeface="에이투지체 8 ExtraBold"/>
                <a:ea typeface="에이투지체 8 ExtraBold"/>
                <a:cs typeface="에이투지체 8 ExtraBold"/>
              </a:rPr>
              <a:t>미노출</a:t>
            </a:r>
          </a:p>
        </p:txBody>
      </p:sp>
      <p:sp>
        <p:nvSpPr>
          <p:cNvPr id="27" name="TextBox 26"/>
          <p:cNvSpPr txBox="1"/>
          <p:nvPr/>
        </p:nvSpPr>
        <p:spPr>
          <a:xfrm>
            <a:off x="8403336" y="2724912"/>
            <a:ext cx="3017520" cy="320040"/>
          </a:xfrm>
          <a:prstGeom prst="rect">
            <a:avLst/>
          </a:prstGeom>
          <a:noFill/>
        </p:spPr>
        <p:txBody>
          <a:bodyPr wrap="square" lIns="0" tIns="0" rIns="0" bIns="0" anchor="t">
            <a:spAutoFit/>
          </a:bodyPr>
          <a:lstStyle/>
          <a:p>
            <a:pPr algn="l"/>
            <a:r>
              <a:rPr sz="1150" b="0">
                <a:solidFill>
                  <a:srgbClr val="C9DAEE"/>
                </a:solidFill>
                <a:latin typeface="에이투지체 6 SemiBold"/>
                <a:ea typeface="에이투지체 6 SemiBold"/>
                <a:cs typeface="에이투지체 6 SemiBold"/>
              </a:rPr>
              <a:t>11번가 주요 검색어 3개</a:t>
            </a:r>
          </a:p>
        </p:txBody>
      </p:sp>
      <p:sp>
        <p:nvSpPr>
          <p:cNvPr id="28" name="TextBox 27"/>
          <p:cNvSpPr txBox="1"/>
          <p:nvPr/>
        </p:nvSpPr>
        <p:spPr>
          <a:xfrm>
            <a:off x="8174736"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11번가 광고 자리는 경쟁사</a:t>
            </a:r>
          </a:p>
        </p:txBody>
      </p:sp>
      <p:sp>
        <p:nvSpPr>
          <p:cNvPr id="29" name="TextBox 28"/>
          <p:cNvSpPr txBox="1"/>
          <p:nvPr/>
        </p:nvSpPr>
        <p:spPr>
          <a:xfrm>
            <a:off x="8174736"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키성장영양제, 카무트효소 광고 전부 경쟁사</a:t>
            </a:r>
          </a:p>
          <a:p>
            <a:pPr algn="l"/>
            <a:r>
              <a:rPr sz="1300" b="0">
                <a:solidFill>
                  <a:srgbClr val="5C5C5C"/>
                </a:solidFill>
                <a:latin typeface="에이투지체 4 Regular"/>
                <a:ea typeface="에이투지체 4 Regular"/>
                <a:cs typeface="에이투지체 4 Regular"/>
              </a:rPr>
              <a:t>아이클타임 광고 자리는 리셀러</a:t>
            </a:r>
          </a:p>
          <a:p>
            <a:pPr algn="l"/>
            <a:r>
              <a:rPr sz="1300" b="0">
                <a:solidFill>
                  <a:srgbClr val="5C5C5C"/>
                </a:solidFill>
                <a:latin typeface="에이투지체 4 Regular"/>
                <a:ea typeface="에이투지체 4 Regular"/>
                <a:cs typeface="에이투지체 4 Regular"/>
              </a:rPr>
              <a:t>공식 스토어는 신규, 리뷰 없음</a:t>
            </a:r>
          </a:p>
        </p:txBody>
      </p:sp>
      <p:cxnSp>
        <p:nvCxnSpPr>
          <p:cNvPr id="30" name="Connector 29"/>
          <p:cNvCxnSpPr/>
          <p:nvPr/>
        </p:nvCxnSpPr>
        <p:spPr>
          <a:xfrm>
            <a:off x="8174736" y="4873752"/>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4736"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공식 스토어 기반부터</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lang="ko-KR" altLang="en-US" sz="1900" dirty="0">
                <a:solidFill>
                  <a:srgbClr val="FFFFFF"/>
                </a:solidFill>
                <a:highlight>
                  <a:srgbClr val="0000FF"/>
                </a:highlight>
                <a:latin typeface="에이투지체 8 ExtraBold"/>
                <a:ea typeface="에이투지체 8 ExtraBold"/>
                <a:cs typeface="에이투지체 8 ExtraBold"/>
              </a:rPr>
              <a:t>자사</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브랜드</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검색어의</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광고</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영역</a:t>
            </a:r>
            <a:r>
              <a:rPr sz="1900" b="0" dirty="0" err="1">
                <a:solidFill>
                  <a:srgbClr val="222222"/>
                </a:solidFill>
                <a:latin typeface="에이투지체 8 ExtraBold"/>
                <a:ea typeface="에이투지체 8 ExtraBold"/>
                <a:cs typeface="에이투지체 8 ExtraBold"/>
              </a:rPr>
              <a:t>에</a:t>
            </a:r>
            <a:endParaRPr sz="1900" b="0" dirty="0">
              <a:solidFill>
                <a:srgbClr val="222222"/>
              </a:solidFill>
              <a:latin typeface="에이투지체 8 ExtraBold"/>
              <a:ea typeface="에이투지체 8 ExtraBold"/>
              <a:cs typeface="에이투지체 8 ExtraBold"/>
            </a:endParaRPr>
          </a:p>
          <a:p>
            <a:pPr>
              <a:lnSpc>
                <a:spcPts val="2600"/>
              </a:lnSpc>
            </a:pPr>
            <a:r>
              <a:rPr sz="1900" b="0" dirty="0" err="1">
                <a:solidFill>
                  <a:srgbClr val="222222"/>
                </a:solidFill>
                <a:latin typeface="에이투지체 8 ExtraBold"/>
                <a:ea typeface="에이투지체 8 ExtraBold"/>
                <a:cs typeface="에이투지체 8 ExtraBold"/>
              </a:rPr>
              <a:t>경쟁사</a:t>
            </a:r>
            <a:r>
              <a:rPr sz="1900" b="0" dirty="0">
                <a:solidFill>
                  <a:srgbClr val="222222"/>
                </a:solidFill>
                <a:latin typeface="에이투지체 8 ExtraBold"/>
                <a:ea typeface="에이투지체 8 ExtraBold"/>
                <a:cs typeface="에이투지체 8 ExtraBold"/>
              </a:rPr>
              <a:t> </a:t>
            </a:r>
            <a:r>
              <a:rPr sz="1900" b="0" dirty="0" err="1">
                <a:solidFill>
                  <a:srgbClr val="222222"/>
                </a:solidFill>
                <a:latin typeface="에이투지체 8 ExtraBold"/>
                <a:ea typeface="에이투지체 8 ExtraBold"/>
                <a:cs typeface="에이투지체 8 ExtraBold"/>
              </a:rPr>
              <a:t>상품이</a:t>
            </a:r>
            <a:r>
              <a:rPr sz="1900" b="0" dirty="0">
                <a:solidFill>
                  <a:srgbClr val="222222"/>
                </a:solidFill>
                <a:latin typeface="에이투지체 8 ExtraBold"/>
                <a:ea typeface="에이투지체 8 ExtraBold"/>
                <a:cs typeface="에이투지체 8 ExtraBold"/>
              </a:rPr>
              <a:t> </a:t>
            </a:r>
            <a:r>
              <a:rPr sz="1900" b="0" dirty="0" err="1">
                <a:solidFill>
                  <a:srgbClr val="222222"/>
                </a:solidFill>
                <a:latin typeface="에이투지체 8 ExtraBold"/>
                <a:ea typeface="에이투지체 8 ExtraBold"/>
                <a:cs typeface="에이투지체 8 ExtraBold"/>
              </a:rPr>
              <a:t>함께</a:t>
            </a:r>
            <a:r>
              <a:rPr sz="1900" b="0" dirty="0">
                <a:solidFill>
                  <a:srgbClr val="222222"/>
                </a:solidFill>
                <a:latin typeface="에이투지체 8 ExtraBold"/>
                <a:ea typeface="에이투지체 8 ExtraBold"/>
                <a:cs typeface="에이투지체 8 ExtraBold"/>
              </a:rPr>
              <a:t> </a:t>
            </a:r>
            <a:r>
              <a:rPr sz="1900" b="0" dirty="0" err="1">
                <a:solidFill>
                  <a:srgbClr val="222222"/>
                </a:solidFill>
                <a:latin typeface="에이투지체 8 ExtraBold"/>
                <a:ea typeface="에이투지체 8 ExtraBold"/>
                <a:cs typeface="에이투지체 8 ExtraBold"/>
              </a:rPr>
              <a:t>노출되고</a:t>
            </a:r>
            <a:r>
              <a:rPr sz="1900" b="0" dirty="0">
                <a:solidFill>
                  <a:srgbClr val="222222"/>
                </a:solidFill>
                <a:latin typeface="에이투지체 8 ExtraBold"/>
                <a:ea typeface="에이투지체 8 ExtraBold"/>
                <a:cs typeface="에이투지체 8 ExtraBold"/>
              </a:rPr>
              <a:t> </a:t>
            </a:r>
            <a:r>
              <a:rPr sz="1900" b="0" dirty="0" err="1">
                <a:solidFill>
                  <a:srgbClr val="222222"/>
                </a:solidFill>
                <a:latin typeface="에이투지체 8 ExtraBold"/>
                <a:ea typeface="에이투지체 8 ExtraBold"/>
                <a:cs typeface="에이투지체 8 ExtraBold"/>
              </a:rPr>
              <a:t>있습니다</a:t>
            </a:r>
            <a:endParaRPr sz="1900" b="0" dirty="0">
              <a:solidFill>
                <a:srgbClr val="222222"/>
              </a:solidFill>
              <a:latin typeface="에이투지체 8 ExtraBold"/>
              <a:ea typeface="에이투지체 8 ExtraBold"/>
              <a:cs typeface="에이투지체 8 ExtraBold"/>
            </a:endParaRP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a:solidFill>
                  <a:srgbClr val="5C5C5C"/>
                </a:solidFill>
                <a:latin typeface="에이투지체 5 Medium"/>
                <a:ea typeface="에이투지체 5 Medium"/>
                <a:cs typeface="에이투지체 5 Medium"/>
              </a:rPr>
              <a:t>지마켓 현황 진단 ②  브랜드 검색어</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브랜드 검색어는 전용 그룹에 판매 상품을 모두 등록해 광고 영역까지 채우고, 입찰가는 낮게 운영하겠습니다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지마켓 PC 검색 화면 기준. 검색 결과는 새로고침, 사용자별로 달라짐 / 괄호는 리뷰 수</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42</a:t>
            </a:r>
          </a:p>
        </p:txBody>
      </p:sp>
      <p:sp>
        <p:nvSpPr>
          <p:cNvPr id="11" name="TextBox 10"/>
          <p:cNvSpPr txBox="1"/>
          <p:nvPr/>
        </p:nvSpPr>
        <p:spPr>
          <a:xfrm>
            <a:off x="548640" y="1993392"/>
            <a:ext cx="5394960" cy="192360"/>
          </a:xfrm>
          <a:prstGeom prst="rect">
            <a:avLst/>
          </a:prstGeom>
          <a:noFill/>
        </p:spPr>
        <p:txBody>
          <a:bodyPr wrap="square" lIns="0" tIns="0" rIns="0" bIns="0" anchor="t">
            <a:spAutoFit/>
          </a:bodyPr>
          <a:lstStyle/>
          <a:p>
            <a:pPr algn="l"/>
            <a:r>
              <a:rPr sz="1250" b="0" dirty="0">
                <a:solidFill>
                  <a:srgbClr val="004F9F"/>
                </a:solidFill>
                <a:latin typeface="에이투지체 8 ExtraBold"/>
                <a:ea typeface="에이투지체 8 ExtraBold"/>
                <a:cs typeface="에이투지체 8 ExtraBold"/>
              </a:rPr>
              <a:t>"</a:t>
            </a:r>
            <a:r>
              <a:rPr sz="1250" b="0" dirty="0" err="1">
                <a:solidFill>
                  <a:srgbClr val="004F9F"/>
                </a:solidFill>
                <a:latin typeface="에이투지체 8 ExtraBold"/>
                <a:ea typeface="에이투지체 8 ExtraBold"/>
                <a:cs typeface="에이투지체 8 ExtraBold"/>
              </a:rPr>
              <a:t>아이클타임</a:t>
            </a:r>
            <a:r>
              <a:rPr sz="1250" b="0" dirty="0">
                <a:solidFill>
                  <a:srgbClr val="004F9F"/>
                </a:solidFill>
                <a:latin typeface="에이투지체 8 ExtraBold"/>
                <a:ea typeface="에이투지체 8 ExtraBold"/>
                <a:cs typeface="에이투지체 8 ExtraBold"/>
              </a:rPr>
              <a:t>"  </a:t>
            </a:r>
            <a:r>
              <a:rPr lang="ko-KR" altLang="en-US" sz="1250" dirty="0">
                <a:solidFill>
                  <a:srgbClr val="222222"/>
                </a:solidFill>
                <a:latin typeface="에이투지체 6 SemiBold"/>
                <a:ea typeface="에이투지체 6 SemiBold"/>
                <a:cs typeface="에이투지체 8 ExtraBold"/>
              </a:rPr>
              <a:t>자사</a:t>
            </a:r>
            <a:r>
              <a:rPr sz="1250" b="0" dirty="0">
                <a:solidFill>
                  <a:srgbClr val="222222"/>
                </a:solidFill>
                <a:latin typeface="에이투지체 6 SemiBold"/>
                <a:ea typeface="에이투지체 6 SemiBold"/>
                <a:cs typeface="에이투지체 6 SemiBold"/>
              </a:rPr>
              <a:t> </a:t>
            </a:r>
            <a:r>
              <a:rPr lang="ko-KR" altLang="en-US" sz="1250" b="0" dirty="0">
                <a:solidFill>
                  <a:srgbClr val="222222"/>
                </a:solidFill>
                <a:latin typeface="에이투지체 6 SemiBold"/>
                <a:ea typeface="에이투지체 6 SemiBold"/>
                <a:cs typeface="에이투지체 6 SemiBold"/>
              </a:rPr>
              <a:t>브랜드 </a:t>
            </a:r>
            <a:r>
              <a:rPr sz="1250" b="0" dirty="0" err="1">
                <a:solidFill>
                  <a:srgbClr val="222222"/>
                </a:solidFill>
                <a:latin typeface="에이투지체 6 SemiBold"/>
                <a:ea typeface="에이투지체 6 SemiBold"/>
                <a:cs typeface="에이투지체 6 SemiBold"/>
              </a:rPr>
              <a:t>검색어</a:t>
            </a:r>
            <a:endParaRPr sz="1250" b="0" dirty="0">
              <a:solidFill>
                <a:srgbClr val="222222"/>
              </a:solidFill>
              <a:latin typeface="에이투지체 6 SemiBold"/>
              <a:ea typeface="에이투지체 6 SemiBold"/>
              <a:cs typeface="에이투지체 6 SemiBold"/>
            </a:endParaRPr>
          </a:p>
        </p:txBody>
      </p:sp>
      <p:pic>
        <p:nvPicPr>
          <p:cNvPr id="12" name="Picture 11" descr="g_aicle.png"/>
          <p:cNvPicPr>
            <a:picLocks noChangeAspect="1"/>
          </p:cNvPicPr>
          <p:nvPr/>
        </p:nvPicPr>
        <p:blipFill>
          <a:blip r:embed="rId2"/>
          <a:stretch>
            <a:fillRect/>
          </a:stretch>
        </p:blipFill>
        <p:spPr>
          <a:xfrm>
            <a:off x="548640" y="2331720"/>
            <a:ext cx="3246120" cy="2434590"/>
          </a:xfrm>
          <a:prstGeom prst="rect">
            <a:avLst/>
          </a:prstGeom>
          <a:ln w="9525">
            <a:solidFill>
              <a:srgbClr val="DDDDDD"/>
            </a:solidFill>
          </a:ln>
        </p:spPr>
      </p:pic>
      <p:sp>
        <p:nvSpPr>
          <p:cNvPr id="13" name="TextBox 12"/>
          <p:cNvSpPr txBox="1"/>
          <p:nvPr/>
        </p:nvSpPr>
        <p:spPr>
          <a:xfrm>
            <a:off x="3959352" y="2377440"/>
            <a:ext cx="1965960" cy="3017520"/>
          </a:xfrm>
          <a:prstGeom prst="rect">
            <a:avLst/>
          </a:prstGeom>
          <a:noFill/>
        </p:spPr>
        <p:txBody>
          <a:bodyPr wrap="square" lIns="0" tIns="0" rIns="0" bIns="0" anchor="t">
            <a:spAutoFit/>
          </a:bodyPr>
          <a:lstStyle/>
          <a:p>
            <a:pPr algn="l">
              <a:spcAft>
                <a:spcPts val="700"/>
              </a:spcAft>
            </a:pPr>
            <a:r>
              <a:rPr sz="1050" b="0">
                <a:solidFill>
                  <a:srgbClr val="004F9F"/>
                </a:solidFill>
                <a:latin typeface="에이투지체 6 SemiBold"/>
                <a:ea typeface="에이투지체 6 SemiBold"/>
                <a:cs typeface="에이투지체 6 SemiBold"/>
              </a:rPr>
              <a:t>영역  </a:t>
            </a:r>
            <a:r>
              <a:rPr sz="1050" b="0">
                <a:solidFill>
                  <a:srgbClr val="222222"/>
                </a:solidFill>
                <a:latin typeface="에이투지체 4 Regular"/>
                <a:ea typeface="에이투지체 4 Regular"/>
                <a:cs typeface="에이투지체 4 Regular"/>
              </a:rPr>
              <a:t>먼저 둘러보세요 (파워클릭)</a:t>
            </a:r>
          </a:p>
          <a:p>
            <a:pPr algn="l">
              <a:spcAft>
                <a:spcPts val="700"/>
              </a:spcAft>
            </a:pPr>
            <a:r>
              <a:rPr sz="1050" b="0">
                <a:solidFill>
                  <a:srgbClr val="004F9F"/>
                </a:solidFill>
                <a:latin typeface="에이투지체 6 SemiBold"/>
                <a:ea typeface="에이투지체 6 SemiBold"/>
                <a:cs typeface="에이투지체 6 SemiBold"/>
              </a:rPr>
              <a:t>두드림  </a:t>
            </a:r>
            <a:r>
              <a:rPr sz="1050" b="0">
                <a:solidFill>
                  <a:srgbClr val="222222"/>
                </a:solidFill>
                <a:latin typeface="에이투지체 4 Regular"/>
                <a:ea typeface="에이투지체 4 Regular"/>
                <a:cs typeface="에이투지체 4 Regular"/>
              </a:rPr>
              <a:t>1~3번째, FGO 5박스 76.9만 원, 4박스, 프로바이오키드</a:t>
            </a:r>
          </a:p>
          <a:p>
            <a:pPr algn="l">
              <a:spcAft>
                <a:spcPts val="700"/>
              </a:spcAft>
            </a:pPr>
            <a:r>
              <a:rPr sz="1050" b="0">
                <a:solidFill>
                  <a:srgbClr val="004F9F"/>
                </a:solidFill>
                <a:latin typeface="에이투지체 6 SemiBold"/>
                <a:ea typeface="에이투지체 6 SemiBold"/>
                <a:cs typeface="에이투지체 6 SemiBold"/>
              </a:rPr>
              <a:t>경쟁사  </a:t>
            </a:r>
            <a:r>
              <a:rPr sz="1050" b="0">
                <a:solidFill>
                  <a:srgbClr val="222222"/>
                </a:solidFill>
                <a:latin typeface="에이투지체 4 Regular"/>
                <a:ea typeface="에이투지체 4 Regular"/>
                <a:cs typeface="에이투지체 4 Regular"/>
              </a:rPr>
              <a:t>4번째 뉴트리원 루테인 (362), 아래 녹십초 비타민C (1,215)</a:t>
            </a:r>
          </a:p>
          <a:p>
            <a:pPr algn="l">
              <a:spcAft>
                <a:spcPts val="700"/>
              </a:spcAft>
            </a:pPr>
            <a:r>
              <a:rPr sz="1050" b="0">
                <a:solidFill>
                  <a:srgbClr val="004F9F"/>
                </a:solidFill>
                <a:latin typeface="에이투지체 6 SemiBold"/>
                <a:ea typeface="에이투지체 6 SemiBold"/>
                <a:cs typeface="에이투지체 6 SemiBold"/>
              </a:rPr>
              <a:t>확인  </a:t>
            </a:r>
            <a:r>
              <a:rPr sz="1050" b="0">
                <a:solidFill>
                  <a:srgbClr val="222222"/>
                </a:solidFill>
                <a:latin typeface="에이투지체 4 Regular"/>
                <a:ea typeface="에이투지체 4 Regular"/>
                <a:cs typeface="에이투지체 4 Regular"/>
              </a:rPr>
              <a:t>첫 자리가 1박스가 아닌 5박스 구성</a:t>
            </a:r>
          </a:p>
        </p:txBody>
      </p:sp>
      <p:sp>
        <p:nvSpPr>
          <p:cNvPr id="14" name="TextBox 13"/>
          <p:cNvSpPr txBox="1"/>
          <p:nvPr/>
        </p:nvSpPr>
        <p:spPr>
          <a:xfrm>
            <a:off x="6172200" y="1993392"/>
            <a:ext cx="53949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"키움정"  </a:t>
            </a:r>
            <a:r>
              <a:rPr sz="1250" b="0">
                <a:solidFill>
                  <a:srgbClr val="222222"/>
                </a:solidFill>
                <a:latin typeface="에이투지체 6 SemiBold"/>
                <a:ea typeface="에이투지체 6 SemiBold"/>
                <a:cs typeface="에이투지체 6 SemiBold"/>
              </a:rPr>
              <a:t>경쟁사 브랜드 검색어</a:t>
            </a:r>
          </a:p>
        </p:txBody>
      </p:sp>
      <p:pic>
        <p:nvPicPr>
          <p:cNvPr id="15" name="Picture 14" descr="g_kium.png"/>
          <p:cNvPicPr>
            <a:picLocks noChangeAspect="1"/>
          </p:cNvPicPr>
          <p:nvPr/>
        </p:nvPicPr>
        <p:blipFill>
          <a:blip r:embed="rId3"/>
          <a:stretch>
            <a:fillRect/>
          </a:stretch>
        </p:blipFill>
        <p:spPr>
          <a:xfrm>
            <a:off x="6172200" y="2331720"/>
            <a:ext cx="3246120" cy="2460338"/>
          </a:xfrm>
          <a:prstGeom prst="rect">
            <a:avLst/>
          </a:prstGeom>
          <a:ln w="9525">
            <a:solidFill>
              <a:srgbClr val="DDDDDD"/>
            </a:solidFill>
          </a:ln>
        </p:spPr>
      </p:pic>
      <p:sp>
        <p:nvSpPr>
          <p:cNvPr id="16" name="TextBox 15"/>
          <p:cNvSpPr txBox="1"/>
          <p:nvPr/>
        </p:nvSpPr>
        <p:spPr>
          <a:xfrm>
            <a:off x="9582912" y="2377440"/>
            <a:ext cx="2029968" cy="3017520"/>
          </a:xfrm>
          <a:prstGeom prst="rect">
            <a:avLst/>
          </a:prstGeom>
          <a:noFill/>
        </p:spPr>
        <p:txBody>
          <a:bodyPr wrap="square" lIns="0" tIns="0" rIns="0" bIns="0" anchor="t">
            <a:spAutoFit/>
          </a:bodyPr>
          <a:lstStyle/>
          <a:p>
            <a:pPr algn="l">
              <a:spcAft>
                <a:spcPts val="700"/>
              </a:spcAft>
            </a:pPr>
            <a:r>
              <a:rPr sz="1050" b="0">
                <a:solidFill>
                  <a:srgbClr val="004F9F"/>
                </a:solidFill>
                <a:latin typeface="에이투지체 6 SemiBold"/>
                <a:ea typeface="에이투지체 6 SemiBold"/>
                <a:cs typeface="에이투지체 6 SemiBold"/>
              </a:rPr>
              <a:t>광고  </a:t>
            </a:r>
            <a:r>
              <a:rPr sz="1050" b="0">
                <a:solidFill>
                  <a:srgbClr val="222222"/>
                </a:solidFill>
                <a:latin typeface="에이투지체 4 Regular"/>
                <a:ea typeface="에이투지체 4 Regular"/>
                <a:cs typeface="에이투지체 4 Regular"/>
              </a:rPr>
              <a:t>먼저 둘러보세요 5개 모두 키움정</a:t>
            </a:r>
          </a:p>
          <a:p>
            <a:pPr algn="l">
              <a:spcAft>
                <a:spcPts val="700"/>
              </a:spcAft>
            </a:pPr>
            <a:r>
              <a:rPr sz="1050" b="0">
                <a:solidFill>
                  <a:srgbClr val="004F9F"/>
                </a:solidFill>
                <a:latin typeface="에이투지체 6 SemiBold"/>
                <a:ea typeface="에이투지체 6 SemiBold"/>
                <a:cs typeface="에이투지체 6 SemiBold"/>
              </a:rPr>
              <a:t>대표  </a:t>
            </a:r>
            <a:r>
              <a:rPr sz="1050" b="0">
                <a:solidFill>
                  <a:srgbClr val="222222"/>
                </a:solidFill>
                <a:latin typeface="에이투지체 4 Regular"/>
                <a:ea typeface="에이투지체 4 Regular"/>
                <a:cs typeface="에이투지체 4 Regular"/>
              </a:rPr>
              <a:t>1개월 53,000원 (102), 구매 5,161</a:t>
            </a:r>
          </a:p>
          <a:p>
            <a:pPr algn="l">
              <a:spcAft>
                <a:spcPts val="700"/>
              </a:spcAft>
            </a:pPr>
            <a:r>
              <a:rPr sz="1050" b="0">
                <a:solidFill>
                  <a:srgbClr val="004F9F"/>
                </a:solidFill>
                <a:latin typeface="에이투지체 6 SemiBold"/>
                <a:ea typeface="에이투지체 6 SemiBold"/>
                <a:cs typeface="에이투지체 6 SemiBold"/>
              </a:rPr>
              <a:t>두드림  </a:t>
            </a:r>
            <a:r>
              <a:rPr sz="1050" b="0">
                <a:solidFill>
                  <a:srgbClr val="222222"/>
                </a:solidFill>
                <a:latin typeface="에이투지체 4 Regular"/>
                <a:ea typeface="에이투지체 4 Regular"/>
                <a:cs typeface="에이투지체 4 Regular"/>
              </a:rPr>
              <a:t>노출 없음</a:t>
            </a:r>
          </a:p>
          <a:p>
            <a:pPr algn="l">
              <a:spcAft>
                <a:spcPts val="700"/>
              </a:spcAft>
            </a:pPr>
            <a:r>
              <a:rPr sz="1050" b="0">
                <a:solidFill>
                  <a:srgbClr val="004F9F"/>
                </a:solidFill>
                <a:latin typeface="에이투지체 6 SemiBold"/>
                <a:ea typeface="에이투지체 6 SemiBold"/>
                <a:cs typeface="에이투지체 6 SemiBold"/>
              </a:rPr>
              <a:t>확인  </a:t>
            </a:r>
            <a:r>
              <a:rPr sz="1050" b="0">
                <a:solidFill>
                  <a:srgbClr val="222222"/>
                </a:solidFill>
                <a:latin typeface="에이투지체 4 Regular"/>
                <a:ea typeface="에이투지체 4 Regular"/>
                <a:cs typeface="에이투지체 4 Regular"/>
              </a:rPr>
              <a:t>경쟁사는 자사 검색어 광고 자리를 모두 채움</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광고 영역에는 FGO와 프로바이오키드 위주로 노출되고</a:t>
            </a:r>
          </a:p>
          <a:p>
            <a:pPr>
              <a:lnSpc>
                <a:spcPts val="2600"/>
              </a:lnSpc>
            </a:pPr>
            <a:r>
              <a:rPr sz="1900" b="0">
                <a:solidFill>
                  <a:srgbClr val="222222"/>
                </a:solidFill>
                <a:latin typeface="에이투지체 8 ExtraBold"/>
                <a:ea typeface="에이투지체 8 ExtraBold"/>
                <a:cs typeface="에이투지체 8 ExtraBold"/>
              </a:rPr>
              <a:t>미니샵의 다른 아이클타임 상품은 대부분 빠져 있습니다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a:solidFill>
                  <a:srgbClr val="5C5C5C"/>
                </a:solidFill>
                <a:latin typeface="에이투지체 5 Medium"/>
                <a:ea typeface="에이투지체 5 Medium"/>
                <a:cs typeface="에이투지체 5 Medium"/>
              </a:rPr>
              <a:t>지마켓 현황 진단 ③  판매 상품과 광고 상품</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판매 상품을 브랜드 검색어 그룹에 모두 등록해 광고 자리를 채우고, 낮은 입찰가로 ROAS를 높이겠습니다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지마켓 (주)두드림 미니샵 내 "아이클타임" 검색 결과, 지마켓 "아이클타임" 검색 결과 기준</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43</a:t>
            </a:r>
          </a:p>
        </p:txBody>
      </p:sp>
      <p:sp>
        <p:nvSpPr>
          <p:cNvPr id="11" name="TextBox 10"/>
          <p:cNvSpPr txBox="1"/>
          <p:nvPr/>
        </p:nvSpPr>
        <p:spPr>
          <a:xfrm>
            <a:off x="548640" y="1993392"/>
            <a:ext cx="640080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지마켓 미니샵  </a:t>
            </a:r>
            <a:r>
              <a:rPr sz="1250" b="0">
                <a:solidFill>
                  <a:srgbClr val="222222"/>
                </a:solidFill>
                <a:latin typeface="에이투지체 6 SemiBold"/>
                <a:ea typeface="에이투지체 6 SemiBold"/>
                <a:cs typeface="에이투지체 6 SemiBold"/>
              </a:rPr>
              <a:t>(주)두드림 "아이클타임" 검색</a:t>
            </a:r>
          </a:p>
        </p:txBody>
      </p:sp>
      <p:pic>
        <p:nvPicPr>
          <p:cNvPr id="12" name="Picture 11" descr="g_mini.png"/>
          <p:cNvPicPr>
            <a:picLocks noChangeAspect="1"/>
          </p:cNvPicPr>
          <p:nvPr/>
        </p:nvPicPr>
        <p:blipFill>
          <a:blip r:embed="rId2"/>
          <a:stretch>
            <a:fillRect/>
          </a:stretch>
        </p:blipFill>
        <p:spPr>
          <a:xfrm>
            <a:off x="548640" y="2331720"/>
            <a:ext cx="6400800" cy="2901297"/>
          </a:xfrm>
          <a:prstGeom prst="rect">
            <a:avLst/>
          </a:prstGeom>
          <a:ln w="9525">
            <a:solidFill>
              <a:srgbClr val="DDDDDD"/>
            </a:solidFill>
          </a:ln>
        </p:spPr>
      </p:pic>
      <p:sp>
        <p:nvSpPr>
          <p:cNvPr id="13" name="Rounded Rectangle 12"/>
          <p:cNvSpPr/>
          <p:nvPr/>
        </p:nvSpPr>
        <p:spPr>
          <a:xfrm>
            <a:off x="7223760" y="2331720"/>
            <a:ext cx="4389120" cy="2971800"/>
          </a:xfrm>
          <a:prstGeom prst="roundRect">
            <a:avLst>
              <a:gd name="adj" fmla="val 2461"/>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452360" y="2450592"/>
            <a:ext cx="3931920" cy="320040"/>
          </a:xfrm>
          <a:prstGeom prst="rect">
            <a:avLst/>
          </a:prstGeom>
          <a:noFill/>
        </p:spPr>
        <p:txBody>
          <a:bodyPr wrap="square" lIns="0" tIns="0" rIns="0" bIns="0" anchor="t">
            <a:spAutoFit/>
          </a:bodyPr>
          <a:lstStyle/>
          <a:p>
            <a:pPr algn="l"/>
            <a:r>
              <a:rPr sz="1350" b="0">
                <a:solidFill>
                  <a:srgbClr val="222222"/>
                </a:solidFill>
                <a:latin typeface="에이투지체 8 ExtraBold"/>
                <a:ea typeface="에이투지체 8 ExtraBold"/>
                <a:cs typeface="에이투지체 8 ExtraBold"/>
              </a:rPr>
              <a:t>판매 중  vs  광고 영역 노출</a:t>
            </a:r>
          </a:p>
        </p:txBody>
      </p:sp>
      <p:sp>
        <p:nvSpPr>
          <p:cNvPr id="15" name="TextBox 14"/>
          <p:cNvSpPr txBox="1"/>
          <p:nvPr/>
        </p:nvSpPr>
        <p:spPr>
          <a:xfrm>
            <a:off x="7452360" y="2880360"/>
            <a:ext cx="3977639" cy="2377440"/>
          </a:xfrm>
          <a:prstGeom prst="rect">
            <a:avLst/>
          </a:prstGeom>
          <a:noFill/>
        </p:spPr>
        <p:txBody>
          <a:bodyPr wrap="square" lIns="0" tIns="0" rIns="0" bIns="0" anchor="t">
            <a:spAutoFit/>
          </a:bodyPr>
          <a:lstStyle/>
          <a:p>
            <a:pPr algn="l">
              <a:spcAft>
                <a:spcPts val="800"/>
              </a:spcAft>
            </a:pPr>
            <a:r>
              <a:rPr sz="1100" b="0">
                <a:solidFill>
                  <a:srgbClr val="004F9F"/>
                </a:solidFill>
                <a:latin typeface="에이투지체 6 SemiBold"/>
                <a:ea typeface="에이투지체 6 SemiBold"/>
                <a:cs typeface="에이투지체 6 SemiBold"/>
              </a:rPr>
              <a:t>판매 중  </a:t>
            </a:r>
            <a:r>
              <a:rPr sz="1100" b="0">
                <a:solidFill>
                  <a:srgbClr val="222222"/>
                </a:solidFill>
                <a:latin typeface="에이투지체 4 Regular"/>
                <a:ea typeface="에이투지체 4 Regular"/>
                <a:cs typeface="에이투지체 4 Regular"/>
              </a:rPr>
              <a:t>키성장 FGO, 츄어블 철분, 프로바이오키드, 프로바이오틱스, 멀티비타민 등</a:t>
            </a:r>
          </a:p>
          <a:p>
            <a:pPr algn="l">
              <a:spcAft>
                <a:spcPts val="800"/>
              </a:spcAft>
            </a:pPr>
            <a:r>
              <a:rPr sz="1100" b="0">
                <a:solidFill>
                  <a:srgbClr val="004F9F"/>
                </a:solidFill>
                <a:latin typeface="에이투지체 6 SemiBold"/>
                <a:ea typeface="에이투지체 6 SemiBold"/>
                <a:cs typeface="에이투지체 6 SemiBold"/>
              </a:rPr>
              <a:t>광고 노출  </a:t>
            </a:r>
            <a:r>
              <a:rPr sz="1100" b="0">
                <a:solidFill>
                  <a:srgbClr val="222222"/>
                </a:solidFill>
                <a:latin typeface="에이투지체 4 Regular"/>
                <a:ea typeface="에이투지체 4 Regular"/>
                <a:cs typeface="에이투지체 4 Regular"/>
              </a:rPr>
              <a:t>FGO 5박스, 4박스, 프로바이오키드 위주</a:t>
            </a:r>
          </a:p>
          <a:p>
            <a:pPr algn="l">
              <a:spcAft>
                <a:spcPts val="800"/>
              </a:spcAft>
            </a:pPr>
            <a:r>
              <a:rPr sz="1100" b="0">
                <a:solidFill>
                  <a:srgbClr val="004F9F"/>
                </a:solidFill>
                <a:latin typeface="에이투지체 6 SemiBold"/>
                <a:ea typeface="에이투지체 6 SemiBold"/>
                <a:cs typeface="에이투지체 6 SemiBold"/>
              </a:rPr>
              <a:t>빈 자리  </a:t>
            </a:r>
            <a:r>
              <a:rPr sz="1100" b="0">
                <a:solidFill>
                  <a:srgbClr val="222222"/>
                </a:solidFill>
                <a:latin typeface="에이투지체 4 Regular"/>
                <a:ea typeface="에이투지체 4 Regular"/>
                <a:cs typeface="에이투지체 4 Regular"/>
              </a:rPr>
              <a:t>남는 광고 자리에 뉴트리원, 녹십초 노출</a:t>
            </a:r>
          </a:p>
          <a:p>
            <a:pPr algn="l">
              <a:spcAft>
                <a:spcPts val="800"/>
              </a:spcAft>
            </a:pPr>
            <a:r>
              <a:rPr sz="1100" b="0">
                <a:solidFill>
                  <a:srgbClr val="004F9F"/>
                </a:solidFill>
                <a:latin typeface="에이투지체 6 SemiBold"/>
                <a:ea typeface="에이투지체 6 SemiBold"/>
                <a:cs typeface="에이투지체 6 SemiBold"/>
              </a:rPr>
              <a:t>운영  </a:t>
            </a:r>
            <a:r>
              <a:rPr sz="1100" b="0">
                <a:solidFill>
                  <a:srgbClr val="222222"/>
                </a:solidFill>
                <a:latin typeface="에이투지체 4 Regular"/>
                <a:ea typeface="에이투지체 4 Regular"/>
                <a:cs typeface="에이투지체 4 Regular"/>
              </a:rPr>
              <a:t>브랜드 검색어 그룹에 판매 상품 모두 등록</a:t>
            </a:r>
          </a:p>
          <a:p>
            <a:pPr algn="l">
              <a:spcAft>
                <a:spcPts val="800"/>
              </a:spcAft>
            </a:pPr>
            <a:r>
              <a:rPr sz="1100" b="0">
                <a:solidFill>
                  <a:srgbClr val="004F9F"/>
                </a:solidFill>
                <a:latin typeface="에이투지체 6 SemiBold"/>
                <a:ea typeface="에이투지체 6 SemiBold"/>
                <a:cs typeface="에이투지체 6 SemiBold"/>
              </a:rPr>
              <a:t>입찰  </a:t>
            </a:r>
            <a:r>
              <a:rPr sz="1100" b="0">
                <a:solidFill>
                  <a:srgbClr val="222222"/>
                </a:solidFill>
                <a:latin typeface="에이투지체 4 Regular"/>
                <a:ea typeface="에이투지체 4 Regular"/>
                <a:cs typeface="에이투지체 4 Regular"/>
              </a:rPr>
              <a:t>경쟁이 적은 브랜드 검색어는 입찰가를 낮게 설정해 ROAS 상승</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대표 검색어에 두드림 상품이 노출되고 있고</a:t>
            </a:r>
          </a:p>
          <a:p>
            <a:pPr>
              <a:lnSpc>
                <a:spcPts val="2600"/>
              </a:lnSpc>
            </a:pPr>
            <a:r>
              <a:rPr sz="1900" b="0">
                <a:solidFill>
                  <a:srgbClr val="222222"/>
                </a:solidFill>
                <a:latin typeface="에이투지체 8 ExtraBold"/>
                <a:ea typeface="에이투지체 8 ExtraBold"/>
                <a:cs typeface="에이투지체 8 ExtraBold"/>
              </a:rPr>
              <a:t>주변 경쟁 상품과는 리뷰 수 차이가 큽니다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a:solidFill>
                  <a:srgbClr val="5C5C5C"/>
                </a:solidFill>
                <a:latin typeface="에이투지체 5 Medium"/>
                <a:ea typeface="에이투지체 5 Medium"/>
                <a:cs typeface="에이투지체 5 Medium"/>
              </a:rPr>
              <a:t>지마켓 현황 진단 ④  대표 검색어</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리뷰 격차가 큰 대표 검색어는 CPC 상한을 낮게 두고, 전환이 확인된 검색어와 상품에 예산을 먼저 씁니다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지마켓 PC 검색 화면 기준. 검색 결과는 새로고침, 사용자별로 달라짐 / 괄호는 리뷰 수</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44</a:t>
            </a:r>
          </a:p>
        </p:txBody>
      </p:sp>
      <p:sp>
        <p:nvSpPr>
          <p:cNvPr id="11" name="TextBox 10"/>
          <p:cNvSpPr txBox="1"/>
          <p:nvPr/>
        </p:nvSpPr>
        <p:spPr>
          <a:xfrm>
            <a:off x="548640" y="1993392"/>
            <a:ext cx="53949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"키성장영양제"  </a:t>
            </a:r>
            <a:r>
              <a:rPr sz="1250" b="0">
                <a:solidFill>
                  <a:srgbClr val="222222"/>
                </a:solidFill>
                <a:latin typeface="에이투지체 6 SemiBold"/>
                <a:ea typeface="에이투지체 6 SemiBold"/>
                <a:cs typeface="에이투지체 6 SemiBold"/>
              </a:rPr>
              <a:t>두드림 2번째</a:t>
            </a:r>
          </a:p>
        </p:txBody>
      </p:sp>
      <p:pic>
        <p:nvPicPr>
          <p:cNvPr id="12" name="Picture 11" descr="g_kisj.png"/>
          <p:cNvPicPr>
            <a:picLocks noChangeAspect="1"/>
          </p:cNvPicPr>
          <p:nvPr/>
        </p:nvPicPr>
        <p:blipFill>
          <a:blip r:embed="rId2"/>
          <a:stretch>
            <a:fillRect/>
          </a:stretch>
        </p:blipFill>
        <p:spPr>
          <a:xfrm>
            <a:off x="548640" y="2331720"/>
            <a:ext cx="3246120" cy="2429844"/>
          </a:xfrm>
          <a:prstGeom prst="rect">
            <a:avLst/>
          </a:prstGeom>
          <a:ln w="9525">
            <a:solidFill>
              <a:srgbClr val="DDDDDD"/>
            </a:solidFill>
          </a:ln>
        </p:spPr>
      </p:pic>
      <p:sp>
        <p:nvSpPr>
          <p:cNvPr id="13" name="TextBox 12"/>
          <p:cNvSpPr txBox="1"/>
          <p:nvPr/>
        </p:nvSpPr>
        <p:spPr>
          <a:xfrm>
            <a:off x="3959352" y="2377440"/>
            <a:ext cx="1965960" cy="3017520"/>
          </a:xfrm>
          <a:prstGeom prst="rect">
            <a:avLst/>
          </a:prstGeom>
          <a:noFill/>
        </p:spPr>
        <p:txBody>
          <a:bodyPr wrap="square" lIns="0" tIns="0" rIns="0" bIns="0" anchor="t">
            <a:spAutoFit/>
          </a:bodyPr>
          <a:lstStyle/>
          <a:p>
            <a:pPr algn="l">
              <a:spcAft>
                <a:spcPts val="700"/>
              </a:spcAft>
            </a:pPr>
            <a:r>
              <a:rPr sz="1050" b="0">
                <a:solidFill>
                  <a:srgbClr val="004F9F"/>
                </a:solidFill>
                <a:latin typeface="에이투지체 6 SemiBold"/>
                <a:ea typeface="에이투지체 6 SemiBold"/>
                <a:cs typeface="에이투지체 6 SemiBold"/>
              </a:rPr>
              <a:t>상단  </a:t>
            </a:r>
            <a:r>
              <a:rPr sz="1050" b="0">
                <a:solidFill>
                  <a:srgbClr val="222222"/>
                </a:solidFill>
                <a:latin typeface="에이투지체 4 Regular"/>
                <a:ea typeface="에이투지체 4 Regular"/>
                <a:cs typeface="에이투지체 4 Regular"/>
              </a:rPr>
              <a:t>오늘의 상품이에요 광고 5개 모두 경쟁사</a:t>
            </a:r>
          </a:p>
          <a:p>
            <a:pPr algn="l">
              <a:spcAft>
                <a:spcPts val="700"/>
              </a:spcAft>
            </a:pPr>
            <a:r>
              <a:rPr sz="1050" b="0">
                <a:solidFill>
                  <a:srgbClr val="222222"/>
                </a:solidFill>
                <a:latin typeface="에이투지체 4 Regular"/>
                <a:ea typeface="에이투지체 4 Regular"/>
                <a:cs typeface="에이투지체 4 Regular"/>
              </a:rPr>
              <a:t>김소형원방, PH365, 키엔탄, 키클레오</a:t>
            </a:r>
          </a:p>
          <a:p>
            <a:pPr algn="l">
              <a:spcAft>
                <a:spcPts val="700"/>
              </a:spcAft>
            </a:pPr>
            <a:r>
              <a:rPr sz="1050" b="0">
                <a:solidFill>
                  <a:srgbClr val="004F9F"/>
                </a:solidFill>
                <a:latin typeface="에이투지체 6 SemiBold"/>
                <a:ea typeface="에이투지체 6 SemiBold"/>
                <a:cs typeface="에이투지체 6 SemiBold"/>
              </a:rPr>
              <a:t>위아래  </a:t>
            </a:r>
            <a:r>
              <a:rPr sz="1050" b="0">
                <a:solidFill>
                  <a:srgbClr val="222222"/>
                </a:solidFill>
                <a:latin typeface="에이투지체 4 Regular"/>
                <a:ea typeface="에이투지체 4 Regular"/>
                <a:cs typeface="에이투지체 4 Regular"/>
              </a:rPr>
              <a:t>순수식품 칼마디 (7,426), 고려은단 칼마디 (186)</a:t>
            </a:r>
          </a:p>
          <a:p>
            <a:pPr algn="l">
              <a:spcAft>
                <a:spcPts val="700"/>
              </a:spcAft>
            </a:pPr>
            <a:r>
              <a:rPr sz="1050" b="0">
                <a:solidFill>
                  <a:srgbClr val="004F9F"/>
                </a:solidFill>
                <a:latin typeface="에이투지체 6 SemiBold"/>
                <a:ea typeface="에이투지체 6 SemiBold"/>
                <a:cs typeface="에이투지체 6 SemiBold"/>
              </a:rPr>
              <a:t>두드림  </a:t>
            </a:r>
            <a:r>
              <a:rPr sz="1050" b="0">
                <a:solidFill>
                  <a:srgbClr val="222222"/>
                </a:solidFill>
                <a:latin typeface="에이투지체 4 Regular"/>
                <a:ea typeface="에이투지체 4 Regular"/>
                <a:cs typeface="에이투지체 4 Regular"/>
              </a:rPr>
              <a:t>FGO 1박스 (7), 구매 35</a:t>
            </a:r>
          </a:p>
        </p:txBody>
      </p:sp>
      <p:sp>
        <p:nvSpPr>
          <p:cNvPr id="14" name="TextBox 13"/>
          <p:cNvSpPr txBox="1"/>
          <p:nvPr/>
        </p:nvSpPr>
        <p:spPr>
          <a:xfrm>
            <a:off x="6172200" y="1993392"/>
            <a:ext cx="53949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"카무트효소"  </a:t>
            </a:r>
            <a:r>
              <a:rPr sz="1250" b="0">
                <a:solidFill>
                  <a:srgbClr val="222222"/>
                </a:solidFill>
                <a:latin typeface="에이투지체 6 SemiBold"/>
                <a:ea typeface="에이투지체 6 SemiBold"/>
                <a:cs typeface="에이투지체 6 SemiBold"/>
              </a:rPr>
              <a:t>두드림 5번째</a:t>
            </a:r>
          </a:p>
        </p:txBody>
      </p:sp>
      <p:pic>
        <p:nvPicPr>
          <p:cNvPr id="15" name="Picture 14" descr="g_kamut.png"/>
          <p:cNvPicPr>
            <a:picLocks noChangeAspect="1"/>
          </p:cNvPicPr>
          <p:nvPr/>
        </p:nvPicPr>
        <p:blipFill>
          <a:blip r:embed="rId3"/>
          <a:stretch>
            <a:fillRect/>
          </a:stretch>
        </p:blipFill>
        <p:spPr>
          <a:xfrm>
            <a:off x="6172200" y="2331720"/>
            <a:ext cx="2926080" cy="2700734"/>
          </a:xfrm>
          <a:prstGeom prst="rect">
            <a:avLst/>
          </a:prstGeom>
          <a:ln w="9525">
            <a:solidFill>
              <a:srgbClr val="DDDDDD"/>
            </a:solidFill>
          </a:ln>
        </p:spPr>
      </p:pic>
      <p:sp>
        <p:nvSpPr>
          <p:cNvPr id="16" name="TextBox 15"/>
          <p:cNvSpPr txBox="1"/>
          <p:nvPr/>
        </p:nvSpPr>
        <p:spPr>
          <a:xfrm>
            <a:off x="9262872" y="2377440"/>
            <a:ext cx="2350008" cy="3017520"/>
          </a:xfrm>
          <a:prstGeom prst="rect">
            <a:avLst/>
          </a:prstGeom>
          <a:noFill/>
        </p:spPr>
        <p:txBody>
          <a:bodyPr wrap="square" lIns="0" tIns="0" rIns="0" bIns="0" anchor="t">
            <a:spAutoFit/>
          </a:bodyPr>
          <a:lstStyle/>
          <a:p>
            <a:pPr algn="l">
              <a:spcAft>
                <a:spcPts val="700"/>
              </a:spcAft>
            </a:pPr>
            <a:r>
              <a:rPr sz="1050" b="0">
                <a:solidFill>
                  <a:srgbClr val="004F9F"/>
                </a:solidFill>
                <a:latin typeface="에이투지체 6 SemiBold"/>
                <a:ea typeface="에이투지체 6 SemiBold"/>
                <a:cs typeface="에이투지체 6 SemiBold"/>
              </a:rPr>
              <a:t>경쟁사  </a:t>
            </a:r>
            <a:r>
              <a:rPr sz="1050" b="0">
                <a:solidFill>
                  <a:srgbClr val="222222"/>
                </a:solidFill>
                <a:latin typeface="에이투지체 4 Regular"/>
                <a:ea typeface="에이투지체 4 Regular"/>
                <a:cs typeface="에이투지체 4 Regular"/>
              </a:rPr>
              <a:t>1~4번째 중 그레인온 3개</a:t>
            </a:r>
          </a:p>
          <a:p>
            <a:pPr algn="l">
              <a:spcAft>
                <a:spcPts val="700"/>
              </a:spcAft>
            </a:pPr>
            <a:r>
              <a:rPr sz="1050" b="0">
                <a:solidFill>
                  <a:srgbClr val="222222"/>
                </a:solidFill>
                <a:latin typeface="에이투지체 4 Regular"/>
                <a:ea typeface="에이투지체 4 Regular"/>
                <a:cs typeface="에이투지체 4 Regular"/>
              </a:rPr>
              <a:t>리뷰 14,274, 9,889, 3,474</a:t>
            </a:r>
          </a:p>
          <a:p>
            <a:pPr algn="l">
              <a:spcAft>
                <a:spcPts val="700"/>
              </a:spcAft>
            </a:pPr>
            <a:r>
              <a:rPr sz="1050" b="0">
                <a:solidFill>
                  <a:srgbClr val="222222"/>
                </a:solidFill>
                <a:latin typeface="에이투지체 4 Regular"/>
                <a:ea typeface="에이투지체 4 Regular"/>
                <a:cs typeface="에이투지체 4 Regular"/>
              </a:rPr>
              <a:t>리얼메디 2+1 (502)</a:t>
            </a:r>
          </a:p>
          <a:p>
            <a:pPr algn="l">
              <a:spcAft>
                <a:spcPts val="700"/>
              </a:spcAft>
            </a:pPr>
            <a:r>
              <a:rPr sz="1050" b="0">
                <a:solidFill>
                  <a:srgbClr val="004F9F"/>
                </a:solidFill>
                <a:latin typeface="에이투지체 6 SemiBold"/>
                <a:ea typeface="에이투지체 6 SemiBold"/>
                <a:cs typeface="에이투지체 6 SemiBold"/>
              </a:rPr>
              <a:t>두드림  </a:t>
            </a:r>
            <a:r>
              <a:rPr sz="1050" b="0">
                <a:solidFill>
                  <a:srgbClr val="222222"/>
                </a:solidFill>
                <a:latin typeface="에이투지체 4 Regular"/>
                <a:ea typeface="에이투지체 4 Regular"/>
                <a:cs typeface="에이투지체 4 Regular"/>
              </a:rPr>
              <a:t>슬림웨이 1박스, 리뷰 없이 구매 8</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dirty="0" err="1">
                <a:solidFill>
                  <a:srgbClr val="FFFFFF"/>
                </a:solidFill>
                <a:highlight>
                  <a:srgbClr val="0000FF"/>
                </a:highlight>
                <a:latin typeface="에이투지체 8 ExtraBold"/>
                <a:ea typeface="에이투지체 8 ExtraBold"/>
                <a:cs typeface="에이투지체 8 ExtraBold"/>
              </a:rPr>
              <a:t>광고로</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들어온</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고객이</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다른</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상품도</a:t>
            </a:r>
            <a:r>
              <a:rPr sz="1900" b="0" dirty="0">
                <a:solidFill>
                  <a:srgbClr val="FFFFFF"/>
                </a:solidFill>
                <a:highlight>
                  <a:srgbClr val="0000FF"/>
                </a:highlight>
                <a:latin typeface="에이투지체 8 ExtraBold"/>
                <a:ea typeface="에이투지체 8 ExtraBold"/>
                <a:cs typeface="에이투지체 8 ExtraBold"/>
              </a:rPr>
              <a:t> </a:t>
            </a:r>
            <a:r>
              <a:rPr lang="ko-KR" altLang="en-US" sz="1900" b="0" dirty="0">
                <a:solidFill>
                  <a:srgbClr val="FFFFFF"/>
                </a:solidFill>
                <a:highlight>
                  <a:srgbClr val="0000FF"/>
                </a:highlight>
                <a:latin typeface="에이투지체 8 ExtraBold"/>
                <a:ea typeface="에이투지체 8 ExtraBold"/>
                <a:cs typeface="에이투지체 8 ExtraBold"/>
              </a:rPr>
              <a:t>볼 수 있</a:t>
            </a:r>
            <a:r>
              <a:rPr sz="1900" b="0" dirty="0" err="1">
                <a:solidFill>
                  <a:srgbClr val="FFFFFF"/>
                </a:solidFill>
                <a:highlight>
                  <a:srgbClr val="0000FF"/>
                </a:highlight>
                <a:latin typeface="에이투지체 8 ExtraBold"/>
                <a:ea typeface="에이투지체 8 ExtraBold"/>
                <a:cs typeface="에이투지체 8 ExtraBold"/>
              </a:rPr>
              <a:t>도록</a:t>
            </a:r>
            <a:r>
              <a:rPr sz="1900" b="0" dirty="0">
                <a:solidFill>
                  <a:srgbClr val="222222"/>
                </a:solidFill>
                <a:latin typeface="에이투지체 8 ExtraBold"/>
                <a:ea typeface="에이투지체 8 ExtraBold"/>
                <a:cs typeface="에이투지체 8 ExtraBold"/>
              </a:rPr>
              <a:t> </a:t>
            </a:r>
            <a:endParaRPr lang="en-US" sz="1900" b="0" dirty="0">
              <a:solidFill>
                <a:srgbClr val="222222"/>
              </a:solidFill>
              <a:latin typeface="에이투지체 8 ExtraBold"/>
              <a:ea typeface="에이투지체 8 ExtraBold"/>
              <a:cs typeface="에이투지체 8 ExtraBold"/>
            </a:endParaRPr>
          </a:p>
          <a:p>
            <a:pPr>
              <a:lnSpc>
                <a:spcPts val="2600"/>
              </a:lnSpc>
            </a:pPr>
            <a:r>
              <a:rPr sz="1900" b="0" dirty="0" err="1">
                <a:solidFill>
                  <a:srgbClr val="222222"/>
                </a:solidFill>
                <a:latin typeface="에이투지체 8 ExtraBold"/>
                <a:ea typeface="에이투지체 8 ExtraBold"/>
                <a:cs typeface="에이투지체 8 ExtraBold"/>
              </a:rPr>
              <a:t>추가구성</a:t>
            </a:r>
            <a:r>
              <a:rPr sz="1900" b="0" dirty="0">
                <a:solidFill>
                  <a:srgbClr val="222222"/>
                </a:solidFill>
                <a:latin typeface="에이투지체 8 ExtraBold"/>
                <a:ea typeface="에이투지체 8 ExtraBold"/>
                <a:cs typeface="에이투지체 8 ExtraBold"/>
              </a:rPr>
              <a:t> </a:t>
            </a:r>
            <a:r>
              <a:rPr lang="ko-KR" altLang="en-US" sz="1900" b="0" dirty="0">
                <a:solidFill>
                  <a:srgbClr val="222222"/>
                </a:solidFill>
                <a:latin typeface="에이투지체 8 ExtraBold"/>
                <a:ea typeface="에이투지체 8 ExtraBold"/>
                <a:cs typeface="에이투지체 8 ExtraBold"/>
              </a:rPr>
              <a:t>순서 변경</a:t>
            </a:r>
            <a:r>
              <a:rPr sz="1900" b="0" dirty="0">
                <a:solidFill>
                  <a:srgbClr val="222222"/>
                </a:solidFill>
                <a:latin typeface="에이투지체 8 ExtraBold"/>
                <a:ea typeface="에이투지체 8 ExtraBold"/>
                <a:cs typeface="에이투지체 8 ExtraBold"/>
              </a:rPr>
              <a:t>을</a:t>
            </a:r>
            <a:r>
              <a:rPr lang="en-US" sz="1900" dirty="0">
                <a:solidFill>
                  <a:srgbClr val="222222"/>
                </a:solidFill>
                <a:latin typeface="에이투지체 8 ExtraBold"/>
                <a:ea typeface="에이투지체 8 ExtraBold"/>
                <a:cs typeface="에이투지체 8 ExtraBold"/>
              </a:rPr>
              <a:t> </a:t>
            </a:r>
            <a:r>
              <a:rPr sz="1900" b="0" dirty="0" err="1">
                <a:solidFill>
                  <a:srgbClr val="222222"/>
                </a:solidFill>
                <a:latin typeface="에이투지체 8 ExtraBold"/>
                <a:ea typeface="에이투지체 8 ExtraBold"/>
                <a:cs typeface="에이투지체 8 ExtraBold"/>
              </a:rPr>
              <a:t>제안합니다</a:t>
            </a:r>
            <a:endParaRPr sz="1900" b="0" dirty="0">
              <a:solidFill>
                <a:srgbClr val="222222"/>
              </a:solidFill>
              <a:latin typeface="에이투지체 8 ExtraBold"/>
              <a:ea typeface="에이투지체 8 ExtraBold"/>
              <a:cs typeface="에이투지체 8 ExtraBold"/>
            </a:endParaRP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dirty="0" err="1">
                <a:solidFill>
                  <a:srgbClr val="5C5C5C"/>
                </a:solidFill>
                <a:latin typeface="에이투지체 5 Medium"/>
                <a:ea typeface="에이투지체 5 Medium"/>
                <a:cs typeface="에이투지체 5 Medium"/>
              </a:rPr>
              <a:t>지마켓</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현황</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진단</a:t>
            </a:r>
            <a:r>
              <a:rPr sz="1100" b="0" dirty="0">
                <a:solidFill>
                  <a:srgbClr val="5C5C5C"/>
                </a:solidFill>
                <a:latin typeface="에이투지체 5 Medium"/>
                <a:ea typeface="에이투지체 5 Medium"/>
                <a:cs typeface="에이투지체 5 Medium"/>
              </a:rPr>
              <a:t> ⑤  </a:t>
            </a:r>
            <a:r>
              <a:rPr sz="1100" b="0" dirty="0" err="1">
                <a:solidFill>
                  <a:srgbClr val="5C5C5C"/>
                </a:solidFill>
                <a:latin typeface="에이투지체 5 Medium"/>
                <a:ea typeface="에이투지체 5 Medium"/>
                <a:cs typeface="에이투지체 5 Medium"/>
              </a:rPr>
              <a:t>상세</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페이지</a:t>
            </a:r>
            <a:r>
              <a:rPr sz="1100" b="0" dirty="0">
                <a:solidFill>
                  <a:srgbClr val="5C5C5C"/>
                </a:solidFill>
                <a:latin typeface="에이투지체 5 Medium"/>
                <a:ea typeface="에이투지체 5 Medium"/>
                <a:cs typeface="에이투지체 5 Medium"/>
              </a:rPr>
              <a:t> </a:t>
            </a:r>
            <a:r>
              <a:rPr sz="1100" b="0" dirty="0" err="1">
                <a:solidFill>
                  <a:srgbClr val="5C5C5C"/>
                </a:solidFill>
                <a:latin typeface="에이투지체 5 Medium"/>
                <a:ea typeface="에이투지체 5 Medium"/>
                <a:cs typeface="에이투지체 5 Medium"/>
              </a:rPr>
              <a:t>추가구성</a:t>
            </a:r>
            <a:r>
              <a:rPr sz="1100" b="0" dirty="0">
                <a:solidFill>
                  <a:srgbClr val="5C5C5C"/>
                </a:solidFill>
                <a:latin typeface="에이투지체 5 Medium"/>
                <a:ea typeface="에이투지체 5 Medium"/>
                <a:cs typeface="에이투지체 5 Medium"/>
              </a:rPr>
              <a:t> </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추가구성 변경은 판매 채널 담당과 협의하고, 변경 전후 광고 유입 고객의 구매 전환율과 객단가를 비교해 공유합니다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지마켓 키움정 3박스, 두드림 아이클타임 키성장 FGO 1박스 상품 페이지 기준 / 추가구성 변경은 판매 채널 담당과 협의</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45</a:t>
            </a:r>
          </a:p>
        </p:txBody>
      </p:sp>
      <p:sp>
        <p:nvSpPr>
          <p:cNvPr id="11" name="TextBox 10"/>
          <p:cNvSpPr txBox="1"/>
          <p:nvPr/>
        </p:nvSpPr>
        <p:spPr>
          <a:xfrm>
            <a:off x="548640" y="1993392"/>
            <a:ext cx="26517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경쟁사  </a:t>
            </a:r>
            <a:r>
              <a:rPr sz="1250" b="0">
                <a:solidFill>
                  <a:srgbClr val="222222"/>
                </a:solidFill>
                <a:latin typeface="에이투지체 6 SemiBold"/>
                <a:ea typeface="에이투지체 6 SemiBold"/>
                <a:cs typeface="에이투지체 6 SemiBold"/>
              </a:rPr>
              <a:t>키움정 3박스</a:t>
            </a:r>
          </a:p>
        </p:txBody>
      </p:sp>
      <p:pic>
        <p:nvPicPr>
          <p:cNvPr id="12" name="Picture 11" descr="g_kium_opt.png"/>
          <p:cNvPicPr>
            <a:picLocks noChangeAspect="1"/>
          </p:cNvPicPr>
          <p:nvPr/>
        </p:nvPicPr>
        <p:blipFill>
          <a:blip r:embed="rId2"/>
          <a:stretch>
            <a:fillRect/>
          </a:stretch>
        </p:blipFill>
        <p:spPr>
          <a:xfrm>
            <a:off x="548640" y="2331720"/>
            <a:ext cx="2514600" cy="3054319"/>
          </a:xfrm>
          <a:prstGeom prst="rect">
            <a:avLst/>
          </a:prstGeom>
          <a:ln w="9525">
            <a:solidFill>
              <a:srgbClr val="DDDDDD"/>
            </a:solidFill>
          </a:ln>
        </p:spPr>
      </p:pic>
      <p:sp>
        <p:nvSpPr>
          <p:cNvPr id="13" name="TextBox 12"/>
          <p:cNvSpPr txBox="1"/>
          <p:nvPr/>
        </p:nvSpPr>
        <p:spPr>
          <a:xfrm>
            <a:off x="3291840" y="1993392"/>
            <a:ext cx="320040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두드림  </a:t>
            </a:r>
            <a:r>
              <a:rPr sz="1250" b="0">
                <a:solidFill>
                  <a:srgbClr val="222222"/>
                </a:solidFill>
                <a:latin typeface="에이투지체 6 SemiBold"/>
                <a:ea typeface="에이투지체 6 SemiBold"/>
                <a:cs typeface="에이투지체 6 SemiBold"/>
              </a:rPr>
              <a:t>키성장 FGO 1박스</a:t>
            </a:r>
          </a:p>
        </p:txBody>
      </p:sp>
      <p:pic>
        <p:nvPicPr>
          <p:cNvPr id="14" name="Picture 13" descr="dd_opt.png"/>
          <p:cNvPicPr>
            <a:picLocks noChangeAspect="1"/>
          </p:cNvPicPr>
          <p:nvPr/>
        </p:nvPicPr>
        <p:blipFill>
          <a:blip r:embed="rId3"/>
          <a:stretch>
            <a:fillRect/>
          </a:stretch>
        </p:blipFill>
        <p:spPr>
          <a:xfrm>
            <a:off x="3291840" y="2331720"/>
            <a:ext cx="3108960" cy="2366264"/>
          </a:xfrm>
          <a:prstGeom prst="rect">
            <a:avLst/>
          </a:prstGeom>
          <a:ln w="9525">
            <a:solidFill>
              <a:srgbClr val="DDDDDD"/>
            </a:solidFill>
          </a:ln>
        </p:spPr>
      </p:pic>
      <p:sp>
        <p:nvSpPr>
          <p:cNvPr id="15" name="TextBox 14"/>
          <p:cNvSpPr txBox="1"/>
          <p:nvPr/>
        </p:nvSpPr>
        <p:spPr>
          <a:xfrm>
            <a:off x="3291840" y="4800600"/>
            <a:ext cx="3154680" cy="548640"/>
          </a:xfrm>
          <a:prstGeom prst="rect">
            <a:avLst/>
          </a:prstGeom>
          <a:noFill/>
        </p:spPr>
        <p:txBody>
          <a:bodyPr wrap="square" lIns="0" tIns="0" rIns="0" bIns="0" anchor="t">
            <a:spAutoFit/>
          </a:bodyPr>
          <a:lstStyle/>
          <a:p>
            <a:pPr algn="l">
              <a:spcAft>
                <a:spcPts val="200"/>
              </a:spcAft>
            </a:pPr>
            <a:r>
              <a:rPr sz="950" b="0">
                <a:solidFill>
                  <a:srgbClr val="5C5C5C"/>
                </a:solidFill>
                <a:latin typeface="에이투지체 4 Regular"/>
                <a:ea typeface="에이투지체 4 Regular"/>
                <a:cs typeface="에이투지체 4 Regular"/>
              </a:rPr>
              <a:t>같은 상품의 박스 수 구성이 이어지는 형태</a:t>
            </a:r>
          </a:p>
          <a:p>
            <a:pPr algn="l">
              <a:spcAft>
                <a:spcPts val="200"/>
              </a:spcAft>
            </a:pPr>
            <a:r>
              <a:rPr sz="950" b="0">
                <a:solidFill>
                  <a:srgbClr val="5C5C5C"/>
                </a:solidFill>
                <a:latin typeface="에이투지체 4 Regular"/>
                <a:ea typeface="에이투지체 4 Regular"/>
                <a:cs typeface="에이투지체 4 Regular"/>
              </a:rPr>
              <a:t>(오메가3 젤리 4, 6박스 / 키즈 종합비타민 2, 3박스 등)</a:t>
            </a:r>
          </a:p>
        </p:txBody>
      </p:sp>
      <p:sp>
        <p:nvSpPr>
          <p:cNvPr id="16" name="Rounded Rectangle 15"/>
          <p:cNvSpPr/>
          <p:nvPr/>
        </p:nvSpPr>
        <p:spPr>
          <a:xfrm>
            <a:off x="6675120" y="2331720"/>
            <a:ext cx="4937760" cy="3017520"/>
          </a:xfrm>
          <a:prstGeom prst="roundRect">
            <a:avLst>
              <a:gd name="adj" fmla="val 2424"/>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03720" y="2450592"/>
            <a:ext cx="4480560" cy="320040"/>
          </a:xfrm>
          <a:prstGeom prst="rect">
            <a:avLst/>
          </a:prstGeom>
          <a:noFill/>
        </p:spPr>
        <p:txBody>
          <a:bodyPr wrap="square" lIns="0" tIns="0" rIns="0" bIns="0" anchor="t">
            <a:spAutoFit/>
          </a:bodyPr>
          <a:lstStyle/>
          <a:p>
            <a:pPr algn="l"/>
            <a:r>
              <a:rPr sz="1350" b="0">
                <a:solidFill>
                  <a:srgbClr val="222222"/>
                </a:solidFill>
                <a:latin typeface="에이투지체 8 ExtraBold"/>
                <a:ea typeface="에이투지체 8 ExtraBold"/>
                <a:cs typeface="에이투지체 8 ExtraBold"/>
              </a:rPr>
              <a:t>추가구성 제안 방향</a:t>
            </a:r>
          </a:p>
        </p:txBody>
      </p:sp>
      <p:sp>
        <p:nvSpPr>
          <p:cNvPr id="18" name="TextBox 17"/>
          <p:cNvSpPr txBox="1"/>
          <p:nvPr/>
        </p:nvSpPr>
        <p:spPr>
          <a:xfrm>
            <a:off x="6903720" y="2880360"/>
            <a:ext cx="4526280" cy="2377440"/>
          </a:xfrm>
          <a:prstGeom prst="rect">
            <a:avLst/>
          </a:prstGeom>
          <a:noFill/>
        </p:spPr>
        <p:txBody>
          <a:bodyPr wrap="square" lIns="0" tIns="0" rIns="0" bIns="0" anchor="t">
            <a:spAutoFit/>
          </a:bodyPr>
          <a:lstStyle/>
          <a:p>
            <a:pPr algn="l">
              <a:spcAft>
                <a:spcPts val="600"/>
              </a:spcAft>
            </a:pPr>
            <a:r>
              <a:rPr sz="1100" b="0">
                <a:solidFill>
                  <a:srgbClr val="004F9F"/>
                </a:solidFill>
                <a:latin typeface="에이투지체 6 SemiBold"/>
                <a:ea typeface="에이투지체 6 SemiBold"/>
                <a:cs typeface="에이투지체 6 SemiBold"/>
              </a:rPr>
              <a:t>키움정  </a:t>
            </a:r>
            <a:r>
              <a:rPr sz="1100" b="0">
                <a:solidFill>
                  <a:srgbClr val="222222"/>
                </a:solidFill>
                <a:latin typeface="에이투지체 4 Regular"/>
                <a:ea typeface="에이투지체 4 Regular"/>
                <a:cs typeface="에이투지체 4 Regular"/>
              </a:rPr>
              <a:t>유산균, 멀티비타민, 구미젤리 세트 등 옵션마다 다른 상품이 보여, 구경하며 함께 눌러보게 됨</a:t>
            </a:r>
          </a:p>
          <a:p>
            <a:pPr algn="l">
              <a:spcAft>
                <a:spcPts val="600"/>
              </a:spcAft>
            </a:pPr>
            <a:r>
              <a:rPr sz="1100" b="0">
                <a:solidFill>
                  <a:srgbClr val="004F9F"/>
                </a:solidFill>
                <a:latin typeface="에이투지체 6 SemiBold"/>
                <a:ea typeface="에이투지체 6 SemiBold"/>
                <a:cs typeface="에이투지체 6 SemiBold"/>
              </a:rPr>
              <a:t>두드림  </a:t>
            </a:r>
            <a:r>
              <a:rPr sz="1100" b="0">
                <a:solidFill>
                  <a:srgbClr val="222222"/>
                </a:solidFill>
                <a:latin typeface="에이투지체 4 Regular"/>
                <a:ea typeface="에이투지체 4 Regular"/>
                <a:cs typeface="에이투지체 4 Regular"/>
              </a:rPr>
              <a:t>같은 상품의 박스 수 구성이 연달아 이어져, 다른 상품이 눈에 덜 띔</a:t>
            </a:r>
          </a:p>
          <a:p>
            <a:pPr algn="l">
              <a:spcAft>
                <a:spcPts val="600"/>
              </a:spcAft>
            </a:pPr>
            <a:r>
              <a:rPr sz="1100" b="0">
                <a:solidFill>
                  <a:srgbClr val="004F9F"/>
                </a:solidFill>
                <a:latin typeface="에이투지체 6 SemiBold"/>
                <a:ea typeface="에이투지체 6 SemiBold"/>
                <a:cs typeface="에이투지체 6 SemiBold"/>
              </a:rPr>
              <a:t>제안  </a:t>
            </a:r>
            <a:r>
              <a:rPr sz="1100" b="0">
                <a:solidFill>
                  <a:srgbClr val="222222"/>
                </a:solidFill>
                <a:latin typeface="에이투지체 4 Regular"/>
                <a:ea typeface="에이투지체 4 Regular"/>
                <a:cs typeface="에이투지체 4 Regular"/>
              </a:rPr>
              <a:t>상단에 성장 패키지 (FGO + 칼마디, FGO + 칼마디 + 철분)</a:t>
            </a:r>
          </a:p>
          <a:p>
            <a:pPr algn="l">
              <a:spcAft>
                <a:spcPts val="600"/>
              </a:spcAft>
            </a:pPr>
            <a:r>
              <a:rPr sz="1100" b="0">
                <a:solidFill>
                  <a:srgbClr val="222222"/>
                </a:solidFill>
                <a:latin typeface="에이투지체 4 Regular"/>
                <a:ea typeface="에이투지체 4 Regular"/>
                <a:cs typeface="에이투지체 4 Regular"/>
              </a:rPr>
              <a:t>      상품마다 대표 구성 1개씩, 다양한 상품이 보이게</a:t>
            </a:r>
          </a:p>
          <a:p>
            <a:pPr algn="l">
              <a:spcAft>
                <a:spcPts val="600"/>
              </a:spcAft>
            </a:pPr>
            <a:r>
              <a:rPr sz="1100" b="0">
                <a:solidFill>
                  <a:srgbClr val="222222"/>
                </a:solidFill>
                <a:latin typeface="에이투지체 4 Regular"/>
                <a:ea typeface="에이투지체 4 Regular"/>
                <a:cs typeface="에이투지체 4 Regular"/>
              </a:rPr>
              <a:t>      행사 기간 사은품 구성 검토</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11번가 주요 검색어의 광고 자리에는</a:t>
            </a:r>
          </a:p>
          <a:p>
            <a:pPr>
              <a:lnSpc>
                <a:spcPts val="2600"/>
              </a:lnSpc>
            </a:pPr>
            <a:r>
              <a:rPr sz="1900" b="0">
                <a:solidFill>
                  <a:srgbClr val="222222"/>
                </a:solidFill>
                <a:latin typeface="에이투지체 8 ExtraBold"/>
                <a:ea typeface="에이투지체 8 ExtraBold"/>
                <a:cs typeface="에이투지체 8 ExtraBold"/>
              </a:rPr>
              <a:t>경쟁사와 다른 판매처 상품이 노출되고 있습니다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a:solidFill>
                  <a:srgbClr val="5C5C5C"/>
                </a:solidFill>
                <a:latin typeface="에이투지체 5 Medium"/>
                <a:ea typeface="에이투지체 5 Medium"/>
                <a:cs typeface="에이투지체 5 Medium"/>
              </a:rPr>
              <a:t>11번가 현황 진단</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11번가는 공식 스토어 대표 상품부터 브랜드 검색어에서 보이게 하겠습니다</a:t>
            </a: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2026.10.13 11번가 PC 검색 화면 기준. 검색 결과는 새로고침, 사용자별로 달라짐 / 괄호는 리뷰 수</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46</a:t>
            </a:r>
          </a:p>
        </p:txBody>
      </p:sp>
      <p:sp>
        <p:nvSpPr>
          <p:cNvPr id="11" name="Rounded Rectangle 10"/>
          <p:cNvSpPr/>
          <p:nvPr/>
        </p:nvSpPr>
        <p:spPr>
          <a:xfrm>
            <a:off x="548640" y="2103120"/>
            <a:ext cx="3447288" cy="1051560"/>
          </a:xfrm>
          <a:prstGeom prst="roundRect">
            <a:avLst>
              <a:gd name="adj" fmla="val 695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2157984"/>
            <a:ext cx="3017520" cy="530352"/>
          </a:xfrm>
          <a:prstGeom prst="rect">
            <a:avLst/>
          </a:prstGeom>
          <a:noFill/>
        </p:spPr>
        <p:txBody>
          <a:bodyPr wrap="square" lIns="0" tIns="0" rIns="0" bIns="0" anchor="t">
            <a:spAutoFit/>
          </a:bodyPr>
          <a:lstStyle/>
          <a:p>
            <a:pPr algn="l"/>
            <a:r>
              <a:rPr sz="2800" b="0">
                <a:solidFill>
                  <a:srgbClr val="004F9F"/>
                </a:solidFill>
                <a:latin typeface="에이투지체 8 ExtraBold"/>
                <a:ea typeface="에이투지체 8 ExtraBold"/>
                <a:cs typeface="에이투지체 8 ExtraBold"/>
              </a:rPr>
              <a:t>21개 중 0</a:t>
            </a:r>
          </a:p>
        </p:txBody>
      </p:sp>
      <p:sp>
        <p:nvSpPr>
          <p:cNvPr id="13" name="TextBox 12"/>
          <p:cNvSpPr txBox="1"/>
          <p:nvPr/>
        </p:nvSpPr>
        <p:spPr>
          <a:xfrm>
            <a:off x="777240" y="2724912"/>
            <a:ext cx="3017520" cy="176972"/>
          </a:xfrm>
          <a:prstGeom prst="rect">
            <a:avLst/>
          </a:prstGeom>
          <a:noFill/>
        </p:spPr>
        <p:txBody>
          <a:bodyPr wrap="square" lIns="0" tIns="0" rIns="0" bIns="0" anchor="t">
            <a:spAutoFit/>
          </a:bodyPr>
          <a:lstStyle/>
          <a:p>
            <a:pPr algn="l"/>
            <a:r>
              <a:rPr sz="1150" b="0" dirty="0" err="1">
                <a:solidFill>
                  <a:srgbClr val="5C5C5C"/>
                </a:solidFill>
                <a:latin typeface="에이투지체 6 SemiBold"/>
                <a:ea typeface="에이투지체 6 SemiBold"/>
                <a:cs typeface="에이투지체 6 SemiBold"/>
              </a:rPr>
              <a:t>키성장영양제</a:t>
            </a:r>
            <a:r>
              <a:rPr sz="1150" b="0" dirty="0">
                <a:solidFill>
                  <a:srgbClr val="5C5C5C"/>
                </a:solidFill>
                <a:latin typeface="에이투지체 6 SemiBold"/>
                <a:ea typeface="에이투지체 6 SemiBold"/>
                <a:cs typeface="에이투지체 6 SemiBold"/>
              </a:rPr>
              <a:t> </a:t>
            </a:r>
            <a:r>
              <a:rPr sz="1150" b="0" dirty="0" err="1">
                <a:solidFill>
                  <a:srgbClr val="5C5C5C"/>
                </a:solidFill>
                <a:latin typeface="에이투지체 6 SemiBold"/>
                <a:ea typeface="에이투지체 6 SemiBold"/>
                <a:cs typeface="에이투지체 6 SemiBold"/>
              </a:rPr>
              <a:t>광고</a:t>
            </a:r>
            <a:r>
              <a:rPr sz="1150" b="0" dirty="0">
                <a:solidFill>
                  <a:srgbClr val="5C5C5C"/>
                </a:solidFill>
                <a:latin typeface="에이투지체 6 SemiBold"/>
                <a:ea typeface="에이투지체 6 SemiBold"/>
                <a:cs typeface="에이투지체 6 SemiBold"/>
              </a:rPr>
              <a:t> </a:t>
            </a:r>
            <a:r>
              <a:rPr lang="ko-KR" altLang="en-US" sz="1150" dirty="0">
                <a:solidFill>
                  <a:srgbClr val="5C5C5C"/>
                </a:solidFill>
                <a:latin typeface="에이투지체 6 SemiBold"/>
                <a:ea typeface="에이투지체 6 SemiBold"/>
                <a:cs typeface="에이투지체 6 SemiBold"/>
              </a:rPr>
              <a:t>검색 결과</a:t>
            </a:r>
            <a:endParaRPr sz="1150" b="0" dirty="0">
              <a:solidFill>
                <a:srgbClr val="5C5C5C"/>
              </a:solidFill>
              <a:latin typeface="에이투지체 6 SemiBold"/>
              <a:ea typeface="에이투지체 6 SemiBold"/>
              <a:cs typeface="에이투지체 6 SemiBold"/>
            </a:endParaRPr>
          </a:p>
        </p:txBody>
      </p:sp>
      <p:sp>
        <p:nvSpPr>
          <p:cNvPr id="14" name="TextBox 13"/>
          <p:cNvSpPr txBox="1"/>
          <p:nvPr/>
        </p:nvSpPr>
        <p:spPr>
          <a:xfrm>
            <a:off x="548640"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대표 검색어 광고 전부 경쟁사</a:t>
            </a:r>
          </a:p>
        </p:txBody>
      </p:sp>
      <p:sp>
        <p:nvSpPr>
          <p:cNvPr id="15" name="TextBox 14"/>
          <p:cNvSpPr txBox="1"/>
          <p:nvPr/>
        </p:nvSpPr>
        <p:spPr>
          <a:xfrm>
            <a:off x="548640"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고려은단 키즈하이 (36,858)</a:t>
            </a:r>
          </a:p>
          <a:p>
            <a:pPr algn="l"/>
            <a:r>
              <a:rPr sz="1300" b="0">
                <a:solidFill>
                  <a:srgbClr val="5C5C5C"/>
                </a:solidFill>
                <a:latin typeface="에이투지체 4 Regular"/>
                <a:ea typeface="에이투지체 4 Regular"/>
                <a:cs typeface="에이투지체 4 Regular"/>
              </a:rPr>
              <a:t>동국제약 키해피 FGO, 데일리플랜</a:t>
            </a:r>
          </a:p>
          <a:p>
            <a:pPr algn="l"/>
            <a:r>
              <a:rPr sz="1300" b="0">
                <a:solidFill>
                  <a:srgbClr val="5C5C5C"/>
                </a:solidFill>
                <a:latin typeface="에이투지체 4 Regular"/>
                <a:ea typeface="에이투지체 4 Regular"/>
                <a:cs typeface="에이투지체 4 Regular"/>
              </a:rPr>
              <a:t>키움정</a:t>
            </a:r>
          </a:p>
        </p:txBody>
      </p:sp>
      <p:cxnSp>
        <p:nvCxnSpPr>
          <p:cNvPr id="16" name="Connector 15"/>
          <p:cNvCxnSpPr/>
          <p:nvPr/>
        </p:nvCxnSpPr>
        <p:spPr>
          <a:xfrm>
            <a:off x="548640" y="4873752"/>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카테고리 검색 수요가 경쟁 상품에 집중</a:t>
            </a:r>
          </a:p>
        </p:txBody>
      </p:sp>
      <p:sp>
        <p:nvSpPr>
          <p:cNvPr id="18" name="Rounded Rectangle 17"/>
          <p:cNvSpPr/>
          <p:nvPr/>
        </p:nvSpPr>
        <p:spPr>
          <a:xfrm>
            <a:off x="4361688" y="2103120"/>
            <a:ext cx="3447288" cy="1051560"/>
          </a:xfrm>
          <a:prstGeom prst="roundRect">
            <a:avLst>
              <a:gd name="adj" fmla="val 6956"/>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590288" y="2157984"/>
            <a:ext cx="3017520" cy="530352"/>
          </a:xfrm>
          <a:prstGeom prst="rect">
            <a:avLst/>
          </a:prstGeom>
          <a:noFill/>
        </p:spPr>
        <p:txBody>
          <a:bodyPr wrap="square" lIns="0" tIns="0" rIns="0" bIns="0" anchor="t">
            <a:spAutoFit/>
          </a:bodyPr>
          <a:lstStyle/>
          <a:p>
            <a:pPr algn="l"/>
            <a:r>
              <a:rPr sz="2800" b="0">
                <a:solidFill>
                  <a:srgbClr val="004F9F"/>
                </a:solidFill>
                <a:latin typeface="에이투지체 8 ExtraBold"/>
                <a:ea typeface="에이투지체 8 ExtraBold"/>
                <a:cs typeface="에이투지체 8 ExtraBold"/>
              </a:rPr>
              <a:t>리셀러</a:t>
            </a:r>
          </a:p>
        </p:txBody>
      </p:sp>
      <p:sp>
        <p:nvSpPr>
          <p:cNvPr id="20" name="TextBox 19"/>
          <p:cNvSpPr txBox="1"/>
          <p:nvPr/>
        </p:nvSpPr>
        <p:spPr>
          <a:xfrm>
            <a:off x="4590288" y="2724912"/>
            <a:ext cx="3017520" cy="176972"/>
          </a:xfrm>
          <a:prstGeom prst="rect">
            <a:avLst/>
          </a:prstGeom>
          <a:noFill/>
        </p:spPr>
        <p:txBody>
          <a:bodyPr wrap="square" lIns="0" tIns="0" rIns="0" bIns="0" anchor="t">
            <a:spAutoFit/>
          </a:bodyPr>
          <a:lstStyle/>
          <a:p>
            <a:pPr algn="l"/>
            <a:r>
              <a:rPr sz="1150" b="0" dirty="0" err="1">
                <a:solidFill>
                  <a:srgbClr val="5C5C5C"/>
                </a:solidFill>
                <a:latin typeface="에이투지체 6 SemiBold"/>
                <a:ea typeface="에이투지체 6 SemiBold"/>
                <a:cs typeface="에이투지체 6 SemiBold"/>
              </a:rPr>
              <a:t>아이클타임</a:t>
            </a:r>
            <a:r>
              <a:rPr sz="1150" b="0" dirty="0">
                <a:solidFill>
                  <a:srgbClr val="5C5C5C"/>
                </a:solidFill>
                <a:latin typeface="에이투지체 6 SemiBold"/>
                <a:ea typeface="에이투지체 6 SemiBold"/>
                <a:cs typeface="에이투지체 6 SemiBold"/>
              </a:rPr>
              <a:t> </a:t>
            </a:r>
            <a:r>
              <a:rPr sz="1150" b="0" dirty="0" err="1">
                <a:solidFill>
                  <a:srgbClr val="5C5C5C"/>
                </a:solidFill>
                <a:latin typeface="에이투지체 6 SemiBold"/>
                <a:ea typeface="에이투지체 6 SemiBold"/>
                <a:cs typeface="에이투지체 6 SemiBold"/>
              </a:rPr>
              <a:t>광고</a:t>
            </a:r>
            <a:r>
              <a:rPr sz="1150" b="0" dirty="0">
                <a:solidFill>
                  <a:srgbClr val="5C5C5C"/>
                </a:solidFill>
                <a:latin typeface="에이투지체 6 SemiBold"/>
                <a:ea typeface="에이투지체 6 SemiBold"/>
                <a:cs typeface="에이투지체 6 SemiBold"/>
              </a:rPr>
              <a:t> </a:t>
            </a:r>
            <a:r>
              <a:rPr lang="ko-KR" altLang="en-US" sz="1150" b="0" dirty="0">
                <a:solidFill>
                  <a:srgbClr val="5C5C5C"/>
                </a:solidFill>
                <a:latin typeface="에이투지체 6 SemiBold"/>
                <a:ea typeface="에이투지체 6 SemiBold"/>
                <a:cs typeface="에이투지체 6 SemiBold"/>
              </a:rPr>
              <a:t>검색 결과</a:t>
            </a:r>
            <a:endParaRPr sz="1150" b="0" dirty="0">
              <a:solidFill>
                <a:srgbClr val="5C5C5C"/>
              </a:solidFill>
              <a:latin typeface="에이투지체 6 SemiBold"/>
              <a:ea typeface="에이투지체 6 SemiBold"/>
              <a:cs typeface="에이투지체 6 SemiBold"/>
            </a:endParaRPr>
          </a:p>
        </p:txBody>
      </p:sp>
      <p:sp>
        <p:nvSpPr>
          <p:cNvPr id="21" name="TextBox 20"/>
          <p:cNvSpPr txBox="1"/>
          <p:nvPr/>
        </p:nvSpPr>
        <p:spPr>
          <a:xfrm>
            <a:off x="4361688"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브랜드 검색어도 공식 스토어 미노출</a:t>
            </a:r>
          </a:p>
        </p:txBody>
      </p:sp>
      <p:sp>
        <p:nvSpPr>
          <p:cNvPr id="22" name="TextBox 21"/>
          <p:cNvSpPr txBox="1"/>
          <p:nvPr/>
        </p:nvSpPr>
        <p:spPr>
          <a:xfrm>
            <a:off x="4361688"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광고 5개: 고려은단 2, 리셀러 3</a:t>
            </a:r>
          </a:p>
          <a:p>
            <a:pPr algn="l"/>
            <a:r>
              <a:rPr sz="1300" b="0">
                <a:solidFill>
                  <a:srgbClr val="5C5C5C"/>
                </a:solidFill>
                <a:latin typeface="에이투지체 4 Regular"/>
                <a:ea typeface="에이투지체 4 Regular"/>
                <a:cs typeface="에이투지체 4 Regular"/>
              </a:rPr>
              <a:t>상위 30개에 공식 스토어 상품 없음</a:t>
            </a:r>
          </a:p>
          <a:p>
            <a:pPr algn="l"/>
            <a:r>
              <a:rPr sz="1300" b="0">
                <a:solidFill>
                  <a:srgbClr val="5C5C5C"/>
                </a:solidFill>
                <a:latin typeface="에이투지체 4 Regular"/>
                <a:ea typeface="에이투지체 4 Regular"/>
                <a:cs typeface="에이투지체 4 Regular"/>
              </a:rPr>
              <a:t>현대H몰, CJ, GS 등 판매처 노출</a:t>
            </a:r>
          </a:p>
        </p:txBody>
      </p:sp>
      <p:cxnSp>
        <p:nvCxnSpPr>
          <p:cNvPr id="23" name="Connector 22"/>
          <p:cNvCxnSpPr/>
          <p:nvPr/>
        </p:nvCxnSpPr>
        <p:spPr>
          <a:xfrm>
            <a:off x="4361688" y="4873752"/>
            <a:ext cx="3447287"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361688"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브랜드 검색어부터 정비</a:t>
            </a:r>
          </a:p>
        </p:txBody>
      </p:sp>
      <p:sp>
        <p:nvSpPr>
          <p:cNvPr id="25" name="Rounded Rectangle 24"/>
          <p:cNvSpPr/>
          <p:nvPr/>
        </p:nvSpPr>
        <p:spPr>
          <a:xfrm>
            <a:off x="8174736" y="2103120"/>
            <a:ext cx="3447288" cy="1051560"/>
          </a:xfrm>
          <a:prstGeom prst="roundRect">
            <a:avLst>
              <a:gd name="adj" fmla="val 6956"/>
            </a:avLst>
          </a:prstGeom>
          <a:solidFill>
            <a:srgbClr val="0E3A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403336" y="2157984"/>
            <a:ext cx="3017520" cy="530352"/>
          </a:xfrm>
          <a:prstGeom prst="rect">
            <a:avLst/>
          </a:prstGeom>
          <a:noFill/>
        </p:spPr>
        <p:txBody>
          <a:bodyPr wrap="square" lIns="0" tIns="0" rIns="0" bIns="0" anchor="t">
            <a:spAutoFit/>
          </a:bodyPr>
          <a:lstStyle/>
          <a:p>
            <a:pPr algn="l"/>
            <a:r>
              <a:rPr sz="2800" b="0">
                <a:solidFill>
                  <a:srgbClr val="FFFFFF"/>
                </a:solidFill>
                <a:latin typeface="에이투지체 8 ExtraBold"/>
                <a:ea typeface="에이투지체 8 ExtraBold"/>
                <a:cs typeface="에이투지체 8 ExtraBold"/>
              </a:rPr>
              <a:t>신규</a:t>
            </a:r>
          </a:p>
        </p:txBody>
      </p:sp>
      <p:sp>
        <p:nvSpPr>
          <p:cNvPr id="27" name="TextBox 26"/>
          <p:cNvSpPr txBox="1"/>
          <p:nvPr/>
        </p:nvSpPr>
        <p:spPr>
          <a:xfrm>
            <a:off x="8403336" y="2724912"/>
            <a:ext cx="3017520" cy="320040"/>
          </a:xfrm>
          <a:prstGeom prst="rect">
            <a:avLst/>
          </a:prstGeom>
          <a:noFill/>
        </p:spPr>
        <p:txBody>
          <a:bodyPr wrap="square" lIns="0" tIns="0" rIns="0" bIns="0" anchor="t">
            <a:spAutoFit/>
          </a:bodyPr>
          <a:lstStyle/>
          <a:p>
            <a:pPr algn="l"/>
            <a:r>
              <a:rPr sz="1150" b="0">
                <a:solidFill>
                  <a:srgbClr val="C9DAEE"/>
                </a:solidFill>
                <a:latin typeface="에이투지체 6 SemiBold"/>
                <a:ea typeface="에이투지체 6 SemiBold"/>
                <a:cs typeface="에이투지체 6 SemiBold"/>
              </a:rPr>
              <a:t>두드림 공식 스토어</a:t>
            </a:r>
          </a:p>
        </p:txBody>
      </p:sp>
      <p:sp>
        <p:nvSpPr>
          <p:cNvPr id="28" name="TextBox 27"/>
          <p:cNvSpPr txBox="1"/>
          <p:nvPr/>
        </p:nvSpPr>
        <p:spPr>
          <a:xfrm>
            <a:off x="8174736" y="3337560"/>
            <a:ext cx="3447288" cy="365760"/>
          </a:xfrm>
          <a:prstGeom prst="rect">
            <a:avLst/>
          </a:prstGeom>
          <a:noFill/>
        </p:spPr>
        <p:txBody>
          <a:bodyPr wrap="square" lIns="0" tIns="0" rIns="0" bIns="0" anchor="t">
            <a:spAutoFit/>
          </a:bodyPr>
          <a:lstStyle/>
          <a:p>
            <a:pPr algn="l"/>
            <a:r>
              <a:rPr sz="1575" b="0">
                <a:solidFill>
                  <a:srgbClr val="222222"/>
                </a:solidFill>
                <a:latin typeface="에이투지체 6 SemiBold"/>
                <a:ea typeface="에이투지체 6 SemiBold"/>
                <a:cs typeface="에이투지체 6 SemiBold"/>
              </a:rPr>
              <a:t>리뷰 없이 시작하는 단계</a:t>
            </a:r>
          </a:p>
        </p:txBody>
      </p:sp>
      <p:sp>
        <p:nvSpPr>
          <p:cNvPr id="29" name="TextBox 28"/>
          <p:cNvSpPr txBox="1"/>
          <p:nvPr/>
        </p:nvSpPr>
        <p:spPr>
          <a:xfrm>
            <a:off x="8174736" y="3794760"/>
            <a:ext cx="3447288" cy="1051560"/>
          </a:xfrm>
          <a:prstGeom prst="rect">
            <a:avLst/>
          </a:prstGeom>
          <a:noFill/>
        </p:spPr>
        <p:txBody>
          <a:bodyPr wrap="square" lIns="0" tIns="0" rIns="0" bIns="0" anchor="t">
            <a:spAutoFit/>
          </a:bodyPr>
          <a:lstStyle/>
          <a:p>
            <a:pPr algn="l"/>
            <a:r>
              <a:rPr sz="1300" b="0">
                <a:solidFill>
                  <a:srgbClr val="5C5C5C"/>
                </a:solidFill>
                <a:latin typeface="에이투지체 4 Regular"/>
                <a:ea typeface="에이투지체 4 Regular"/>
                <a:cs typeface="에이투지체 4 Regular"/>
              </a:rPr>
              <a:t>찜 1, 리뷰 없음</a:t>
            </a:r>
          </a:p>
          <a:p>
            <a:pPr algn="l"/>
            <a:r>
              <a:rPr sz="1300" b="0">
                <a:solidFill>
                  <a:srgbClr val="5C5C5C"/>
                </a:solidFill>
                <a:latin typeface="에이투지체 4 Regular"/>
                <a:ea typeface="에이투지체 4 Regular"/>
                <a:cs typeface="에이투지체 4 Regular"/>
              </a:rPr>
              <a:t>카무트효소 광고도 전부 경쟁사</a:t>
            </a:r>
          </a:p>
          <a:p>
            <a:pPr algn="l"/>
            <a:r>
              <a:rPr sz="1300" b="0">
                <a:solidFill>
                  <a:srgbClr val="5C5C5C"/>
                </a:solidFill>
                <a:latin typeface="에이투지체 4 Regular"/>
                <a:ea typeface="에이투지체 4 Regular"/>
                <a:cs typeface="에이투지체 4 Regular"/>
              </a:rPr>
              <a:t>(뉴트리원, 그레인온, 동국제약)</a:t>
            </a:r>
          </a:p>
        </p:txBody>
      </p:sp>
      <p:cxnSp>
        <p:nvCxnSpPr>
          <p:cNvPr id="30" name="Connector 29"/>
          <p:cNvCxnSpPr/>
          <p:nvPr/>
        </p:nvCxnSpPr>
        <p:spPr>
          <a:xfrm>
            <a:off x="8174736" y="4873752"/>
            <a:ext cx="3447288" cy="0"/>
          </a:xfrm>
          <a:prstGeom prst="line">
            <a:avLst/>
          </a:prstGeom>
          <a:ln w="12700">
            <a:solidFill>
              <a:srgbClr val="D0D0D0"/>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8174736" y="4983480"/>
            <a:ext cx="3447288" cy="365760"/>
          </a:xfrm>
          <a:prstGeom prst="rect">
            <a:avLst/>
          </a:prstGeom>
          <a:noFill/>
        </p:spPr>
        <p:txBody>
          <a:bodyPr wrap="square" lIns="0" tIns="0" rIns="0" bIns="0" anchor="t">
            <a:spAutoFit/>
          </a:bodyPr>
          <a:lstStyle/>
          <a:p>
            <a:pPr algn="l"/>
            <a:r>
              <a:rPr sz="1300" b="0">
                <a:solidFill>
                  <a:srgbClr val="004F9F"/>
                </a:solidFill>
                <a:latin typeface="에이투지체 6 SemiBold"/>
                <a:ea typeface="에이투지체 6 SemiBold"/>
                <a:cs typeface="에이투지체 6 SemiBold"/>
              </a:rPr>
              <a:t>대표 상품 1~2개에 집중</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a:solidFill>
                  <a:srgbClr val="FFFFFF"/>
                </a:solidFill>
                <a:highlight>
                  <a:srgbClr val="0000FF"/>
                </a:highlight>
                <a:latin typeface="에이투지체 8 ExtraBold"/>
                <a:ea typeface="에이투지체 8 ExtraBold"/>
                <a:cs typeface="에이투지체 8 ExtraBold"/>
              </a:rPr>
              <a:t>지마켓·11번가 핵심 과제</a:t>
            </a:r>
            <a:r>
              <a:rPr sz="1900" b="0">
                <a:solidFill>
                  <a:srgbClr val="222222"/>
                </a:solidFill>
                <a:latin typeface="에이투지체 8 ExtraBold"/>
                <a:ea typeface="에이투지체 8 ExtraBold"/>
                <a:cs typeface="에이투지체 8 ExtraBold"/>
              </a:rPr>
              <a:t>는 네 가지로 나누어</a:t>
            </a:r>
          </a:p>
          <a:p>
            <a:pPr>
              <a:lnSpc>
                <a:spcPts val="2600"/>
              </a:lnSpc>
            </a:pPr>
            <a:r>
              <a:rPr sz="1900" b="0">
                <a:solidFill>
                  <a:srgbClr val="222222"/>
                </a:solidFill>
                <a:latin typeface="에이투지체 8 ExtraBold"/>
                <a:ea typeface="에이투지체 8 ExtraBold"/>
                <a:cs typeface="에이투지체 8 ExtraBold"/>
              </a:rPr>
              <a:t>지마켓 광고와 11번가 공식 스토어로 운영하겠습니다</a:t>
            </a: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a:solidFill>
                  <a:srgbClr val="5C5C5C"/>
                </a:solidFill>
                <a:latin typeface="에이투지체 5 Medium"/>
                <a:ea typeface="에이투지체 5 Medium"/>
                <a:cs typeface="에이투지체 5 Medium"/>
              </a:rPr>
              <a:t>지마켓·11번가 핵심 과제 정리</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a:solidFill>
                  <a:srgbClr val="004F9F"/>
                </a:solidFill>
                <a:latin typeface="에이투지체 6 SemiBold"/>
                <a:ea typeface="에이투지체 6 SemiBold"/>
                <a:cs typeface="에이투지체 6 SemiBold"/>
              </a:rPr>
              <a:t>지마켓·11번가는 쿠팡에서 검증된 상품과 검색어를 중심으로 예산을 늘립니다</a:t>
            </a:r>
          </a:p>
        </p:txBody>
      </p:sp>
      <p:sp>
        <p:nvSpPr>
          <p:cNvPr id="7" name="TextBox 6"/>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8" name="TextBox 7"/>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9" name="TextBox 8"/>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47</a:t>
            </a:r>
          </a:p>
        </p:txBody>
      </p:sp>
      <p:sp>
        <p:nvSpPr>
          <p:cNvPr id="10" name="TextBox 9"/>
          <p:cNvSpPr txBox="1"/>
          <p:nvPr/>
        </p:nvSpPr>
        <p:spPr>
          <a:xfrm>
            <a:off x="548640" y="2084831"/>
            <a:ext cx="242316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핵심 과제</a:t>
            </a:r>
          </a:p>
        </p:txBody>
      </p:sp>
      <p:sp>
        <p:nvSpPr>
          <p:cNvPr id="11" name="TextBox 10"/>
          <p:cNvSpPr txBox="1"/>
          <p:nvPr/>
        </p:nvSpPr>
        <p:spPr>
          <a:xfrm>
            <a:off x="3291840" y="2084831"/>
            <a:ext cx="393192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실행</a:t>
            </a:r>
          </a:p>
        </p:txBody>
      </p:sp>
      <p:sp>
        <p:nvSpPr>
          <p:cNvPr id="12" name="TextBox 11"/>
          <p:cNvSpPr txBox="1"/>
          <p:nvPr/>
        </p:nvSpPr>
        <p:spPr>
          <a:xfrm>
            <a:off x="7543800" y="2084831"/>
            <a:ext cx="210312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운영</a:t>
            </a:r>
          </a:p>
        </p:txBody>
      </p:sp>
      <p:sp>
        <p:nvSpPr>
          <p:cNvPr id="13" name="TextBox 12"/>
          <p:cNvSpPr txBox="1"/>
          <p:nvPr/>
        </p:nvSpPr>
        <p:spPr>
          <a:xfrm>
            <a:off x="9966960" y="2084831"/>
            <a:ext cx="1645920" cy="237744"/>
          </a:xfrm>
          <a:prstGeom prst="rect">
            <a:avLst/>
          </a:prstGeom>
          <a:noFill/>
        </p:spPr>
        <p:txBody>
          <a:bodyPr wrap="square" lIns="0" tIns="0" rIns="0" bIns="0" anchor="t">
            <a:spAutoFit/>
          </a:bodyPr>
          <a:lstStyle/>
          <a:p>
            <a:pPr algn="l"/>
            <a:r>
              <a:rPr sz="950" b="0">
                <a:solidFill>
                  <a:srgbClr val="919191"/>
                </a:solidFill>
                <a:latin typeface="에이투지체 6 SemiBold"/>
                <a:ea typeface="에이투지체 6 SemiBold"/>
                <a:cs typeface="에이투지체 6 SemiBold"/>
              </a:rPr>
              <a:t>관리 지표</a:t>
            </a:r>
          </a:p>
        </p:txBody>
      </p:sp>
      <p:sp>
        <p:nvSpPr>
          <p:cNvPr id="14" name="Rounded Rectangle 13"/>
          <p:cNvSpPr/>
          <p:nvPr/>
        </p:nvSpPr>
        <p:spPr>
          <a:xfrm>
            <a:off x="548640" y="2395728"/>
            <a:ext cx="2423160" cy="640080"/>
          </a:xfrm>
          <a:prstGeom prst="roundRect">
            <a:avLst>
              <a:gd name="adj" fmla="val 11428"/>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2395728"/>
            <a:ext cx="2148840" cy="640080"/>
          </a:xfrm>
          <a:prstGeom prst="rect">
            <a:avLst/>
          </a:prstGeom>
          <a:noFill/>
        </p:spPr>
        <p:txBody>
          <a:bodyPr wrap="square" lIns="0" tIns="0" rIns="0" bIns="0" anchor="ctr">
            <a:spAutoFit/>
          </a:bodyPr>
          <a:lstStyle/>
          <a:p>
            <a:pPr algn="l"/>
            <a:r>
              <a:rPr sz="1050" b="0">
                <a:solidFill>
                  <a:srgbClr val="FFFFFF"/>
                </a:solidFill>
                <a:latin typeface="에이투지체 6 SemiBold"/>
                <a:ea typeface="에이투지체 6 SemiBold"/>
                <a:cs typeface="에이투지체 6 SemiBold"/>
              </a:rPr>
              <a:t>01</a:t>
            </a:r>
          </a:p>
          <a:p>
            <a:pPr algn="l"/>
            <a:r>
              <a:rPr sz="1300" b="0">
                <a:solidFill>
                  <a:srgbClr val="FFFFFF"/>
                </a:solidFill>
                <a:latin typeface="에이투지체 6 SemiBold"/>
                <a:ea typeface="에이투지체 6 SemiBold"/>
                <a:cs typeface="에이투지체 6 SemiBold"/>
              </a:rPr>
              <a:t>브랜드 검색어 채우기</a:t>
            </a:r>
          </a:p>
        </p:txBody>
      </p:sp>
      <p:sp>
        <p:nvSpPr>
          <p:cNvPr id="16" name="Rounded Rectangle 15"/>
          <p:cNvSpPr/>
          <p:nvPr/>
        </p:nvSpPr>
        <p:spPr>
          <a:xfrm>
            <a:off x="3291840" y="2395728"/>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93008" y="2395728"/>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판매 상품을 브랜드 검색어 그룹에 모두 등록하고</a:t>
            </a:r>
          </a:p>
          <a:p>
            <a:pPr algn="l"/>
            <a:r>
              <a:rPr sz="1100" b="0">
                <a:solidFill>
                  <a:srgbClr val="222222"/>
                </a:solidFill>
                <a:latin typeface="에이투지체 5 Medium"/>
                <a:ea typeface="에이투지체 5 Medium"/>
                <a:cs typeface="에이투지체 5 Medium"/>
              </a:rPr>
              <a:t>입찰가는 낮게 설정해 ROAS를 높입니다</a:t>
            </a:r>
          </a:p>
        </p:txBody>
      </p:sp>
      <p:sp>
        <p:nvSpPr>
          <p:cNvPr id="18" name="Rounded Rectangle 17"/>
          <p:cNvSpPr/>
          <p:nvPr/>
        </p:nvSpPr>
        <p:spPr>
          <a:xfrm>
            <a:off x="7543800" y="2468880"/>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635240" y="2468880"/>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직접 운영형</a:t>
            </a:r>
          </a:p>
          <a:p>
            <a:pPr algn="ctr"/>
            <a:r>
              <a:rPr sz="1050" b="0">
                <a:solidFill>
                  <a:srgbClr val="004F9F"/>
                </a:solidFill>
                <a:latin typeface="에이투지체 6 SemiBold"/>
                <a:ea typeface="에이투지체 6 SemiBold"/>
                <a:cs typeface="에이투지체 6 SemiBold"/>
              </a:rPr>
              <a:t>브랜드 검색어 그룹</a:t>
            </a:r>
          </a:p>
        </p:txBody>
      </p:sp>
      <p:sp>
        <p:nvSpPr>
          <p:cNvPr id="20" name="TextBox 19"/>
          <p:cNvSpPr txBox="1"/>
          <p:nvPr/>
        </p:nvSpPr>
        <p:spPr>
          <a:xfrm>
            <a:off x="9966960" y="2395728"/>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브랜드 검색어 ROAS</a:t>
            </a:r>
          </a:p>
          <a:p>
            <a:pPr algn="ctr"/>
            <a:r>
              <a:rPr sz="1100" b="0">
                <a:solidFill>
                  <a:srgbClr val="222222"/>
                </a:solidFill>
                <a:latin typeface="에이투지체 6 SemiBold"/>
                <a:ea typeface="에이투지체 6 SemiBold"/>
                <a:cs typeface="에이투지체 6 SemiBold"/>
              </a:rPr>
              <a:t>광고 영역 점유</a:t>
            </a:r>
          </a:p>
        </p:txBody>
      </p:sp>
      <p:sp>
        <p:nvSpPr>
          <p:cNvPr id="21" name="Isosceles Triangle 20"/>
          <p:cNvSpPr/>
          <p:nvPr/>
        </p:nvSpPr>
        <p:spPr>
          <a:xfrm rot="5400000">
            <a:off x="2990088" y="2642616"/>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Isosceles Triangle 21"/>
          <p:cNvSpPr/>
          <p:nvPr/>
        </p:nvSpPr>
        <p:spPr>
          <a:xfrm rot="5400000">
            <a:off x="7242048" y="2642616"/>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Isosceles Triangle 22"/>
          <p:cNvSpPr/>
          <p:nvPr/>
        </p:nvSpPr>
        <p:spPr>
          <a:xfrm rot="5400000">
            <a:off x="9665208" y="2642616"/>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48640" y="3145536"/>
            <a:ext cx="2423160"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31520" y="3145536"/>
            <a:ext cx="2148840" cy="640080"/>
          </a:xfrm>
          <a:prstGeom prst="rect">
            <a:avLst/>
          </a:prstGeom>
          <a:noFill/>
        </p:spPr>
        <p:txBody>
          <a:bodyPr wrap="square" lIns="0" tIns="0" rIns="0" bIns="0" anchor="ctr">
            <a:spAutoFit/>
          </a:bodyPr>
          <a:lstStyle/>
          <a:p>
            <a:pPr algn="l"/>
            <a:r>
              <a:rPr sz="1050" b="0">
                <a:solidFill>
                  <a:srgbClr val="004F9F"/>
                </a:solidFill>
                <a:latin typeface="에이투지체 6 SemiBold"/>
                <a:ea typeface="에이투지체 6 SemiBold"/>
                <a:cs typeface="에이투지체 6 SemiBold"/>
              </a:rPr>
              <a:t>02</a:t>
            </a:r>
          </a:p>
          <a:p>
            <a:pPr algn="l"/>
            <a:r>
              <a:rPr sz="1300" b="0">
                <a:solidFill>
                  <a:srgbClr val="222222"/>
                </a:solidFill>
                <a:latin typeface="에이투지체 6 SemiBold"/>
                <a:ea typeface="에이투지체 6 SemiBold"/>
                <a:cs typeface="에이투지체 6 SemiBold"/>
              </a:rPr>
              <a:t>전환 효율 관리</a:t>
            </a:r>
          </a:p>
        </p:txBody>
      </p:sp>
      <p:sp>
        <p:nvSpPr>
          <p:cNvPr id="26" name="Rounded Rectangle 25"/>
          <p:cNvSpPr/>
          <p:nvPr/>
        </p:nvSpPr>
        <p:spPr>
          <a:xfrm>
            <a:off x="3291840" y="3145536"/>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493008" y="3145536"/>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리뷰 격차가 큰 검색어는 CPC 상한을 낮추고</a:t>
            </a:r>
          </a:p>
          <a:p>
            <a:pPr algn="l"/>
            <a:r>
              <a:rPr sz="1100" b="0">
                <a:solidFill>
                  <a:srgbClr val="222222"/>
                </a:solidFill>
                <a:latin typeface="에이투지체 5 Medium"/>
                <a:ea typeface="에이투지체 5 Medium"/>
                <a:cs typeface="에이투지체 5 Medium"/>
              </a:rPr>
              <a:t>추가구성 개선과 리뷰 이벤트는 두드림에 제안합니다</a:t>
            </a:r>
          </a:p>
        </p:txBody>
      </p:sp>
      <p:sp>
        <p:nvSpPr>
          <p:cNvPr id="28" name="Rounded Rectangle 27"/>
          <p:cNvSpPr/>
          <p:nvPr/>
        </p:nvSpPr>
        <p:spPr>
          <a:xfrm>
            <a:off x="7543800" y="3218688"/>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635240" y="3218688"/>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직접 운영형</a:t>
            </a:r>
          </a:p>
          <a:p>
            <a:pPr algn="ctr"/>
            <a:r>
              <a:rPr sz="1050" b="0">
                <a:solidFill>
                  <a:srgbClr val="004F9F"/>
                </a:solidFill>
                <a:latin typeface="에이투지체 6 SemiBold"/>
                <a:ea typeface="에이투지체 6 SemiBold"/>
                <a:cs typeface="에이투지체 6 SemiBold"/>
              </a:rPr>
              <a:t>두드림 협의</a:t>
            </a:r>
          </a:p>
        </p:txBody>
      </p:sp>
      <p:sp>
        <p:nvSpPr>
          <p:cNvPr id="30" name="TextBox 29"/>
          <p:cNvSpPr txBox="1"/>
          <p:nvPr/>
        </p:nvSpPr>
        <p:spPr>
          <a:xfrm>
            <a:off x="9966960" y="3145536"/>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구매 전환율</a:t>
            </a:r>
          </a:p>
          <a:p>
            <a:pPr algn="ctr"/>
            <a:r>
              <a:rPr sz="1100" b="0">
                <a:solidFill>
                  <a:srgbClr val="222222"/>
                </a:solidFill>
                <a:latin typeface="에이투지체 6 SemiBold"/>
                <a:ea typeface="에이투지체 6 SemiBold"/>
                <a:cs typeface="에이투지체 6 SemiBold"/>
              </a:rPr>
              <a:t>객단가</a:t>
            </a:r>
          </a:p>
        </p:txBody>
      </p:sp>
      <p:sp>
        <p:nvSpPr>
          <p:cNvPr id="31" name="Isosceles Triangle 30"/>
          <p:cNvSpPr/>
          <p:nvPr/>
        </p:nvSpPr>
        <p:spPr>
          <a:xfrm rot="5400000">
            <a:off x="2990088" y="3392424"/>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Isosceles Triangle 31"/>
          <p:cNvSpPr/>
          <p:nvPr/>
        </p:nvSpPr>
        <p:spPr>
          <a:xfrm rot="5400000">
            <a:off x="7242048" y="3392424"/>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Isosceles Triangle 32"/>
          <p:cNvSpPr/>
          <p:nvPr/>
        </p:nvSpPr>
        <p:spPr>
          <a:xfrm rot="5400000">
            <a:off x="9665208" y="3392424"/>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548640" y="3895344"/>
            <a:ext cx="2423160"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31520" y="3895344"/>
            <a:ext cx="2148840" cy="640080"/>
          </a:xfrm>
          <a:prstGeom prst="rect">
            <a:avLst/>
          </a:prstGeom>
          <a:noFill/>
        </p:spPr>
        <p:txBody>
          <a:bodyPr wrap="square" lIns="0" tIns="0" rIns="0" bIns="0" anchor="ctr">
            <a:spAutoFit/>
          </a:bodyPr>
          <a:lstStyle/>
          <a:p>
            <a:pPr algn="l"/>
            <a:r>
              <a:rPr sz="1050" b="0">
                <a:solidFill>
                  <a:srgbClr val="004F9F"/>
                </a:solidFill>
                <a:latin typeface="에이투지체 6 SemiBold"/>
                <a:ea typeface="에이투지체 6 SemiBold"/>
                <a:cs typeface="에이투지체 6 SemiBold"/>
              </a:rPr>
              <a:t>03</a:t>
            </a:r>
          </a:p>
          <a:p>
            <a:pPr algn="l"/>
            <a:r>
              <a:rPr sz="1300" b="0">
                <a:solidFill>
                  <a:srgbClr val="222222"/>
                </a:solidFill>
                <a:latin typeface="에이투지체 6 SemiBold"/>
                <a:ea typeface="에이투지체 6 SemiBold"/>
                <a:cs typeface="에이투지체 6 SemiBold"/>
              </a:rPr>
              <a:t>검색어 노출 확대</a:t>
            </a:r>
          </a:p>
        </p:txBody>
      </p:sp>
      <p:sp>
        <p:nvSpPr>
          <p:cNvPr id="36" name="Rounded Rectangle 35"/>
          <p:cNvSpPr/>
          <p:nvPr/>
        </p:nvSpPr>
        <p:spPr>
          <a:xfrm>
            <a:off x="3291840" y="3895344"/>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493008" y="3895344"/>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대표 검색어는 CPC 상한 안에서 순위 관리</a:t>
            </a:r>
          </a:p>
          <a:p>
            <a:pPr algn="l"/>
            <a:r>
              <a:rPr sz="1100" b="0">
                <a:solidFill>
                  <a:srgbClr val="222222"/>
                </a:solidFill>
                <a:latin typeface="에이투지체 5 Medium"/>
                <a:ea typeface="에이투지체 5 Medium"/>
                <a:cs typeface="에이투지체 5 Medium"/>
              </a:rPr>
              <a:t>경쟁사 검색어는 매체 정책 확인 후 테스트</a:t>
            </a:r>
          </a:p>
        </p:txBody>
      </p:sp>
      <p:sp>
        <p:nvSpPr>
          <p:cNvPr id="38" name="Rounded Rectangle 37"/>
          <p:cNvSpPr/>
          <p:nvPr/>
        </p:nvSpPr>
        <p:spPr>
          <a:xfrm>
            <a:off x="7543800" y="3968496"/>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635240" y="3968496"/>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직접 운영형</a:t>
            </a:r>
          </a:p>
          <a:p>
            <a:pPr algn="ctr"/>
            <a:r>
              <a:rPr sz="1050" b="0">
                <a:solidFill>
                  <a:srgbClr val="004F9F"/>
                </a:solidFill>
                <a:latin typeface="에이투지체 6 SemiBold"/>
                <a:ea typeface="에이투지체 6 SemiBold"/>
                <a:cs typeface="에이투지체 6 SemiBold"/>
              </a:rPr>
              <a:t>집중 운영형 (카무트)</a:t>
            </a:r>
          </a:p>
        </p:txBody>
      </p:sp>
      <p:sp>
        <p:nvSpPr>
          <p:cNvPr id="40" name="TextBox 39"/>
          <p:cNvSpPr txBox="1"/>
          <p:nvPr/>
        </p:nvSpPr>
        <p:spPr>
          <a:xfrm>
            <a:off x="9966960" y="3895344"/>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검색어별 전환</a:t>
            </a:r>
          </a:p>
          <a:p>
            <a:pPr algn="ctr"/>
            <a:r>
              <a:rPr sz="1100" b="0">
                <a:solidFill>
                  <a:srgbClr val="222222"/>
                </a:solidFill>
                <a:latin typeface="에이투지체 6 SemiBold"/>
                <a:ea typeface="에이투지체 6 SemiBold"/>
                <a:cs typeface="에이투지체 6 SemiBold"/>
              </a:rPr>
              <a:t>무전환 비용</a:t>
            </a:r>
          </a:p>
        </p:txBody>
      </p:sp>
      <p:sp>
        <p:nvSpPr>
          <p:cNvPr id="41" name="Isosceles Triangle 40"/>
          <p:cNvSpPr/>
          <p:nvPr/>
        </p:nvSpPr>
        <p:spPr>
          <a:xfrm rot="5400000">
            <a:off x="2990088" y="4142231"/>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Isosceles Triangle 41"/>
          <p:cNvSpPr/>
          <p:nvPr/>
        </p:nvSpPr>
        <p:spPr>
          <a:xfrm rot="5400000">
            <a:off x="7242048" y="4142231"/>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Isosceles Triangle 42"/>
          <p:cNvSpPr/>
          <p:nvPr/>
        </p:nvSpPr>
        <p:spPr>
          <a:xfrm rot="5400000">
            <a:off x="9665208" y="4142231"/>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548640" y="4645152"/>
            <a:ext cx="2423160" cy="640080"/>
          </a:xfrm>
          <a:prstGeom prst="roundRect">
            <a:avLst>
              <a:gd name="adj" fmla="val 11428"/>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731520" y="4645152"/>
            <a:ext cx="2148840" cy="640080"/>
          </a:xfrm>
          <a:prstGeom prst="rect">
            <a:avLst/>
          </a:prstGeom>
          <a:noFill/>
        </p:spPr>
        <p:txBody>
          <a:bodyPr wrap="square" lIns="0" tIns="0" rIns="0" bIns="0" anchor="ctr">
            <a:spAutoFit/>
          </a:bodyPr>
          <a:lstStyle/>
          <a:p>
            <a:pPr algn="l"/>
            <a:r>
              <a:rPr sz="1050" b="0">
                <a:solidFill>
                  <a:srgbClr val="004F9F"/>
                </a:solidFill>
                <a:latin typeface="에이투지체 6 SemiBold"/>
                <a:ea typeface="에이투지체 6 SemiBold"/>
                <a:cs typeface="에이투지체 6 SemiBold"/>
              </a:rPr>
              <a:t>04</a:t>
            </a:r>
          </a:p>
          <a:p>
            <a:pPr algn="l"/>
            <a:r>
              <a:rPr sz="1300" b="0">
                <a:solidFill>
                  <a:srgbClr val="222222"/>
                </a:solidFill>
                <a:latin typeface="에이투지체 6 SemiBold"/>
                <a:ea typeface="에이투지체 6 SemiBold"/>
                <a:cs typeface="에이투지체 6 SemiBold"/>
              </a:rPr>
              <a:t>11번가 기반 마련</a:t>
            </a:r>
          </a:p>
        </p:txBody>
      </p:sp>
      <p:sp>
        <p:nvSpPr>
          <p:cNvPr id="46" name="Rounded Rectangle 45"/>
          <p:cNvSpPr/>
          <p:nvPr/>
        </p:nvSpPr>
        <p:spPr>
          <a:xfrm>
            <a:off x="3291840" y="4645152"/>
            <a:ext cx="393192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493008" y="4645152"/>
            <a:ext cx="3611880" cy="640080"/>
          </a:xfrm>
          <a:prstGeom prst="rect">
            <a:avLst/>
          </a:prstGeom>
          <a:noFill/>
        </p:spPr>
        <p:txBody>
          <a:bodyPr wrap="square" lIns="0" tIns="0" rIns="0" bIns="0" anchor="ctr">
            <a:spAutoFit/>
          </a:bodyPr>
          <a:lstStyle/>
          <a:p>
            <a:pPr algn="l"/>
            <a:r>
              <a:rPr sz="1100" b="0">
                <a:solidFill>
                  <a:srgbClr val="222222"/>
                </a:solidFill>
                <a:latin typeface="에이투지체 5 Medium"/>
                <a:ea typeface="에이투지체 5 Medium"/>
                <a:cs typeface="에이투지체 5 Medium"/>
              </a:rPr>
              <a:t>공식 스토어 대표 상품 1~2개에 집중해</a:t>
            </a:r>
          </a:p>
          <a:p>
            <a:pPr algn="l"/>
            <a:r>
              <a:rPr sz="1100" b="0">
                <a:solidFill>
                  <a:srgbClr val="222222"/>
                </a:solidFill>
                <a:latin typeface="에이투지체 5 Medium"/>
                <a:ea typeface="에이투지체 5 Medium"/>
                <a:cs typeface="에이투지체 5 Medium"/>
              </a:rPr>
              <a:t>브랜드 검색어에서 판매처보다 먼저 노출</a:t>
            </a:r>
          </a:p>
        </p:txBody>
      </p:sp>
      <p:sp>
        <p:nvSpPr>
          <p:cNvPr id="48" name="Rounded Rectangle 47"/>
          <p:cNvSpPr/>
          <p:nvPr/>
        </p:nvSpPr>
        <p:spPr>
          <a:xfrm>
            <a:off x="7543800" y="4718304"/>
            <a:ext cx="2103120" cy="493775"/>
          </a:xfrm>
          <a:prstGeom prst="roundRect">
            <a:avLst>
              <a:gd name="adj" fmla="val 14814"/>
            </a:avLst>
          </a:prstGeom>
          <a:solidFill>
            <a:srgbClr val="FFFFFF"/>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7635240" y="4718304"/>
            <a:ext cx="1920240" cy="493775"/>
          </a:xfrm>
          <a:prstGeom prst="rect">
            <a:avLst/>
          </a:prstGeom>
          <a:noFill/>
        </p:spPr>
        <p:txBody>
          <a:bodyPr wrap="square" lIns="0" tIns="0" rIns="0" bIns="0" anchor="ctr">
            <a:spAutoFit/>
          </a:bodyPr>
          <a:lstStyle/>
          <a:p>
            <a:pPr algn="ctr"/>
            <a:r>
              <a:rPr sz="1050" b="0">
                <a:solidFill>
                  <a:srgbClr val="004F9F"/>
                </a:solidFill>
                <a:latin typeface="에이투지체 6 SemiBold"/>
                <a:ea typeface="에이투지체 6 SemiBold"/>
                <a:cs typeface="에이투지체 6 SemiBold"/>
              </a:rPr>
              <a:t>11번가</a:t>
            </a:r>
          </a:p>
          <a:p>
            <a:pPr algn="ctr"/>
            <a:r>
              <a:rPr sz="1050" b="0">
                <a:solidFill>
                  <a:srgbClr val="004F9F"/>
                </a:solidFill>
                <a:latin typeface="에이투지체 6 SemiBold"/>
                <a:ea typeface="에이투지체 6 SemiBold"/>
                <a:cs typeface="에이투지체 6 SemiBold"/>
              </a:rPr>
              <a:t>공식 스토어</a:t>
            </a:r>
          </a:p>
        </p:txBody>
      </p:sp>
      <p:sp>
        <p:nvSpPr>
          <p:cNvPr id="50" name="TextBox 49"/>
          <p:cNvSpPr txBox="1"/>
          <p:nvPr/>
        </p:nvSpPr>
        <p:spPr>
          <a:xfrm>
            <a:off x="9966960" y="4645152"/>
            <a:ext cx="1645920" cy="640080"/>
          </a:xfrm>
          <a:prstGeom prst="rect">
            <a:avLst/>
          </a:prstGeom>
          <a:noFill/>
        </p:spPr>
        <p:txBody>
          <a:bodyPr wrap="square" lIns="0" tIns="0" rIns="0" bIns="0" anchor="ctr">
            <a:spAutoFit/>
          </a:bodyPr>
          <a:lstStyle/>
          <a:p>
            <a:pPr algn="ctr"/>
            <a:r>
              <a:rPr sz="1100" b="0">
                <a:solidFill>
                  <a:srgbClr val="222222"/>
                </a:solidFill>
                <a:latin typeface="에이투지체 6 SemiBold"/>
                <a:ea typeface="에이투지체 6 SemiBold"/>
                <a:cs typeface="에이투지체 6 SemiBold"/>
              </a:rPr>
              <a:t>브랜드 검색어 노출</a:t>
            </a:r>
          </a:p>
          <a:p>
            <a:pPr algn="ctr"/>
            <a:r>
              <a:rPr sz="1100" b="0">
                <a:solidFill>
                  <a:srgbClr val="222222"/>
                </a:solidFill>
                <a:latin typeface="에이투지체 6 SemiBold"/>
                <a:ea typeface="에이투지체 6 SemiBold"/>
                <a:cs typeface="에이투지체 6 SemiBold"/>
              </a:rPr>
              <a:t>광고 전환</a:t>
            </a:r>
          </a:p>
        </p:txBody>
      </p:sp>
      <p:sp>
        <p:nvSpPr>
          <p:cNvPr id="51" name="Isosceles Triangle 50"/>
          <p:cNvSpPr/>
          <p:nvPr/>
        </p:nvSpPr>
        <p:spPr>
          <a:xfrm rot="5400000">
            <a:off x="2990088" y="4892040"/>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Isosceles Triangle 51"/>
          <p:cNvSpPr/>
          <p:nvPr/>
        </p:nvSpPr>
        <p:spPr>
          <a:xfrm rot="5400000">
            <a:off x="7242048" y="4892040"/>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Isosceles Triangle 52"/>
          <p:cNvSpPr/>
          <p:nvPr/>
        </p:nvSpPr>
        <p:spPr>
          <a:xfrm rot="5400000">
            <a:off x="9665208" y="4892040"/>
            <a:ext cx="201168" cy="146304"/>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14"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5"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6"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222222"/>
                </a:solidFill>
                <a:latin typeface="에이투지체 6 SemiBold"/>
              </a:rPr>
              <a:t>48</a:t>
            </a:r>
          </a:p>
        </p:txBody>
      </p:sp>
      <p:sp>
        <p:nvSpPr>
          <p:cNvPr id="2" name="text-324">
            <a:extLst>
              <a:ext uri="{FF2B5EF4-FFF2-40B4-BE49-F238E27FC236}">
                <a16:creationId xmlns:a16="http://schemas.microsoft.com/office/drawing/2014/main" id="{07031293-D46C-4A6A-816C-0B86BB674167}"/>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지마켓은 운영 중인 광고를 유형별로</a:t>
            </a:r>
            <a:r>
              <a:rPr lang="ko-KR" sz="1900" dirty="0">
                <a:solidFill>
                  <a:srgbClr val="222222"/>
                </a:solidFill>
                <a:latin typeface="에이투지체 8 ExtraBold"/>
                <a:ea typeface="에이투지체 8 ExtraBold"/>
                <a:cs typeface="에이투지체 8 ExtraBold"/>
              </a:rPr>
              <a:t> 나누고</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11번가는 대표 상품부터 검증해 성과에 따라 예산을 재배분합니다</a:t>
            </a:r>
            <a:endParaRPr lang="ko-KR" sz="1900" dirty="0"/>
          </a:p>
        </p:txBody>
      </p:sp>
      <p:sp>
        <p:nvSpPr>
          <p:cNvPr id="3" name="text-325">
            <a:extLst>
              <a:ext uri="{FF2B5EF4-FFF2-40B4-BE49-F238E27FC236}">
                <a16:creationId xmlns:a16="http://schemas.microsoft.com/office/drawing/2014/main" id="{A948AE7F-2DF3-4E15-B2D2-2248EF809117}"/>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지마켓·11번가 핵심과제  매체별 운영 구조</a:t>
            </a:r>
            <a:endParaRPr lang="ko-KR" sz="1100" dirty="0"/>
          </a:p>
        </p:txBody>
      </p:sp>
      <p:sp>
        <p:nvSpPr>
          <p:cNvPr id="4" name="text-326">
            <a:extLst>
              <a:ext uri="{FF2B5EF4-FFF2-40B4-BE49-F238E27FC236}">
                <a16:creationId xmlns:a16="http://schemas.microsoft.com/office/drawing/2014/main" id="{7C081767-5B60-41BA-8A2C-C146EC9B64B7}"/>
              </a:ext>
            </a:extLst>
          </p:cNvPr>
          <p:cNvSpPr>
            <a:spLocks noGrp="1"/>
          </p:cNvSpPr>
          <p:nvPr/>
        </p:nvSpPr>
        <p:spPr>
          <a:xfrm>
            <a:off x="552450" y="2057400"/>
            <a:ext cx="6534150"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지마켓  AI Product Ads 유형별 역할</a:t>
            </a:r>
          </a:p>
        </p:txBody>
      </p:sp>
      <p:sp>
        <p:nvSpPr>
          <p:cNvPr id="6" name="text-327">
            <a:extLst>
              <a:ext uri="{FF2B5EF4-FFF2-40B4-BE49-F238E27FC236}">
                <a16:creationId xmlns:a16="http://schemas.microsoft.com/office/drawing/2014/main" id="{AC3D492C-1871-4ECD-A853-BECE383AB7F5}"/>
              </a:ext>
            </a:extLst>
          </p:cNvPr>
          <p:cNvSpPr>
            <a:spLocks noGrp="1"/>
          </p:cNvSpPr>
          <p:nvPr/>
        </p:nvSpPr>
        <p:spPr>
          <a:xfrm>
            <a:off x="8077200" y="2057400"/>
            <a:ext cx="3543300" cy="304800"/>
          </a:xfrm>
          <a:prstGeom prst="rect">
            <a:avLst/>
          </a:prstGeom>
          <a:noFill/>
          <a:ln w="0">
            <a:noFill/>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11번가  공식 스토어 초기 운영</a:t>
            </a:r>
          </a:p>
        </p:txBody>
      </p:sp>
      <p:sp>
        <p:nvSpPr>
          <p:cNvPr id="10" name="node-330">
            <a:extLst>
              <a:ext uri="{FF2B5EF4-FFF2-40B4-BE49-F238E27FC236}">
                <a16:creationId xmlns:a16="http://schemas.microsoft.com/office/drawing/2014/main" id="{B3C8D8D8-92C3-4EFA-A5D9-8AA0A256B207}"/>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11" name="text-331">
            <a:extLst>
              <a:ext uri="{FF2B5EF4-FFF2-40B4-BE49-F238E27FC236}">
                <a16:creationId xmlns:a16="http://schemas.microsoft.com/office/drawing/2014/main" id="{1FC95A3F-12DD-464E-815E-860671D9DFF4}"/>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지마켓의 CPC는 상한선으로 관리하고, 매체별 상품 ROAS가 확인된 곳에 예산을 확대합니다</a:t>
            </a:r>
          </a:p>
        </p:txBody>
      </p:sp>
      <p:sp>
        <p:nvSpPr>
          <p:cNvPr id="17" name="TextBox 16"/>
          <p:cNvSpPr txBox="1"/>
          <p:nvPr/>
        </p:nvSpPr>
        <p:spPr>
          <a:xfrm>
            <a:off x="548640" y="2432304"/>
            <a:ext cx="1828800" cy="228600"/>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AI 자동 운영</a:t>
            </a:r>
          </a:p>
        </p:txBody>
      </p:sp>
      <p:sp>
        <p:nvSpPr>
          <p:cNvPr id="18" name="TextBox 17"/>
          <p:cNvSpPr txBox="1"/>
          <p:nvPr/>
        </p:nvSpPr>
        <p:spPr>
          <a:xfrm>
            <a:off x="5806440" y="2432304"/>
            <a:ext cx="1463040" cy="228600"/>
          </a:xfrm>
          <a:prstGeom prst="rect">
            <a:avLst/>
          </a:prstGeom>
          <a:noFill/>
        </p:spPr>
        <p:txBody>
          <a:bodyPr wrap="square" lIns="0" tIns="0" rIns="0" bIns="0" anchor="t">
            <a:spAutoFit/>
          </a:bodyPr>
          <a:lstStyle/>
          <a:p>
            <a:pPr algn="l">
              <a:spcAft>
                <a:spcPts val="300"/>
              </a:spcAft>
            </a:pPr>
            <a:r>
              <a:rPr sz="950">
                <a:solidFill>
                  <a:srgbClr val="004F9F"/>
                </a:solidFill>
                <a:latin typeface="에이투지체 6 SemiBold"/>
                <a:ea typeface="에이투지체 6 SemiBold"/>
              </a:rPr>
              <a:t>직접 관리</a:t>
            </a:r>
          </a:p>
        </p:txBody>
      </p:sp>
      <p:cxnSp>
        <p:nvCxnSpPr>
          <p:cNvPr id="19" name="Connector 18"/>
          <p:cNvCxnSpPr/>
          <p:nvPr/>
        </p:nvCxnSpPr>
        <p:spPr>
          <a:xfrm>
            <a:off x="1600200" y="2546604"/>
            <a:ext cx="4160520" cy="0"/>
          </a:xfrm>
          <a:prstGeom prst="line">
            <a:avLst/>
          </a:prstGeom>
          <a:ln w="9525">
            <a:solidFill>
              <a:srgbClr val="004F9F"/>
            </a:solidFill>
          </a:ln>
        </p:spPr>
        <p:style>
          <a:lnRef idx="2">
            <a:schemeClr val="accent1"/>
          </a:lnRef>
          <a:fillRef idx="0">
            <a:schemeClr val="accent1"/>
          </a:fillRef>
          <a:effectRef idx="1">
            <a:schemeClr val="accent1"/>
          </a:effectRef>
          <a:fontRef idx="minor">
            <a:schemeClr val="tx1"/>
          </a:fontRef>
        </p:style>
      </p:cxnSp>
      <p:sp>
        <p:nvSpPr>
          <p:cNvPr id="20" name="Isosceles Triangle 19"/>
          <p:cNvSpPr/>
          <p:nvPr/>
        </p:nvSpPr>
        <p:spPr>
          <a:xfrm rot="5400000">
            <a:off x="5596128" y="2455164"/>
            <a:ext cx="128016" cy="182880"/>
          </a:xfrm>
          <a:prstGeom prst="triangl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548640" y="2788920"/>
            <a:ext cx="2194560" cy="1965960"/>
          </a:xfrm>
          <a:prstGeom prst="roundRect">
            <a:avLst>
              <a:gd name="adj" fmla="val 372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749808" y="2990088"/>
            <a:ext cx="420624" cy="42062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bot_FFFFFF.png"/>
          <p:cNvPicPr>
            <a:picLocks noChangeAspect="1"/>
          </p:cNvPicPr>
          <p:nvPr/>
        </p:nvPicPr>
        <p:blipFill>
          <a:blip r:embed="rId3"/>
          <a:stretch>
            <a:fillRect/>
          </a:stretch>
        </p:blipFill>
        <p:spPr>
          <a:xfrm>
            <a:off x="859170" y="3099450"/>
            <a:ext cx="201899" cy="201899"/>
          </a:xfrm>
          <a:prstGeom prst="rect">
            <a:avLst/>
          </a:prstGeom>
        </p:spPr>
      </p:pic>
      <p:sp>
        <p:nvSpPr>
          <p:cNvPr id="24" name="TextBox 23"/>
          <p:cNvSpPr txBox="1"/>
          <p:nvPr/>
        </p:nvSpPr>
        <p:spPr>
          <a:xfrm>
            <a:off x="749808" y="3502152"/>
            <a:ext cx="1828800" cy="292608"/>
          </a:xfrm>
          <a:prstGeom prst="rect">
            <a:avLst/>
          </a:prstGeom>
          <a:noFill/>
        </p:spPr>
        <p:txBody>
          <a:bodyPr wrap="square" lIns="0" tIns="0" rIns="0" bIns="0" anchor="t">
            <a:spAutoFit/>
          </a:bodyPr>
          <a:lstStyle/>
          <a:p>
            <a:pPr algn="l">
              <a:spcAft>
                <a:spcPts val="300"/>
              </a:spcAft>
            </a:pPr>
            <a:r>
              <a:rPr sz="1300">
                <a:solidFill>
                  <a:srgbClr val="222222"/>
                </a:solidFill>
                <a:latin typeface="에이투지체 6 SemiBold"/>
                <a:ea typeface="에이투지체 6 SemiBold"/>
              </a:rPr>
              <a:t>통합 운영형</a:t>
            </a:r>
          </a:p>
        </p:txBody>
      </p:sp>
      <p:sp>
        <p:nvSpPr>
          <p:cNvPr id="25" name="TextBox 24"/>
          <p:cNvSpPr txBox="1"/>
          <p:nvPr/>
        </p:nvSpPr>
        <p:spPr>
          <a:xfrm>
            <a:off x="749808" y="3776472"/>
            <a:ext cx="1828800" cy="237744"/>
          </a:xfrm>
          <a:prstGeom prst="rect">
            <a:avLst/>
          </a:prstGeom>
          <a:noFill/>
        </p:spPr>
        <p:txBody>
          <a:bodyPr wrap="square" lIns="0" tIns="0" rIns="0" bIns="0" anchor="t">
            <a:spAutoFit/>
          </a:bodyPr>
          <a:lstStyle/>
          <a:p>
            <a:pPr algn="l">
              <a:spcAft>
                <a:spcPts val="300"/>
              </a:spcAft>
            </a:pPr>
            <a:r>
              <a:rPr sz="1000">
                <a:solidFill>
                  <a:srgbClr val="5C5C5C"/>
                </a:solidFill>
                <a:latin typeface="에이투지체 4 Regular"/>
                <a:ea typeface="에이투지체 4 Regular"/>
              </a:rPr>
              <a:t>상품 · 입찰 모두 AI</a:t>
            </a:r>
          </a:p>
        </p:txBody>
      </p:sp>
      <p:cxnSp>
        <p:nvCxnSpPr>
          <p:cNvPr id="26" name="Connector 25"/>
          <p:cNvCxnSpPr/>
          <p:nvPr/>
        </p:nvCxnSpPr>
        <p:spPr>
          <a:xfrm>
            <a:off x="749808" y="4087368"/>
            <a:ext cx="1792224"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49808" y="4160520"/>
            <a:ext cx="1828800" cy="228600"/>
          </a:xfrm>
          <a:prstGeom prst="rect">
            <a:avLst/>
          </a:prstGeom>
          <a:noFill/>
        </p:spPr>
        <p:txBody>
          <a:bodyPr wrap="square" lIns="0" tIns="0" rIns="0" bIns="0" anchor="t">
            <a:spAutoFit/>
          </a:bodyPr>
          <a:lstStyle/>
          <a:p>
            <a:pPr algn="l">
              <a:spcAft>
                <a:spcPts val="300"/>
              </a:spcAft>
            </a:pPr>
            <a:r>
              <a:rPr sz="900">
                <a:solidFill>
                  <a:srgbClr val="004F9F"/>
                </a:solidFill>
                <a:latin typeface="에이투지체 6 SemiBold"/>
                <a:ea typeface="에이투지체 6 SemiBold"/>
              </a:rPr>
              <a:t>두드림 적용</a:t>
            </a:r>
          </a:p>
        </p:txBody>
      </p:sp>
      <p:sp>
        <p:nvSpPr>
          <p:cNvPr id="28" name="TextBox 27"/>
          <p:cNvSpPr txBox="1"/>
          <p:nvPr/>
        </p:nvSpPr>
        <p:spPr>
          <a:xfrm>
            <a:off x="749808" y="4361688"/>
            <a:ext cx="1828800" cy="329184"/>
          </a:xfrm>
          <a:prstGeom prst="rect">
            <a:avLst/>
          </a:prstGeom>
          <a:noFill/>
        </p:spPr>
        <p:txBody>
          <a:bodyPr wrap="square" lIns="0" tIns="0" rIns="0" bIns="0" anchor="t">
            <a:spAutoFit/>
          </a:bodyPr>
          <a:lstStyle/>
          <a:p>
            <a:pPr algn="l">
              <a:spcAft>
                <a:spcPts val="300"/>
              </a:spcAft>
            </a:pPr>
            <a:r>
              <a:rPr sz="1050">
                <a:solidFill>
                  <a:srgbClr val="222222"/>
                </a:solidFill>
                <a:latin typeface="에이투지체 6 SemiBold"/>
                <a:ea typeface="에이투지체 6 SemiBold"/>
              </a:rPr>
              <a:t>그 외 상품 소액 탐색</a:t>
            </a:r>
          </a:p>
        </p:txBody>
      </p:sp>
      <p:sp>
        <p:nvSpPr>
          <p:cNvPr id="29" name="Rounded Rectangle 28"/>
          <p:cNvSpPr/>
          <p:nvPr/>
        </p:nvSpPr>
        <p:spPr>
          <a:xfrm>
            <a:off x="2889504" y="2788920"/>
            <a:ext cx="2194560" cy="1965960"/>
          </a:xfrm>
          <a:prstGeom prst="roundRect">
            <a:avLst>
              <a:gd name="adj" fmla="val 3720"/>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3090672" y="2990088"/>
            <a:ext cx="420624" cy="42062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sliders-horizontal_FFFFFF.png"/>
          <p:cNvPicPr>
            <a:picLocks noChangeAspect="1"/>
          </p:cNvPicPr>
          <p:nvPr/>
        </p:nvPicPr>
        <p:blipFill>
          <a:blip r:embed="rId4"/>
          <a:stretch>
            <a:fillRect/>
          </a:stretch>
        </p:blipFill>
        <p:spPr>
          <a:xfrm>
            <a:off x="3200034" y="3099450"/>
            <a:ext cx="201899" cy="201899"/>
          </a:xfrm>
          <a:prstGeom prst="rect">
            <a:avLst/>
          </a:prstGeom>
        </p:spPr>
      </p:pic>
      <p:sp>
        <p:nvSpPr>
          <p:cNvPr id="32" name="TextBox 31"/>
          <p:cNvSpPr txBox="1"/>
          <p:nvPr/>
        </p:nvSpPr>
        <p:spPr>
          <a:xfrm>
            <a:off x="3090672" y="3502152"/>
            <a:ext cx="1828800" cy="292608"/>
          </a:xfrm>
          <a:prstGeom prst="rect">
            <a:avLst/>
          </a:prstGeom>
          <a:noFill/>
        </p:spPr>
        <p:txBody>
          <a:bodyPr wrap="square" lIns="0" tIns="0" rIns="0" bIns="0" anchor="t">
            <a:spAutoFit/>
          </a:bodyPr>
          <a:lstStyle/>
          <a:p>
            <a:pPr algn="l">
              <a:spcAft>
                <a:spcPts val="300"/>
              </a:spcAft>
            </a:pPr>
            <a:r>
              <a:rPr sz="1300">
                <a:solidFill>
                  <a:srgbClr val="222222"/>
                </a:solidFill>
                <a:latin typeface="에이투지체 6 SemiBold"/>
                <a:ea typeface="에이투지체 6 SemiBold"/>
              </a:rPr>
              <a:t>집중 운영형</a:t>
            </a:r>
          </a:p>
        </p:txBody>
      </p:sp>
      <p:sp>
        <p:nvSpPr>
          <p:cNvPr id="33" name="TextBox 32"/>
          <p:cNvSpPr txBox="1"/>
          <p:nvPr/>
        </p:nvSpPr>
        <p:spPr>
          <a:xfrm>
            <a:off x="3090672" y="3776472"/>
            <a:ext cx="1828800" cy="237744"/>
          </a:xfrm>
          <a:prstGeom prst="rect">
            <a:avLst/>
          </a:prstGeom>
          <a:noFill/>
        </p:spPr>
        <p:txBody>
          <a:bodyPr wrap="square" lIns="0" tIns="0" rIns="0" bIns="0" anchor="t">
            <a:spAutoFit/>
          </a:bodyPr>
          <a:lstStyle/>
          <a:p>
            <a:pPr algn="l">
              <a:spcAft>
                <a:spcPts val="300"/>
              </a:spcAft>
            </a:pPr>
            <a:r>
              <a:rPr sz="1000">
                <a:solidFill>
                  <a:srgbClr val="5C5C5C"/>
                </a:solidFill>
                <a:latin typeface="에이투지체 4 Regular"/>
                <a:ea typeface="에이투지체 4 Regular"/>
              </a:rPr>
              <a:t>상품은 선택, 입찰은 AI</a:t>
            </a:r>
          </a:p>
        </p:txBody>
      </p:sp>
      <p:cxnSp>
        <p:nvCxnSpPr>
          <p:cNvPr id="34" name="Connector 33"/>
          <p:cNvCxnSpPr/>
          <p:nvPr/>
        </p:nvCxnSpPr>
        <p:spPr>
          <a:xfrm>
            <a:off x="3090672" y="4087368"/>
            <a:ext cx="1792224"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3090672" y="4160520"/>
            <a:ext cx="1828800" cy="228600"/>
          </a:xfrm>
          <a:prstGeom prst="rect">
            <a:avLst/>
          </a:prstGeom>
          <a:noFill/>
        </p:spPr>
        <p:txBody>
          <a:bodyPr wrap="square" lIns="0" tIns="0" rIns="0" bIns="0" anchor="t">
            <a:spAutoFit/>
          </a:bodyPr>
          <a:lstStyle/>
          <a:p>
            <a:pPr algn="l">
              <a:spcAft>
                <a:spcPts val="300"/>
              </a:spcAft>
            </a:pPr>
            <a:r>
              <a:rPr sz="900">
                <a:solidFill>
                  <a:srgbClr val="004F9F"/>
                </a:solidFill>
                <a:latin typeface="에이투지체 6 SemiBold"/>
                <a:ea typeface="에이투지체 6 SemiBold"/>
              </a:rPr>
              <a:t>두드림 적용</a:t>
            </a:r>
          </a:p>
        </p:txBody>
      </p:sp>
      <p:sp>
        <p:nvSpPr>
          <p:cNvPr id="36" name="TextBox 35"/>
          <p:cNvSpPr txBox="1"/>
          <p:nvPr/>
        </p:nvSpPr>
        <p:spPr>
          <a:xfrm>
            <a:off x="3090672" y="4361688"/>
            <a:ext cx="1828800" cy="329184"/>
          </a:xfrm>
          <a:prstGeom prst="rect">
            <a:avLst/>
          </a:prstGeom>
          <a:noFill/>
        </p:spPr>
        <p:txBody>
          <a:bodyPr wrap="square" lIns="0" tIns="0" rIns="0" bIns="0" anchor="t">
            <a:spAutoFit/>
          </a:bodyPr>
          <a:lstStyle/>
          <a:p>
            <a:pPr algn="l">
              <a:spcAft>
                <a:spcPts val="300"/>
              </a:spcAft>
            </a:pPr>
            <a:r>
              <a:rPr sz="1050">
                <a:solidFill>
                  <a:srgbClr val="222222"/>
                </a:solidFill>
                <a:latin typeface="에이투지체 6 SemiBold"/>
                <a:ea typeface="에이투지체 6 SemiBold"/>
              </a:rPr>
              <a:t>카무트 효소 성과 검증</a:t>
            </a:r>
          </a:p>
        </p:txBody>
      </p:sp>
      <p:sp>
        <p:nvSpPr>
          <p:cNvPr id="37" name="Rounded Rectangle 36"/>
          <p:cNvSpPr/>
          <p:nvPr/>
        </p:nvSpPr>
        <p:spPr>
          <a:xfrm>
            <a:off x="5230368" y="2788920"/>
            <a:ext cx="2194560" cy="1965960"/>
          </a:xfrm>
          <a:prstGeom prst="roundRect">
            <a:avLst>
              <a:gd name="adj" fmla="val 3720"/>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5431536" y="2990088"/>
            <a:ext cx="420624" cy="42062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9" name="Picture 38" descr="target_FFFFFF.png"/>
          <p:cNvPicPr>
            <a:picLocks noChangeAspect="1"/>
          </p:cNvPicPr>
          <p:nvPr/>
        </p:nvPicPr>
        <p:blipFill>
          <a:blip r:embed="rId5"/>
          <a:stretch>
            <a:fillRect/>
          </a:stretch>
        </p:blipFill>
        <p:spPr>
          <a:xfrm>
            <a:off x="5540898" y="3099450"/>
            <a:ext cx="201899" cy="201899"/>
          </a:xfrm>
          <a:prstGeom prst="rect">
            <a:avLst/>
          </a:prstGeom>
        </p:spPr>
      </p:pic>
      <p:sp>
        <p:nvSpPr>
          <p:cNvPr id="40" name="TextBox 39"/>
          <p:cNvSpPr txBox="1"/>
          <p:nvPr/>
        </p:nvSpPr>
        <p:spPr>
          <a:xfrm>
            <a:off x="5431536" y="3502152"/>
            <a:ext cx="1828800" cy="292608"/>
          </a:xfrm>
          <a:prstGeom prst="rect">
            <a:avLst/>
          </a:prstGeom>
          <a:noFill/>
        </p:spPr>
        <p:txBody>
          <a:bodyPr wrap="square" lIns="0" tIns="0" rIns="0" bIns="0" anchor="t">
            <a:spAutoFit/>
          </a:bodyPr>
          <a:lstStyle/>
          <a:p>
            <a:pPr algn="l">
              <a:spcAft>
                <a:spcPts val="300"/>
              </a:spcAft>
            </a:pPr>
            <a:r>
              <a:rPr sz="1300">
                <a:solidFill>
                  <a:srgbClr val="222222"/>
                </a:solidFill>
                <a:latin typeface="에이투지체 6 SemiBold"/>
                <a:ea typeface="에이투지체 6 SemiBold"/>
              </a:rPr>
              <a:t>직접 운영형</a:t>
            </a:r>
          </a:p>
        </p:txBody>
      </p:sp>
      <p:sp>
        <p:nvSpPr>
          <p:cNvPr id="41" name="TextBox 40"/>
          <p:cNvSpPr txBox="1"/>
          <p:nvPr/>
        </p:nvSpPr>
        <p:spPr>
          <a:xfrm>
            <a:off x="5431536" y="3776472"/>
            <a:ext cx="1828800" cy="237744"/>
          </a:xfrm>
          <a:prstGeom prst="rect">
            <a:avLst/>
          </a:prstGeom>
          <a:noFill/>
        </p:spPr>
        <p:txBody>
          <a:bodyPr wrap="square" lIns="0" tIns="0" rIns="0" bIns="0" anchor="t">
            <a:spAutoFit/>
          </a:bodyPr>
          <a:lstStyle/>
          <a:p>
            <a:pPr algn="l">
              <a:spcAft>
                <a:spcPts val="300"/>
              </a:spcAft>
            </a:pPr>
            <a:r>
              <a:rPr sz="1000">
                <a:solidFill>
                  <a:srgbClr val="5C5C5C"/>
                </a:solidFill>
                <a:latin typeface="에이투지체 4 Regular"/>
                <a:ea typeface="에이투지체 4 Regular"/>
              </a:rPr>
              <a:t>상품 · 키워드 · 입찰가 직접</a:t>
            </a:r>
          </a:p>
        </p:txBody>
      </p:sp>
      <p:cxnSp>
        <p:nvCxnSpPr>
          <p:cNvPr id="42" name="Connector 41"/>
          <p:cNvCxnSpPr/>
          <p:nvPr/>
        </p:nvCxnSpPr>
        <p:spPr>
          <a:xfrm>
            <a:off x="5431536" y="4087368"/>
            <a:ext cx="1792223" cy="0"/>
          </a:xfrm>
          <a:prstGeom prst="line">
            <a:avLst/>
          </a:prstGeom>
          <a:ln w="9525">
            <a:solidFill>
              <a:srgbClr val="D0D0D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431536" y="4160520"/>
            <a:ext cx="1828800" cy="228600"/>
          </a:xfrm>
          <a:prstGeom prst="rect">
            <a:avLst/>
          </a:prstGeom>
          <a:noFill/>
        </p:spPr>
        <p:txBody>
          <a:bodyPr wrap="square" lIns="0" tIns="0" rIns="0" bIns="0" anchor="t">
            <a:spAutoFit/>
          </a:bodyPr>
          <a:lstStyle/>
          <a:p>
            <a:pPr algn="l">
              <a:spcAft>
                <a:spcPts val="300"/>
              </a:spcAft>
            </a:pPr>
            <a:r>
              <a:rPr sz="900">
                <a:solidFill>
                  <a:srgbClr val="004F9F"/>
                </a:solidFill>
                <a:latin typeface="에이투지체 6 SemiBold"/>
                <a:ea typeface="에이투지체 6 SemiBold"/>
              </a:rPr>
              <a:t>두드림 적용</a:t>
            </a:r>
          </a:p>
        </p:txBody>
      </p:sp>
      <p:sp>
        <p:nvSpPr>
          <p:cNvPr id="44" name="TextBox 43"/>
          <p:cNvSpPr txBox="1"/>
          <p:nvPr/>
        </p:nvSpPr>
        <p:spPr>
          <a:xfrm>
            <a:off x="5431536" y="4361688"/>
            <a:ext cx="1828800" cy="329184"/>
          </a:xfrm>
          <a:prstGeom prst="rect">
            <a:avLst/>
          </a:prstGeom>
          <a:noFill/>
        </p:spPr>
        <p:txBody>
          <a:bodyPr wrap="square" lIns="0" tIns="0" rIns="0" bIns="0" anchor="t">
            <a:spAutoFit/>
          </a:bodyPr>
          <a:lstStyle/>
          <a:p>
            <a:pPr algn="l">
              <a:spcAft>
                <a:spcPts val="300"/>
              </a:spcAft>
            </a:pPr>
            <a:r>
              <a:rPr sz="1050">
                <a:solidFill>
                  <a:srgbClr val="222222"/>
                </a:solidFill>
                <a:latin typeface="에이투지체 6 SemiBold"/>
                <a:ea typeface="에이투지체 6 SemiBold"/>
              </a:rPr>
              <a:t>키성장 FGO 키워드별 CPC 상한</a:t>
            </a:r>
          </a:p>
        </p:txBody>
      </p:sp>
      <p:sp>
        <p:nvSpPr>
          <p:cNvPr id="45" name="Rounded Rectangle 44"/>
          <p:cNvSpPr/>
          <p:nvPr/>
        </p:nvSpPr>
        <p:spPr>
          <a:xfrm>
            <a:off x="8074152" y="2487168"/>
            <a:ext cx="3538728" cy="475488"/>
          </a:xfrm>
          <a:prstGeom prst="roundRect">
            <a:avLst>
              <a:gd name="adj" fmla="val 15384"/>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Oval 45"/>
          <p:cNvSpPr/>
          <p:nvPr/>
        </p:nvSpPr>
        <p:spPr>
          <a:xfrm>
            <a:off x="8229600" y="2578608"/>
            <a:ext cx="292608" cy="292608"/>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7" name="Picture 46" descr="check_FFFFFF.png"/>
          <p:cNvPicPr>
            <a:picLocks noChangeAspect="1"/>
          </p:cNvPicPr>
          <p:nvPr/>
        </p:nvPicPr>
        <p:blipFill>
          <a:blip r:embed="rId6"/>
          <a:stretch>
            <a:fillRect/>
          </a:stretch>
        </p:blipFill>
        <p:spPr>
          <a:xfrm>
            <a:off x="8305678" y="2654686"/>
            <a:ext cx="140451" cy="140451"/>
          </a:xfrm>
          <a:prstGeom prst="rect">
            <a:avLst/>
          </a:prstGeom>
        </p:spPr>
      </p:pic>
      <p:sp>
        <p:nvSpPr>
          <p:cNvPr id="48" name="TextBox 47"/>
          <p:cNvSpPr txBox="1"/>
          <p:nvPr/>
        </p:nvSpPr>
        <p:spPr>
          <a:xfrm>
            <a:off x="8641080" y="2487168"/>
            <a:ext cx="2880360" cy="475488"/>
          </a:xfrm>
          <a:prstGeom prst="rect">
            <a:avLst/>
          </a:prstGeom>
          <a:noFill/>
        </p:spPr>
        <p:txBody>
          <a:bodyPr wrap="square" lIns="0" tIns="0" rIns="0" bIns="0" anchor="ctr">
            <a:spAutoFit/>
          </a:bodyPr>
          <a:lstStyle/>
          <a:p>
            <a:pPr algn="l">
              <a:spcAft>
                <a:spcPts val="300"/>
              </a:spcAft>
            </a:pPr>
            <a:r>
              <a:rPr sz="1200">
                <a:solidFill>
                  <a:srgbClr val="222222"/>
                </a:solidFill>
                <a:latin typeface="에이투지체 5 Medium"/>
                <a:ea typeface="에이투지체 5 Medium"/>
              </a:rPr>
              <a:t>브랜드 키워드 우선</a:t>
            </a:r>
          </a:p>
        </p:txBody>
      </p:sp>
      <p:sp>
        <p:nvSpPr>
          <p:cNvPr id="49" name="Rounded Rectangle 48"/>
          <p:cNvSpPr/>
          <p:nvPr/>
        </p:nvSpPr>
        <p:spPr>
          <a:xfrm>
            <a:off x="8074152" y="3063240"/>
            <a:ext cx="3538728" cy="475488"/>
          </a:xfrm>
          <a:prstGeom prst="roundRect">
            <a:avLst>
              <a:gd name="adj" fmla="val 15384"/>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val 49"/>
          <p:cNvSpPr/>
          <p:nvPr/>
        </p:nvSpPr>
        <p:spPr>
          <a:xfrm>
            <a:off x="8229600" y="3154680"/>
            <a:ext cx="292608" cy="292608"/>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1" name="Picture 50" descr="check_FFFFFF.png"/>
          <p:cNvPicPr>
            <a:picLocks noChangeAspect="1"/>
          </p:cNvPicPr>
          <p:nvPr/>
        </p:nvPicPr>
        <p:blipFill>
          <a:blip r:embed="rId6"/>
          <a:stretch>
            <a:fillRect/>
          </a:stretch>
        </p:blipFill>
        <p:spPr>
          <a:xfrm>
            <a:off x="8305678" y="3230758"/>
            <a:ext cx="140451" cy="140451"/>
          </a:xfrm>
          <a:prstGeom prst="rect">
            <a:avLst/>
          </a:prstGeom>
        </p:spPr>
      </p:pic>
      <p:sp>
        <p:nvSpPr>
          <p:cNvPr id="52" name="TextBox 51"/>
          <p:cNvSpPr txBox="1"/>
          <p:nvPr/>
        </p:nvSpPr>
        <p:spPr>
          <a:xfrm>
            <a:off x="8641080" y="3063240"/>
            <a:ext cx="2880360" cy="475488"/>
          </a:xfrm>
          <a:prstGeom prst="rect">
            <a:avLst/>
          </a:prstGeom>
          <a:noFill/>
        </p:spPr>
        <p:txBody>
          <a:bodyPr wrap="square" lIns="0" tIns="0" rIns="0" bIns="0" anchor="ctr">
            <a:spAutoFit/>
          </a:bodyPr>
          <a:lstStyle/>
          <a:p>
            <a:pPr algn="l">
              <a:spcAft>
                <a:spcPts val="300"/>
              </a:spcAft>
            </a:pPr>
            <a:r>
              <a:rPr sz="1200">
                <a:solidFill>
                  <a:srgbClr val="222222"/>
                </a:solidFill>
                <a:latin typeface="에이투지체 5 Medium"/>
                <a:ea typeface="에이투지체 5 Medium"/>
              </a:rPr>
              <a:t>키성장 롱테일 테스트</a:t>
            </a:r>
          </a:p>
        </p:txBody>
      </p:sp>
      <p:sp>
        <p:nvSpPr>
          <p:cNvPr id="53" name="Rounded Rectangle 52"/>
          <p:cNvSpPr/>
          <p:nvPr/>
        </p:nvSpPr>
        <p:spPr>
          <a:xfrm>
            <a:off x="8074152" y="3639312"/>
            <a:ext cx="3538728" cy="475488"/>
          </a:xfrm>
          <a:prstGeom prst="roundRect">
            <a:avLst>
              <a:gd name="adj" fmla="val 15384"/>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8229600" y="3730752"/>
            <a:ext cx="292608" cy="292608"/>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5" name="Picture 54" descr="check_FFFFFF.png"/>
          <p:cNvPicPr>
            <a:picLocks noChangeAspect="1"/>
          </p:cNvPicPr>
          <p:nvPr/>
        </p:nvPicPr>
        <p:blipFill>
          <a:blip r:embed="rId6"/>
          <a:stretch>
            <a:fillRect/>
          </a:stretch>
        </p:blipFill>
        <p:spPr>
          <a:xfrm>
            <a:off x="8305678" y="3806830"/>
            <a:ext cx="140451" cy="140451"/>
          </a:xfrm>
          <a:prstGeom prst="rect">
            <a:avLst/>
          </a:prstGeom>
        </p:spPr>
      </p:pic>
      <p:sp>
        <p:nvSpPr>
          <p:cNvPr id="56" name="TextBox 55"/>
          <p:cNvSpPr txBox="1"/>
          <p:nvPr/>
        </p:nvSpPr>
        <p:spPr>
          <a:xfrm>
            <a:off x="8641080" y="3639312"/>
            <a:ext cx="2880360" cy="475488"/>
          </a:xfrm>
          <a:prstGeom prst="rect">
            <a:avLst/>
          </a:prstGeom>
          <a:noFill/>
        </p:spPr>
        <p:txBody>
          <a:bodyPr wrap="square" lIns="0" tIns="0" rIns="0" bIns="0" anchor="ctr">
            <a:spAutoFit/>
          </a:bodyPr>
          <a:lstStyle/>
          <a:p>
            <a:pPr algn="l">
              <a:spcAft>
                <a:spcPts val="300"/>
              </a:spcAft>
            </a:pPr>
            <a:r>
              <a:rPr sz="1200">
                <a:solidFill>
                  <a:srgbClr val="222222"/>
                </a:solidFill>
                <a:latin typeface="에이투지체 5 Medium"/>
                <a:ea typeface="에이투지체 5 Medium"/>
              </a:rPr>
              <a:t>대표 상품 1~2개에 집중</a:t>
            </a:r>
          </a:p>
        </p:txBody>
      </p:sp>
      <p:sp>
        <p:nvSpPr>
          <p:cNvPr id="57" name="Rounded Rectangle 56"/>
          <p:cNvSpPr/>
          <p:nvPr/>
        </p:nvSpPr>
        <p:spPr>
          <a:xfrm>
            <a:off x="8074152" y="4215384"/>
            <a:ext cx="3538728" cy="475488"/>
          </a:xfrm>
          <a:prstGeom prst="roundRect">
            <a:avLst>
              <a:gd name="adj" fmla="val 15384"/>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Oval 57"/>
          <p:cNvSpPr/>
          <p:nvPr/>
        </p:nvSpPr>
        <p:spPr>
          <a:xfrm>
            <a:off x="8229600" y="4306824"/>
            <a:ext cx="292608" cy="292608"/>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9" name="Picture 58" descr="check_FFFFFF.png"/>
          <p:cNvPicPr>
            <a:picLocks noChangeAspect="1"/>
          </p:cNvPicPr>
          <p:nvPr/>
        </p:nvPicPr>
        <p:blipFill>
          <a:blip r:embed="rId6"/>
          <a:stretch>
            <a:fillRect/>
          </a:stretch>
        </p:blipFill>
        <p:spPr>
          <a:xfrm>
            <a:off x="8305678" y="4382902"/>
            <a:ext cx="140451" cy="140451"/>
          </a:xfrm>
          <a:prstGeom prst="rect">
            <a:avLst/>
          </a:prstGeom>
        </p:spPr>
      </p:pic>
      <p:sp>
        <p:nvSpPr>
          <p:cNvPr id="60" name="TextBox 59"/>
          <p:cNvSpPr txBox="1"/>
          <p:nvPr/>
        </p:nvSpPr>
        <p:spPr>
          <a:xfrm>
            <a:off x="8641080" y="4215384"/>
            <a:ext cx="2880360" cy="475488"/>
          </a:xfrm>
          <a:prstGeom prst="rect">
            <a:avLst/>
          </a:prstGeom>
          <a:noFill/>
        </p:spPr>
        <p:txBody>
          <a:bodyPr wrap="square" lIns="0" tIns="0" rIns="0" bIns="0" anchor="ctr">
            <a:spAutoFit/>
          </a:bodyPr>
          <a:lstStyle/>
          <a:p>
            <a:pPr algn="l">
              <a:spcAft>
                <a:spcPts val="300"/>
              </a:spcAft>
            </a:pPr>
            <a:r>
              <a:rPr sz="1200">
                <a:solidFill>
                  <a:srgbClr val="222222"/>
                </a:solidFill>
                <a:latin typeface="에이투지체 5 Medium"/>
                <a:ea typeface="에이투지체 5 Medium"/>
              </a:rPr>
              <a:t>판매처 노출 월 1회 점검</a:t>
            </a:r>
          </a:p>
        </p:txBody>
      </p:sp>
      <p:sp>
        <p:nvSpPr>
          <p:cNvPr id="61" name="Rounded Rectangle 60"/>
          <p:cNvSpPr/>
          <p:nvPr/>
        </p:nvSpPr>
        <p:spPr>
          <a:xfrm>
            <a:off x="548640" y="4956048"/>
            <a:ext cx="3566160" cy="438912"/>
          </a:xfrm>
          <a:prstGeom prst="roundRect">
            <a:avLst>
              <a:gd name="adj" fmla="val 16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2" name="Picture 61" descr="copy-x_004F9F.png"/>
          <p:cNvPicPr>
            <a:picLocks noChangeAspect="1"/>
          </p:cNvPicPr>
          <p:nvPr/>
        </p:nvPicPr>
        <p:blipFill>
          <a:blip r:embed="rId7"/>
          <a:stretch>
            <a:fillRect/>
          </a:stretch>
        </p:blipFill>
        <p:spPr>
          <a:xfrm>
            <a:off x="685800" y="5029200"/>
            <a:ext cx="292608" cy="292608"/>
          </a:xfrm>
          <a:prstGeom prst="rect">
            <a:avLst/>
          </a:prstGeom>
        </p:spPr>
      </p:pic>
      <p:sp>
        <p:nvSpPr>
          <p:cNvPr id="63" name="TextBox 62"/>
          <p:cNvSpPr txBox="1"/>
          <p:nvPr/>
        </p:nvSpPr>
        <p:spPr>
          <a:xfrm>
            <a:off x="1097280" y="4956048"/>
            <a:ext cx="2926080" cy="438912"/>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5 Medium"/>
                <a:ea typeface="에이투지체 5 Medium"/>
              </a:rPr>
              <a:t>캠페인 간 상품 중복 없이 운영</a:t>
            </a:r>
          </a:p>
        </p:txBody>
      </p:sp>
      <p:sp>
        <p:nvSpPr>
          <p:cNvPr id="64" name="Rounded Rectangle 63"/>
          <p:cNvSpPr/>
          <p:nvPr/>
        </p:nvSpPr>
        <p:spPr>
          <a:xfrm>
            <a:off x="4297679" y="4956048"/>
            <a:ext cx="3566160" cy="438912"/>
          </a:xfrm>
          <a:prstGeom prst="roundRect">
            <a:avLst>
              <a:gd name="adj" fmla="val 16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5" name="Picture 64" descr="search_004F9F.png"/>
          <p:cNvPicPr>
            <a:picLocks noChangeAspect="1"/>
          </p:cNvPicPr>
          <p:nvPr/>
        </p:nvPicPr>
        <p:blipFill>
          <a:blip r:embed="rId8"/>
          <a:stretch>
            <a:fillRect/>
          </a:stretch>
        </p:blipFill>
        <p:spPr>
          <a:xfrm>
            <a:off x="4434840" y="5029200"/>
            <a:ext cx="292608" cy="292608"/>
          </a:xfrm>
          <a:prstGeom prst="rect">
            <a:avLst/>
          </a:prstGeom>
        </p:spPr>
      </p:pic>
      <p:sp>
        <p:nvSpPr>
          <p:cNvPr id="66" name="TextBox 65"/>
          <p:cNvSpPr txBox="1"/>
          <p:nvPr/>
        </p:nvSpPr>
        <p:spPr>
          <a:xfrm>
            <a:off x="4846319" y="4956048"/>
            <a:ext cx="2926080" cy="438912"/>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5 Medium"/>
                <a:ea typeface="에이투지체 5 Medium"/>
              </a:rPr>
              <a:t>주간 검색어 · 상품 성과 확인</a:t>
            </a:r>
          </a:p>
        </p:txBody>
      </p:sp>
      <p:sp>
        <p:nvSpPr>
          <p:cNvPr id="67" name="Rounded Rectangle 66"/>
          <p:cNvSpPr/>
          <p:nvPr/>
        </p:nvSpPr>
        <p:spPr>
          <a:xfrm>
            <a:off x="8046719" y="4956048"/>
            <a:ext cx="3566160" cy="438912"/>
          </a:xfrm>
          <a:prstGeom prst="roundRect">
            <a:avLst>
              <a:gd name="adj" fmla="val 16666"/>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8" name="Picture 67" descr="trending-up_004F9F.png"/>
          <p:cNvPicPr>
            <a:picLocks noChangeAspect="1"/>
          </p:cNvPicPr>
          <p:nvPr/>
        </p:nvPicPr>
        <p:blipFill>
          <a:blip r:embed="rId9"/>
          <a:stretch>
            <a:fillRect/>
          </a:stretch>
        </p:blipFill>
        <p:spPr>
          <a:xfrm>
            <a:off x="8183879" y="5029200"/>
            <a:ext cx="292608" cy="292608"/>
          </a:xfrm>
          <a:prstGeom prst="rect">
            <a:avLst/>
          </a:prstGeom>
        </p:spPr>
      </p:pic>
      <p:sp>
        <p:nvSpPr>
          <p:cNvPr id="69" name="TextBox 68"/>
          <p:cNvSpPr txBox="1"/>
          <p:nvPr/>
        </p:nvSpPr>
        <p:spPr>
          <a:xfrm>
            <a:off x="8595359" y="4956048"/>
            <a:ext cx="2926080" cy="438912"/>
          </a:xfrm>
          <a:prstGeom prst="rect">
            <a:avLst/>
          </a:prstGeom>
          <a:noFill/>
        </p:spPr>
        <p:txBody>
          <a:bodyPr wrap="square" lIns="0" tIns="0" rIns="0" bIns="0" anchor="ctr">
            <a:spAutoFit/>
          </a:bodyPr>
          <a:lstStyle/>
          <a:p>
            <a:pPr algn="l">
              <a:spcAft>
                <a:spcPts val="300"/>
              </a:spcAft>
            </a:pPr>
            <a:r>
              <a:rPr sz="1150">
                <a:solidFill>
                  <a:srgbClr val="222222"/>
                </a:solidFill>
                <a:latin typeface="에이투지체 5 Medium"/>
                <a:ea typeface="에이투지체 5 Medium"/>
              </a:rPr>
              <a:t>월간 매체별 ROAS 비교</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algn="l"/>
            <a:r>
              <a:rPr sz="900" b="0" spc="100">
                <a:solidFill>
                  <a:srgbClr val="004F9F"/>
                </a:solidFill>
                <a:latin typeface="에이투지체 6 SemiBold"/>
                <a:ea typeface="에이투지체 6 SemiBold"/>
                <a:cs typeface="에이투지체 6 SemiBold"/>
              </a:rPr>
              <a:t>PART 2 · 11월 마케팅 전략 · 미디어믹스</a:t>
            </a:r>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sz="1900" b="0" dirty="0" err="1">
                <a:solidFill>
                  <a:srgbClr val="FFFFFF"/>
                </a:solidFill>
                <a:highlight>
                  <a:srgbClr val="0000FF"/>
                </a:highlight>
                <a:latin typeface="에이투지체 8 ExtraBold"/>
                <a:ea typeface="에이투지체 8 ExtraBold"/>
                <a:cs typeface="에이투지체 8 ExtraBold"/>
              </a:rPr>
              <a:t>같은</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매체</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안에서도</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운영형별</a:t>
            </a:r>
            <a:r>
              <a:rPr sz="1900" b="0" dirty="0">
                <a:solidFill>
                  <a:srgbClr val="FFFFFF"/>
                </a:solidFill>
                <a:highlight>
                  <a:srgbClr val="0000FF"/>
                </a:highlight>
                <a:latin typeface="에이투지체 8 ExtraBold"/>
                <a:ea typeface="에이투지체 8 ExtraBold"/>
                <a:cs typeface="에이투지체 8 ExtraBold"/>
              </a:rPr>
              <a:t> </a:t>
            </a:r>
            <a:r>
              <a:rPr sz="1900" b="0" dirty="0" err="1">
                <a:solidFill>
                  <a:srgbClr val="FFFFFF"/>
                </a:solidFill>
                <a:highlight>
                  <a:srgbClr val="0000FF"/>
                </a:highlight>
                <a:latin typeface="에이투지체 8 ExtraBold"/>
                <a:ea typeface="에이투지체 8 ExtraBold"/>
                <a:cs typeface="에이투지체 8 ExtraBold"/>
              </a:rPr>
              <a:t>ROAS가</a:t>
            </a:r>
            <a:r>
              <a:rPr sz="1900" b="0" dirty="0">
                <a:solidFill>
                  <a:srgbClr val="FFFFFF"/>
                </a:solidFill>
                <a:highlight>
                  <a:srgbClr val="0000FF"/>
                </a:highlight>
                <a:latin typeface="에이투지체 8 ExtraBold"/>
                <a:ea typeface="에이투지체 8 ExtraBold"/>
                <a:cs typeface="에이투지체 8 ExtraBold"/>
              </a:rPr>
              <a:t> 2배 </a:t>
            </a:r>
            <a:r>
              <a:rPr sz="1900" b="0" dirty="0" err="1">
                <a:solidFill>
                  <a:srgbClr val="FFFFFF"/>
                </a:solidFill>
                <a:highlight>
                  <a:srgbClr val="0000FF"/>
                </a:highlight>
                <a:latin typeface="에이투지체 8 ExtraBold"/>
                <a:ea typeface="에이투지체 8 ExtraBold"/>
                <a:cs typeface="에이투지체 8 ExtraBold"/>
              </a:rPr>
              <a:t>차이</a:t>
            </a:r>
            <a:r>
              <a:rPr sz="1900" b="0" dirty="0" err="1">
                <a:solidFill>
                  <a:srgbClr val="222222"/>
                </a:solidFill>
                <a:latin typeface="에이투지체 8 ExtraBold"/>
                <a:ea typeface="에이투지체 8 ExtraBold"/>
                <a:cs typeface="에이투지체 8 ExtraBold"/>
              </a:rPr>
              <a:t>나기</a:t>
            </a:r>
            <a:r>
              <a:rPr sz="1900" b="0" dirty="0">
                <a:solidFill>
                  <a:srgbClr val="222222"/>
                </a:solidFill>
                <a:latin typeface="에이투지체 8 ExtraBold"/>
                <a:ea typeface="에이투지체 8 ExtraBold"/>
                <a:cs typeface="에이투지체 8 ExtraBold"/>
              </a:rPr>
              <a:t> </a:t>
            </a:r>
            <a:r>
              <a:rPr sz="1900" b="0" dirty="0" err="1">
                <a:solidFill>
                  <a:srgbClr val="222222"/>
                </a:solidFill>
                <a:latin typeface="에이투지체 8 ExtraBold"/>
                <a:ea typeface="에이투지체 8 ExtraBold"/>
                <a:cs typeface="에이투지체 8 ExtraBold"/>
              </a:rPr>
              <a:t>때문에</a:t>
            </a:r>
            <a:endParaRPr sz="1900" b="0" dirty="0">
              <a:solidFill>
                <a:srgbClr val="222222"/>
              </a:solidFill>
              <a:latin typeface="에이투지체 8 ExtraBold"/>
              <a:ea typeface="에이투지체 8 ExtraBold"/>
              <a:cs typeface="에이투지체 8 ExtraBold"/>
            </a:endParaRPr>
          </a:p>
          <a:p>
            <a:pPr>
              <a:lnSpc>
                <a:spcPts val="2600"/>
              </a:lnSpc>
            </a:pPr>
            <a:r>
              <a:rPr lang="ko-KR" altLang="en-US" sz="1900" dirty="0" err="1">
                <a:solidFill>
                  <a:srgbClr val="222222"/>
                </a:solidFill>
                <a:latin typeface="에이투지체 8 ExtraBold"/>
                <a:ea typeface="에이투지체 8 ExtraBold"/>
                <a:cs typeface="에이투지체 8 ExtraBold"/>
              </a:rPr>
              <a:t>링크프라이스</a:t>
            </a:r>
            <a:r>
              <a:rPr lang="ko-KR" altLang="en-US" sz="1900" dirty="0">
                <a:solidFill>
                  <a:srgbClr val="222222"/>
                </a:solidFill>
                <a:latin typeface="에이투지체 8 ExtraBold"/>
                <a:ea typeface="에이투지체 8 ExtraBold"/>
                <a:cs typeface="에이투지체 8 ExtraBold"/>
              </a:rPr>
              <a:t> 자체 </a:t>
            </a:r>
            <a:r>
              <a:rPr sz="1900" b="0" dirty="0" err="1">
                <a:solidFill>
                  <a:srgbClr val="222222"/>
                </a:solidFill>
                <a:latin typeface="에이투지체 8 ExtraBold"/>
                <a:ea typeface="에이투지체 8 ExtraBold"/>
                <a:cs typeface="에이투지체 8 ExtraBold"/>
              </a:rPr>
              <a:t>리포트로</a:t>
            </a:r>
            <a:r>
              <a:rPr sz="1900" b="0" dirty="0">
                <a:solidFill>
                  <a:srgbClr val="222222"/>
                </a:solidFill>
                <a:latin typeface="에이투지체 8 ExtraBold"/>
                <a:ea typeface="에이투지체 8 ExtraBold"/>
                <a:cs typeface="에이투지체 8 ExtraBold"/>
              </a:rPr>
              <a:t> </a:t>
            </a:r>
            <a:r>
              <a:rPr sz="1900" b="0" dirty="0" err="1">
                <a:solidFill>
                  <a:srgbClr val="222222"/>
                </a:solidFill>
                <a:latin typeface="에이투지체 8 ExtraBold"/>
                <a:ea typeface="에이투지체 8 ExtraBold"/>
                <a:cs typeface="에이투지체 8 ExtraBold"/>
              </a:rPr>
              <a:t>예산과</a:t>
            </a:r>
            <a:r>
              <a:rPr sz="1900" b="0" dirty="0">
                <a:solidFill>
                  <a:srgbClr val="222222"/>
                </a:solidFill>
                <a:latin typeface="에이투지체 8 ExtraBold"/>
                <a:ea typeface="에이투지체 8 ExtraBold"/>
                <a:cs typeface="에이투지체 8 ExtraBold"/>
              </a:rPr>
              <a:t> CPC </a:t>
            </a:r>
            <a:r>
              <a:rPr sz="1900" b="0" dirty="0" err="1">
                <a:solidFill>
                  <a:srgbClr val="222222"/>
                </a:solidFill>
                <a:latin typeface="에이투지체 8 ExtraBold"/>
                <a:ea typeface="에이투지체 8 ExtraBold"/>
                <a:cs typeface="에이투지체 8 ExtraBold"/>
              </a:rPr>
              <a:t>상한을</a:t>
            </a:r>
            <a:r>
              <a:rPr sz="1900" b="0" dirty="0">
                <a:solidFill>
                  <a:srgbClr val="222222"/>
                </a:solidFill>
                <a:latin typeface="에이투지체 8 ExtraBold"/>
                <a:ea typeface="에이투지체 8 ExtraBold"/>
                <a:cs typeface="에이투지체 8 ExtraBold"/>
              </a:rPr>
              <a:t> </a:t>
            </a:r>
            <a:r>
              <a:rPr sz="1900" b="0" dirty="0" err="1">
                <a:solidFill>
                  <a:srgbClr val="222222"/>
                </a:solidFill>
                <a:latin typeface="에이투지체 8 ExtraBold"/>
                <a:ea typeface="에이투지체 8 ExtraBold"/>
                <a:cs typeface="에이투지체 8 ExtraBold"/>
              </a:rPr>
              <a:t>조정합니다</a:t>
            </a:r>
            <a:endParaRPr sz="1900" b="0" dirty="0">
              <a:solidFill>
                <a:srgbClr val="222222"/>
              </a:solidFill>
              <a:latin typeface="에이투지체 8 ExtraBold"/>
              <a:ea typeface="에이투지체 8 ExtraBold"/>
              <a:cs typeface="에이투지체 8 ExtraBold"/>
            </a:endParaRPr>
          </a:p>
        </p:txBody>
      </p:sp>
      <p:sp>
        <p:nvSpPr>
          <p:cNvPr id="4" name="TextBox 3"/>
          <p:cNvSpPr txBox="1"/>
          <p:nvPr/>
        </p:nvSpPr>
        <p:spPr>
          <a:xfrm>
            <a:off x="548640" y="1517904"/>
            <a:ext cx="11064240" cy="365760"/>
          </a:xfrm>
          <a:prstGeom prst="rect">
            <a:avLst/>
          </a:prstGeom>
          <a:noFill/>
        </p:spPr>
        <p:txBody>
          <a:bodyPr wrap="square" lIns="0" tIns="0" rIns="0" bIns="0" anchor="ctr"/>
          <a:lstStyle/>
          <a:p>
            <a:pPr algn="l"/>
            <a:r>
              <a:rPr sz="1100" b="0">
                <a:solidFill>
                  <a:srgbClr val="5C5C5C"/>
                </a:solidFill>
                <a:latin typeface="에이투지체 5 Medium"/>
                <a:ea typeface="에이투지체 5 Medium"/>
                <a:cs typeface="에이투지체 5 Medium"/>
              </a:rPr>
              <a:t>지마켓 운영 관리  사내 월간 리포트 (동종 건기식 사례)</a:t>
            </a:r>
          </a:p>
        </p:txBody>
      </p:sp>
      <p:sp>
        <p:nvSpPr>
          <p:cNvPr id="5" name="Rounded Rectangle 4"/>
          <p:cNvSpPr/>
          <p:nvPr/>
        </p:nvSpPr>
        <p:spPr>
          <a:xfrm>
            <a:off x="548640" y="5577840"/>
            <a:ext cx="11064240" cy="438912"/>
          </a:xfrm>
          <a:prstGeom prst="roundRect">
            <a:avLst>
              <a:gd name="adj" fmla="val 16666"/>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40664" y="5632704"/>
            <a:ext cx="10671048" cy="347472"/>
          </a:xfrm>
          <a:prstGeom prst="rect">
            <a:avLst/>
          </a:prstGeom>
          <a:noFill/>
        </p:spPr>
        <p:txBody>
          <a:bodyPr wrap="square" lIns="0" tIns="0" rIns="0" bIns="0" anchor="ctr">
            <a:spAutoFit/>
          </a:bodyPr>
          <a:lstStyle/>
          <a:p>
            <a:pPr algn="l"/>
            <a:r>
              <a:rPr sz="1350" b="0" dirty="0" err="1">
                <a:solidFill>
                  <a:srgbClr val="004F9F"/>
                </a:solidFill>
                <a:latin typeface="에이투지체 6 SemiBold"/>
                <a:ea typeface="에이투지체 6 SemiBold"/>
                <a:cs typeface="에이투지체 6 SemiBold"/>
              </a:rPr>
              <a:t>매월</a:t>
            </a:r>
            <a:r>
              <a:rPr sz="1350" b="0" dirty="0">
                <a:solidFill>
                  <a:srgbClr val="004F9F"/>
                </a:solidFill>
                <a:latin typeface="에이투지체 6 SemiBold"/>
                <a:ea typeface="에이투지체 6 SemiBold"/>
                <a:cs typeface="에이투지체 6 SemiBold"/>
              </a:rPr>
              <a:t> </a:t>
            </a:r>
            <a:r>
              <a:rPr sz="1350" b="0" dirty="0" err="1">
                <a:solidFill>
                  <a:srgbClr val="004F9F"/>
                </a:solidFill>
                <a:latin typeface="에이투지체 6 SemiBold"/>
                <a:ea typeface="에이투지체 6 SemiBold"/>
                <a:cs typeface="에이투지체 6 SemiBold"/>
              </a:rPr>
              <a:t>같은</a:t>
            </a:r>
            <a:r>
              <a:rPr sz="1350" b="0" dirty="0">
                <a:solidFill>
                  <a:srgbClr val="004F9F"/>
                </a:solidFill>
                <a:latin typeface="에이투지체 6 SemiBold"/>
                <a:ea typeface="에이투지체 6 SemiBold"/>
                <a:cs typeface="에이투지체 6 SemiBold"/>
              </a:rPr>
              <a:t> </a:t>
            </a:r>
            <a:r>
              <a:rPr sz="1350" b="0" dirty="0" err="1">
                <a:solidFill>
                  <a:srgbClr val="004F9F"/>
                </a:solidFill>
                <a:latin typeface="에이투지체 6 SemiBold"/>
                <a:ea typeface="에이투지체 6 SemiBold"/>
                <a:cs typeface="에이투지체 6 SemiBold"/>
              </a:rPr>
              <a:t>기준의</a:t>
            </a:r>
            <a:r>
              <a:rPr sz="1350" b="0" dirty="0">
                <a:solidFill>
                  <a:srgbClr val="004F9F"/>
                </a:solidFill>
                <a:latin typeface="에이투지체 6 SemiBold"/>
                <a:ea typeface="에이투지체 6 SemiBold"/>
                <a:cs typeface="에이투지체 6 SemiBold"/>
              </a:rPr>
              <a:t> </a:t>
            </a:r>
            <a:r>
              <a:rPr sz="1350" b="0" dirty="0" err="1">
                <a:solidFill>
                  <a:srgbClr val="004F9F"/>
                </a:solidFill>
                <a:latin typeface="에이투지체 6 SemiBold"/>
                <a:ea typeface="에이투지체 6 SemiBold"/>
                <a:cs typeface="에이투지체 6 SemiBold"/>
              </a:rPr>
              <a:t>리포트로</a:t>
            </a:r>
            <a:r>
              <a:rPr sz="1350" b="0" dirty="0">
                <a:solidFill>
                  <a:srgbClr val="004F9F"/>
                </a:solidFill>
                <a:latin typeface="에이투지체 6 SemiBold"/>
                <a:ea typeface="에이투지체 6 SemiBold"/>
                <a:cs typeface="에이투지체 6 SemiBold"/>
              </a:rPr>
              <a:t> </a:t>
            </a:r>
            <a:r>
              <a:rPr sz="1350" b="0" dirty="0" err="1">
                <a:solidFill>
                  <a:srgbClr val="004F9F"/>
                </a:solidFill>
                <a:latin typeface="에이투지체 6 SemiBold"/>
                <a:ea typeface="에이투지체 6 SemiBold"/>
                <a:cs typeface="에이투지체 6 SemiBold"/>
              </a:rPr>
              <a:t>운영형별</a:t>
            </a:r>
            <a:r>
              <a:rPr sz="1350" b="0" dirty="0">
                <a:solidFill>
                  <a:srgbClr val="004F9F"/>
                </a:solidFill>
                <a:latin typeface="에이투지체 6 SemiBold"/>
                <a:ea typeface="에이투지체 6 SemiBold"/>
                <a:cs typeface="에이투지체 6 SemiBold"/>
              </a:rPr>
              <a:t> </a:t>
            </a:r>
            <a:r>
              <a:rPr sz="1350" b="0" dirty="0" err="1">
                <a:solidFill>
                  <a:srgbClr val="004F9F"/>
                </a:solidFill>
                <a:latin typeface="에이투지체 6 SemiBold"/>
                <a:ea typeface="에이투지체 6 SemiBold"/>
                <a:cs typeface="에이투지체 6 SemiBold"/>
              </a:rPr>
              <a:t>성과를</a:t>
            </a:r>
            <a:r>
              <a:rPr sz="1350" b="0" dirty="0">
                <a:solidFill>
                  <a:srgbClr val="004F9F"/>
                </a:solidFill>
                <a:latin typeface="에이투지체 6 SemiBold"/>
                <a:ea typeface="에이투지체 6 SemiBold"/>
                <a:cs typeface="에이투지체 6 SemiBold"/>
              </a:rPr>
              <a:t> </a:t>
            </a:r>
            <a:r>
              <a:rPr sz="1350" b="0" dirty="0" err="1">
                <a:solidFill>
                  <a:srgbClr val="004F9F"/>
                </a:solidFill>
                <a:latin typeface="에이투지체 6 SemiBold"/>
                <a:ea typeface="에이투지체 6 SemiBold"/>
                <a:cs typeface="에이투지체 6 SemiBold"/>
              </a:rPr>
              <a:t>비교하고</a:t>
            </a:r>
            <a:r>
              <a:rPr sz="1350" b="0" dirty="0">
                <a:solidFill>
                  <a:srgbClr val="004F9F"/>
                </a:solidFill>
                <a:latin typeface="에이투지체 6 SemiBold"/>
                <a:ea typeface="에이투지체 6 SemiBold"/>
                <a:cs typeface="에이투지체 6 SemiBold"/>
              </a:rPr>
              <a:t>, </a:t>
            </a:r>
            <a:r>
              <a:rPr sz="1350" b="0" dirty="0" err="1">
                <a:solidFill>
                  <a:srgbClr val="004F9F"/>
                </a:solidFill>
                <a:latin typeface="에이투지체 6 SemiBold"/>
                <a:ea typeface="에이투지체 6 SemiBold"/>
                <a:cs typeface="에이투지체 6 SemiBold"/>
              </a:rPr>
              <a:t>성과가</a:t>
            </a:r>
            <a:r>
              <a:rPr sz="1350" b="0" dirty="0">
                <a:solidFill>
                  <a:srgbClr val="004F9F"/>
                </a:solidFill>
                <a:latin typeface="에이투지체 6 SemiBold"/>
                <a:ea typeface="에이투지체 6 SemiBold"/>
                <a:cs typeface="에이투지체 6 SemiBold"/>
              </a:rPr>
              <a:t> </a:t>
            </a:r>
            <a:r>
              <a:rPr sz="1350" b="0" dirty="0" err="1">
                <a:solidFill>
                  <a:srgbClr val="004F9F"/>
                </a:solidFill>
                <a:latin typeface="에이투지체 6 SemiBold"/>
                <a:ea typeface="에이투지체 6 SemiBold"/>
                <a:cs typeface="에이투지체 6 SemiBold"/>
              </a:rPr>
              <a:t>확인된</a:t>
            </a:r>
            <a:r>
              <a:rPr sz="1350" b="0" dirty="0">
                <a:solidFill>
                  <a:srgbClr val="004F9F"/>
                </a:solidFill>
                <a:latin typeface="에이투지체 6 SemiBold"/>
                <a:ea typeface="에이투지체 6 SemiBold"/>
                <a:cs typeface="에이투지체 6 SemiBold"/>
              </a:rPr>
              <a:t> </a:t>
            </a:r>
            <a:r>
              <a:rPr sz="1350" b="0" dirty="0" err="1">
                <a:solidFill>
                  <a:srgbClr val="004F9F"/>
                </a:solidFill>
                <a:latin typeface="에이투지체 6 SemiBold"/>
                <a:ea typeface="에이투지체 6 SemiBold"/>
                <a:cs typeface="에이투지체 6 SemiBold"/>
              </a:rPr>
              <a:t>곳에</a:t>
            </a:r>
            <a:r>
              <a:rPr sz="1350" b="0" dirty="0">
                <a:solidFill>
                  <a:srgbClr val="004F9F"/>
                </a:solidFill>
                <a:latin typeface="에이투지체 6 SemiBold"/>
                <a:ea typeface="에이투지체 6 SemiBold"/>
                <a:cs typeface="에이투지체 6 SemiBold"/>
              </a:rPr>
              <a:t> </a:t>
            </a:r>
            <a:r>
              <a:rPr sz="1350" b="0" dirty="0" err="1">
                <a:solidFill>
                  <a:srgbClr val="004F9F"/>
                </a:solidFill>
                <a:latin typeface="에이투지체 6 SemiBold"/>
                <a:ea typeface="에이투지체 6 SemiBold"/>
                <a:cs typeface="에이투지체 6 SemiBold"/>
              </a:rPr>
              <a:t>예산을</a:t>
            </a:r>
            <a:r>
              <a:rPr sz="1350" b="0" dirty="0">
                <a:solidFill>
                  <a:srgbClr val="004F9F"/>
                </a:solidFill>
                <a:latin typeface="에이투지체 6 SemiBold"/>
                <a:ea typeface="에이투지체 6 SemiBold"/>
                <a:cs typeface="에이투지체 6 SemiBold"/>
              </a:rPr>
              <a:t> </a:t>
            </a:r>
            <a:r>
              <a:rPr sz="1350" b="0" dirty="0" err="1">
                <a:solidFill>
                  <a:srgbClr val="004F9F"/>
                </a:solidFill>
                <a:latin typeface="에이투지체 6 SemiBold"/>
                <a:ea typeface="에이투지체 6 SemiBold"/>
                <a:cs typeface="에이투지체 6 SemiBold"/>
              </a:rPr>
              <a:t>옮기겠습니다</a:t>
            </a:r>
            <a:endParaRPr sz="1350" b="0" dirty="0">
              <a:solidFill>
                <a:srgbClr val="004F9F"/>
              </a:solidFill>
              <a:latin typeface="에이투지체 6 SemiBold"/>
              <a:ea typeface="에이투지체 6 SemiBold"/>
              <a:cs typeface="에이투지체 6 SemiBold"/>
            </a:endParaRPr>
          </a:p>
        </p:txBody>
      </p:sp>
      <p:sp>
        <p:nvSpPr>
          <p:cNvPr id="7" name="TextBox 6"/>
          <p:cNvSpPr txBox="1"/>
          <p:nvPr/>
        </p:nvSpPr>
        <p:spPr>
          <a:xfrm>
            <a:off x="548640" y="6089904"/>
            <a:ext cx="11064240" cy="274320"/>
          </a:xfrm>
          <a:prstGeom prst="rect">
            <a:avLst/>
          </a:prstGeom>
          <a:noFill/>
        </p:spPr>
        <p:txBody>
          <a:bodyPr wrap="square" lIns="0" tIns="0" rIns="0" bIns="0" anchor="t">
            <a:spAutoFit/>
          </a:bodyPr>
          <a:lstStyle/>
          <a:p>
            <a:pPr algn="l"/>
            <a:r>
              <a:rPr sz="850" b="0">
                <a:solidFill>
                  <a:srgbClr val="919191"/>
                </a:solidFill>
                <a:latin typeface="에이투지체 3 Light"/>
                <a:ea typeface="에이투지체 3 Light"/>
                <a:cs typeface="에이투지체 3 Light"/>
              </a:rPr>
              <a:t>동종 건기식 광고주 지마켓 실제 운영 데이터 (월 광고비 약 1,000만 원, 링크프라이스 사내 월간 리포트) / 광고수익률 외 수치는 가림 처리</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b="0">
                <a:solidFill>
                  <a:srgbClr val="919191"/>
                </a:solidFill>
                <a:latin typeface="에이투지체 3 Light"/>
                <a:ea typeface="에이투지체 3 Light"/>
                <a:cs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b="0">
                <a:solidFill>
                  <a:srgbClr val="919191"/>
                </a:solidFill>
                <a:latin typeface="에이투지체 3 Light"/>
                <a:ea typeface="에이투지체 3 Light"/>
                <a:cs typeface="에이투지체 3 Light"/>
              </a:rPr>
              <a:t>LINKPRICE · BRAND AD CENTER</a:t>
            </a:r>
          </a:p>
        </p:txBody>
      </p:sp>
      <p:sp>
        <p:nvSpPr>
          <p:cNvPr id="10" name="TextBox 9"/>
          <p:cNvSpPr txBox="1"/>
          <p:nvPr/>
        </p:nvSpPr>
        <p:spPr>
          <a:xfrm>
            <a:off x="11292840" y="6473952"/>
            <a:ext cx="365760" cy="274320"/>
          </a:xfrm>
          <a:prstGeom prst="rect">
            <a:avLst/>
          </a:prstGeom>
          <a:noFill/>
        </p:spPr>
        <p:txBody>
          <a:bodyPr wrap="square" lIns="0" tIns="0" rIns="0" bIns="0" anchor="t">
            <a:spAutoFit/>
          </a:bodyPr>
          <a:lstStyle/>
          <a:p>
            <a:pPr algn="r"/>
            <a:r>
              <a:rPr sz="800" b="0">
                <a:solidFill>
                  <a:srgbClr val="222222"/>
                </a:solidFill>
                <a:latin typeface="에이투지체 6 SemiBold"/>
                <a:ea typeface="에이투지체 6 SemiBold"/>
                <a:cs typeface="에이투지체 6 SemiBold"/>
              </a:rPr>
              <a:t>49</a:t>
            </a:r>
          </a:p>
        </p:txBody>
      </p:sp>
      <p:sp>
        <p:nvSpPr>
          <p:cNvPr id="11" name="TextBox 10"/>
          <p:cNvSpPr txBox="1"/>
          <p:nvPr/>
        </p:nvSpPr>
        <p:spPr>
          <a:xfrm>
            <a:off x="548640" y="1993392"/>
            <a:ext cx="722376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동종 건기식 사례  </a:t>
            </a:r>
            <a:r>
              <a:rPr sz="1250" b="0">
                <a:solidFill>
                  <a:srgbClr val="222222"/>
                </a:solidFill>
                <a:latin typeface="에이투지체 6 SemiBold"/>
                <a:ea typeface="에이투지체 6 SemiBold"/>
                <a:cs typeface="에이투지체 6 SemiBold"/>
              </a:rPr>
              <a:t>월 광고비 약 1,000만 원, 캠페인 유형별 데이터</a:t>
            </a:r>
          </a:p>
        </p:txBody>
      </p:sp>
      <p:pic>
        <p:nvPicPr>
          <p:cNvPr id="12" name="Picture 11" descr="report.png"/>
          <p:cNvPicPr>
            <a:picLocks noChangeAspect="1"/>
          </p:cNvPicPr>
          <p:nvPr/>
        </p:nvPicPr>
        <p:blipFill>
          <a:blip r:embed="rId2"/>
          <a:stretch>
            <a:fillRect/>
          </a:stretch>
        </p:blipFill>
        <p:spPr>
          <a:xfrm>
            <a:off x="548640" y="2331720"/>
            <a:ext cx="7223760" cy="2414981"/>
          </a:xfrm>
          <a:prstGeom prst="rect">
            <a:avLst/>
          </a:prstGeom>
          <a:ln w="9525">
            <a:solidFill>
              <a:srgbClr val="DDDDDD"/>
            </a:solidFill>
          </a:ln>
        </p:spPr>
      </p:pic>
      <p:sp>
        <p:nvSpPr>
          <p:cNvPr id="13" name="Rounded Rectangle 12"/>
          <p:cNvSpPr/>
          <p:nvPr/>
        </p:nvSpPr>
        <p:spPr>
          <a:xfrm>
            <a:off x="548640" y="4846320"/>
            <a:ext cx="7223760" cy="502920"/>
          </a:xfrm>
          <a:prstGeom prst="roundRect">
            <a:avLst>
              <a:gd name="adj" fmla="val 14545"/>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4846320"/>
            <a:ext cx="6949440" cy="502920"/>
          </a:xfrm>
          <a:prstGeom prst="rect">
            <a:avLst/>
          </a:prstGeom>
          <a:noFill/>
        </p:spPr>
        <p:txBody>
          <a:bodyPr wrap="square" lIns="0" tIns="0" rIns="0" bIns="0" anchor="ctr">
            <a:spAutoFit/>
          </a:bodyPr>
          <a:lstStyle/>
          <a:p>
            <a:pPr algn="l"/>
            <a:r>
              <a:rPr sz="1150" b="0">
                <a:solidFill>
                  <a:srgbClr val="004F9F"/>
                </a:solidFill>
                <a:latin typeface="에이투지체 6 SemiBold"/>
                <a:ea typeface="에이투지체 6 SemiBold"/>
                <a:cs typeface="에이투지체 6 SemiBold"/>
              </a:rPr>
              <a:t>광고수익률  </a:t>
            </a:r>
            <a:r>
              <a:rPr sz="1150" b="0">
                <a:solidFill>
                  <a:srgbClr val="222222"/>
                </a:solidFill>
                <a:latin typeface="에이투지체 6 SemiBold"/>
                <a:ea typeface="에이투지체 6 SemiBold"/>
                <a:cs typeface="에이투지체 6 SemiBold"/>
              </a:rPr>
              <a:t>통합 운영형 420%, 집중 운영형 383%, 직접 운영형 211%, 전체 291%</a:t>
            </a:r>
          </a:p>
        </p:txBody>
      </p:sp>
      <p:sp>
        <p:nvSpPr>
          <p:cNvPr id="15" name="TextBox 14"/>
          <p:cNvSpPr txBox="1"/>
          <p:nvPr/>
        </p:nvSpPr>
        <p:spPr>
          <a:xfrm>
            <a:off x="8092440" y="1993392"/>
            <a:ext cx="3520440" cy="292608"/>
          </a:xfrm>
          <a:prstGeom prst="rect">
            <a:avLst/>
          </a:prstGeom>
          <a:noFill/>
        </p:spPr>
        <p:txBody>
          <a:bodyPr wrap="square" lIns="0" tIns="0" rIns="0" bIns="0" anchor="t">
            <a:spAutoFit/>
          </a:bodyPr>
          <a:lstStyle/>
          <a:p>
            <a:pPr algn="l"/>
            <a:r>
              <a:rPr sz="1250" b="0">
                <a:solidFill>
                  <a:srgbClr val="004F9F"/>
                </a:solidFill>
                <a:latin typeface="에이투지체 8 ExtraBold"/>
                <a:ea typeface="에이투지체 8 ExtraBold"/>
                <a:cs typeface="에이투지체 8 ExtraBold"/>
              </a:rPr>
              <a:t>관리에 쓰는 방식</a:t>
            </a:r>
          </a:p>
        </p:txBody>
      </p:sp>
      <p:sp>
        <p:nvSpPr>
          <p:cNvPr id="16" name="Rounded Rectangle 15"/>
          <p:cNvSpPr/>
          <p:nvPr/>
        </p:nvSpPr>
        <p:spPr>
          <a:xfrm>
            <a:off x="8092440" y="2331720"/>
            <a:ext cx="3520440" cy="658368"/>
          </a:xfrm>
          <a:prstGeom prst="roundRect">
            <a:avLst>
              <a:gd name="adj" fmla="val 11111"/>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257031" y="2331720"/>
            <a:ext cx="411480" cy="658368"/>
          </a:xfrm>
          <a:prstGeom prst="rect">
            <a:avLst/>
          </a:prstGeom>
          <a:noFill/>
        </p:spPr>
        <p:txBody>
          <a:bodyPr wrap="square" lIns="0" tIns="0" rIns="0" bIns="0" anchor="ctr">
            <a:spAutoFit/>
          </a:bodyPr>
          <a:lstStyle/>
          <a:p>
            <a:pPr algn="l"/>
            <a:r>
              <a:rPr sz="1100" b="0">
                <a:solidFill>
                  <a:srgbClr val="FFFFFF"/>
                </a:solidFill>
                <a:latin typeface="에이투지체 6 SemiBold"/>
                <a:ea typeface="에이투지체 6 SemiBold"/>
                <a:cs typeface="에이투지체 6 SemiBold"/>
              </a:rPr>
              <a:t>01</a:t>
            </a:r>
          </a:p>
        </p:txBody>
      </p:sp>
      <p:sp>
        <p:nvSpPr>
          <p:cNvPr id="18" name="TextBox 17"/>
          <p:cNvSpPr txBox="1"/>
          <p:nvPr/>
        </p:nvSpPr>
        <p:spPr>
          <a:xfrm>
            <a:off x="8686800" y="2331720"/>
            <a:ext cx="2880360" cy="658368"/>
          </a:xfrm>
          <a:prstGeom prst="rect">
            <a:avLst/>
          </a:prstGeom>
          <a:noFill/>
        </p:spPr>
        <p:txBody>
          <a:bodyPr wrap="square" lIns="0" tIns="0" rIns="0" bIns="0" anchor="ctr">
            <a:spAutoFit/>
          </a:bodyPr>
          <a:lstStyle/>
          <a:p>
            <a:pPr algn="l"/>
            <a:r>
              <a:rPr sz="1200" b="0">
                <a:solidFill>
                  <a:srgbClr val="FFFFFF"/>
                </a:solidFill>
                <a:latin typeface="에이투지체 6 SemiBold"/>
                <a:ea typeface="에이투지체 6 SemiBold"/>
                <a:cs typeface="에이투지체 6 SemiBold"/>
              </a:rPr>
              <a:t>운영형별 ROAS 비교</a:t>
            </a:r>
          </a:p>
          <a:p>
            <a:pPr algn="l"/>
            <a:r>
              <a:rPr sz="950" b="0">
                <a:solidFill>
                  <a:srgbClr val="C9DAEE"/>
                </a:solidFill>
                <a:latin typeface="에이투지체 4 Regular"/>
                <a:ea typeface="에이투지체 4 Regular"/>
                <a:cs typeface="에이투지체 4 Regular"/>
              </a:rPr>
              <a:t>통합, 집중, 직접 운영형을 같은 기준으로 비교</a:t>
            </a:r>
          </a:p>
        </p:txBody>
      </p:sp>
      <p:sp>
        <p:nvSpPr>
          <p:cNvPr id="19" name="Rounded Rectangle 18"/>
          <p:cNvSpPr/>
          <p:nvPr/>
        </p:nvSpPr>
        <p:spPr>
          <a:xfrm>
            <a:off x="8092440" y="3099815"/>
            <a:ext cx="3520440" cy="658368"/>
          </a:xfrm>
          <a:prstGeom prst="roundRect">
            <a:avLst>
              <a:gd name="adj" fmla="val 1111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57031" y="3099815"/>
            <a:ext cx="411480" cy="658368"/>
          </a:xfrm>
          <a:prstGeom prst="rect">
            <a:avLst/>
          </a:prstGeom>
          <a:noFill/>
        </p:spPr>
        <p:txBody>
          <a:bodyPr wrap="square" lIns="0" tIns="0" rIns="0" bIns="0" anchor="ctr">
            <a:spAutoFit/>
          </a:bodyPr>
          <a:lstStyle/>
          <a:p>
            <a:pPr algn="l"/>
            <a:r>
              <a:rPr sz="1100" b="0">
                <a:solidFill>
                  <a:srgbClr val="004F9F"/>
                </a:solidFill>
                <a:latin typeface="에이투지체 6 SemiBold"/>
                <a:ea typeface="에이투지체 6 SemiBold"/>
                <a:cs typeface="에이투지체 6 SemiBold"/>
              </a:rPr>
              <a:t>02</a:t>
            </a:r>
          </a:p>
        </p:txBody>
      </p:sp>
      <p:sp>
        <p:nvSpPr>
          <p:cNvPr id="21" name="TextBox 20"/>
          <p:cNvSpPr txBox="1"/>
          <p:nvPr/>
        </p:nvSpPr>
        <p:spPr>
          <a:xfrm>
            <a:off x="8686800" y="3099815"/>
            <a:ext cx="2880360" cy="658368"/>
          </a:xfrm>
          <a:prstGeom prst="rect">
            <a:avLst/>
          </a:prstGeom>
          <a:noFill/>
        </p:spPr>
        <p:txBody>
          <a:bodyPr wrap="square" lIns="0" tIns="0" rIns="0" bIns="0" anchor="ctr">
            <a:spAutoFit/>
          </a:bodyPr>
          <a:lstStyle/>
          <a:p>
            <a:pPr algn="l"/>
            <a:r>
              <a:rPr sz="1200" b="0">
                <a:solidFill>
                  <a:srgbClr val="222222"/>
                </a:solidFill>
                <a:latin typeface="에이투지체 6 SemiBold"/>
                <a:ea typeface="에이투지체 6 SemiBold"/>
                <a:cs typeface="에이투지체 6 SemiBold"/>
              </a:rPr>
              <a:t>예산 재배분</a:t>
            </a:r>
          </a:p>
          <a:p>
            <a:pPr algn="l"/>
            <a:r>
              <a:rPr sz="950" b="0">
                <a:solidFill>
                  <a:srgbClr val="5C5C5C"/>
                </a:solidFill>
                <a:latin typeface="에이투지체 4 Regular"/>
                <a:ea typeface="에이투지체 4 Regular"/>
                <a:cs typeface="에이투지체 4 Regular"/>
              </a:rPr>
              <a:t>ROAS가 확인된 운영형으로 다음 달 예산 이동</a:t>
            </a:r>
          </a:p>
        </p:txBody>
      </p:sp>
      <p:sp>
        <p:nvSpPr>
          <p:cNvPr id="22" name="Rounded Rectangle 21"/>
          <p:cNvSpPr/>
          <p:nvPr/>
        </p:nvSpPr>
        <p:spPr>
          <a:xfrm>
            <a:off x="8092440" y="3867911"/>
            <a:ext cx="3520440" cy="658368"/>
          </a:xfrm>
          <a:prstGeom prst="roundRect">
            <a:avLst>
              <a:gd name="adj" fmla="val 1111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57031" y="3867911"/>
            <a:ext cx="411480" cy="658368"/>
          </a:xfrm>
          <a:prstGeom prst="rect">
            <a:avLst/>
          </a:prstGeom>
          <a:noFill/>
        </p:spPr>
        <p:txBody>
          <a:bodyPr wrap="square" lIns="0" tIns="0" rIns="0" bIns="0" anchor="ctr">
            <a:spAutoFit/>
          </a:bodyPr>
          <a:lstStyle/>
          <a:p>
            <a:pPr algn="l"/>
            <a:r>
              <a:rPr sz="1100" b="0">
                <a:solidFill>
                  <a:srgbClr val="004F9F"/>
                </a:solidFill>
                <a:latin typeface="에이투지체 6 SemiBold"/>
                <a:ea typeface="에이투지체 6 SemiBold"/>
                <a:cs typeface="에이투지체 6 SemiBold"/>
              </a:rPr>
              <a:t>03</a:t>
            </a:r>
          </a:p>
        </p:txBody>
      </p:sp>
      <p:sp>
        <p:nvSpPr>
          <p:cNvPr id="24" name="TextBox 23"/>
          <p:cNvSpPr txBox="1"/>
          <p:nvPr/>
        </p:nvSpPr>
        <p:spPr>
          <a:xfrm>
            <a:off x="8686800" y="3867911"/>
            <a:ext cx="2880360" cy="658368"/>
          </a:xfrm>
          <a:prstGeom prst="rect">
            <a:avLst/>
          </a:prstGeom>
          <a:noFill/>
        </p:spPr>
        <p:txBody>
          <a:bodyPr wrap="square" lIns="0" tIns="0" rIns="0" bIns="0" anchor="ctr">
            <a:spAutoFit/>
          </a:bodyPr>
          <a:lstStyle/>
          <a:p>
            <a:pPr algn="l"/>
            <a:r>
              <a:rPr sz="1200" b="0">
                <a:solidFill>
                  <a:srgbClr val="222222"/>
                </a:solidFill>
                <a:latin typeface="에이투지체 6 SemiBold"/>
                <a:ea typeface="에이투지체 6 SemiBold"/>
                <a:cs typeface="에이투지체 6 SemiBold"/>
              </a:rPr>
              <a:t>CPC 상한 조정</a:t>
            </a:r>
          </a:p>
          <a:p>
            <a:pPr algn="l"/>
            <a:r>
              <a:rPr sz="950" b="0">
                <a:solidFill>
                  <a:srgbClr val="5C5C5C"/>
                </a:solidFill>
                <a:latin typeface="에이투지체 4 Regular"/>
                <a:ea typeface="에이투지체 4 Regular"/>
                <a:cs typeface="에이투지체 4 Regular"/>
              </a:rPr>
              <a:t>직접 운영형 키워드별 CPC 상한 재설정</a:t>
            </a:r>
          </a:p>
        </p:txBody>
      </p:sp>
      <p:sp>
        <p:nvSpPr>
          <p:cNvPr id="25" name="Rounded Rectangle 24"/>
          <p:cNvSpPr/>
          <p:nvPr/>
        </p:nvSpPr>
        <p:spPr>
          <a:xfrm>
            <a:off x="8092440" y="4636008"/>
            <a:ext cx="3520440" cy="658368"/>
          </a:xfrm>
          <a:prstGeom prst="roundRect">
            <a:avLst>
              <a:gd name="adj" fmla="val 1111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257031" y="4636008"/>
            <a:ext cx="411480" cy="658368"/>
          </a:xfrm>
          <a:prstGeom prst="rect">
            <a:avLst/>
          </a:prstGeom>
          <a:noFill/>
        </p:spPr>
        <p:txBody>
          <a:bodyPr wrap="square" lIns="0" tIns="0" rIns="0" bIns="0" anchor="ctr">
            <a:spAutoFit/>
          </a:bodyPr>
          <a:lstStyle/>
          <a:p>
            <a:pPr algn="l"/>
            <a:r>
              <a:rPr sz="1100" b="0">
                <a:solidFill>
                  <a:srgbClr val="004F9F"/>
                </a:solidFill>
                <a:latin typeface="에이투지체 6 SemiBold"/>
                <a:ea typeface="에이투지체 6 SemiBold"/>
                <a:cs typeface="에이투지체 6 SemiBold"/>
              </a:rPr>
              <a:t>04</a:t>
            </a:r>
          </a:p>
        </p:txBody>
      </p:sp>
      <p:sp>
        <p:nvSpPr>
          <p:cNvPr id="27" name="TextBox 26"/>
          <p:cNvSpPr txBox="1"/>
          <p:nvPr/>
        </p:nvSpPr>
        <p:spPr>
          <a:xfrm>
            <a:off x="8686800" y="4636008"/>
            <a:ext cx="2880360" cy="658368"/>
          </a:xfrm>
          <a:prstGeom prst="rect">
            <a:avLst/>
          </a:prstGeom>
          <a:noFill/>
        </p:spPr>
        <p:txBody>
          <a:bodyPr wrap="square" lIns="0" tIns="0" rIns="0" bIns="0" anchor="ctr">
            <a:spAutoFit/>
          </a:bodyPr>
          <a:lstStyle/>
          <a:p>
            <a:pPr algn="l"/>
            <a:r>
              <a:rPr sz="1200" b="0">
                <a:solidFill>
                  <a:srgbClr val="222222"/>
                </a:solidFill>
                <a:latin typeface="에이투지체 6 SemiBold"/>
                <a:ea typeface="에이투지체 6 SemiBold"/>
                <a:cs typeface="에이투지체 6 SemiBold"/>
              </a:rPr>
              <a:t>상품 구성 반영</a:t>
            </a:r>
          </a:p>
          <a:p>
            <a:pPr algn="l"/>
            <a:r>
              <a:rPr sz="950" b="0">
                <a:solidFill>
                  <a:srgbClr val="5C5C5C"/>
                </a:solidFill>
                <a:latin typeface="에이투지체 4 Regular"/>
                <a:ea typeface="에이투지체 4 Regular"/>
                <a:cs typeface="에이투지체 4 Regular"/>
              </a:rPr>
              <a:t>운영형별 상품을 성과 기준으로 교체</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5"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6" name="PGNO"/>
          <p:cNvSpPr txBox="1"/>
          <p:nvPr/>
        </p:nvSpPr>
        <p:spPr>
          <a:xfrm>
            <a:off x="11125200" y="6473952"/>
            <a:ext cx="533400" cy="123111"/>
          </a:xfrm>
          <a:prstGeom prst="rect">
            <a:avLst/>
          </a:prstGeom>
          <a:noFill/>
        </p:spPr>
        <p:txBody>
          <a:bodyPr wrap="square" lIns="0" tIns="0" rIns="0" bIns="0" anchor="t">
            <a:spAutoFit/>
          </a:bodyPr>
          <a:lstStyle/>
          <a:p>
            <a:pPr algn="r"/>
            <a:r>
              <a:rPr lang="en-US" sz="800" dirty="0">
                <a:solidFill>
                  <a:srgbClr val="222222"/>
                </a:solidFill>
                <a:latin typeface="에이투지체 6 SemiBold"/>
              </a:rPr>
              <a:t>66</a:t>
            </a:r>
            <a:endParaRPr sz="800" dirty="0">
              <a:solidFill>
                <a:srgbClr val="222222"/>
              </a:solidFill>
              <a:latin typeface="에이투지체 6 SemiBold"/>
            </a:endParaRPr>
          </a:p>
        </p:txBody>
      </p:sp>
      <p:sp>
        <p:nvSpPr>
          <p:cNvPr id="7" name="slide-title">
            <a:extLst>
              <a:ext uri="{FF2B5EF4-FFF2-40B4-BE49-F238E27FC236}">
                <a16:creationId xmlns:a16="http://schemas.microsoft.com/office/drawing/2014/main" id="{6D9F86D2-0274-4D97-9DD0-48D01CBA268E}"/>
              </a:ext>
            </a:extLst>
          </p:cNvPr>
          <p:cNvSpPr>
            <a:spLocks noGrp="1"/>
          </p:cNvSpPr>
          <p:nvPr/>
        </p:nvSpPr>
        <p:spPr>
          <a:xfrm>
            <a:off x="548640" y="658368"/>
            <a:ext cx="11064240" cy="868680"/>
          </a:xfrm>
          <a:prstGeom prst="rect">
            <a:avLst/>
          </a:prstGeom>
          <a:noFill/>
          <a:ln w="0">
            <a:noFill/>
            <a:prstDash val="solid"/>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매체별 효율에 따라 예산을 배분</a:t>
            </a:r>
            <a:r>
              <a:rPr lang="ko-KR" sz="1900" dirty="0">
                <a:solidFill>
                  <a:srgbClr val="222222"/>
                </a:solidFill>
                <a:latin typeface="에이투지체 8 ExtraBold"/>
                <a:ea typeface="에이투지체 8 ExtraBold"/>
                <a:cs typeface="에이투지체 8 ExtraBold"/>
              </a:rPr>
              <a:t>하고</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블랙프라이데이 기간에 예산을 집중합니다</a:t>
            </a:r>
            <a:endParaRPr lang="ko-KR" sz="1900" dirty="0"/>
          </a:p>
        </p:txBody>
      </p:sp>
      <p:sp>
        <p:nvSpPr>
          <p:cNvPr id="8" name="slide-subtitle">
            <a:extLst>
              <a:ext uri="{FF2B5EF4-FFF2-40B4-BE49-F238E27FC236}">
                <a16:creationId xmlns:a16="http://schemas.microsoft.com/office/drawing/2014/main" id="{3BF180AE-CFD3-46CA-809C-E61DA36563E5}"/>
              </a:ext>
            </a:extLst>
          </p:cNvPr>
          <p:cNvSpPr>
            <a:spLocks noGrp="1"/>
          </p:cNvSpPr>
          <p:nvPr/>
        </p:nvSpPr>
        <p:spPr>
          <a:xfrm>
            <a:off x="548640" y="1517904"/>
            <a:ext cx="11064240" cy="365760"/>
          </a:xfrm>
          <a:prstGeom prst="rect">
            <a:avLst/>
          </a:prstGeom>
          <a:noFill/>
          <a:ln w="0">
            <a:noFill/>
            <a:prstDash val="solid"/>
          </a:ln>
        </p:spPr>
        <p:txBody>
          <a:bodyPr wrap="square" lIns="0" tIns="0" rIns="0" bIns="0" anchor="ctr"/>
          <a:lstStyle>
            <a:defPPr algn="l">
              <a:defRPr sz="1400">
                <a:solidFill>
                  <a:srgbClr val="5C5C5C"/>
                </a:solidFill>
                <a:latin typeface="에이투지체 5 Medium"/>
                <a:ea typeface="에이투지체 5 Medium"/>
                <a:cs typeface="에이투지체 5 Medium"/>
              </a:defRPr>
            </a:defPPr>
          </a:lstStyle>
          <a:p>
            <a:pPr marL="0" indent="0">
              <a:buNone/>
            </a:pPr>
            <a:r>
              <a:rPr lang="ko-KR" sz="1100" dirty="0">
                <a:solidFill>
                  <a:srgbClr val="5C5C5C"/>
                </a:solidFill>
                <a:latin typeface="에이투지체 5 Medium"/>
                <a:ea typeface="에이투지체 5 Medium"/>
                <a:cs typeface="에이투지체 5 Medium"/>
              </a:rPr>
              <a:t>SUMMARY  11월 운영 요약</a:t>
            </a:r>
            <a:endParaRPr lang="ko-KR" sz="1100" dirty="0"/>
          </a:p>
        </p:txBody>
      </p:sp>
      <p:sp>
        <p:nvSpPr>
          <p:cNvPr id="9" name="copy-21">
            <a:extLst>
              <a:ext uri="{FF2B5EF4-FFF2-40B4-BE49-F238E27FC236}">
                <a16:creationId xmlns:a16="http://schemas.microsoft.com/office/drawing/2014/main" id="{4542B477-CE00-494F-AFDD-310D710D0F9B}"/>
              </a:ext>
            </a:extLst>
          </p:cNvPr>
          <p:cNvSpPr>
            <a:spLocks noGrp="1"/>
          </p:cNvSpPr>
          <p:nvPr/>
        </p:nvSpPr>
        <p:spPr>
          <a:xfrm>
            <a:off x="552450" y="2019300"/>
            <a:ext cx="7143750" cy="285750"/>
          </a:xfrm>
          <a:prstGeom prst="rect">
            <a:avLst/>
          </a:prstGeom>
          <a:noFill/>
          <a:ln w="0">
            <a:noFill/>
            <a:prstDash val="solid"/>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11월 일별 예산 분배</a:t>
            </a:r>
          </a:p>
        </p:txBody>
      </p:sp>
      <p:sp>
        <p:nvSpPr>
          <p:cNvPr id="10" name="copy-22">
            <a:extLst>
              <a:ext uri="{FF2B5EF4-FFF2-40B4-BE49-F238E27FC236}">
                <a16:creationId xmlns:a16="http://schemas.microsoft.com/office/drawing/2014/main" id="{8E7A03DB-7D97-4E86-AC42-91E637057514}"/>
              </a:ext>
            </a:extLst>
          </p:cNvPr>
          <p:cNvSpPr>
            <a:spLocks noGrp="1"/>
          </p:cNvSpPr>
          <p:nvPr/>
        </p:nvSpPr>
        <p:spPr>
          <a:xfrm>
            <a:off x="7000875" y="2047875"/>
            <a:ext cx="904875" cy="209550"/>
          </a:xfrm>
          <a:prstGeom prst="rect">
            <a:avLst/>
          </a:prstGeom>
          <a:noFill/>
          <a:ln w="0">
            <a:noFill/>
            <a:prstDash val="solid"/>
          </a:ln>
        </p:spPr>
        <p:txBody>
          <a:bodyPr wrap="square" lIns="0" tIns="0" rIns="0" bIns="0" anchor="ctr">
            <a:noAutofit/>
          </a:bodyPr>
          <a:lstStyle>
            <a:defPPr algn="r">
              <a:defRPr sz="960">
                <a:solidFill>
                  <a:srgbClr val="5C5C5C"/>
                </a:solidFill>
                <a:latin typeface="에이투지체 3 Light"/>
                <a:ea typeface="에이투지체 3 Light"/>
                <a:cs typeface="에이투지체 3 Light"/>
              </a:defRPr>
            </a:defPPr>
          </a:lstStyle>
          <a:p>
            <a:pPr algn="r">
              <a:defRPr sz="960">
                <a:solidFill>
                  <a:srgbClr val="5C5C5C"/>
                </a:solidFill>
                <a:latin typeface="에이투지체 3 Light"/>
                <a:ea typeface="에이투지체 3 Light"/>
                <a:cs typeface="에이투지체 3 Light"/>
              </a:defRPr>
            </a:pPr>
            <a:r>
              <a:rPr sz="960">
                <a:solidFill>
                  <a:srgbClr val="5C5C5C"/>
                </a:solidFill>
                <a:latin typeface="에이투지체 3 Light"/>
                <a:ea typeface="에이투지체 3 Light"/>
                <a:cs typeface="에이투지체 3 Light"/>
              </a:rPr>
              <a:t>단위: 만원</a:t>
            </a:r>
          </a:p>
        </p:txBody>
      </p:sp>
      <p:sp>
        <p:nvSpPr>
          <p:cNvPr id="13" name="copy-25">
            <a:extLst>
              <a:ext uri="{FF2B5EF4-FFF2-40B4-BE49-F238E27FC236}">
                <a16:creationId xmlns:a16="http://schemas.microsoft.com/office/drawing/2014/main" id="{FD13F081-6548-4276-BF2D-F1246A6A2F79}"/>
              </a:ext>
            </a:extLst>
          </p:cNvPr>
          <p:cNvSpPr>
            <a:spLocks noGrp="1"/>
          </p:cNvSpPr>
          <p:nvPr/>
        </p:nvSpPr>
        <p:spPr>
          <a:xfrm>
            <a:off x="552450" y="2390775"/>
            <a:ext cx="3419475" cy="257175"/>
          </a:xfrm>
          <a:prstGeom prst="rect">
            <a:avLst/>
          </a:prstGeom>
          <a:noFill/>
          <a:ln w="0">
            <a:noFill/>
            <a:prstDash val="solid"/>
          </a:ln>
        </p:spPr>
        <p:txBody>
          <a:bodyPr wrap="square" lIns="0" tIns="0" rIns="0" bIns="0" anchor="ctr">
            <a:noAutofit/>
          </a:bodyPr>
          <a:lstStyle>
            <a:defPPr algn="l">
              <a:defRPr sz="1208">
                <a:solidFill>
                  <a:srgbClr val="5C5C5C"/>
                </a:solidFill>
                <a:latin typeface="에이투지체 5 Medium"/>
                <a:ea typeface="에이투지체 5 Medium"/>
                <a:cs typeface="에이투지체 5 Medium"/>
              </a:defRPr>
            </a:defPPr>
          </a:lstStyle>
          <a:p>
            <a:pPr algn="l">
              <a:defRPr sz="1208">
                <a:solidFill>
                  <a:srgbClr val="5C5C5C"/>
                </a:solidFill>
                <a:latin typeface="에이투지체 5 Medium"/>
                <a:ea typeface="에이투지체 5 Medium"/>
                <a:cs typeface="에이투지체 5 Medium"/>
              </a:defRPr>
            </a:pPr>
            <a:r>
              <a:rPr sz="1208">
                <a:solidFill>
                  <a:srgbClr val="5C5C5C"/>
                </a:solidFill>
                <a:latin typeface="에이투지체 5 Medium"/>
                <a:ea typeface="에이투지체 5 Medium"/>
                <a:cs typeface="에이투지체 5 Medium"/>
              </a:rPr>
              <a:t>블랙프라이데이  11/20~29</a:t>
            </a:r>
          </a:p>
        </p:txBody>
      </p:sp>
      <p:sp>
        <p:nvSpPr>
          <p:cNvPr id="14" name="copy-26">
            <a:extLst>
              <a:ext uri="{FF2B5EF4-FFF2-40B4-BE49-F238E27FC236}">
                <a16:creationId xmlns:a16="http://schemas.microsoft.com/office/drawing/2014/main" id="{22EDD6B3-40A8-4A8A-BD2F-1F3C3A70F919}"/>
              </a:ext>
            </a:extLst>
          </p:cNvPr>
          <p:cNvSpPr>
            <a:spLocks noGrp="1"/>
          </p:cNvSpPr>
          <p:nvPr/>
        </p:nvSpPr>
        <p:spPr>
          <a:xfrm>
            <a:off x="552450" y="2657475"/>
            <a:ext cx="3571875" cy="323850"/>
          </a:xfrm>
          <a:prstGeom prst="rect">
            <a:avLst/>
          </a:prstGeom>
          <a:noFill/>
          <a:ln w="0">
            <a:noFill/>
            <a:prstDash val="solid"/>
          </a:ln>
        </p:spPr>
        <p:txBody>
          <a:bodyPr wrap="square" lIns="0" tIns="0" rIns="0" bIns="0" anchor="ctr">
            <a:noAutofit/>
          </a:bodyPr>
          <a:lstStyle>
            <a:defPPr algn="l">
              <a:defRPr sz="1883">
                <a:solidFill>
                  <a:srgbClr val="004F9F"/>
                </a:solidFill>
                <a:latin typeface="에이투지체 8 ExtraBold"/>
                <a:ea typeface="에이투지체 8 ExtraBold"/>
                <a:cs typeface="에이투지체 8 ExtraBold"/>
              </a:defRPr>
            </a:defPPr>
          </a:lstStyle>
          <a:p>
            <a:pPr algn="l">
              <a:defRPr sz="1883">
                <a:solidFill>
                  <a:srgbClr val="004F9F"/>
                </a:solidFill>
                <a:latin typeface="에이투지체 8 ExtraBold"/>
                <a:ea typeface="에이투지체 8 ExtraBold"/>
                <a:cs typeface="에이투지체 8 ExtraBold"/>
              </a:defRPr>
            </a:pPr>
            <a:r>
              <a:rPr sz="1883">
                <a:solidFill>
                  <a:srgbClr val="004F9F"/>
                </a:solidFill>
                <a:latin typeface="에이투지체 8 ExtraBold"/>
                <a:ea typeface="에이투지체 8 ExtraBold"/>
                <a:cs typeface="에이투지체 8 ExtraBold"/>
              </a:rPr>
              <a:t>1.8억원  (월 예산의 60%)</a:t>
            </a:r>
          </a:p>
        </p:txBody>
      </p:sp>
      <p:sp>
        <p:nvSpPr>
          <p:cNvPr id="15" name="copy-27">
            <a:extLst>
              <a:ext uri="{FF2B5EF4-FFF2-40B4-BE49-F238E27FC236}">
                <a16:creationId xmlns:a16="http://schemas.microsoft.com/office/drawing/2014/main" id="{2CA0CAA1-D972-4049-AA72-83322D235220}"/>
              </a:ext>
            </a:extLst>
          </p:cNvPr>
          <p:cNvSpPr>
            <a:spLocks noGrp="1"/>
          </p:cNvSpPr>
          <p:nvPr/>
        </p:nvSpPr>
        <p:spPr>
          <a:xfrm>
            <a:off x="4333875" y="2390775"/>
            <a:ext cx="3562350" cy="257175"/>
          </a:xfrm>
          <a:prstGeom prst="rect">
            <a:avLst/>
          </a:prstGeom>
          <a:noFill/>
          <a:ln w="0">
            <a:noFill/>
            <a:prstDash val="solid"/>
          </a:ln>
        </p:spPr>
        <p:txBody>
          <a:bodyPr wrap="square" lIns="0" tIns="0" rIns="0" bIns="0" anchor="ctr">
            <a:noAutofit/>
          </a:bodyPr>
          <a:lstStyle>
            <a:defPPr algn="l">
              <a:defRPr sz="1208">
                <a:solidFill>
                  <a:srgbClr val="5C5C5C"/>
                </a:solidFill>
                <a:latin typeface="에이투지체 5 Medium"/>
                <a:ea typeface="에이투지체 5 Medium"/>
                <a:cs typeface="에이투지체 5 Medium"/>
              </a:defRPr>
            </a:defPPr>
          </a:lstStyle>
          <a:p>
            <a:pPr algn="l">
              <a:defRPr sz="1208">
                <a:solidFill>
                  <a:srgbClr val="5C5C5C"/>
                </a:solidFill>
                <a:latin typeface="에이투지체 5 Medium"/>
                <a:ea typeface="에이투지체 5 Medium"/>
                <a:cs typeface="에이투지체 5 Medium"/>
              </a:defRPr>
            </a:pPr>
            <a:r>
              <a:rPr sz="1208">
                <a:solidFill>
                  <a:srgbClr val="5C5C5C"/>
                </a:solidFill>
                <a:latin typeface="에이투지체 5 Medium"/>
                <a:ea typeface="에이투지체 5 Medium"/>
                <a:cs typeface="에이투지체 5 Medium"/>
              </a:rPr>
              <a:t>집중 집행  11/27~30</a:t>
            </a:r>
          </a:p>
        </p:txBody>
      </p:sp>
      <p:sp>
        <p:nvSpPr>
          <p:cNvPr id="16" name="copy-28">
            <a:extLst>
              <a:ext uri="{FF2B5EF4-FFF2-40B4-BE49-F238E27FC236}">
                <a16:creationId xmlns:a16="http://schemas.microsoft.com/office/drawing/2014/main" id="{BDC5569E-B601-46A0-87FD-745D60CFB228}"/>
              </a:ext>
            </a:extLst>
          </p:cNvPr>
          <p:cNvSpPr>
            <a:spLocks noGrp="1"/>
          </p:cNvSpPr>
          <p:nvPr/>
        </p:nvSpPr>
        <p:spPr>
          <a:xfrm>
            <a:off x="4333875" y="2667000"/>
            <a:ext cx="3562350" cy="295275"/>
          </a:xfrm>
          <a:prstGeom prst="rect">
            <a:avLst/>
          </a:prstGeom>
          <a:noFill/>
          <a:ln w="0">
            <a:noFill/>
            <a:prstDash val="solid"/>
          </a:ln>
        </p:spPr>
        <p:txBody>
          <a:bodyPr wrap="square" lIns="0" tIns="0" rIns="0" bIns="0" anchor="ctr">
            <a:noAutofit/>
          </a:bodyPr>
          <a:lstStyle>
            <a:defPPr algn="l">
              <a:defRPr sz="1560">
                <a:solidFill>
                  <a:srgbClr val="0A2F5C"/>
                </a:solidFill>
                <a:latin typeface="에이투지체 6 SemiBold"/>
                <a:ea typeface="에이투지체 6 SemiBold"/>
                <a:cs typeface="에이투지체 6 SemiBold"/>
              </a:defRPr>
            </a:defPPr>
          </a:lstStyle>
          <a:p>
            <a:pPr algn="l">
              <a:defRPr sz="1560">
                <a:solidFill>
                  <a:srgbClr val="0A2F5C"/>
                </a:solidFill>
                <a:latin typeface="에이투지체 6 SemiBold"/>
                <a:ea typeface="에이투지체 6 SemiBold"/>
                <a:cs typeface="에이투지체 6 SemiBold"/>
              </a:defRPr>
            </a:pPr>
            <a:r>
              <a:rPr sz="1560">
                <a:solidFill>
                  <a:srgbClr val="0A2F5C"/>
                </a:solidFill>
                <a:latin typeface="에이투지체 6 SemiBold"/>
                <a:ea typeface="에이투지체 6 SemiBold"/>
                <a:cs typeface="에이투지체 6 SemiBold"/>
              </a:rPr>
              <a:t>9,000만원  (블프 예산의 50% 상당)</a:t>
            </a:r>
          </a:p>
        </p:txBody>
      </p:sp>
      <p:graphicFrame>
        <p:nvGraphicFramePr>
          <p:cNvPr id="17" name="Chart">
            <a:extLst>
              <a:ext uri="{FF2B5EF4-FFF2-40B4-BE49-F238E27FC236}">
                <a16:creationId xmlns:a16="http://schemas.microsoft.com/office/drawing/2014/main" id="{38ECA5CC-B555-4906-8B22-5141E88A0E36}"/>
              </a:ext>
            </a:extLst>
          </p:cNvPr>
          <p:cNvGraphicFramePr/>
          <p:nvPr>
            <p:extLst>
              <p:ext uri="{D42A27DB-BD31-4B8C-83A1-F6EECF244321}">
                <p14:modId xmlns:p14="http://schemas.microsoft.com/office/powerpoint/2010/main" val="3574932982"/>
              </p:ext>
            </p:extLst>
          </p:nvPr>
        </p:nvGraphicFramePr>
        <p:xfrm>
          <a:off x="552450" y="3057525"/>
          <a:ext cx="7410450" cy="2600325"/>
        </p:xfrm>
        <a:graphic>
          <a:graphicData uri="http://schemas.openxmlformats.org/drawingml/2006/chart">
            <c:chart xmlns:c="http://schemas.openxmlformats.org/drawingml/2006/chart" xmlns:r="http://schemas.openxmlformats.org/officeDocument/2006/relationships" r:id="rId3"/>
          </a:graphicData>
        </a:graphic>
      </p:graphicFrame>
      <p:sp>
        <p:nvSpPr>
          <p:cNvPr id="20" name="직사각형 19">
            <a:extLst>
              <a:ext uri="{FF2B5EF4-FFF2-40B4-BE49-F238E27FC236}">
                <a16:creationId xmlns:a16="http://schemas.microsoft.com/office/drawing/2014/main" id="{8E60901A-99AB-4232-B00C-2D7907612D98}"/>
              </a:ext>
            </a:extLst>
          </p:cNvPr>
          <p:cNvSpPr>
            <a:spLocks noGrp="1"/>
          </p:cNvSpPr>
          <p:nvPr/>
        </p:nvSpPr>
        <p:spPr>
          <a:xfrm>
            <a:off x="548640" y="5905500"/>
            <a:ext cx="11064240" cy="438150"/>
          </a:xfrm>
          <a:prstGeom prst="roundRect">
            <a:avLst>
              <a:gd name="adj" fmla="val 16695"/>
            </a:avLst>
          </a:prstGeom>
          <a:solidFill>
            <a:srgbClr val="EAF2FB"/>
          </a:solidFill>
          <a:ln w="9525">
            <a:solidFill>
              <a:srgbClr val="004F9F"/>
            </a:solidFill>
            <a:prstDash val="solid"/>
          </a:ln>
        </p:spPr>
        <p:txBody>
          <a:bodyPr/>
          <a:lstStyle/>
          <a:p>
            <a:endParaRPr lang="ko-KR" altLang="en-US"/>
          </a:p>
        </p:txBody>
      </p:sp>
      <p:sp>
        <p:nvSpPr>
          <p:cNvPr id="21" name="copy-30">
            <a:extLst>
              <a:ext uri="{FF2B5EF4-FFF2-40B4-BE49-F238E27FC236}">
                <a16:creationId xmlns:a16="http://schemas.microsoft.com/office/drawing/2014/main" id="{D9A9ED71-E927-4FED-81B8-8D6EF84211E1}"/>
              </a:ext>
            </a:extLst>
          </p:cNvPr>
          <p:cNvSpPr>
            <a:spLocks noGrp="1"/>
          </p:cNvSpPr>
          <p:nvPr/>
        </p:nvSpPr>
        <p:spPr>
          <a:xfrm>
            <a:off x="742950" y="5943600"/>
            <a:ext cx="10648950" cy="361950"/>
          </a:xfrm>
          <a:prstGeom prst="rect">
            <a:avLst/>
          </a:prstGeom>
          <a:noFill/>
          <a:ln w="0">
            <a:noFill/>
            <a:prstDash val="solid"/>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매체별 ROAS에 따라 예산을 배분하고, 블랙프라이데이에 집중해 매출을 극대화합니다</a:t>
            </a:r>
          </a:p>
        </p:txBody>
      </p:sp>
      <p:sp>
        <p:nvSpPr>
          <p:cNvPr id="22" name="TextBox 1">
            <a:extLst>
              <a:ext uri="{FF2B5EF4-FFF2-40B4-BE49-F238E27FC236}">
                <a16:creationId xmlns:a16="http://schemas.microsoft.com/office/drawing/2014/main" id="{77675B9E-56CF-5468-3D53-80A4989ED775}"/>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2 · 11월 마케팅 전략 · 미디어믹스</a:t>
            </a:r>
            <a:endParaRPr lang="ko-KR" sz="900" dirty="0"/>
          </a:p>
        </p:txBody>
      </p:sp>
      <p:sp>
        <p:nvSpPr>
          <p:cNvPr id="23" name="직사각형 22">
            <a:extLst>
              <a:ext uri="{FF2B5EF4-FFF2-40B4-BE49-F238E27FC236}">
                <a16:creationId xmlns:a16="http://schemas.microsoft.com/office/drawing/2014/main" id="{1FE9315E-2EDD-0551-96E1-614D8528D182}"/>
              </a:ext>
            </a:extLst>
          </p:cNvPr>
          <p:cNvSpPr/>
          <p:nvPr/>
        </p:nvSpPr>
        <p:spPr>
          <a:xfrm>
            <a:off x="5347062" y="3222171"/>
            <a:ext cx="2615837" cy="215945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copy-23">
            <a:extLst>
              <a:ext uri="{FF2B5EF4-FFF2-40B4-BE49-F238E27FC236}">
                <a16:creationId xmlns:a16="http://schemas.microsoft.com/office/drawing/2014/main" id="{CF2017E4-86F4-D61A-BC48-245DAE16B666}"/>
              </a:ext>
            </a:extLst>
          </p:cNvPr>
          <p:cNvSpPr>
            <a:spLocks noGrp="1"/>
          </p:cNvSpPr>
          <p:nvPr/>
        </p:nvSpPr>
        <p:spPr>
          <a:xfrm>
            <a:off x="8334375" y="2019300"/>
            <a:ext cx="3257550" cy="285750"/>
          </a:xfrm>
          <a:prstGeom prst="rect">
            <a:avLst/>
          </a:prstGeom>
          <a:noFill/>
          <a:ln w="0">
            <a:noFill/>
            <a:prstDash val="solid"/>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전체 매체 광고비 비중</a:t>
            </a:r>
          </a:p>
        </p:txBody>
      </p:sp>
      <p:sp>
        <p:nvSpPr>
          <p:cNvPr id="27" name="copy-24">
            <a:extLst>
              <a:ext uri="{FF2B5EF4-FFF2-40B4-BE49-F238E27FC236}">
                <a16:creationId xmlns:a16="http://schemas.microsoft.com/office/drawing/2014/main" id="{33C42CED-6E81-2C19-02B7-D5704AAF97F4}"/>
              </a:ext>
            </a:extLst>
          </p:cNvPr>
          <p:cNvSpPr>
            <a:spLocks noGrp="1"/>
          </p:cNvSpPr>
          <p:nvPr/>
        </p:nvSpPr>
        <p:spPr>
          <a:xfrm>
            <a:off x="8334375" y="2314575"/>
            <a:ext cx="3257550" cy="200025"/>
          </a:xfrm>
          <a:prstGeom prst="rect">
            <a:avLst/>
          </a:prstGeom>
          <a:noFill/>
          <a:ln w="0">
            <a:noFill/>
            <a:prstDash val="solid"/>
          </a:ln>
        </p:spPr>
        <p:txBody>
          <a:bodyPr wrap="square" lIns="0" tIns="0" rIns="0" bIns="0" anchor="ctr">
            <a:noAutofit/>
          </a:bodyPr>
          <a:lstStyle>
            <a:defPPr algn="l">
              <a:defRPr sz="1020">
                <a:solidFill>
                  <a:srgbClr val="5C5C5C"/>
                </a:solidFill>
                <a:latin typeface="에이투지체 5 Medium"/>
                <a:ea typeface="에이투지체 5 Medium"/>
                <a:cs typeface="에이투지체 5 Medium"/>
              </a:defRPr>
            </a:defPPr>
          </a:lstStyle>
          <a:p>
            <a:pPr algn="l">
              <a:defRPr sz="1020">
                <a:solidFill>
                  <a:srgbClr val="5C5C5C"/>
                </a:solidFill>
                <a:latin typeface="에이투지체 5 Medium"/>
                <a:ea typeface="에이투지체 5 Medium"/>
                <a:cs typeface="에이투지체 5 Medium"/>
              </a:defRPr>
            </a:pPr>
            <a:r>
              <a:rPr sz="1020">
                <a:solidFill>
                  <a:srgbClr val="5C5C5C"/>
                </a:solidFill>
                <a:latin typeface="에이투지체 5 Medium"/>
                <a:ea typeface="에이투지체 5 Medium"/>
                <a:cs typeface="에이투지체 5 Medium"/>
              </a:rPr>
              <a:t>기존 상품 운영 1안 기준</a:t>
            </a:r>
          </a:p>
        </p:txBody>
      </p:sp>
      <p:graphicFrame>
        <p:nvGraphicFramePr>
          <p:cNvPr id="29" name="Chart">
            <a:extLst>
              <a:ext uri="{FF2B5EF4-FFF2-40B4-BE49-F238E27FC236}">
                <a16:creationId xmlns:a16="http://schemas.microsoft.com/office/drawing/2014/main" id="{C1A704A5-9313-5101-BD02-399AEE05485E}"/>
              </a:ext>
            </a:extLst>
          </p:cNvPr>
          <p:cNvGraphicFramePr/>
          <p:nvPr/>
        </p:nvGraphicFramePr>
        <p:xfrm>
          <a:off x="8239125" y="2571750"/>
          <a:ext cx="3381375" cy="30861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13129527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0A2F5C"/>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B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737360"/>
            <a:ext cx="5486400" cy="548640"/>
          </a:xfrm>
          <a:prstGeom prst="rect">
            <a:avLst/>
          </a:prstGeom>
          <a:noFill/>
        </p:spPr>
        <p:txBody>
          <a:bodyPr wrap="square" lIns="0" tIns="0" rIns="0" bIns="0" anchor="t">
            <a:spAutoFit/>
          </a:bodyPr>
          <a:lstStyle/>
          <a:p>
            <a:pPr algn="l"/>
            <a:r>
              <a:rPr sz="1600">
                <a:solidFill>
                  <a:srgbClr val="6FB0E8"/>
                </a:solidFill>
                <a:latin typeface="에이투지체 6 SemiBold"/>
              </a:rPr>
              <a:t>PART 3</a:t>
            </a:r>
          </a:p>
        </p:txBody>
      </p:sp>
      <p:sp>
        <p:nvSpPr>
          <p:cNvPr id="4" name="TextBox 3"/>
          <p:cNvSpPr txBox="1"/>
          <p:nvPr/>
        </p:nvSpPr>
        <p:spPr>
          <a:xfrm>
            <a:off x="548640" y="2286000"/>
            <a:ext cx="11064240" cy="914400"/>
          </a:xfrm>
          <a:prstGeom prst="rect">
            <a:avLst/>
          </a:prstGeom>
          <a:noFill/>
        </p:spPr>
        <p:txBody>
          <a:bodyPr wrap="square" lIns="0" tIns="0" rIns="0" bIns="0" anchor="t">
            <a:spAutoFit/>
          </a:bodyPr>
          <a:lstStyle/>
          <a:p>
            <a:pPr algn="l"/>
            <a:r>
              <a:rPr sz="4000">
                <a:solidFill>
                  <a:srgbClr val="FFFFFF"/>
                </a:solidFill>
                <a:latin typeface="에이투지체 8 ExtraBold"/>
              </a:rPr>
              <a:t>New Media</a:t>
            </a:r>
          </a:p>
        </p:txBody>
      </p:sp>
      <p:sp>
        <p:nvSpPr>
          <p:cNvPr id="5" name="TextBox 4"/>
          <p:cNvSpPr txBox="1"/>
          <p:nvPr/>
        </p:nvSpPr>
        <p:spPr>
          <a:xfrm>
            <a:off x="548640" y="3310128"/>
            <a:ext cx="11064240" cy="548640"/>
          </a:xfrm>
          <a:prstGeom prst="rect">
            <a:avLst/>
          </a:prstGeom>
          <a:noFill/>
        </p:spPr>
        <p:txBody>
          <a:bodyPr wrap="square" lIns="0" tIns="0" rIns="0" bIns="0" anchor="t">
            <a:spAutoFit/>
          </a:bodyPr>
          <a:lstStyle/>
          <a:p>
            <a:pPr algn="l"/>
            <a:r>
              <a:rPr sz="1800">
                <a:solidFill>
                  <a:srgbClr val="FFFFFF"/>
                </a:solidFill>
                <a:latin typeface="에이투지체 6 SemiBold"/>
              </a:rPr>
              <a:t>신규 광고 매체 제안</a:t>
            </a:r>
          </a:p>
        </p:txBody>
      </p:sp>
      <p:sp>
        <p:nvSpPr>
          <p:cNvPr id="6" name="TextBox 5"/>
          <p:cNvSpPr txBox="1"/>
          <p:nvPr/>
        </p:nvSpPr>
        <p:spPr>
          <a:xfrm>
            <a:off x="548640" y="3931920"/>
            <a:ext cx="11064240" cy="457200"/>
          </a:xfrm>
          <a:prstGeom prst="rect">
            <a:avLst/>
          </a:prstGeom>
          <a:noFill/>
        </p:spPr>
        <p:txBody>
          <a:bodyPr wrap="square" lIns="0" tIns="0" rIns="0" bIns="0" anchor="t">
            <a:spAutoFit/>
          </a:bodyPr>
          <a:lstStyle/>
          <a:p>
            <a:pPr algn="l"/>
            <a:r>
              <a:rPr sz="1200">
                <a:solidFill>
                  <a:srgbClr val="9FBBDD"/>
                </a:solidFill>
                <a:latin typeface="에이투지체 5 Medium"/>
              </a:rPr>
              <a:t>12월 신규 브랜드 론칭과 함께 여는 확장 매체</a:t>
            </a:r>
          </a:p>
        </p:txBody>
      </p:sp>
      <p:sp>
        <p:nvSpPr>
          <p:cNvPr id="7" name="TextBox 6"/>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FBBDD"/>
                </a:solidFill>
                <a:latin typeface="에이투지체 3 Light"/>
              </a:rPr>
              <a:t>DODREAM B&amp;B AD PROPOSAL · 2026</a:t>
            </a:r>
          </a:p>
        </p:txBody>
      </p:sp>
      <p:sp>
        <p:nvSpPr>
          <p:cNvPr id="8" name="TextBox 7"/>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FBBDD"/>
                </a:solidFill>
                <a:latin typeface="에이투지체 3 Light"/>
              </a:rPr>
              <a:t>LINKPRICE · BRAND AD CENTER</a:t>
            </a:r>
          </a:p>
        </p:txBody>
      </p:sp>
      <p:sp>
        <p:nvSpPr>
          <p:cNvPr id="9" name="PGNO"/>
          <p:cNvSpPr txBox="1"/>
          <p:nvPr/>
        </p:nvSpPr>
        <p:spPr>
          <a:xfrm>
            <a:off x="11292840" y="6473952"/>
            <a:ext cx="365760" cy="123111"/>
          </a:xfrm>
          <a:prstGeom prst="rect">
            <a:avLst/>
          </a:prstGeom>
          <a:noFill/>
        </p:spPr>
        <p:txBody>
          <a:bodyPr wrap="square" lIns="0" tIns="0" rIns="0" bIns="0" anchor="t">
            <a:spAutoFit/>
          </a:bodyPr>
          <a:lstStyle/>
          <a:p>
            <a:pPr algn="r"/>
            <a:r>
              <a:rPr lang="en-US" sz="800" dirty="0">
                <a:solidFill>
                  <a:srgbClr val="FFFFFF"/>
                </a:solidFill>
                <a:latin typeface="에이투지체 6 SemiBold"/>
              </a:rPr>
              <a:t>67</a:t>
            </a:r>
            <a:endParaRPr sz="800" dirty="0">
              <a:solidFill>
                <a:srgbClr val="FFFFFF"/>
              </a:solidFill>
              <a:latin typeface="에이투지체 6 SemiBold"/>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3 · 신규 광고 매체 제안</a:t>
            </a:r>
            <a:endParaRPr lang="ko-KR" sz="900" dirty="0"/>
          </a:p>
        </p:txBody>
      </p:sp>
      <p:sp>
        <p:nvSpPr>
          <p:cNvPr id="4"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5"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6" name="PGNO"/>
          <p:cNvSpPr txBox="1"/>
          <p:nvPr/>
        </p:nvSpPr>
        <p:spPr>
          <a:xfrm>
            <a:off x="11125200" y="6473952"/>
            <a:ext cx="533400" cy="123111"/>
          </a:xfrm>
          <a:prstGeom prst="rect">
            <a:avLst/>
          </a:prstGeom>
          <a:noFill/>
        </p:spPr>
        <p:txBody>
          <a:bodyPr wrap="square" lIns="0" tIns="0" rIns="0" bIns="0" anchor="t">
            <a:spAutoFit/>
          </a:bodyPr>
          <a:lstStyle/>
          <a:p>
            <a:pPr algn="r"/>
            <a:r>
              <a:rPr lang="en-US" sz="800" dirty="0">
                <a:solidFill>
                  <a:srgbClr val="222222"/>
                </a:solidFill>
                <a:latin typeface="에이투지체 6 SemiBold"/>
              </a:rPr>
              <a:t>68</a:t>
            </a:r>
            <a:endParaRPr sz="800" dirty="0">
              <a:solidFill>
                <a:srgbClr val="222222"/>
              </a:solidFill>
              <a:latin typeface="에이투지체 6 SemiBold"/>
            </a:endParaRPr>
          </a:p>
        </p:txBody>
      </p:sp>
      <p:sp>
        <p:nvSpPr>
          <p:cNvPr id="7" name="slide-title">
            <a:extLst>
              <a:ext uri="{FF2B5EF4-FFF2-40B4-BE49-F238E27FC236}">
                <a16:creationId xmlns:a16="http://schemas.microsoft.com/office/drawing/2014/main" id="{5CEFD5A3-4536-4502-A13A-6C197AA1673A}"/>
              </a:ext>
            </a:extLst>
          </p:cNvPr>
          <p:cNvSpPr>
            <a:spLocks noGrp="1"/>
          </p:cNvSpPr>
          <p:nvPr/>
        </p:nvSpPr>
        <p:spPr>
          <a:xfrm>
            <a:off x="548640" y="658368"/>
            <a:ext cx="11064240" cy="868680"/>
          </a:xfrm>
          <a:prstGeom prst="rect">
            <a:avLst/>
          </a:prstGeom>
          <a:noFill/>
          <a:ln w="0">
            <a:noFill/>
            <a:prstDash val="solid"/>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카카오</a:t>
            </a:r>
            <a:r>
              <a:rPr lang="ko-KR" altLang="en-US" sz="1900" dirty="0">
                <a:solidFill>
                  <a:schemeClr val="bg1"/>
                </a:solidFill>
                <a:highlight>
                  <a:srgbClr val="0000FF"/>
                </a:highlight>
                <a:latin typeface="에이투지체 8 ExtraBold"/>
                <a:ea typeface="에이투지체 8 ExtraBold"/>
                <a:cs typeface="에이투지체 8 ExtraBold"/>
              </a:rPr>
              <a:t>톡에</a:t>
            </a:r>
            <a:r>
              <a:rPr lang="ko-KR" sz="1900" dirty="0">
                <a:solidFill>
                  <a:srgbClr val="222222"/>
                </a:solidFill>
                <a:latin typeface="에이투지체 8 ExtraBold"/>
                <a:ea typeface="에이투지체 8 ExtraBold"/>
                <a:cs typeface="에이투지체 8 ExtraBold"/>
              </a:rPr>
              <a:t> 입점한 톡스토어 상품을</a:t>
            </a:r>
            <a:endParaRPr lang="ko-KR" sz="1900" dirty="0"/>
          </a:p>
          <a:p>
            <a:pPr marL="0" indent="0">
              <a:lnSpc>
                <a:spcPts val="2600"/>
              </a:lnSpc>
              <a:buNone/>
            </a:pPr>
            <a:r>
              <a:rPr lang="ko-KR" altLang="en-US" sz="1900" dirty="0">
                <a:solidFill>
                  <a:srgbClr val="222222"/>
                </a:solidFill>
                <a:latin typeface="에이투지체 8 ExtraBold"/>
                <a:ea typeface="에이투지체 8 ExtraBold"/>
                <a:cs typeface="에이투지체 8 ExtraBold"/>
              </a:rPr>
              <a:t>카탈로그 </a:t>
            </a:r>
            <a:r>
              <a:rPr lang="ko-KR" sz="1900" dirty="0">
                <a:solidFill>
                  <a:srgbClr val="222222"/>
                </a:solidFill>
                <a:latin typeface="에이투지체 8 ExtraBold"/>
                <a:ea typeface="에이투지체 8 ExtraBold"/>
                <a:cs typeface="에이투지체 8 ExtraBold"/>
              </a:rPr>
              <a:t>광고와 연결해 구매 접점을 넓</a:t>
            </a:r>
            <a:r>
              <a:rPr lang="ko-KR" altLang="en-US" sz="1900" dirty="0">
                <a:solidFill>
                  <a:srgbClr val="222222"/>
                </a:solidFill>
                <a:latin typeface="에이투지체 8 ExtraBold"/>
                <a:ea typeface="에이투지체 8 ExtraBold"/>
                <a:cs typeface="에이투지체 8 ExtraBold"/>
              </a:rPr>
              <a:t>히고 추가 판매채널을 확보합니다</a:t>
            </a:r>
            <a:endParaRPr lang="ko-KR" sz="1900" dirty="0"/>
          </a:p>
        </p:txBody>
      </p:sp>
      <p:sp>
        <p:nvSpPr>
          <p:cNvPr id="8" name="slide-subtitle">
            <a:extLst>
              <a:ext uri="{FF2B5EF4-FFF2-40B4-BE49-F238E27FC236}">
                <a16:creationId xmlns:a16="http://schemas.microsoft.com/office/drawing/2014/main" id="{6F750C74-99E7-4B72-BF1A-BD4FC369EB44}"/>
              </a:ext>
            </a:extLst>
          </p:cNvPr>
          <p:cNvSpPr>
            <a:spLocks noGrp="1"/>
          </p:cNvSpPr>
          <p:nvPr/>
        </p:nvSpPr>
        <p:spPr>
          <a:xfrm>
            <a:off x="548640" y="1517904"/>
            <a:ext cx="11064240" cy="365760"/>
          </a:xfrm>
          <a:prstGeom prst="rect">
            <a:avLst/>
          </a:prstGeom>
          <a:noFill/>
          <a:ln w="0">
            <a:noFill/>
            <a:prstDash val="solid"/>
          </a:ln>
        </p:spPr>
        <p:txBody>
          <a:bodyPr wrap="square" lIns="0" tIns="0" rIns="0" bIns="0" anchor="ctr"/>
          <a:lstStyle>
            <a:defPPr algn="l">
              <a:defRPr sz="1400">
                <a:solidFill>
                  <a:srgbClr val="5C5C5C"/>
                </a:solidFill>
                <a:latin typeface="에이투지체 5 Medium"/>
                <a:ea typeface="에이투지체 5 Medium"/>
                <a:cs typeface="에이투지체 5 Medium"/>
              </a:defRPr>
            </a:defPPr>
          </a:lstStyle>
          <a:p>
            <a:pPr marL="0" indent="0">
              <a:buNone/>
            </a:pPr>
            <a:r>
              <a:rPr lang="ko-KR" sz="1100" dirty="0">
                <a:solidFill>
                  <a:srgbClr val="5C5C5C"/>
                </a:solidFill>
                <a:latin typeface="에이투지체 5 Medium"/>
                <a:ea typeface="에이투지체 5 Medium"/>
                <a:cs typeface="에이투지체 5 Medium"/>
              </a:rPr>
              <a:t>신규 매체 ① 카카오 카탈로그</a:t>
            </a:r>
            <a:endParaRPr lang="ko-KR" sz="1100" dirty="0"/>
          </a:p>
        </p:txBody>
      </p:sp>
      <p:sp>
        <p:nvSpPr>
          <p:cNvPr id="9" name="copy-1">
            <a:extLst>
              <a:ext uri="{FF2B5EF4-FFF2-40B4-BE49-F238E27FC236}">
                <a16:creationId xmlns:a16="http://schemas.microsoft.com/office/drawing/2014/main" id="{368A7F03-52BB-4CA8-9A6A-62F19E2B10B0}"/>
              </a:ext>
            </a:extLst>
          </p:cNvPr>
          <p:cNvSpPr>
            <a:spLocks noGrp="1"/>
          </p:cNvSpPr>
          <p:nvPr/>
        </p:nvSpPr>
        <p:spPr>
          <a:xfrm>
            <a:off x="552450" y="2019300"/>
            <a:ext cx="4152900" cy="285750"/>
          </a:xfrm>
          <a:prstGeom prst="rect">
            <a:avLst/>
          </a:prstGeom>
          <a:noFill/>
          <a:ln w="0">
            <a:noFill/>
            <a:prstDash val="solid"/>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두드림 공식 톡스토어 활용</a:t>
            </a:r>
          </a:p>
        </p:txBody>
      </p:sp>
      <p:pic>
        <p:nvPicPr>
          <p:cNvPr id="10" name="그림 9">
            <a:extLst>
              <a:ext uri="{FF2B5EF4-FFF2-40B4-BE49-F238E27FC236}">
                <a16:creationId xmlns:a16="http://schemas.microsoft.com/office/drawing/2014/main" id="{1DBDCF76-4F11-451B-9EE9-CDE2E7487333}"/>
              </a:ext>
            </a:extLst>
          </p:cNvPr>
          <p:cNvPicPr>
            <a:picLocks noChangeAspect="1"/>
          </p:cNvPicPr>
          <p:nvPr/>
        </p:nvPicPr>
        <p:blipFill>
          <a:blip r:embed="rId3"/>
          <a:stretch/>
        </p:blipFill>
        <p:spPr>
          <a:xfrm>
            <a:off x="552450" y="2375505"/>
            <a:ext cx="4171950" cy="2487989"/>
          </a:xfrm>
          <a:prstGeom prst="rect">
            <a:avLst/>
          </a:prstGeom>
        </p:spPr>
      </p:pic>
      <p:sp>
        <p:nvSpPr>
          <p:cNvPr id="11" name="copy-2">
            <a:extLst>
              <a:ext uri="{FF2B5EF4-FFF2-40B4-BE49-F238E27FC236}">
                <a16:creationId xmlns:a16="http://schemas.microsoft.com/office/drawing/2014/main" id="{1B8FD245-3176-4173-9F5B-FA5CA2612066}"/>
              </a:ext>
            </a:extLst>
          </p:cNvPr>
          <p:cNvSpPr>
            <a:spLocks noGrp="1"/>
          </p:cNvSpPr>
          <p:nvPr/>
        </p:nvSpPr>
        <p:spPr>
          <a:xfrm>
            <a:off x="552450" y="4933950"/>
            <a:ext cx="4171950" cy="514350"/>
          </a:xfrm>
          <a:prstGeom prst="rect">
            <a:avLst/>
          </a:prstGeom>
          <a:noFill/>
          <a:ln w="0">
            <a:noFill/>
            <a:prstDash val="solid"/>
          </a:ln>
        </p:spPr>
        <p:txBody>
          <a:bodyPr wrap="square" lIns="0" tIns="0" rIns="0" bIns="0" anchor="ctr">
            <a:noAutofit/>
          </a:bodyPr>
          <a:lstStyle>
            <a:defPPr algn="l">
              <a:defRPr sz="1230">
                <a:solidFill>
                  <a:srgbClr val="222222"/>
                </a:solidFill>
                <a:latin typeface="에이투지체 5 Medium"/>
                <a:ea typeface="에이투지체 5 Medium"/>
                <a:cs typeface="에이투지체 5 Medium"/>
              </a:defRPr>
            </a:defPPr>
          </a:lstStyle>
          <a:p>
            <a:pPr algn="l">
              <a:defRPr sz="1230">
                <a:solidFill>
                  <a:srgbClr val="222222"/>
                </a:solidFill>
                <a:latin typeface="에이투지체 5 Medium"/>
                <a:ea typeface="에이투지체 5 Medium"/>
                <a:cs typeface="에이투지체 5 Medium"/>
              </a:defRPr>
            </a:pPr>
            <a:r>
              <a:rPr sz="1230">
                <a:solidFill>
                  <a:srgbClr val="222222"/>
                </a:solidFill>
                <a:latin typeface="에이투지체 5 Medium"/>
                <a:ea typeface="에이투지체 5 Medium"/>
                <a:cs typeface="에이투지체 5 Medium"/>
              </a:rPr>
              <a:t>등록된 상품명·이미지·가격으로 광고 소재 구성</a:t>
            </a:r>
          </a:p>
          <a:p>
            <a:pPr algn="l">
              <a:defRPr sz="1230">
                <a:solidFill>
                  <a:srgbClr val="222222"/>
                </a:solidFill>
                <a:latin typeface="에이투지체 5 Medium"/>
                <a:ea typeface="에이투지체 5 Medium"/>
                <a:cs typeface="에이투지체 5 Medium"/>
              </a:defRPr>
            </a:pPr>
            <a:r>
              <a:rPr sz="1230">
                <a:solidFill>
                  <a:srgbClr val="222222"/>
                </a:solidFill>
                <a:latin typeface="에이투지체 5 Medium"/>
                <a:ea typeface="에이투지체 5 Medium"/>
                <a:cs typeface="에이투지체 5 Medium"/>
              </a:rPr>
              <a:t>상품 조회·찜 반응에 맞춰 관심 고객에게 노출</a:t>
            </a:r>
          </a:p>
        </p:txBody>
      </p:sp>
      <p:sp>
        <p:nvSpPr>
          <p:cNvPr id="12" name="copy-3">
            <a:extLst>
              <a:ext uri="{FF2B5EF4-FFF2-40B4-BE49-F238E27FC236}">
                <a16:creationId xmlns:a16="http://schemas.microsoft.com/office/drawing/2014/main" id="{D0F4A489-A8EB-4284-A8D8-C57F96F856BC}"/>
              </a:ext>
            </a:extLst>
          </p:cNvPr>
          <p:cNvSpPr>
            <a:spLocks noGrp="1"/>
          </p:cNvSpPr>
          <p:nvPr/>
        </p:nvSpPr>
        <p:spPr>
          <a:xfrm>
            <a:off x="5086350" y="2019300"/>
            <a:ext cx="6381750" cy="285750"/>
          </a:xfrm>
          <a:prstGeom prst="rect">
            <a:avLst/>
          </a:prstGeom>
          <a:noFill/>
          <a:ln w="0">
            <a:noFill/>
            <a:prstDash val="solid"/>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광고비 지원 프로모션</a:t>
            </a:r>
          </a:p>
        </p:txBody>
      </p:sp>
      <p:sp>
        <p:nvSpPr>
          <p:cNvPr id="13" name="copy-4">
            <a:extLst>
              <a:ext uri="{FF2B5EF4-FFF2-40B4-BE49-F238E27FC236}">
                <a16:creationId xmlns:a16="http://schemas.microsoft.com/office/drawing/2014/main" id="{3E9185ED-15A2-4F3F-BD4E-F5ED7B6DC485}"/>
              </a:ext>
            </a:extLst>
          </p:cNvPr>
          <p:cNvSpPr>
            <a:spLocks noGrp="1"/>
          </p:cNvSpPr>
          <p:nvPr/>
        </p:nvSpPr>
        <p:spPr>
          <a:xfrm>
            <a:off x="5086350" y="2352675"/>
            <a:ext cx="6429375" cy="523875"/>
          </a:xfrm>
          <a:prstGeom prst="rect">
            <a:avLst/>
          </a:prstGeom>
          <a:noFill/>
          <a:ln w="0">
            <a:noFill/>
            <a:prstDash val="solid"/>
          </a:ln>
        </p:spPr>
        <p:txBody>
          <a:bodyPr wrap="square" lIns="0" tIns="0" rIns="0" bIns="0" anchor="ctr">
            <a:noAutofit/>
          </a:bodyPr>
          <a:lstStyle>
            <a:defPPr algn="l">
              <a:defRPr sz="1298">
                <a:solidFill>
                  <a:srgbClr val="222222"/>
                </a:solidFill>
                <a:latin typeface="에이투지체 5 Medium"/>
                <a:ea typeface="에이투지체 5 Medium"/>
                <a:cs typeface="에이투지체 5 Medium"/>
              </a:defRPr>
            </a:defPPr>
          </a:lstStyle>
          <a:p>
            <a:pPr algn="l">
              <a:defRPr sz="1298">
                <a:solidFill>
                  <a:srgbClr val="222222"/>
                </a:solidFill>
                <a:latin typeface="에이투지체 5 Medium"/>
                <a:ea typeface="에이투지체 5 Medium"/>
                <a:cs typeface="에이투지체 5 Medium"/>
              </a:defRPr>
            </a:pPr>
            <a:r>
              <a:rPr sz="1298">
                <a:solidFill>
                  <a:srgbClr val="222222"/>
                </a:solidFill>
                <a:latin typeface="에이투지체 5 Medium"/>
                <a:ea typeface="에이투지체 5 Medium"/>
                <a:cs typeface="에이투지체 5 Medium"/>
              </a:rPr>
              <a:t>신규 광고주 또는 ’25년 4Q 평균 집행액 10만원 미만</a:t>
            </a:r>
          </a:p>
          <a:p>
            <a:pPr algn="l">
              <a:defRPr sz="1298">
                <a:solidFill>
                  <a:srgbClr val="222222"/>
                </a:solidFill>
                <a:latin typeface="에이투지체 5 Medium"/>
                <a:ea typeface="에이투지체 5 Medium"/>
                <a:cs typeface="에이투지체 5 Medium"/>
              </a:defRPr>
            </a:pPr>
            <a:r>
              <a:rPr sz="1298">
                <a:solidFill>
                  <a:srgbClr val="222222"/>
                </a:solidFill>
                <a:latin typeface="에이투지체 5 Medium"/>
                <a:ea typeface="에이투지체 5 Medium"/>
                <a:cs typeface="에이투지체 5 Medium"/>
              </a:rPr>
              <a:t>월 200만원 이상 집행, 최대 3개월 참여</a:t>
            </a:r>
          </a:p>
        </p:txBody>
      </p:sp>
      <p:sp>
        <p:nvSpPr>
          <p:cNvPr id="14" name="직선 연결선 13">
            <a:extLst>
              <a:ext uri="{FF2B5EF4-FFF2-40B4-BE49-F238E27FC236}">
                <a16:creationId xmlns:a16="http://schemas.microsoft.com/office/drawing/2014/main" id="{AEE199BE-C735-4220-9007-544467FFF39F}"/>
              </a:ext>
            </a:extLst>
          </p:cNvPr>
          <p:cNvSpPr>
            <a:spLocks noGrp="1"/>
          </p:cNvSpPr>
          <p:nvPr/>
        </p:nvSpPr>
        <p:spPr>
          <a:xfrm>
            <a:off x="5086350" y="2943225"/>
            <a:ext cx="6429375" cy="0"/>
          </a:xfrm>
          <a:prstGeom prst="line">
            <a:avLst/>
          </a:prstGeom>
          <a:noFill/>
          <a:ln w="9525">
            <a:solidFill>
              <a:srgbClr val="D4DCE6"/>
            </a:solidFill>
            <a:prstDash val="solid"/>
          </a:ln>
        </p:spPr>
        <p:txBody>
          <a:bodyPr/>
          <a:lstStyle/>
          <a:p>
            <a:endParaRPr lang="ko-KR" altLang="en-US"/>
          </a:p>
        </p:txBody>
      </p:sp>
      <p:sp>
        <p:nvSpPr>
          <p:cNvPr id="15" name="copy-5">
            <a:extLst>
              <a:ext uri="{FF2B5EF4-FFF2-40B4-BE49-F238E27FC236}">
                <a16:creationId xmlns:a16="http://schemas.microsoft.com/office/drawing/2014/main" id="{D7179A78-BF14-4F9B-B730-9B63EADBA9C5}"/>
              </a:ext>
            </a:extLst>
          </p:cNvPr>
          <p:cNvSpPr>
            <a:spLocks noGrp="1"/>
          </p:cNvSpPr>
          <p:nvPr/>
        </p:nvSpPr>
        <p:spPr>
          <a:xfrm>
            <a:off x="5086350" y="3028950"/>
            <a:ext cx="6429375" cy="285750"/>
          </a:xfrm>
          <a:prstGeom prst="rect">
            <a:avLst/>
          </a:prstGeom>
          <a:noFill/>
          <a:ln w="0">
            <a:noFill/>
            <a:prstDash val="solid"/>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월 500만원 집행 시 지원 시뮬레이션</a:t>
            </a:r>
          </a:p>
        </p:txBody>
      </p:sp>
      <p:graphicFrame>
        <p:nvGraphicFramePr>
          <p:cNvPr id="16" name="표 15">
            <a:extLst>
              <a:ext uri="{FF2B5EF4-FFF2-40B4-BE49-F238E27FC236}">
                <a16:creationId xmlns:a16="http://schemas.microsoft.com/office/drawing/2014/main" id="{2146D389-9E59-4A72-93AC-7A8F47EF7891}"/>
              </a:ext>
            </a:extLst>
          </p:cNvPr>
          <p:cNvGraphicFramePr/>
          <p:nvPr/>
        </p:nvGraphicFramePr>
        <p:xfrm>
          <a:off x="5086350" y="3381375"/>
          <a:ext cx="6429375" cy="1314450"/>
        </p:xfrm>
        <a:graphic>
          <a:graphicData uri="http://schemas.openxmlformats.org/drawingml/2006/table">
            <a:tbl>
              <a:tblPr/>
              <a:tblGrid>
                <a:gridCol w="1828800">
                  <a:extLst>
                    <a:ext uri="{9D8B030D-6E8A-4147-A177-3AD203B41FA5}">
                      <a16:colId xmlns:a16="http://schemas.microsoft.com/office/drawing/2014/main" val="20000"/>
                    </a:ext>
                  </a:extLst>
                </a:gridCol>
                <a:gridCol w="1533525">
                  <a:extLst>
                    <a:ext uri="{9D8B030D-6E8A-4147-A177-3AD203B41FA5}">
                      <a16:colId xmlns:a16="http://schemas.microsoft.com/office/drawing/2014/main" val="20001"/>
                    </a:ext>
                  </a:extLst>
                </a:gridCol>
                <a:gridCol w="1533525">
                  <a:extLst>
                    <a:ext uri="{9D8B030D-6E8A-4147-A177-3AD203B41FA5}">
                      <a16:colId xmlns:a16="http://schemas.microsoft.com/office/drawing/2014/main" val="20002"/>
                    </a:ext>
                  </a:extLst>
                </a:gridCol>
                <a:gridCol w="1533525">
                  <a:extLst>
                    <a:ext uri="{9D8B030D-6E8A-4147-A177-3AD203B41FA5}">
                      <a16:colId xmlns:a16="http://schemas.microsoft.com/office/drawing/2014/main" val="20003"/>
                    </a:ext>
                  </a:extLst>
                </a:gridCol>
              </a:tblGrid>
              <a:tr h="314325">
                <a:tc>
                  <a:txBody>
                    <a:bodyPr/>
                    <a:lstStyle/>
                    <a:p>
                      <a:pPr algn="ctr"/>
                      <a:r>
                        <a:rPr sz="1200">
                          <a:solidFill>
                            <a:srgbClr val="FFFFFF"/>
                          </a:solidFill>
                          <a:latin typeface="에이투지체 6 SemiBold"/>
                          <a:ea typeface="에이투지체 6 SemiBold"/>
                          <a:cs typeface="에이투지체 6 SemiBold"/>
                        </a:rPr>
                        <a:t>구분</a:t>
                      </a:r>
                    </a:p>
                  </a:txBody>
                  <a:tcPr marL="95250" marR="95250" marT="28575" marB="28575" anchor="ctr">
                    <a:lnL w="14288">
                      <a:solidFill>
                        <a:srgbClr val="FFFFFF"/>
                      </a:solidFill>
                      <a:prstDash val="solid"/>
                    </a:lnL>
                    <a:lnR w="14288">
                      <a:solidFill>
                        <a:srgbClr val="FFFFFF"/>
                      </a:solidFill>
                      <a:prstDash val="solid"/>
                    </a:lnR>
                    <a:lnT w="14288">
                      <a:solidFill>
                        <a:srgbClr val="FFFFFF"/>
                      </a:solidFill>
                      <a:prstDash val="solid"/>
                    </a:lnT>
                    <a:lnB w="14288">
                      <a:solidFill>
                        <a:srgbClr val="FFFFFF"/>
                      </a:solidFill>
                      <a:prstDash val="solid"/>
                    </a:lnB>
                    <a:solidFill>
                      <a:srgbClr val="0E3A72"/>
                    </a:solidFill>
                  </a:tcPr>
                </a:tc>
                <a:tc>
                  <a:txBody>
                    <a:bodyPr/>
                    <a:lstStyle/>
                    <a:p>
                      <a:pPr algn="ctr"/>
                      <a:r>
                        <a:rPr sz="1200">
                          <a:solidFill>
                            <a:srgbClr val="FFFFFF"/>
                          </a:solidFill>
                          <a:latin typeface="에이투지체 6 SemiBold"/>
                          <a:ea typeface="에이투지체 6 SemiBold"/>
                          <a:cs typeface="에이투지체 6 SemiBold"/>
                        </a:rPr>
                        <a:t>1개월차</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a:solidFill>
                        <a:srgbClr val="FFFFFF"/>
                      </a:solidFill>
                      <a:prstDash val="solid"/>
                    </a:lnT>
                    <a:lnB w="14288">
                      <a:solidFill>
                        <a:srgbClr val="FFFFFF"/>
                      </a:solidFill>
                      <a:prstDash val="solid"/>
                    </a:lnB>
                    <a:solidFill>
                      <a:srgbClr val="0E3A72"/>
                    </a:solidFill>
                  </a:tcPr>
                </a:tc>
                <a:tc>
                  <a:txBody>
                    <a:bodyPr/>
                    <a:lstStyle/>
                    <a:p>
                      <a:pPr algn="ctr"/>
                      <a:r>
                        <a:rPr sz="1200">
                          <a:solidFill>
                            <a:srgbClr val="FFFFFF"/>
                          </a:solidFill>
                          <a:latin typeface="에이투지체 6 SemiBold"/>
                          <a:ea typeface="에이투지체 6 SemiBold"/>
                          <a:cs typeface="에이투지체 6 SemiBold"/>
                        </a:rPr>
                        <a:t>2개월차</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a:solidFill>
                        <a:srgbClr val="FFFFFF"/>
                      </a:solidFill>
                      <a:prstDash val="solid"/>
                    </a:lnT>
                    <a:lnB w="14288">
                      <a:solidFill>
                        <a:srgbClr val="FFFFFF"/>
                      </a:solidFill>
                      <a:prstDash val="solid"/>
                    </a:lnB>
                    <a:solidFill>
                      <a:srgbClr val="0E3A72"/>
                    </a:solidFill>
                  </a:tcPr>
                </a:tc>
                <a:tc>
                  <a:txBody>
                    <a:bodyPr/>
                    <a:lstStyle/>
                    <a:p>
                      <a:pPr algn="ctr"/>
                      <a:r>
                        <a:rPr sz="1200">
                          <a:solidFill>
                            <a:srgbClr val="FFFFFF"/>
                          </a:solidFill>
                          <a:latin typeface="에이투지체 6 SemiBold"/>
                          <a:ea typeface="에이투지체 6 SemiBold"/>
                          <a:cs typeface="에이투지체 6 SemiBold"/>
                        </a:rPr>
                        <a:t>3개월차</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a:solidFill>
                        <a:srgbClr val="FFFFFF"/>
                      </a:solidFill>
                      <a:prstDash val="solid"/>
                    </a:lnT>
                    <a:lnB w="14288">
                      <a:solidFill>
                        <a:srgbClr val="FFFFFF"/>
                      </a:solidFill>
                      <a:prstDash val="solid"/>
                    </a:lnB>
                    <a:solidFill>
                      <a:srgbClr val="0E3A72"/>
                    </a:solidFill>
                  </a:tcPr>
                </a:tc>
                <a:extLst>
                  <a:ext uri="{0D108BD9-81ED-4DB2-BD59-A6C34878D82A}">
                    <a16:rowId xmlns:a16="http://schemas.microsoft.com/office/drawing/2014/main" val="10000"/>
                  </a:ext>
                </a:extLst>
              </a:tr>
              <a:tr h="333375">
                <a:tc>
                  <a:txBody>
                    <a:bodyPr/>
                    <a:lstStyle/>
                    <a:p>
                      <a:pPr algn="l"/>
                      <a:r>
                        <a:rPr sz="1230">
                          <a:solidFill>
                            <a:srgbClr val="222222"/>
                          </a:solidFill>
                          <a:latin typeface="에이투지체 5 Medium"/>
                          <a:ea typeface="에이투지체 5 Medium"/>
                          <a:cs typeface="에이투지체 5 Medium"/>
                        </a:rPr>
                        <a:t>유상 집행</a:t>
                      </a:r>
                    </a:p>
                  </a:txBody>
                  <a:tcPr marL="95250" marR="95250" marT="28575" marB="28575" anchor="ctr">
                    <a:lnL w="14288">
                      <a:solidFill>
                        <a:srgbClr val="FFFFFF"/>
                      </a:solidFill>
                      <a:prstDash val="soli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5F5F5"/>
                    </a:solidFill>
                  </a:tcPr>
                </a:tc>
                <a:tc>
                  <a:txBody>
                    <a:bodyPr/>
                    <a:lstStyle/>
                    <a:p>
                      <a:pPr algn="r"/>
                      <a:r>
                        <a:rPr sz="1230">
                          <a:solidFill>
                            <a:srgbClr val="222222"/>
                          </a:solidFill>
                          <a:latin typeface="에이투지체 5 Medium"/>
                          <a:ea typeface="에이투지체 5 Medium"/>
                          <a:cs typeface="에이투지체 5 Medium"/>
                        </a:rPr>
                        <a:t>500만원</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5F5F5"/>
                    </a:solidFill>
                  </a:tcPr>
                </a:tc>
                <a:tc>
                  <a:txBody>
                    <a:bodyPr/>
                    <a:lstStyle/>
                    <a:p>
                      <a:pPr algn="r"/>
                      <a:r>
                        <a:rPr sz="1230">
                          <a:solidFill>
                            <a:srgbClr val="222222"/>
                          </a:solidFill>
                          <a:latin typeface="에이투지체 5 Medium"/>
                          <a:ea typeface="에이투지체 5 Medium"/>
                          <a:cs typeface="에이투지체 5 Medium"/>
                        </a:rPr>
                        <a:t>500만원</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5F5F5"/>
                    </a:solidFill>
                  </a:tcPr>
                </a:tc>
                <a:tc>
                  <a:txBody>
                    <a:bodyPr/>
                    <a:lstStyle/>
                    <a:p>
                      <a:pPr algn="r"/>
                      <a:r>
                        <a:rPr sz="1230">
                          <a:solidFill>
                            <a:srgbClr val="222222"/>
                          </a:solidFill>
                          <a:latin typeface="에이투지체 5 Medium"/>
                          <a:ea typeface="에이투지체 5 Medium"/>
                          <a:cs typeface="에이투지체 5 Medium"/>
                        </a:rPr>
                        <a:t>500만원</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5F5F5"/>
                    </a:solidFill>
                  </a:tcPr>
                </a:tc>
                <a:extLst>
                  <a:ext uri="{0D108BD9-81ED-4DB2-BD59-A6C34878D82A}">
                    <a16:rowId xmlns:a16="http://schemas.microsoft.com/office/drawing/2014/main" val="10001"/>
                  </a:ext>
                </a:extLst>
              </a:tr>
              <a:tr h="333375">
                <a:tc>
                  <a:txBody>
                    <a:bodyPr/>
                    <a:lstStyle/>
                    <a:p>
                      <a:pPr algn="l"/>
                      <a:r>
                        <a:rPr sz="1230">
                          <a:solidFill>
                            <a:srgbClr val="222222"/>
                          </a:solidFill>
                          <a:latin typeface="에이투지체 5 Medium"/>
                          <a:ea typeface="에이투지체 5 Medium"/>
                          <a:cs typeface="에이투지체 5 Medium"/>
                        </a:rPr>
                        <a:t>지원율</a:t>
                      </a:r>
                    </a:p>
                  </a:txBody>
                  <a:tcPr marL="95250" marR="95250" marT="28575" marB="28575" anchor="ctr">
                    <a:lnL w="14288">
                      <a:solidFill>
                        <a:srgbClr val="FFFFFF"/>
                      </a:solidFill>
                      <a:prstDash val="soli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FFFFF"/>
                    </a:solidFill>
                  </a:tcPr>
                </a:tc>
                <a:tc>
                  <a:txBody>
                    <a:bodyPr/>
                    <a:lstStyle/>
                    <a:p>
                      <a:pPr algn="r"/>
                      <a:r>
                        <a:rPr sz="1230">
                          <a:solidFill>
                            <a:srgbClr val="222222"/>
                          </a:solidFill>
                          <a:latin typeface="에이투지체 5 Medium"/>
                          <a:ea typeface="에이투지체 5 Medium"/>
                          <a:cs typeface="에이투지체 5 Medium"/>
                        </a:rPr>
                        <a:t>50%</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FFFFF"/>
                    </a:solidFill>
                  </a:tcPr>
                </a:tc>
                <a:tc>
                  <a:txBody>
                    <a:bodyPr/>
                    <a:lstStyle/>
                    <a:p>
                      <a:pPr algn="r"/>
                      <a:r>
                        <a:rPr sz="1230">
                          <a:solidFill>
                            <a:srgbClr val="222222"/>
                          </a:solidFill>
                          <a:latin typeface="에이투지체 5 Medium"/>
                          <a:ea typeface="에이투지체 5 Medium"/>
                          <a:cs typeface="에이투지체 5 Medium"/>
                        </a:rPr>
                        <a:t>70%</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FFFFF"/>
                    </a:solidFill>
                  </a:tcPr>
                </a:tc>
                <a:tc>
                  <a:txBody>
                    <a:bodyPr/>
                    <a:lstStyle/>
                    <a:p>
                      <a:pPr algn="r"/>
                      <a:r>
                        <a:rPr sz="1230">
                          <a:solidFill>
                            <a:srgbClr val="222222"/>
                          </a:solidFill>
                          <a:latin typeface="에이투지체 5 Medium"/>
                          <a:ea typeface="에이투지체 5 Medium"/>
                          <a:cs typeface="에이투지체 5 Medium"/>
                        </a:rPr>
                        <a:t>120%</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FFFFF"/>
                    </a:solidFill>
                  </a:tcPr>
                </a:tc>
                <a:extLst>
                  <a:ext uri="{0D108BD9-81ED-4DB2-BD59-A6C34878D82A}">
                    <a16:rowId xmlns:a16="http://schemas.microsoft.com/office/drawing/2014/main" val="10002"/>
                  </a:ext>
                </a:extLst>
              </a:tr>
              <a:tr h="333375">
                <a:tc>
                  <a:txBody>
                    <a:bodyPr/>
                    <a:lstStyle/>
                    <a:p>
                      <a:pPr algn="l"/>
                      <a:r>
                        <a:rPr sz="1230">
                          <a:solidFill>
                            <a:srgbClr val="222222"/>
                          </a:solidFill>
                          <a:latin typeface="에이투지체 5 Medium"/>
                          <a:ea typeface="에이투지체 5 Medium"/>
                          <a:cs typeface="에이투지체 5 Medium"/>
                        </a:rPr>
                        <a:t>무상캐시</a:t>
                      </a:r>
                    </a:p>
                  </a:txBody>
                  <a:tcPr marL="95250" marR="95250" marT="28575" marB="28575" anchor="ctr">
                    <a:lnL w="14288">
                      <a:solidFill>
                        <a:srgbClr val="FFFFFF"/>
                      </a:solidFill>
                      <a:prstDash val="soli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EAF2FB"/>
                    </a:solidFill>
                  </a:tcPr>
                </a:tc>
                <a:tc>
                  <a:txBody>
                    <a:bodyPr/>
                    <a:lstStyle/>
                    <a:p>
                      <a:pPr algn="r"/>
                      <a:r>
                        <a:rPr sz="1230">
                          <a:solidFill>
                            <a:srgbClr val="222222"/>
                          </a:solidFill>
                          <a:latin typeface="에이투지체 5 Medium"/>
                          <a:ea typeface="에이투지체 5 Medium"/>
                          <a:cs typeface="에이투지체 5 Medium"/>
                        </a:rPr>
                        <a:t>250만원</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EAF2FB"/>
                    </a:solidFill>
                  </a:tcPr>
                </a:tc>
                <a:tc>
                  <a:txBody>
                    <a:bodyPr/>
                    <a:lstStyle/>
                    <a:p>
                      <a:pPr algn="r"/>
                      <a:r>
                        <a:rPr sz="1230">
                          <a:solidFill>
                            <a:srgbClr val="222222"/>
                          </a:solidFill>
                          <a:latin typeface="에이투지체 5 Medium"/>
                          <a:ea typeface="에이투지체 5 Medium"/>
                          <a:cs typeface="에이투지체 5 Medium"/>
                        </a:rPr>
                        <a:t>350만원</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EAF2FB"/>
                    </a:solidFill>
                  </a:tcPr>
                </a:tc>
                <a:tc>
                  <a:txBody>
                    <a:bodyPr/>
                    <a:lstStyle/>
                    <a:p>
                      <a:pPr algn="r"/>
                      <a:r>
                        <a:rPr sz="1230">
                          <a:solidFill>
                            <a:srgbClr val="222222"/>
                          </a:solidFill>
                          <a:latin typeface="에이투지체 5 Medium"/>
                          <a:ea typeface="에이투지체 5 Medium"/>
                          <a:cs typeface="에이투지체 5 Medium"/>
                        </a:rPr>
                        <a:t>600만원</a:t>
                      </a:r>
                    </a:p>
                  </a:txBody>
                  <a:tcPr marL="95250" marR="95250" marT="28575" marB="28575"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EAF2FB"/>
                    </a:solidFill>
                  </a:tcPr>
                </a:tc>
                <a:extLst>
                  <a:ext uri="{0D108BD9-81ED-4DB2-BD59-A6C34878D82A}">
                    <a16:rowId xmlns:a16="http://schemas.microsoft.com/office/drawing/2014/main" val="10003"/>
                  </a:ext>
                </a:extLst>
              </a:tr>
            </a:tbl>
          </a:graphicData>
        </a:graphic>
      </p:graphicFrame>
      <p:sp>
        <p:nvSpPr>
          <p:cNvPr id="17" name="copy-6">
            <a:extLst>
              <a:ext uri="{FF2B5EF4-FFF2-40B4-BE49-F238E27FC236}">
                <a16:creationId xmlns:a16="http://schemas.microsoft.com/office/drawing/2014/main" id="{DCBF8BFF-1214-4880-A9D5-61996DCFFE0A}"/>
              </a:ext>
            </a:extLst>
          </p:cNvPr>
          <p:cNvSpPr>
            <a:spLocks noGrp="1"/>
          </p:cNvSpPr>
          <p:nvPr/>
        </p:nvSpPr>
        <p:spPr>
          <a:xfrm>
            <a:off x="5086350" y="4781550"/>
            <a:ext cx="6429375" cy="304800"/>
          </a:xfrm>
          <a:prstGeom prst="rect">
            <a:avLst/>
          </a:prstGeom>
          <a:noFill/>
          <a:ln w="0">
            <a:noFill/>
            <a:prstDash val="solid"/>
          </a:ln>
        </p:spPr>
        <p:txBody>
          <a:bodyPr wrap="square" lIns="0" tIns="0" rIns="0" bIns="0" anchor="ctr">
            <a:noAutofit/>
          </a:bodyPr>
          <a:lstStyle>
            <a:defPPr algn="l">
              <a:defRPr sz="1380">
                <a:solidFill>
                  <a:srgbClr val="004F9F"/>
                </a:solidFill>
                <a:latin typeface="에이투지체 6 SemiBold"/>
                <a:ea typeface="에이투지체 6 SemiBold"/>
                <a:cs typeface="에이투지체 6 SemiBold"/>
              </a:defRPr>
            </a:defPPr>
          </a:lstStyle>
          <a:p>
            <a:pPr algn="l">
              <a:defRPr sz="1380">
                <a:solidFill>
                  <a:srgbClr val="004F9F"/>
                </a:solidFill>
                <a:latin typeface="에이투지체 6 SemiBold"/>
                <a:ea typeface="에이투지체 6 SemiBold"/>
                <a:cs typeface="에이투지체 6 SemiBold"/>
              </a:defRPr>
            </a:pPr>
            <a:r>
              <a:rPr sz="1380">
                <a:solidFill>
                  <a:srgbClr val="004F9F"/>
                </a:solidFill>
                <a:latin typeface="에이투지체 6 SemiBold"/>
                <a:ea typeface="에이투지체 6 SemiBold"/>
                <a:cs typeface="에이투지체 6 SemiBold"/>
              </a:rPr>
              <a:t>3개월 유상 집행 1,500만원, 무상캐시 최대 1,200만원</a:t>
            </a:r>
          </a:p>
        </p:txBody>
      </p:sp>
      <p:sp>
        <p:nvSpPr>
          <p:cNvPr id="18" name="copy-7">
            <a:extLst>
              <a:ext uri="{FF2B5EF4-FFF2-40B4-BE49-F238E27FC236}">
                <a16:creationId xmlns:a16="http://schemas.microsoft.com/office/drawing/2014/main" id="{06DC6705-B7DB-402F-A8BB-F55F24608AFB}"/>
              </a:ext>
            </a:extLst>
          </p:cNvPr>
          <p:cNvSpPr>
            <a:spLocks noGrp="1"/>
          </p:cNvSpPr>
          <p:nvPr/>
        </p:nvSpPr>
        <p:spPr>
          <a:xfrm>
            <a:off x="5086350" y="5153025"/>
            <a:ext cx="6429375" cy="276225"/>
          </a:xfrm>
          <a:prstGeom prst="rect">
            <a:avLst/>
          </a:prstGeom>
          <a:noFill/>
          <a:ln w="0">
            <a:noFill/>
            <a:prstDash val="solid"/>
          </a:ln>
        </p:spPr>
        <p:txBody>
          <a:bodyPr wrap="square" lIns="0" tIns="0" rIns="0" bIns="0" anchor="ctr">
            <a:noAutofit/>
          </a:bodyPr>
          <a:lstStyle>
            <a:defPPr algn="l">
              <a:defRPr sz="1470">
                <a:solidFill>
                  <a:srgbClr val="004F9F"/>
                </a:solidFill>
                <a:latin typeface="에이투지체 6 SemiBold"/>
                <a:ea typeface="에이투지체 6 SemiBold"/>
                <a:cs typeface="에이투지체 6 SemiBold"/>
              </a:defRPr>
            </a:defPPr>
          </a:lstStyle>
          <a:p>
            <a:pPr algn="l">
              <a:defRPr sz="1470">
                <a:solidFill>
                  <a:srgbClr val="004F9F"/>
                </a:solidFill>
                <a:latin typeface="에이투지체 6 SemiBold"/>
                <a:ea typeface="에이투지체 6 SemiBold"/>
                <a:cs typeface="에이투지체 6 SemiBold"/>
              </a:defRPr>
            </a:pPr>
            <a:r>
              <a:rPr sz="1470" dirty="0" err="1">
                <a:solidFill>
                  <a:srgbClr val="004F9F"/>
                </a:solidFill>
                <a:latin typeface="에이투지체 6 SemiBold"/>
                <a:ea typeface="에이투지체 6 SemiBold"/>
                <a:cs typeface="에이투지체 6 SemiBold"/>
              </a:rPr>
              <a:t>카탈로그</a:t>
            </a:r>
            <a:r>
              <a:rPr sz="1470" dirty="0">
                <a:solidFill>
                  <a:srgbClr val="004F9F"/>
                </a:solidFill>
                <a:latin typeface="에이투지체 6 SemiBold"/>
                <a:ea typeface="에이투지체 6 SemiBold"/>
                <a:cs typeface="에이투지체 6 SemiBold"/>
              </a:rPr>
              <a:t> </a:t>
            </a:r>
            <a:r>
              <a:rPr sz="1470" dirty="0" err="1">
                <a:solidFill>
                  <a:srgbClr val="004F9F"/>
                </a:solidFill>
                <a:latin typeface="에이투지체 6 SemiBold"/>
                <a:ea typeface="에이투지체 6 SemiBold"/>
                <a:cs typeface="에이투지체 6 SemiBold"/>
              </a:rPr>
              <a:t>연동</a:t>
            </a:r>
            <a:r>
              <a:rPr sz="1470" dirty="0">
                <a:solidFill>
                  <a:srgbClr val="004F9F"/>
                </a:solidFill>
                <a:latin typeface="에이투지체 6 SemiBold"/>
                <a:ea typeface="에이투지체 6 SemiBold"/>
                <a:cs typeface="에이투지체 6 SemiBold"/>
              </a:rPr>
              <a:t> </a:t>
            </a:r>
            <a:r>
              <a:rPr sz="1470" dirty="0" err="1">
                <a:solidFill>
                  <a:srgbClr val="004F9F"/>
                </a:solidFill>
                <a:latin typeface="에이투지체 6 SemiBold"/>
                <a:ea typeface="에이투지체 6 SemiBold"/>
                <a:cs typeface="에이투지체 6 SemiBold"/>
              </a:rPr>
              <a:t>지원</a:t>
            </a:r>
            <a:r>
              <a:rPr sz="1470" dirty="0">
                <a:solidFill>
                  <a:srgbClr val="004F9F"/>
                </a:solidFill>
                <a:latin typeface="에이투지체 6 SemiBold"/>
                <a:ea typeface="에이투지체 6 SemiBold"/>
                <a:cs typeface="에이투지체 6 SemiBold"/>
              </a:rPr>
              <a:t> 100만원</a:t>
            </a:r>
          </a:p>
        </p:txBody>
      </p:sp>
      <p:sp>
        <p:nvSpPr>
          <p:cNvPr id="19" name="copy-8">
            <a:extLst>
              <a:ext uri="{FF2B5EF4-FFF2-40B4-BE49-F238E27FC236}">
                <a16:creationId xmlns:a16="http://schemas.microsoft.com/office/drawing/2014/main" id="{A3851880-40B9-41DD-8A10-8441BD85F002}"/>
              </a:ext>
            </a:extLst>
          </p:cNvPr>
          <p:cNvSpPr>
            <a:spLocks noGrp="1"/>
          </p:cNvSpPr>
          <p:nvPr/>
        </p:nvSpPr>
        <p:spPr>
          <a:xfrm>
            <a:off x="5086350" y="5457825"/>
            <a:ext cx="6429375" cy="219075"/>
          </a:xfrm>
          <a:prstGeom prst="rect">
            <a:avLst/>
          </a:prstGeom>
          <a:noFill/>
          <a:ln w="0">
            <a:noFill/>
            <a:prstDash val="solid"/>
          </a:ln>
        </p:spPr>
        <p:txBody>
          <a:bodyPr wrap="square" lIns="0" tIns="0" rIns="0" bIns="0" anchor="ctr">
            <a:noAutofit/>
          </a:bodyPr>
          <a:lstStyle>
            <a:defPPr algn="l">
              <a:defRPr sz="1140">
                <a:solidFill>
                  <a:srgbClr val="5C5C5C"/>
                </a:solidFill>
                <a:latin typeface="에이투지체 5 Medium"/>
                <a:ea typeface="에이투지체 5 Medium"/>
                <a:cs typeface="에이투지체 5 Medium"/>
              </a:defRPr>
            </a:defPPr>
          </a:lstStyle>
          <a:p>
            <a:pPr algn="l">
              <a:defRPr sz="1140">
                <a:solidFill>
                  <a:srgbClr val="5C5C5C"/>
                </a:solidFill>
                <a:latin typeface="에이투지체 5 Medium"/>
                <a:ea typeface="에이투지체 5 Medium"/>
                <a:cs typeface="에이투지체 5 Medium"/>
              </a:defRPr>
            </a:pPr>
            <a:r>
              <a:rPr sz="1140" dirty="0" err="1">
                <a:solidFill>
                  <a:srgbClr val="5C5C5C"/>
                </a:solidFill>
                <a:latin typeface="에이투지체 5 Medium"/>
                <a:ea typeface="에이투지체 5 Medium"/>
                <a:cs typeface="에이투지체 5 Medium"/>
              </a:rPr>
              <a:t>카탈로그·광고계정·비즈월렛</a:t>
            </a:r>
            <a:r>
              <a:rPr sz="1140" dirty="0">
                <a:solidFill>
                  <a:srgbClr val="5C5C5C"/>
                </a:solidFill>
                <a:latin typeface="에이투지체 5 Medium"/>
                <a:ea typeface="에이투지체 5 Medium"/>
                <a:cs typeface="에이투지체 5 Medium"/>
              </a:rPr>
              <a:t> </a:t>
            </a:r>
            <a:r>
              <a:rPr sz="1140" dirty="0" err="1">
                <a:solidFill>
                  <a:srgbClr val="5C5C5C"/>
                </a:solidFill>
                <a:latin typeface="에이투지체 5 Medium"/>
                <a:ea typeface="에이투지체 5 Medium"/>
                <a:cs typeface="에이투지체 5 Medium"/>
              </a:rPr>
              <a:t>연동</a:t>
            </a:r>
            <a:r>
              <a:rPr sz="1140" dirty="0">
                <a:solidFill>
                  <a:srgbClr val="5C5C5C"/>
                </a:solidFill>
                <a:latin typeface="에이투지체 5 Medium"/>
                <a:ea typeface="에이투지체 5 Medium"/>
                <a:cs typeface="에이투지체 5 Medium"/>
              </a:rPr>
              <a:t> 시 </a:t>
            </a:r>
            <a:r>
              <a:rPr sz="1140" dirty="0" err="1">
                <a:solidFill>
                  <a:srgbClr val="5C5C5C"/>
                </a:solidFill>
                <a:latin typeface="에이투지체 5 Medium"/>
                <a:ea typeface="에이투지체 5 Medium"/>
                <a:cs typeface="에이투지체 5 Medium"/>
              </a:rPr>
              <a:t>제공</a:t>
            </a:r>
            <a:r>
              <a:rPr sz="1140" dirty="0">
                <a:solidFill>
                  <a:srgbClr val="5C5C5C"/>
                </a:solidFill>
                <a:latin typeface="에이투지체 5 Medium"/>
                <a:ea typeface="에이투지체 5 Medium"/>
                <a:cs typeface="에이투지체 5 Medium"/>
              </a:rPr>
              <a:t>.</a:t>
            </a:r>
          </a:p>
        </p:txBody>
      </p:sp>
      <p:sp>
        <p:nvSpPr>
          <p:cNvPr id="20" name="직사각형 19">
            <a:extLst>
              <a:ext uri="{FF2B5EF4-FFF2-40B4-BE49-F238E27FC236}">
                <a16:creationId xmlns:a16="http://schemas.microsoft.com/office/drawing/2014/main" id="{2C52722F-D20F-444B-87FC-3BA8D1A40CFD}"/>
              </a:ext>
            </a:extLst>
          </p:cNvPr>
          <p:cNvSpPr>
            <a:spLocks noGrp="1"/>
          </p:cNvSpPr>
          <p:nvPr/>
        </p:nvSpPr>
        <p:spPr>
          <a:xfrm>
            <a:off x="548640" y="5829300"/>
            <a:ext cx="11064240" cy="438150"/>
          </a:xfrm>
          <a:prstGeom prst="roundRect">
            <a:avLst>
              <a:gd name="adj" fmla="val 16695"/>
            </a:avLst>
          </a:prstGeom>
          <a:solidFill>
            <a:srgbClr val="EAF2FB"/>
          </a:solidFill>
          <a:ln w="9525">
            <a:solidFill>
              <a:srgbClr val="004F9F"/>
            </a:solidFill>
            <a:prstDash val="solid"/>
          </a:ln>
        </p:spPr>
        <p:txBody>
          <a:bodyPr/>
          <a:lstStyle/>
          <a:p>
            <a:endParaRPr lang="ko-KR" altLang="en-US"/>
          </a:p>
        </p:txBody>
      </p:sp>
      <p:sp>
        <p:nvSpPr>
          <p:cNvPr id="21" name="copy-9">
            <a:extLst>
              <a:ext uri="{FF2B5EF4-FFF2-40B4-BE49-F238E27FC236}">
                <a16:creationId xmlns:a16="http://schemas.microsoft.com/office/drawing/2014/main" id="{064868AF-A1CB-415E-B5B2-3F3498BC06A4}"/>
              </a:ext>
            </a:extLst>
          </p:cNvPr>
          <p:cNvSpPr>
            <a:spLocks noGrp="1"/>
          </p:cNvSpPr>
          <p:nvPr/>
        </p:nvSpPr>
        <p:spPr>
          <a:xfrm>
            <a:off x="742950" y="5867400"/>
            <a:ext cx="10648950" cy="361950"/>
          </a:xfrm>
          <a:prstGeom prst="rect">
            <a:avLst/>
          </a:prstGeom>
          <a:noFill/>
          <a:ln w="0">
            <a:noFill/>
            <a:prstDash val="solid"/>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톡스토어 입점 상품을 광고와 연결하고, 지원 프로모션으로 초기 집행 부담을 낮춥니다</a:t>
            </a:r>
          </a:p>
        </p:txBody>
      </p:sp>
      <p:sp>
        <p:nvSpPr>
          <p:cNvPr id="22" name="copy-10">
            <a:extLst>
              <a:ext uri="{FF2B5EF4-FFF2-40B4-BE49-F238E27FC236}">
                <a16:creationId xmlns:a16="http://schemas.microsoft.com/office/drawing/2014/main" id="{D495B550-D4D0-47DA-9811-8D9B5F136398}"/>
              </a:ext>
            </a:extLst>
          </p:cNvPr>
          <p:cNvSpPr>
            <a:spLocks noGrp="1"/>
          </p:cNvSpPr>
          <p:nvPr/>
        </p:nvSpPr>
        <p:spPr>
          <a:xfrm>
            <a:off x="552450" y="6315075"/>
            <a:ext cx="11049000" cy="161925"/>
          </a:xfrm>
          <a:prstGeom prst="rect">
            <a:avLst/>
          </a:prstGeom>
          <a:noFill/>
          <a:ln w="0">
            <a:noFill/>
            <a:prstDash val="solid"/>
          </a:ln>
        </p:spPr>
        <p:txBody>
          <a:bodyPr wrap="square" lIns="0" tIns="0" rIns="0" bIns="0" anchor="ctr">
            <a:noAutofit/>
          </a:bodyPr>
          <a:lstStyle>
            <a:defPPr algn="l">
              <a:defRPr sz="840">
                <a:solidFill>
                  <a:srgbClr val="5C5C5C"/>
                </a:solidFill>
                <a:latin typeface="에이투지체 3 Light"/>
                <a:ea typeface="에이투지체 3 Light"/>
                <a:cs typeface="에이투지체 3 Light"/>
              </a:defRPr>
            </a:defPPr>
          </a:lstStyle>
          <a:p>
            <a:pPr algn="l">
              <a:defRPr sz="840">
                <a:solidFill>
                  <a:srgbClr val="5C5C5C"/>
                </a:solidFill>
                <a:latin typeface="에이투지체 3 Light"/>
                <a:ea typeface="에이투지체 3 Light"/>
                <a:cs typeface="에이투지체 3 Light"/>
              </a:defRPr>
            </a:pPr>
            <a:r>
              <a:rPr sz="840">
                <a:solidFill>
                  <a:srgbClr val="5C5C5C"/>
                </a:solidFill>
                <a:latin typeface="에이투지체 3 Light"/>
                <a:ea typeface="에이투지체 3 Light"/>
                <a:cs typeface="에이투지체 3 Light"/>
              </a:rPr>
              <a:t>지원 시뮬레이션은 VAT 별도·조건 충족 가정. 연동 100만원 지원은 9/30 신청 마감 안내로, 지급 쿠폰·11월 참여 조건 확인 필요</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3 · 신규 광고 매체 제안</a:t>
            </a:r>
            <a:endParaRPr lang="ko-KR" sz="900" dirty="0"/>
          </a:p>
        </p:txBody>
      </p:sp>
      <p:sp>
        <p:nvSpPr>
          <p:cNvPr id="4"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5"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6" name="PGNO"/>
          <p:cNvSpPr txBox="1"/>
          <p:nvPr/>
        </p:nvSpPr>
        <p:spPr>
          <a:xfrm>
            <a:off x="11125200" y="6473952"/>
            <a:ext cx="533400" cy="123111"/>
          </a:xfrm>
          <a:prstGeom prst="rect">
            <a:avLst/>
          </a:prstGeom>
          <a:noFill/>
        </p:spPr>
        <p:txBody>
          <a:bodyPr wrap="square" lIns="0" tIns="0" rIns="0" bIns="0" anchor="t">
            <a:spAutoFit/>
          </a:bodyPr>
          <a:lstStyle/>
          <a:p>
            <a:pPr algn="r"/>
            <a:r>
              <a:rPr lang="en-US" sz="800" dirty="0">
                <a:solidFill>
                  <a:srgbClr val="222222"/>
                </a:solidFill>
                <a:latin typeface="에이투지체 6 SemiBold"/>
              </a:rPr>
              <a:t>69</a:t>
            </a:r>
            <a:endParaRPr sz="800" dirty="0">
              <a:solidFill>
                <a:srgbClr val="222222"/>
              </a:solidFill>
              <a:latin typeface="에이투지체 6 SemiBold"/>
            </a:endParaRPr>
          </a:p>
        </p:txBody>
      </p:sp>
      <p:sp>
        <p:nvSpPr>
          <p:cNvPr id="7" name="slide-title">
            <a:extLst>
              <a:ext uri="{FF2B5EF4-FFF2-40B4-BE49-F238E27FC236}">
                <a16:creationId xmlns:a16="http://schemas.microsoft.com/office/drawing/2014/main" id="{96A653B9-4A8C-4D80-9665-52EE18F43255}"/>
              </a:ext>
            </a:extLst>
          </p:cNvPr>
          <p:cNvSpPr>
            <a:spLocks noGrp="1"/>
          </p:cNvSpPr>
          <p:nvPr/>
        </p:nvSpPr>
        <p:spPr>
          <a:xfrm>
            <a:off x="548640" y="658368"/>
            <a:ext cx="11064240" cy="868680"/>
          </a:xfrm>
          <a:prstGeom prst="rect">
            <a:avLst/>
          </a:prstGeom>
          <a:noFill/>
          <a:ln w="0">
            <a:noFill/>
            <a:prstDash val="solid"/>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구글 디멘드젠</a:t>
            </a:r>
            <a:r>
              <a:rPr lang="ko-KR" sz="1900" dirty="0">
                <a:solidFill>
                  <a:srgbClr val="222222"/>
                </a:solidFill>
                <a:latin typeface="에이투지체 8 ExtraBold"/>
                <a:ea typeface="에이투지체 8 ExtraBold"/>
                <a:cs typeface="에이투지체 8 ExtraBold"/>
              </a:rPr>
              <a:t>으로 신규 브랜드</a:t>
            </a:r>
            <a:r>
              <a:rPr lang="ko-KR" altLang="en-US" sz="1900" dirty="0">
                <a:solidFill>
                  <a:srgbClr val="222222"/>
                </a:solidFill>
                <a:latin typeface="에이투지체 8 ExtraBold"/>
                <a:ea typeface="에이투지체 8 ExtraBold"/>
                <a:cs typeface="에이투지체 8 ExtraBold"/>
              </a:rPr>
              <a:t>에 대한</a:t>
            </a:r>
            <a:r>
              <a:rPr lang="ko-KR" sz="1900" dirty="0">
                <a:solidFill>
                  <a:srgbClr val="222222"/>
                </a:solidFill>
                <a:latin typeface="에이투지체 8 ExtraBold"/>
                <a:ea typeface="에이투지체 8 ExtraBold"/>
                <a:cs typeface="에이투지체 8 ExtraBold"/>
              </a:rPr>
              <a:t> 관심과</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브랜드스토어 유입을 확보합니다</a:t>
            </a:r>
            <a:endParaRPr lang="ko-KR" sz="1900" dirty="0"/>
          </a:p>
        </p:txBody>
      </p:sp>
      <p:sp>
        <p:nvSpPr>
          <p:cNvPr id="8" name="slide-subtitle">
            <a:extLst>
              <a:ext uri="{FF2B5EF4-FFF2-40B4-BE49-F238E27FC236}">
                <a16:creationId xmlns:a16="http://schemas.microsoft.com/office/drawing/2014/main" id="{AAC2805C-0B5B-4063-B2F7-3D694F409DCF}"/>
              </a:ext>
            </a:extLst>
          </p:cNvPr>
          <p:cNvSpPr>
            <a:spLocks noGrp="1"/>
          </p:cNvSpPr>
          <p:nvPr/>
        </p:nvSpPr>
        <p:spPr>
          <a:xfrm>
            <a:off x="548640" y="1517904"/>
            <a:ext cx="11064240" cy="365760"/>
          </a:xfrm>
          <a:prstGeom prst="rect">
            <a:avLst/>
          </a:prstGeom>
          <a:noFill/>
          <a:ln w="0">
            <a:noFill/>
            <a:prstDash val="solid"/>
          </a:ln>
        </p:spPr>
        <p:txBody>
          <a:bodyPr wrap="square" lIns="0" tIns="0" rIns="0" bIns="0" anchor="ctr"/>
          <a:lstStyle>
            <a:defPPr algn="l">
              <a:defRPr sz="1400">
                <a:solidFill>
                  <a:srgbClr val="5C5C5C"/>
                </a:solidFill>
                <a:latin typeface="에이투지체 5 Medium"/>
                <a:ea typeface="에이투지체 5 Medium"/>
                <a:cs typeface="에이투지체 5 Medium"/>
              </a:defRPr>
            </a:defPPr>
          </a:lstStyle>
          <a:p>
            <a:pPr marL="0" indent="0">
              <a:buNone/>
            </a:pPr>
            <a:r>
              <a:rPr lang="ko-KR" sz="1100" dirty="0">
                <a:solidFill>
                  <a:srgbClr val="5C5C5C"/>
                </a:solidFill>
                <a:latin typeface="에이투지체 5 Medium"/>
                <a:ea typeface="에이투지체 5 Medium"/>
                <a:cs typeface="에이투지체 5 Medium"/>
              </a:rPr>
              <a:t>신규 매체 ② 구글 디멘드젠</a:t>
            </a:r>
            <a:endParaRPr lang="ko-KR" sz="1100" dirty="0"/>
          </a:p>
        </p:txBody>
      </p:sp>
      <p:sp>
        <p:nvSpPr>
          <p:cNvPr id="9" name="copy-11">
            <a:extLst>
              <a:ext uri="{FF2B5EF4-FFF2-40B4-BE49-F238E27FC236}">
                <a16:creationId xmlns:a16="http://schemas.microsoft.com/office/drawing/2014/main" id="{783CCFE2-60E7-4096-9E99-D054A4BF2D7F}"/>
              </a:ext>
            </a:extLst>
          </p:cNvPr>
          <p:cNvSpPr>
            <a:spLocks noGrp="1"/>
          </p:cNvSpPr>
          <p:nvPr/>
        </p:nvSpPr>
        <p:spPr>
          <a:xfrm>
            <a:off x="552450" y="2019300"/>
            <a:ext cx="11001375" cy="285750"/>
          </a:xfrm>
          <a:prstGeom prst="rect">
            <a:avLst/>
          </a:prstGeom>
          <a:noFill/>
          <a:ln w="0">
            <a:noFill/>
            <a:prstDash val="solid"/>
          </a:ln>
        </p:spPr>
        <p:txBody>
          <a:bodyPr wrap="square" lIns="0" tIns="0" rIns="0" bIns="0" anchor="ctr">
            <a:noAutofit/>
          </a:bodyPr>
          <a:lstStyle>
            <a:defPPr algn="l">
              <a:defRPr sz="1500">
                <a:solidFill>
                  <a:srgbClr val="004F9F"/>
                </a:solidFill>
                <a:latin typeface="에이투지체 6 SemiBold"/>
                <a:ea typeface="에이투지체 6 SemiBold"/>
                <a:cs typeface="에이투지체 6 SemiBold"/>
              </a:defRPr>
            </a:defPPr>
          </a:lstStyle>
          <a:p>
            <a:pPr algn="l">
              <a:defRPr sz="1500">
                <a:solidFill>
                  <a:srgbClr val="004F9F"/>
                </a:solidFill>
                <a:latin typeface="에이투지체 6 SemiBold"/>
                <a:ea typeface="에이투지체 6 SemiBold"/>
                <a:cs typeface="에이투지체 6 SemiBold"/>
              </a:defRPr>
            </a:pPr>
            <a:r>
              <a:rPr sz="1500">
                <a:solidFill>
                  <a:srgbClr val="004F9F"/>
                </a:solidFill>
                <a:latin typeface="에이투지체 6 SemiBold"/>
                <a:ea typeface="에이투지체 6 SemiBold"/>
                <a:cs typeface="에이투지체 6 SemiBold"/>
              </a:rPr>
              <a:t>디멘드젠(Demand Gen)이란</a:t>
            </a:r>
          </a:p>
        </p:txBody>
      </p:sp>
      <p:sp>
        <p:nvSpPr>
          <p:cNvPr id="10" name="copy-12">
            <a:extLst>
              <a:ext uri="{FF2B5EF4-FFF2-40B4-BE49-F238E27FC236}">
                <a16:creationId xmlns:a16="http://schemas.microsoft.com/office/drawing/2014/main" id="{5F7B31DC-C2A4-49C8-BB5A-3848D21CD125}"/>
              </a:ext>
            </a:extLst>
          </p:cNvPr>
          <p:cNvSpPr>
            <a:spLocks noGrp="1"/>
          </p:cNvSpPr>
          <p:nvPr/>
        </p:nvSpPr>
        <p:spPr>
          <a:xfrm>
            <a:off x="552450" y="2371725"/>
            <a:ext cx="11049000" cy="552450"/>
          </a:xfrm>
          <a:prstGeom prst="rect">
            <a:avLst/>
          </a:prstGeom>
          <a:noFill/>
          <a:ln w="0">
            <a:noFill/>
            <a:prstDash val="solid"/>
          </a:ln>
        </p:spPr>
        <p:txBody>
          <a:bodyPr wrap="square" lIns="0" tIns="0" rIns="0" bIns="0" anchor="ctr">
            <a:noAutofit/>
          </a:bodyPr>
          <a:lstStyle>
            <a:defPPr algn="l">
              <a:defRPr sz="1425">
                <a:solidFill>
                  <a:srgbClr val="222222"/>
                </a:solidFill>
                <a:latin typeface="에이투지체 5 Medium"/>
                <a:ea typeface="에이투지체 5 Medium"/>
                <a:cs typeface="에이투지체 5 Medium"/>
              </a:defRPr>
            </a:defPPr>
          </a:lstStyle>
          <a:p>
            <a:pPr algn="l">
              <a:defRPr sz="1425">
                <a:solidFill>
                  <a:srgbClr val="222222"/>
                </a:solidFill>
                <a:latin typeface="에이투지체 5 Medium"/>
                <a:ea typeface="에이투지체 5 Medium"/>
                <a:cs typeface="에이투지체 5 Medium"/>
              </a:defRPr>
            </a:pPr>
            <a:r>
              <a:rPr sz="1425" dirty="0">
                <a:solidFill>
                  <a:srgbClr val="222222"/>
                </a:solidFill>
                <a:latin typeface="에이투지체 5 Medium"/>
                <a:ea typeface="에이투지체 5 Medium"/>
                <a:cs typeface="에이투지체 5 Medium"/>
              </a:rPr>
              <a:t>YouTube(Shorts </a:t>
            </a:r>
            <a:r>
              <a:rPr sz="1425" dirty="0" err="1">
                <a:solidFill>
                  <a:srgbClr val="222222"/>
                </a:solidFill>
                <a:latin typeface="에이투지체 5 Medium"/>
                <a:ea typeface="에이투지체 5 Medium"/>
                <a:cs typeface="에이투지체 5 Medium"/>
              </a:rPr>
              <a:t>포함</a:t>
            </a:r>
            <a:r>
              <a:rPr sz="1425" dirty="0">
                <a:solidFill>
                  <a:srgbClr val="222222"/>
                </a:solidFill>
                <a:latin typeface="에이투지체 5 Medium"/>
                <a:ea typeface="에이투지체 5 Medium"/>
                <a:cs typeface="에이투지체 5 Medium"/>
              </a:rPr>
              <a:t>), Discover, Gmail, GDN </a:t>
            </a:r>
            <a:r>
              <a:rPr sz="1425" dirty="0" err="1">
                <a:solidFill>
                  <a:srgbClr val="222222"/>
                </a:solidFill>
                <a:latin typeface="에이투지체 5 Medium"/>
                <a:ea typeface="에이투지체 5 Medium"/>
                <a:cs typeface="에이투지체 5 Medium"/>
              </a:rPr>
              <a:t>등에서</a:t>
            </a:r>
            <a:r>
              <a:rPr sz="1425" dirty="0">
                <a:solidFill>
                  <a:srgbClr val="222222"/>
                </a:solidFill>
                <a:latin typeface="에이투지체 5 Medium"/>
                <a:ea typeface="에이투지체 5 Medium"/>
                <a:cs typeface="에이투지체 5 Medium"/>
              </a:rPr>
              <a:t> </a:t>
            </a:r>
            <a:r>
              <a:rPr sz="1425" dirty="0" err="1">
                <a:solidFill>
                  <a:srgbClr val="222222"/>
                </a:solidFill>
                <a:latin typeface="에이투지체 5 Medium"/>
                <a:ea typeface="에이투지체 5 Medium"/>
                <a:cs typeface="에이투지체 5 Medium"/>
              </a:rPr>
              <a:t>이미지·영상으로</a:t>
            </a:r>
            <a:endParaRPr sz="1425" dirty="0">
              <a:solidFill>
                <a:srgbClr val="222222"/>
              </a:solidFill>
              <a:latin typeface="에이투지체 5 Medium"/>
              <a:ea typeface="에이투지체 5 Medium"/>
              <a:cs typeface="에이투지체 5 Medium"/>
            </a:endParaRPr>
          </a:p>
          <a:p>
            <a:pPr algn="l">
              <a:defRPr sz="1425">
                <a:solidFill>
                  <a:srgbClr val="222222"/>
                </a:solidFill>
                <a:latin typeface="에이투지체 5 Medium"/>
                <a:ea typeface="에이투지체 5 Medium"/>
                <a:cs typeface="에이투지체 5 Medium"/>
              </a:defRPr>
            </a:pPr>
            <a:r>
              <a:rPr sz="1425" dirty="0" err="1">
                <a:solidFill>
                  <a:srgbClr val="222222"/>
                </a:solidFill>
                <a:latin typeface="에이투지체 5 Medium"/>
                <a:ea typeface="에이투지체 5 Medium"/>
                <a:cs typeface="에이투지체 5 Medium"/>
              </a:rPr>
              <a:t>잠재고객의</a:t>
            </a:r>
            <a:r>
              <a:rPr sz="1425" dirty="0">
                <a:solidFill>
                  <a:srgbClr val="222222"/>
                </a:solidFill>
                <a:latin typeface="에이투지체 5 Medium"/>
                <a:ea typeface="에이투지체 5 Medium"/>
                <a:cs typeface="에이투지체 5 Medium"/>
              </a:rPr>
              <a:t> </a:t>
            </a:r>
            <a:r>
              <a:rPr sz="1425" dirty="0" err="1">
                <a:solidFill>
                  <a:srgbClr val="222222"/>
                </a:solidFill>
                <a:latin typeface="에이투지체 5 Medium"/>
                <a:ea typeface="에이투지체 5 Medium"/>
                <a:cs typeface="에이투지체 5 Medium"/>
              </a:rPr>
              <a:t>관심과</a:t>
            </a:r>
            <a:r>
              <a:rPr sz="1425" dirty="0">
                <a:solidFill>
                  <a:srgbClr val="222222"/>
                </a:solidFill>
                <a:latin typeface="에이투지체 5 Medium"/>
                <a:ea typeface="에이투지체 5 Medium"/>
                <a:cs typeface="에이투지체 5 Medium"/>
              </a:rPr>
              <a:t> </a:t>
            </a:r>
            <a:r>
              <a:rPr sz="1425" dirty="0" err="1">
                <a:solidFill>
                  <a:srgbClr val="222222"/>
                </a:solidFill>
                <a:latin typeface="에이투지체 5 Medium"/>
                <a:ea typeface="에이투지체 5 Medium"/>
                <a:cs typeface="에이투지체 5 Medium"/>
              </a:rPr>
              <a:t>방문을</a:t>
            </a:r>
            <a:r>
              <a:rPr sz="1425" dirty="0">
                <a:solidFill>
                  <a:srgbClr val="222222"/>
                </a:solidFill>
                <a:latin typeface="에이투지체 5 Medium"/>
                <a:ea typeface="에이투지체 5 Medium"/>
                <a:cs typeface="에이투지체 5 Medium"/>
              </a:rPr>
              <a:t> </a:t>
            </a:r>
            <a:r>
              <a:rPr sz="1425" dirty="0" err="1">
                <a:solidFill>
                  <a:srgbClr val="222222"/>
                </a:solidFill>
                <a:latin typeface="에이투지체 5 Medium"/>
                <a:ea typeface="에이투지체 5 Medium"/>
                <a:cs typeface="에이투지체 5 Medium"/>
              </a:rPr>
              <a:t>유도하는</a:t>
            </a:r>
            <a:r>
              <a:rPr sz="1425" dirty="0">
                <a:solidFill>
                  <a:srgbClr val="222222"/>
                </a:solidFill>
                <a:latin typeface="에이투지체 5 Medium"/>
                <a:ea typeface="에이투지체 5 Medium"/>
                <a:cs typeface="에이투지체 5 Medium"/>
              </a:rPr>
              <a:t> Google </a:t>
            </a:r>
            <a:r>
              <a:rPr sz="1425" dirty="0" err="1">
                <a:solidFill>
                  <a:srgbClr val="222222"/>
                </a:solidFill>
                <a:latin typeface="에이투지체 5 Medium"/>
                <a:ea typeface="에이투지체 5 Medium"/>
                <a:cs typeface="에이투지체 5 Medium"/>
              </a:rPr>
              <a:t>광고</a:t>
            </a:r>
            <a:r>
              <a:rPr sz="1425" dirty="0">
                <a:solidFill>
                  <a:srgbClr val="222222"/>
                </a:solidFill>
                <a:latin typeface="에이투지체 5 Medium"/>
                <a:ea typeface="에이투지체 5 Medium"/>
                <a:cs typeface="에이투지체 5 Medium"/>
              </a:rPr>
              <a:t> </a:t>
            </a:r>
            <a:r>
              <a:rPr sz="1425" dirty="0" err="1">
                <a:solidFill>
                  <a:srgbClr val="222222"/>
                </a:solidFill>
                <a:latin typeface="에이투지체 5 Medium"/>
                <a:ea typeface="에이투지체 5 Medium"/>
                <a:cs typeface="에이투지체 5 Medium"/>
              </a:rPr>
              <a:t>캠페인입니다</a:t>
            </a:r>
            <a:endParaRPr sz="1425" dirty="0">
              <a:solidFill>
                <a:srgbClr val="222222"/>
              </a:solidFill>
              <a:latin typeface="에이투지체 5 Medium"/>
              <a:ea typeface="에이투지체 5 Medium"/>
              <a:cs typeface="에이투지체 5 Medium"/>
            </a:endParaRPr>
          </a:p>
        </p:txBody>
      </p:sp>
      <p:graphicFrame>
        <p:nvGraphicFramePr>
          <p:cNvPr id="11" name="표 10">
            <a:extLst>
              <a:ext uri="{FF2B5EF4-FFF2-40B4-BE49-F238E27FC236}">
                <a16:creationId xmlns:a16="http://schemas.microsoft.com/office/drawing/2014/main" id="{148DD901-0310-43C3-B3E4-0764CE162ED1}"/>
              </a:ext>
            </a:extLst>
          </p:cNvPr>
          <p:cNvGraphicFramePr/>
          <p:nvPr>
            <p:extLst>
              <p:ext uri="{D42A27DB-BD31-4B8C-83A1-F6EECF244321}">
                <p14:modId xmlns:p14="http://schemas.microsoft.com/office/powerpoint/2010/main" val="495537800"/>
              </p:ext>
            </p:extLst>
          </p:nvPr>
        </p:nvGraphicFramePr>
        <p:xfrm>
          <a:off x="552450" y="3133725"/>
          <a:ext cx="11068050" cy="2038350"/>
        </p:xfrm>
        <a:graphic>
          <a:graphicData uri="http://schemas.openxmlformats.org/drawingml/2006/table">
            <a:tbl>
              <a:tblPr/>
              <a:tblGrid>
                <a:gridCol w="2476500">
                  <a:extLst>
                    <a:ext uri="{9D8B030D-6E8A-4147-A177-3AD203B41FA5}">
                      <a16:colId xmlns:a16="http://schemas.microsoft.com/office/drawing/2014/main" val="20000"/>
                    </a:ext>
                  </a:extLst>
                </a:gridCol>
                <a:gridCol w="8591550">
                  <a:extLst>
                    <a:ext uri="{9D8B030D-6E8A-4147-A177-3AD203B41FA5}">
                      <a16:colId xmlns:a16="http://schemas.microsoft.com/office/drawing/2014/main" val="20001"/>
                    </a:ext>
                  </a:extLst>
                </a:gridCol>
              </a:tblGrid>
              <a:tr h="361950">
                <a:tc>
                  <a:txBody>
                    <a:bodyPr/>
                    <a:lstStyle/>
                    <a:p>
                      <a:pPr algn="ctr"/>
                      <a:r>
                        <a:rPr sz="1290">
                          <a:solidFill>
                            <a:srgbClr val="FFFFFF"/>
                          </a:solidFill>
                          <a:latin typeface="에이투지체 6 SemiBold"/>
                          <a:ea typeface="에이투지체 6 SemiBold"/>
                          <a:cs typeface="에이투지체 6 SemiBold"/>
                        </a:rPr>
                        <a:t>집행 장점</a:t>
                      </a:r>
                    </a:p>
                  </a:txBody>
                  <a:tcPr marL="95250" marR="95250" marT="57150" marB="57150" anchor="ctr">
                    <a:lnL w="14288">
                      <a:solidFill>
                        <a:srgbClr val="FFFFFF"/>
                      </a:solidFill>
                      <a:prstDash val="solid"/>
                    </a:lnL>
                    <a:lnR w="14288">
                      <a:solidFill>
                        <a:srgbClr val="FFFFFF"/>
                      </a:solidFill>
                      <a:prstDash val="solid"/>
                    </a:lnR>
                    <a:lnT w="14288">
                      <a:solidFill>
                        <a:srgbClr val="FFFFFF"/>
                      </a:solidFill>
                      <a:prstDash val="solid"/>
                    </a:lnT>
                    <a:lnB w="14288">
                      <a:solidFill>
                        <a:srgbClr val="FFFFFF"/>
                      </a:solidFill>
                      <a:prstDash val="solid"/>
                    </a:lnB>
                    <a:solidFill>
                      <a:srgbClr val="0E3A72"/>
                    </a:solidFill>
                  </a:tcPr>
                </a:tc>
                <a:tc>
                  <a:txBody>
                    <a:bodyPr/>
                    <a:lstStyle/>
                    <a:p>
                      <a:pPr algn="ctr"/>
                      <a:r>
                        <a:rPr sz="1290">
                          <a:solidFill>
                            <a:srgbClr val="FFFFFF"/>
                          </a:solidFill>
                          <a:latin typeface="에이투지체 6 SemiBold"/>
                          <a:ea typeface="에이투지체 6 SemiBold"/>
                          <a:cs typeface="에이투지체 6 SemiBold"/>
                        </a:rPr>
                        <a:t>두드림 적용 방향</a:t>
                      </a:r>
                    </a:p>
                  </a:txBody>
                  <a:tcPr marL="95250" marR="95250" marT="57150" marB="57150" anchor="ctr">
                    <a:lnL w="14288" cap="flat" cmpd="sng" algn="ctr">
                      <a:solidFill>
                        <a:srgbClr val="FFFFFF"/>
                      </a:solidFill>
                      <a:prstDash val="solid"/>
                      <a:round/>
                      <a:headEnd type="none" w="med" len="med"/>
                      <a:tailEnd type="none" w="med" len="med"/>
                    </a:lnL>
                    <a:lnR w="14288">
                      <a:solidFill>
                        <a:srgbClr val="FFFFFF"/>
                      </a:solidFill>
                      <a:prstDash val="solid"/>
                    </a:lnR>
                    <a:lnT w="14288">
                      <a:solidFill>
                        <a:srgbClr val="FFFFFF"/>
                      </a:solidFill>
                      <a:prstDash val="solid"/>
                    </a:lnT>
                    <a:lnB w="14288">
                      <a:solidFill>
                        <a:srgbClr val="FFFFFF"/>
                      </a:solidFill>
                      <a:prstDash val="solid"/>
                    </a:lnB>
                    <a:solidFill>
                      <a:srgbClr val="0E3A72"/>
                    </a:solidFill>
                  </a:tcPr>
                </a:tc>
                <a:extLst>
                  <a:ext uri="{0D108BD9-81ED-4DB2-BD59-A6C34878D82A}">
                    <a16:rowId xmlns:a16="http://schemas.microsoft.com/office/drawing/2014/main" val="10000"/>
                  </a:ext>
                </a:extLst>
              </a:tr>
              <a:tr h="419100">
                <a:tc>
                  <a:txBody>
                    <a:bodyPr/>
                    <a:lstStyle/>
                    <a:p>
                      <a:pPr algn="l"/>
                      <a:r>
                        <a:rPr sz="1358">
                          <a:solidFill>
                            <a:srgbClr val="222222"/>
                          </a:solidFill>
                          <a:latin typeface="에이투지체 5 Medium"/>
                          <a:ea typeface="에이투지체 5 Medium"/>
                          <a:cs typeface="에이투지체 5 Medium"/>
                        </a:rPr>
                        <a:t>YouTube 지면 활용</a:t>
                      </a:r>
                    </a:p>
                  </a:txBody>
                  <a:tcPr marL="95250" marR="95250" marT="57150" marB="57150" anchor="ctr">
                    <a:lnL w="14288">
                      <a:solidFill>
                        <a:srgbClr val="FFFFFF"/>
                      </a:solidFill>
                      <a:prstDash val="soli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5F5F5"/>
                    </a:solidFill>
                  </a:tcPr>
                </a:tc>
                <a:tc>
                  <a:txBody>
                    <a:bodyPr/>
                    <a:lstStyle/>
                    <a:p>
                      <a:pPr algn="l"/>
                      <a:r>
                        <a:rPr sz="1358" dirty="0" err="1">
                          <a:solidFill>
                            <a:srgbClr val="222222"/>
                          </a:solidFill>
                          <a:latin typeface="에이투지체 5 Medium"/>
                          <a:ea typeface="에이투지체 5 Medium"/>
                          <a:cs typeface="에이투지체 5 Medium"/>
                        </a:rPr>
                        <a:t>인스트림·인피드·Shorts를</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선택해</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모델·제품</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영상을</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노출</a:t>
                      </a:r>
                      <a:endParaRPr sz="1358" dirty="0">
                        <a:solidFill>
                          <a:srgbClr val="222222"/>
                        </a:solidFill>
                        <a:latin typeface="에이투지체 5 Medium"/>
                        <a:ea typeface="에이투지체 5 Medium"/>
                        <a:cs typeface="에이투지체 5 Medium"/>
                      </a:endParaRPr>
                    </a:p>
                  </a:txBody>
                  <a:tcPr marL="95250" marR="95250" marT="57150" marB="57150"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5F5F5"/>
                    </a:solidFill>
                  </a:tcPr>
                </a:tc>
                <a:extLst>
                  <a:ext uri="{0D108BD9-81ED-4DB2-BD59-A6C34878D82A}">
                    <a16:rowId xmlns:a16="http://schemas.microsoft.com/office/drawing/2014/main" val="10001"/>
                  </a:ext>
                </a:extLst>
              </a:tr>
              <a:tr h="419100">
                <a:tc>
                  <a:txBody>
                    <a:bodyPr/>
                    <a:lstStyle/>
                    <a:p>
                      <a:pPr algn="l"/>
                      <a:r>
                        <a:rPr sz="1358">
                          <a:solidFill>
                            <a:srgbClr val="222222"/>
                          </a:solidFill>
                          <a:latin typeface="에이투지체 5 Medium"/>
                          <a:ea typeface="에이투지체 5 Medium"/>
                          <a:cs typeface="에이투지체 5 Medium"/>
                        </a:rPr>
                        <a:t>신규 브랜드 인지도</a:t>
                      </a:r>
                    </a:p>
                  </a:txBody>
                  <a:tcPr marL="95250" marR="95250" marT="57150" marB="57150" anchor="ctr">
                    <a:lnL w="14288">
                      <a:solidFill>
                        <a:srgbClr val="FFFFFF"/>
                      </a:solidFill>
                      <a:prstDash val="soli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FFFFF"/>
                    </a:solidFill>
                  </a:tcPr>
                </a:tc>
                <a:tc>
                  <a:txBody>
                    <a:bodyPr/>
                    <a:lstStyle/>
                    <a:p>
                      <a:pPr algn="l"/>
                      <a:r>
                        <a:rPr lang="ko-KR" altLang="en-US" sz="1358" dirty="0">
                          <a:solidFill>
                            <a:srgbClr val="222222"/>
                          </a:solidFill>
                          <a:latin typeface="에이투지체 5 Medium"/>
                          <a:ea typeface="에이투지체 5 Medium"/>
                          <a:cs typeface="에이투지체 5 Medium"/>
                        </a:rPr>
                        <a:t>신규 제품 </a:t>
                      </a:r>
                      <a:r>
                        <a:rPr lang="en-US" altLang="ko-KR" sz="1358" dirty="0">
                          <a:solidFill>
                            <a:srgbClr val="222222"/>
                          </a:solidFill>
                          <a:latin typeface="에이투지체 5 Medium"/>
                          <a:ea typeface="에이투지체 5 Medium"/>
                          <a:cs typeface="에이투지체 5 Medium"/>
                        </a:rPr>
                        <a:t>TV CF </a:t>
                      </a:r>
                      <a:r>
                        <a:rPr lang="ko-KR" altLang="en-US" sz="1358" dirty="0">
                          <a:solidFill>
                            <a:srgbClr val="222222"/>
                          </a:solidFill>
                          <a:latin typeface="에이투지체 5 Medium"/>
                          <a:ea typeface="에이투지체 5 Medium"/>
                          <a:cs typeface="에이투지체 5 Medium"/>
                        </a:rPr>
                        <a:t>영상을 활용하여 신규 브랜드 인지도 증대</a:t>
                      </a:r>
                      <a:endParaRPr sz="1358" dirty="0">
                        <a:solidFill>
                          <a:srgbClr val="222222"/>
                        </a:solidFill>
                        <a:latin typeface="에이투지체 5 Medium"/>
                        <a:ea typeface="에이투지체 5 Medium"/>
                        <a:cs typeface="에이투지체 5 Medium"/>
                      </a:endParaRPr>
                    </a:p>
                  </a:txBody>
                  <a:tcPr marL="95250" marR="95250" marT="57150" marB="57150"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FFFFF"/>
                    </a:solidFill>
                  </a:tcPr>
                </a:tc>
                <a:extLst>
                  <a:ext uri="{0D108BD9-81ED-4DB2-BD59-A6C34878D82A}">
                    <a16:rowId xmlns:a16="http://schemas.microsoft.com/office/drawing/2014/main" val="10002"/>
                  </a:ext>
                </a:extLst>
              </a:tr>
              <a:tr h="419100">
                <a:tc>
                  <a:txBody>
                    <a:bodyPr/>
                    <a:lstStyle/>
                    <a:p>
                      <a:pPr algn="l"/>
                      <a:r>
                        <a:rPr sz="1358">
                          <a:solidFill>
                            <a:srgbClr val="222222"/>
                          </a:solidFill>
                          <a:latin typeface="에이투지체 5 Medium"/>
                          <a:ea typeface="에이투지체 5 Medium"/>
                          <a:cs typeface="에이투지체 5 Medium"/>
                        </a:rPr>
                        <a:t>유입 단가 관리</a:t>
                      </a:r>
                    </a:p>
                  </a:txBody>
                  <a:tcPr marL="95250" marR="95250" marT="57150" marB="57150" anchor="ctr">
                    <a:lnL w="14288">
                      <a:solidFill>
                        <a:srgbClr val="FFFFFF"/>
                      </a:solidFill>
                      <a:prstDash val="soli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5F5F5"/>
                    </a:solidFill>
                  </a:tcPr>
                </a:tc>
                <a:tc>
                  <a:txBody>
                    <a:bodyPr/>
                    <a:lstStyle/>
                    <a:p>
                      <a:pPr algn="l"/>
                      <a:r>
                        <a:rPr sz="1358" dirty="0" err="1">
                          <a:solidFill>
                            <a:srgbClr val="222222"/>
                          </a:solidFill>
                          <a:latin typeface="에이투지체 5 Medium"/>
                          <a:ea typeface="에이투지체 5 Medium"/>
                          <a:cs typeface="에이투지체 5 Medium"/>
                        </a:rPr>
                        <a:t>웹사이트</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트래픽</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목표와</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클릭수</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최대화</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입찰로</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방문</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확대</a:t>
                      </a:r>
                      <a:endParaRPr sz="1358" dirty="0">
                        <a:solidFill>
                          <a:srgbClr val="222222"/>
                        </a:solidFill>
                        <a:latin typeface="에이투지체 5 Medium"/>
                        <a:ea typeface="에이투지체 5 Medium"/>
                        <a:cs typeface="에이투지체 5 Medium"/>
                      </a:endParaRPr>
                    </a:p>
                  </a:txBody>
                  <a:tcPr marL="95250" marR="95250" marT="57150" marB="57150"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5F5F5"/>
                    </a:solidFill>
                  </a:tcPr>
                </a:tc>
                <a:extLst>
                  <a:ext uri="{0D108BD9-81ED-4DB2-BD59-A6C34878D82A}">
                    <a16:rowId xmlns:a16="http://schemas.microsoft.com/office/drawing/2014/main" val="10003"/>
                  </a:ext>
                </a:extLst>
              </a:tr>
              <a:tr h="419100">
                <a:tc>
                  <a:txBody>
                    <a:bodyPr/>
                    <a:lstStyle/>
                    <a:p>
                      <a:pPr algn="l"/>
                      <a:r>
                        <a:rPr sz="1358">
                          <a:solidFill>
                            <a:srgbClr val="222222"/>
                          </a:solidFill>
                          <a:latin typeface="에이투지체 5 Medium"/>
                          <a:ea typeface="에이투지체 5 Medium"/>
                          <a:cs typeface="에이투지체 5 Medium"/>
                        </a:rPr>
                        <a:t>타깃 세분화</a:t>
                      </a:r>
                    </a:p>
                  </a:txBody>
                  <a:tcPr marL="95250" marR="95250" marT="57150" marB="57150" anchor="ctr">
                    <a:lnL w="14288">
                      <a:solidFill>
                        <a:srgbClr val="FFFFFF"/>
                      </a:solidFill>
                      <a:prstDash val="soli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FFFFF"/>
                    </a:solidFill>
                  </a:tcPr>
                </a:tc>
                <a:tc>
                  <a:txBody>
                    <a:bodyPr/>
                    <a:lstStyle/>
                    <a:p>
                      <a:pPr algn="l"/>
                      <a:r>
                        <a:rPr sz="1358" dirty="0" err="1">
                          <a:solidFill>
                            <a:srgbClr val="222222"/>
                          </a:solidFill>
                          <a:latin typeface="에이투지체 5 Medium"/>
                          <a:ea typeface="에이투지체 5 Medium"/>
                          <a:cs typeface="에이투지체 5 Medium"/>
                        </a:rPr>
                        <a:t>관심사</a:t>
                      </a:r>
                      <a:r>
                        <a:rPr sz="1358" dirty="0">
                          <a:solidFill>
                            <a:srgbClr val="222222"/>
                          </a:solidFill>
                          <a:latin typeface="에이투지체 5 Medium"/>
                          <a:ea typeface="에이투지체 5 Medium"/>
                          <a:cs typeface="에이투지체 5 Medium"/>
                        </a:rPr>
                        <a:t>·</a:t>
                      </a:r>
                      <a:r>
                        <a:rPr lang="ko-KR" altLang="en-US" sz="1358" dirty="0">
                          <a:solidFill>
                            <a:srgbClr val="222222"/>
                          </a:solidFill>
                          <a:latin typeface="에이투지체 5 Medium"/>
                          <a:ea typeface="에이투지체 5 Medium"/>
                          <a:cs typeface="에이투지체 5 Medium"/>
                        </a:rPr>
                        <a:t>구매의도</a:t>
                      </a:r>
                      <a:r>
                        <a:rPr lang="en-US" altLang="ko-KR" sz="1358" dirty="0">
                          <a:solidFill>
                            <a:srgbClr val="222222"/>
                          </a:solidFill>
                          <a:latin typeface="에이투지체 5 Medium"/>
                          <a:ea typeface="에이투지체 5 Medium"/>
                          <a:cs typeface="에이투지체 5 Medium"/>
                        </a:rPr>
                        <a:t>·</a:t>
                      </a:r>
                      <a:r>
                        <a:rPr lang="ko-KR" altLang="en-US" sz="1358" dirty="0">
                          <a:solidFill>
                            <a:srgbClr val="222222"/>
                          </a:solidFill>
                          <a:latin typeface="에이투지체 5 Medium"/>
                          <a:ea typeface="에이투지체 5 Medium"/>
                          <a:cs typeface="에이투지체 5 Medium"/>
                        </a:rPr>
                        <a:t>어플</a:t>
                      </a:r>
                      <a:r>
                        <a:rPr lang="en-US" altLang="ko-KR" sz="1358" dirty="0">
                          <a:solidFill>
                            <a:srgbClr val="222222"/>
                          </a:solidFill>
                          <a:latin typeface="에이투지체 5 Medium"/>
                          <a:ea typeface="에이투지체 5 Medium"/>
                          <a:cs typeface="에이투지체 5 Medium"/>
                        </a:rPr>
                        <a:t>·</a:t>
                      </a:r>
                      <a:r>
                        <a:rPr lang="ko-KR" altLang="en-US" sz="1358" dirty="0">
                          <a:solidFill>
                            <a:srgbClr val="222222"/>
                          </a:solidFill>
                          <a:latin typeface="에이투지체 5 Medium"/>
                          <a:ea typeface="에이투지체 5 Medium"/>
                          <a:cs typeface="에이투지체 5 Medium"/>
                        </a:rPr>
                        <a:t>검색어</a:t>
                      </a:r>
                      <a:r>
                        <a:rPr sz="1358" dirty="0">
                          <a:solidFill>
                            <a:srgbClr val="222222"/>
                          </a:solidFill>
                          <a:latin typeface="에이투지체 5 Medium"/>
                          <a:ea typeface="에이투지체 5 Medium"/>
                          <a:cs typeface="에이투지체 5 Medium"/>
                        </a:rPr>
                        <a:t> 등 </a:t>
                      </a:r>
                      <a:r>
                        <a:rPr sz="1358" dirty="0" err="1">
                          <a:solidFill>
                            <a:srgbClr val="222222"/>
                          </a:solidFill>
                          <a:latin typeface="에이투지체 5 Medium"/>
                          <a:ea typeface="에이투지체 5 Medium"/>
                          <a:cs typeface="에이투지체 5 Medium"/>
                        </a:rPr>
                        <a:t>잠재고객</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세그먼트로</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핵심</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고객층에</a:t>
                      </a:r>
                      <a:r>
                        <a:rPr sz="1358" dirty="0">
                          <a:solidFill>
                            <a:srgbClr val="222222"/>
                          </a:solidFill>
                          <a:latin typeface="에이투지체 5 Medium"/>
                          <a:ea typeface="에이투지체 5 Medium"/>
                          <a:cs typeface="에이투지체 5 Medium"/>
                        </a:rPr>
                        <a:t> </a:t>
                      </a:r>
                      <a:r>
                        <a:rPr sz="1358" dirty="0" err="1">
                          <a:solidFill>
                            <a:srgbClr val="222222"/>
                          </a:solidFill>
                          <a:latin typeface="에이투지체 5 Medium"/>
                          <a:ea typeface="에이투지체 5 Medium"/>
                          <a:cs typeface="에이투지체 5 Medium"/>
                        </a:rPr>
                        <a:t>접근</a:t>
                      </a:r>
                      <a:endParaRPr sz="1358" dirty="0">
                        <a:solidFill>
                          <a:srgbClr val="222222"/>
                        </a:solidFill>
                        <a:latin typeface="에이투지체 5 Medium"/>
                        <a:ea typeface="에이투지체 5 Medium"/>
                        <a:cs typeface="에이투지체 5 Medium"/>
                      </a:endParaRPr>
                    </a:p>
                  </a:txBody>
                  <a:tcPr marL="95250" marR="95250" marT="57150" marB="57150" anchor="ctr">
                    <a:lnL w="14288" cap="flat" cmpd="sng" algn="ctr">
                      <a:solidFill>
                        <a:srgbClr val="FFFFFF"/>
                      </a:solidFill>
                      <a:prstDash val="solid"/>
                      <a:round/>
                      <a:headEnd type="none" w="med" len="med"/>
                      <a:tailEnd type="none" w="med" len="med"/>
                    </a:lnL>
                    <a:lnR w="14288">
                      <a:solidFill>
                        <a:srgbClr val="FFFFFF"/>
                      </a:solidFill>
                      <a:prstDash val="solid"/>
                    </a:lnR>
                    <a:lnT w="14288" cap="flat" cmpd="sng" algn="ctr">
                      <a:solidFill>
                        <a:srgbClr val="FFFFFF"/>
                      </a:solidFill>
                      <a:prstDash val="solid"/>
                      <a:round/>
                      <a:headEnd type="none" w="med" len="med"/>
                      <a:tailEnd type="none" w="med" len="med"/>
                    </a:lnT>
                    <a:lnB w="14288">
                      <a:solidFill>
                        <a:srgbClr val="FFFFFF"/>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12" name="copy-13">
            <a:extLst>
              <a:ext uri="{FF2B5EF4-FFF2-40B4-BE49-F238E27FC236}">
                <a16:creationId xmlns:a16="http://schemas.microsoft.com/office/drawing/2014/main" id="{ED63EC4C-AC0F-41E3-A3FE-76B0CAB72DAE}"/>
              </a:ext>
            </a:extLst>
          </p:cNvPr>
          <p:cNvSpPr>
            <a:spLocks noGrp="1"/>
          </p:cNvSpPr>
          <p:nvPr/>
        </p:nvSpPr>
        <p:spPr>
          <a:xfrm>
            <a:off x="552450" y="5314950"/>
            <a:ext cx="5924550" cy="323850"/>
          </a:xfrm>
          <a:prstGeom prst="rect">
            <a:avLst/>
          </a:prstGeom>
          <a:noFill/>
          <a:ln w="0">
            <a:noFill/>
            <a:prstDash val="solid"/>
          </a:ln>
        </p:spPr>
        <p:txBody>
          <a:bodyPr wrap="square" lIns="0" tIns="0" rIns="0" bIns="0" anchor="ctr">
            <a:noAutofit/>
          </a:bodyPr>
          <a:lstStyle>
            <a:defPPr algn="l">
              <a:defRPr sz="1440">
                <a:solidFill>
                  <a:srgbClr val="004F9F"/>
                </a:solidFill>
                <a:latin typeface="에이투지체 6 SemiBold"/>
                <a:ea typeface="에이투지체 6 SemiBold"/>
                <a:cs typeface="에이투지체 6 SemiBold"/>
              </a:defRPr>
            </a:defPPr>
          </a:lstStyle>
          <a:p>
            <a:pPr algn="l">
              <a:defRPr sz="1440">
                <a:solidFill>
                  <a:srgbClr val="004F9F"/>
                </a:solidFill>
                <a:latin typeface="에이투지체 6 SemiBold"/>
                <a:ea typeface="에이투지체 6 SemiBold"/>
                <a:cs typeface="에이투지체 6 SemiBold"/>
              </a:defRPr>
            </a:pPr>
            <a:r>
              <a:rPr sz="1440">
                <a:solidFill>
                  <a:srgbClr val="004F9F"/>
                </a:solidFill>
                <a:latin typeface="에이투지체 6 SemiBold"/>
                <a:ea typeface="에이투지체 6 SemiBold"/>
                <a:cs typeface="에이투지체 6 SemiBold"/>
              </a:rPr>
              <a:t>집행안  네이버 브랜드스토어 랜딩</a:t>
            </a:r>
          </a:p>
        </p:txBody>
      </p:sp>
      <p:sp>
        <p:nvSpPr>
          <p:cNvPr id="13" name="copy-14">
            <a:extLst>
              <a:ext uri="{FF2B5EF4-FFF2-40B4-BE49-F238E27FC236}">
                <a16:creationId xmlns:a16="http://schemas.microsoft.com/office/drawing/2014/main" id="{45D9029B-D4F9-4145-A01D-A1B9581D8DF8}"/>
              </a:ext>
            </a:extLst>
          </p:cNvPr>
          <p:cNvSpPr>
            <a:spLocks noGrp="1"/>
          </p:cNvSpPr>
          <p:nvPr/>
        </p:nvSpPr>
        <p:spPr>
          <a:xfrm>
            <a:off x="6238875" y="5314950"/>
            <a:ext cx="5372100" cy="323850"/>
          </a:xfrm>
          <a:prstGeom prst="rect">
            <a:avLst/>
          </a:prstGeom>
          <a:noFill/>
          <a:ln w="0">
            <a:noFill/>
            <a:prstDash val="solid"/>
          </a:ln>
        </p:spPr>
        <p:txBody>
          <a:bodyPr wrap="square" lIns="0" tIns="0" rIns="0" bIns="0" anchor="ctr">
            <a:noAutofit/>
          </a:bodyPr>
          <a:lstStyle>
            <a:defPPr algn="r">
              <a:defRPr sz="1358">
                <a:solidFill>
                  <a:srgbClr val="222222"/>
                </a:solidFill>
                <a:latin typeface="에이투지체 6 SemiBold"/>
                <a:ea typeface="에이투지체 6 SemiBold"/>
                <a:cs typeface="에이투지체 6 SemiBold"/>
              </a:defRPr>
            </a:defPPr>
          </a:lstStyle>
          <a:p>
            <a:pPr algn="r">
              <a:defRPr sz="1358">
                <a:solidFill>
                  <a:srgbClr val="222222"/>
                </a:solidFill>
                <a:latin typeface="에이투지체 6 SemiBold"/>
                <a:ea typeface="에이투지체 6 SemiBold"/>
                <a:cs typeface="에이투지체 6 SemiBold"/>
              </a:defRPr>
            </a:pPr>
            <a:r>
              <a:rPr sz="1358">
                <a:solidFill>
                  <a:srgbClr val="222222"/>
                </a:solidFill>
                <a:latin typeface="에이투지체 6 SemiBold"/>
                <a:ea typeface="에이투지체 6 SemiBold"/>
                <a:cs typeface="에이투지체 6 SemiBold"/>
              </a:rPr>
              <a:t>월 300만원  /  목표 CPC 100원  /  목표 3만 클릭</a:t>
            </a:r>
          </a:p>
        </p:txBody>
      </p:sp>
      <p:sp>
        <p:nvSpPr>
          <p:cNvPr id="14" name="직사각형 13">
            <a:extLst>
              <a:ext uri="{FF2B5EF4-FFF2-40B4-BE49-F238E27FC236}">
                <a16:creationId xmlns:a16="http://schemas.microsoft.com/office/drawing/2014/main" id="{767CBB71-858F-4CB9-9C1B-B8FF117FAC9A}"/>
              </a:ext>
            </a:extLst>
          </p:cNvPr>
          <p:cNvSpPr>
            <a:spLocks noGrp="1"/>
          </p:cNvSpPr>
          <p:nvPr/>
        </p:nvSpPr>
        <p:spPr>
          <a:xfrm>
            <a:off x="548640" y="5829300"/>
            <a:ext cx="11064240" cy="438150"/>
          </a:xfrm>
          <a:prstGeom prst="roundRect">
            <a:avLst>
              <a:gd name="adj" fmla="val 16695"/>
            </a:avLst>
          </a:prstGeom>
          <a:solidFill>
            <a:srgbClr val="EAF2FB"/>
          </a:solidFill>
          <a:ln w="9525">
            <a:solidFill>
              <a:srgbClr val="004F9F"/>
            </a:solidFill>
            <a:prstDash val="solid"/>
          </a:ln>
        </p:spPr>
        <p:txBody>
          <a:bodyPr/>
          <a:lstStyle/>
          <a:p>
            <a:endParaRPr lang="ko-KR" altLang="en-US"/>
          </a:p>
        </p:txBody>
      </p:sp>
      <p:sp>
        <p:nvSpPr>
          <p:cNvPr id="15" name="copy-15">
            <a:extLst>
              <a:ext uri="{FF2B5EF4-FFF2-40B4-BE49-F238E27FC236}">
                <a16:creationId xmlns:a16="http://schemas.microsoft.com/office/drawing/2014/main" id="{56F4BFC4-699F-47FE-AFD2-7D8C8A67C520}"/>
              </a:ext>
            </a:extLst>
          </p:cNvPr>
          <p:cNvSpPr>
            <a:spLocks noGrp="1"/>
          </p:cNvSpPr>
          <p:nvPr/>
        </p:nvSpPr>
        <p:spPr>
          <a:xfrm>
            <a:off x="742950" y="5867400"/>
            <a:ext cx="10648950" cy="361950"/>
          </a:xfrm>
          <a:prstGeom prst="rect">
            <a:avLst/>
          </a:prstGeom>
          <a:noFill/>
          <a:ln w="0">
            <a:noFill/>
            <a:prstDash val="solid"/>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디멘드젠으로 관심과 방문을 확보하고, 검색·GFA 운영으로 구매 전환을 이어갑니다</a:t>
            </a:r>
          </a:p>
        </p:txBody>
      </p:sp>
      <p:sp>
        <p:nvSpPr>
          <p:cNvPr id="16" name="copy-16">
            <a:extLst>
              <a:ext uri="{FF2B5EF4-FFF2-40B4-BE49-F238E27FC236}">
                <a16:creationId xmlns:a16="http://schemas.microsoft.com/office/drawing/2014/main" id="{9CDDCE5B-B56C-43B3-B659-9333CA0269E5}"/>
              </a:ext>
            </a:extLst>
          </p:cNvPr>
          <p:cNvSpPr>
            <a:spLocks noGrp="1"/>
          </p:cNvSpPr>
          <p:nvPr/>
        </p:nvSpPr>
        <p:spPr>
          <a:xfrm>
            <a:off x="552450" y="6315075"/>
            <a:ext cx="11049000" cy="161925"/>
          </a:xfrm>
          <a:prstGeom prst="rect">
            <a:avLst/>
          </a:prstGeom>
          <a:noFill/>
          <a:ln w="0">
            <a:noFill/>
            <a:prstDash val="solid"/>
          </a:ln>
        </p:spPr>
        <p:txBody>
          <a:bodyPr wrap="square" lIns="0" tIns="0" rIns="0" bIns="0" anchor="ctr">
            <a:noAutofit/>
          </a:bodyPr>
          <a:lstStyle>
            <a:defPPr algn="l">
              <a:defRPr sz="840">
                <a:solidFill>
                  <a:srgbClr val="5C5C5C"/>
                </a:solidFill>
                <a:latin typeface="에이투지체 3 Light"/>
                <a:ea typeface="에이투지체 3 Light"/>
                <a:cs typeface="에이투지체 3 Light"/>
              </a:defRPr>
            </a:defPPr>
          </a:lstStyle>
          <a:p>
            <a:pPr algn="l">
              <a:defRPr sz="840">
                <a:solidFill>
                  <a:srgbClr val="5C5C5C"/>
                </a:solidFill>
                <a:latin typeface="에이투지체 3 Light"/>
                <a:ea typeface="에이투지체 3 Light"/>
                <a:cs typeface="에이투지체 3 Light"/>
              </a:defRPr>
            </a:pPr>
            <a:r>
              <a:rPr sz="840">
                <a:solidFill>
                  <a:srgbClr val="5C5C5C"/>
                </a:solidFill>
                <a:latin typeface="에이투지체 3 Light"/>
                <a:ea typeface="에이투지체 3 Light"/>
                <a:cs typeface="에이투지체 3 Light"/>
              </a:rPr>
              <a:t>CPC·클릭은 제안 목표이며 실제 효율은 집행 후 검증. 트래픽 캠페인의 매출·ROAS는 별도 목표로 설정하지 않음</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0A2F5C"/>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B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737360"/>
            <a:ext cx="5486400" cy="548640"/>
          </a:xfrm>
          <a:prstGeom prst="rect">
            <a:avLst/>
          </a:prstGeom>
          <a:noFill/>
        </p:spPr>
        <p:txBody>
          <a:bodyPr wrap="square" lIns="0" tIns="0" rIns="0" bIns="0" anchor="t">
            <a:spAutoFit/>
          </a:bodyPr>
          <a:lstStyle/>
          <a:p>
            <a:pPr algn="l"/>
            <a:r>
              <a:rPr sz="1600">
                <a:solidFill>
                  <a:srgbClr val="6FB0E8"/>
                </a:solidFill>
                <a:latin typeface="에이투지체 6 SemiBold"/>
              </a:rPr>
              <a:t>PART 4</a:t>
            </a:r>
          </a:p>
        </p:txBody>
      </p:sp>
      <p:sp>
        <p:nvSpPr>
          <p:cNvPr id="4" name="TextBox 3"/>
          <p:cNvSpPr txBox="1"/>
          <p:nvPr/>
        </p:nvSpPr>
        <p:spPr>
          <a:xfrm>
            <a:off x="548640" y="2286000"/>
            <a:ext cx="11064240" cy="914400"/>
          </a:xfrm>
          <a:prstGeom prst="rect">
            <a:avLst/>
          </a:prstGeom>
          <a:noFill/>
        </p:spPr>
        <p:txBody>
          <a:bodyPr wrap="square" lIns="0" tIns="0" rIns="0" bIns="0" anchor="t">
            <a:spAutoFit/>
          </a:bodyPr>
          <a:lstStyle/>
          <a:p>
            <a:pPr algn="l"/>
            <a:r>
              <a:rPr sz="4000">
                <a:solidFill>
                  <a:srgbClr val="FFFFFF"/>
                </a:solidFill>
                <a:latin typeface="에이투지체 8 ExtraBold"/>
              </a:rPr>
              <a:t>New Brand Launch</a:t>
            </a:r>
          </a:p>
        </p:txBody>
      </p:sp>
      <p:sp>
        <p:nvSpPr>
          <p:cNvPr id="5" name="TextBox 4"/>
          <p:cNvSpPr txBox="1"/>
          <p:nvPr/>
        </p:nvSpPr>
        <p:spPr>
          <a:xfrm>
            <a:off x="548640" y="3310128"/>
            <a:ext cx="11064240" cy="548640"/>
          </a:xfrm>
          <a:prstGeom prst="rect">
            <a:avLst/>
          </a:prstGeom>
          <a:noFill/>
        </p:spPr>
        <p:txBody>
          <a:bodyPr wrap="square" lIns="0" tIns="0" rIns="0" bIns="0" anchor="t">
            <a:spAutoFit/>
          </a:bodyPr>
          <a:lstStyle/>
          <a:p>
            <a:pPr algn="l"/>
            <a:r>
              <a:rPr sz="1800">
                <a:solidFill>
                  <a:srgbClr val="FFFFFF"/>
                </a:solidFill>
                <a:latin typeface="에이투지체 6 SemiBold"/>
              </a:rPr>
              <a:t>40~60대 신규 브랜드 론칭</a:t>
            </a:r>
          </a:p>
        </p:txBody>
      </p:sp>
      <p:sp>
        <p:nvSpPr>
          <p:cNvPr id="6" name="TextBox 5"/>
          <p:cNvSpPr txBox="1"/>
          <p:nvPr/>
        </p:nvSpPr>
        <p:spPr>
          <a:xfrm>
            <a:off x="548640" y="3931920"/>
            <a:ext cx="11064240" cy="457200"/>
          </a:xfrm>
          <a:prstGeom prst="rect">
            <a:avLst/>
          </a:prstGeom>
          <a:noFill/>
        </p:spPr>
        <p:txBody>
          <a:bodyPr wrap="square" lIns="0" tIns="0" rIns="0" bIns="0" anchor="t">
            <a:spAutoFit/>
          </a:bodyPr>
          <a:lstStyle/>
          <a:p>
            <a:pPr algn="l"/>
            <a:r>
              <a:rPr sz="1200">
                <a:solidFill>
                  <a:srgbClr val="9FBBDD"/>
                </a:solidFill>
                <a:latin typeface="에이투지체 5 Medium"/>
              </a:rPr>
              <a:t>12월 프리미엄 혈당 유산균 론칭 초기 전략과 미디어믹스</a:t>
            </a:r>
          </a:p>
        </p:txBody>
      </p:sp>
      <p:sp>
        <p:nvSpPr>
          <p:cNvPr id="7" name="TextBox 6"/>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FBBDD"/>
                </a:solidFill>
                <a:latin typeface="에이투지체 3 Light"/>
              </a:rPr>
              <a:t>DODREAM B&amp;B AD PROPOSAL · 2026</a:t>
            </a:r>
          </a:p>
        </p:txBody>
      </p:sp>
      <p:sp>
        <p:nvSpPr>
          <p:cNvPr id="8" name="TextBox 7"/>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FBBDD"/>
                </a:solidFill>
                <a:latin typeface="에이투지체 3 Light"/>
              </a:rPr>
              <a:t>LINKPRICE · BRAND AD CENTER</a:t>
            </a:r>
          </a:p>
        </p:txBody>
      </p:sp>
      <p:sp>
        <p:nvSpPr>
          <p:cNvPr id="9" name="PGNO"/>
          <p:cNvSpPr txBox="1"/>
          <p:nvPr/>
        </p:nvSpPr>
        <p:spPr>
          <a:xfrm>
            <a:off x="11292840" y="6473952"/>
            <a:ext cx="365760" cy="123111"/>
          </a:xfrm>
          <a:prstGeom prst="rect">
            <a:avLst/>
          </a:prstGeom>
          <a:noFill/>
        </p:spPr>
        <p:txBody>
          <a:bodyPr wrap="square" lIns="0" tIns="0" rIns="0" bIns="0" anchor="t">
            <a:spAutoFit/>
          </a:bodyPr>
          <a:lstStyle/>
          <a:p>
            <a:pPr algn="r"/>
            <a:r>
              <a:rPr lang="en-US" sz="800" dirty="0">
                <a:solidFill>
                  <a:srgbClr val="FFFFFF"/>
                </a:solidFill>
                <a:latin typeface="에이투지체 6 SemiBold"/>
              </a:rPr>
              <a:t>70</a:t>
            </a:r>
            <a:endParaRPr sz="800" dirty="0">
              <a:solidFill>
                <a:srgbClr val="FFFFFF"/>
              </a:solidFill>
              <a:latin typeface="에이투지체 6 SemiBold"/>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4 · 40~60대 신규 브랜드 론칭</a:t>
            </a:r>
            <a:endParaRPr lang="ko-KR" sz="900" dirty="0"/>
          </a:p>
        </p:txBody>
      </p:sp>
      <p:sp>
        <p:nvSpPr>
          <p:cNvPr id="9"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0"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1" name="PGNO"/>
          <p:cNvSpPr txBox="1"/>
          <p:nvPr/>
        </p:nvSpPr>
        <p:spPr>
          <a:xfrm>
            <a:off x="11292840" y="6473952"/>
            <a:ext cx="365760" cy="123111"/>
          </a:xfrm>
          <a:prstGeom prst="rect">
            <a:avLst/>
          </a:prstGeom>
          <a:noFill/>
        </p:spPr>
        <p:txBody>
          <a:bodyPr wrap="square" lIns="0" tIns="0" rIns="0" bIns="0" anchor="t">
            <a:spAutoFit/>
          </a:bodyPr>
          <a:lstStyle/>
          <a:p>
            <a:pPr algn="r"/>
            <a:r>
              <a:rPr lang="en-US" sz="800" dirty="0">
                <a:solidFill>
                  <a:srgbClr val="222222"/>
                </a:solidFill>
                <a:latin typeface="에이투지체 6 SemiBold"/>
              </a:rPr>
              <a:t>71</a:t>
            </a:r>
            <a:endParaRPr sz="800" dirty="0">
              <a:solidFill>
                <a:srgbClr val="222222"/>
              </a:solidFill>
              <a:latin typeface="에이투지체 6 SemiBold"/>
            </a:endParaRPr>
          </a:p>
        </p:txBody>
      </p:sp>
      <p:sp>
        <p:nvSpPr>
          <p:cNvPr id="2" name="text-343">
            <a:extLst>
              <a:ext uri="{FF2B5EF4-FFF2-40B4-BE49-F238E27FC236}">
                <a16:creationId xmlns:a16="http://schemas.microsoft.com/office/drawing/2014/main" id="{50ADB128-65FD-4849-9062-D16CD06B0684}"/>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혈당 유산균 시장</a:t>
            </a:r>
            <a:r>
              <a:rPr lang="ko-KR" sz="1900" dirty="0">
                <a:solidFill>
                  <a:srgbClr val="222222"/>
                </a:solidFill>
                <a:latin typeface="에이투지체 8 ExtraBold"/>
                <a:ea typeface="에이투지체 8 ExtraBold"/>
                <a:cs typeface="에이투지체 8 ExtraBold"/>
              </a:rPr>
              <a:t>은 기능성 유산균형과</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혈당 원료 · 유산균 복합형이 같은 수요를 두고 경쟁</a:t>
            </a:r>
            <a:r>
              <a:rPr lang="ko-KR" altLang="en-US" sz="1900" dirty="0">
                <a:solidFill>
                  <a:srgbClr val="222222"/>
                </a:solidFill>
                <a:latin typeface="에이투지체 8 ExtraBold"/>
                <a:ea typeface="에이투지체 8 ExtraBold"/>
                <a:cs typeface="에이투지체 8 ExtraBold"/>
              </a:rPr>
              <a:t>하고 있습니다</a:t>
            </a:r>
            <a:r>
              <a:rPr lang="en-US" altLang="ko-KR" sz="1900" dirty="0">
                <a:solidFill>
                  <a:srgbClr val="222222"/>
                </a:solidFill>
                <a:latin typeface="에이투지체 8 ExtraBold"/>
                <a:ea typeface="에이투지체 8 ExtraBold"/>
                <a:cs typeface="에이투지체 8 ExtraBold"/>
              </a:rPr>
              <a:t>.</a:t>
            </a:r>
            <a:endParaRPr lang="ko-KR" sz="1900" dirty="0"/>
          </a:p>
        </p:txBody>
      </p:sp>
      <p:sp>
        <p:nvSpPr>
          <p:cNvPr id="3" name="text-344">
            <a:extLst>
              <a:ext uri="{FF2B5EF4-FFF2-40B4-BE49-F238E27FC236}">
                <a16:creationId xmlns:a16="http://schemas.microsoft.com/office/drawing/2014/main" id="{3106B753-340E-4384-BD6C-C4FEE6064707}"/>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혈당 유산균 시장 상황 및 주요 경쟁사</a:t>
            </a:r>
            <a:endParaRPr lang="ko-KR" sz="1100" dirty="0"/>
          </a:p>
        </p:txBody>
      </p:sp>
      <p:sp>
        <p:nvSpPr>
          <p:cNvPr id="5" name="node-345">
            <a:extLst>
              <a:ext uri="{FF2B5EF4-FFF2-40B4-BE49-F238E27FC236}">
                <a16:creationId xmlns:a16="http://schemas.microsoft.com/office/drawing/2014/main" id="{CD65C5FD-A5DF-4FC6-8584-8C7629B57DDA}"/>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6" name="text-346">
            <a:extLst>
              <a:ext uri="{FF2B5EF4-FFF2-40B4-BE49-F238E27FC236}">
                <a16:creationId xmlns:a16="http://schemas.microsoft.com/office/drawing/2014/main" id="{FA71F358-5D9A-43F9-AC63-35C5F3044E97}"/>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dirty="0" err="1">
                <a:solidFill>
                  <a:srgbClr val="004F9F"/>
                </a:solidFill>
                <a:latin typeface="에이투지체 6 SemiBold"/>
                <a:ea typeface="에이투지체 6 SemiBold"/>
                <a:cs typeface="에이투지체 6 SemiBold"/>
              </a:rPr>
              <a:t>혈당과</a:t>
            </a:r>
            <a:r>
              <a:rPr sz="1358" dirty="0">
                <a:solidFill>
                  <a:srgbClr val="004F9F"/>
                </a:solidFill>
                <a:latin typeface="에이투지체 6 SemiBold"/>
                <a:ea typeface="에이투지체 6 SemiBold"/>
                <a:cs typeface="에이투지체 6 SemiBold"/>
              </a:rPr>
              <a:t> 장 </a:t>
            </a:r>
            <a:r>
              <a:rPr sz="1358" dirty="0" err="1">
                <a:solidFill>
                  <a:srgbClr val="004F9F"/>
                </a:solidFill>
                <a:latin typeface="에이투지체 6 SemiBold"/>
                <a:ea typeface="에이투지체 6 SemiBold"/>
                <a:cs typeface="에이투지체 6 SemiBold"/>
              </a:rPr>
              <a:t>건강은</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공통</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메시지입니다</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실제</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원료</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근거와</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섭취</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편의성</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구매</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혜택으로</a:t>
            </a:r>
            <a:r>
              <a:rPr sz="1358" dirty="0">
                <a:solidFill>
                  <a:srgbClr val="004F9F"/>
                </a:solidFill>
                <a:latin typeface="에이투지체 6 SemiBold"/>
                <a:ea typeface="에이투지체 6 SemiBold"/>
                <a:cs typeface="에이투지체 6 SemiBold"/>
              </a:rPr>
              <a:t> </a:t>
            </a:r>
            <a:r>
              <a:rPr lang="ko-KR" altLang="en-US" sz="1358" dirty="0">
                <a:solidFill>
                  <a:srgbClr val="004F9F"/>
                </a:solidFill>
                <a:latin typeface="에이투지체 6 SemiBold"/>
                <a:ea typeface="에이투지체 6 SemiBold"/>
                <a:cs typeface="에이투지체 6 SemiBold"/>
              </a:rPr>
              <a:t>차별화 합니다</a:t>
            </a:r>
            <a:r>
              <a:rPr lang="en-US" altLang="ko-KR" sz="1358" dirty="0">
                <a:solidFill>
                  <a:srgbClr val="004F9F"/>
                </a:solidFill>
                <a:latin typeface="에이투지체 6 SemiBold"/>
                <a:ea typeface="에이투지체 6 SemiBold"/>
                <a:cs typeface="에이투지체 6 SemiBold"/>
              </a:rPr>
              <a:t>.</a:t>
            </a:r>
            <a:endParaRPr sz="1358" dirty="0">
              <a:solidFill>
                <a:srgbClr val="FFFFFF"/>
              </a:solidFill>
              <a:latin typeface="에이투지체 6 SemiBold"/>
              <a:ea typeface="에이투지체 6 SemiBold"/>
              <a:cs typeface="에이투지체 6 SemiBold"/>
            </a:endParaRPr>
          </a:p>
        </p:txBody>
      </p:sp>
      <p:sp>
        <p:nvSpPr>
          <p:cNvPr id="12" name="Rounded Rectangle 11"/>
          <p:cNvSpPr/>
          <p:nvPr/>
        </p:nvSpPr>
        <p:spPr>
          <a:xfrm>
            <a:off x="548640" y="2157984"/>
            <a:ext cx="146304" cy="146304"/>
          </a:xfrm>
          <a:prstGeom prst="roundRect">
            <a:avLst>
              <a:gd name="adj" fmla="val 12500"/>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49808" y="2112264"/>
            <a:ext cx="1645920" cy="237744"/>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기능성 유산균형</a:t>
            </a:r>
          </a:p>
        </p:txBody>
      </p:sp>
      <p:sp>
        <p:nvSpPr>
          <p:cNvPr id="14" name="Rounded Rectangle 13"/>
          <p:cNvSpPr/>
          <p:nvPr/>
        </p:nvSpPr>
        <p:spPr>
          <a:xfrm>
            <a:off x="2240280" y="2157984"/>
            <a:ext cx="146304" cy="146304"/>
          </a:xfrm>
          <a:prstGeom prst="roundRect">
            <a:avLst>
              <a:gd name="adj" fmla="val 12500"/>
            </a:avLst>
          </a:prstGeom>
          <a:solidFill>
            <a:srgbClr val="6FB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441448" y="2112264"/>
            <a:ext cx="4114800" cy="237744"/>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5 Medium"/>
                <a:ea typeface="에이투지체 5 Medium"/>
              </a:rPr>
              <a:t>혈당 원료 + 유산균 복합형  (3종 모두 코로솔산 1.3mg)</a:t>
            </a:r>
          </a:p>
        </p:txBody>
      </p:sp>
      <p:sp>
        <p:nvSpPr>
          <p:cNvPr id="16" name="TextBox 15"/>
          <p:cNvSpPr txBox="1"/>
          <p:nvPr/>
        </p:nvSpPr>
        <p:spPr>
          <a:xfrm>
            <a:off x="4206240" y="2112264"/>
            <a:ext cx="7406640" cy="237744"/>
          </a:xfrm>
          <a:prstGeom prst="rect">
            <a:avLst/>
          </a:prstGeom>
          <a:noFill/>
        </p:spPr>
        <p:txBody>
          <a:bodyPr wrap="square" lIns="0" tIns="0" rIns="0" bIns="0" anchor="t">
            <a:spAutoFit/>
          </a:bodyPr>
          <a:lstStyle/>
          <a:p>
            <a:pPr algn="r">
              <a:spcAft>
                <a:spcPts val="300"/>
              </a:spcAft>
            </a:pPr>
            <a:r>
              <a:rPr sz="950">
                <a:solidFill>
                  <a:srgbClr val="004F9F"/>
                </a:solidFill>
                <a:latin typeface="에이투지체 6 SemiBold"/>
                <a:ea typeface="에이투지체 6 SemiBold"/>
              </a:rPr>
              <a:t>하루 비용  조회 구성 기준</a:t>
            </a:r>
          </a:p>
        </p:txBody>
      </p:sp>
      <p:sp>
        <p:nvSpPr>
          <p:cNvPr id="17" name="Rounded Rectangle 16"/>
          <p:cNvSpPr/>
          <p:nvPr/>
        </p:nvSpPr>
        <p:spPr>
          <a:xfrm>
            <a:off x="548640" y="2487168"/>
            <a:ext cx="1106424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1520" y="2560320"/>
            <a:ext cx="3383280" cy="274320"/>
          </a:xfrm>
          <a:prstGeom prst="rect">
            <a:avLst/>
          </a:prstGeom>
          <a:noFill/>
        </p:spPr>
        <p:txBody>
          <a:bodyPr wrap="square" lIns="0" tIns="0" rIns="0" bIns="0" anchor="t">
            <a:spAutoFit/>
          </a:bodyPr>
          <a:lstStyle/>
          <a:p>
            <a:pPr algn="l">
              <a:spcAft>
                <a:spcPts val="300"/>
              </a:spcAft>
            </a:pPr>
            <a:r>
              <a:rPr sz="1250">
                <a:solidFill>
                  <a:srgbClr val="222222"/>
                </a:solidFill>
                <a:latin typeface="에이투지체 6 SemiBold"/>
                <a:ea typeface="에이투지체 6 SemiBold"/>
              </a:rPr>
              <a:t>유한양행 당큐락</a:t>
            </a:r>
          </a:p>
        </p:txBody>
      </p:sp>
      <p:sp>
        <p:nvSpPr>
          <p:cNvPr id="19" name="TextBox 18"/>
          <p:cNvSpPr txBox="1"/>
          <p:nvPr/>
        </p:nvSpPr>
        <p:spPr>
          <a:xfrm>
            <a:off x="731520" y="2834640"/>
            <a:ext cx="3383280" cy="228600"/>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4 Regular"/>
                <a:ea typeface="에이투지체 4 Regular"/>
              </a:rPr>
              <a:t>HAC01 기능성 유산균 · 1캡슐 · 40억 CFU</a:t>
            </a:r>
          </a:p>
        </p:txBody>
      </p:sp>
      <p:sp>
        <p:nvSpPr>
          <p:cNvPr id="20" name="Rounded Rectangle 19"/>
          <p:cNvSpPr/>
          <p:nvPr/>
        </p:nvSpPr>
        <p:spPr>
          <a:xfrm>
            <a:off x="4206240" y="2642616"/>
            <a:ext cx="4846320" cy="329184"/>
          </a:xfrm>
          <a:prstGeom prst="roundRect">
            <a:avLst>
              <a:gd name="adj" fmla="val 13888"/>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162287" y="2487168"/>
            <a:ext cx="2377440" cy="640080"/>
          </a:xfrm>
          <a:prstGeom prst="rect">
            <a:avLst/>
          </a:prstGeom>
          <a:noFill/>
        </p:spPr>
        <p:txBody>
          <a:bodyPr wrap="square" lIns="0" tIns="0" rIns="0" bIns="0" anchor="ctr">
            <a:spAutoFit/>
          </a:bodyPr>
          <a:lstStyle/>
          <a:p>
            <a:pPr algn="l">
              <a:spcAft>
                <a:spcPts val="0"/>
              </a:spcAft>
            </a:pPr>
            <a:r>
              <a:rPr sz="1400">
                <a:solidFill>
                  <a:srgbClr val="004F9F"/>
                </a:solidFill>
                <a:latin typeface="에이투지체 8 ExtraBold"/>
                <a:ea typeface="에이투지체 8 ExtraBold"/>
              </a:rPr>
              <a:t>약 2,139원</a:t>
            </a:r>
            <a:r>
              <a:rPr sz="950">
                <a:solidFill>
                  <a:srgbClr val="5C5C5C"/>
                </a:solidFill>
                <a:latin typeface="에이투지체 5 Medium"/>
                <a:ea typeface="에이투지체 5 Medium"/>
              </a:rPr>
              <a:t>  / 일</a:t>
            </a:r>
          </a:p>
          <a:p>
            <a:pPr algn="l">
              <a:spcAft>
                <a:spcPts val="0"/>
              </a:spcAft>
            </a:pPr>
            <a:r>
              <a:rPr sz="900">
                <a:solidFill>
                  <a:srgbClr val="919191"/>
                </a:solidFill>
                <a:latin typeface="에이투지체 4 Regular"/>
                <a:ea typeface="에이투지체 4 Regular"/>
              </a:rPr>
              <a:t>28일 59,900원</a:t>
            </a:r>
          </a:p>
        </p:txBody>
      </p:sp>
      <p:sp>
        <p:nvSpPr>
          <p:cNvPr id="22" name="Rounded Rectangle 21"/>
          <p:cNvSpPr/>
          <p:nvPr/>
        </p:nvSpPr>
        <p:spPr>
          <a:xfrm>
            <a:off x="548640" y="3236976"/>
            <a:ext cx="1106424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31520" y="3310128"/>
            <a:ext cx="3383280" cy="274320"/>
          </a:xfrm>
          <a:prstGeom prst="rect">
            <a:avLst/>
          </a:prstGeom>
          <a:noFill/>
        </p:spPr>
        <p:txBody>
          <a:bodyPr wrap="square" lIns="0" tIns="0" rIns="0" bIns="0" anchor="t">
            <a:spAutoFit/>
          </a:bodyPr>
          <a:lstStyle/>
          <a:p>
            <a:pPr algn="l">
              <a:spcAft>
                <a:spcPts val="300"/>
              </a:spcAft>
            </a:pPr>
            <a:r>
              <a:rPr sz="1250">
                <a:solidFill>
                  <a:srgbClr val="222222"/>
                </a:solidFill>
                <a:latin typeface="에이투지체 6 SemiBold"/>
                <a:ea typeface="에이투지체 6 SemiBold"/>
              </a:rPr>
              <a:t>락토핏 당케어 데일리</a:t>
            </a:r>
          </a:p>
        </p:txBody>
      </p:sp>
      <p:sp>
        <p:nvSpPr>
          <p:cNvPr id="24" name="TextBox 23"/>
          <p:cNvSpPr txBox="1"/>
          <p:nvPr/>
        </p:nvSpPr>
        <p:spPr>
          <a:xfrm>
            <a:off x="731520" y="3584448"/>
            <a:ext cx="3383280" cy="228600"/>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4 Regular"/>
                <a:ea typeface="에이투지체 4 Regular"/>
              </a:rPr>
              <a:t>바나바 + 유산균 · 1포 · 20억 CFU</a:t>
            </a:r>
          </a:p>
        </p:txBody>
      </p:sp>
      <p:sp>
        <p:nvSpPr>
          <p:cNvPr id="25" name="Rounded Rectangle 24"/>
          <p:cNvSpPr/>
          <p:nvPr/>
        </p:nvSpPr>
        <p:spPr>
          <a:xfrm>
            <a:off x="4206240" y="3392424"/>
            <a:ext cx="641191" cy="329184"/>
          </a:xfrm>
          <a:prstGeom prst="roundRect">
            <a:avLst>
              <a:gd name="adj" fmla="val 13888"/>
            </a:avLst>
          </a:prstGeom>
          <a:solidFill>
            <a:srgbClr val="6FB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957159" y="3236976"/>
            <a:ext cx="2377440" cy="640080"/>
          </a:xfrm>
          <a:prstGeom prst="rect">
            <a:avLst/>
          </a:prstGeom>
          <a:noFill/>
        </p:spPr>
        <p:txBody>
          <a:bodyPr wrap="square" lIns="0" tIns="0" rIns="0" bIns="0" anchor="ctr">
            <a:spAutoFit/>
          </a:bodyPr>
          <a:lstStyle/>
          <a:p>
            <a:pPr algn="l">
              <a:spcAft>
                <a:spcPts val="0"/>
              </a:spcAft>
            </a:pPr>
            <a:r>
              <a:rPr sz="1400">
                <a:solidFill>
                  <a:srgbClr val="222222"/>
                </a:solidFill>
                <a:latin typeface="에이투지체 8 ExtraBold"/>
                <a:ea typeface="에이투지체 8 ExtraBold"/>
              </a:rPr>
              <a:t>약 283원</a:t>
            </a:r>
            <a:r>
              <a:rPr sz="950">
                <a:solidFill>
                  <a:srgbClr val="5C5C5C"/>
                </a:solidFill>
                <a:latin typeface="에이투지체 5 Medium"/>
                <a:ea typeface="에이투지체 5 Medium"/>
              </a:rPr>
              <a:t>  / 일</a:t>
            </a:r>
          </a:p>
          <a:p>
            <a:pPr algn="l">
              <a:spcAft>
                <a:spcPts val="0"/>
              </a:spcAft>
            </a:pPr>
            <a:r>
              <a:rPr sz="900">
                <a:solidFill>
                  <a:srgbClr val="919191"/>
                </a:solidFill>
                <a:latin typeface="에이투지체 4 Regular"/>
                <a:ea typeface="에이투지체 4 Regular"/>
              </a:rPr>
              <a:t>4통 · 240일 회원가 67,900원</a:t>
            </a:r>
          </a:p>
        </p:txBody>
      </p:sp>
      <p:sp>
        <p:nvSpPr>
          <p:cNvPr id="27" name="Rounded Rectangle 26"/>
          <p:cNvSpPr/>
          <p:nvPr/>
        </p:nvSpPr>
        <p:spPr>
          <a:xfrm>
            <a:off x="548640" y="3986784"/>
            <a:ext cx="1106424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1520" y="4059936"/>
            <a:ext cx="3383280" cy="274320"/>
          </a:xfrm>
          <a:prstGeom prst="rect">
            <a:avLst/>
          </a:prstGeom>
          <a:noFill/>
        </p:spPr>
        <p:txBody>
          <a:bodyPr wrap="square" lIns="0" tIns="0" rIns="0" bIns="0" anchor="t">
            <a:spAutoFit/>
          </a:bodyPr>
          <a:lstStyle/>
          <a:p>
            <a:pPr algn="l">
              <a:spcAft>
                <a:spcPts val="300"/>
              </a:spcAft>
            </a:pPr>
            <a:r>
              <a:rPr sz="1250">
                <a:solidFill>
                  <a:srgbClr val="222222"/>
                </a:solidFill>
                <a:latin typeface="에이투지체 6 SemiBold"/>
                <a:ea typeface="에이투지체 6 SemiBold"/>
              </a:rPr>
              <a:t>여에스더 유산균&amp;혈당케어</a:t>
            </a:r>
          </a:p>
        </p:txBody>
      </p:sp>
      <p:sp>
        <p:nvSpPr>
          <p:cNvPr id="29" name="TextBox 28"/>
          <p:cNvSpPr txBox="1"/>
          <p:nvPr/>
        </p:nvSpPr>
        <p:spPr>
          <a:xfrm>
            <a:off x="731520" y="4334256"/>
            <a:ext cx="3383280" cy="228600"/>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4 Regular"/>
                <a:ea typeface="에이투지체 4 Regular"/>
              </a:rPr>
              <a:t>바나바 + 8종 복합 유산균 · 1캡슐 · 40억 CFU</a:t>
            </a:r>
          </a:p>
        </p:txBody>
      </p:sp>
      <p:sp>
        <p:nvSpPr>
          <p:cNvPr id="30" name="Rounded Rectangle 29"/>
          <p:cNvSpPr/>
          <p:nvPr/>
        </p:nvSpPr>
        <p:spPr>
          <a:xfrm>
            <a:off x="4206240" y="4142232"/>
            <a:ext cx="1320899" cy="329184"/>
          </a:xfrm>
          <a:prstGeom prst="roundRect">
            <a:avLst>
              <a:gd name="adj" fmla="val 13888"/>
            </a:avLst>
          </a:prstGeom>
          <a:solidFill>
            <a:srgbClr val="6FB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5636867" y="3986784"/>
            <a:ext cx="2377440" cy="640080"/>
          </a:xfrm>
          <a:prstGeom prst="rect">
            <a:avLst/>
          </a:prstGeom>
          <a:noFill/>
        </p:spPr>
        <p:txBody>
          <a:bodyPr wrap="square" lIns="0" tIns="0" rIns="0" bIns="0" anchor="ctr">
            <a:spAutoFit/>
          </a:bodyPr>
          <a:lstStyle/>
          <a:p>
            <a:pPr algn="l">
              <a:spcAft>
                <a:spcPts val="0"/>
              </a:spcAft>
            </a:pPr>
            <a:r>
              <a:rPr sz="1400">
                <a:solidFill>
                  <a:srgbClr val="222222"/>
                </a:solidFill>
                <a:latin typeface="에이투지체 8 ExtraBold"/>
                <a:ea typeface="에이투지체 8 ExtraBold"/>
              </a:rPr>
              <a:t>약 583원</a:t>
            </a:r>
            <a:r>
              <a:rPr sz="950">
                <a:solidFill>
                  <a:srgbClr val="5C5C5C"/>
                </a:solidFill>
                <a:latin typeface="에이투지체 5 Medium"/>
                <a:ea typeface="에이투지체 5 Medium"/>
              </a:rPr>
              <a:t>  / 일</a:t>
            </a:r>
          </a:p>
          <a:p>
            <a:pPr algn="l">
              <a:spcAft>
                <a:spcPts val="0"/>
              </a:spcAft>
            </a:pPr>
            <a:r>
              <a:rPr sz="900">
                <a:solidFill>
                  <a:srgbClr val="919191"/>
                </a:solidFill>
                <a:latin typeface="에이투지체 4 Regular"/>
                <a:ea typeface="에이투지체 4 Regular"/>
              </a:rPr>
              <a:t>1개월 17,500원</a:t>
            </a:r>
          </a:p>
        </p:txBody>
      </p:sp>
      <p:sp>
        <p:nvSpPr>
          <p:cNvPr id="32" name="Rounded Rectangle 31"/>
          <p:cNvSpPr/>
          <p:nvPr/>
        </p:nvSpPr>
        <p:spPr>
          <a:xfrm>
            <a:off x="548640" y="4736592"/>
            <a:ext cx="11064240" cy="640080"/>
          </a:xfrm>
          <a:prstGeom prst="roundRect">
            <a:avLst>
              <a:gd name="adj" fmla="val 11428"/>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31520" y="4809744"/>
            <a:ext cx="3383280" cy="274320"/>
          </a:xfrm>
          <a:prstGeom prst="rect">
            <a:avLst/>
          </a:prstGeom>
          <a:noFill/>
        </p:spPr>
        <p:txBody>
          <a:bodyPr wrap="square" lIns="0" tIns="0" rIns="0" bIns="0" anchor="t">
            <a:spAutoFit/>
          </a:bodyPr>
          <a:lstStyle/>
          <a:p>
            <a:pPr algn="l">
              <a:spcAft>
                <a:spcPts val="300"/>
              </a:spcAft>
            </a:pPr>
            <a:r>
              <a:rPr sz="1250">
                <a:solidFill>
                  <a:srgbClr val="222222"/>
                </a:solidFill>
                <a:latin typeface="에이투지체 6 SemiBold"/>
                <a:ea typeface="에이투지체 6 SemiBold"/>
              </a:rPr>
              <a:t>뉴트리원 당케어 프로</a:t>
            </a:r>
          </a:p>
        </p:txBody>
      </p:sp>
      <p:sp>
        <p:nvSpPr>
          <p:cNvPr id="34" name="TextBox 33"/>
          <p:cNvSpPr txBox="1"/>
          <p:nvPr/>
        </p:nvSpPr>
        <p:spPr>
          <a:xfrm>
            <a:off x="731520" y="5084064"/>
            <a:ext cx="3383280" cy="228600"/>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4 Regular"/>
                <a:ea typeface="에이투지체 4 Regular"/>
              </a:rPr>
              <a:t>바나바 + 유산균 + 아연 · 1포 · 20억 CFU</a:t>
            </a:r>
          </a:p>
        </p:txBody>
      </p:sp>
      <p:sp>
        <p:nvSpPr>
          <p:cNvPr id="35" name="Rounded Rectangle 34"/>
          <p:cNvSpPr/>
          <p:nvPr/>
        </p:nvSpPr>
        <p:spPr>
          <a:xfrm>
            <a:off x="4206240" y="4892040"/>
            <a:ext cx="1805758" cy="329184"/>
          </a:xfrm>
          <a:prstGeom prst="roundRect">
            <a:avLst>
              <a:gd name="adj" fmla="val 13888"/>
            </a:avLst>
          </a:prstGeom>
          <a:solidFill>
            <a:srgbClr val="6FB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121726" y="4736592"/>
            <a:ext cx="2377440" cy="640080"/>
          </a:xfrm>
          <a:prstGeom prst="rect">
            <a:avLst/>
          </a:prstGeom>
          <a:noFill/>
        </p:spPr>
        <p:txBody>
          <a:bodyPr wrap="square" lIns="0" tIns="0" rIns="0" bIns="0" anchor="ctr">
            <a:spAutoFit/>
          </a:bodyPr>
          <a:lstStyle/>
          <a:p>
            <a:pPr algn="l">
              <a:spcAft>
                <a:spcPts val="0"/>
              </a:spcAft>
            </a:pPr>
            <a:r>
              <a:rPr sz="1400">
                <a:solidFill>
                  <a:srgbClr val="222222"/>
                </a:solidFill>
                <a:latin typeface="에이투지체 8 ExtraBold"/>
                <a:ea typeface="에이투지체 8 ExtraBold"/>
              </a:rPr>
              <a:t>약 797원</a:t>
            </a:r>
            <a:r>
              <a:rPr sz="950">
                <a:solidFill>
                  <a:srgbClr val="5C5C5C"/>
                </a:solidFill>
                <a:latin typeface="에이투지체 5 Medium"/>
                <a:ea typeface="에이투지체 5 Medium"/>
              </a:rPr>
              <a:t>  / 일</a:t>
            </a:r>
          </a:p>
          <a:p>
            <a:pPr algn="l">
              <a:spcAft>
                <a:spcPts val="0"/>
              </a:spcAft>
            </a:pPr>
            <a:r>
              <a:rPr sz="900">
                <a:solidFill>
                  <a:srgbClr val="919191"/>
                </a:solidFill>
                <a:latin typeface="에이투지체 4 Regular"/>
                <a:ea typeface="에이투지체 4 Regular"/>
              </a:rPr>
              <a:t>1개월 23,900원</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4 · 40~60대 신규 브랜드 론칭</a:t>
            </a:r>
            <a:endParaRPr lang="ko-KR" sz="900" dirty="0"/>
          </a:p>
        </p:txBody>
      </p:sp>
      <p:sp>
        <p:nvSpPr>
          <p:cNvPr id="14"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15"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6" name="PGNO"/>
          <p:cNvSpPr txBox="1"/>
          <p:nvPr/>
        </p:nvSpPr>
        <p:spPr>
          <a:xfrm>
            <a:off x="11292840" y="6473952"/>
            <a:ext cx="365760" cy="123111"/>
          </a:xfrm>
          <a:prstGeom prst="rect">
            <a:avLst/>
          </a:prstGeom>
          <a:noFill/>
        </p:spPr>
        <p:txBody>
          <a:bodyPr wrap="square" lIns="0" tIns="0" rIns="0" bIns="0" anchor="t">
            <a:spAutoFit/>
          </a:bodyPr>
          <a:lstStyle/>
          <a:p>
            <a:pPr algn="r"/>
            <a:r>
              <a:rPr lang="en-US" sz="800" dirty="0">
                <a:solidFill>
                  <a:srgbClr val="222222"/>
                </a:solidFill>
                <a:latin typeface="에이투지체 6 SemiBold"/>
              </a:rPr>
              <a:t>72</a:t>
            </a:r>
            <a:endParaRPr sz="800" dirty="0">
              <a:solidFill>
                <a:srgbClr val="222222"/>
              </a:solidFill>
              <a:latin typeface="에이투지체 6 SemiBold"/>
            </a:endParaRPr>
          </a:p>
        </p:txBody>
      </p:sp>
      <p:sp>
        <p:nvSpPr>
          <p:cNvPr id="2" name="text-348">
            <a:extLst>
              <a:ext uri="{FF2B5EF4-FFF2-40B4-BE49-F238E27FC236}">
                <a16:creationId xmlns:a16="http://schemas.microsoft.com/office/drawing/2014/main" id="{949CC316-83E3-4FCD-8F9A-7C653843BB17}"/>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40~60대의 건강 관리 니즈</a:t>
            </a:r>
            <a:r>
              <a:rPr lang="ko-KR" sz="1900" dirty="0">
                <a:solidFill>
                  <a:srgbClr val="222222"/>
                </a:solidFill>
                <a:latin typeface="에이투지체 8 ExtraBold"/>
                <a:ea typeface="에이투지체 8 ExtraBold"/>
                <a:cs typeface="에이투지체 8 ExtraBold"/>
              </a:rPr>
              <a:t>를 반영해</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원료의 기능성 근거와 편의성을 강조합니다</a:t>
            </a:r>
            <a:endParaRPr lang="ko-KR" sz="1900" dirty="0"/>
          </a:p>
        </p:txBody>
      </p:sp>
      <p:sp>
        <p:nvSpPr>
          <p:cNvPr id="3" name="text-349">
            <a:extLst>
              <a:ext uri="{FF2B5EF4-FFF2-40B4-BE49-F238E27FC236}">
                <a16:creationId xmlns:a16="http://schemas.microsoft.com/office/drawing/2014/main" id="{AFAC77BB-9565-49D7-8B41-550540C72048}"/>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타겟과 메시지</a:t>
            </a:r>
            <a:endParaRPr lang="ko-KR" sz="1100" dirty="0"/>
          </a:p>
        </p:txBody>
      </p:sp>
      <p:pic>
        <p:nvPicPr>
          <p:cNvPr id="5" name="그림 4">
            <a:extLst>
              <a:ext uri="{FF2B5EF4-FFF2-40B4-BE49-F238E27FC236}">
                <a16:creationId xmlns:a16="http://schemas.microsoft.com/office/drawing/2014/main" id="{07A6B5E6-9D18-48E4-AEA3-8FB04CAAB85C}"/>
              </a:ext>
            </a:extLst>
          </p:cNvPr>
          <p:cNvPicPr>
            <a:picLocks noChangeAspect="1"/>
          </p:cNvPicPr>
          <p:nvPr/>
        </p:nvPicPr>
        <p:blipFill>
          <a:blip r:embed="rId3"/>
          <a:stretch/>
        </p:blipFill>
        <p:spPr>
          <a:xfrm>
            <a:off x="7686675" y="2413156"/>
            <a:ext cx="1790700" cy="1955488"/>
          </a:xfrm>
          <a:prstGeom prst="rect">
            <a:avLst/>
          </a:prstGeom>
        </p:spPr>
      </p:pic>
      <p:sp>
        <p:nvSpPr>
          <p:cNvPr id="6" name="text-350">
            <a:extLst>
              <a:ext uri="{FF2B5EF4-FFF2-40B4-BE49-F238E27FC236}">
                <a16:creationId xmlns:a16="http://schemas.microsoft.com/office/drawing/2014/main" id="{30CAD2A2-A39C-48DA-8F97-0150EE91FF24}"/>
              </a:ext>
            </a:extLst>
          </p:cNvPr>
          <p:cNvSpPr>
            <a:spLocks noGrp="1"/>
          </p:cNvSpPr>
          <p:nvPr/>
        </p:nvSpPr>
        <p:spPr>
          <a:xfrm>
            <a:off x="7620000" y="4591050"/>
            <a:ext cx="1905000" cy="419100"/>
          </a:xfrm>
          <a:prstGeom prst="rect">
            <a:avLst/>
          </a:prstGeom>
          <a:noFill/>
          <a:ln w="0">
            <a:noFill/>
          </a:ln>
        </p:spPr>
        <p:txBody>
          <a:bodyPr wrap="square" lIns="0" tIns="0" rIns="0" bIns="0" anchor="ctr">
            <a:noAutofit/>
          </a:bodyPr>
          <a:lstStyle>
            <a:defPPr algn="ctr">
              <a:defRPr sz="998">
                <a:solidFill>
                  <a:srgbClr val="5C5C5C"/>
                </a:solidFill>
                <a:latin typeface="에이투지체 4 Regular"/>
                <a:ea typeface="에이투지체 4 Regular"/>
                <a:cs typeface="에이투지체 4 Regular"/>
              </a:defRPr>
            </a:defPPr>
          </a:lstStyle>
          <a:p>
            <a:pPr algn="ctr">
              <a:defRPr sz="998">
                <a:solidFill>
                  <a:srgbClr val="5C5C5C"/>
                </a:solidFill>
                <a:latin typeface="에이투지체 4 Regular"/>
                <a:ea typeface="에이투지체 4 Regular"/>
                <a:cs typeface="에이투지체 4 Regular"/>
              </a:defRPr>
            </a:pPr>
            <a:r>
              <a:rPr sz="998">
                <a:solidFill>
                  <a:srgbClr val="5C5C5C"/>
                </a:solidFill>
                <a:latin typeface="에이투지체 4 Regular"/>
                <a:ea typeface="에이투지체 4 Regular"/>
                <a:cs typeface="에이투지체 4 Regular"/>
              </a:rPr>
              <a:t>당큐락  원료 설명형</a:t>
            </a:r>
          </a:p>
        </p:txBody>
      </p:sp>
      <p:pic>
        <p:nvPicPr>
          <p:cNvPr id="7" name="그림 6">
            <a:extLst>
              <a:ext uri="{FF2B5EF4-FFF2-40B4-BE49-F238E27FC236}">
                <a16:creationId xmlns:a16="http://schemas.microsoft.com/office/drawing/2014/main" id="{88447A5B-B16D-49DF-B27D-1B5A1C71B901}"/>
              </a:ext>
            </a:extLst>
          </p:cNvPr>
          <p:cNvPicPr>
            <a:picLocks noChangeAspect="1"/>
          </p:cNvPicPr>
          <p:nvPr/>
        </p:nvPicPr>
        <p:blipFill>
          <a:blip r:embed="rId4"/>
          <a:stretch/>
        </p:blipFill>
        <p:spPr>
          <a:xfrm>
            <a:off x="9648825" y="2334735"/>
            <a:ext cx="1790700" cy="2112331"/>
          </a:xfrm>
          <a:prstGeom prst="rect">
            <a:avLst/>
          </a:prstGeom>
        </p:spPr>
      </p:pic>
      <p:sp>
        <p:nvSpPr>
          <p:cNvPr id="8" name="text-351">
            <a:extLst>
              <a:ext uri="{FF2B5EF4-FFF2-40B4-BE49-F238E27FC236}">
                <a16:creationId xmlns:a16="http://schemas.microsoft.com/office/drawing/2014/main" id="{029A726D-1F5E-4939-9FBA-A2DB6DBB4502}"/>
              </a:ext>
            </a:extLst>
          </p:cNvPr>
          <p:cNvSpPr>
            <a:spLocks noGrp="1"/>
          </p:cNvSpPr>
          <p:nvPr/>
        </p:nvSpPr>
        <p:spPr>
          <a:xfrm>
            <a:off x="9620250" y="4591050"/>
            <a:ext cx="1905000" cy="419100"/>
          </a:xfrm>
          <a:prstGeom prst="rect">
            <a:avLst/>
          </a:prstGeom>
          <a:noFill/>
          <a:ln w="0">
            <a:noFill/>
          </a:ln>
        </p:spPr>
        <p:txBody>
          <a:bodyPr wrap="square" lIns="0" tIns="0" rIns="0" bIns="0" anchor="ctr">
            <a:noAutofit/>
          </a:bodyPr>
          <a:lstStyle>
            <a:defPPr algn="ctr">
              <a:defRPr sz="998">
                <a:solidFill>
                  <a:srgbClr val="5C5C5C"/>
                </a:solidFill>
                <a:latin typeface="에이투지체 4 Regular"/>
                <a:ea typeface="에이투지체 4 Regular"/>
                <a:cs typeface="에이투지체 4 Regular"/>
              </a:defRPr>
            </a:defPPr>
          </a:lstStyle>
          <a:p>
            <a:pPr algn="ctr">
              <a:defRPr sz="998">
                <a:solidFill>
                  <a:srgbClr val="5C5C5C"/>
                </a:solidFill>
                <a:latin typeface="에이투지체 4 Regular"/>
                <a:ea typeface="에이투지체 4 Regular"/>
                <a:cs typeface="에이투지체 4 Regular"/>
              </a:defRPr>
            </a:pPr>
            <a:r>
              <a:rPr sz="998">
                <a:solidFill>
                  <a:srgbClr val="5C5C5C"/>
                </a:solidFill>
                <a:latin typeface="에이투지체 4 Regular"/>
                <a:ea typeface="에이투지체 4 Regular"/>
                <a:cs typeface="에이투지체 4 Regular"/>
              </a:rPr>
              <a:t>락토핏  협력광고 구성형</a:t>
            </a:r>
          </a:p>
        </p:txBody>
      </p:sp>
      <p:sp>
        <p:nvSpPr>
          <p:cNvPr id="10" name="node-353">
            <a:extLst>
              <a:ext uri="{FF2B5EF4-FFF2-40B4-BE49-F238E27FC236}">
                <a16:creationId xmlns:a16="http://schemas.microsoft.com/office/drawing/2014/main" id="{F4AF50E7-87B0-4AD9-9E5A-1560E9D74A7F}"/>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a:p>
        </p:txBody>
      </p:sp>
      <p:sp>
        <p:nvSpPr>
          <p:cNvPr id="11" name="text-354">
            <a:extLst>
              <a:ext uri="{FF2B5EF4-FFF2-40B4-BE49-F238E27FC236}">
                <a16:creationId xmlns:a16="http://schemas.microsoft.com/office/drawing/2014/main" id="{53C1F673-A3B2-44F1-A5F3-469E75A4411D}"/>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연예인 모델은 관심을 만들고, 원료 설명과 실제 구매 혜택은 선택 이유를 만듭니다</a:t>
            </a:r>
          </a:p>
        </p:txBody>
      </p:sp>
      <p:sp>
        <p:nvSpPr>
          <p:cNvPr id="12" name="text-355">
            <a:extLst>
              <a:ext uri="{FF2B5EF4-FFF2-40B4-BE49-F238E27FC236}">
                <a16:creationId xmlns:a16="http://schemas.microsoft.com/office/drawing/2014/main" id="{FD893866-91AB-418C-8014-61BFE6B44CC8}"/>
              </a:ext>
            </a:extLst>
          </p:cNvPr>
          <p:cNvSpPr>
            <a:spLocks noGrp="1"/>
          </p:cNvSpPr>
          <p:nvPr/>
        </p:nvSpPr>
        <p:spPr>
          <a:xfrm>
            <a:off x="552450" y="6076950"/>
            <a:ext cx="11049000" cy="266700"/>
          </a:xfrm>
          <a:prstGeom prst="rect">
            <a:avLst/>
          </a:prstGeom>
          <a:noFill/>
          <a:ln w="0">
            <a:noFill/>
          </a:ln>
        </p:spPr>
        <p:txBody>
          <a:bodyPr wrap="square" lIns="0" tIns="0" rIns="0" bIns="0" anchor="ctr">
            <a:noAutofit/>
          </a:bodyPr>
          <a:lstStyle>
            <a:defPPr algn="l">
              <a:defRPr sz="878">
                <a:solidFill>
                  <a:srgbClr val="5C5C5C"/>
                </a:solidFill>
                <a:latin typeface="에이투지체 4 Regular"/>
                <a:ea typeface="에이투지체 4 Regular"/>
                <a:cs typeface="에이투지체 4 Regular"/>
              </a:defRPr>
            </a:defPPr>
          </a:lstStyle>
          <a:p>
            <a:pPr algn="l">
              <a:defRPr sz="878">
                <a:solidFill>
                  <a:srgbClr val="5C5C5C"/>
                </a:solidFill>
                <a:latin typeface="에이투지체 4 Regular"/>
                <a:ea typeface="에이투지체 4 Regular"/>
                <a:cs typeface="에이투지체 4 Regular"/>
              </a:defRPr>
            </a:pPr>
            <a:r>
              <a:rPr sz="878">
                <a:solidFill>
                  <a:srgbClr val="5C5C5C"/>
                </a:solidFill>
                <a:latin typeface="에이투지체 4 Regular"/>
                <a:ea typeface="에이투지체 4 Regular"/>
                <a:cs typeface="에이투지체 4 Regular"/>
              </a:rPr>
              <a:t>메시지와 광고 시안은 신제품 원료·표시·심의 범위·모델 활용 권한 확정 후 구체화. 경쟁 광고는 제공 자료 조사 시점 기준</a:t>
            </a:r>
          </a:p>
        </p:txBody>
      </p:sp>
      <p:sp>
        <p:nvSpPr>
          <p:cNvPr id="17" name="Rounded Rectangle 16"/>
          <p:cNvSpPr/>
          <p:nvPr/>
        </p:nvSpPr>
        <p:spPr>
          <a:xfrm>
            <a:off x="548640" y="2212848"/>
            <a:ext cx="3291840" cy="1371600"/>
          </a:xfrm>
          <a:prstGeom prst="roundRect">
            <a:avLst>
              <a:gd name="adj" fmla="val 533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Oval 17"/>
          <p:cNvSpPr/>
          <p:nvPr/>
        </p:nvSpPr>
        <p:spPr>
          <a:xfrm>
            <a:off x="749808" y="2414016"/>
            <a:ext cx="420624" cy="42062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9" name="Picture 18" descr="flask-conical_FFFFFF.png"/>
          <p:cNvPicPr>
            <a:picLocks noChangeAspect="1"/>
          </p:cNvPicPr>
          <p:nvPr/>
        </p:nvPicPr>
        <p:blipFill>
          <a:blip r:embed="rId5"/>
          <a:stretch>
            <a:fillRect/>
          </a:stretch>
        </p:blipFill>
        <p:spPr>
          <a:xfrm>
            <a:off x="859170" y="2523378"/>
            <a:ext cx="201899" cy="201899"/>
          </a:xfrm>
          <a:prstGeom prst="rect">
            <a:avLst/>
          </a:prstGeom>
        </p:spPr>
      </p:pic>
      <p:sp>
        <p:nvSpPr>
          <p:cNvPr id="20" name="TextBox 19"/>
          <p:cNvSpPr txBox="1"/>
          <p:nvPr/>
        </p:nvSpPr>
        <p:spPr>
          <a:xfrm>
            <a:off x="1298448" y="2414016"/>
            <a:ext cx="2377440" cy="420624"/>
          </a:xfrm>
          <a:prstGeom prst="rect">
            <a:avLst/>
          </a:prstGeom>
          <a:noFill/>
        </p:spPr>
        <p:txBody>
          <a:bodyPr wrap="square" lIns="0" tIns="0" rIns="0" bIns="0" anchor="ctr">
            <a:spAutoFit/>
          </a:bodyPr>
          <a:lstStyle/>
          <a:p>
            <a:pPr algn="l">
              <a:spcAft>
                <a:spcPts val="300"/>
              </a:spcAft>
            </a:pPr>
            <a:r>
              <a:rPr sz="1350">
                <a:solidFill>
                  <a:srgbClr val="222222"/>
                </a:solidFill>
                <a:latin typeface="에이투지체 6 SemiBold"/>
                <a:ea typeface="에이투지체 6 SemiBold"/>
              </a:rPr>
              <a:t>원료 근거</a:t>
            </a:r>
          </a:p>
        </p:txBody>
      </p:sp>
      <p:sp>
        <p:nvSpPr>
          <p:cNvPr id="21" name="TextBox 20"/>
          <p:cNvSpPr txBox="1"/>
          <p:nvPr/>
        </p:nvSpPr>
        <p:spPr>
          <a:xfrm>
            <a:off x="749808" y="2944368"/>
            <a:ext cx="2926080" cy="292608"/>
          </a:xfrm>
          <a:prstGeom prst="rect">
            <a:avLst/>
          </a:prstGeom>
          <a:noFill/>
        </p:spPr>
        <p:txBody>
          <a:bodyPr wrap="square" lIns="0" tIns="0" rIns="0" bIns="0" anchor="t">
            <a:spAutoFit/>
          </a:bodyPr>
          <a:lstStyle/>
          <a:p>
            <a:pPr algn="l">
              <a:spcAft>
                <a:spcPts val="300"/>
              </a:spcAft>
            </a:pPr>
            <a:r>
              <a:rPr sz="1150">
                <a:solidFill>
                  <a:srgbClr val="004F9F"/>
                </a:solidFill>
                <a:latin typeface="에이투지체 6 SemiBold"/>
                <a:ea typeface="에이투지체 6 SemiBold"/>
              </a:rPr>
              <a:t>주요 원료의 기능성을 쉬운 말로 설명</a:t>
            </a:r>
          </a:p>
        </p:txBody>
      </p:sp>
      <p:sp>
        <p:nvSpPr>
          <p:cNvPr id="22" name="TextBox 21"/>
          <p:cNvSpPr txBox="1"/>
          <p:nvPr/>
        </p:nvSpPr>
        <p:spPr>
          <a:xfrm>
            <a:off x="749808" y="3236976"/>
            <a:ext cx="2926080" cy="237744"/>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4 Regular"/>
                <a:ea typeface="에이투지체 4 Regular"/>
              </a:rPr>
              <a:t>경쟁사  당큐락 HAC01 설명 영상</a:t>
            </a:r>
          </a:p>
        </p:txBody>
      </p:sp>
      <p:sp>
        <p:nvSpPr>
          <p:cNvPr id="23" name="Rounded Rectangle 22"/>
          <p:cNvSpPr/>
          <p:nvPr/>
        </p:nvSpPr>
        <p:spPr>
          <a:xfrm>
            <a:off x="4005072" y="2212848"/>
            <a:ext cx="3291840" cy="1371600"/>
          </a:xfrm>
          <a:prstGeom prst="roundRect">
            <a:avLst>
              <a:gd name="adj" fmla="val 533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4206240" y="2414016"/>
            <a:ext cx="420624" cy="42062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clock_FFFFFF.png"/>
          <p:cNvPicPr>
            <a:picLocks noChangeAspect="1"/>
          </p:cNvPicPr>
          <p:nvPr/>
        </p:nvPicPr>
        <p:blipFill>
          <a:blip r:embed="rId6"/>
          <a:stretch>
            <a:fillRect/>
          </a:stretch>
        </p:blipFill>
        <p:spPr>
          <a:xfrm>
            <a:off x="4315602" y="2523378"/>
            <a:ext cx="201899" cy="201899"/>
          </a:xfrm>
          <a:prstGeom prst="rect">
            <a:avLst/>
          </a:prstGeom>
        </p:spPr>
      </p:pic>
      <p:sp>
        <p:nvSpPr>
          <p:cNvPr id="26" name="TextBox 25"/>
          <p:cNvSpPr txBox="1"/>
          <p:nvPr/>
        </p:nvSpPr>
        <p:spPr>
          <a:xfrm>
            <a:off x="4754880" y="2520453"/>
            <a:ext cx="2377440" cy="207749"/>
          </a:xfrm>
          <a:prstGeom prst="rect">
            <a:avLst/>
          </a:prstGeom>
          <a:noFill/>
        </p:spPr>
        <p:txBody>
          <a:bodyPr wrap="square" lIns="0" tIns="0" rIns="0" bIns="0" anchor="ctr">
            <a:spAutoFit/>
          </a:bodyPr>
          <a:lstStyle/>
          <a:p>
            <a:pPr algn="l">
              <a:spcAft>
                <a:spcPts val="300"/>
              </a:spcAft>
            </a:pPr>
            <a:r>
              <a:rPr lang="ko-KR" altLang="en-US" sz="1350" dirty="0">
                <a:solidFill>
                  <a:srgbClr val="222222"/>
                </a:solidFill>
                <a:latin typeface="에이투지체 6 SemiBold"/>
                <a:ea typeface="에이투지체 6 SemiBold"/>
              </a:rPr>
              <a:t>복용</a:t>
            </a:r>
            <a:r>
              <a:rPr sz="1350" dirty="0">
                <a:solidFill>
                  <a:srgbClr val="222222"/>
                </a:solidFill>
                <a:latin typeface="에이투지체 6 SemiBold"/>
                <a:ea typeface="에이투지체 6 SemiBold"/>
              </a:rPr>
              <a:t> </a:t>
            </a:r>
            <a:r>
              <a:rPr sz="1350" dirty="0" err="1">
                <a:solidFill>
                  <a:srgbClr val="222222"/>
                </a:solidFill>
                <a:latin typeface="에이투지체 6 SemiBold"/>
                <a:ea typeface="에이투지체 6 SemiBold"/>
              </a:rPr>
              <a:t>편의성</a:t>
            </a:r>
            <a:endParaRPr sz="1350" dirty="0">
              <a:solidFill>
                <a:srgbClr val="222222"/>
              </a:solidFill>
              <a:latin typeface="에이투지체 6 SemiBold"/>
              <a:ea typeface="에이투지체 6 SemiBold"/>
            </a:endParaRPr>
          </a:p>
        </p:txBody>
      </p:sp>
      <p:sp>
        <p:nvSpPr>
          <p:cNvPr id="27" name="TextBox 26"/>
          <p:cNvSpPr txBox="1"/>
          <p:nvPr/>
        </p:nvSpPr>
        <p:spPr>
          <a:xfrm>
            <a:off x="4206240" y="2944368"/>
            <a:ext cx="2926080" cy="292608"/>
          </a:xfrm>
          <a:prstGeom prst="rect">
            <a:avLst/>
          </a:prstGeom>
          <a:noFill/>
        </p:spPr>
        <p:txBody>
          <a:bodyPr wrap="square" lIns="0" tIns="0" rIns="0" bIns="0" anchor="t">
            <a:spAutoFit/>
          </a:bodyPr>
          <a:lstStyle/>
          <a:p>
            <a:pPr algn="l">
              <a:spcAft>
                <a:spcPts val="300"/>
              </a:spcAft>
            </a:pPr>
            <a:r>
              <a:rPr sz="1150">
                <a:solidFill>
                  <a:srgbClr val="004F9F"/>
                </a:solidFill>
                <a:latin typeface="에이투지체 6 SemiBold"/>
                <a:ea typeface="에이투지체 6 SemiBold"/>
              </a:rPr>
              <a:t>하루 섭취 방식과 생활 루틴 제시</a:t>
            </a:r>
          </a:p>
        </p:txBody>
      </p:sp>
      <p:sp>
        <p:nvSpPr>
          <p:cNvPr id="28" name="TextBox 27"/>
          <p:cNvSpPr txBox="1"/>
          <p:nvPr/>
        </p:nvSpPr>
        <p:spPr>
          <a:xfrm>
            <a:off x="4206240" y="3236976"/>
            <a:ext cx="2926080" cy="237744"/>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4 Regular"/>
                <a:ea typeface="에이투지체 4 Regular"/>
              </a:rPr>
              <a:t>경쟁사  하루 1캡슐 · 1포, 올인원 구성</a:t>
            </a:r>
          </a:p>
        </p:txBody>
      </p:sp>
      <p:sp>
        <p:nvSpPr>
          <p:cNvPr id="29" name="Rounded Rectangle 28"/>
          <p:cNvSpPr/>
          <p:nvPr/>
        </p:nvSpPr>
        <p:spPr>
          <a:xfrm>
            <a:off x="548640" y="3730752"/>
            <a:ext cx="3291840" cy="1371600"/>
          </a:xfrm>
          <a:prstGeom prst="roundRect">
            <a:avLst>
              <a:gd name="adj" fmla="val 533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val 29"/>
          <p:cNvSpPr/>
          <p:nvPr/>
        </p:nvSpPr>
        <p:spPr>
          <a:xfrm>
            <a:off x="749808" y="3931920"/>
            <a:ext cx="420624" cy="42062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utensils_FFFFFF.png"/>
          <p:cNvPicPr>
            <a:picLocks noChangeAspect="1"/>
          </p:cNvPicPr>
          <p:nvPr/>
        </p:nvPicPr>
        <p:blipFill>
          <a:blip r:embed="rId7"/>
          <a:stretch>
            <a:fillRect/>
          </a:stretch>
        </p:blipFill>
        <p:spPr>
          <a:xfrm>
            <a:off x="859170" y="4041282"/>
            <a:ext cx="201899" cy="201899"/>
          </a:xfrm>
          <a:prstGeom prst="rect">
            <a:avLst/>
          </a:prstGeom>
        </p:spPr>
      </p:pic>
      <p:sp>
        <p:nvSpPr>
          <p:cNvPr id="32" name="TextBox 31"/>
          <p:cNvSpPr txBox="1"/>
          <p:nvPr/>
        </p:nvSpPr>
        <p:spPr>
          <a:xfrm>
            <a:off x="1298448" y="3931920"/>
            <a:ext cx="2377440" cy="420624"/>
          </a:xfrm>
          <a:prstGeom prst="rect">
            <a:avLst/>
          </a:prstGeom>
          <a:noFill/>
        </p:spPr>
        <p:txBody>
          <a:bodyPr wrap="square" lIns="0" tIns="0" rIns="0" bIns="0" anchor="ctr">
            <a:spAutoFit/>
          </a:bodyPr>
          <a:lstStyle/>
          <a:p>
            <a:pPr algn="l">
              <a:spcAft>
                <a:spcPts val="300"/>
              </a:spcAft>
            </a:pPr>
            <a:r>
              <a:rPr sz="1350">
                <a:solidFill>
                  <a:srgbClr val="222222"/>
                </a:solidFill>
                <a:latin typeface="에이투지체 6 SemiBold"/>
                <a:ea typeface="에이투지체 6 SemiBold"/>
              </a:rPr>
              <a:t>생활 공감</a:t>
            </a:r>
          </a:p>
        </p:txBody>
      </p:sp>
      <p:sp>
        <p:nvSpPr>
          <p:cNvPr id="33" name="TextBox 32"/>
          <p:cNvSpPr txBox="1"/>
          <p:nvPr/>
        </p:nvSpPr>
        <p:spPr>
          <a:xfrm>
            <a:off x="749808" y="4462272"/>
            <a:ext cx="2926080" cy="292608"/>
          </a:xfrm>
          <a:prstGeom prst="rect">
            <a:avLst/>
          </a:prstGeom>
          <a:noFill/>
        </p:spPr>
        <p:txBody>
          <a:bodyPr wrap="square" lIns="0" tIns="0" rIns="0" bIns="0" anchor="t">
            <a:spAutoFit/>
          </a:bodyPr>
          <a:lstStyle/>
          <a:p>
            <a:pPr algn="l">
              <a:spcAft>
                <a:spcPts val="300"/>
              </a:spcAft>
            </a:pPr>
            <a:r>
              <a:rPr sz="1150">
                <a:solidFill>
                  <a:srgbClr val="004F9F"/>
                </a:solidFill>
                <a:latin typeface="에이투지체 6 SemiBold"/>
                <a:ea typeface="에이투지체 6 SemiBold"/>
              </a:rPr>
              <a:t>40~60대 일상 식사 · 간식 상황으로 구성</a:t>
            </a:r>
          </a:p>
        </p:txBody>
      </p:sp>
      <p:sp>
        <p:nvSpPr>
          <p:cNvPr id="34" name="TextBox 33"/>
          <p:cNvSpPr txBox="1"/>
          <p:nvPr/>
        </p:nvSpPr>
        <p:spPr>
          <a:xfrm>
            <a:off x="749808" y="4754880"/>
            <a:ext cx="2926080" cy="237744"/>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4 Regular"/>
                <a:ea typeface="에이투지체 4 Regular"/>
              </a:rPr>
              <a:t>경쟁사  식생활 상황과 혈당 · 장 건강 연결</a:t>
            </a:r>
          </a:p>
        </p:txBody>
      </p:sp>
      <p:sp>
        <p:nvSpPr>
          <p:cNvPr id="35" name="Rounded Rectangle 34"/>
          <p:cNvSpPr/>
          <p:nvPr/>
        </p:nvSpPr>
        <p:spPr>
          <a:xfrm>
            <a:off x="4005072" y="3730752"/>
            <a:ext cx="3291840" cy="1371600"/>
          </a:xfrm>
          <a:prstGeom prst="roundRect">
            <a:avLst>
              <a:gd name="adj" fmla="val 5333"/>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4206240" y="3931920"/>
            <a:ext cx="420624" cy="420624"/>
          </a:xfrm>
          <a:prstGeom prst="ellipse">
            <a:avLst/>
          </a:prstGeom>
          <a:solidFill>
            <a:srgbClr val="004F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7" name="Picture 36" descr="gift_FFFFFF.png"/>
          <p:cNvPicPr>
            <a:picLocks noChangeAspect="1"/>
          </p:cNvPicPr>
          <p:nvPr/>
        </p:nvPicPr>
        <p:blipFill>
          <a:blip r:embed="rId8"/>
          <a:stretch>
            <a:fillRect/>
          </a:stretch>
        </p:blipFill>
        <p:spPr>
          <a:xfrm>
            <a:off x="4315602" y="4041282"/>
            <a:ext cx="201899" cy="201899"/>
          </a:xfrm>
          <a:prstGeom prst="rect">
            <a:avLst/>
          </a:prstGeom>
        </p:spPr>
      </p:pic>
      <p:sp>
        <p:nvSpPr>
          <p:cNvPr id="38" name="TextBox 37"/>
          <p:cNvSpPr txBox="1"/>
          <p:nvPr/>
        </p:nvSpPr>
        <p:spPr>
          <a:xfrm>
            <a:off x="4754880" y="3931920"/>
            <a:ext cx="2377440" cy="420624"/>
          </a:xfrm>
          <a:prstGeom prst="rect">
            <a:avLst/>
          </a:prstGeom>
          <a:noFill/>
        </p:spPr>
        <p:txBody>
          <a:bodyPr wrap="square" lIns="0" tIns="0" rIns="0" bIns="0" anchor="ctr">
            <a:spAutoFit/>
          </a:bodyPr>
          <a:lstStyle/>
          <a:p>
            <a:pPr algn="l">
              <a:spcAft>
                <a:spcPts val="300"/>
              </a:spcAft>
            </a:pPr>
            <a:r>
              <a:rPr sz="1350">
                <a:solidFill>
                  <a:srgbClr val="222222"/>
                </a:solidFill>
                <a:latin typeface="에이투지체 6 SemiBold"/>
                <a:ea typeface="에이투지체 6 SemiBold"/>
              </a:rPr>
              <a:t>구매 혜택</a:t>
            </a:r>
          </a:p>
        </p:txBody>
      </p:sp>
      <p:sp>
        <p:nvSpPr>
          <p:cNvPr id="39" name="TextBox 38"/>
          <p:cNvSpPr txBox="1"/>
          <p:nvPr/>
        </p:nvSpPr>
        <p:spPr>
          <a:xfrm>
            <a:off x="4206240" y="4462272"/>
            <a:ext cx="2926080" cy="292608"/>
          </a:xfrm>
          <a:prstGeom prst="rect">
            <a:avLst/>
          </a:prstGeom>
          <a:noFill/>
        </p:spPr>
        <p:txBody>
          <a:bodyPr wrap="square" lIns="0" tIns="0" rIns="0" bIns="0" anchor="t">
            <a:spAutoFit/>
          </a:bodyPr>
          <a:lstStyle/>
          <a:p>
            <a:pPr algn="l">
              <a:spcAft>
                <a:spcPts val="300"/>
              </a:spcAft>
            </a:pPr>
            <a:r>
              <a:rPr sz="1150">
                <a:solidFill>
                  <a:srgbClr val="004F9F"/>
                </a:solidFill>
                <a:latin typeface="에이투지체 6 SemiBold"/>
                <a:ea typeface="에이투지체 6 SemiBold"/>
              </a:rPr>
              <a:t>원료 설명은 상시, 구성 · 혜택은 행사 소재</a:t>
            </a:r>
          </a:p>
        </p:txBody>
      </p:sp>
      <p:sp>
        <p:nvSpPr>
          <p:cNvPr id="40" name="TextBox 39"/>
          <p:cNvSpPr txBox="1"/>
          <p:nvPr/>
        </p:nvSpPr>
        <p:spPr>
          <a:xfrm>
            <a:off x="4206240" y="4754880"/>
            <a:ext cx="2926080" cy="237744"/>
          </a:xfrm>
          <a:prstGeom prst="rect">
            <a:avLst/>
          </a:prstGeom>
          <a:noFill/>
        </p:spPr>
        <p:txBody>
          <a:bodyPr wrap="square" lIns="0" tIns="0" rIns="0" bIns="0" anchor="t">
            <a:spAutoFit/>
          </a:bodyPr>
          <a:lstStyle/>
          <a:p>
            <a:pPr algn="l">
              <a:spcAft>
                <a:spcPts val="300"/>
              </a:spcAft>
            </a:pPr>
            <a:r>
              <a:rPr sz="950">
                <a:solidFill>
                  <a:srgbClr val="5C5C5C"/>
                </a:solidFill>
                <a:latin typeface="에이투지체 4 Regular"/>
                <a:ea typeface="에이투지체 4 Regular"/>
              </a:rPr>
              <a:t>경쟁사  묶음 구성 · 적립 · 가입 할인</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4 · 40~60대 신규 브랜드 론칭</a:t>
            </a:r>
            <a:endParaRPr lang="ko-KR" sz="900" dirty="0"/>
          </a:p>
        </p:txBody>
      </p:sp>
      <p:sp>
        <p:nvSpPr>
          <p:cNvPr id="26"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27"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28" name="PGNO"/>
          <p:cNvSpPr txBox="1"/>
          <p:nvPr/>
        </p:nvSpPr>
        <p:spPr>
          <a:xfrm>
            <a:off x="11292840" y="6473952"/>
            <a:ext cx="365760" cy="123111"/>
          </a:xfrm>
          <a:prstGeom prst="rect">
            <a:avLst/>
          </a:prstGeom>
          <a:noFill/>
        </p:spPr>
        <p:txBody>
          <a:bodyPr wrap="square" lIns="0" tIns="0" rIns="0" bIns="0" anchor="t">
            <a:spAutoFit/>
          </a:bodyPr>
          <a:lstStyle/>
          <a:p>
            <a:pPr algn="r"/>
            <a:r>
              <a:rPr lang="en-US" sz="800" dirty="0">
                <a:solidFill>
                  <a:srgbClr val="222222"/>
                </a:solidFill>
                <a:latin typeface="에이투지체 6 SemiBold"/>
              </a:rPr>
              <a:t>73</a:t>
            </a:r>
            <a:endParaRPr sz="800" dirty="0">
              <a:solidFill>
                <a:srgbClr val="222222"/>
              </a:solidFill>
              <a:latin typeface="에이투지체 6 SemiBold"/>
            </a:endParaRPr>
          </a:p>
        </p:txBody>
      </p:sp>
      <p:sp>
        <p:nvSpPr>
          <p:cNvPr id="2" name="text-356">
            <a:extLst>
              <a:ext uri="{FF2B5EF4-FFF2-40B4-BE49-F238E27FC236}">
                <a16:creationId xmlns:a16="http://schemas.microsoft.com/office/drawing/2014/main" id="{4C16CA5C-7492-4EF6-B1EA-EA8F94B947F0}"/>
              </a:ext>
            </a:extLst>
          </p:cNvPr>
          <p:cNvSpPr>
            <a:spLocks noGrp="1"/>
          </p:cNvSpPr>
          <p:nvPr/>
        </p:nvSpPr>
        <p:spPr>
          <a:xfrm>
            <a:off x="548640" y="658368"/>
            <a:ext cx="11064240" cy="868680"/>
          </a:xfrm>
          <a:prstGeom prst="rect">
            <a:avLst/>
          </a:prstGeom>
          <a:noFill/>
          <a:ln w="0">
            <a:noFill/>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altLang="en-US" sz="1900" dirty="0">
                <a:solidFill>
                  <a:schemeClr val="bg1"/>
                </a:solidFill>
                <a:highlight>
                  <a:srgbClr val="0000FF"/>
                </a:highlight>
                <a:latin typeface="에이투지체 8 ExtraBold"/>
                <a:ea typeface="에이투지체 8 ExtraBold"/>
                <a:cs typeface="에이투지체 8 ExtraBold"/>
              </a:rPr>
              <a:t>런칭 전 </a:t>
            </a:r>
            <a:r>
              <a:rPr lang="en-US" altLang="ko-KR" sz="1900" dirty="0">
                <a:solidFill>
                  <a:schemeClr val="bg1"/>
                </a:solidFill>
                <a:highlight>
                  <a:srgbClr val="0000FF"/>
                </a:highlight>
                <a:latin typeface="에이투지체 8 ExtraBold"/>
                <a:ea typeface="에이투지체 8 ExtraBold"/>
                <a:cs typeface="에이투지체 8 ExtraBold"/>
              </a:rPr>
              <a:t>11</a:t>
            </a:r>
            <a:r>
              <a:rPr lang="ko-KR" altLang="en-US" sz="1900" dirty="0">
                <a:solidFill>
                  <a:schemeClr val="bg1"/>
                </a:solidFill>
                <a:highlight>
                  <a:srgbClr val="0000FF"/>
                </a:highlight>
                <a:latin typeface="에이투지체 8 ExtraBold"/>
                <a:ea typeface="에이투지체 8 ExtraBold"/>
                <a:cs typeface="에이투지체 8 ExtraBold"/>
              </a:rPr>
              <a:t>월 부터 미리 준비하여</a:t>
            </a:r>
            <a:r>
              <a:rPr lang="ko-KR" sz="1900" dirty="0">
                <a:solidFill>
                  <a:schemeClr val="bg1"/>
                </a:solidFill>
                <a:highlight>
                  <a:srgbClr val="0000FF"/>
                </a:highlight>
                <a:latin typeface="에이투지체 8 ExtraBold"/>
                <a:ea typeface="에이투지체 8 ExtraBold"/>
                <a:cs typeface="에이투지체 8 ExtraBold"/>
              </a:rPr>
              <a:t>, 12월</a:t>
            </a:r>
            <a:r>
              <a:rPr lang="ko-KR" altLang="en-US" sz="1900" dirty="0">
                <a:solidFill>
                  <a:schemeClr val="bg1"/>
                </a:solidFill>
                <a:highlight>
                  <a:srgbClr val="0000FF"/>
                </a:highlight>
                <a:latin typeface="에이투지체 8 ExtraBold"/>
                <a:ea typeface="에이투지체 8 ExtraBold"/>
                <a:cs typeface="에이투지체 8 ExtraBold"/>
              </a:rPr>
              <a:t>에</a:t>
            </a:r>
            <a:r>
              <a:rPr lang="ko-KR" sz="1900" dirty="0">
                <a:solidFill>
                  <a:schemeClr val="bg1"/>
                </a:solidFill>
                <a:highlight>
                  <a:srgbClr val="0000FF"/>
                </a:highlight>
                <a:latin typeface="에이투지체 8 ExtraBold"/>
                <a:ea typeface="에이투지체 8 ExtraBold"/>
                <a:cs typeface="에이투지체 8 ExtraBold"/>
              </a:rPr>
              <a:t> </a:t>
            </a:r>
            <a:r>
              <a:rPr lang="ko-KR" altLang="en-US" sz="1900" dirty="0">
                <a:solidFill>
                  <a:schemeClr val="bg1"/>
                </a:solidFill>
                <a:highlight>
                  <a:srgbClr val="0000FF"/>
                </a:highlight>
                <a:latin typeface="에이투지체 8 ExtraBold"/>
                <a:ea typeface="에이투지체 8 ExtraBold"/>
                <a:cs typeface="에이투지체 8 ExtraBold"/>
              </a:rPr>
              <a:t>런칭</a:t>
            </a:r>
            <a:r>
              <a:rPr lang="ko-KR" sz="1900" dirty="0">
                <a:solidFill>
                  <a:schemeClr val="bg1"/>
                </a:solidFill>
                <a:highlight>
                  <a:srgbClr val="0000FF"/>
                </a:highlight>
                <a:latin typeface="에이투지체 8 ExtraBold"/>
                <a:ea typeface="에이투지체 8 ExtraBold"/>
                <a:cs typeface="에이투지체 8 ExtraBold"/>
              </a:rPr>
              <a:t>, 1~2월 재구매</a:t>
            </a:r>
            <a:r>
              <a:rPr lang="ko-KR" sz="1900" dirty="0">
                <a:solidFill>
                  <a:srgbClr val="222222"/>
                </a:solidFill>
                <a:latin typeface="에이투지체 8 ExtraBold"/>
                <a:ea typeface="에이투지체 8 ExtraBold"/>
                <a:cs typeface="에이투지체 8 ExtraBold"/>
              </a:rPr>
              <a:t>의 순서로</a:t>
            </a:r>
          </a:p>
          <a:p>
            <a:pPr marL="0" indent="0">
              <a:lnSpc>
                <a:spcPts val="2600"/>
              </a:lnSpc>
              <a:buNone/>
            </a:pPr>
            <a:r>
              <a:rPr lang="ko-KR" altLang="en-US" sz="1900" dirty="0">
                <a:solidFill>
                  <a:srgbClr val="222222"/>
                </a:solidFill>
                <a:latin typeface="에이투지체 8 ExtraBold"/>
                <a:ea typeface="에이투지체 8 ExtraBold"/>
                <a:cs typeface="에이투지체 8 ExtraBold"/>
              </a:rPr>
              <a:t>광고를 세팅하고 전환을 이끌어 냅니다</a:t>
            </a:r>
            <a:r>
              <a:rPr lang="en-US" altLang="ko-KR" sz="1900" dirty="0">
                <a:solidFill>
                  <a:srgbClr val="222222"/>
                </a:solidFill>
                <a:latin typeface="에이투지체 8 ExtraBold"/>
                <a:ea typeface="에이투지체 8 ExtraBold"/>
                <a:cs typeface="에이투지체 8 ExtraBold"/>
              </a:rPr>
              <a:t>.</a:t>
            </a:r>
            <a:endParaRPr lang="ko-KR" sz="1900" dirty="0"/>
          </a:p>
        </p:txBody>
      </p:sp>
      <p:sp>
        <p:nvSpPr>
          <p:cNvPr id="3" name="text-357">
            <a:extLst>
              <a:ext uri="{FF2B5EF4-FFF2-40B4-BE49-F238E27FC236}">
                <a16:creationId xmlns:a16="http://schemas.microsoft.com/office/drawing/2014/main" id="{25BE28CD-2490-4F6E-877B-B9D19CC5EF94}"/>
              </a:ext>
            </a:extLst>
          </p:cNvPr>
          <p:cNvSpPr>
            <a:spLocks noGrp="1"/>
          </p:cNvSpPr>
          <p:nvPr/>
        </p:nvSpPr>
        <p:spPr>
          <a:xfrm>
            <a:off x="548640" y="1517904"/>
            <a:ext cx="11064240" cy="365760"/>
          </a:xfrm>
          <a:prstGeom prst="rect">
            <a:avLst/>
          </a:prstGeom>
          <a:noFill/>
          <a:ln w="0">
            <a:noFill/>
          </a:ln>
        </p:spPr>
        <p:txBody>
          <a:bodyPr wrap="square" lIns="0" tIns="0" rIns="0" bIns="0" anchor="ctr"/>
          <a:lstStyle>
            <a:defPPr algn="l">
              <a:defRPr sz="1400">
                <a:solidFill>
                  <a:srgbClr val="5C5C5C"/>
                </a:solidFill>
                <a:latin typeface="에이투지체 4 Regular"/>
                <a:ea typeface="에이투지체 4 Regular"/>
                <a:cs typeface="에이투지체 4 Regular"/>
              </a:defRPr>
            </a:defPPr>
          </a:lstStyle>
          <a:p>
            <a:pPr marL="0" indent="0">
              <a:buNone/>
            </a:pPr>
            <a:r>
              <a:rPr lang="ko-KR" sz="1100" dirty="0">
                <a:solidFill>
                  <a:srgbClr val="5C5C5C"/>
                </a:solidFill>
                <a:latin typeface="에이투지체 5 Medium"/>
                <a:ea typeface="에이투지체 5 Medium"/>
                <a:cs typeface="에이투지체 5 Medium"/>
              </a:rPr>
              <a:t>신규 브랜드 론칭 로드맵</a:t>
            </a:r>
            <a:endParaRPr lang="ko-KR" sz="1100" dirty="0"/>
          </a:p>
        </p:txBody>
      </p:sp>
      <p:sp>
        <p:nvSpPr>
          <p:cNvPr id="4" name="node-358">
            <a:extLst>
              <a:ext uri="{FF2B5EF4-FFF2-40B4-BE49-F238E27FC236}">
                <a16:creationId xmlns:a16="http://schemas.microsoft.com/office/drawing/2014/main" id="{1915E199-58A4-46B4-99D9-AB1F52337437}"/>
              </a:ext>
            </a:extLst>
          </p:cNvPr>
          <p:cNvSpPr>
            <a:spLocks noGrp="1"/>
          </p:cNvSpPr>
          <p:nvPr/>
        </p:nvSpPr>
        <p:spPr>
          <a:xfrm>
            <a:off x="552450" y="2152650"/>
            <a:ext cx="3611880" cy="581025"/>
          </a:xfrm>
          <a:prstGeom prst="homePlate">
            <a:avLst>
              <a:gd name="adj" fmla="val 30000"/>
            </a:avLst>
          </a:prstGeom>
          <a:solidFill>
            <a:srgbClr val="EAF2FB"/>
          </a:solidFill>
          <a:ln w="0">
            <a:noFill/>
          </a:ln>
        </p:spPr>
        <p:txBody>
          <a:bodyPr/>
          <a:lstStyle/>
          <a:p>
            <a:endParaRPr lang="ko-KR" altLang="en-US"/>
          </a:p>
        </p:txBody>
      </p:sp>
      <p:sp>
        <p:nvSpPr>
          <p:cNvPr id="5" name="text-359">
            <a:extLst>
              <a:ext uri="{FF2B5EF4-FFF2-40B4-BE49-F238E27FC236}">
                <a16:creationId xmlns:a16="http://schemas.microsoft.com/office/drawing/2014/main" id="{642091E8-0E3B-4052-9161-EFA77218DB88}"/>
              </a:ext>
            </a:extLst>
          </p:cNvPr>
          <p:cNvSpPr>
            <a:spLocks noGrp="1"/>
          </p:cNvSpPr>
          <p:nvPr/>
        </p:nvSpPr>
        <p:spPr>
          <a:xfrm>
            <a:off x="742950" y="2266950"/>
            <a:ext cx="3067050" cy="361950"/>
          </a:xfrm>
          <a:prstGeom prst="rect">
            <a:avLst/>
          </a:prstGeom>
          <a:noFill/>
          <a:ln w="0">
            <a:noFill/>
          </a:ln>
        </p:spPr>
        <p:txBody>
          <a:bodyPr wrap="square" lIns="0" tIns="0" rIns="0" bIns="0" anchor="ctr">
            <a:noAutofit/>
          </a:bodyPr>
          <a:lstStyle>
            <a:defPPr algn="l">
              <a:defRPr sz="1800">
                <a:solidFill>
                  <a:srgbClr val="004F9F"/>
                </a:solidFill>
                <a:latin typeface="에이투지체 6 SemiBold"/>
                <a:ea typeface="에이투지체 6 SemiBold"/>
                <a:cs typeface="에이투지체 6 SemiBold"/>
              </a:defRPr>
            </a:defPPr>
          </a:lstStyle>
          <a:p>
            <a:pPr algn="l">
              <a:defRPr sz="1800">
                <a:solidFill>
                  <a:srgbClr val="004F9F"/>
                </a:solidFill>
                <a:latin typeface="에이투지체 6 SemiBold"/>
                <a:ea typeface="에이투지체 6 SemiBold"/>
                <a:cs typeface="에이투지체 6 SemiBold"/>
              </a:defRPr>
            </a:pPr>
            <a:r>
              <a:rPr sz="1800">
                <a:solidFill>
                  <a:srgbClr val="004F9F"/>
                </a:solidFill>
                <a:latin typeface="에이투지체 6 SemiBold"/>
                <a:ea typeface="에이투지체 6 SemiBold"/>
                <a:cs typeface="에이투지체 6 SemiBold"/>
              </a:rPr>
              <a:t>11월 준비</a:t>
            </a:r>
          </a:p>
        </p:txBody>
      </p:sp>
      <p:sp>
        <p:nvSpPr>
          <p:cNvPr id="6" name="text-360">
            <a:extLst>
              <a:ext uri="{FF2B5EF4-FFF2-40B4-BE49-F238E27FC236}">
                <a16:creationId xmlns:a16="http://schemas.microsoft.com/office/drawing/2014/main" id="{415B476A-9726-4ADB-B1E3-2FC62D7B1417}"/>
              </a:ext>
            </a:extLst>
          </p:cNvPr>
          <p:cNvSpPr>
            <a:spLocks noGrp="1"/>
          </p:cNvSpPr>
          <p:nvPr/>
        </p:nvSpPr>
        <p:spPr>
          <a:xfrm>
            <a:off x="552450" y="2971800"/>
            <a:ext cx="3448050" cy="447675"/>
          </a:xfrm>
          <a:prstGeom prst="rect">
            <a:avLst/>
          </a:prstGeom>
          <a:noFill/>
          <a:ln w="0">
            <a:noFill/>
          </a:ln>
        </p:spPr>
        <p:txBody>
          <a:bodyPr wrap="square" lIns="0" tIns="0" rIns="0" bIns="0" anchor="ctr">
            <a:noAutofit/>
          </a:bodyPr>
          <a:lstStyle>
            <a:defPPr algn="l">
              <a:defRPr sz="1575">
                <a:solidFill>
                  <a:srgbClr val="222222"/>
                </a:solidFill>
                <a:latin typeface="에이투지체 6 SemiBold"/>
                <a:ea typeface="에이투지체 6 SemiBold"/>
                <a:cs typeface="에이투지체 6 SemiBold"/>
              </a:defRPr>
            </a:defPPr>
          </a:lstStyle>
          <a:p>
            <a:pPr algn="l">
              <a:defRPr sz="1575">
                <a:solidFill>
                  <a:srgbClr val="222222"/>
                </a:solidFill>
                <a:latin typeface="에이투지체 6 SemiBold"/>
                <a:ea typeface="에이투지체 6 SemiBold"/>
                <a:cs typeface="에이투지체 6 SemiBold"/>
              </a:defRPr>
            </a:pPr>
            <a:r>
              <a:rPr sz="1575" dirty="0" err="1">
                <a:solidFill>
                  <a:srgbClr val="222222"/>
                </a:solidFill>
                <a:latin typeface="에이투지체 6 SemiBold"/>
                <a:ea typeface="에이투지체 6 SemiBold"/>
                <a:cs typeface="에이투지체 6 SemiBold"/>
              </a:rPr>
              <a:t>제품</a:t>
            </a:r>
            <a:r>
              <a:rPr lang="en-US" sz="1575" dirty="0">
                <a:solidFill>
                  <a:srgbClr val="222222"/>
                </a:solidFill>
                <a:latin typeface="에이투지체 6 SemiBold"/>
                <a:ea typeface="에이투지체 6 SemiBold"/>
                <a:cs typeface="에이투지체 6 SemiBold"/>
              </a:rPr>
              <a:t> </a:t>
            </a:r>
            <a:r>
              <a:rPr lang="ko-KR" altLang="en-US" sz="1575" dirty="0">
                <a:solidFill>
                  <a:srgbClr val="222222"/>
                </a:solidFill>
                <a:latin typeface="에이투지체 6 SemiBold"/>
                <a:ea typeface="에이투지체 6 SemiBold"/>
                <a:cs typeface="에이투지체 6 SemiBold"/>
              </a:rPr>
              <a:t>특성 파악 및</a:t>
            </a:r>
            <a:r>
              <a:rPr sz="1575" dirty="0">
                <a:solidFill>
                  <a:srgbClr val="222222"/>
                </a:solidFill>
                <a:latin typeface="에이투지체 6 SemiBold"/>
                <a:ea typeface="에이투지체 6 SemiBold"/>
                <a:cs typeface="에이투지체 6 SemiBold"/>
              </a:rPr>
              <a:t> </a:t>
            </a:r>
            <a:r>
              <a:rPr lang="en-US" sz="1575" dirty="0">
                <a:solidFill>
                  <a:srgbClr val="222222"/>
                </a:solidFill>
                <a:latin typeface="에이투지체 6 SemiBold"/>
                <a:ea typeface="에이투지체 6 SemiBold"/>
                <a:cs typeface="에이투지체 6 SemiBold"/>
              </a:rPr>
              <a:t>KPI</a:t>
            </a:r>
            <a:r>
              <a:rPr sz="1575" dirty="0">
                <a:solidFill>
                  <a:srgbClr val="222222"/>
                </a:solidFill>
                <a:latin typeface="에이투지체 6 SemiBold"/>
                <a:ea typeface="에이투지체 6 SemiBold"/>
                <a:cs typeface="에이투지체 6 SemiBold"/>
              </a:rPr>
              <a:t> </a:t>
            </a:r>
            <a:r>
              <a:rPr sz="1575" dirty="0" err="1">
                <a:solidFill>
                  <a:srgbClr val="222222"/>
                </a:solidFill>
                <a:latin typeface="에이투지체 6 SemiBold"/>
                <a:ea typeface="에이투지체 6 SemiBold"/>
                <a:cs typeface="에이투지체 6 SemiBold"/>
              </a:rPr>
              <a:t>확정</a:t>
            </a:r>
            <a:endParaRPr sz="1575" dirty="0">
              <a:solidFill>
                <a:srgbClr val="222222"/>
              </a:solidFill>
              <a:latin typeface="에이투지체 6 SemiBold"/>
              <a:ea typeface="에이투지체 6 SemiBold"/>
              <a:cs typeface="에이투지체 6 SemiBold"/>
            </a:endParaRPr>
          </a:p>
        </p:txBody>
      </p:sp>
      <p:sp>
        <p:nvSpPr>
          <p:cNvPr id="7" name="text-361">
            <a:extLst>
              <a:ext uri="{FF2B5EF4-FFF2-40B4-BE49-F238E27FC236}">
                <a16:creationId xmlns:a16="http://schemas.microsoft.com/office/drawing/2014/main" id="{D1FD7E99-C6BA-40A4-B619-AA2129469231}"/>
              </a:ext>
            </a:extLst>
          </p:cNvPr>
          <p:cNvSpPr>
            <a:spLocks noGrp="1"/>
          </p:cNvSpPr>
          <p:nvPr/>
        </p:nvSpPr>
        <p:spPr>
          <a:xfrm>
            <a:off x="548640" y="3605213"/>
            <a:ext cx="3448050" cy="1200150"/>
          </a:xfrm>
          <a:prstGeom prst="rect">
            <a:avLst/>
          </a:prstGeom>
          <a:noFill/>
          <a:ln w="0">
            <a:noFill/>
          </a:ln>
        </p:spPr>
        <p:txBody>
          <a:bodyPr wrap="square" lIns="0" tIns="0" rIns="0" bIns="0" anchor="ctr">
            <a:noAutofit/>
          </a:bodyPr>
          <a:lstStyle>
            <a:defPPr algn="l">
              <a:defRPr sz="1358">
                <a:solidFill>
                  <a:srgbClr val="5C5C5C"/>
                </a:solidFill>
                <a:latin typeface="에이투지체 4 Regular"/>
                <a:ea typeface="에이투지체 4 Regular"/>
                <a:cs typeface="에이투지체 4 Regular"/>
              </a:defRPr>
            </a:defPPr>
          </a:lstStyle>
          <a:p>
            <a:pPr algn="l">
              <a:lnSpc>
                <a:spcPct val="150000"/>
              </a:lnSpc>
              <a:defRPr sz="1358">
                <a:solidFill>
                  <a:srgbClr val="5C5C5C"/>
                </a:solidFill>
                <a:latin typeface="에이투지체 4 Regular"/>
                <a:ea typeface="에이투지체 4 Regular"/>
                <a:cs typeface="에이투지체 4 Regular"/>
              </a:defRPr>
            </a:pPr>
            <a:r>
              <a:rPr lang="ko-KR" altLang="en-US" sz="1358" dirty="0">
                <a:solidFill>
                  <a:srgbClr val="5C5C5C"/>
                </a:solidFill>
                <a:latin typeface="에이투지체 4 Regular"/>
                <a:ea typeface="에이투지체 4 Regular"/>
                <a:cs typeface="에이투지체 4 Regular"/>
              </a:rPr>
              <a:t>신규 제품의 특성 파악 및 </a:t>
            </a:r>
            <a:r>
              <a:rPr lang="en-US" altLang="ko-KR" sz="1358" dirty="0">
                <a:solidFill>
                  <a:srgbClr val="5C5C5C"/>
                </a:solidFill>
                <a:latin typeface="에이투지체 4 Regular"/>
                <a:ea typeface="에이투지체 4 Regular"/>
                <a:cs typeface="에이투지체 4 Regular"/>
              </a:rPr>
              <a:t>USP </a:t>
            </a:r>
            <a:r>
              <a:rPr lang="ko-KR" altLang="en-US" sz="1358" dirty="0">
                <a:solidFill>
                  <a:srgbClr val="5C5C5C"/>
                </a:solidFill>
                <a:latin typeface="에이투지체 4 Regular"/>
                <a:ea typeface="에이투지체 4 Regular"/>
                <a:cs typeface="에이투지체 4 Regular"/>
              </a:rPr>
              <a:t>구상</a:t>
            </a:r>
            <a:endParaRPr sz="1358" dirty="0">
              <a:solidFill>
                <a:srgbClr val="5C5C5C"/>
              </a:solidFill>
              <a:latin typeface="에이투지체 4 Regular"/>
              <a:ea typeface="에이투지체 4 Regular"/>
              <a:cs typeface="에이투지체 4 Regular"/>
            </a:endParaRPr>
          </a:p>
          <a:p>
            <a:pPr algn="l">
              <a:lnSpc>
                <a:spcPct val="150000"/>
              </a:lnSpc>
              <a:defRPr sz="1358">
                <a:solidFill>
                  <a:srgbClr val="5C5C5C"/>
                </a:solidFill>
                <a:latin typeface="에이투지체 4 Regular"/>
                <a:ea typeface="에이투지체 4 Regular"/>
                <a:cs typeface="에이투지체 4 Regular"/>
              </a:defRPr>
            </a:pPr>
            <a:r>
              <a:rPr sz="1358" dirty="0" err="1">
                <a:solidFill>
                  <a:srgbClr val="5C5C5C"/>
                </a:solidFill>
                <a:latin typeface="에이투지체 4 Regular"/>
                <a:ea typeface="에이투지체 4 Regular"/>
                <a:cs typeface="에이투지체 4 Regular"/>
              </a:rPr>
              <a:t>상품명·검색어·랜딩</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준비</a:t>
            </a:r>
            <a:endParaRPr lang="en-US" sz="1358" dirty="0">
              <a:solidFill>
                <a:srgbClr val="5C5C5C"/>
              </a:solidFill>
              <a:latin typeface="에이투지체 4 Regular"/>
              <a:ea typeface="에이투지체 4 Regular"/>
              <a:cs typeface="에이투지체 4 Regular"/>
            </a:endParaRPr>
          </a:p>
          <a:p>
            <a:pPr algn="l">
              <a:lnSpc>
                <a:spcPct val="150000"/>
              </a:lnSpc>
              <a:defRPr sz="1358">
                <a:solidFill>
                  <a:srgbClr val="5C5C5C"/>
                </a:solidFill>
                <a:latin typeface="에이투지체 4 Regular"/>
                <a:ea typeface="에이투지체 4 Regular"/>
                <a:cs typeface="에이투지체 4 Regular"/>
              </a:defRPr>
            </a:pPr>
            <a:r>
              <a:rPr lang="ko-KR" altLang="en-US" sz="1358" dirty="0">
                <a:solidFill>
                  <a:srgbClr val="5C5C5C"/>
                </a:solidFill>
                <a:latin typeface="에이투지체 4 Regular"/>
                <a:ea typeface="에이투지체 4 Regular"/>
                <a:cs typeface="에이투지체 4 Regular"/>
              </a:rPr>
              <a:t>광고 소재 미리 제작 및 세팅</a:t>
            </a:r>
            <a:endParaRPr sz="1358" dirty="0">
              <a:solidFill>
                <a:srgbClr val="5C5C5C"/>
              </a:solidFill>
              <a:latin typeface="에이투지체 4 Regular"/>
              <a:ea typeface="에이투지체 4 Regular"/>
              <a:cs typeface="에이투지체 4 Regular"/>
            </a:endParaRPr>
          </a:p>
        </p:txBody>
      </p:sp>
      <p:sp>
        <p:nvSpPr>
          <p:cNvPr id="8" name="직선 연결선 7">
            <a:extLst>
              <a:ext uri="{FF2B5EF4-FFF2-40B4-BE49-F238E27FC236}">
                <a16:creationId xmlns:a16="http://schemas.microsoft.com/office/drawing/2014/main" id="{F5E16625-9445-4342-A88F-B8275C2C9888}"/>
              </a:ext>
            </a:extLst>
          </p:cNvPr>
          <p:cNvSpPr>
            <a:spLocks noGrp="1"/>
          </p:cNvSpPr>
          <p:nvPr/>
        </p:nvSpPr>
        <p:spPr>
          <a:xfrm>
            <a:off x="552450" y="5067300"/>
            <a:ext cx="3448050" cy="0"/>
          </a:xfrm>
          <a:prstGeom prst="line">
            <a:avLst/>
          </a:prstGeom>
          <a:noFill/>
          <a:ln w="9525">
            <a:solidFill>
              <a:srgbClr val="D0D0D0"/>
            </a:solidFill>
          </a:ln>
        </p:spPr>
        <p:txBody>
          <a:bodyPr/>
          <a:lstStyle/>
          <a:p>
            <a:endParaRPr lang="ko-KR" altLang="en-US"/>
          </a:p>
        </p:txBody>
      </p:sp>
      <p:sp>
        <p:nvSpPr>
          <p:cNvPr id="10" name="node-363">
            <a:extLst>
              <a:ext uri="{FF2B5EF4-FFF2-40B4-BE49-F238E27FC236}">
                <a16:creationId xmlns:a16="http://schemas.microsoft.com/office/drawing/2014/main" id="{4DF27457-7722-4AC4-9073-8CA73F3026A7}"/>
              </a:ext>
            </a:extLst>
          </p:cNvPr>
          <p:cNvSpPr>
            <a:spLocks noGrp="1"/>
          </p:cNvSpPr>
          <p:nvPr/>
        </p:nvSpPr>
        <p:spPr>
          <a:xfrm>
            <a:off x="4362450" y="2152650"/>
            <a:ext cx="3611880" cy="581025"/>
          </a:xfrm>
          <a:prstGeom prst="chevron">
            <a:avLst>
              <a:gd name="adj" fmla="val 30000"/>
            </a:avLst>
          </a:prstGeom>
          <a:solidFill>
            <a:srgbClr val="004F9F"/>
          </a:solidFill>
          <a:ln w="0">
            <a:noFill/>
          </a:ln>
        </p:spPr>
        <p:txBody>
          <a:bodyPr/>
          <a:lstStyle/>
          <a:p>
            <a:endParaRPr lang="ko-KR" altLang="en-US"/>
          </a:p>
        </p:txBody>
      </p:sp>
      <p:sp>
        <p:nvSpPr>
          <p:cNvPr id="11" name="text-364">
            <a:extLst>
              <a:ext uri="{FF2B5EF4-FFF2-40B4-BE49-F238E27FC236}">
                <a16:creationId xmlns:a16="http://schemas.microsoft.com/office/drawing/2014/main" id="{18FA4975-1AD2-400D-A562-8B87E9678F08}"/>
              </a:ext>
            </a:extLst>
          </p:cNvPr>
          <p:cNvSpPr>
            <a:spLocks noGrp="1"/>
          </p:cNvSpPr>
          <p:nvPr/>
        </p:nvSpPr>
        <p:spPr>
          <a:xfrm>
            <a:off x="4552950" y="2266950"/>
            <a:ext cx="3067050" cy="361950"/>
          </a:xfrm>
          <a:prstGeom prst="rect">
            <a:avLst/>
          </a:prstGeom>
          <a:noFill/>
          <a:ln w="0">
            <a:noFill/>
          </a:ln>
        </p:spPr>
        <p:txBody>
          <a:bodyPr wrap="square" lIns="0" tIns="0" rIns="0" bIns="0" anchor="ctr">
            <a:noAutofit/>
          </a:bodyPr>
          <a:lstStyle>
            <a:defPPr algn="l">
              <a:defRPr sz="1800">
                <a:solidFill>
                  <a:srgbClr val="FFFFFF"/>
                </a:solidFill>
                <a:latin typeface="에이투지체 6 SemiBold"/>
                <a:ea typeface="에이투지체 6 SemiBold"/>
                <a:cs typeface="에이투지체 6 SemiBold"/>
              </a:defRPr>
            </a:defPPr>
          </a:lstStyle>
          <a:p>
            <a:pPr algn="l">
              <a:defRPr sz="1800">
                <a:solidFill>
                  <a:srgbClr val="FFFFFF"/>
                </a:solidFill>
                <a:latin typeface="에이투지체 6 SemiBold"/>
                <a:ea typeface="에이투지체 6 SemiBold"/>
                <a:cs typeface="에이투지체 6 SemiBold"/>
              </a:defRPr>
            </a:pPr>
            <a:r>
              <a:rPr sz="1800">
                <a:solidFill>
                  <a:srgbClr val="FFFFFF"/>
                </a:solidFill>
                <a:latin typeface="에이투지체 6 SemiBold"/>
                <a:ea typeface="에이투지체 6 SemiBold"/>
                <a:cs typeface="에이투지체 6 SemiBold"/>
              </a:rPr>
              <a:t>12월 론칭</a:t>
            </a:r>
          </a:p>
        </p:txBody>
      </p:sp>
      <p:sp>
        <p:nvSpPr>
          <p:cNvPr id="12" name="text-365">
            <a:extLst>
              <a:ext uri="{FF2B5EF4-FFF2-40B4-BE49-F238E27FC236}">
                <a16:creationId xmlns:a16="http://schemas.microsoft.com/office/drawing/2014/main" id="{D33ACE27-14D4-4266-AA7E-C9F856231375}"/>
              </a:ext>
            </a:extLst>
          </p:cNvPr>
          <p:cNvSpPr>
            <a:spLocks noGrp="1"/>
          </p:cNvSpPr>
          <p:nvPr/>
        </p:nvSpPr>
        <p:spPr>
          <a:xfrm>
            <a:off x="4362450" y="2971800"/>
            <a:ext cx="3448050" cy="447675"/>
          </a:xfrm>
          <a:prstGeom prst="rect">
            <a:avLst/>
          </a:prstGeom>
          <a:noFill/>
          <a:ln w="0">
            <a:noFill/>
          </a:ln>
        </p:spPr>
        <p:txBody>
          <a:bodyPr wrap="square" lIns="0" tIns="0" rIns="0" bIns="0" anchor="ctr">
            <a:noAutofit/>
          </a:bodyPr>
          <a:lstStyle>
            <a:defPPr algn="l">
              <a:defRPr sz="1575">
                <a:solidFill>
                  <a:srgbClr val="222222"/>
                </a:solidFill>
                <a:latin typeface="에이투지체 6 SemiBold"/>
                <a:ea typeface="에이투지체 6 SemiBold"/>
                <a:cs typeface="에이투지체 6 SemiBold"/>
              </a:defRPr>
            </a:defPPr>
          </a:lstStyle>
          <a:p>
            <a:pPr algn="l">
              <a:defRPr sz="1575">
                <a:solidFill>
                  <a:srgbClr val="222222"/>
                </a:solidFill>
                <a:latin typeface="에이투지체 6 SemiBold"/>
                <a:ea typeface="에이투지체 6 SemiBold"/>
                <a:cs typeface="에이투지체 6 SemiBold"/>
              </a:defRPr>
            </a:pPr>
            <a:r>
              <a:rPr sz="1575">
                <a:solidFill>
                  <a:srgbClr val="222222"/>
                </a:solidFill>
                <a:latin typeface="에이투지체 6 SemiBold"/>
                <a:ea typeface="에이투지체 6 SemiBold"/>
                <a:cs typeface="에이투지체 6 SemiBold"/>
              </a:rPr>
              <a:t>홈쇼핑 이후 검색 수요 회수</a:t>
            </a:r>
          </a:p>
        </p:txBody>
      </p:sp>
      <p:sp>
        <p:nvSpPr>
          <p:cNvPr id="13" name="text-366">
            <a:extLst>
              <a:ext uri="{FF2B5EF4-FFF2-40B4-BE49-F238E27FC236}">
                <a16:creationId xmlns:a16="http://schemas.microsoft.com/office/drawing/2014/main" id="{AA6A38E2-2E18-4250-B7E5-FC57A88908E7}"/>
              </a:ext>
            </a:extLst>
          </p:cNvPr>
          <p:cNvSpPr>
            <a:spLocks noGrp="1"/>
          </p:cNvSpPr>
          <p:nvPr/>
        </p:nvSpPr>
        <p:spPr>
          <a:xfrm>
            <a:off x="4362450" y="3579495"/>
            <a:ext cx="3448050" cy="1209675"/>
          </a:xfrm>
          <a:prstGeom prst="rect">
            <a:avLst/>
          </a:prstGeom>
          <a:noFill/>
          <a:ln w="0">
            <a:noFill/>
          </a:ln>
        </p:spPr>
        <p:txBody>
          <a:bodyPr wrap="square" lIns="0" tIns="0" rIns="0" bIns="0" anchor="ctr">
            <a:noAutofit/>
          </a:bodyPr>
          <a:lstStyle>
            <a:defPPr algn="l">
              <a:defRPr sz="1358">
                <a:solidFill>
                  <a:srgbClr val="5C5C5C"/>
                </a:solidFill>
                <a:latin typeface="에이투지체 4 Regular"/>
                <a:ea typeface="에이투지체 4 Regular"/>
                <a:cs typeface="에이투지체 4 Regular"/>
              </a:defRPr>
            </a:defPPr>
          </a:lstStyle>
          <a:p>
            <a:pPr algn="l">
              <a:lnSpc>
                <a:spcPct val="150000"/>
              </a:lnSpc>
              <a:defRPr sz="1358">
                <a:solidFill>
                  <a:srgbClr val="5C5C5C"/>
                </a:solidFill>
                <a:latin typeface="에이투지체 4 Regular"/>
                <a:ea typeface="에이투지체 4 Regular"/>
                <a:cs typeface="에이투지체 4 Regular"/>
              </a:defRPr>
            </a:pPr>
            <a:r>
              <a:rPr lang="ko-KR" altLang="en-US" sz="1358" dirty="0">
                <a:solidFill>
                  <a:srgbClr val="5C5C5C"/>
                </a:solidFill>
                <a:latin typeface="에이투지체 4 Regular"/>
                <a:ea typeface="에이투지체 4 Regular"/>
                <a:cs typeface="에이투지체 4 Regular"/>
              </a:rPr>
              <a:t>홈쇼핑</a:t>
            </a:r>
            <a:r>
              <a:rPr lang="en-US" altLang="ko-KR" sz="1358" dirty="0">
                <a:solidFill>
                  <a:srgbClr val="5C5C5C"/>
                </a:solidFill>
                <a:latin typeface="에이투지체 4 Regular"/>
                <a:ea typeface="에이투지체 4 Regular"/>
                <a:cs typeface="에이투지체 4 Regular"/>
              </a:rPr>
              <a:t>/</a:t>
            </a:r>
            <a:r>
              <a:rPr lang="ko-KR" altLang="en-US" sz="1358" dirty="0">
                <a:solidFill>
                  <a:srgbClr val="5C5C5C"/>
                </a:solidFill>
                <a:latin typeface="에이투지체 4 Regular"/>
                <a:ea typeface="에이투지체 4 Regular"/>
                <a:cs typeface="에이투지체 4 Regular"/>
              </a:rPr>
              <a:t>라이브</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직후</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브랜드·제품</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검색</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대응</a:t>
            </a:r>
            <a:endParaRPr sz="1358" dirty="0">
              <a:solidFill>
                <a:srgbClr val="5C5C5C"/>
              </a:solidFill>
              <a:latin typeface="에이투지체 4 Regular"/>
              <a:ea typeface="에이투지체 4 Regular"/>
              <a:cs typeface="에이투지체 4 Regular"/>
            </a:endParaRPr>
          </a:p>
          <a:p>
            <a:pPr algn="l">
              <a:lnSpc>
                <a:spcPct val="150000"/>
              </a:lnSpc>
              <a:defRPr sz="1358">
                <a:solidFill>
                  <a:srgbClr val="5C5C5C"/>
                </a:solidFill>
                <a:latin typeface="에이투지체 4 Regular"/>
                <a:ea typeface="에이투지체 4 Regular"/>
                <a:cs typeface="에이투지체 4 Regular"/>
              </a:defRPr>
            </a:pPr>
            <a:r>
              <a:rPr lang="ko-KR" altLang="en-US" sz="1200" dirty="0">
                <a:solidFill>
                  <a:srgbClr val="5C5C5C"/>
                </a:solidFill>
                <a:latin typeface="에이투지체 4 Regular"/>
                <a:ea typeface="에이투지체 4 Regular"/>
                <a:cs typeface="에이투지체 4 Regular"/>
              </a:rPr>
              <a:t>트래픽 광고를 통해 브랜드 인지도 및 </a:t>
            </a:r>
            <a:r>
              <a:rPr lang="ko-KR" altLang="en-US" sz="1200" dirty="0" err="1">
                <a:solidFill>
                  <a:srgbClr val="5C5C5C"/>
                </a:solidFill>
                <a:latin typeface="에이투지체 4 Regular"/>
                <a:ea typeface="에이투지체 4 Regular"/>
                <a:cs typeface="에이투지체 4 Regular"/>
              </a:rPr>
              <a:t>리타겟</a:t>
            </a:r>
            <a:r>
              <a:rPr lang="ko-KR" altLang="en-US" sz="1200" dirty="0">
                <a:solidFill>
                  <a:srgbClr val="5C5C5C"/>
                </a:solidFill>
                <a:latin typeface="에이투지체 4 Regular"/>
                <a:ea typeface="에이투지체 4 Regular"/>
                <a:cs typeface="에이투지체 4 Regular"/>
              </a:rPr>
              <a:t> </a:t>
            </a:r>
            <a:r>
              <a:rPr lang="ko-KR" altLang="en-US" sz="1200" dirty="0" err="1">
                <a:solidFill>
                  <a:srgbClr val="5C5C5C"/>
                </a:solidFill>
                <a:latin typeface="에이투지체 4 Regular"/>
                <a:ea typeface="에이투지체 4 Regular"/>
                <a:cs typeface="에이투지체 4 Regular"/>
              </a:rPr>
              <a:t>모수</a:t>
            </a:r>
            <a:r>
              <a:rPr lang="ko-KR" altLang="en-US" sz="1200" dirty="0">
                <a:solidFill>
                  <a:srgbClr val="5C5C5C"/>
                </a:solidFill>
                <a:latin typeface="에이투지체 4 Regular"/>
                <a:ea typeface="에이투지체 4 Regular"/>
                <a:cs typeface="에이투지체 4 Regular"/>
              </a:rPr>
              <a:t> 확보</a:t>
            </a:r>
            <a:endParaRPr lang="en-US" altLang="ko-KR" sz="1200" dirty="0">
              <a:solidFill>
                <a:srgbClr val="5C5C5C"/>
              </a:solidFill>
              <a:latin typeface="에이투지체 4 Regular"/>
              <a:ea typeface="에이투지체 4 Regular"/>
              <a:cs typeface="에이투지체 4 Regular"/>
            </a:endParaRPr>
          </a:p>
          <a:p>
            <a:pPr algn="l">
              <a:lnSpc>
                <a:spcPct val="150000"/>
              </a:lnSpc>
              <a:defRPr sz="1358">
                <a:solidFill>
                  <a:srgbClr val="5C5C5C"/>
                </a:solidFill>
                <a:latin typeface="에이투지체 4 Regular"/>
                <a:ea typeface="에이투지체 4 Regular"/>
                <a:cs typeface="에이투지체 4 Regular"/>
              </a:defRPr>
            </a:pPr>
            <a:r>
              <a:rPr sz="1358" dirty="0" err="1">
                <a:solidFill>
                  <a:srgbClr val="5C5C5C"/>
                </a:solidFill>
                <a:latin typeface="에이투지체 4 Regular"/>
                <a:ea typeface="에이투지체 4 Regular"/>
                <a:cs typeface="에이투지체 4 Regular"/>
              </a:rPr>
              <a:t>상품·소재별</a:t>
            </a:r>
            <a:r>
              <a:rPr lang="en-US" sz="1358" dirty="0">
                <a:solidFill>
                  <a:srgbClr val="5C5C5C"/>
                </a:solidFill>
                <a:latin typeface="에이투지체 4 Regular"/>
                <a:ea typeface="에이투지체 4 Regular"/>
                <a:cs typeface="에이투지체 4 Regular"/>
              </a:rPr>
              <a:t> AB</a:t>
            </a:r>
            <a:r>
              <a:rPr lang="ko-KR" altLang="en-US" sz="1358" dirty="0">
                <a:solidFill>
                  <a:srgbClr val="5C5C5C"/>
                </a:solidFill>
                <a:latin typeface="에이투지체 4 Regular"/>
                <a:ea typeface="에이투지체 4 Regular"/>
                <a:cs typeface="에이투지체 4 Regular"/>
              </a:rPr>
              <a:t>테스트 진행</a:t>
            </a:r>
            <a:r>
              <a:rPr lang="en-US" altLang="ko-KR" sz="1358" dirty="0">
                <a:solidFill>
                  <a:srgbClr val="5C5C5C"/>
                </a:solidFill>
                <a:latin typeface="에이투지체 4 Regular"/>
                <a:ea typeface="에이투지체 4 Regular"/>
                <a:cs typeface="에이투지체 4 Regular"/>
              </a:rPr>
              <a:t>,</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구매</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성과</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검증</a:t>
            </a:r>
            <a:endParaRPr sz="1358" dirty="0">
              <a:solidFill>
                <a:srgbClr val="5C5C5C"/>
              </a:solidFill>
              <a:latin typeface="에이투지체 4 Regular"/>
              <a:ea typeface="에이투지체 4 Regular"/>
              <a:cs typeface="에이투지체 4 Regular"/>
            </a:endParaRPr>
          </a:p>
        </p:txBody>
      </p:sp>
      <p:sp>
        <p:nvSpPr>
          <p:cNvPr id="14" name="직선 연결선 13">
            <a:extLst>
              <a:ext uri="{FF2B5EF4-FFF2-40B4-BE49-F238E27FC236}">
                <a16:creationId xmlns:a16="http://schemas.microsoft.com/office/drawing/2014/main" id="{7C545CCB-7E13-45E0-9207-D7524DB1FCE2}"/>
              </a:ext>
            </a:extLst>
          </p:cNvPr>
          <p:cNvSpPr>
            <a:spLocks noGrp="1"/>
          </p:cNvSpPr>
          <p:nvPr/>
        </p:nvSpPr>
        <p:spPr>
          <a:xfrm>
            <a:off x="4362450" y="5067300"/>
            <a:ext cx="3448050" cy="0"/>
          </a:xfrm>
          <a:prstGeom prst="line">
            <a:avLst/>
          </a:prstGeom>
          <a:noFill/>
          <a:ln w="9525">
            <a:solidFill>
              <a:srgbClr val="D0D0D0"/>
            </a:solidFill>
          </a:ln>
        </p:spPr>
        <p:txBody>
          <a:bodyPr/>
          <a:lstStyle/>
          <a:p>
            <a:endParaRPr lang="ko-KR" altLang="en-US"/>
          </a:p>
        </p:txBody>
      </p:sp>
      <p:sp>
        <p:nvSpPr>
          <p:cNvPr id="15" name="text-367">
            <a:extLst>
              <a:ext uri="{FF2B5EF4-FFF2-40B4-BE49-F238E27FC236}">
                <a16:creationId xmlns:a16="http://schemas.microsoft.com/office/drawing/2014/main" id="{5D277239-FBFF-4135-A801-C25B9ABE0578}"/>
              </a:ext>
            </a:extLst>
          </p:cNvPr>
          <p:cNvSpPr>
            <a:spLocks noGrp="1"/>
          </p:cNvSpPr>
          <p:nvPr/>
        </p:nvSpPr>
        <p:spPr>
          <a:xfrm>
            <a:off x="4362450" y="5162550"/>
            <a:ext cx="3448050" cy="352425"/>
          </a:xfrm>
          <a:prstGeom prst="rect">
            <a:avLst/>
          </a:prstGeom>
          <a:noFill/>
          <a:ln w="0">
            <a:noFill/>
          </a:ln>
        </p:spPr>
        <p:txBody>
          <a:bodyPr wrap="square" lIns="0" tIns="0" rIns="0" bIns="0" anchor="ctr">
            <a:noAutofit/>
          </a:bodyPr>
          <a:lstStyle>
            <a:defPPr algn="l">
              <a:defRPr sz="1305">
                <a:solidFill>
                  <a:srgbClr val="004F9F"/>
                </a:solidFill>
                <a:latin typeface="에이투지체 6 SemiBold"/>
                <a:ea typeface="에이투지체 6 SemiBold"/>
                <a:cs typeface="에이투지체 6 SemiBold"/>
              </a:defRPr>
            </a:defPPr>
          </a:lstStyle>
          <a:p>
            <a:pPr algn="l">
              <a:defRPr sz="1305">
                <a:solidFill>
                  <a:srgbClr val="004F9F"/>
                </a:solidFill>
                <a:latin typeface="에이투지체 6 SemiBold"/>
                <a:ea typeface="에이투지체 6 SemiBold"/>
                <a:cs typeface="에이투지체 6 SemiBold"/>
              </a:defRPr>
            </a:pPr>
            <a:r>
              <a:rPr sz="1305" dirty="0" err="1">
                <a:solidFill>
                  <a:srgbClr val="004F9F"/>
                </a:solidFill>
                <a:latin typeface="에이투지체 6 SemiBold"/>
                <a:ea typeface="에이투지체 6 SemiBold"/>
                <a:cs typeface="에이투지체 6 SemiBold"/>
              </a:rPr>
              <a:t>브랜드</a:t>
            </a:r>
            <a:r>
              <a:rPr sz="1305" dirty="0">
                <a:solidFill>
                  <a:srgbClr val="004F9F"/>
                </a:solidFill>
                <a:latin typeface="에이투지체 6 SemiBold"/>
                <a:ea typeface="에이투지체 6 SemiBold"/>
                <a:cs typeface="에이투지체 6 SemiBold"/>
              </a:rPr>
              <a:t> </a:t>
            </a:r>
            <a:r>
              <a:rPr sz="1305" dirty="0" err="1">
                <a:solidFill>
                  <a:srgbClr val="004F9F"/>
                </a:solidFill>
                <a:latin typeface="에이투지체 6 SemiBold"/>
                <a:ea typeface="에이투지체 6 SemiBold"/>
                <a:cs typeface="에이투지체 6 SemiBold"/>
              </a:rPr>
              <a:t>검색·구매</a:t>
            </a:r>
            <a:r>
              <a:rPr sz="1305" dirty="0">
                <a:solidFill>
                  <a:srgbClr val="004F9F"/>
                </a:solidFill>
                <a:latin typeface="에이투지체 6 SemiBold"/>
                <a:ea typeface="에이투지체 6 SemiBold"/>
                <a:cs typeface="에이투지체 6 SemiBold"/>
              </a:rPr>
              <a:t> CPA·ROAS</a:t>
            </a:r>
          </a:p>
        </p:txBody>
      </p:sp>
      <p:sp>
        <p:nvSpPr>
          <p:cNvPr id="16" name="node-368">
            <a:extLst>
              <a:ext uri="{FF2B5EF4-FFF2-40B4-BE49-F238E27FC236}">
                <a16:creationId xmlns:a16="http://schemas.microsoft.com/office/drawing/2014/main" id="{181387BB-CC36-41C1-B1A9-FFBAE62AD43E}"/>
              </a:ext>
            </a:extLst>
          </p:cNvPr>
          <p:cNvSpPr>
            <a:spLocks noGrp="1"/>
          </p:cNvSpPr>
          <p:nvPr/>
        </p:nvSpPr>
        <p:spPr>
          <a:xfrm>
            <a:off x="8172450" y="2152650"/>
            <a:ext cx="3611880" cy="581025"/>
          </a:xfrm>
          <a:prstGeom prst="chevron">
            <a:avLst>
              <a:gd name="adj" fmla="val 30000"/>
            </a:avLst>
          </a:prstGeom>
          <a:solidFill>
            <a:srgbClr val="EAF2FB"/>
          </a:solidFill>
          <a:ln w="0">
            <a:noFill/>
          </a:ln>
        </p:spPr>
        <p:txBody>
          <a:bodyPr/>
          <a:lstStyle/>
          <a:p>
            <a:endParaRPr lang="ko-KR" altLang="en-US"/>
          </a:p>
        </p:txBody>
      </p:sp>
      <p:sp>
        <p:nvSpPr>
          <p:cNvPr id="17" name="text-369">
            <a:extLst>
              <a:ext uri="{FF2B5EF4-FFF2-40B4-BE49-F238E27FC236}">
                <a16:creationId xmlns:a16="http://schemas.microsoft.com/office/drawing/2014/main" id="{9860EDB2-BBFE-42D9-85A0-6BCCB20DBFE1}"/>
              </a:ext>
            </a:extLst>
          </p:cNvPr>
          <p:cNvSpPr>
            <a:spLocks noGrp="1"/>
          </p:cNvSpPr>
          <p:nvPr/>
        </p:nvSpPr>
        <p:spPr>
          <a:xfrm>
            <a:off x="8362950" y="2266950"/>
            <a:ext cx="3067050" cy="361950"/>
          </a:xfrm>
          <a:prstGeom prst="rect">
            <a:avLst/>
          </a:prstGeom>
          <a:noFill/>
          <a:ln w="0">
            <a:noFill/>
          </a:ln>
        </p:spPr>
        <p:txBody>
          <a:bodyPr wrap="square" lIns="0" tIns="0" rIns="0" bIns="0" anchor="ctr">
            <a:noAutofit/>
          </a:bodyPr>
          <a:lstStyle>
            <a:defPPr algn="l">
              <a:defRPr sz="1800">
                <a:solidFill>
                  <a:srgbClr val="004F9F"/>
                </a:solidFill>
                <a:latin typeface="에이투지체 6 SemiBold"/>
                <a:ea typeface="에이투지체 6 SemiBold"/>
                <a:cs typeface="에이투지체 6 SemiBold"/>
              </a:defRPr>
            </a:defPPr>
          </a:lstStyle>
          <a:p>
            <a:pPr algn="l">
              <a:defRPr sz="1800">
                <a:solidFill>
                  <a:srgbClr val="004F9F"/>
                </a:solidFill>
                <a:latin typeface="에이투지체 6 SemiBold"/>
                <a:ea typeface="에이투지체 6 SemiBold"/>
                <a:cs typeface="에이투지체 6 SemiBold"/>
              </a:defRPr>
            </a:pPr>
            <a:r>
              <a:rPr sz="1800">
                <a:solidFill>
                  <a:srgbClr val="004F9F"/>
                </a:solidFill>
                <a:latin typeface="에이투지체 6 SemiBold"/>
                <a:ea typeface="에이투지체 6 SemiBold"/>
                <a:cs typeface="에이투지체 6 SemiBold"/>
              </a:rPr>
              <a:t>1~2월 확장</a:t>
            </a:r>
          </a:p>
        </p:txBody>
      </p:sp>
      <p:sp>
        <p:nvSpPr>
          <p:cNvPr id="18" name="text-370">
            <a:extLst>
              <a:ext uri="{FF2B5EF4-FFF2-40B4-BE49-F238E27FC236}">
                <a16:creationId xmlns:a16="http://schemas.microsoft.com/office/drawing/2014/main" id="{579D47D7-DEF7-406F-80E0-04F17C2999C3}"/>
              </a:ext>
            </a:extLst>
          </p:cNvPr>
          <p:cNvSpPr>
            <a:spLocks noGrp="1"/>
          </p:cNvSpPr>
          <p:nvPr/>
        </p:nvSpPr>
        <p:spPr>
          <a:xfrm>
            <a:off x="8172450" y="2971800"/>
            <a:ext cx="3448050" cy="447675"/>
          </a:xfrm>
          <a:prstGeom prst="rect">
            <a:avLst/>
          </a:prstGeom>
          <a:noFill/>
          <a:ln w="0">
            <a:noFill/>
          </a:ln>
        </p:spPr>
        <p:txBody>
          <a:bodyPr wrap="square" lIns="0" tIns="0" rIns="0" bIns="0" anchor="ctr">
            <a:noAutofit/>
          </a:bodyPr>
          <a:lstStyle>
            <a:defPPr algn="l">
              <a:defRPr sz="1575">
                <a:solidFill>
                  <a:srgbClr val="222222"/>
                </a:solidFill>
                <a:latin typeface="에이투지체 6 SemiBold"/>
                <a:ea typeface="에이투지체 6 SemiBold"/>
                <a:cs typeface="에이투지체 6 SemiBold"/>
              </a:defRPr>
            </a:defPPr>
          </a:lstStyle>
          <a:p>
            <a:pPr algn="l">
              <a:defRPr sz="1575">
                <a:solidFill>
                  <a:srgbClr val="222222"/>
                </a:solidFill>
                <a:latin typeface="에이투지체 6 SemiBold"/>
                <a:ea typeface="에이투지체 6 SemiBold"/>
                <a:cs typeface="에이투지체 6 SemiBold"/>
              </a:defRPr>
            </a:pPr>
            <a:r>
              <a:rPr sz="1575" dirty="0" err="1">
                <a:solidFill>
                  <a:srgbClr val="222222"/>
                </a:solidFill>
                <a:latin typeface="에이투지체 6 SemiBold"/>
                <a:ea typeface="에이투지체 6 SemiBold"/>
                <a:cs typeface="에이투지체 6 SemiBold"/>
              </a:rPr>
              <a:t>후기</a:t>
            </a:r>
            <a:r>
              <a:rPr sz="1575" dirty="0">
                <a:solidFill>
                  <a:srgbClr val="222222"/>
                </a:solidFill>
                <a:latin typeface="에이투지체 6 SemiBold"/>
                <a:ea typeface="에이투지체 6 SemiBold"/>
                <a:cs typeface="에이투지체 6 SemiBold"/>
              </a:rPr>
              <a:t> </a:t>
            </a:r>
            <a:r>
              <a:rPr sz="1575" dirty="0" err="1">
                <a:solidFill>
                  <a:srgbClr val="222222"/>
                </a:solidFill>
                <a:latin typeface="에이투지체 6 SemiBold"/>
                <a:ea typeface="에이투지체 6 SemiBold"/>
                <a:cs typeface="에이투지체 6 SemiBold"/>
              </a:rPr>
              <a:t>축적과</a:t>
            </a:r>
            <a:r>
              <a:rPr sz="1575" dirty="0">
                <a:solidFill>
                  <a:srgbClr val="222222"/>
                </a:solidFill>
                <a:latin typeface="에이투지체 6 SemiBold"/>
                <a:ea typeface="에이투지체 6 SemiBold"/>
                <a:cs typeface="에이투지체 6 SemiBold"/>
              </a:rPr>
              <a:t> </a:t>
            </a:r>
            <a:r>
              <a:rPr sz="1575" dirty="0" err="1">
                <a:solidFill>
                  <a:srgbClr val="222222"/>
                </a:solidFill>
                <a:latin typeface="에이투지체 6 SemiBold"/>
                <a:ea typeface="에이투지체 6 SemiBold"/>
                <a:cs typeface="에이투지체 6 SemiBold"/>
              </a:rPr>
              <a:t>재구매</a:t>
            </a:r>
            <a:r>
              <a:rPr sz="1575" dirty="0">
                <a:solidFill>
                  <a:srgbClr val="222222"/>
                </a:solidFill>
                <a:latin typeface="에이투지체 6 SemiBold"/>
                <a:ea typeface="에이투지체 6 SemiBold"/>
                <a:cs typeface="에이투지체 6 SemiBold"/>
              </a:rPr>
              <a:t> </a:t>
            </a:r>
            <a:r>
              <a:rPr lang="ko-KR" altLang="en-US" sz="1575" dirty="0">
                <a:solidFill>
                  <a:srgbClr val="222222"/>
                </a:solidFill>
                <a:latin typeface="에이투지체 6 SemiBold"/>
                <a:ea typeface="에이투지체 6 SemiBold"/>
                <a:cs typeface="에이투지체 6 SemiBold"/>
              </a:rPr>
              <a:t>유도</a:t>
            </a:r>
            <a:endParaRPr sz="1575" dirty="0">
              <a:solidFill>
                <a:srgbClr val="222222"/>
              </a:solidFill>
              <a:latin typeface="에이투지체 6 SemiBold"/>
              <a:ea typeface="에이투지체 6 SemiBold"/>
              <a:cs typeface="에이투지체 6 SemiBold"/>
            </a:endParaRPr>
          </a:p>
        </p:txBody>
      </p:sp>
      <p:sp>
        <p:nvSpPr>
          <p:cNvPr id="19" name="text-371">
            <a:extLst>
              <a:ext uri="{FF2B5EF4-FFF2-40B4-BE49-F238E27FC236}">
                <a16:creationId xmlns:a16="http://schemas.microsoft.com/office/drawing/2014/main" id="{DDDEB534-C065-4E9E-9C6C-BE9876A87AAD}"/>
              </a:ext>
            </a:extLst>
          </p:cNvPr>
          <p:cNvSpPr>
            <a:spLocks noGrp="1"/>
          </p:cNvSpPr>
          <p:nvPr/>
        </p:nvSpPr>
        <p:spPr>
          <a:xfrm>
            <a:off x="8172450" y="3558404"/>
            <a:ext cx="3448050" cy="1200150"/>
          </a:xfrm>
          <a:prstGeom prst="rect">
            <a:avLst/>
          </a:prstGeom>
          <a:noFill/>
          <a:ln w="0">
            <a:noFill/>
          </a:ln>
        </p:spPr>
        <p:txBody>
          <a:bodyPr wrap="square" lIns="0" tIns="0" rIns="0" bIns="0" anchor="ctr">
            <a:noAutofit/>
          </a:bodyPr>
          <a:lstStyle>
            <a:defPPr algn="l">
              <a:defRPr sz="1358">
                <a:solidFill>
                  <a:srgbClr val="5C5C5C"/>
                </a:solidFill>
                <a:latin typeface="에이투지체 4 Regular"/>
                <a:ea typeface="에이투지체 4 Regular"/>
                <a:cs typeface="에이투지체 4 Regular"/>
              </a:defRPr>
            </a:defPPr>
          </a:lstStyle>
          <a:p>
            <a:pPr algn="l">
              <a:lnSpc>
                <a:spcPct val="150000"/>
              </a:lnSpc>
              <a:defRPr sz="1358">
                <a:solidFill>
                  <a:srgbClr val="5C5C5C"/>
                </a:solidFill>
                <a:latin typeface="에이투지체 4 Regular"/>
                <a:ea typeface="에이투지체 4 Regular"/>
                <a:cs typeface="에이투지체 4 Regular"/>
              </a:defRPr>
            </a:pPr>
            <a:r>
              <a:rPr sz="1358" dirty="0" err="1">
                <a:solidFill>
                  <a:srgbClr val="5C5C5C"/>
                </a:solidFill>
                <a:latin typeface="에이투지체 4 Regular"/>
                <a:ea typeface="에이투지체 4 Regular"/>
                <a:cs typeface="에이투지체 4 Regular"/>
              </a:rPr>
              <a:t>구매</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고객의</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실제</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후기</a:t>
            </a:r>
            <a:r>
              <a:rPr sz="1358" dirty="0">
                <a:solidFill>
                  <a:srgbClr val="5C5C5C"/>
                </a:solidFill>
                <a:latin typeface="에이투지체 4 Regular"/>
                <a:ea typeface="에이투지체 4 Regular"/>
                <a:cs typeface="에이투지체 4 Regular"/>
              </a:rPr>
              <a:t> </a:t>
            </a:r>
            <a:r>
              <a:rPr lang="ko-KR" altLang="en-US" sz="1358" dirty="0">
                <a:solidFill>
                  <a:srgbClr val="5C5C5C"/>
                </a:solidFill>
                <a:latin typeface="에이투지체 4 Regular"/>
                <a:ea typeface="에이투지체 4 Regular"/>
                <a:cs typeface="에이투지체 4 Regular"/>
              </a:rPr>
              <a:t>광고 </a:t>
            </a:r>
            <a:r>
              <a:rPr sz="1358" dirty="0" err="1">
                <a:solidFill>
                  <a:srgbClr val="5C5C5C"/>
                </a:solidFill>
                <a:latin typeface="에이투지체 4 Regular"/>
                <a:ea typeface="에이투지체 4 Regular"/>
                <a:cs typeface="에이투지체 4 Regular"/>
              </a:rPr>
              <a:t>반영</a:t>
            </a:r>
            <a:endParaRPr sz="1358" dirty="0">
              <a:solidFill>
                <a:srgbClr val="5C5C5C"/>
              </a:solidFill>
              <a:latin typeface="에이투지체 4 Regular"/>
              <a:ea typeface="에이투지체 4 Regular"/>
              <a:cs typeface="에이투지체 4 Regular"/>
            </a:endParaRPr>
          </a:p>
          <a:p>
            <a:pPr algn="l">
              <a:lnSpc>
                <a:spcPct val="150000"/>
              </a:lnSpc>
              <a:defRPr sz="1358">
                <a:solidFill>
                  <a:srgbClr val="5C5C5C"/>
                </a:solidFill>
                <a:latin typeface="에이투지체 4 Regular"/>
                <a:ea typeface="에이투지체 4 Regular"/>
                <a:cs typeface="에이투지체 4 Regular"/>
              </a:defRPr>
            </a:pPr>
            <a:r>
              <a:rPr sz="1358" dirty="0" err="1">
                <a:solidFill>
                  <a:srgbClr val="5C5C5C"/>
                </a:solidFill>
                <a:latin typeface="에이투지체 4 Regular"/>
                <a:ea typeface="에이투지체 4 Regular"/>
                <a:cs typeface="에이투지체 4 Regular"/>
              </a:rPr>
              <a:t>설명형·공감형</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소재</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개선</a:t>
            </a:r>
            <a:endParaRPr lang="en-US" sz="1358" dirty="0">
              <a:solidFill>
                <a:srgbClr val="5C5C5C"/>
              </a:solidFill>
              <a:latin typeface="에이투지체 4 Regular"/>
              <a:ea typeface="에이투지체 4 Regular"/>
              <a:cs typeface="에이투지체 4 Regular"/>
            </a:endParaRPr>
          </a:p>
          <a:p>
            <a:pPr algn="l">
              <a:lnSpc>
                <a:spcPct val="150000"/>
              </a:lnSpc>
              <a:defRPr sz="1358">
                <a:solidFill>
                  <a:srgbClr val="5C5C5C"/>
                </a:solidFill>
                <a:latin typeface="에이투지체 4 Regular"/>
                <a:ea typeface="에이투지체 4 Regular"/>
                <a:cs typeface="에이투지체 4 Regular"/>
              </a:defRPr>
            </a:pPr>
            <a:r>
              <a:rPr lang="ko-KR" altLang="en-US" sz="1358" dirty="0" err="1">
                <a:solidFill>
                  <a:srgbClr val="5C5C5C"/>
                </a:solidFill>
                <a:latin typeface="에이투지체 4 Regular"/>
                <a:ea typeface="에이투지체 4 Regular"/>
                <a:cs typeface="에이투지체 4 Regular"/>
              </a:rPr>
              <a:t>리타겟</a:t>
            </a:r>
            <a:r>
              <a:rPr lang="ko-KR" altLang="en-US" sz="1358" dirty="0">
                <a:solidFill>
                  <a:srgbClr val="5C5C5C"/>
                </a:solidFill>
                <a:latin typeface="에이투지체 4 Regular"/>
                <a:ea typeface="에이투지체 4 Regular"/>
                <a:cs typeface="에이투지체 4 Regular"/>
              </a:rPr>
              <a:t> 광고를 통해 재구매 유도</a:t>
            </a:r>
            <a:endParaRPr lang="en-US" sz="1358" dirty="0">
              <a:solidFill>
                <a:srgbClr val="5C5C5C"/>
              </a:solidFill>
              <a:latin typeface="에이투지체 4 Regular"/>
              <a:ea typeface="에이투지체 4 Regular"/>
              <a:cs typeface="에이투지체 4 Regular"/>
            </a:endParaRPr>
          </a:p>
          <a:p>
            <a:pPr algn="l">
              <a:lnSpc>
                <a:spcPct val="150000"/>
              </a:lnSpc>
              <a:defRPr sz="1358">
                <a:solidFill>
                  <a:srgbClr val="5C5C5C"/>
                </a:solidFill>
                <a:latin typeface="에이투지체 4 Regular"/>
                <a:ea typeface="에이투지체 4 Regular"/>
                <a:cs typeface="에이투지체 4 Regular"/>
              </a:defRPr>
            </a:pPr>
            <a:r>
              <a:rPr lang="ko-KR" altLang="en-US" sz="1358" dirty="0">
                <a:solidFill>
                  <a:srgbClr val="5C5C5C"/>
                </a:solidFill>
                <a:latin typeface="에이투지체 4 Regular"/>
                <a:ea typeface="에이투지체 4 Regular"/>
                <a:cs typeface="에이투지체 4 Regular"/>
              </a:rPr>
              <a:t>주요 </a:t>
            </a:r>
            <a:r>
              <a:rPr sz="1358" dirty="0" err="1">
                <a:solidFill>
                  <a:srgbClr val="5C5C5C"/>
                </a:solidFill>
                <a:latin typeface="에이투지체 4 Regular"/>
                <a:ea typeface="에이투지체 4 Regular"/>
                <a:cs typeface="에이투지체 4 Regular"/>
              </a:rPr>
              <a:t>매체</a:t>
            </a:r>
            <a:r>
              <a:rPr lang="en-US" sz="1358" dirty="0">
                <a:solidFill>
                  <a:srgbClr val="5C5C5C"/>
                </a:solidFill>
                <a:latin typeface="에이투지체 4 Regular"/>
                <a:ea typeface="에이투지체 4 Regular"/>
                <a:cs typeface="에이투지체 4 Regular"/>
              </a:rPr>
              <a:t> </a:t>
            </a:r>
            <a:r>
              <a:rPr lang="ko-KR" altLang="en-US" sz="1358" dirty="0">
                <a:solidFill>
                  <a:srgbClr val="5C5C5C"/>
                </a:solidFill>
                <a:latin typeface="에이투지체 4 Regular"/>
                <a:ea typeface="에이투지체 4 Regular"/>
                <a:cs typeface="에이투지체 4 Regular"/>
              </a:rPr>
              <a:t>선정</a:t>
            </a:r>
            <a:r>
              <a:rPr lang="en-US" altLang="ko-KR" sz="1358" dirty="0">
                <a:solidFill>
                  <a:srgbClr val="5C5C5C"/>
                </a:solidFill>
                <a:latin typeface="에이투지체 4 Regular"/>
                <a:ea typeface="에이투지체 4 Regular"/>
                <a:cs typeface="에이투지체 4 Regular"/>
              </a:rPr>
              <a:t>, </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상품</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구성</a:t>
            </a:r>
            <a:r>
              <a:rPr sz="1358" dirty="0">
                <a:solidFill>
                  <a:srgbClr val="5C5C5C"/>
                </a:solidFill>
                <a:latin typeface="에이투지체 4 Regular"/>
                <a:ea typeface="에이투지체 4 Regular"/>
                <a:cs typeface="에이투지체 4 Regular"/>
              </a:rPr>
              <a:t> </a:t>
            </a:r>
            <a:r>
              <a:rPr sz="1358" dirty="0" err="1">
                <a:solidFill>
                  <a:srgbClr val="5C5C5C"/>
                </a:solidFill>
                <a:latin typeface="에이투지체 4 Regular"/>
                <a:ea typeface="에이투지체 4 Regular"/>
                <a:cs typeface="에이투지체 4 Regular"/>
              </a:rPr>
              <a:t>확대</a:t>
            </a:r>
            <a:endParaRPr sz="1358" dirty="0">
              <a:solidFill>
                <a:srgbClr val="5C5C5C"/>
              </a:solidFill>
              <a:latin typeface="에이투지체 4 Regular"/>
              <a:ea typeface="에이투지체 4 Regular"/>
              <a:cs typeface="에이투지체 4 Regular"/>
            </a:endParaRPr>
          </a:p>
        </p:txBody>
      </p:sp>
      <p:sp>
        <p:nvSpPr>
          <p:cNvPr id="20" name="직선 연결선 19">
            <a:extLst>
              <a:ext uri="{FF2B5EF4-FFF2-40B4-BE49-F238E27FC236}">
                <a16:creationId xmlns:a16="http://schemas.microsoft.com/office/drawing/2014/main" id="{2FCB4677-7E34-48F5-AD65-3E8A0FC73892}"/>
              </a:ext>
            </a:extLst>
          </p:cNvPr>
          <p:cNvSpPr>
            <a:spLocks noGrp="1"/>
          </p:cNvSpPr>
          <p:nvPr/>
        </p:nvSpPr>
        <p:spPr>
          <a:xfrm>
            <a:off x="8172450" y="5067300"/>
            <a:ext cx="3448050" cy="0"/>
          </a:xfrm>
          <a:prstGeom prst="line">
            <a:avLst/>
          </a:prstGeom>
          <a:noFill/>
          <a:ln w="9525">
            <a:solidFill>
              <a:srgbClr val="D0D0D0"/>
            </a:solidFill>
          </a:ln>
        </p:spPr>
        <p:txBody>
          <a:bodyPr/>
          <a:lstStyle/>
          <a:p>
            <a:endParaRPr lang="ko-KR" altLang="en-US"/>
          </a:p>
        </p:txBody>
      </p:sp>
      <p:sp>
        <p:nvSpPr>
          <p:cNvPr id="21" name="text-372">
            <a:extLst>
              <a:ext uri="{FF2B5EF4-FFF2-40B4-BE49-F238E27FC236}">
                <a16:creationId xmlns:a16="http://schemas.microsoft.com/office/drawing/2014/main" id="{5781BA34-21E9-48F0-9DE1-70E719C09086}"/>
              </a:ext>
            </a:extLst>
          </p:cNvPr>
          <p:cNvSpPr>
            <a:spLocks noGrp="1"/>
          </p:cNvSpPr>
          <p:nvPr/>
        </p:nvSpPr>
        <p:spPr>
          <a:xfrm>
            <a:off x="8172450" y="5162550"/>
            <a:ext cx="3448050" cy="352425"/>
          </a:xfrm>
          <a:prstGeom prst="rect">
            <a:avLst/>
          </a:prstGeom>
          <a:noFill/>
          <a:ln w="0">
            <a:noFill/>
          </a:ln>
        </p:spPr>
        <p:txBody>
          <a:bodyPr wrap="square" lIns="0" tIns="0" rIns="0" bIns="0" anchor="ctr">
            <a:noAutofit/>
          </a:bodyPr>
          <a:lstStyle>
            <a:defPPr algn="l">
              <a:defRPr sz="1305">
                <a:solidFill>
                  <a:srgbClr val="004F9F"/>
                </a:solidFill>
                <a:latin typeface="에이투지체 6 SemiBold"/>
                <a:ea typeface="에이투지체 6 SemiBold"/>
                <a:cs typeface="에이투지체 6 SemiBold"/>
              </a:defRPr>
            </a:defPPr>
          </a:lstStyle>
          <a:p>
            <a:pPr algn="l">
              <a:defRPr sz="1305">
                <a:solidFill>
                  <a:srgbClr val="004F9F"/>
                </a:solidFill>
                <a:latin typeface="에이투지체 6 SemiBold"/>
                <a:ea typeface="에이투지체 6 SemiBold"/>
                <a:cs typeface="에이투지체 6 SemiBold"/>
              </a:defRPr>
            </a:pPr>
            <a:r>
              <a:rPr sz="1305">
                <a:solidFill>
                  <a:srgbClr val="004F9F"/>
                </a:solidFill>
                <a:latin typeface="에이투지체 6 SemiBold"/>
                <a:ea typeface="에이투지체 6 SemiBold"/>
                <a:cs typeface="에이투지체 6 SemiBold"/>
              </a:rPr>
              <a:t>후기 수·재구매 매출</a:t>
            </a:r>
          </a:p>
        </p:txBody>
      </p:sp>
      <p:sp>
        <p:nvSpPr>
          <p:cNvPr id="22" name="node-373">
            <a:extLst>
              <a:ext uri="{FF2B5EF4-FFF2-40B4-BE49-F238E27FC236}">
                <a16:creationId xmlns:a16="http://schemas.microsoft.com/office/drawing/2014/main" id="{67F18D8B-A4DE-470C-A65A-23D1E54F78A9}"/>
              </a:ext>
            </a:extLst>
          </p:cNvPr>
          <p:cNvSpPr>
            <a:spLocks noGrp="1"/>
          </p:cNvSpPr>
          <p:nvPr/>
        </p:nvSpPr>
        <p:spPr>
          <a:xfrm>
            <a:off x="548640" y="5581650"/>
            <a:ext cx="11064240" cy="438150"/>
          </a:xfrm>
          <a:prstGeom prst="roundRect">
            <a:avLst>
              <a:gd name="adj" fmla="val 16695"/>
            </a:avLst>
          </a:prstGeom>
          <a:solidFill>
            <a:srgbClr val="EAF2FB"/>
          </a:solidFill>
          <a:ln w="9525">
            <a:solidFill>
              <a:srgbClr val="004F9F"/>
            </a:solidFill>
          </a:ln>
        </p:spPr>
        <p:txBody>
          <a:bodyPr/>
          <a:lstStyle/>
          <a:p>
            <a:endParaRPr lang="ko-KR" altLang="en-US" dirty="0"/>
          </a:p>
        </p:txBody>
      </p:sp>
      <p:sp>
        <p:nvSpPr>
          <p:cNvPr id="23" name="text-374">
            <a:extLst>
              <a:ext uri="{FF2B5EF4-FFF2-40B4-BE49-F238E27FC236}">
                <a16:creationId xmlns:a16="http://schemas.microsoft.com/office/drawing/2014/main" id="{EAF1AEEC-FF25-4649-AAF9-F3867478D8D1}"/>
              </a:ext>
            </a:extLst>
          </p:cNvPr>
          <p:cNvSpPr>
            <a:spLocks noGrp="1"/>
          </p:cNvSpPr>
          <p:nvPr/>
        </p:nvSpPr>
        <p:spPr>
          <a:xfrm>
            <a:off x="742950" y="5629275"/>
            <a:ext cx="10668000" cy="342900"/>
          </a:xfrm>
          <a:prstGeom prst="rect">
            <a:avLst/>
          </a:prstGeom>
          <a:noFill/>
          <a:ln w="0">
            <a:noFill/>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lang="ko-KR" altLang="en-US" sz="1300" dirty="0">
                <a:solidFill>
                  <a:srgbClr val="004F9F"/>
                </a:solidFill>
                <a:latin typeface="에이투지체 6 SemiBold"/>
                <a:ea typeface="에이투지체 6 SemiBold"/>
                <a:cs typeface="에이투지체 6 SemiBold"/>
              </a:rPr>
              <a:t>상품 런칭 전 미리 광고 소재를 준비하고</a:t>
            </a:r>
            <a:r>
              <a:rPr lang="en-US" altLang="ko-KR" sz="1300" dirty="0">
                <a:solidFill>
                  <a:srgbClr val="004F9F"/>
                </a:solidFill>
                <a:latin typeface="에이투지체 6 SemiBold"/>
                <a:ea typeface="에이투지체 6 SemiBold"/>
                <a:cs typeface="에이투지체 6 SemiBold"/>
              </a:rPr>
              <a:t>, </a:t>
            </a:r>
            <a:r>
              <a:rPr lang="ko-KR" altLang="en-US" sz="1300" dirty="0">
                <a:solidFill>
                  <a:srgbClr val="004F9F"/>
                </a:solidFill>
                <a:latin typeface="에이투지체 6 SemiBold"/>
                <a:ea typeface="에이투지체 6 SemiBold"/>
                <a:cs typeface="에이투지체 6 SemiBold"/>
              </a:rPr>
              <a:t>지속적인 </a:t>
            </a:r>
            <a:r>
              <a:rPr lang="en-US" altLang="ko-KR" sz="1300" dirty="0">
                <a:solidFill>
                  <a:srgbClr val="004F9F"/>
                </a:solidFill>
                <a:latin typeface="에이투지체 6 SemiBold"/>
                <a:ea typeface="에이투지체 6 SemiBold"/>
                <a:cs typeface="에이투지체 6 SemiBold"/>
              </a:rPr>
              <a:t>AB</a:t>
            </a:r>
            <a:r>
              <a:rPr lang="ko-KR" altLang="en-US" sz="1300" dirty="0">
                <a:solidFill>
                  <a:srgbClr val="004F9F"/>
                </a:solidFill>
                <a:latin typeface="에이투지체 6 SemiBold"/>
                <a:ea typeface="에이투지체 6 SemiBold"/>
                <a:cs typeface="에이투지체 6 SemiBold"/>
              </a:rPr>
              <a:t>테스트를 통해 고성과 소재를 발굴합니다</a:t>
            </a:r>
            <a:r>
              <a:rPr lang="en-US" altLang="ko-KR" sz="1300" dirty="0">
                <a:solidFill>
                  <a:srgbClr val="004F9F"/>
                </a:solidFill>
                <a:latin typeface="에이투지체 6 SemiBold"/>
                <a:ea typeface="에이투지체 6 SemiBold"/>
                <a:cs typeface="에이투지체 6 SemiBold"/>
              </a:rPr>
              <a:t>. </a:t>
            </a:r>
            <a:r>
              <a:rPr lang="ko-KR" altLang="en-US" sz="1300" dirty="0">
                <a:solidFill>
                  <a:srgbClr val="004F9F"/>
                </a:solidFill>
                <a:latin typeface="에이투지체 6 SemiBold"/>
                <a:ea typeface="에이투지체 6 SemiBold"/>
                <a:cs typeface="에이투지체 6 SemiBold"/>
              </a:rPr>
              <a:t>이후 재구매까지 이어지는 선순환 구조를 구축합니다</a:t>
            </a:r>
            <a:r>
              <a:rPr lang="en-US" altLang="ko-KR" sz="1300" dirty="0">
                <a:solidFill>
                  <a:srgbClr val="004F9F"/>
                </a:solidFill>
                <a:latin typeface="에이투지체 6 SemiBold"/>
                <a:ea typeface="에이투지체 6 SemiBold"/>
                <a:cs typeface="에이투지체 6 SemiBold"/>
              </a:rPr>
              <a:t>.</a:t>
            </a:r>
            <a:endParaRPr sz="1300" dirty="0">
              <a:solidFill>
                <a:srgbClr val="FFFFFF"/>
              </a:solidFill>
              <a:latin typeface="에이투지체 6 SemiBold"/>
              <a:ea typeface="에이투지체 6 SemiBold"/>
              <a:cs typeface="에이투지체 6 SemiBold"/>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0A2F5C"/>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B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737360"/>
            <a:ext cx="5486400" cy="548640"/>
          </a:xfrm>
          <a:prstGeom prst="rect">
            <a:avLst/>
          </a:prstGeom>
          <a:noFill/>
        </p:spPr>
        <p:txBody>
          <a:bodyPr wrap="square" lIns="0" tIns="0" rIns="0" bIns="0" anchor="t">
            <a:spAutoFit/>
          </a:bodyPr>
          <a:lstStyle/>
          <a:p>
            <a:pPr algn="l"/>
            <a:r>
              <a:rPr sz="1600">
                <a:solidFill>
                  <a:srgbClr val="6FB0E8"/>
                </a:solidFill>
                <a:latin typeface="에이투지체 6 SemiBold"/>
              </a:rPr>
              <a:t>PART 5</a:t>
            </a:r>
          </a:p>
        </p:txBody>
      </p:sp>
      <p:sp>
        <p:nvSpPr>
          <p:cNvPr id="4" name="TextBox 3"/>
          <p:cNvSpPr txBox="1"/>
          <p:nvPr/>
        </p:nvSpPr>
        <p:spPr>
          <a:xfrm>
            <a:off x="548640" y="2286000"/>
            <a:ext cx="11064240" cy="914400"/>
          </a:xfrm>
          <a:prstGeom prst="rect">
            <a:avLst/>
          </a:prstGeom>
          <a:noFill/>
        </p:spPr>
        <p:txBody>
          <a:bodyPr wrap="square" lIns="0" tIns="0" rIns="0" bIns="0" anchor="t">
            <a:spAutoFit/>
          </a:bodyPr>
          <a:lstStyle/>
          <a:p>
            <a:pPr algn="l"/>
            <a:r>
              <a:rPr sz="4000">
                <a:solidFill>
                  <a:srgbClr val="FFFFFF"/>
                </a:solidFill>
                <a:latin typeface="에이투지체 8 ExtraBold"/>
              </a:rPr>
              <a:t>Media Mix</a:t>
            </a:r>
          </a:p>
        </p:txBody>
      </p:sp>
      <p:sp>
        <p:nvSpPr>
          <p:cNvPr id="5" name="TextBox 4"/>
          <p:cNvSpPr txBox="1"/>
          <p:nvPr/>
        </p:nvSpPr>
        <p:spPr>
          <a:xfrm>
            <a:off x="548640" y="3310128"/>
            <a:ext cx="11064240" cy="548640"/>
          </a:xfrm>
          <a:prstGeom prst="rect">
            <a:avLst/>
          </a:prstGeom>
          <a:noFill/>
        </p:spPr>
        <p:txBody>
          <a:bodyPr wrap="square" lIns="0" tIns="0" rIns="0" bIns="0" anchor="t">
            <a:spAutoFit/>
          </a:bodyPr>
          <a:lstStyle/>
          <a:p>
            <a:pPr algn="l"/>
            <a:r>
              <a:rPr sz="1800">
                <a:solidFill>
                  <a:srgbClr val="FFFFFF"/>
                </a:solidFill>
                <a:latin typeface="에이투지체 6 SemiBold"/>
              </a:rPr>
              <a:t>3억 통합 미디어믹스</a:t>
            </a:r>
          </a:p>
        </p:txBody>
      </p:sp>
      <p:sp>
        <p:nvSpPr>
          <p:cNvPr id="6" name="TextBox 5"/>
          <p:cNvSpPr txBox="1"/>
          <p:nvPr/>
        </p:nvSpPr>
        <p:spPr>
          <a:xfrm>
            <a:off x="548640" y="3931920"/>
            <a:ext cx="11064240" cy="457200"/>
          </a:xfrm>
          <a:prstGeom prst="rect">
            <a:avLst/>
          </a:prstGeom>
          <a:noFill/>
        </p:spPr>
        <p:txBody>
          <a:bodyPr wrap="square" lIns="0" tIns="0" rIns="0" bIns="0" anchor="t">
            <a:spAutoFit/>
          </a:bodyPr>
          <a:lstStyle/>
          <a:p>
            <a:pPr algn="l"/>
            <a:r>
              <a:rPr sz="1200">
                <a:solidFill>
                  <a:srgbClr val="9FBBDD"/>
                </a:solidFill>
                <a:latin typeface="에이투지체 5 Medium"/>
              </a:rPr>
              <a:t>11월과 12월 매체별 예산, KPI 기준</a:t>
            </a:r>
          </a:p>
        </p:txBody>
      </p:sp>
      <p:sp>
        <p:nvSpPr>
          <p:cNvPr id="7" name="TextBox 6"/>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FBBDD"/>
                </a:solidFill>
                <a:latin typeface="에이투지체 3 Light"/>
              </a:rPr>
              <a:t>DODREAM B&amp;B AD PROPOSAL · 2026</a:t>
            </a:r>
          </a:p>
        </p:txBody>
      </p:sp>
      <p:sp>
        <p:nvSpPr>
          <p:cNvPr id="8" name="TextBox 7"/>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FBBDD"/>
                </a:solidFill>
                <a:latin typeface="에이투지체 3 Light"/>
              </a:rPr>
              <a:t>LINKPRICE · BRAND AD CENTER</a:t>
            </a:r>
          </a:p>
        </p:txBody>
      </p:sp>
      <p:sp>
        <p:nvSpPr>
          <p:cNvPr id="9" name="PGNO"/>
          <p:cNvSpPr txBox="1"/>
          <p:nvPr/>
        </p:nvSpPr>
        <p:spPr>
          <a:xfrm>
            <a:off x="11292840" y="6473952"/>
            <a:ext cx="365760" cy="123111"/>
          </a:xfrm>
          <a:prstGeom prst="rect">
            <a:avLst/>
          </a:prstGeom>
          <a:noFill/>
        </p:spPr>
        <p:txBody>
          <a:bodyPr wrap="square" lIns="0" tIns="0" rIns="0" bIns="0" anchor="t">
            <a:spAutoFit/>
          </a:bodyPr>
          <a:lstStyle/>
          <a:p>
            <a:pPr algn="r"/>
            <a:r>
              <a:rPr lang="en-US" sz="800" dirty="0">
                <a:solidFill>
                  <a:srgbClr val="FFFFFF"/>
                </a:solidFill>
                <a:latin typeface="에이투지체 6 SemiBold"/>
              </a:rPr>
              <a:t>74</a:t>
            </a:r>
            <a:endParaRPr sz="800" dirty="0">
              <a:solidFill>
                <a:srgbClr val="FFFFFF"/>
              </a:solidFill>
              <a:latin typeface="에이투지체 6 SemiBold"/>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5 · 3억 통합 미디어믹스</a:t>
            </a:r>
            <a:endParaRPr lang="ko-KR" sz="900" dirty="0"/>
          </a:p>
        </p:txBody>
      </p:sp>
      <p:sp>
        <p:nvSpPr>
          <p:cNvPr id="4"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5"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6" name="PGNO"/>
          <p:cNvSpPr txBox="1"/>
          <p:nvPr/>
        </p:nvSpPr>
        <p:spPr>
          <a:xfrm>
            <a:off x="11125200" y="6473952"/>
            <a:ext cx="533400" cy="123111"/>
          </a:xfrm>
          <a:prstGeom prst="rect">
            <a:avLst/>
          </a:prstGeom>
          <a:noFill/>
        </p:spPr>
        <p:txBody>
          <a:bodyPr wrap="square" lIns="0" tIns="0" rIns="0" bIns="0" anchor="t">
            <a:spAutoFit/>
          </a:bodyPr>
          <a:lstStyle/>
          <a:p>
            <a:pPr algn="r"/>
            <a:r>
              <a:rPr lang="en-US" sz="800" dirty="0">
                <a:solidFill>
                  <a:srgbClr val="222222"/>
                </a:solidFill>
                <a:latin typeface="에이투지체 6 SemiBold"/>
              </a:rPr>
              <a:t>75</a:t>
            </a:r>
            <a:endParaRPr sz="800" dirty="0">
              <a:solidFill>
                <a:srgbClr val="222222"/>
              </a:solidFill>
              <a:latin typeface="에이투지체 6 SemiBold"/>
            </a:endParaRPr>
          </a:p>
        </p:txBody>
      </p:sp>
      <p:sp>
        <p:nvSpPr>
          <p:cNvPr id="7" name="slide-title">
            <a:extLst>
              <a:ext uri="{FF2B5EF4-FFF2-40B4-BE49-F238E27FC236}">
                <a16:creationId xmlns:a16="http://schemas.microsoft.com/office/drawing/2014/main" id="{CB593182-9C9B-474D-AF5A-B81E539C78E3}"/>
              </a:ext>
            </a:extLst>
          </p:cNvPr>
          <p:cNvSpPr>
            <a:spLocks noGrp="1"/>
          </p:cNvSpPr>
          <p:nvPr/>
        </p:nvSpPr>
        <p:spPr>
          <a:xfrm>
            <a:off x="548640" y="658368"/>
            <a:ext cx="11064240" cy="868680"/>
          </a:xfrm>
          <a:prstGeom prst="rect">
            <a:avLst/>
          </a:prstGeom>
          <a:noFill/>
          <a:ln w="0">
            <a:noFill/>
            <a:prstDash val="solid"/>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3억 통합 미디어믹스 1안</a:t>
            </a:r>
            <a:r>
              <a:rPr lang="ko-KR" sz="1900" dirty="0">
                <a:solidFill>
                  <a:srgbClr val="222222"/>
                </a:solidFill>
                <a:latin typeface="에이투지체 8 ExtraBold"/>
                <a:ea typeface="에이투지체 8 ExtraBold"/>
                <a:cs typeface="에이투지체 8 ExtraBold"/>
              </a:rPr>
              <a:t>  기존 상품 광고만 운영할 경우</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브랜드스토어 2억 원, 외부몰 1억 원으로 월 전환매출 11.29억 원을 목표로 합니다</a:t>
            </a:r>
            <a:endParaRPr lang="ko-KR" sz="1900" dirty="0"/>
          </a:p>
        </p:txBody>
      </p:sp>
      <p:sp>
        <p:nvSpPr>
          <p:cNvPr id="8" name="slide-subtitle">
            <a:extLst>
              <a:ext uri="{FF2B5EF4-FFF2-40B4-BE49-F238E27FC236}">
                <a16:creationId xmlns:a16="http://schemas.microsoft.com/office/drawing/2014/main" id="{331CEC39-39D3-4659-9002-9C83CCA47E76}"/>
              </a:ext>
            </a:extLst>
          </p:cNvPr>
          <p:cNvSpPr>
            <a:spLocks noGrp="1"/>
          </p:cNvSpPr>
          <p:nvPr/>
        </p:nvSpPr>
        <p:spPr>
          <a:xfrm>
            <a:off x="548640" y="1517904"/>
            <a:ext cx="11064240" cy="365760"/>
          </a:xfrm>
          <a:prstGeom prst="rect">
            <a:avLst/>
          </a:prstGeom>
          <a:noFill/>
          <a:ln w="0">
            <a:noFill/>
            <a:prstDash val="solid"/>
          </a:ln>
        </p:spPr>
        <p:txBody>
          <a:bodyPr wrap="square" lIns="0" tIns="0" rIns="0" bIns="0" anchor="ctr"/>
          <a:lstStyle>
            <a:defPPr algn="l">
              <a:defRPr sz="1400">
                <a:solidFill>
                  <a:srgbClr val="5C5C5C"/>
                </a:solidFill>
                <a:latin typeface="에이투지체 5 Medium"/>
                <a:ea typeface="에이투지체 5 Medium"/>
                <a:cs typeface="에이투지체 5 Medium"/>
              </a:defRPr>
            </a:defPPr>
          </a:lstStyle>
          <a:p>
            <a:pPr marL="0" indent="0">
              <a:buNone/>
            </a:pPr>
            <a:r>
              <a:rPr lang="ko-KR" sz="1100" dirty="0">
                <a:solidFill>
                  <a:srgbClr val="5C5C5C"/>
                </a:solidFill>
                <a:latin typeface="에이투지체 5 Medium"/>
                <a:ea typeface="에이투지체 5 Medium"/>
                <a:cs typeface="에이투지체 5 Medium"/>
              </a:rPr>
              <a:t>3억 통합 미디어믹스와 KPI</a:t>
            </a:r>
            <a:endParaRPr lang="ko-KR" sz="1100" dirty="0"/>
          </a:p>
        </p:txBody>
      </p:sp>
      <p:graphicFrame>
        <p:nvGraphicFramePr>
          <p:cNvPr id="9" name="표 8">
            <a:extLst>
              <a:ext uri="{FF2B5EF4-FFF2-40B4-BE49-F238E27FC236}">
                <a16:creationId xmlns:a16="http://schemas.microsoft.com/office/drawing/2014/main" id="{CB78B428-5D59-471F-9484-C3993309B96F}"/>
              </a:ext>
            </a:extLst>
          </p:cNvPr>
          <p:cNvGraphicFramePr/>
          <p:nvPr>
            <p:extLst>
              <p:ext uri="{D42A27DB-BD31-4B8C-83A1-F6EECF244321}">
                <p14:modId xmlns:p14="http://schemas.microsoft.com/office/powerpoint/2010/main" val="234195235"/>
              </p:ext>
            </p:extLst>
          </p:nvPr>
        </p:nvGraphicFramePr>
        <p:xfrm>
          <a:off x="552450" y="2076450"/>
          <a:ext cx="11068050" cy="3620770"/>
        </p:xfrm>
        <a:graphic>
          <a:graphicData uri="http://schemas.openxmlformats.org/drawingml/2006/table">
            <a:tbl>
              <a:tblPr/>
              <a:tblGrid>
                <a:gridCol w="171450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1257300">
                  <a:extLst>
                    <a:ext uri="{9D8B030D-6E8A-4147-A177-3AD203B41FA5}">
                      <a16:colId xmlns:a16="http://schemas.microsoft.com/office/drawing/2014/main" val="20002"/>
                    </a:ext>
                  </a:extLst>
                </a:gridCol>
                <a:gridCol w="781050">
                  <a:extLst>
                    <a:ext uri="{9D8B030D-6E8A-4147-A177-3AD203B41FA5}">
                      <a16:colId xmlns:a16="http://schemas.microsoft.com/office/drawing/2014/main" val="20003"/>
                    </a:ext>
                  </a:extLst>
                </a:gridCol>
                <a:gridCol w="1047750">
                  <a:extLst>
                    <a:ext uri="{9D8B030D-6E8A-4147-A177-3AD203B41FA5}">
                      <a16:colId xmlns:a16="http://schemas.microsoft.com/office/drawing/2014/main" val="20004"/>
                    </a:ext>
                  </a:extLst>
                </a:gridCol>
                <a:gridCol w="952500">
                  <a:extLst>
                    <a:ext uri="{9D8B030D-6E8A-4147-A177-3AD203B41FA5}">
                      <a16:colId xmlns:a16="http://schemas.microsoft.com/office/drawing/2014/main" val="20005"/>
                    </a:ext>
                  </a:extLst>
                </a:gridCol>
                <a:gridCol w="1647825">
                  <a:extLst>
                    <a:ext uri="{9D8B030D-6E8A-4147-A177-3AD203B41FA5}">
                      <a16:colId xmlns:a16="http://schemas.microsoft.com/office/drawing/2014/main" val="20006"/>
                    </a:ext>
                  </a:extLst>
                </a:gridCol>
                <a:gridCol w="1266825">
                  <a:extLst>
                    <a:ext uri="{9D8B030D-6E8A-4147-A177-3AD203B41FA5}">
                      <a16:colId xmlns:a16="http://schemas.microsoft.com/office/drawing/2014/main" val="20007"/>
                    </a:ext>
                  </a:extLst>
                </a:gridCol>
              </a:tblGrid>
              <a:tr h="381000">
                <a:tc>
                  <a:txBody>
                    <a:bodyPr/>
                    <a:lstStyle/>
                    <a:p>
                      <a:pPr algn="ctr"/>
                      <a:r>
                        <a:rPr sz="1163" dirty="0" err="1">
                          <a:solidFill>
                            <a:srgbClr val="FFFFFF"/>
                          </a:solidFill>
                          <a:latin typeface="에이투지체 6 SemiBold"/>
                          <a:ea typeface="에이투지체 6 SemiBold"/>
                          <a:cs typeface="에이투지체 6 SemiBold"/>
                        </a:rPr>
                        <a:t>구분</a:t>
                      </a:r>
                      <a:endParaRPr sz="1163" dirty="0">
                        <a:solidFill>
                          <a:srgbClr val="FFFFFF"/>
                        </a:solidFill>
                        <a:latin typeface="에이투지체 6 SemiBold"/>
                        <a:ea typeface="에이투지체 6 SemiBold"/>
                        <a:cs typeface="에이투지체 6 SemiBold"/>
                      </a:endParaRPr>
                    </a:p>
                  </a:txBody>
                  <a:tcPr marL="95250" marR="95250" marT="47625" marB="47625" anchor="ctr">
                    <a:lnL w="14288">
                      <a:noFill/>
                      <a:prstDash val="soli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163">
                          <a:solidFill>
                            <a:srgbClr val="FFFFFF"/>
                          </a:solidFill>
                          <a:latin typeface="에이투지체 6 SemiBold"/>
                          <a:ea typeface="에이투지체 6 SemiBold"/>
                          <a:cs typeface="에이투지체 6 SemiBold"/>
                        </a:rPr>
                        <a:t>매체</a:t>
                      </a:r>
                    </a:p>
                  </a:txBody>
                  <a:tcPr marL="95250" marR="95250" marT="47625" marB="47625"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163">
                          <a:solidFill>
                            <a:srgbClr val="FFFFFF"/>
                          </a:solidFill>
                          <a:latin typeface="에이투지체 6 SemiBold"/>
                          <a:ea typeface="에이투지체 6 SemiBold"/>
                          <a:cs typeface="에이투지체 6 SemiBold"/>
                        </a:rPr>
                        <a:t>예산</a:t>
                      </a:r>
                    </a:p>
                    <a:p>
                      <a:pPr algn="ctr"/>
                      <a:r>
                        <a:rPr sz="1163">
                          <a:solidFill>
                            <a:srgbClr val="FFFFFF"/>
                          </a:solidFill>
                          <a:latin typeface="에이투지체 6 SemiBold"/>
                          <a:ea typeface="에이투지체 6 SemiBold"/>
                          <a:cs typeface="에이투지체 6 SemiBold"/>
                        </a:rPr>
                        <a:t>(만원)</a:t>
                      </a:r>
                    </a:p>
                  </a:txBody>
                  <a:tcPr marL="95250" marR="95250" marT="47625" marB="47625"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163">
                          <a:solidFill>
                            <a:srgbClr val="FFFFFF"/>
                          </a:solidFill>
                          <a:latin typeface="에이투지체 6 SemiBold"/>
                          <a:ea typeface="에이투지체 6 SemiBold"/>
                          <a:cs typeface="에이투지체 6 SemiBold"/>
                        </a:rPr>
                        <a:t>비중</a:t>
                      </a:r>
                    </a:p>
                  </a:txBody>
                  <a:tcPr marL="95250" marR="95250" marT="47625" marB="47625"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163">
                          <a:solidFill>
                            <a:srgbClr val="FFFFFF"/>
                          </a:solidFill>
                          <a:latin typeface="에이투지체 6 SemiBold"/>
                          <a:ea typeface="에이투지체 6 SemiBold"/>
                          <a:cs typeface="에이투지체 6 SemiBold"/>
                        </a:rPr>
                        <a:t>클릭</a:t>
                      </a:r>
                    </a:p>
                  </a:txBody>
                  <a:tcPr marL="95250" marR="95250" marT="47625" marB="47625"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163">
                          <a:solidFill>
                            <a:srgbClr val="FFFFFF"/>
                          </a:solidFill>
                          <a:latin typeface="에이투지체 6 SemiBold"/>
                          <a:ea typeface="에이투지체 6 SemiBold"/>
                          <a:cs typeface="에이투지체 6 SemiBold"/>
                        </a:rPr>
                        <a:t>CPC</a:t>
                      </a:r>
                    </a:p>
                    <a:p>
                      <a:pPr algn="ctr"/>
                      <a:r>
                        <a:rPr sz="1163">
                          <a:solidFill>
                            <a:srgbClr val="FFFFFF"/>
                          </a:solidFill>
                          <a:latin typeface="에이투지체 6 SemiBold"/>
                          <a:ea typeface="에이투지체 6 SemiBold"/>
                          <a:cs typeface="에이투지체 6 SemiBold"/>
                        </a:rPr>
                        <a:t>(원)</a:t>
                      </a:r>
                    </a:p>
                  </a:txBody>
                  <a:tcPr marL="95250" marR="95250" marT="47625" marB="47625"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163">
                          <a:solidFill>
                            <a:srgbClr val="FFFFFF"/>
                          </a:solidFill>
                          <a:latin typeface="에이투지체 6 SemiBold"/>
                          <a:ea typeface="에이투지체 6 SemiBold"/>
                          <a:cs typeface="에이투지체 6 SemiBold"/>
                        </a:rPr>
                        <a:t>전환매출</a:t>
                      </a:r>
                    </a:p>
                    <a:p>
                      <a:pPr algn="ctr"/>
                      <a:r>
                        <a:rPr sz="1163">
                          <a:solidFill>
                            <a:srgbClr val="FFFFFF"/>
                          </a:solidFill>
                          <a:latin typeface="에이투지체 6 SemiBold"/>
                          <a:ea typeface="에이투지체 6 SemiBold"/>
                          <a:cs typeface="에이투지체 6 SemiBold"/>
                        </a:rPr>
                        <a:t>(만원)</a:t>
                      </a:r>
                    </a:p>
                  </a:txBody>
                  <a:tcPr marL="95250" marR="95250" marT="47625" marB="47625"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163">
                          <a:solidFill>
                            <a:srgbClr val="FFFFFF"/>
                          </a:solidFill>
                          <a:latin typeface="에이투지체 6 SemiBold"/>
                          <a:ea typeface="에이투지체 6 SemiBold"/>
                          <a:cs typeface="에이투지체 6 SemiBold"/>
                        </a:rPr>
                        <a:t>ROAS</a:t>
                      </a:r>
                    </a:p>
                  </a:txBody>
                  <a:tcPr marL="95250" marR="95250" marT="47625" marB="47625"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extLst>
                  <a:ext uri="{0D108BD9-81ED-4DB2-BD59-A6C34878D82A}">
                    <a16:rowId xmlns:a16="http://schemas.microsoft.com/office/drawing/2014/main" val="10000"/>
                  </a:ext>
                </a:extLst>
              </a:tr>
              <a:tr h="299085">
                <a:tc rowSpan="4">
                  <a:txBody>
                    <a:bodyPr/>
                    <a:lstStyle/>
                    <a:p>
                      <a:pPr algn="ctr"/>
                      <a:r>
                        <a:rPr sz="1260">
                          <a:solidFill>
                            <a:srgbClr val="222222"/>
                          </a:solidFill>
                          <a:latin typeface="에이투지체 5 Medium"/>
                          <a:ea typeface="에이투지체 5 Medium"/>
                          <a:cs typeface="에이투지체 5 Medium"/>
                        </a:rPr>
                        <a:t>브랜드스토어</a:t>
                      </a:r>
                    </a:p>
                  </a:txBody>
                  <a:tcPr marL="95250" marR="95250" marT="47625" marB="47625" anchor="ctr">
                    <a:lnL w="14288">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l"/>
                      <a:r>
                        <a:rPr sz="1260" dirty="0" err="1">
                          <a:solidFill>
                            <a:srgbClr val="222222"/>
                          </a:solidFill>
                          <a:latin typeface="에이투지체 5 Medium"/>
                          <a:ea typeface="에이투지체 5 Medium"/>
                          <a:cs typeface="에이투지체 5 Medium"/>
                        </a:rPr>
                        <a:t>네이버</a:t>
                      </a:r>
                      <a:r>
                        <a:rPr sz="1260" dirty="0">
                          <a:solidFill>
                            <a:srgbClr val="222222"/>
                          </a:solidFill>
                          <a:latin typeface="에이투지체 5 Medium"/>
                          <a:ea typeface="에이투지체 5 Medium"/>
                          <a:cs typeface="에이투지체 5 Medium"/>
                        </a:rPr>
                        <a:t> GFA</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10,000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33.3%</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58,824</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1,700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40,000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400.0%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0001"/>
                  </a:ext>
                </a:extLst>
              </a:tr>
              <a:tr h="299085">
                <a:tc vMerge="1">
                  <a:txBody>
                    <a:bodyPr/>
                    <a:lstStyle/>
                    <a:p>
                      <a:endParaRPr/>
                    </a:p>
                  </a:txBody>
                  <a:tcPr marL="95250" marR="95250" marT="47625" marB="47625" anchor="ctr">
                    <a:lnL w="14288">
                      <a:solidFill>
                        <a:srgbClr val="FFFFFF"/>
                      </a:solidFill>
                      <a:prstDash val="solid"/>
                    </a:lnL>
                    <a:lnR w="14288">
                      <a:solidFill>
                        <a:srgbClr val="FFFFFF"/>
                      </a:solidFill>
                      <a:prstDash val="solid"/>
                    </a:lnR>
                    <a:lnB w="14288">
                      <a:solidFill>
                        <a:srgbClr val="FFFFFF"/>
                      </a:solidFill>
                      <a:prstDash val="solid"/>
                    </a:lnB>
                    <a:solidFill>
                      <a:srgbClr val="FFFFFF"/>
                    </a:solidFill>
                  </a:tcPr>
                </a:tc>
                <a:tc>
                  <a:txBody>
                    <a:bodyPr/>
                    <a:lstStyle/>
                    <a:p>
                      <a:pPr algn="l"/>
                      <a:r>
                        <a:rPr sz="1260" dirty="0" err="1">
                          <a:solidFill>
                            <a:srgbClr val="222222"/>
                          </a:solidFill>
                          <a:latin typeface="에이투지체 5 Medium"/>
                          <a:ea typeface="에이투지체 5 Medium"/>
                          <a:cs typeface="에이투지체 5 Medium"/>
                        </a:rPr>
                        <a:t>네이버</a:t>
                      </a:r>
                      <a:r>
                        <a:rPr sz="1260" dirty="0">
                          <a:solidFill>
                            <a:srgbClr val="222222"/>
                          </a:solidFill>
                          <a:latin typeface="에이투지체 5 Medium"/>
                          <a:ea typeface="에이투지체 5 Medium"/>
                          <a:cs typeface="에이투지체 5 Medium"/>
                        </a:rPr>
                        <a:t> </a:t>
                      </a:r>
                      <a:r>
                        <a:rPr sz="1260" dirty="0" err="1">
                          <a:solidFill>
                            <a:srgbClr val="222222"/>
                          </a:solidFill>
                          <a:latin typeface="에이투지체 5 Medium"/>
                          <a:ea typeface="에이투지체 5 Medium"/>
                          <a:cs typeface="에이투지체 5 Medium"/>
                        </a:rPr>
                        <a:t>쇼핑검색</a:t>
                      </a:r>
                      <a:endParaRPr sz="1260" dirty="0">
                        <a:solidFill>
                          <a:srgbClr val="222222"/>
                        </a:solidFill>
                        <a:latin typeface="에이투지체 5 Medium"/>
                        <a:ea typeface="에이투지체 5 Medium"/>
                        <a:cs typeface="에이투지체 5 Medium"/>
                      </a:endParaRPr>
                    </a:p>
                  </a:txBody>
                  <a:tcPr marL="95250" marR="95250" marT="47625" marB="47625"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8,800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29.3%</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31,429</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2,800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35,200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400.0%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299085">
                <a:tc vMerge="1">
                  <a:txBody>
                    <a:bodyPr/>
                    <a:lstStyle/>
                    <a:p>
                      <a:endParaRPr/>
                    </a:p>
                  </a:txBody>
                  <a:tcPr marL="95250" marR="95250" marT="47625" marB="47625" anchor="ctr">
                    <a:lnL w="14288">
                      <a:solidFill>
                        <a:srgbClr val="FFFFFF"/>
                      </a:solidFill>
                      <a:prstDash val="solid"/>
                    </a:lnL>
                    <a:lnR w="14288">
                      <a:solidFill>
                        <a:srgbClr val="FFFFFF"/>
                      </a:solidFill>
                      <a:prstDash val="solid"/>
                    </a:lnR>
                    <a:lnB w="14288">
                      <a:solidFill>
                        <a:srgbClr val="FFFFFF"/>
                      </a:solidFill>
                      <a:prstDash val="solid"/>
                    </a:lnB>
                    <a:solidFill>
                      <a:srgbClr val="F5F5F5"/>
                    </a:solidFill>
                  </a:tcPr>
                </a:tc>
                <a:tc>
                  <a:txBody>
                    <a:bodyPr/>
                    <a:lstStyle/>
                    <a:p>
                      <a:pPr algn="l"/>
                      <a:r>
                        <a:rPr sz="1260">
                          <a:solidFill>
                            <a:srgbClr val="222222"/>
                          </a:solidFill>
                          <a:latin typeface="에이투지체 5 Medium"/>
                          <a:ea typeface="에이투지체 5 Medium"/>
                          <a:cs typeface="에이투지체 5 Medium"/>
                        </a:rPr>
                        <a:t>메타 협력광고</a:t>
                      </a:r>
                    </a:p>
                  </a:txBody>
                  <a:tcPr marL="95250" marR="95250" marT="47625" marB="47625"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dirty="0">
                          <a:solidFill>
                            <a:srgbClr val="222222"/>
                          </a:solidFill>
                          <a:latin typeface="에이투지체 5 Medium"/>
                          <a:ea typeface="에이투지체 5 Medium"/>
                          <a:cs typeface="에이투지체 5 Medium"/>
                        </a:rPr>
                        <a:t>1,000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3.3%</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20,000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3,000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300.0%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0003"/>
                  </a:ext>
                </a:extLst>
              </a:tr>
              <a:tr h="299085">
                <a:tc vMerge="1">
                  <a:txBody>
                    <a:bodyPr/>
                    <a:lstStyle/>
                    <a:p>
                      <a:endParaRPr/>
                    </a:p>
                  </a:txBody>
                  <a:tcPr marL="95250" marR="95250" marT="47625" marB="47625" anchor="ctr">
                    <a:lnL w="14288">
                      <a:solidFill>
                        <a:srgbClr val="FFFFFF"/>
                      </a:solidFill>
                      <a:prstDash val="solid"/>
                    </a:lnL>
                    <a:lnR w="14288">
                      <a:solidFill>
                        <a:srgbClr val="FFFFFF"/>
                      </a:solidFill>
                      <a:prstDash val="solid"/>
                    </a:lnR>
                    <a:lnB w="14288">
                      <a:solidFill>
                        <a:srgbClr val="FFFFFF"/>
                      </a:solidFill>
                      <a:prstDash val="solid"/>
                    </a:lnB>
                    <a:solidFill>
                      <a:srgbClr val="FFFFFF"/>
                    </a:solidFill>
                  </a:tcPr>
                </a:tc>
                <a:tc>
                  <a:txBody>
                    <a:bodyPr/>
                    <a:lstStyle/>
                    <a:p>
                      <a:pPr algn="l"/>
                      <a:r>
                        <a:rPr sz="1260">
                          <a:solidFill>
                            <a:srgbClr val="222222"/>
                          </a:solidFill>
                          <a:latin typeface="에이투지체 5 Medium"/>
                          <a:ea typeface="에이투지체 5 Medium"/>
                          <a:cs typeface="에이투지체 5 Medium"/>
                        </a:rPr>
                        <a:t>쇼핑라이브</a:t>
                      </a:r>
                    </a:p>
                  </a:txBody>
                  <a:tcPr marL="95250" marR="95250" marT="47625" marB="47625"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200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dirty="0">
                          <a:solidFill>
                            <a:srgbClr val="222222"/>
                          </a:solidFill>
                          <a:latin typeface="에이투지체 5 Medium"/>
                          <a:ea typeface="에이투지체 5 Medium"/>
                          <a:cs typeface="에이투지체 5 Medium"/>
                        </a:rPr>
                        <a:t>0.7%</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1,600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1,250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700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350.0%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299085">
                <a:tc gridSpan="2">
                  <a:txBody>
                    <a:bodyPr/>
                    <a:lstStyle/>
                    <a:p>
                      <a:pPr algn="ctr"/>
                      <a:r>
                        <a:rPr sz="1260" dirty="0" err="1">
                          <a:solidFill>
                            <a:srgbClr val="004F9F"/>
                          </a:solidFill>
                          <a:latin typeface="에이투지체 6 SemiBold"/>
                          <a:ea typeface="에이투지체 6 SemiBold"/>
                          <a:cs typeface="에이투지체 6 SemiBold"/>
                        </a:rPr>
                        <a:t>브랜드스토어</a:t>
                      </a:r>
                      <a:r>
                        <a:rPr sz="1260" dirty="0">
                          <a:solidFill>
                            <a:srgbClr val="004F9F"/>
                          </a:solidFill>
                          <a:latin typeface="에이투지체 6 SemiBold"/>
                          <a:ea typeface="에이투지체 6 SemiBold"/>
                          <a:cs typeface="에이투지체 6 SemiBold"/>
                        </a:rPr>
                        <a:t> 합</a:t>
                      </a:r>
                    </a:p>
                  </a:txBody>
                  <a:tcPr marL="95250" marR="95250" marT="47625" marB="47625" anchor="ctr">
                    <a:lnL w="14288">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hMerge="1">
                  <a:txBody>
                    <a:bodyPr/>
                    <a:lstStyle/>
                    <a:p>
                      <a:endParaRPr/>
                    </a:p>
                  </a:txBody>
                  <a:tcPr marL="95250" marR="95250" marT="47625" marB="47625" anchor="ctr">
                    <a:lnR w="14288">
                      <a:solidFill>
                        <a:srgbClr val="FFFFFF"/>
                      </a:solidFill>
                      <a:prstDash val="solid"/>
                    </a:lnR>
                    <a:lnB w="14288">
                      <a:solidFill>
                        <a:srgbClr val="FFFFFF"/>
                      </a:solidFill>
                      <a:prstDash val="solid"/>
                    </a:lnB>
                    <a:solidFill>
                      <a:srgbClr val="DCEAF8"/>
                    </a:solidFill>
                  </a:tcPr>
                </a:tc>
                <a:tc>
                  <a:txBody>
                    <a:bodyPr/>
                    <a:lstStyle/>
                    <a:p>
                      <a:pPr algn="r"/>
                      <a:r>
                        <a:rPr sz="1260">
                          <a:solidFill>
                            <a:srgbClr val="004F9F"/>
                          </a:solidFill>
                          <a:latin typeface="에이투지체 6 SemiBold"/>
                          <a:ea typeface="에이투지체 6 SemiBold"/>
                          <a:cs typeface="에이투지체 6 SemiBold"/>
                        </a:rPr>
                        <a:t>20,000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260">
                          <a:solidFill>
                            <a:srgbClr val="004F9F"/>
                          </a:solidFill>
                          <a:latin typeface="에이투지체 6 SemiBold"/>
                          <a:ea typeface="에이투지체 6 SemiBold"/>
                          <a:cs typeface="에이투지체 6 SemiBold"/>
                        </a:rPr>
                        <a:t>66.7%</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260" dirty="0">
                          <a:solidFill>
                            <a:srgbClr val="004F9F"/>
                          </a:solidFill>
                          <a:latin typeface="에이투지체 6 SemiBold"/>
                          <a:ea typeface="에이투지체 6 SemiBold"/>
                          <a:cs typeface="에이투지체 6 SemiBold"/>
                        </a:rPr>
                        <a:t>111,853</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260" dirty="0">
                          <a:solidFill>
                            <a:srgbClr val="004F9F"/>
                          </a:solidFill>
                          <a:latin typeface="에이투지체 6 SemiBold"/>
                          <a:ea typeface="에이투지체 6 SemiBold"/>
                          <a:cs typeface="에이투지체 6 SemiBold"/>
                        </a:rPr>
                        <a:t>1,788</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260">
                          <a:solidFill>
                            <a:srgbClr val="004F9F"/>
                          </a:solidFill>
                          <a:latin typeface="에이투지체 6 SemiBold"/>
                          <a:ea typeface="에이투지체 6 SemiBold"/>
                          <a:cs typeface="에이투지체 6 SemiBold"/>
                        </a:rPr>
                        <a:t>78,900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260">
                          <a:solidFill>
                            <a:srgbClr val="004F9F"/>
                          </a:solidFill>
                          <a:latin typeface="에이투지체 6 SemiBold"/>
                          <a:ea typeface="에이투지체 6 SemiBold"/>
                          <a:cs typeface="에이투지체 6 SemiBold"/>
                        </a:rPr>
                        <a:t>394.5%</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extLst>
                  <a:ext uri="{0D108BD9-81ED-4DB2-BD59-A6C34878D82A}">
                    <a16:rowId xmlns:a16="http://schemas.microsoft.com/office/drawing/2014/main" val="10005"/>
                  </a:ext>
                </a:extLst>
              </a:tr>
              <a:tr h="299085">
                <a:tc rowSpan="3">
                  <a:txBody>
                    <a:bodyPr/>
                    <a:lstStyle/>
                    <a:p>
                      <a:pPr algn="ctr"/>
                      <a:r>
                        <a:rPr sz="1260">
                          <a:solidFill>
                            <a:srgbClr val="222222"/>
                          </a:solidFill>
                          <a:latin typeface="에이투지체 5 Medium"/>
                          <a:ea typeface="에이투지체 5 Medium"/>
                          <a:cs typeface="에이투지체 5 Medium"/>
                        </a:rPr>
                        <a:t>외부몰</a:t>
                      </a:r>
                    </a:p>
                  </a:txBody>
                  <a:tcPr marL="95250" marR="95250" marT="47625" marB="47625" anchor="ctr">
                    <a:lnL w="14288">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l"/>
                      <a:r>
                        <a:rPr sz="1260" dirty="0" err="1">
                          <a:solidFill>
                            <a:srgbClr val="222222"/>
                          </a:solidFill>
                          <a:latin typeface="에이투지체 5 Medium"/>
                          <a:ea typeface="에이투지체 5 Medium"/>
                          <a:cs typeface="에이투지체 5 Medium"/>
                        </a:rPr>
                        <a:t>쿠팡</a:t>
                      </a:r>
                      <a:endParaRPr sz="1260" dirty="0">
                        <a:solidFill>
                          <a:srgbClr val="222222"/>
                        </a:solidFill>
                        <a:latin typeface="에이투지체 5 Medium"/>
                        <a:ea typeface="에이투지체 5 Medium"/>
                        <a:cs typeface="에이투지체 5 Medium"/>
                      </a:endParaRPr>
                    </a:p>
                  </a:txBody>
                  <a:tcPr marL="95250" marR="95250" marT="47625" marB="47625" anchor="ctr">
                    <a:lnL w="14288" cap="flat" cmpd="sng" algn="ctr">
                      <a:noFill/>
                      <a:prstDash val="solid"/>
                      <a:round/>
                      <a:headEnd type="none" w="med" len="med"/>
                      <a:tailEnd type="none" w="med" len="med"/>
                    </a:lnL>
                    <a:lnR w="14288">
                      <a:noFill/>
                      <a:prstDash val="solid"/>
                    </a:lnR>
                    <a:lnT w="12700" cmpd="sng">
                      <a:noFill/>
                      <a:prstDash val="soli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8,500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28.3%</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170,000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a:solidFill>
                            <a:srgbClr val="222222"/>
                          </a:solidFill>
                          <a:latin typeface="에이투지체 5 Medium"/>
                          <a:ea typeface="에이투지체 5 Medium"/>
                          <a:cs typeface="에이투지체 5 Medium"/>
                        </a:rPr>
                        <a:t>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dirty="0">
                          <a:solidFill>
                            <a:srgbClr val="222222"/>
                          </a:solidFill>
                          <a:latin typeface="에이투지체 5 Medium"/>
                          <a:ea typeface="에이투지체 5 Medium"/>
                          <a:cs typeface="에이투지체 5 Medium"/>
                        </a:rPr>
                        <a:t>29,750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260" dirty="0">
                          <a:solidFill>
                            <a:srgbClr val="222222"/>
                          </a:solidFill>
                          <a:latin typeface="에이투지체 5 Medium"/>
                          <a:ea typeface="에이투지체 5 Medium"/>
                          <a:cs typeface="에이투지체 5 Medium"/>
                        </a:rPr>
                        <a:t>350.0%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6"/>
                  </a:ext>
                </a:extLst>
              </a:tr>
              <a:tr h="299085">
                <a:tc vMerge="1">
                  <a:txBody>
                    <a:bodyPr/>
                    <a:lstStyle/>
                    <a:p>
                      <a:endParaRPr/>
                    </a:p>
                  </a:txBody>
                  <a:tcPr marL="95250" marR="95250" marT="47625" marB="47625" anchor="ctr">
                    <a:lnL w="14288">
                      <a:solidFill>
                        <a:srgbClr val="FFFFFF"/>
                      </a:solidFill>
                      <a:prstDash val="solid"/>
                    </a:lnL>
                    <a:lnR w="14288">
                      <a:solidFill>
                        <a:srgbClr val="FFFFFF"/>
                      </a:solidFill>
                      <a:prstDash val="solid"/>
                    </a:lnR>
                    <a:lnB w="14288">
                      <a:solidFill>
                        <a:srgbClr val="FFFFFF"/>
                      </a:solidFill>
                      <a:prstDash val="solid"/>
                    </a:lnB>
                    <a:solidFill>
                      <a:srgbClr val="F5F5F5"/>
                    </a:solidFill>
                  </a:tcPr>
                </a:tc>
                <a:tc>
                  <a:txBody>
                    <a:bodyPr/>
                    <a:lstStyle/>
                    <a:p>
                      <a:pPr algn="l"/>
                      <a:r>
                        <a:rPr sz="1260">
                          <a:solidFill>
                            <a:srgbClr val="222222"/>
                          </a:solidFill>
                          <a:latin typeface="에이투지체 5 Medium"/>
                          <a:ea typeface="에이투지체 5 Medium"/>
                          <a:cs typeface="에이투지체 5 Medium"/>
                        </a:rPr>
                        <a:t>지마켓·11번가</a:t>
                      </a:r>
                    </a:p>
                  </a:txBody>
                  <a:tcPr marL="95250" marR="95250" marT="47625" marB="47625"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1,000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3.3%</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20,000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a:solidFill>
                            <a:srgbClr val="222222"/>
                          </a:solidFill>
                          <a:latin typeface="에이투지체 5 Medium"/>
                          <a:ea typeface="에이투지체 5 Medium"/>
                          <a:cs typeface="에이투지체 5 Medium"/>
                        </a:rPr>
                        <a:t>2,500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260" dirty="0">
                          <a:solidFill>
                            <a:srgbClr val="222222"/>
                          </a:solidFill>
                          <a:latin typeface="에이투지체 5 Medium"/>
                          <a:ea typeface="에이투지체 5 Medium"/>
                          <a:cs typeface="에이투지체 5 Medium"/>
                        </a:rPr>
                        <a:t>250.0%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0007"/>
                  </a:ext>
                </a:extLst>
              </a:tr>
              <a:tr h="299085">
                <a:tc vMerge="1">
                  <a:txBody>
                    <a:bodyPr/>
                    <a:lstStyle/>
                    <a:p>
                      <a:endParaRPr/>
                    </a:p>
                  </a:txBody>
                  <a:tcPr marL="95250" marR="95250" marT="47625" marB="47625" anchor="ctr">
                    <a:lnL w="14288">
                      <a:solidFill>
                        <a:srgbClr val="FFFFFF"/>
                      </a:solidFill>
                      <a:prstDash val="solid"/>
                    </a:lnL>
                    <a:lnR w="14288">
                      <a:solidFill>
                        <a:srgbClr val="FFFFFF"/>
                      </a:solidFill>
                      <a:prstDash val="solid"/>
                    </a:lnR>
                    <a:lnB w="14288">
                      <a:solidFill>
                        <a:srgbClr val="FFFFFF"/>
                      </a:solidFill>
                      <a:prstDash val="solid"/>
                    </a:lnB>
                    <a:solidFill>
                      <a:srgbClr val="EAF2FB"/>
                    </a:solidFill>
                  </a:tcPr>
                </a:tc>
                <a:tc>
                  <a:txBody>
                    <a:bodyPr/>
                    <a:lstStyle/>
                    <a:p>
                      <a:pPr algn="l"/>
                      <a:r>
                        <a:rPr sz="1260">
                          <a:solidFill>
                            <a:srgbClr val="222222"/>
                          </a:solidFill>
                          <a:latin typeface="에이투지체 5 Medium"/>
                          <a:ea typeface="에이투지체 5 Medium"/>
                          <a:cs typeface="에이투지체 5 Medium"/>
                        </a:rPr>
                        <a:t>카카오 톡스토어</a:t>
                      </a:r>
                    </a:p>
                  </a:txBody>
                  <a:tcPr marL="95250" marR="95250" marT="47625" marB="47625"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260">
                          <a:solidFill>
                            <a:srgbClr val="222222"/>
                          </a:solidFill>
                          <a:latin typeface="에이투지체 5 Medium"/>
                          <a:ea typeface="에이투지체 5 Medium"/>
                          <a:cs typeface="에이투지체 5 Medium"/>
                        </a:rPr>
                        <a:t>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260">
                          <a:solidFill>
                            <a:srgbClr val="222222"/>
                          </a:solidFill>
                          <a:latin typeface="에이투지체 5 Medium"/>
                          <a:ea typeface="에이투지체 5 Medium"/>
                          <a:cs typeface="에이투지체 5 Medium"/>
                        </a:rPr>
                        <a:t>1.7%</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260">
                          <a:solidFill>
                            <a:srgbClr val="222222"/>
                          </a:solidFill>
                          <a:latin typeface="에이투지체 5 Medium"/>
                          <a:ea typeface="에이투지체 5 Medium"/>
                          <a:cs typeface="에이투지체 5 Medium"/>
                        </a:rPr>
                        <a:t>10,000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260">
                          <a:solidFill>
                            <a:srgbClr val="222222"/>
                          </a:solidFill>
                          <a:latin typeface="에이투지체 5 Medium"/>
                          <a:ea typeface="에이투지체 5 Medium"/>
                          <a:cs typeface="에이투지체 5 Medium"/>
                        </a:rPr>
                        <a:t>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260">
                          <a:solidFill>
                            <a:srgbClr val="222222"/>
                          </a:solidFill>
                          <a:latin typeface="에이투지체 5 Medium"/>
                          <a:ea typeface="에이투지체 5 Medium"/>
                          <a:cs typeface="에이투지체 5 Medium"/>
                        </a:rPr>
                        <a:t>1,750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260" dirty="0">
                          <a:solidFill>
                            <a:srgbClr val="222222"/>
                          </a:solidFill>
                          <a:latin typeface="에이투지체 5 Medium"/>
                          <a:ea typeface="에이투지체 5 Medium"/>
                          <a:cs typeface="에이투지체 5 Medium"/>
                        </a:rPr>
                        <a:t>350.0%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extLst>
                  <a:ext uri="{0D108BD9-81ED-4DB2-BD59-A6C34878D82A}">
                    <a16:rowId xmlns:a16="http://schemas.microsoft.com/office/drawing/2014/main" val="10008"/>
                  </a:ext>
                </a:extLst>
              </a:tr>
              <a:tr h="299085">
                <a:tc gridSpan="2">
                  <a:txBody>
                    <a:bodyPr/>
                    <a:lstStyle/>
                    <a:p>
                      <a:pPr algn="ctr"/>
                      <a:r>
                        <a:rPr sz="1260">
                          <a:solidFill>
                            <a:srgbClr val="004F9F"/>
                          </a:solidFill>
                          <a:latin typeface="에이투지체 6 SemiBold"/>
                          <a:ea typeface="에이투지체 6 SemiBold"/>
                          <a:cs typeface="에이투지체 6 SemiBold"/>
                        </a:rPr>
                        <a:t>외부몰 합</a:t>
                      </a:r>
                    </a:p>
                  </a:txBody>
                  <a:tcPr marL="95250" marR="95250" marT="47625" marB="47625" anchor="ctr">
                    <a:lnL w="14288">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hMerge="1">
                  <a:txBody>
                    <a:bodyPr/>
                    <a:lstStyle/>
                    <a:p>
                      <a:endParaRPr/>
                    </a:p>
                  </a:txBody>
                  <a:tcPr marL="95250" marR="95250" marT="47625" marB="47625" anchor="ctr">
                    <a:lnR w="14288">
                      <a:solidFill>
                        <a:srgbClr val="FFFFFF"/>
                      </a:solidFill>
                      <a:prstDash val="solid"/>
                    </a:lnR>
                    <a:lnB w="14288">
                      <a:solidFill>
                        <a:srgbClr val="FFFFFF"/>
                      </a:solidFill>
                      <a:prstDash val="solid"/>
                    </a:lnB>
                    <a:solidFill>
                      <a:srgbClr val="DCEAF8"/>
                    </a:solidFill>
                  </a:tcPr>
                </a:tc>
                <a:tc>
                  <a:txBody>
                    <a:bodyPr/>
                    <a:lstStyle/>
                    <a:p>
                      <a:pPr algn="r"/>
                      <a:r>
                        <a:rPr sz="1260">
                          <a:solidFill>
                            <a:srgbClr val="004F9F"/>
                          </a:solidFill>
                          <a:latin typeface="에이투지체 6 SemiBold"/>
                          <a:ea typeface="에이투지체 6 SemiBold"/>
                          <a:cs typeface="에이투지체 6 SemiBold"/>
                        </a:rPr>
                        <a:t>10,000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260">
                          <a:solidFill>
                            <a:srgbClr val="004F9F"/>
                          </a:solidFill>
                          <a:latin typeface="에이투지체 6 SemiBold"/>
                          <a:ea typeface="에이투지체 6 SemiBold"/>
                          <a:cs typeface="에이투지체 6 SemiBold"/>
                        </a:rPr>
                        <a:t>33.3%</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260">
                          <a:solidFill>
                            <a:srgbClr val="004F9F"/>
                          </a:solidFill>
                          <a:latin typeface="에이투지체 6 SemiBold"/>
                          <a:ea typeface="에이투지체 6 SemiBold"/>
                          <a:cs typeface="에이투지체 6 SemiBold"/>
                        </a:rPr>
                        <a:t>200,000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260">
                          <a:solidFill>
                            <a:srgbClr val="004F9F"/>
                          </a:solidFill>
                          <a:latin typeface="에이투지체 6 SemiBold"/>
                          <a:ea typeface="에이투지체 6 SemiBold"/>
                          <a:cs typeface="에이투지체 6 SemiBold"/>
                        </a:rPr>
                        <a:t>500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260">
                          <a:solidFill>
                            <a:srgbClr val="004F9F"/>
                          </a:solidFill>
                          <a:latin typeface="에이투지체 6 SemiBold"/>
                          <a:ea typeface="에이투지체 6 SemiBold"/>
                          <a:cs typeface="에이투지체 6 SemiBold"/>
                        </a:rPr>
                        <a:t>34,000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260" dirty="0">
                          <a:solidFill>
                            <a:srgbClr val="004F9F"/>
                          </a:solidFill>
                          <a:latin typeface="에이투지체 6 SemiBold"/>
                          <a:ea typeface="에이투지체 6 SemiBold"/>
                          <a:cs typeface="에이투지체 6 SemiBold"/>
                        </a:rPr>
                        <a:t>340.0%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extLst>
                  <a:ext uri="{0D108BD9-81ED-4DB2-BD59-A6C34878D82A}">
                    <a16:rowId xmlns:a16="http://schemas.microsoft.com/office/drawing/2014/main" val="10009"/>
                  </a:ext>
                </a:extLst>
              </a:tr>
              <a:tr h="299085">
                <a:tc gridSpan="2">
                  <a:txBody>
                    <a:bodyPr/>
                    <a:lstStyle/>
                    <a:p>
                      <a:pPr algn="ctr"/>
                      <a:r>
                        <a:rPr sz="1260">
                          <a:solidFill>
                            <a:srgbClr val="FFFFFF"/>
                          </a:solidFill>
                          <a:latin typeface="에이투지체 6 SemiBold"/>
                          <a:ea typeface="에이투지체 6 SemiBold"/>
                          <a:cs typeface="에이투지체 6 SemiBold"/>
                        </a:rPr>
                        <a:t>전체 합</a:t>
                      </a:r>
                    </a:p>
                  </a:txBody>
                  <a:tcPr marL="95250" marR="95250" marT="47625" marB="47625" anchor="ctr">
                    <a:lnL w="14288">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hMerge="1">
                  <a:txBody>
                    <a:bodyPr/>
                    <a:lstStyle/>
                    <a:p>
                      <a:endParaRPr/>
                    </a:p>
                  </a:txBody>
                  <a:tcPr marL="95250" marR="95250" marT="47625" marB="47625" anchor="ctr">
                    <a:lnR w="14288">
                      <a:solidFill>
                        <a:srgbClr val="FFFFFF"/>
                      </a:solidFill>
                      <a:prstDash val="solid"/>
                    </a:lnR>
                    <a:lnB w="14288">
                      <a:solidFill>
                        <a:srgbClr val="FFFFFF"/>
                      </a:solidFill>
                      <a:prstDash val="solid"/>
                    </a:lnB>
                    <a:solidFill>
                      <a:srgbClr val="0E3A72"/>
                    </a:solidFill>
                  </a:tcPr>
                </a:tc>
                <a:tc>
                  <a:txBody>
                    <a:bodyPr/>
                    <a:lstStyle/>
                    <a:p>
                      <a:pPr algn="r"/>
                      <a:r>
                        <a:rPr sz="1260">
                          <a:solidFill>
                            <a:srgbClr val="FFFFFF"/>
                          </a:solidFill>
                          <a:latin typeface="에이투지체 6 SemiBold"/>
                          <a:ea typeface="에이투지체 6 SemiBold"/>
                          <a:cs typeface="에이투지체 6 SemiBold"/>
                        </a:rPr>
                        <a:t>30,000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a:txBody>
                    <a:bodyPr/>
                    <a:lstStyle/>
                    <a:p>
                      <a:pPr algn="r"/>
                      <a:r>
                        <a:rPr sz="1260">
                          <a:solidFill>
                            <a:srgbClr val="FFFFFF"/>
                          </a:solidFill>
                          <a:latin typeface="에이투지체 6 SemiBold"/>
                          <a:ea typeface="에이투지체 6 SemiBold"/>
                          <a:cs typeface="에이투지체 6 SemiBold"/>
                        </a:rPr>
                        <a:t>100.0%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a:txBody>
                    <a:bodyPr/>
                    <a:lstStyle/>
                    <a:p>
                      <a:pPr algn="r"/>
                      <a:r>
                        <a:rPr sz="1260">
                          <a:solidFill>
                            <a:srgbClr val="FFFFFF"/>
                          </a:solidFill>
                          <a:latin typeface="에이투지체 6 SemiBold"/>
                          <a:ea typeface="에이투지체 6 SemiBold"/>
                          <a:cs typeface="에이투지체 6 SemiBold"/>
                        </a:rPr>
                        <a:t>311,853</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a:txBody>
                    <a:bodyPr/>
                    <a:lstStyle/>
                    <a:p>
                      <a:pPr algn="r"/>
                      <a:r>
                        <a:rPr sz="1260">
                          <a:solidFill>
                            <a:srgbClr val="FFFFFF"/>
                          </a:solidFill>
                          <a:latin typeface="에이투지체 6 SemiBold"/>
                          <a:ea typeface="에이투지체 6 SemiBold"/>
                          <a:cs typeface="에이투지체 6 SemiBold"/>
                        </a:rPr>
                        <a:t>962</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a:txBody>
                    <a:bodyPr/>
                    <a:lstStyle/>
                    <a:p>
                      <a:pPr algn="r"/>
                      <a:r>
                        <a:rPr sz="1260">
                          <a:solidFill>
                            <a:srgbClr val="FFFFFF"/>
                          </a:solidFill>
                          <a:latin typeface="에이투지체 6 SemiBold"/>
                          <a:ea typeface="에이투지체 6 SemiBold"/>
                          <a:cs typeface="에이투지체 6 SemiBold"/>
                        </a:rPr>
                        <a:t>112,900</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a:txBody>
                    <a:bodyPr/>
                    <a:lstStyle/>
                    <a:p>
                      <a:pPr algn="r"/>
                      <a:r>
                        <a:rPr sz="1260" dirty="0">
                          <a:solidFill>
                            <a:srgbClr val="FFFFFF"/>
                          </a:solidFill>
                          <a:latin typeface="에이투지체 6 SemiBold"/>
                          <a:ea typeface="에이투지체 6 SemiBold"/>
                          <a:cs typeface="에이투지체 6 SemiBold"/>
                        </a:rPr>
                        <a:t>376.3%</a:t>
                      </a:r>
                    </a:p>
                  </a:txBody>
                  <a:tcPr marL="95250" marR="95250" marT="47625" marB="47625"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extLst>
                  <a:ext uri="{0D108BD9-81ED-4DB2-BD59-A6C34878D82A}">
                    <a16:rowId xmlns:a16="http://schemas.microsoft.com/office/drawing/2014/main" val="10010"/>
                  </a:ext>
                </a:extLst>
              </a:tr>
            </a:tbl>
          </a:graphicData>
        </a:graphic>
      </p:graphicFrame>
      <p:sp>
        <p:nvSpPr>
          <p:cNvPr id="11" name="직사각형 10">
            <a:extLst>
              <a:ext uri="{FF2B5EF4-FFF2-40B4-BE49-F238E27FC236}">
                <a16:creationId xmlns:a16="http://schemas.microsoft.com/office/drawing/2014/main" id="{E072AE87-6334-4DCC-A429-7A20EE337A1B}"/>
              </a:ext>
            </a:extLst>
          </p:cNvPr>
          <p:cNvSpPr>
            <a:spLocks noGrp="1"/>
          </p:cNvSpPr>
          <p:nvPr/>
        </p:nvSpPr>
        <p:spPr>
          <a:xfrm>
            <a:off x="548640" y="5829300"/>
            <a:ext cx="11064240" cy="438150"/>
          </a:xfrm>
          <a:prstGeom prst="roundRect">
            <a:avLst>
              <a:gd name="adj" fmla="val 16695"/>
            </a:avLst>
          </a:prstGeom>
          <a:solidFill>
            <a:srgbClr val="EAF2FB"/>
          </a:solidFill>
          <a:ln w="9525">
            <a:solidFill>
              <a:srgbClr val="004F9F"/>
            </a:solidFill>
            <a:prstDash val="solid"/>
          </a:ln>
        </p:spPr>
        <p:txBody>
          <a:bodyPr/>
          <a:lstStyle/>
          <a:p>
            <a:endParaRPr lang="ko-KR" altLang="en-US"/>
          </a:p>
        </p:txBody>
      </p:sp>
      <p:sp>
        <p:nvSpPr>
          <p:cNvPr id="12" name="copy-18">
            <a:extLst>
              <a:ext uri="{FF2B5EF4-FFF2-40B4-BE49-F238E27FC236}">
                <a16:creationId xmlns:a16="http://schemas.microsoft.com/office/drawing/2014/main" id="{13979508-D23A-40CD-85B8-73D13D7F6680}"/>
              </a:ext>
            </a:extLst>
          </p:cNvPr>
          <p:cNvSpPr>
            <a:spLocks noGrp="1"/>
          </p:cNvSpPr>
          <p:nvPr/>
        </p:nvSpPr>
        <p:spPr>
          <a:xfrm>
            <a:off x="742950" y="5867400"/>
            <a:ext cx="10648950" cy="361950"/>
          </a:xfrm>
          <a:prstGeom prst="rect">
            <a:avLst/>
          </a:prstGeom>
          <a:noFill/>
          <a:ln w="0">
            <a:noFill/>
            <a:prstDash val="solid"/>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a:solidFill>
                  <a:srgbClr val="004F9F"/>
                </a:solidFill>
                <a:latin typeface="에이투지체 6 SemiBold"/>
                <a:ea typeface="에이투지체 6 SemiBold"/>
                <a:cs typeface="에이투지체 6 SemiBold"/>
              </a:rPr>
              <a:t>브랜드스토어 2억원과 외부몰 1억원을 배분해, 월 전환매출 11.29억원을 목표로 운영합니다</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D8EBD-6CE1-F0D4-967B-042AD5E26285}"/>
            </a:ext>
          </a:extLst>
        </p:cNvPr>
        <p:cNvGrpSpPr/>
        <p:nvPr/>
      </p:nvGrpSpPr>
      <p:grpSpPr>
        <a:xfrm>
          <a:off x="0" y="0"/>
          <a:ext cx="0" cy="0"/>
          <a:chOff x="0" y="0"/>
          <a:chExt cx="0" cy="0"/>
        </a:xfrm>
      </p:grpSpPr>
      <p:sp>
        <p:nvSpPr>
          <p:cNvPr id="3" name="TextBox 1">
            <a:extLst>
              <a:ext uri="{FF2B5EF4-FFF2-40B4-BE49-F238E27FC236}">
                <a16:creationId xmlns:a16="http://schemas.microsoft.com/office/drawing/2014/main" id="{8074FB64-5D06-40A8-6A8C-C632961B62CA}"/>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5 · 3억 통합 미디어믹스</a:t>
            </a:r>
            <a:endParaRPr lang="ko-KR" sz="900" dirty="0"/>
          </a:p>
        </p:txBody>
      </p:sp>
      <p:sp>
        <p:nvSpPr>
          <p:cNvPr id="4" name="TextBox 7">
            <a:extLst>
              <a:ext uri="{FF2B5EF4-FFF2-40B4-BE49-F238E27FC236}">
                <a16:creationId xmlns:a16="http://schemas.microsoft.com/office/drawing/2014/main" id="{A8A8A126-8F61-D712-DCBE-B6F84497D4F6}"/>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5" name="TextBox 8">
            <a:extLst>
              <a:ext uri="{FF2B5EF4-FFF2-40B4-BE49-F238E27FC236}">
                <a16:creationId xmlns:a16="http://schemas.microsoft.com/office/drawing/2014/main" id="{E0109634-8FE3-7C03-1D10-1EB107061F91}"/>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6" name="PGNO">
            <a:extLst>
              <a:ext uri="{FF2B5EF4-FFF2-40B4-BE49-F238E27FC236}">
                <a16:creationId xmlns:a16="http://schemas.microsoft.com/office/drawing/2014/main" id="{0494F179-EF8B-CA72-5184-534525A36CBA}"/>
              </a:ext>
            </a:extLst>
          </p:cNvPr>
          <p:cNvSpPr txBox="1"/>
          <p:nvPr/>
        </p:nvSpPr>
        <p:spPr>
          <a:xfrm>
            <a:off x="11125200" y="6473952"/>
            <a:ext cx="533400" cy="123111"/>
          </a:xfrm>
          <a:prstGeom prst="rect">
            <a:avLst/>
          </a:prstGeom>
          <a:noFill/>
        </p:spPr>
        <p:txBody>
          <a:bodyPr wrap="square" lIns="0" tIns="0" rIns="0" bIns="0" anchor="t">
            <a:spAutoFit/>
          </a:bodyPr>
          <a:lstStyle/>
          <a:p>
            <a:pPr algn="r"/>
            <a:r>
              <a:rPr lang="en-US" sz="800" dirty="0">
                <a:solidFill>
                  <a:srgbClr val="222222"/>
                </a:solidFill>
                <a:latin typeface="에이투지체 6 SemiBold"/>
              </a:rPr>
              <a:t>76</a:t>
            </a:r>
            <a:endParaRPr sz="800" dirty="0">
              <a:solidFill>
                <a:srgbClr val="222222"/>
              </a:solidFill>
              <a:latin typeface="에이투지체 6 SemiBold"/>
            </a:endParaRPr>
          </a:p>
        </p:txBody>
      </p:sp>
      <p:sp>
        <p:nvSpPr>
          <p:cNvPr id="7" name="slide-title">
            <a:extLst>
              <a:ext uri="{FF2B5EF4-FFF2-40B4-BE49-F238E27FC236}">
                <a16:creationId xmlns:a16="http://schemas.microsoft.com/office/drawing/2014/main" id="{111BF458-B68C-4C4B-A9C1-E9C68C324F7C}"/>
              </a:ext>
            </a:extLst>
          </p:cNvPr>
          <p:cNvSpPr>
            <a:spLocks noGrp="1"/>
          </p:cNvSpPr>
          <p:nvPr/>
        </p:nvSpPr>
        <p:spPr>
          <a:xfrm>
            <a:off x="548640" y="658368"/>
            <a:ext cx="11064240" cy="868680"/>
          </a:xfrm>
          <a:prstGeom prst="rect">
            <a:avLst/>
          </a:prstGeom>
          <a:noFill/>
          <a:ln w="0">
            <a:noFill/>
            <a:prstDash val="solid"/>
          </a:ln>
        </p:spPr>
        <p:txBody>
          <a:bodyPr wrap="square" lIns="0" tIns="0" rIns="0" bIns="0" anchor="ctr"/>
          <a:lstStyle>
            <a:defPPr algn="l">
              <a:defRPr sz="2000">
                <a:solidFill>
                  <a:srgbClr val="2E6BD5"/>
                </a:solidFill>
                <a:latin typeface="에이투지체 8 ExtraBold"/>
                <a:ea typeface="에이투지체 8 ExtraBold"/>
                <a:cs typeface="에이투지체 8 ExtraBold"/>
              </a:defRPr>
            </a:defPP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3억 통합 미디어믹스 2안</a:t>
            </a:r>
            <a:r>
              <a:rPr lang="ko-KR" sz="1900" dirty="0">
                <a:solidFill>
                  <a:srgbClr val="222222"/>
                </a:solidFill>
                <a:latin typeface="에이투지체 8 ExtraBold"/>
                <a:ea typeface="에이투지체 8 ExtraBold"/>
                <a:cs typeface="에이투지체 8 ExtraBold"/>
              </a:rPr>
              <a:t>  신규 상품 광고를 함께 집행할 경우</a:t>
            </a:r>
            <a:endParaRPr lang="ko-KR" sz="1900" dirty="0"/>
          </a:p>
          <a:p>
            <a:pPr marL="0" indent="0">
              <a:lnSpc>
                <a:spcPts val="2600"/>
              </a:lnSpc>
              <a:buNone/>
            </a:pPr>
            <a:r>
              <a:rPr lang="ko-KR" sz="1900" dirty="0">
                <a:solidFill>
                  <a:srgbClr val="222222"/>
                </a:solidFill>
                <a:latin typeface="에이투지체 8 ExtraBold"/>
                <a:ea typeface="에이투지체 8 ExtraBold"/>
                <a:cs typeface="에이투지체 8 ExtraBold"/>
              </a:rPr>
              <a:t>기존 상품 운영에 신규 유입 광고를 더해 월 전환매출 10.62억 원을 목표로 합니다</a:t>
            </a:r>
            <a:endParaRPr lang="ko-KR" sz="1900" dirty="0"/>
          </a:p>
        </p:txBody>
      </p:sp>
      <p:sp>
        <p:nvSpPr>
          <p:cNvPr id="8" name="slide-subtitle">
            <a:extLst>
              <a:ext uri="{FF2B5EF4-FFF2-40B4-BE49-F238E27FC236}">
                <a16:creationId xmlns:a16="http://schemas.microsoft.com/office/drawing/2014/main" id="{F967AD64-6633-44F9-AF7B-A8F7B65BB976}"/>
              </a:ext>
            </a:extLst>
          </p:cNvPr>
          <p:cNvSpPr>
            <a:spLocks noGrp="1"/>
          </p:cNvSpPr>
          <p:nvPr/>
        </p:nvSpPr>
        <p:spPr>
          <a:xfrm>
            <a:off x="548640" y="1517904"/>
            <a:ext cx="11064240" cy="365760"/>
          </a:xfrm>
          <a:prstGeom prst="rect">
            <a:avLst/>
          </a:prstGeom>
          <a:noFill/>
          <a:ln w="0">
            <a:noFill/>
            <a:prstDash val="solid"/>
          </a:ln>
        </p:spPr>
        <p:txBody>
          <a:bodyPr wrap="square" lIns="0" tIns="0" rIns="0" bIns="0" anchor="ctr"/>
          <a:lstStyle>
            <a:defPPr algn="l">
              <a:defRPr sz="1400">
                <a:solidFill>
                  <a:srgbClr val="5C5C5C"/>
                </a:solidFill>
                <a:latin typeface="에이투지체 5 Medium"/>
                <a:ea typeface="에이투지체 5 Medium"/>
                <a:cs typeface="에이투지체 5 Medium"/>
              </a:defRPr>
            </a:defPPr>
          </a:lstStyle>
          <a:p>
            <a:pPr marL="0" indent="0">
              <a:buNone/>
            </a:pPr>
            <a:r>
              <a:rPr lang="ko-KR" sz="1100" dirty="0">
                <a:solidFill>
                  <a:srgbClr val="5C5C5C"/>
                </a:solidFill>
                <a:latin typeface="에이투지체 5 Medium"/>
                <a:ea typeface="에이투지체 5 Medium"/>
                <a:cs typeface="에이투지체 5 Medium"/>
              </a:rPr>
              <a:t>3억 통합 미디어믹스와 KPI</a:t>
            </a:r>
            <a:endParaRPr lang="ko-KR" sz="1100" dirty="0"/>
          </a:p>
        </p:txBody>
      </p:sp>
      <p:graphicFrame>
        <p:nvGraphicFramePr>
          <p:cNvPr id="9" name="표 8">
            <a:extLst>
              <a:ext uri="{FF2B5EF4-FFF2-40B4-BE49-F238E27FC236}">
                <a16:creationId xmlns:a16="http://schemas.microsoft.com/office/drawing/2014/main" id="{30FA64DE-7C9B-4A57-9B74-D52D0BF276D3}"/>
              </a:ext>
            </a:extLst>
          </p:cNvPr>
          <p:cNvGraphicFramePr/>
          <p:nvPr>
            <p:extLst>
              <p:ext uri="{D42A27DB-BD31-4B8C-83A1-F6EECF244321}">
                <p14:modId xmlns:p14="http://schemas.microsoft.com/office/powerpoint/2010/main" val="3103428924"/>
              </p:ext>
            </p:extLst>
          </p:nvPr>
        </p:nvGraphicFramePr>
        <p:xfrm>
          <a:off x="552450" y="2076450"/>
          <a:ext cx="11068050" cy="3580007"/>
        </p:xfrm>
        <a:graphic>
          <a:graphicData uri="http://schemas.openxmlformats.org/drawingml/2006/table">
            <a:tbl>
              <a:tblPr/>
              <a:tblGrid>
                <a:gridCol w="1714500">
                  <a:extLst>
                    <a:ext uri="{9D8B030D-6E8A-4147-A177-3AD203B41FA5}">
                      <a16:colId xmlns:a16="http://schemas.microsoft.com/office/drawing/2014/main" val="20000"/>
                    </a:ext>
                  </a:extLst>
                </a:gridCol>
                <a:gridCol w="2400300">
                  <a:extLst>
                    <a:ext uri="{9D8B030D-6E8A-4147-A177-3AD203B41FA5}">
                      <a16:colId xmlns:a16="http://schemas.microsoft.com/office/drawing/2014/main" val="20001"/>
                    </a:ext>
                  </a:extLst>
                </a:gridCol>
                <a:gridCol w="1257300">
                  <a:extLst>
                    <a:ext uri="{9D8B030D-6E8A-4147-A177-3AD203B41FA5}">
                      <a16:colId xmlns:a16="http://schemas.microsoft.com/office/drawing/2014/main" val="20002"/>
                    </a:ext>
                  </a:extLst>
                </a:gridCol>
                <a:gridCol w="781050">
                  <a:extLst>
                    <a:ext uri="{9D8B030D-6E8A-4147-A177-3AD203B41FA5}">
                      <a16:colId xmlns:a16="http://schemas.microsoft.com/office/drawing/2014/main" val="20003"/>
                    </a:ext>
                  </a:extLst>
                </a:gridCol>
                <a:gridCol w="1047750">
                  <a:extLst>
                    <a:ext uri="{9D8B030D-6E8A-4147-A177-3AD203B41FA5}">
                      <a16:colId xmlns:a16="http://schemas.microsoft.com/office/drawing/2014/main" val="20004"/>
                    </a:ext>
                  </a:extLst>
                </a:gridCol>
                <a:gridCol w="952500">
                  <a:extLst>
                    <a:ext uri="{9D8B030D-6E8A-4147-A177-3AD203B41FA5}">
                      <a16:colId xmlns:a16="http://schemas.microsoft.com/office/drawing/2014/main" val="20005"/>
                    </a:ext>
                  </a:extLst>
                </a:gridCol>
                <a:gridCol w="1647825">
                  <a:extLst>
                    <a:ext uri="{9D8B030D-6E8A-4147-A177-3AD203B41FA5}">
                      <a16:colId xmlns:a16="http://schemas.microsoft.com/office/drawing/2014/main" val="20006"/>
                    </a:ext>
                  </a:extLst>
                </a:gridCol>
                <a:gridCol w="1266825">
                  <a:extLst>
                    <a:ext uri="{9D8B030D-6E8A-4147-A177-3AD203B41FA5}">
                      <a16:colId xmlns:a16="http://schemas.microsoft.com/office/drawing/2014/main" val="20007"/>
                    </a:ext>
                  </a:extLst>
                </a:gridCol>
              </a:tblGrid>
              <a:tr h="352425">
                <a:tc>
                  <a:txBody>
                    <a:bodyPr/>
                    <a:lstStyle/>
                    <a:p>
                      <a:pPr algn="ctr"/>
                      <a:r>
                        <a:rPr sz="1058" dirty="0" err="1">
                          <a:solidFill>
                            <a:srgbClr val="FFFFFF"/>
                          </a:solidFill>
                          <a:latin typeface="에이투지체 6 SemiBold"/>
                          <a:ea typeface="에이투지체 6 SemiBold"/>
                          <a:cs typeface="에이투지체 6 SemiBold"/>
                        </a:rPr>
                        <a:t>구분</a:t>
                      </a:r>
                      <a:endParaRPr sz="1058" dirty="0">
                        <a:solidFill>
                          <a:srgbClr val="FFFFFF"/>
                        </a:solidFill>
                        <a:latin typeface="에이투지체 6 SemiBold"/>
                        <a:ea typeface="에이투지체 6 SemiBold"/>
                        <a:cs typeface="에이투지체 6 SemiBold"/>
                      </a:endParaRPr>
                    </a:p>
                  </a:txBody>
                  <a:tcPr marL="95250" marR="95250" marT="19050" marB="19050" anchor="ctr">
                    <a:lnL w="14288">
                      <a:noFill/>
                      <a:prstDash val="soli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058">
                          <a:solidFill>
                            <a:srgbClr val="FFFFFF"/>
                          </a:solidFill>
                          <a:latin typeface="에이투지체 6 SemiBold"/>
                          <a:ea typeface="에이투지체 6 SemiBold"/>
                          <a:cs typeface="에이투지체 6 SemiBold"/>
                        </a:rPr>
                        <a:t>매체</a:t>
                      </a:r>
                    </a:p>
                  </a:txBody>
                  <a:tcPr marL="95250" marR="95250" marT="19050" marB="19050"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058">
                          <a:solidFill>
                            <a:srgbClr val="FFFFFF"/>
                          </a:solidFill>
                          <a:latin typeface="에이투지체 6 SemiBold"/>
                          <a:ea typeface="에이투지체 6 SemiBold"/>
                          <a:cs typeface="에이투지체 6 SemiBold"/>
                        </a:rPr>
                        <a:t>예산</a:t>
                      </a:r>
                    </a:p>
                    <a:p>
                      <a:pPr algn="ctr"/>
                      <a:r>
                        <a:rPr sz="1058">
                          <a:solidFill>
                            <a:srgbClr val="FFFFFF"/>
                          </a:solidFill>
                          <a:latin typeface="에이투지체 6 SemiBold"/>
                          <a:ea typeface="에이투지체 6 SemiBold"/>
                          <a:cs typeface="에이투지체 6 SemiBold"/>
                        </a:rPr>
                        <a:t>(만원)</a:t>
                      </a:r>
                    </a:p>
                  </a:txBody>
                  <a:tcPr marL="95250" marR="95250" marT="19050" marB="19050"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058">
                          <a:solidFill>
                            <a:srgbClr val="FFFFFF"/>
                          </a:solidFill>
                          <a:latin typeface="에이투지체 6 SemiBold"/>
                          <a:ea typeface="에이투지체 6 SemiBold"/>
                          <a:cs typeface="에이투지체 6 SemiBold"/>
                        </a:rPr>
                        <a:t>비중</a:t>
                      </a:r>
                    </a:p>
                  </a:txBody>
                  <a:tcPr marL="95250" marR="95250" marT="19050" marB="19050"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058">
                          <a:solidFill>
                            <a:srgbClr val="FFFFFF"/>
                          </a:solidFill>
                          <a:latin typeface="에이투지체 6 SemiBold"/>
                          <a:ea typeface="에이투지체 6 SemiBold"/>
                          <a:cs typeface="에이투지체 6 SemiBold"/>
                        </a:rPr>
                        <a:t>클릭</a:t>
                      </a:r>
                    </a:p>
                  </a:txBody>
                  <a:tcPr marL="95250" marR="95250" marT="19050" marB="19050"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058">
                          <a:solidFill>
                            <a:srgbClr val="FFFFFF"/>
                          </a:solidFill>
                          <a:latin typeface="에이투지체 6 SemiBold"/>
                          <a:ea typeface="에이투지체 6 SemiBold"/>
                          <a:cs typeface="에이투지체 6 SemiBold"/>
                        </a:rPr>
                        <a:t>CPC</a:t>
                      </a:r>
                    </a:p>
                    <a:p>
                      <a:pPr algn="ctr"/>
                      <a:r>
                        <a:rPr sz="1058">
                          <a:solidFill>
                            <a:srgbClr val="FFFFFF"/>
                          </a:solidFill>
                          <a:latin typeface="에이투지체 6 SemiBold"/>
                          <a:ea typeface="에이투지체 6 SemiBold"/>
                          <a:cs typeface="에이투지체 6 SemiBold"/>
                        </a:rPr>
                        <a:t>(원)</a:t>
                      </a:r>
                    </a:p>
                  </a:txBody>
                  <a:tcPr marL="95250" marR="95250" marT="19050" marB="19050"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058">
                          <a:solidFill>
                            <a:srgbClr val="FFFFFF"/>
                          </a:solidFill>
                          <a:latin typeface="에이투지체 6 SemiBold"/>
                          <a:ea typeface="에이투지체 6 SemiBold"/>
                          <a:cs typeface="에이투지체 6 SemiBold"/>
                        </a:rPr>
                        <a:t>전환매출</a:t>
                      </a:r>
                    </a:p>
                    <a:p>
                      <a:pPr algn="ctr"/>
                      <a:r>
                        <a:rPr sz="1058">
                          <a:solidFill>
                            <a:srgbClr val="FFFFFF"/>
                          </a:solidFill>
                          <a:latin typeface="에이투지체 6 SemiBold"/>
                          <a:ea typeface="에이투지체 6 SemiBold"/>
                          <a:cs typeface="에이투지체 6 SemiBold"/>
                        </a:rPr>
                        <a:t>(만원)</a:t>
                      </a:r>
                    </a:p>
                  </a:txBody>
                  <a:tcPr marL="95250" marR="95250" marT="19050" marB="19050"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tc>
                  <a:txBody>
                    <a:bodyPr/>
                    <a:lstStyle/>
                    <a:p>
                      <a:pPr algn="ctr"/>
                      <a:r>
                        <a:rPr sz="1058">
                          <a:solidFill>
                            <a:srgbClr val="FFFFFF"/>
                          </a:solidFill>
                          <a:latin typeface="에이투지체 6 SemiBold"/>
                          <a:ea typeface="에이투지체 6 SemiBold"/>
                          <a:cs typeface="에이투지체 6 SemiBold"/>
                        </a:rPr>
                        <a:t>ROAS</a:t>
                      </a:r>
                    </a:p>
                  </a:txBody>
                  <a:tcPr marL="95250" marR="95250" marT="19050" marB="19050" anchor="ctr">
                    <a:lnL w="14288" cap="flat" cmpd="sng" algn="ctr">
                      <a:noFill/>
                      <a:prstDash val="solid"/>
                      <a:round/>
                      <a:headEnd type="none" w="med" len="med"/>
                      <a:tailEnd type="none" w="med" len="med"/>
                    </a:lnL>
                    <a:lnR w="14288">
                      <a:noFill/>
                      <a:prstDash val="solid"/>
                    </a:lnR>
                    <a:lnT w="14288">
                      <a:noFill/>
                      <a:prstDash val="solid"/>
                    </a:lnT>
                    <a:lnB w="14288">
                      <a:noFill/>
                      <a:prstDash val="solid"/>
                    </a:lnB>
                    <a:lnTlToBr w="12700" cmpd="sng">
                      <a:noFill/>
                      <a:prstDash val="solid"/>
                    </a:lnTlToBr>
                    <a:lnBlToTr w="12700" cmpd="sng">
                      <a:noFill/>
                      <a:prstDash val="solid"/>
                    </a:lnBlToTr>
                    <a:solidFill>
                      <a:srgbClr val="0E3A72"/>
                    </a:solidFill>
                  </a:tcPr>
                </a:tc>
                <a:extLst>
                  <a:ext uri="{0D108BD9-81ED-4DB2-BD59-A6C34878D82A}">
                    <a16:rowId xmlns:a16="http://schemas.microsoft.com/office/drawing/2014/main" val="10000"/>
                  </a:ext>
                </a:extLst>
              </a:tr>
              <a:tr h="229961">
                <a:tc rowSpan="8">
                  <a:txBody>
                    <a:bodyPr/>
                    <a:lstStyle/>
                    <a:p>
                      <a:pPr algn="ctr"/>
                      <a:r>
                        <a:rPr sz="1155" dirty="0" err="1">
                          <a:solidFill>
                            <a:srgbClr val="222222"/>
                          </a:solidFill>
                          <a:latin typeface="에이투지체 5 Medium"/>
                          <a:ea typeface="에이투지체 5 Medium"/>
                          <a:cs typeface="에이투지체 5 Medium"/>
                        </a:rPr>
                        <a:t>브랜드스토어</a:t>
                      </a:r>
                      <a:endParaRPr sz="1155" dirty="0">
                        <a:solidFill>
                          <a:srgbClr val="222222"/>
                        </a:solidFill>
                        <a:latin typeface="에이투지체 5 Medium"/>
                        <a:ea typeface="에이투지체 5 Medium"/>
                        <a:cs typeface="에이투지체 5 Medium"/>
                      </a:endParaRPr>
                    </a:p>
                  </a:txBody>
                  <a:tcPr marL="95250" marR="95250" marT="19050" marB="19050" anchor="ctr">
                    <a:lnL w="14288">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l"/>
                      <a:r>
                        <a:rPr sz="1155" dirty="0" err="1">
                          <a:solidFill>
                            <a:srgbClr val="222222"/>
                          </a:solidFill>
                          <a:latin typeface="에이투지체 5 Medium"/>
                          <a:ea typeface="에이투지체 5 Medium"/>
                          <a:cs typeface="에이투지체 5 Medium"/>
                        </a:rPr>
                        <a:t>네이버</a:t>
                      </a:r>
                      <a:r>
                        <a:rPr sz="1155" dirty="0">
                          <a:solidFill>
                            <a:srgbClr val="222222"/>
                          </a:solidFill>
                          <a:latin typeface="에이투지체 5 Medium"/>
                          <a:ea typeface="에이투지체 5 Medium"/>
                          <a:cs typeface="에이투지체 5 Medium"/>
                        </a:rPr>
                        <a:t> GFA (</a:t>
                      </a:r>
                      <a:r>
                        <a:rPr sz="1155" dirty="0" err="1">
                          <a:solidFill>
                            <a:srgbClr val="222222"/>
                          </a:solidFill>
                          <a:latin typeface="에이투지체 5 Medium"/>
                          <a:ea typeface="에이투지체 5 Medium"/>
                          <a:cs typeface="에이투지체 5 Medium"/>
                        </a:rPr>
                        <a:t>기존</a:t>
                      </a:r>
                      <a:r>
                        <a:rPr sz="1155" dirty="0">
                          <a:solidFill>
                            <a:srgbClr val="222222"/>
                          </a:solidFill>
                          <a:latin typeface="에이투지체 5 Medium"/>
                          <a:ea typeface="에이투지체 5 Medium"/>
                          <a:cs typeface="에이투지체 5 Medium"/>
                        </a:rPr>
                        <a:t>)</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8,000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26.7%</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47,059</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1,700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32,000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400.0%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0001"/>
                  </a:ext>
                </a:extLst>
              </a:tr>
              <a:tr h="229961">
                <a:tc vMerge="1">
                  <a:txBody>
                    <a:bodyPr/>
                    <a:lstStyle/>
                    <a:p>
                      <a:endParaRPr/>
                    </a:p>
                  </a:txBody>
                  <a:tcPr marL="95250" marR="95250" marT="19050" marB="19050" anchor="ctr">
                    <a:lnL w="14288">
                      <a:solidFill>
                        <a:srgbClr val="FFFFFF"/>
                      </a:solidFill>
                      <a:prstDash val="solid"/>
                    </a:lnL>
                    <a:lnR w="14288">
                      <a:solidFill>
                        <a:srgbClr val="FFFFFF"/>
                      </a:solidFill>
                      <a:prstDash val="solid"/>
                    </a:lnR>
                    <a:lnB w="14288">
                      <a:solidFill>
                        <a:srgbClr val="FFFFFF"/>
                      </a:solidFill>
                      <a:prstDash val="solid"/>
                    </a:lnB>
                    <a:solidFill>
                      <a:srgbClr val="EAF2FB"/>
                    </a:solidFill>
                  </a:tcPr>
                </a:tc>
                <a:tc>
                  <a:txBody>
                    <a:bodyPr/>
                    <a:lstStyle/>
                    <a:p>
                      <a:pPr algn="l"/>
                      <a:r>
                        <a:rPr sz="1155" dirty="0" err="1">
                          <a:solidFill>
                            <a:srgbClr val="222222"/>
                          </a:solidFill>
                          <a:latin typeface="에이투지체 5 Medium"/>
                          <a:ea typeface="에이투지체 5 Medium"/>
                          <a:cs typeface="에이투지체 5 Medium"/>
                        </a:rPr>
                        <a:t>네이버</a:t>
                      </a:r>
                      <a:r>
                        <a:rPr sz="1155" dirty="0">
                          <a:solidFill>
                            <a:srgbClr val="222222"/>
                          </a:solidFill>
                          <a:latin typeface="에이투지체 5 Medium"/>
                          <a:ea typeface="에이투지체 5 Medium"/>
                          <a:cs typeface="에이투지체 5 Medium"/>
                        </a:rPr>
                        <a:t> GFA (</a:t>
                      </a:r>
                      <a:r>
                        <a:rPr sz="1155" dirty="0" err="1">
                          <a:solidFill>
                            <a:srgbClr val="222222"/>
                          </a:solidFill>
                          <a:latin typeface="에이투지체 5 Medium"/>
                          <a:ea typeface="에이투지체 5 Medium"/>
                          <a:cs typeface="에이투지체 5 Medium"/>
                        </a:rPr>
                        <a:t>신규</a:t>
                      </a:r>
                      <a:r>
                        <a:rPr sz="1155" dirty="0">
                          <a:solidFill>
                            <a:srgbClr val="222222"/>
                          </a:solidFill>
                          <a:latin typeface="에이투지체 5 Medium"/>
                          <a:ea typeface="에이투지체 5 Medium"/>
                          <a:cs typeface="에이투지체 5 Medium"/>
                        </a:rPr>
                        <a:t>)</a:t>
                      </a:r>
                    </a:p>
                  </a:txBody>
                  <a:tcPr marL="95250" marR="95250" marT="19050" marB="19050"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dirty="0">
                          <a:solidFill>
                            <a:srgbClr val="222222"/>
                          </a:solidFill>
                          <a:latin typeface="에이투지체 5 Medium"/>
                          <a:ea typeface="에이투지체 5 Medium"/>
                          <a:cs typeface="에이투지체 5 Medium"/>
                        </a:rPr>
                        <a:t>2,000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6.7%</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10,000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2,000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5,000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250.0%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extLst>
                  <a:ext uri="{0D108BD9-81ED-4DB2-BD59-A6C34878D82A}">
                    <a16:rowId xmlns:a16="http://schemas.microsoft.com/office/drawing/2014/main" val="10002"/>
                  </a:ext>
                </a:extLst>
              </a:tr>
              <a:tr h="229961">
                <a:tc vMerge="1">
                  <a:txBody>
                    <a:bodyPr/>
                    <a:lstStyle/>
                    <a:p>
                      <a:endParaRPr/>
                    </a:p>
                  </a:txBody>
                  <a:tcPr marL="95250" marR="95250" marT="19050" marB="19050" anchor="ctr">
                    <a:lnL w="14288">
                      <a:solidFill>
                        <a:srgbClr val="FFFFFF"/>
                      </a:solidFill>
                      <a:prstDash val="solid"/>
                    </a:lnL>
                    <a:lnR w="14288">
                      <a:solidFill>
                        <a:srgbClr val="FFFFFF"/>
                      </a:solidFill>
                      <a:prstDash val="solid"/>
                    </a:lnR>
                    <a:lnB w="14288">
                      <a:solidFill>
                        <a:srgbClr val="FFFFFF"/>
                      </a:solidFill>
                      <a:prstDash val="solid"/>
                    </a:lnB>
                    <a:solidFill>
                      <a:srgbClr val="F5F5F5"/>
                    </a:solidFill>
                  </a:tcPr>
                </a:tc>
                <a:tc>
                  <a:txBody>
                    <a:bodyPr/>
                    <a:lstStyle/>
                    <a:p>
                      <a:pPr algn="l"/>
                      <a:r>
                        <a:rPr sz="1155" dirty="0" err="1">
                          <a:solidFill>
                            <a:srgbClr val="222222"/>
                          </a:solidFill>
                          <a:latin typeface="에이투지체 5 Medium"/>
                          <a:ea typeface="에이투지체 5 Medium"/>
                          <a:cs typeface="에이투지체 5 Medium"/>
                        </a:rPr>
                        <a:t>네이버</a:t>
                      </a:r>
                      <a:r>
                        <a:rPr sz="1155" dirty="0">
                          <a:solidFill>
                            <a:srgbClr val="222222"/>
                          </a:solidFill>
                          <a:latin typeface="에이투지체 5 Medium"/>
                          <a:ea typeface="에이투지체 5 Medium"/>
                          <a:cs typeface="에이투지체 5 Medium"/>
                        </a:rPr>
                        <a:t> </a:t>
                      </a:r>
                      <a:r>
                        <a:rPr sz="1155" dirty="0" err="1">
                          <a:solidFill>
                            <a:srgbClr val="222222"/>
                          </a:solidFill>
                          <a:latin typeface="에이투지체 5 Medium"/>
                          <a:ea typeface="에이투지체 5 Medium"/>
                          <a:cs typeface="에이투지체 5 Medium"/>
                        </a:rPr>
                        <a:t>쇼핑검색</a:t>
                      </a:r>
                      <a:r>
                        <a:rPr sz="1155" dirty="0">
                          <a:solidFill>
                            <a:srgbClr val="222222"/>
                          </a:solidFill>
                          <a:latin typeface="에이투지체 5 Medium"/>
                          <a:ea typeface="에이투지체 5 Medium"/>
                          <a:cs typeface="에이투지체 5 Medium"/>
                        </a:rPr>
                        <a:t> (</a:t>
                      </a:r>
                      <a:r>
                        <a:rPr sz="1155" dirty="0" err="1">
                          <a:solidFill>
                            <a:srgbClr val="222222"/>
                          </a:solidFill>
                          <a:latin typeface="에이투지체 5 Medium"/>
                          <a:ea typeface="에이투지체 5 Medium"/>
                          <a:cs typeface="에이투지체 5 Medium"/>
                        </a:rPr>
                        <a:t>기존</a:t>
                      </a:r>
                      <a:r>
                        <a:rPr sz="1155" dirty="0">
                          <a:solidFill>
                            <a:srgbClr val="222222"/>
                          </a:solidFill>
                          <a:latin typeface="에이투지체 5 Medium"/>
                          <a:ea typeface="에이투지체 5 Medium"/>
                          <a:cs typeface="에이투지체 5 Medium"/>
                        </a:rPr>
                        <a:t>)</a:t>
                      </a:r>
                    </a:p>
                  </a:txBody>
                  <a:tcPr marL="95250" marR="95250" marT="19050" marB="19050"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dirty="0">
                          <a:solidFill>
                            <a:srgbClr val="222222"/>
                          </a:solidFill>
                          <a:latin typeface="에이투지체 5 Medium"/>
                          <a:ea typeface="에이투지체 5 Medium"/>
                          <a:cs typeface="에이투지체 5 Medium"/>
                        </a:rPr>
                        <a:t>7,000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dirty="0">
                          <a:solidFill>
                            <a:srgbClr val="222222"/>
                          </a:solidFill>
                          <a:latin typeface="에이투지체 5 Medium"/>
                          <a:ea typeface="에이투지체 5 Medium"/>
                          <a:cs typeface="에이투지체 5 Medium"/>
                        </a:rPr>
                        <a:t>23.3%</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25,000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2,800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28,000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400.0%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0003"/>
                  </a:ext>
                </a:extLst>
              </a:tr>
              <a:tr h="229961">
                <a:tc vMerge="1">
                  <a:txBody>
                    <a:bodyPr/>
                    <a:lstStyle/>
                    <a:p>
                      <a:endParaRPr/>
                    </a:p>
                  </a:txBody>
                  <a:tcPr marL="95250" marR="95250" marT="19050" marB="19050" anchor="ctr">
                    <a:lnL w="14288">
                      <a:solidFill>
                        <a:srgbClr val="FFFFFF"/>
                      </a:solidFill>
                      <a:prstDash val="solid"/>
                    </a:lnL>
                    <a:lnR w="14288">
                      <a:solidFill>
                        <a:srgbClr val="FFFFFF"/>
                      </a:solidFill>
                      <a:prstDash val="solid"/>
                    </a:lnR>
                    <a:lnB w="14288">
                      <a:solidFill>
                        <a:srgbClr val="FFFFFF"/>
                      </a:solidFill>
                      <a:prstDash val="solid"/>
                    </a:lnB>
                    <a:solidFill>
                      <a:srgbClr val="EAF2FB"/>
                    </a:solidFill>
                  </a:tcPr>
                </a:tc>
                <a:tc>
                  <a:txBody>
                    <a:bodyPr/>
                    <a:lstStyle/>
                    <a:p>
                      <a:pPr algn="l"/>
                      <a:r>
                        <a:rPr sz="1155">
                          <a:solidFill>
                            <a:srgbClr val="222222"/>
                          </a:solidFill>
                          <a:latin typeface="에이투지체 5 Medium"/>
                          <a:ea typeface="에이투지체 5 Medium"/>
                          <a:cs typeface="에이투지체 5 Medium"/>
                        </a:rPr>
                        <a:t>네이버 쇼핑검색 (신규)</a:t>
                      </a:r>
                    </a:p>
                  </a:txBody>
                  <a:tcPr marL="95250" marR="95250" marT="19050" marB="19050"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dirty="0">
                          <a:solidFill>
                            <a:srgbClr val="222222"/>
                          </a:solidFill>
                          <a:latin typeface="에이투지체 5 Medium"/>
                          <a:ea typeface="에이투지체 5 Medium"/>
                          <a:cs typeface="에이투지체 5 Medium"/>
                        </a:rPr>
                        <a:t>1,500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5.0%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dirty="0">
                          <a:solidFill>
                            <a:srgbClr val="222222"/>
                          </a:solidFill>
                          <a:latin typeface="에이투지체 5 Medium"/>
                          <a:ea typeface="에이투지체 5 Medium"/>
                          <a:cs typeface="에이투지체 5 Medium"/>
                        </a:rPr>
                        <a:t>5,000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dirty="0">
                          <a:solidFill>
                            <a:srgbClr val="222222"/>
                          </a:solidFill>
                          <a:latin typeface="에이투지체 5 Medium"/>
                          <a:ea typeface="에이투지체 5 Medium"/>
                          <a:cs typeface="에이투지체 5 Medium"/>
                        </a:rPr>
                        <a:t>3,000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3,750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250.0%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extLst>
                  <a:ext uri="{0D108BD9-81ED-4DB2-BD59-A6C34878D82A}">
                    <a16:rowId xmlns:a16="http://schemas.microsoft.com/office/drawing/2014/main" val="10004"/>
                  </a:ext>
                </a:extLst>
              </a:tr>
              <a:tr h="229961">
                <a:tc vMerge="1">
                  <a:txBody>
                    <a:bodyPr/>
                    <a:lstStyle/>
                    <a:p>
                      <a:endParaRPr/>
                    </a:p>
                  </a:txBody>
                  <a:tcPr marL="95250" marR="95250" marT="19050" marB="19050" anchor="ctr">
                    <a:lnL w="14288">
                      <a:solidFill>
                        <a:srgbClr val="FFFFFF"/>
                      </a:solidFill>
                      <a:prstDash val="solid"/>
                    </a:lnL>
                    <a:lnR w="14288">
                      <a:solidFill>
                        <a:srgbClr val="FFFFFF"/>
                      </a:solidFill>
                      <a:prstDash val="solid"/>
                    </a:lnR>
                    <a:lnB w="14288">
                      <a:solidFill>
                        <a:srgbClr val="FFFFFF"/>
                      </a:solidFill>
                      <a:prstDash val="solid"/>
                    </a:lnB>
                    <a:solidFill>
                      <a:srgbClr val="F5F5F5"/>
                    </a:solidFill>
                  </a:tcPr>
                </a:tc>
                <a:tc>
                  <a:txBody>
                    <a:bodyPr/>
                    <a:lstStyle/>
                    <a:p>
                      <a:pPr algn="l"/>
                      <a:r>
                        <a:rPr sz="1155">
                          <a:solidFill>
                            <a:srgbClr val="222222"/>
                          </a:solidFill>
                          <a:latin typeface="에이투지체 5 Medium"/>
                          <a:ea typeface="에이투지체 5 Medium"/>
                          <a:cs typeface="에이투지체 5 Medium"/>
                        </a:rPr>
                        <a:t>메타 협력광고 (기존)</a:t>
                      </a:r>
                    </a:p>
                  </a:txBody>
                  <a:tcPr marL="95250" marR="95250" marT="19050" marB="19050"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dirty="0">
                          <a:solidFill>
                            <a:srgbClr val="222222"/>
                          </a:solidFill>
                          <a:latin typeface="에이투지체 5 Medium"/>
                          <a:ea typeface="에이투지체 5 Medium"/>
                          <a:cs typeface="에이투지체 5 Medium"/>
                        </a:rPr>
                        <a:t>700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2.3%</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14,000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dirty="0">
                          <a:solidFill>
                            <a:srgbClr val="222222"/>
                          </a:solidFill>
                          <a:latin typeface="에이투지체 5 Medium"/>
                          <a:ea typeface="에이투지체 5 Medium"/>
                          <a:cs typeface="에이투지체 5 Medium"/>
                        </a:rPr>
                        <a:t>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dirty="0">
                          <a:solidFill>
                            <a:srgbClr val="222222"/>
                          </a:solidFill>
                          <a:latin typeface="에이투지체 5 Medium"/>
                          <a:ea typeface="에이투지체 5 Medium"/>
                          <a:cs typeface="에이투지체 5 Medium"/>
                        </a:rPr>
                        <a:t>2,100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300.0%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0005"/>
                  </a:ext>
                </a:extLst>
              </a:tr>
              <a:tr h="229961">
                <a:tc vMerge="1">
                  <a:txBody>
                    <a:bodyPr/>
                    <a:lstStyle/>
                    <a:p>
                      <a:endParaRPr/>
                    </a:p>
                  </a:txBody>
                  <a:tcPr marL="95250" marR="95250" marT="19050" marB="19050" anchor="ctr">
                    <a:lnL w="14288">
                      <a:solidFill>
                        <a:srgbClr val="FFFFFF"/>
                      </a:solidFill>
                      <a:prstDash val="solid"/>
                    </a:lnL>
                    <a:lnR w="14288">
                      <a:solidFill>
                        <a:srgbClr val="FFFFFF"/>
                      </a:solidFill>
                      <a:prstDash val="solid"/>
                    </a:lnR>
                    <a:lnB w="14288">
                      <a:solidFill>
                        <a:srgbClr val="FFFFFF"/>
                      </a:solidFill>
                      <a:prstDash val="solid"/>
                    </a:lnB>
                    <a:solidFill>
                      <a:srgbClr val="EAF2FB"/>
                    </a:solidFill>
                  </a:tcPr>
                </a:tc>
                <a:tc>
                  <a:txBody>
                    <a:bodyPr/>
                    <a:lstStyle/>
                    <a:p>
                      <a:pPr algn="l"/>
                      <a:r>
                        <a:rPr sz="1155">
                          <a:solidFill>
                            <a:srgbClr val="222222"/>
                          </a:solidFill>
                          <a:latin typeface="에이투지체 5 Medium"/>
                          <a:ea typeface="에이투지체 5 Medium"/>
                          <a:cs typeface="에이투지체 5 Medium"/>
                        </a:rPr>
                        <a:t>메타 협력광고 (신규)</a:t>
                      </a:r>
                    </a:p>
                  </a:txBody>
                  <a:tcPr marL="95250" marR="95250" marT="19050" marB="19050"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300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dirty="0">
                          <a:solidFill>
                            <a:srgbClr val="222222"/>
                          </a:solidFill>
                          <a:latin typeface="에이투지체 5 Medium"/>
                          <a:ea typeface="에이투지체 5 Medium"/>
                          <a:cs typeface="에이투지체 5 Medium"/>
                        </a:rPr>
                        <a:t>1.0%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4,286</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700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dirty="0">
                          <a:solidFill>
                            <a:srgbClr val="222222"/>
                          </a:solidFill>
                          <a:latin typeface="에이투지체 5 Medium"/>
                          <a:ea typeface="에이투지체 5 Medium"/>
                          <a:cs typeface="에이투지체 5 Medium"/>
                        </a:rPr>
                        <a:t>600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200.0%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extLst>
                  <a:ext uri="{0D108BD9-81ED-4DB2-BD59-A6C34878D82A}">
                    <a16:rowId xmlns:a16="http://schemas.microsoft.com/office/drawing/2014/main" val="10006"/>
                  </a:ext>
                </a:extLst>
              </a:tr>
              <a:tr h="229961">
                <a:tc vMerge="1">
                  <a:txBody>
                    <a:bodyPr/>
                    <a:lstStyle/>
                    <a:p>
                      <a:endParaRPr/>
                    </a:p>
                  </a:txBody>
                  <a:tcPr marL="95250" marR="95250" marT="19050" marB="19050" anchor="ctr">
                    <a:lnL w="14288">
                      <a:solidFill>
                        <a:srgbClr val="FFFFFF"/>
                      </a:solidFill>
                      <a:prstDash val="solid"/>
                    </a:lnL>
                    <a:lnR w="14288">
                      <a:solidFill>
                        <a:srgbClr val="FFFFFF"/>
                      </a:solidFill>
                      <a:prstDash val="solid"/>
                    </a:lnR>
                    <a:lnB w="14288">
                      <a:solidFill>
                        <a:srgbClr val="FFFFFF"/>
                      </a:solidFill>
                      <a:prstDash val="solid"/>
                    </a:lnB>
                    <a:solidFill>
                      <a:srgbClr val="F5F5F5"/>
                    </a:solidFill>
                  </a:tcPr>
                </a:tc>
                <a:tc>
                  <a:txBody>
                    <a:bodyPr/>
                    <a:lstStyle/>
                    <a:p>
                      <a:pPr algn="l"/>
                      <a:r>
                        <a:rPr sz="1155">
                          <a:solidFill>
                            <a:srgbClr val="222222"/>
                          </a:solidFill>
                          <a:latin typeface="에이투지체 5 Medium"/>
                          <a:ea typeface="에이투지체 5 Medium"/>
                          <a:cs typeface="에이투지체 5 Medium"/>
                        </a:rPr>
                        <a:t>쇼핑라이브</a:t>
                      </a:r>
                    </a:p>
                  </a:txBody>
                  <a:tcPr marL="95250" marR="95250" marT="19050" marB="19050"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200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0.7%</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dirty="0">
                          <a:solidFill>
                            <a:srgbClr val="222222"/>
                          </a:solidFill>
                          <a:latin typeface="에이투지체 5 Medium"/>
                          <a:ea typeface="에이투지체 5 Medium"/>
                          <a:cs typeface="에이투지체 5 Medium"/>
                        </a:rPr>
                        <a:t>1,600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dirty="0">
                          <a:solidFill>
                            <a:srgbClr val="222222"/>
                          </a:solidFill>
                          <a:latin typeface="에이투지체 5 Medium"/>
                          <a:ea typeface="에이투지체 5 Medium"/>
                          <a:cs typeface="에이투지체 5 Medium"/>
                        </a:rPr>
                        <a:t>1,250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dirty="0">
                          <a:solidFill>
                            <a:srgbClr val="222222"/>
                          </a:solidFill>
                          <a:latin typeface="에이투지체 5 Medium"/>
                          <a:ea typeface="에이투지체 5 Medium"/>
                          <a:cs typeface="에이투지체 5 Medium"/>
                        </a:rPr>
                        <a:t>700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350.0%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0007"/>
                  </a:ext>
                </a:extLst>
              </a:tr>
              <a:tr h="229961">
                <a:tc vMerge="1">
                  <a:txBody>
                    <a:bodyPr/>
                    <a:lstStyle/>
                    <a:p>
                      <a:endParaRPr/>
                    </a:p>
                  </a:txBody>
                  <a:tcPr marL="95250" marR="95250" marT="19050" marB="19050" anchor="ctr">
                    <a:lnL w="14288">
                      <a:solidFill>
                        <a:srgbClr val="FFFFFF"/>
                      </a:solidFill>
                      <a:prstDash val="solid"/>
                    </a:lnL>
                    <a:lnR w="14288">
                      <a:solidFill>
                        <a:srgbClr val="FFFFFF"/>
                      </a:solidFill>
                      <a:prstDash val="solid"/>
                    </a:lnR>
                    <a:lnB w="14288">
                      <a:solidFill>
                        <a:srgbClr val="FFFFFF"/>
                      </a:solidFill>
                      <a:prstDash val="solid"/>
                    </a:lnB>
                    <a:solidFill>
                      <a:srgbClr val="EAF2FB"/>
                    </a:solidFill>
                  </a:tcPr>
                </a:tc>
                <a:tc>
                  <a:txBody>
                    <a:bodyPr/>
                    <a:lstStyle/>
                    <a:p>
                      <a:pPr algn="l"/>
                      <a:r>
                        <a:rPr sz="1155">
                          <a:solidFill>
                            <a:srgbClr val="222222"/>
                          </a:solidFill>
                          <a:latin typeface="에이투지체 5 Medium"/>
                          <a:ea typeface="에이투지체 5 Medium"/>
                          <a:cs typeface="에이투지체 5 Medium"/>
                        </a:rPr>
                        <a:t>구글 디멘드젠 (신규)</a:t>
                      </a:r>
                    </a:p>
                  </a:txBody>
                  <a:tcPr marL="95250" marR="95250" marT="19050" marB="19050"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300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1.0%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30,000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100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dirty="0">
                          <a:solidFill>
                            <a:srgbClr val="222222"/>
                          </a:solidFill>
                          <a:latin typeface="에이투지체 5 Medium"/>
                          <a:ea typeface="에이투지체 5 Medium"/>
                          <a:cs typeface="에이투지체 5 Medium"/>
                        </a:rPr>
                        <a:t>-</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dirty="0">
                          <a:solidFill>
                            <a:srgbClr val="222222"/>
                          </a:solidFill>
                          <a:latin typeface="에이투지체 5 Medium"/>
                          <a:ea typeface="에이투지체 5 Medium"/>
                          <a:cs typeface="에이투지체 5 Medium"/>
                        </a:rPr>
                        <a:t>-</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extLst>
                  <a:ext uri="{0D108BD9-81ED-4DB2-BD59-A6C34878D82A}">
                    <a16:rowId xmlns:a16="http://schemas.microsoft.com/office/drawing/2014/main" val="10008"/>
                  </a:ext>
                </a:extLst>
              </a:tr>
              <a:tr h="229961">
                <a:tc gridSpan="2">
                  <a:txBody>
                    <a:bodyPr/>
                    <a:lstStyle/>
                    <a:p>
                      <a:pPr algn="ctr"/>
                      <a:r>
                        <a:rPr sz="1155" dirty="0" err="1">
                          <a:solidFill>
                            <a:srgbClr val="004F9F"/>
                          </a:solidFill>
                          <a:latin typeface="에이투지체 6 SemiBold"/>
                          <a:ea typeface="에이투지체 6 SemiBold"/>
                          <a:cs typeface="에이투지체 6 SemiBold"/>
                        </a:rPr>
                        <a:t>브랜드스토어</a:t>
                      </a:r>
                      <a:r>
                        <a:rPr sz="1155" dirty="0">
                          <a:solidFill>
                            <a:srgbClr val="004F9F"/>
                          </a:solidFill>
                          <a:latin typeface="에이투지체 6 SemiBold"/>
                          <a:ea typeface="에이투지체 6 SemiBold"/>
                          <a:cs typeface="에이투지체 6 SemiBold"/>
                        </a:rPr>
                        <a:t> 합</a:t>
                      </a:r>
                    </a:p>
                  </a:txBody>
                  <a:tcPr marL="95250" marR="95250" marT="19050" marB="19050" anchor="ctr">
                    <a:lnL w="14288">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hMerge="1">
                  <a:txBody>
                    <a:bodyPr/>
                    <a:lstStyle/>
                    <a:p>
                      <a:endParaRPr/>
                    </a:p>
                  </a:txBody>
                  <a:tcPr marL="95250" marR="95250" marT="19050" marB="19050" anchor="ctr">
                    <a:lnR w="14288">
                      <a:solidFill>
                        <a:srgbClr val="FFFFFF"/>
                      </a:solidFill>
                      <a:prstDash val="solid"/>
                    </a:lnR>
                    <a:lnB w="14288">
                      <a:solidFill>
                        <a:srgbClr val="FFFFFF"/>
                      </a:solidFill>
                      <a:prstDash val="solid"/>
                    </a:lnB>
                    <a:solidFill>
                      <a:srgbClr val="DCEAF8"/>
                    </a:solidFill>
                  </a:tcPr>
                </a:tc>
                <a:tc>
                  <a:txBody>
                    <a:bodyPr/>
                    <a:lstStyle/>
                    <a:p>
                      <a:pPr algn="r"/>
                      <a:r>
                        <a:rPr sz="1155">
                          <a:solidFill>
                            <a:srgbClr val="004F9F"/>
                          </a:solidFill>
                          <a:latin typeface="에이투지체 6 SemiBold"/>
                          <a:ea typeface="에이투지체 6 SemiBold"/>
                          <a:cs typeface="에이투지체 6 SemiBold"/>
                        </a:rPr>
                        <a:t>20,000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155">
                          <a:solidFill>
                            <a:srgbClr val="004F9F"/>
                          </a:solidFill>
                          <a:latin typeface="에이투지체 6 SemiBold"/>
                          <a:ea typeface="에이투지체 6 SemiBold"/>
                          <a:cs typeface="에이투지체 6 SemiBold"/>
                        </a:rPr>
                        <a:t>66.7%</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155">
                          <a:solidFill>
                            <a:srgbClr val="004F9F"/>
                          </a:solidFill>
                          <a:latin typeface="에이투지체 6 SemiBold"/>
                          <a:ea typeface="에이투지체 6 SemiBold"/>
                          <a:cs typeface="에이투지체 6 SemiBold"/>
                        </a:rPr>
                        <a:t>136,945</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155">
                          <a:solidFill>
                            <a:srgbClr val="004F9F"/>
                          </a:solidFill>
                          <a:latin typeface="에이투지체 6 SemiBold"/>
                          <a:ea typeface="에이투지체 6 SemiBold"/>
                          <a:cs typeface="에이투지체 6 SemiBold"/>
                        </a:rPr>
                        <a:t>1,460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155" dirty="0">
                          <a:solidFill>
                            <a:srgbClr val="004F9F"/>
                          </a:solidFill>
                          <a:latin typeface="에이투지체 6 SemiBold"/>
                          <a:ea typeface="에이투지체 6 SemiBold"/>
                          <a:cs typeface="에이투지체 6 SemiBold"/>
                        </a:rPr>
                        <a:t>72,150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155" dirty="0">
                          <a:solidFill>
                            <a:srgbClr val="004F9F"/>
                          </a:solidFill>
                          <a:latin typeface="에이투지체 6 SemiBold"/>
                          <a:ea typeface="에이투지체 6 SemiBold"/>
                          <a:cs typeface="에이투지체 6 SemiBold"/>
                        </a:rPr>
                        <a:t>360.8%</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extLst>
                  <a:ext uri="{0D108BD9-81ED-4DB2-BD59-A6C34878D82A}">
                    <a16:rowId xmlns:a16="http://schemas.microsoft.com/office/drawing/2014/main" val="10009"/>
                  </a:ext>
                </a:extLst>
              </a:tr>
              <a:tr h="229961">
                <a:tc rowSpan="3">
                  <a:txBody>
                    <a:bodyPr/>
                    <a:lstStyle/>
                    <a:p>
                      <a:pPr algn="ctr"/>
                      <a:r>
                        <a:rPr sz="1155">
                          <a:solidFill>
                            <a:srgbClr val="222222"/>
                          </a:solidFill>
                          <a:latin typeface="에이투지체 5 Medium"/>
                          <a:ea typeface="에이투지체 5 Medium"/>
                          <a:cs typeface="에이투지체 5 Medium"/>
                        </a:rPr>
                        <a:t>외부몰</a:t>
                      </a:r>
                    </a:p>
                  </a:txBody>
                  <a:tcPr marL="95250" marR="95250" marT="19050" marB="19050" anchor="ctr">
                    <a:lnL w="14288">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l"/>
                      <a:r>
                        <a:rPr sz="1155">
                          <a:solidFill>
                            <a:srgbClr val="222222"/>
                          </a:solidFill>
                          <a:latin typeface="에이투지체 5 Medium"/>
                          <a:ea typeface="에이투지체 5 Medium"/>
                          <a:cs typeface="에이투지체 5 Medium"/>
                        </a:rPr>
                        <a:t>쿠팡</a:t>
                      </a:r>
                    </a:p>
                  </a:txBody>
                  <a:tcPr marL="95250" marR="95250" marT="19050" marB="19050" anchor="ctr">
                    <a:lnL w="14288" cap="flat" cmpd="sng" algn="ctr">
                      <a:noFill/>
                      <a:prstDash val="solid"/>
                      <a:round/>
                      <a:headEnd type="none" w="med" len="med"/>
                      <a:tailEnd type="none" w="med" len="med"/>
                    </a:lnL>
                    <a:lnR w="14288">
                      <a:noFill/>
                      <a:prstDash val="solid"/>
                    </a:lnR>
                    <a:lnT w="12700" cmpd="sng">
                      <a:noFill/>
                      <a:prstDash val="soli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155">
                          <a:solidFill>
                            <a:srgbClr val="222222"/>
                          </a:solidFill>
                          <a:latin typeface="에이투지체 5 Medium"/>
                          <a:ea typeface="에이투지체 5 Medium"/>
                          <a:cs typeface="에이투지체 5 Medium"/>
                        </a:rPr>
                        <a:t>8,500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155">
                          <a:solidFill>
                            <a:srgbClr val="222222"/>
                          </a:solidFill>
                          <a:latin typeface="에이투지체 5 Medium"/>
                          <a:ea typeface="에이투지체 5 Medium"/>
                          <a:cs typeface="에이투지체 5 Medium"/>
                        </a:rPr>
                        <a:t>28.3%</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155">
                          <a:solidFill>
                            <a:srgbClr val="222222"/>
                          </a:solidFill>
                          <a:latin typeface="에이투지체 5 Medium"/>
                          <a:ea typeface="에이투지체 5 Medium"/>
                          <a:cs typeface="에이투지체 5 Medium"/>
                        </a:rPr>
                        <a:t>170,000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155">
                          <a:solidFill>
                            <a:srgbClr val="222222"/>
                          </a:solidFill>
                          <a:latin typeface="에이투지체 5 Medium"/>
                          <a:ea typeface="에이투지체 5 Medium"/>
                          <a:cs typeface="에이투지체 5 Medium"/>
                        </a:rPr>
                        <a:t>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155" dirty="0">
                          <a:solidFill>
                            <a:srgbClr val="222222"/>
                          </a:solidFill>
                          <a:latin typeface="에이투지체 5 Medium"/>
                          <a:ea typeface="에이투지체 5 Medium"/>
                          <a:cs typeface="에이투지체 5 Medium"/>
                        </a:rPr>
                        <a:t>29,750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tc>
                  <a:txBody>
                    <a:bodyPr/>
                    <a:lstStyle/>
                    <a:p>
                      <a:pPr algn="r"/>
                      <a:r>
                        <a:rPr sz="1155" dirty="0">
                          <a:solidFill>
                            <a:srgbClr val="222222"/>
                          </a:solidFill>
                          <a:latin typeface="에이투지체 5 Medium"/>
                          <a:ea typeface="에이투지체 5 Medium"/>
                          <a:cs typeface="에이투지체 5 Medium"/>
                        </a:rPr>
                        <a:t>350.0%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10"/>
                  </a:ext>
                </a:extLst>
              </a:tr>
              <a:tr h="229961">
                <a:tc vMerge="1">
                  <a:txBody>
                    <a:bodyPr/>
                    <a:lstStyle/>
                    <a:p>
                      <a:endParaRPr/>
                    </a:p>
                  </a:txBody>
                  <a:tcPr marL="95250" marR="95250" marT="19050" marB="19050" anchor="ctr">
                    <a:lnL w="14288">
                      <a:solidFill>
                        <a:srgbClr val="FFFFFF"/>
                      </a:solidFill>
                      <a:prstDash val="solid"/>
                    </a:lnL>
                    <a:lnR w="14288">
                      <a:solidFill>
                        <a:srgbClr val="FFFFFF"/>
                      </a:solidFill>
                      <a:prstDash val="solid"/>
                    </a:lnR>
                    <a:lnB w="14288">
                      <a:solidFill>
                        <a:srgbClr val="FFFFFF"/>
                      </a:solidFill>
                      <a:prstDash val="solid"/>
                    </a:lnB>
                    <a:solidFill>
                      <a:srgbClr val="F5F5F5"/>
                    </a:solidFill>
                  </a:tcPr>
                </a:tc>
                <a:tc>
                  <a:txBody>
                    <a:bodyPr/>
                    <a:lstStyle/>
                    <a:p>
                      <a:pPr algn="l"/>
                      <a:r>
                        <a:rPr sz="1155">
                          <a:solidFill>
                            <a:srgbClr val="222222"/>
                          </a:solidFill>
                          <a:latin typeface="에이투지체 5 Medium"/>
                          <a:ea typeface="에이투지체 5 Medium"/>
                          <a:cs typeface="에이투지체 5 Medium"/>
                        </a:rPr>
                        <a:t>지마켓·11번가</a:t>
                      </a:r>
                    </a:p>
                  </a:txBody>
                  <a:tcPr marL="95250" marR="95250" marT="19050" marB="19050"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1,000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3.3%</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20,000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a:solidFill>
                            <a:srgbClr val="222222"/>
                          </a:solidFill>
                          <a:latin typeface="에이투지체 5 Medium"/>
                          <a:ea typeface="에이투지체 5 Medium"/>
                          <a:cs typeface="에이투지체 5 Medium"/>
                        </a:rPr>
                        <a:t>2,500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tc>
                  <a:txBody>
                    <a:bodyPr/>
                    <a:lstStyle/>
                    <a:p>
                      <a:pPr algn="r"/>
                      <a:r>
                        <a:rPr sz="1155" dirty="0">
                          <a:solidFill>
                            <a:srgbClr val="222222"/>
                          </a:solidFill>
                          <a:latin typeface="에이투지체 5 Medium"/>
                          <a:ea typeface="에이투지체 5 Medium"/>
                          <a:cs typeface="에이투지체 5 Medium"/>
                        </a:rPr>
                        <a:t>250.0%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F5F5F5"/>
                    </a:solidFill>
                  </a:tcPr>
                </a:tc>
                <a:extLst>
                  <a:ext uri="{0D108BD9-81ED-4DB2-BD59-A6C34878D82A}">
                    <a16:rowId xmlns:a16="http://schemas.microsoft.com/office/drawing/2014/main" val="10011"/>
                  </a:ext>
                </a:extLst>
              </a:tr>
              <a:tr h="229961">
                <a:tc vMerge="1">
                  <a:txBody>
                    <a:bodyPr/>
                    <a:lstStyle/>
                    <a:p>
                      <a:endParaRPr/>
                    </a:p>
                  </a:txBody>
                  <a:tcPr marL="95250" marR="95250" marT="19050" marB="19050" anchor="ctr">
                    <a:lnL w="14288">
                      <a:solidFill>
                        <a:srgbClr val="FFFFFF"/>
                      </a:solidFill>
                      <a:prstDash val="solid"/>
                    </a:lnL>
                    <a:lnR w="14288">
                      <a:solidFill>
                        <a:srgbClr val="FFFFFF"/>
                      </a:solidFill>
                      <a:prstDash val="solid"/>
                    </a:lnR>
                    <a:lnB w="14288">
                      <a:solidFill>
                        <a:srgbClr val="FFFFFF"/>
                      </a:solidFill>
                      <a:prstDash val="solid"/>
                    </a:lnB>
                    <a:solidFill>
                      <a:srgbClr val="EAF2FB"/>
                    </a:solidFill>
                  </a:tcPr>
                </a:tc>
                <a:tc>
                  <a:txBody>
                    <a:bodyPr/>
                    <a:lstStyle/>
                    <a:p>
                      <a:pPr algn="l"/>
                      <a:r>
                        <a:rPr sz="1155">
                          <a:solidFill>
                            <a:srgbClr val="222222"/>
                          </a:solidFill>
                          <a:latin typeface="에이투지체 5 Medium"/>
                          <a:ea typeface="에이투지체 5 Medium"/>
                          <a:cs typeface="에이투지체 5 Medium"/>
                        </a:rPr>
                        <a:t>카카오 톡스토어</a:t>
                      </a:r>
                    </a:p>
                  </a:txBody>
                  <a:tcPr marL="95250" marR="95250" marT="19050" marB="19050" anchor="ctr">
                    <a:lnL w="12700" cmpd="sng">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1.7%</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10,000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a:solidFill>
                            <a:srgbClr val="222222"/>
                          </a:solidFill>
                          <a:latin typeface="에이투지체 5 Medium"/>
                          <a:ea typeface="에이투지체 5 Medium"/>
                          <a:cs typeface="에이투지체 5 Medium"/>
                        </a:rPr>
                        <a:t>1,750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tc>
                  <a:txBody>
                    <a:bodyPr/>
                    <a:lstStyle/>
                    <a:p>
                      <a:pPr algn="r"/>
                      <a:r>
                        <a:rPr sz="1155" dirty="0">
                          <a:solidFill>
                            <a:srgbClr val="222222"/>
                          </a:solidFill>
                          <a:latin typeface="에이투지체 5 Medium"/>
                          <a:ea typeface="에이투지체 5 Medium"/>
                          <a:cs typeface="에이투지체 5 Medium"/>
                        </a:rPr>
                        <a:t>350.0%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EAF2FB"/>
                    </a:solidFill>
                  </a:tcPr>
                </a:tc>
                <a:extLst>
                  <a:ext uri="{0D108BD9-81ED-4DB2-BD59-A6C34878D82A}">
                    <a16:rowId xmlns:a16="http://schemas.microsoft.com/office/drawing/2014/main" val="10012"/>
                  </a:ext>
                </a:extLst>
              </a:tr>
              <a:tr h="229961">
                <a:tc gridSpan="2">
                  <a:txBody>
                    <a:bodyPr/>
                    <a:lstStyle/>
                    <a:p>
                      <a:pPr algn="ctr"/>
                      <a:r>
                        <a:rPr sz="1155">
                          <a:solidFill>
                            <a:srgbClr val="004F9F"/>
                          </a:solidFill>
                          <a:latin typeface="에이투지체 6 SemiBold"/>
                          <a:ea typeface="에이투지체 6 SemiBold"/>
                          <a:cs typeface="에이투지체 6 SemiBold"/>
                        </a:rPr>
                        <a:t>외부몰 합</a:t>
                      </a:r>
                    </a:p>
                  </a:txBody>
                  <a:tcPr marL="95250" marR="95250" marT="19050" marB="19050" anchor="ctr">
                    <a:lnL w="14288">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hMerge="1">
                  <a:txBody>
                    <a:bodyPr/>
                    <a:lstStyle/>
                    <a:p>
                      <a:endParaRPr/>
                    </a:p>
                  </a:txBody>
                  <a:tcPr marL="95250" marR="95250" marT="19050" marB="19050" anchor="ctr">
                    <a:lnR w="14288">
                      <a:solidFill>
                        <a:srgbClr val="FFFFFF"/>
                      </a:solidFill>
                      <a:prstDash val="solid"/>
                    </a:lnR>
                    <a:lnB w="14288">
                      <a:solidFill>
                        <a:srgbClr val="FFFFFF"/>
                      </a:solidFill>
                      <a:prstDash val="solid"/>
                    </a:lnB>
                    <a:solidFill>
                      <a:srgbClr val="DCEAF8"/>
                    </a:solidFill>
                  </a:tcPr>
                </a:tc>
                <a:tc>
                  <a:txBody>
                    <a:bodyPr/>
                    <a:lstStyle/>
                    <a:p>
                      <a:pPr algn="r"/>
                      <a:r>
                        <a:rPr sz="1155">
                          <a:solidFill>
                            <a:srgbClr val="004F9F"/>
                          </a:solidFill>
                          <a:latin typeface="에이투지체 6 SemiBold"/>
                          <a:ea typeface="에이투지체 6 SemiBold"/>
                          <a:cs typeface="에이투지체 6 SemiBold"/>
                        </a:rPr>
                        <a:t>10,000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155">
                          <a:solidFill>
                            <a:srgbClr val="004F9F"/>
                          </a:solidFill>
                          <a:latin typeface="에이투지체 6 SemiBold"/>
                          <a:ea typeface="에이투지체 6 SemiBold"/>
                          <a:cs typeface="에이투지체 6 SemiBold"/>
                        </a:rPr>
                        <a:t>33.3%</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155">
                          <a:solidFill>
                            <a:srgbClr val="004F9F"/>
                          </a:solidFill>
                          <a:latin typeface="에이투지체 6 SemiBold"/>
                          <a:ea typeface="에이투지체 6 SemiBold"/>
                          <a:cs typeface="에이투지체 6 SemiBold"/>
                        </a:rPr>
                        <a:t>200,000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155">
                          <a:solidFill>
                            <a:srgbClr val="004F9F"/>
                          </a:solidFill>
                          <a:latin typeface="에이투지체 6 SemiBold"/>
                          <a:ea typeface="에이투지체 6 SemiBold"/>
                          <a:cs typeface="에이투지체 6 SemiBold"/>
                        </a:rPr>
                        <a:t>500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155">
                          <a:solidFill>
                            <a:srgbClr val="004F9F"/>
                          </a:solidFill>
                          <a:latin typeface="에이투지체 6 SemiBold"/>
                          <a:ea typeface="에이투지체 6 SemiBold"/>
                          <a:cs typeface="에이투지체 6 SemiBold"/>
                        </a:rPr>
                        <a:t>34,000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tc>
                  <a:txBody>
                    <a:bodyPr/>
                    <a:lstStyle/>
                    <a:p>
                      <a:pPr algn="r"/>
                      <a:r>
                        <a:rPr sz="1155" dirty="0">
                          <a:solidFill>
                            <a:srgbClr val="004F9F"/>
                          </a:solidFill>
                          <a:latin typeface="에이투지체 6 SemiBold"/>
                          <a:ea typeface="에이투지체 6 SemiBold"/>
                          <a:cs typeface="에이투지체 6 SemiBold"/>
                        </a:rPr>
                        <a:t>340.0%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DCEAF8"/>
                    </a:solidFill>
                  </a:tcPr>
                </a:tc>
                <a:extLst>
                  <a:ext uri="{0D108BD9-81ED-4DB2-BD59-A6C34878D82A}">
                    <a16:rowId xmlns:a16="http://schemas.microsoft.com/office/drawing/2014/main" val="10013"/>
                  </a:ext>
                </a:extLst>
              </a:tr>
              <a:tr h="229961">
                <a:tc gridSpan="2">
                  <a:txBody>
                    <a:bodyPr/>
                    <a:lstStyle/>
                    <a:p>
                      <a:pPr algn="ctr"/>
                      <a:r>
                        <a:rPr sz="1155">
                          <a:solidFill>
                            <a:srgbClr val="FFFFFF"/>
                          </a:solidFill>
                          <a:latin typeface="에이투지체 6 SemiBold"/>
                          <a:ea typeface="에이투지체 6 SemiBold"/>
                          <a:cs typeface="에이투지체 6 SemiBold"/>
                        </a:rPr>
                        <a:t>전체 합</a:t>
                      </a:r>
                    </a:p>
                  </a:txBody>
                  <a:tcPr marL="95250" marR="95250" marT="19050" marB="19050" anchor="ctr">
                    <a:lnL w="14288">
                      <a:noFill/>
                      <a:prstDash val="soli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hMerge="1">
                  <a:txBody>
                    <a:bodyPr/>
                    <a:lstStyle/>
                    <a:p>
                      <a:endParaRPr/>
                    </a:p>
                  </a:txBody>
                  <a:tcPr marL="95250" marR="95250" marT="19050" marB="19050" anchor="ctr">
                    <a:lnR w="14288">
                      <a:solidFill>
                        <a:srgbClr val="FFFFFF"/>
                      </a:solidFill>
                      <a:prstDash val="solid"/>
                    </a:lnR>
                    <a:lnB w="14288">
                      <a:solidFill>
                        <a:srgbClr val="FFFFFF"/>
                      </a:solidFill>
                      <a:prstDash val="solid"/>
                    </a:lnB>
                    <a:solidFill>
                      <a:srgbClr val="0E3A72"/>
                    </a:solidFill>
                  </a:tcPr>
                </a:tc>
                <a:tc>
                  <a:txBody>
                    <a:bodyPr/>
                    <a:lstStyle/>
                    <a:p>
                      <a:pPr algn="r"/>
                      <a:r>
                        <a:rPr sz="1155">
                          <a:solidFill>
                            <a:srgbClr val="FFFFFF"/>
                          </a:solidFill>
                          <a:latin typeface="에이투지체 6 SemiBold"/>
                          <a:ea typeface="에이투지체 6 SemiBold"/>
                          <a:cs typeface="에이투지체 6 SemiBold"/>
                        </a:rPr>
                        <a:t>30,000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a:txBody>
                    <a:bodyPr/>
                    <a:lstStyle/>
                    <a:p>
                      <a:pPr algn="r"/>
                      <a:r>
                        <a:rPr sz="1155">
                          <a:solidFill>
                            <a:srgbClr val="FFFFFF"/>
                          </a:solidFill>
                          <a:latin typeface="에이투지체 6 SemiBold"/>
                          <a:ea typeface="에이투지체 6 SemiBold"/>
                          <a:cs typeface="에이투지체 6 SemiBold"/>
                        </a:rPr>
                        <a:t>100.0%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a:txBody>
                    <a:bodyPr/>
                    <a:lstStyle/>
                    <a:p>
                      <a:pPr algn="r"/>
                      <a:r>
                        <a:rPr sz="1155">
                          <a:solidFill>
                            <a:srgbClr val="FFFFFF"/>
                          </a:solidFill>
                          <a:latin typeface="에이투지체 6 SemiBold"/>
                          <a:ea typeface="에이투지체 6 SemiBold"/>
                          <a:cs typeface="에이투지체 6 SemiBold"/>
                        </a:rPr>
                        <a:t>336,945</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a:txBody>
                    <a:bodyPr/>
                    <a:lstStyle/>
                    <a:p>
                      <a:pPr algn="r"/>
                      <a:r>
                        <a:rPr sz="1155">
                          <a:solidFill>
                            <a:srgbClr val="FFFFFF"/>
                          </a:solidFill>
                          <a:latin typeface="에이투지체 6 SemiBold"/>
                          <a:ea typeface="에이투지체 6 SemiBold"/>
                          <a:cs typeface="에이투지체 6 SemiBold"/>
                        </a:rPr>
                        <a:t>890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a:txBody>
                    <a:bodyPr/>
                    <a:lstStyle/>
                    <a:p>
                      <a:pPr algn="r"/>
                      <a:r>
                        <a:rPr sz="1155">
                          <a:solidFill>
                            <a:srgbClr val="FFFFFF"/>
                          </a:solidFill>
                          <a:latin typeface="에이투지체 6 SemiBold"/>
                          <a:ea typeface="에이투지체 6 SemiBold"/>
                          <a:cs typeface="에이투지체 6 SemiBold"/>
                        </a:rPr>
                        <a:t>106,150</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tc>
                  <a:txBody>
                    <a:bodyPr/>
                    <a:lstStyle/>
                    <a:p>
                      <a:pPr algn="r"/>
                      <a:r>
                        <a:rPr sz="1155" dirty="0">
                          <a:solidFill>
                            <a:srgbClr val="FFFFFF"/>
                          </a:solidFill>
                          <a:latin typeface="에이투지체 6 SemiBold"/>
                          <a:ea typeface="에이투지체 6 SemiBold"/>
                          <a:cs typeface="에이투지체 6 SemiBold"/>
                        </a:rPr>
                        <a:t>353.8%</a:t>
                      </a:r>
                    </a:p>
                  </a:txBody>
                  <a:tcPr marL="95250" marR="95250" marT="19050" marB="19050" anchor="ctr">
                    <a:lnL w="14288" cap="flat" cmpd="sng" algn="ctr">
                      <a:noFill/>
                      <a:prstDash val="solid"/>
                      <a:round/>
                      <a:headEnd type="none" w="med" len="med"/>
                      <a:tailEnd type="none" w="med" len="med"/>
                    </a:lnL>
                    <a:lnR w="14288">
                      <a:noFill/>
                      <a:prstDash val="solid"/>
                    </a:lnR>
                    <a:lnT w="14288" cap="flat" cmpd="sng" algn="ctr">
                      <a:noFill/>
                      <a:prstDash val="solid"/>
                      <a:round/>
                      <a:headEnd type="none" w="med" len="med"/>
                      <a:tailEnd type="none" w="med" len="med"/>
                    </a:lnT>
                    <a:lnB w="14288">
                      <a:noFill/>
                      <a:prstDash val="solid"/>
                    </a:lnB>
                    <a:lnTlToBr w="12700" cmpd="sng">
                      <a:noFill/>
                      <a:prstDash val="solid"/>
                    </a:lnTlToBr>
                    <a:lnBlToTr w="12700" cmpd="sng">
                      <a:noFill/>
                      <a:prstDash val="solid"/>
                    </a:lnBlToTr>
                    <a:solidFill>
                      <a:srgbClr val="0E3A72"/>
                    </a:solidFill>
                  </a:tcPr>
                </a:tc>
                <a:extLst>
                  <a:ext uri="{0D108BD9-81ED-4DB2-BD59-A6C34878D82A}">
                    <a16:rowId xmlns:a16="http://schemas.microsoft.com/office/drawing/2014/main" val="10014"/>
                  </a:ext>
                </a:extLst>
              </a:tr>
            </a:tbl>
          </a:graphicData>
        </a:graphic>
      </p:graphicFrame>
      <p:sp>
        <p:nvSpPr>
          <p:cNvPr id="10" name="copy-19">
            <a:extLst>
              <a:ext uri="{FF2B5EF4-FFF2-40B4-BE49-F238E27FC236}">
                <a16:creationId xmlns:a16="http://schemas.microsoft.com/office/drawing/2014/main" id="{147033EE-D77F-4DDD-A2C4-F0125C477E39}"/>
              </a:ext>
            </a:extLst>
          </p:cNvPr>
          <p:cNvSpPr>
            <a:spLocks noGrp="1"/>
          </p:cNvSpPr>
          <p:nvPr/>
        </p:nvSpPr>
        <p:spPr>
          <a:xfrm>
            <a:off x="552450" y="5686425"/>
            <a:ext cx="11049000" cy="180975"/>
          </a:xfrm>
          <a:prstGeom prst="rect">
            <a:avLst/>
          </a:prstGeom>
          <a:noFill/>
          <a:ln w="0">
            <a:noFill/>
            <a:prstDash val="solid"/>
          </a:ln>
        </p:spPr>
        <p:txBody>
          <a:bodyPr wrap="square" lIns="0" tIns="0" rIns="0" bIns="0" anchor="ctr">
            <a:noAutofit/>
          </a:bodyPr>
          <a:lstStyle>
            <a:defPPr algn="l">
              <a:defRPr sz="968">
                <a:solidFill>
                  <a:srgbClr val="5C5C5C"/>
                </a:solidFill>
                <a:latin typeface="에이투지체 5 Medium"/>
                <a:ea typeface="에이투지체 5 Medium"/>
                <a:cs typeface="에이투지체 5 Medium"/>
              </a:defRPr>
            </a:defPPr>
          </a:lstStyle>
          <a:p>
            <a:pPr algn="l">
              <a:defRPr sz="968">
                <a:solidFill>
                  <a:srgbClr val="5C5C5C"/>
                </a:solidFill>
                <a:latin typeface="에이투지체 5 Medium"/>
                <a:ea typeface="에이투지체 5 Medium"/>
                <a:cs typeface="에이투지체 5 Medium"/>
              </a:defRPr>
            </a:pPr>
            <a:r>
              <a:rPr sz="968" dirty="0" err="1">
                <a:solidFill>
                  <a:srgbClr val="5C5C5C"/>
                </a:solidFill>
                <a:latin typeface="에이투지체 5 Medium"/>
                <a:ea typeface="에이투지체 5 Medium"/>
                <a:cs typeface="에이투지체 5 Medium"/>
              </a:rPr>
              <a:t>신규</a:t>
            </a:r>
            <a:r>
              <a:rPr sz="968" dirty="0">
                <a:solidFill>
                  <a:srgbClr val="5C5C5C"/>
                </a:solidFill>
                <a:latin typeface="에이투지체 5 Medium"/>
                <a:ea typeface="에이투지체 5 Medium"/>
                <a:cs typeface="에이투지체 5 Medium"/>
              </a:rPr>
              <a:t> </a:t>
            </a:r>
            <a:r>
              <a:rPr sz="968" dirty="0" err="1">
                <a:solidFill>
                  <a:srgbClr val="5C5C5C"/>
                </a:solidFill>
                <a:latin typeface="에이투지체 5 Medium"/>
                <a:ea typeface="에이투지체 5 Medium"/>
                <a:cs typeface="에이투지체 5 Medium"/>
              </a:rPr>
              <a:t>상품</a:t>
            </a:r>
            <a:r>
              <a:rPr sz="968" dirty="0">
                <a:solidFill>
                  <a:srgbClr val="5C5C5C"/>
                </a:solidFill>
                <a:latin typeface="에이투지체 5 Medium"/>
                <a:ea typeface="에이투지체 5 Medium"/>
                <a:cs typeface="에이투지체 5 Medium"/>
              </a:rPr>
              <a:t> </a:t>
            </a:r>
            <a:r>
              <a:rPr sz="968" dirty="0" err="1">
                <a:solidFill>
                  <a:srgbClr val="5C5C5C"/>
                </a:solidFill>
                <a:latin typeface="에이투지체 5 Medium"/>
                <a:ea typeface="에이투지체 5 Medium"/>
                <a:cs typeface="에이투지체 5 Medium"/>
              </a:rPr>
              <a:t>예산</a:t>
            </a:r>
            <a:r>
              <a:rPr sz="968" dirty="0">
                <a:solidFill>
                  <a:srgbClr val="5C5C5C"/>
                </a:solidFill>
                <a:latin typeface="에이투지체 5 Medium"/>
                <a:ea typeface="에이투지체 5 Medium"/>
                <a:cs typeface="에이투지체 5 Medium"/>
              </a:rPr>
              <a:t> 4,100만원(13.7%). </a:t>
            </a:r>
            <a:r>
              <a:rPr sz="968" dirty="0" err="1">
                <a:solidFill>
                  <a:srgbClr val="5C5C5C"/>
                </a:solidFill>
                <a:latin typeface="에이투지체 5 Medium"/>
                <a:ea typeface="에이투지체 5 Medium"/>
                <a:cs typeface="에이투지체 5 Medium"/>
              </a:rPr>
              <a:t>디멘드젠은</a:t>
            </a:r>
            <a:r>
              <a:rPr sz="968" dirty="0">
                <a:solidFill>
                  <a:srgbClr val="5C5C5C"/>
                </a:solidFill>
                <a:latin typeface="에이투지체 5 Medium"/>
                <a:ea typeface="에이투지체 5 Medium"/>
                <a:cs typeface="에이투지체 5 Medium"/>
              </a:rPr>
              <a:t> </a:t>
            </a:r>
            <a:r>
              <a:rPr sz="968" dirty="0" err="1">
                <a:solidFill>
                  <a:srgbClr val="5C5C5C"/>
                </a:solidFill>
                <a:latin typeface="에이투지체 5 Medium"/>
                <a:ea typeface="에이투지체 5 Medium"/>
                <a:cs typeface="에이투지체 5 Medium"/>
              </a:rPr>
              <a:t>유입</a:t>
            </a:r>
            <a:r>
              <a:rPr sz="968" dirty="0">
                <a:solidFill>
                  <a:srgbClr val="5C5C5C"/>
                </a:solidFill>
                <a:latin typeface="에이투지체 5 Medium"/>
                <a:ea typeface="에이투지체 5 Medium"/>
                <a:cs typeface="에이투지체 5 Medium"/>
              </a:rPr>
              <a:t> </a:t>
            </a:r>
            <a:r>
              <a:rPr sz="968" dirty="0" err="1">
                <a:solidFill>
                  <a:srgbClr val="5C5C5C"/>
                </a:solidFill>
                <a:latin typeface="에이투지체 5 Medium"/>
                <a:ea typeface="에이투지체 5 Medium"/>
                <a:cs typeface="에이투지체 5 Medium"/>
              </a:rPr>
              <a:t>목표로</a:t>
            </a:r>
            <a:r>
              <a:rPr sz="968" dirty="0">
                <a:solidFill>
                  <a:srgbClr val="5C5C5C"/>
                </a:solidFill>
                <a:latin typeface="에이투지체 5 Medium"/>
                <a:ea typeface="에이투지체 5 Medium"/>
                <a:cs typeface="에이투지체 5 Medium"/>
              </a:rPr>
              <a:t> </a:t>
            </a:r>
            <a:r>
              <a:rPr sz="968" dirty="0" err="1">
                <a:solidFill>
                  <a:srgbClr val="5C5C5C"/>
                </a:solidFill>
                <a:latin typeface="에이투지체 5 Medium"/>
                <a:ea typeface="에이투지체 5 Medium"/>
                <a:cs typeface="에이투지체 5 Medium"/>
              </a:rPr>
              <a:t>평가하며</a:t>
            </a:r>
            <a:r>
              <a:rPr sz="968" dirty="0">
                <a:solidFill>
                  <a:srgbClr val="5C5C5C"/>
                </a:solidFill>
                <a:latin typeface="에이투지체 5 Medium"/>
                <a:ea typeface="에이투지체 5 Medium"/>
                <a:cs typeface="에이투지체 5 Medium"/>
              </a:rPr>
              <a:t> </a:t>
            </a:r>
            <a:r>
              <a:rPr sz="968" dirty="0" err="1">
                <a:solidFill>
                  <a:srgbClr val="5C5C5C"/>
                </a:solidFill>
                <a:latin typeface="에이투지체 5 Medium"/>
                <a:ea typeface="에이투지체 5 Medium"/>
                <a:cs typeface="에이투지체 5 Medium"/>
              </a:rPr>
              <a:t>매출·ROAS는</a:t>
            </a:r>
            <a:r>
              <a:rPr sz="968" dirty="0">
                <a:solidFill>
                  <a:srgbClr val="5C5C5C"/>
                </a:solidFill>
                <a:latin typeface="에이투지체 5 Medium"/>
                <a:ea typeface="에이투지체 5 Medium"/>
                <a:cs typeface="에이투지체 5 Medium"/>
              </a:rPr>
              <a:t> </a:t>
            </a:r>
            <a:r>
              <a:rPr sz="968" dirty="0" err="1">
                <a:solidFill>
                  <a:srgbClr val="5C5C5C"/>
                </a:solidFill>
                <a:latin typeface="에이투지체 5 Medium"/>
                <a:ea typeface="에이투지체 5 Medium"/>
                <a:cs typeface="에이투지체 5 Medium"/>
              </a:rPr>
              <a:t>미설정</a:t>
            </a:r>
            <a:endParaRPr sz="968" dirty="0">
              <a:solidFill>
                <a:srgbClr val="5C5C5C"/>
              </a:solidFill>
              <a:latin typeface="에이투지체 5 Medium"/>
              <a:ea typeface="에이투지체 5 Medium"/>
              <a:cs typeface="에이투지체 5 Medium"/>
            </a:endParaRPr>
          </a:p>
        </p:txBody>
      </p:sp>
      <p:sp>
        <p:nvSpPr>
          <p:cNvPr id="11" name="직사각형 10">
            <a:extLst>
              <a:ext uri="{FF2B5EF4-FFF2-40B4-BE49-F238E27FC236}">
                <a16:creationId xmlns:a16="http://schemas.microsoft.com/office/drawing/2014/main" id="{97D7B36F-AF6E-46E4-8199-5683B1D918F5}"/>
              </a:ext>
            </a:extLst>
          </p:cNvPr>
          <p:cNvSpPr>
            <a:spLocks noGrp="1"/>
          </p:cNvSpPr>
          <p:nvPr/>
        </p:nvSpPr>
        <p:spPr>
          <a:xfrm>
            <a:off x="548640" y="5905500"/>
            <a:ext cx="11064240" cy="438150"/>
          </a:xfrm>
          <a:prstGeom prst="roundRect">
            <a:avLst>
              <a:gd name="adj" fmla="val 16695"/>
            </a:avLst>
          </a:prstGeom>
          <a:solidFill>
            <a:srgbClr val="EAF2FB"/>
          </a:solidFill>
          <a:ln w="9525">
            <a:solidFill>
              <a:srgbClr val="004F9F"/>
            </a:solidFill>
            <a:prstDash val="solid"/>
          </a:ln>
        </p:spPr>
        <p:txBody>
          <a:bodyPr/>
          <a:lstStyle/>
          <a:p>
            <a:endParaRPr lang="ko-KR" altLang="en-US"/>
          </a:p>
        </p:txBody>
      </p:sp>
      <p:sp>
        <p:nvSpPr>
          <p:cNvPr id="12" name="copy-20">
            <a:extLst>
              <a:ext uri="{FF2B5EF4-FFF2-40B4-BE49-F238E27FC236}">
                <a16:creationId xmlns:a16="http://schemas.microsoft.com/office/drawing/2014/main" id="{006C37DA-0339-4CE6-B3E6-10C7C272C8B8}"/>
              </a:ext>
            </a:extLst>
          </p:cNvPr>
          <p:cNvSpPr>
            <a:spLocks noGrp="1"/>
          </p:cNvSpPr>
          <p:nvPr/>
        </p:nvSpPr>
        <p:spPr>
          <a:xfrm>
            <a:off x="742950" y="5943600"/>
            <a:ext cx="10648950" cy="361950"/>
          </a:xfrm>
          <a:prstGeom prst="rect">
            <a:avLst/>
          </a:prstGeom>
          <a:noFill/>
          <a:ln w="0">
            <a:noFill/>
            <a:prstDash val="solid"/>
          </a:ln>
        </p:spPr>
        <p:txBody>
          <a:bodyPr wrap="square" lIns="0" tIns="0" rIns="0" bIns="0" anchor="ctr">
            <a:noAutofit/>
          </a:bodyPr>
          <a:lstStyle>
            <a:defPPr algn="l">
              <a:defRPr sz="1358">
                <a:solidFill>
                  <a:srgbClr val="FFFFFF"/>
                </a:solidFill>
                <a:latin typeface="에이투지체 6 SemiBold"/>
                <a:ea typeface="에이투지체 6 SemiBold"/>
                <a:cs typeface="에이투지체 6 SemiBold"/>
              </a:defRPr>
            </a:defPPr>
          </a:lstStyle>
          <a:p>
            <a:pPr algn="l">
              <a:defRPr sz="1358">
                <a:solidFill>
                  <a:srgbClr val="FFFFFF"/>
                </a:solidFill>
                <a:latin typeface="에이투지체 6 SemiBold"/>
                <a:ea typeface="에이투지체 6 SemiBold"/>
                <a:cs typeface="에이투지체 6 SemiBold"/>
              </a:defRPr>
            </a:pPr>
            <a:r>
              <a:rPr sz="1358" dirty="0" err="1">
                <a:solidFill>
                  <a:srgbClr val="004F9F"/>
                </a:solidFill>
                <a:latin typeface="에이투지체 6 SemiBold"/>
                <a:ea typeface="에이투지체 6 SemiBold"/>
                <a:cs typeface="에이투지체 6 SemiBold"/>
              </a:rPr>
              <a:t>기존</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상품의</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매출</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운영에</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신규</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유입을</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더해</a:t>
            </a:r>
            <a:r>
              <a:rPr sz="1358" dirty="0">
                <a:solidFill>
                  <a:srgbClr val="004F9F"/>
                </a:solidFill>
                <a:latin typeface="에이투지체 6 SemiBold"/>
                <a:ea typeface="에이투지체 6 SemiBold"/>
                <a:cs typeface="에이투지체 6 SemiBold"/>
              </a:rPr>
              <a:t>, 월 </a:t>
            </a:r>
            <a:r>
              <a:rPr sz="1358" dirty="0" err="1">
                <a:solidFill>
                  <a:srgbClr val="004F9F"/>
                </a:solidFill>
                <a:latin typeface="에이투지체 6 SemiBold"/>
                <a:ea typeface="에이투지체 6 SemiBold"/>
                <a:cs typeface="에이투지체 6 SemiBold"/>
              </a:rPr>
              <a:t>전환매출</a:t>
            </a:r>
            <a:r>
              <a:rPr sz="1358" dirty="0">
                <a:solidFill>
                  <a:srgbClr val="004F9F"/>
                </a:solidFill>
                <a:latin typeface="에이투지체 6 SemiBold"/>
                <a:ea typeface="에이투지체 6 SemiBold"/>
                <a:cs typeface="에이투지체 6 SemiBold"/>
              </a:rPr>
              <a:t> 10.62억원을 </a:t>
            </a:r>
            <a:r>
              <a:rPr sz="1358" dirty="0" err="1">
                <a:solidFill>
                  <a:srgbClr val="004F9F"/>
                </a:solidFill>
                <a:latin typeface="에이투지체 6 SemiBold"/>
                <a:ea typeface="에이투지체 6 SemiBold"/>
                <a:cs typeface="에이투지체 6 SemiBold"/>
              </a:rPr>
              <a:t>목표로</a:t>
            </a:r>
            <a:r>
              <a:rPr sz="1358" dirty="0">
                <a:solidFill>
                  <a:srgbClr val="004F9F"/>
                </a:solidFill>
                <a:latin typeface="에이투지체 6 SemiBold"/>
                <a:ea typeface="에이투지체 6 SemiBold"/>
                <a:cs typeface="에이투지체 6 SemiBold"/>
              </a:rPr>
              <a:t> </a:t>
            </a:r>
            <a:r>
              <a:rPr sz="1358" dirty="0" err="1">
                <a:solidFill>
                  <a:srgbClr val="004F9F"/>
                </a:solidFill>
                <a:latin typeface="에이투지체 6 SemiBold"/>
                <a:ea typeface="에이투지체 6 SemiBold"/>
                <a:cs typeface="에이투지체 6 SemiBold"/>
              </a:rPr>
              <a:t>확장합니다</a:t>
            </a:r>
            <a:endParaRPr sz="1358" dirty="0">
              <a:solidFill>
                <a:srgbClr val="FFFFFF"/>
              </a:solidFill>
              <a:latin typeface="에이투지체 6 SemiBold"/>
              <a:ea typeface="에이투지체 6 SemiBold"/>
              <a:cs typeface="에이투지체 6 SemiBold"/>
            </a:endParaRPr>
          </a:p>
        </p:txBody>
      </p:sp>
    </p:spTree>
    <p:extLst>
      <p:ext uri="{BB962C8B-B14F-4D97-AF65-F5344CB8AC3E}">
        <p14:creationId xmlns:p14="http://schemas.microsoft.com/office/powerpoint/2010/main" val="64456739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0A2F5C"/>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B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737360"/>
            <a:ext cx="5486400" cy="548640"/>
          </a:xfrm>
          <a:prstGeom prst="rect">
            <a:avLst/>
          </a:prstGeom>
          <a:noFill/>
        </p:spPr>
        <p:txBody>
          <a:bodyPr wrap="square" lIns="0" tIns="0" rIns="0" bIns="0" anchor="t">
            <a:spAutoFit/>
          </a:bodyPr>
          <a:lstStyle/>
          <a:p>
            <a:pPr algn="l"/>
            <a:r>
              <a:rPr sz="1600">
                <a:solidFill>
                  <a:srgbClr val="6FB0E8"/>
                </a:solidFill>
                <a:latin typeface="에이투지체 6 SemiBold"/>
              </a:rPr>
              <a:t>PART 6</a:t>
            </a:r>
          </a:p>
        </p:txBody>
      </p:sp>
      <p:sp>
        <p:nvSpPr>
          <p:cNvPr id="4" name="TextBox 3"/>
          <p:cNvSpPr txBox="1"/>
          <p:nvPr/>
        </p:nvSpPr>
        <p:spPr>
          <a:xfrm>
            <a:off x="548640" y="2286000"/>
            <a:ext cx="11064240" cy="914400"/>
          </a:xfrm>
          <a:prstGeom prst="rect">
            <a:avLst/>
          </a:prstGeom>
          <a:noFill/>
        </p:spPr>
        <p:txBody>
          <a:bodyPr wrap="square" lIns="0" tIns="0" rIns="0" bIns="0" anchor="t">
            <a:spAutoFit/>
          </a:bodyPr>
          <a:lstStyle/>
          <a:p>
            <a:pPr algn="l"/>
            <a:r>
              <a:rPr sz="4000">
                <a:solidFill>
                  <a:srgbClr val="FFFFFF"/>
                </a:solidFill>
                <a:latin typeface="에이투지체 8 ExtraBold"/>
              </a:rPr>
              <a:t>Team &amp; Strength</a:t>
            </a:r>
          </a:p>
        </p:txBody>
      </p:sp>
      <p:sp>
        <p:nvSpPr>
          <p:cNvPr id="5" name="TextBox 4"/>
          <p:cNvSpPr txBox="1"/>
          <p:nvPr/>
        </p:nvSpPr>
        <p:spPr>
          <a:xfrm>
            <a:off x="548640" y="3310128"/>
            <a:ext cx="11064240" cy="548640"/>
          </a:xfrm>
          <a:prstGeom prst="rect">
            <a:avLst/>
          </a:prstGeom>
          <a:noFill/>
        </p:spPr>
        <p:txBody>
          <a:bodyPr wrap="square" lIns="0" tIns="0" rIns="0" bIns="0" anchor="t">
            <a:spAutoFit/>
          </a:bodyPr>
          <a:lstStyle/>
          <a:p>
            <a:pPr algn="l"/>
            <a:r>
              <a:rPr sz="1800">
                <a:solidFill>
                  <a:srgbClr val="FFFFFF"/>
                </a:solidFill>
                <a:latin typeface="에이투지체 6 SemiBold"/>
              </a:rPr>
              <a:t>링크프라이스 강점</a:t>
            </a:r>
          </a:p>
        </p:txBody>
      </p:sp>
      <p:sp>
        <p:nvSpPr>
          <p:cNvPr id="6" name="TextBox 5"/>
          <p:cNvSpPr txBox="1"/>
          <p:nvPr/>
        </p:nvSpPr>
        <p:spPr>
          <a:xfrm>
            <a:off x="548640" y="3931920"/>
            <a:ext cx="11064240" cy="457200"/>
          </a:xfrm>
          <a:prstGeom prst="rect">
            <a:avLst/>
          </a:prstGeom>
          <a:noFill/>
        </p:spPr>
        <p:txBody>
          <a:bodyPr wrap="square" lIns="0" tIns="0" rIns="0" bIns="0" anchor="t">
            <a:spAutoFit/>
          </a:bodyPr>
          <a:lstStyle/>
          <a:p>
            <a:pPr algn="l"/>
            <a:r>
              <a:rPr sz="1200">
                <a:solidFill>
                  <a:srgbClr val="9FBBDD"/>
                </a:solidFill>
                <a:latin typeface="에이투지체 5 Medium"/>
              </a:rPr>
              <a:t>두드림 전담 TF와 링크프라이스만의 제작·운영 솔루션</a:t>
            </a:r>
          </a:p>
        </p:txBody>
      </p:sp>
      <p:sp>
        <p:nvSpPr>
          <p:cNvPr id="7" name="TextBox 6"/>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FBBDD"/>
                </a:solidFill>
                <a:latin typeface="에이투지체 3 Light"/>
              </a:rPr>
              <a:t>DODREAM B&amp;B AD PROPOSAL · 2026</a:t>
            </a:r>
          </a:p>
        </p:txBody>
      </p:sp>
      <p:sp>
        <p:nvSpPr>
          <p:cNvPr id="8" name="TextBox 7"/>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FBBDD"/>
                </a:solidFill>
                <a:latin typeface="에이투지체 3 Light"/>
              </a:rPr>
              <a:t>LINKPRICE · BRAND AD CENTER</a:t>
            </a:r>
          </a:p>
        </p:txBody>
      </p:sp>
      <p:sp>
        <p:nvSpPr>
          <p:cNvPr id="9" name="PGNO"/>
          <p:cNvSpPr txBox="1"/>
          <p:nvPr/>
        </p:nvSpPr>
        <p:spPr>
          <a:xfrm>
            <a:off x="11292840" y="6473952"/>
            <a:ext cx="365760" cy="123111"/>
          </a:xfrm>
          <a:prstGeom prst="rect">
            <a:avLst/>
          </a:prstGeom>
          <a:noFill/>
        </p:spPr>
        <p:txBody>
          <a:bodyPr wrap="square" lIns="0" tIns="0" rIns="0" bIns="0" anchor="t">
            <a:spAutoFit/>
          </a:bodyPr>
          <a:lstStyle/>
          <a:p>
            <a:pPr algn="r"/>
            <a:r>
              <a:rPr lang="en-US" sz="800" dirty="0">
                <a:solidFill>
                  <a:srgbClr val="FFFFFF"/>
                </a:solidFill>
                <a:latin typeface="에이투지체 6 SemiBold"/>
              </a:rPr>
              <a:t>77</a:t>
            </a:r>
            <a:endParaRPr sz="800" dirty="0">
              <a:solidFill>
                <a:srgbClr val="FFFFFF"/>
              </a:solidFill>
              <a:latin typeface="에이투지체 6 SemiBold"/>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a:solidFill>
                  <a:srgbClr val="004F9F"/>
                </a:solidFill>
                <a:latin typeface="에이투지체 6 SemiBold"/>
              </a:rPr>
              <a:t>PART 6 · 링크프라이스 강점</a:t>
            </a:r>
          </a:p>
        </p:txBody>
      </p:sp>
      <p:sp>
        <p:nvSpPr>
          <p:cNvPr id="3" name="TextBox 2"/>
          <p:cNvSpPr txBox="1"/>
          <p:nvPr/>
        </p:nvSpPr>
        <p:spPr>
          <a:xfrm>
            <a:off x="548640" y="658368"/>
            <a:ext cx="11064240" cy="868680"/>
          </a:xfrm>
          <a:prstGeom prst="rect">
            <a:avLst/>
          </a:prstGeom>
          <a:noFill/>
        </p:spPr>
        <p:txBody>
          <a:bodyPr wrap="square" lIns="0" tIns="0" rIns="0" bIns="0" anchor="t">
            <a:spAutoFit/>
          </a:bodyPr>
          <a:lstStyle/>
          <a:p>
            <a:pPr algn="l">
              <a:lnSpc>
                <a:spcPct val="110000"/>
              </a:lnSpc>
            </a:pPr>
            <a:r>
              <a:rPr sz="1900">
                <a:solidFill>
                  <a:srgbClr val="222222"/>
                </a:solidFill>
                <a:latin typeface="에이투지체 8 ExtraBold"/>
              </a:rPr>
              <a:t>두드림B&amp;B 전담 TF 5인을 고정 배정하고</a:t>
            </a:r>
          </a:p>
          <a:p>
            <a:pPr algn="l">
              <a:lnSpc>
                <a:spcPct val="110000"/>
              </a:lnSpc>
            </a:pPr>
            <a:r>
              <a:rPr sz="1900">
                <a:solidFill>
                  <a:srgbClr val="222222"/>
                </a:solidFill>
                <a:latin typeface="에이투지체 8 ExtraBold"/>
              </a:rPr>
              <a:t>매체별 전담 체계로 운영하겠습니다</a:t>
            </a:r>
          </a:p>
        </p:txBody>
      </p:sp>
      <p:sp>
        <p:nvSpPr>
          <p:cNvPr id="4" name="TextBox 3"/>
          <p:cNvSpPr txBox="1"/>
          <p:nvPr/>
        </p:nvSpPr>
        <p:spPr>
          <a:xfrm>
            <a:off x="548640" y="1517904"/>
            <a:ext cx="11064240" cy="365760"/>
          </a:xfrm>
          <a:prstGeom prst="rect">
            <a:avLst/>
          </a:prstGeom>
          <a:noFill/>
        </p:spPr>
        <p:txBody>
          <a:bodyPr wrap="square" lIns="0" tIns="0" rIns="0" bIns="0" anchor="t">
            <a:spAutoFit/>
          </a:bodyPr>
          <a:lstStyle/>
          <a:p>
            <a:pPr algn="l"/>
            <a:r>
              <a:rPr sz="1100">
                <a:solidFill>
                  <a:srgbClr val="5C5C5C"/>
                </a:solidFill>
                <a:latin typeface="에이투지체 5 Medium"/>
              </a:rPr>
              <a:t>사전검토 자료 기준 구성입니다. 본부장 직속으로 운영 품질을 관리합니다</a:t>
            </a:r>
          </a:p>
        </p:txBody>
      </p:sp>
      <p:sp>
        <p:nvSpPr>
          <p:cNvPr id="5" name="TextBox 4"/>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6" name="TextBox 5"/>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7" name="PGNO"/>
          <p:cNvSpPr txBox="1"/>
          <p:nvPr/>
        </p:nvSpPr>
        <p:spPr>
          <a:xfrm>
            <a:off x="11292840" y="6473952"/>
            <a:ext cx="365760" cy="123111"/>
          </a:xfrm>
          <a:prstGeom prst="rect">
            <a:avLst/>
          </a:prstGeom>
          <a:noFill/>
        </p:spPr>
        <p:txBody>
          <a:bodyPr wrap="square" lIns="0" tIns="0" rIns="0" bIns="0" anchor="t">
            <a:spAutoFit/>
          </a:bodyPr>
          <a:lstStyle/>
          <a:p>
            <a:pPr algn="r"/>
            <a:r>
              <a:rPr lang="en-US" sz="800" dirty="0">
                <a:solidFill>
                  <a:srgbClr val="222222"/>
                </a:solidFill>
                <a:latin typeface="에이투지체 6 SemiBold"/>
              </a:rPr>
              <a:t>78</a:t>
            </a:r>
            <a:endParaRPr sz="800" dirty="0">
              <a:solidFill>
                <a:srgbClr val="222222"/>
              </a:solidFill>
              <a:latin typeface="에이투지체 6 SemiBold"/>
            </a:endParaRPr>
          </a:p>
        </p:txBody>
      </p:sp>
      <p:sp>
        <p:nvSpPr>
          <p:cNvPr id="8" name="Rectangle 7"/>
          <p:cNvSpPr/>
          <p:nvPr/>
        </p:nvSpPr>
        <p:spPr>
          <a:xfrm>
            <a:off x="548640" y="2103120"/>
            <a:ext cx="2103120" cy="274320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49808" y="2286000"/>
            <a:ext cx="1737360" cy="274320"/>
          </a:xfrm>
          <a:prstGeom prst="rect">
            <a:avLst/>
          </a:prstGeom>
          <a:noFill/>
        </p:spPr>
        <p:txBody>
          <a:bodyPr wrap="square" lIns="0" tIns="0" rIns="0" bIns="0" anchor="t">
            <a:spAutoFit/>
          </a:bodyPr>
          <a:lstStyle/>
          <a:p>
            <a:pPr algn="l"/>
            <a:r>
              <a:rPr sz="1050">
                <a:solidFill>
                  <a:srgbClr val="004F9F"/>
                </a:solidFill>
                <a:latin typeface="에이투지체 6 SemiBold"/>
              </a:rPr>
              <a:t>PM</a:t>
            </a:r>
          </a:p>
        </p:txBody>
      </p:sp>
      <p:sp>
        <p:nvSpPr>
          <p:cNvPr id="10" name="TextBox 9"/>
          <p:cNvSpPr txBox="1"/>
          <p:nvPr/>
        </p:nvSpPr>
        <p:spPr>
          <a:xfrm>
            <a:off x="749808" y="2651760"/>
            <a:ext cx="1737360" cy="457200"/>
          </a:xfrm>
          <a:prstGeom prst="rect">
            <a:avLst/>
          </a:prstGeom>
          <a:noFill/>
        </p:spPr>
        <p:txBody>
          <a:bodyPr wrap="square" lIns="0" tIns="0" rIns="0" bIns="0" anchor="t">
            <a:spAutoFit/>
          </a:bodyPr>
          <a:lstStyle/>
          <a:p>
            <a:pPr algn="l"/>
            <a:r>
              <a:rPr sz="2000">
                <a:solidFill>
                  <a:srgbClr val="222222"/>
                </a:solidFill>
                <a:latin typeface="에이투지체 8 ExtraBold"/>
              </a:rPr>
              <a:t>서진희</a:t>
            </a:r>
          </a:p>
        </p:txBody>
      </p:sp>
      <p:sp>
        <p:nvSpPr>
          <p:cNvPr id="11" name="TextBox 10"/>
          <p:cNvSpPr txBox="1"/>
          <p:nvPr/>
        </p:nvSpPr>
        <p:spPr>
          <a:xfrm>
            <a:off x="749808" y="3429000"/>
            <a:ext cx="1783080" cy="1280160"/>
          </a:xfrm>
          <a:prstGeom prst="rect">
            <a:avLst/>
          </a:prstGeom>
          <a:noFill/>
        </p:spPr>
        <p:txBody>
          <a:bodyPr wrap="square" lIns="0" tIns="0" rIns="0" bIns="0" anchor="t">
            <a:spAutoFit/>
          </a:bodyPr>
          <a:lstStyle/>
          <a:p>
            <a:pPr algn="l">
              <a:lnSpc>
                <a:spcPct val="125000"/>
              </a:lnSpc>
            </a:pPr>
            <a:r>
              <a:rPr sz="1000">
                <a:solidFill>
                  <a:srgbClr val="5C5C5C"/>
                </a:solidFill>
                <a:latin typeface="에이투지체 4 Regular"/>
              </a:rPr>
              <a:t>실무 총괄</a:t>
            </a:r>
          </a:p>
          <a:p>
            <a:pPr algn="l">
              <a:lnSpc>
                <a:spcPct val="125000"/>
              </a:lnSpc>
            </a:pPr>
            <a:r>
              <a:rPr sz="1000">
                <a:solidFill>
                  <a:srgbClr val="5C5C5C"/>
                </a:solidFill>
                <a:latin typeface="에이투지체 4 Regular"/>
              </a:rPr>
              <a:t>캠페인 전략, 광고주 커뮤니케이션 총괄</a:t>
            </a:r>
          </a:p>
        </p:txBody>
      </p:sp>
      <p:sp>
        <p:nvSpPr>
          <p:cNvPr id="12" name="Rectangle 11"/>
          <p:cNvSpPr/>
          <p:nvPr/>
        </p:nvSpPr>
        <p:spPr>
          <a:xfrm>
            <a:off x="2788920" y="2103120"/>
            <a:ext cx="2103120" cy="2743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990088" y="2286000"/>
            <a:ext cx="1737360" cy="274320"/>
          </a:xfrm>
          <a:prstGeom prst="rect">
            <a:avLst/>
          </a:prstGeom>
          <a:noFill/>
        </p:spPr>
        <p:txBody>
          <a:bodyPr wrap="square" lIns="0" tIns="0" rIns="0" bIns="0" anchor="t">
            <a:spAutoFit/>
          </a:bodyPr>
          <a:lstStyle/>
          <a:p>
            <a:pPr algn="l"/>
            <a:r>
              <a:rPr sz="1050">
                <a:solidFill>
                  <a:srgbClr val="004F9F"/>
                </a:solidFill>
                <a:latin typeface="에이투지체 6 SemiBold"/>
              </a:rPr>
              <a:t>DA</a:t>
            </a:r>
          </a:p>
        </p:txBody>
      </p:sp>
      <p:sp>
        <p:nvSpPr>
          <p:cNvPr id="14" name="TextBox 13"/>
          <p:cNvSpPr txBox="1"/>
          <p:nvPr/>
        </p:nvSpPr>
        <p:spPr>
          <a:xfrm>
            <a:off x="2990088" y="2651760"/>
            <a:ext cx="1737360" cy="457200"/>
          </a:xfrm>
          <a:prstGeom prst="rect">
            <a:avLst/>
          </a:prstGeom>
          <a:noFill/>
        </p:spPr>
        <p:txBody>
          <a:bodyPr wrap="square" lIns="0" tIns="0" rIns="0" bIns="0" anchor="t">
            <a:spAutoFit/>
          </a:bodyPr>
          <a:lstStyle/>
          <a:p>
            <a:pPr algn="l"/>
            <a:r>
              <a:rPr sz="2000">
                <a:solidFill>
                  <a:srgbClr val="222222"/>
                </a:solidFill>
                <a:latin typeface="에이투지체 8 ExtraBold"/>
              </a:rPr>
              <a:t>김지민</a:t>
            </a:r>
          </a:p>
        </p:txBody>
      </p:sp>
      <p:sp>
        <p:nvSpPr>
          <p:cNvPr id="15" name="TextBox 14"/>
          <p:cNvSpPr txBox="1"/>
          <p:nvPr/>
        </p:nvSpPr>
        <p:spPr>
          <a:xfrm>
            <a:off x="2990088" y="3429000"/>
            <a:ext cx="1783080" cy="1280160"/>
          </a:xfrm>
          <a:prstGeom prst="rect">
            <a:avLst/>
          </a:prstGeom>
          <a:noFill/>
        </p:spPr>
        <p:txBody>
          <a:bodyPr wrap="square" lIns="0" tIns="0" rIns="0" bIns="0" anchor="t">
            <a:spAutoFit/>
          </a:bodyPr>
          <a:lstStyle/>
          <a:p>
            <a:pPr algn="l">
              <a:lnSpc>
                <a:spcPct val="125000"/>
              </a:lnSpc>
            </a:pPr>
            <a:r>
              <a:rPr sz="1000">
                <a:solidFill>
                  <a:srgbClr val="5C5C5C"/>
                </a:solidFill>
                <a:latin typeface="에이투지체 4 Regular"/>
              </a:rPr>
              <a:t>디스플레이 광고</a:t>
            </a:r>
          </a:p>
          <a:p>
            <a:pPr algn="l">
              <a:lnSpc>
                <a:spcPct val="125000"/>
              </a:lnSpc>
            </a:pPr>
            <a:r>
              <a:rPr sz="1000">
                <a:solidFill>
                  <a:srgbClr val="5C5C5C"/>
                </a:solidFill>
                <a:latin typeface="에이투지체 4 Regular"/>
              </a:rPr>
              <a:t>GFA, 카카오모먼트, 네트워크 배너</a:t>
            </a:r>
          </a:p>
        </p:txBody>
      </p:sp>
      <p:sp>
        <p:nvSpPr>
          <p:cNvPr id="16" name="Rectangle 15"/>
          <p:cNvSpPr/>
          <p:nvPr/>
        </p:nvSpPr>
        <p:spPr>
          <a:xfrm>
            <a:off x="5029200" y="2103120"/>
            <a:ext cx="2103120" cy="2743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230368" y="2286000"/>
            <a:ext cx="1737360" cy="274320"/>
          </a:xfrm>
          <a:prstGeom prst="rect">
            <a:avLst/>
          </a:prstGeom>
          <a:noFill/>
        </p:spPr>
        <p:txBody>
          <a:bodyPr wrap="square" lIns="0" tIns="0" rIns="0" bIns="0" anchor="t">
            <a:spAutoFit/>
          </a:bodyPr>
          <a:lstStyle/>
          <a:p>
            <a:pPr algn="l"/>
            <a:r>
              <a:rPr sz="1050">
                <a:solidFill>
                  <a:srgbClr val="004F9F"/>
                </a:solidFill>
                <a:latin typeface="에이투지체 6 SemiBold"/>
              </a:rPr>
              <a:t>SA</a:t>
            </a:r>
          </a:p>
        </p:txBody>
      </p:sp>
      <p:sp>
        <p:nvSpPr>
          <p:cNvPr id="18" name="TextBox 17"/>
          <p:cNvSpPr txBox="1"/>
          <p:nvPr/>
        </p:nvSpPr>
        <p:spPr>
          <a:xfrm>
            <a:off x="5230368" y="2651760"/>
            <a:ext cx="1737360" cy="457200"/>
          </a:xfrm>
          <a:prstGeom prst="rect">
            <a:avLst/>
          </a:prstGeom>
          <a:noFill/>
        </p:spPr>
        <p:txBody>
          <a:bodyPr wrap="square" lIns="0" tIns="0" rIns="0" bIns="0" anchor="t">
            <a:spAutoFit/>
          </a:bodyPr>
          <a:lstStyle/>
          <a:p>
            <a:pPr algn="l"/>
            <a:r>
              <a:rPr sz="2000">
                <a:solidFill>
                  <a:srgbClr val="222222"/>
                </a:solidFill>
                <a:latin typeface="에이투지체 8 ExtraBold"/>
              </a:rPr>
              <a:t>서태영</a:t>
            </a:r>
          </a:p>
        </p:txBody>
      </p:sp>
      <p:sp>
        <p:nvSpPr>
          <p:cNvPr id="19" name="TextBox 18"/>
          <p:cNvSpPr txBox="1"/>
          <p:nvPr/>
        </p:nvSpPr>
        <p:spPr>
          <a:xfrm>
            <a:off x="5230368" y="3429000"/>
            <a:ext cx="1783080" cy="1280160"/>
          </a:xfrm>
          <a:prstGeom prst="rect">
            <a:avLst/>
          </a:prstGeom>
          <a:noFill/>
        </p:spPr>
        <p:txBody>
          <a:bodyPr wrap="square" lIns="0" tIns="0" rIns="0" bIns="0" anchor="t">
            <a:spAutoFit/>
          </a:bodyPr>
          <a:lstStyle/>
          <a:p>
            <a:pPr algn="l">
              <a:lnSpc>
                <a:spcPct val="125000"/>
              </a:lnSpc>
            </a:pPr>
            <a:r>
              <a:rPr sz="1000">
                <a:solidFill>
                  <a:srgbClr val="5C5C5C"/>
                </a:solidFill>
                <a:latin typeface="에이투지체 4 Regular"/>
              </a:rPr>
              <a:t>검색 광고</a:t>
            </a:r>
          </a:p>
          <a:p>
            <a:pPr algn="l">
              <a:lnSpc>
                <a:spcPct val="125000"/>
              </a:lnSpc>
            </a:pPr>
            <a:r>
              <a:rPr sz="1000">
                <a:solidFill>
                  <a:srgbClr val="5C5C5C"/>
                </a:solidFill>
                <a:latin typeface="에이투지체 4 Regular"/>
              </a:rPr>
              <a:t>네이버·구글 검색, 쇼핑검색</a:t>
            </a:r>
          </a:p>
        </p:txBody>
      </p:sp>
      <p:sp>
        <p:nvSpPr>
          <p:cNvPr id="20" name="Rectangle 19"/>
          <p:cNvSpPr/>
          <p:nvPr/>
        </p:nvSpPr>
        <p:spPr>
          <a:xfrm>
            <a:off x="7269480" y="2103120"/>
            <a:ext cx="2103120" cy="2743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70648" y="2286000"/>
            <a:ext cx="1737360" cy="274320"/>
          </a:xfrm>
          <a:prstGeom prst="rect">
            <a:avLst/>
          </a:prstGeom>
          <a:noFill/>
        </p:spPr>
        <p:txBody>
          <a:bodyPr wrap="square" lIns="0" tIns="0" rIns="0" bIns="0" anchor="t">
            <a:spAutoFit/>
          </a:bodyPr>
          <a:lstStyle/>
          <a:p>
            <a:pPr algn="l"/>
            <a:r>
              <a:rPr sz="1050">
                <a:solidFill>
                  <a:srgbClr val="004F9F"/>
                </a:solidFill>
                <a:latin typeface="에이투지체 6 SemiBold"/>
              </a:rPr>
              <a:t>SNS</a:t>
            </a:r>
          </a:p>
        </p:txBody>
      </p:sp>
      <p:sp>
        <p:nvSpPr>
          <p:cNvPr id="22" name="TextBox 21"/>
          <p:cNvSpPr txBox="1"/>
          <p:nvPr/>
        </p:nvSpPr>
        <p:spPr>
          <a:xfrm>
            <a:off x="7470648" y="2651760"/>
            <a:ext cx="1737360" cy="457200"/>
          </a:xfrm>
          <a:prstGeom prst="rect">
            <a:avLst/>
          </a:prstGeom>
          <a:noFill/>
        </p:spPr>
        <p:txBody>
          <a:bodyPr wrap="square" lIns="0" tIns="0" rIns="0" bIns="0" anchor="t">
            <a:spAutoFit/>
          </a:bodyPr>
          <a:lstStyle/>
          <a:p>
            <a:pPr algn="l"/>
            <a:r>
              <a:rPr sz="2000">
                <a:solidFill>
                  <a:srgbClr val="222222"/>
                </a:solidFill>
                <a:latin typeface="에이투지체 8 ExtraBold"/>
              </a:rPr>
              <a:t>박세권</a:t>
            </a:r>
          </a:p>
        </p:txBody>
      </p:sp>
      <p:sp>
        <p:nvSpPr>
          <p:cNvPr id="23" name="TextBox 22"/>
          <p:cNvSpPr txBox="1"/>
          <p:nvPr/>
        </p:nvSpPr>
        <p:spPr>
          <a:xfrm>
            <a:off x="7470648" y="3429000"/>
            <a:ext cx="1783080" cy="1280160"/>
          </a:xfrm>
          <a:prstGeom prst="rect">
            <a:avLst/>
          </a:prstGeom>
          <a:noFill/>
        </p:spPr>
        <p:txBody>
          <a:bodyPr wrap="square" lIns="0" tIns="0" rIns="0" bIns="0" anchor="t">
            <a:spAutoFit/>
          </a:bodyPr>
          <a:lstStyle/>
          <a:p>
            <a:pPr algn="l">
              <a:lnSpc>
                <a:spcPct val="125000"/>
              </a:lnSpc>
            </a:pPr>
            <a:r>
              <a:rPr sz="1000">
                <a:solidFill>
                  <a:srgbClr val="5C5C5C"/>
                </a:solidFill>
                <a:latin typeface="에이투지체 4 Regular"/>
              </a:rPr>
              <a:t>소셜 광고</a:t>
            </a:r>
          </a:p>
          <a:p>
            <a:pPr algn="l">
              <a:lnSpc>
                <a:spcPct val="125000"/>
              </a:lnSpc>
            </a:pPr>
            <a:r>
              <a:rPr sz="1000">
                <a:solidFill>
                  <a:srgbClr val="5C5C5C"/>
                </a:solidFill>
                <a:latin typeface="에이투지체 4 Regular"/>
              </a:rPr>
              <a:t>메타 캠페인 운영, 소재 테스트</a:t>
            </a:r>
          </a:p>
        </p:txBody>
      </p:sp>
      <p:sp>
        <p:nvSpPr>
          <p:cNvPr id="24" name="Rectangle 23"/>
          <p:cNvSpPr/>
          <p:nvPr/>
        </p:nvSpPr>
        <p:spPr>
          <a:xfrm>
            <a:off x="9509760" y="2103120"/>
            <a:ext cx="2103120" cy="274320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710928" y="2286000"/>
            <a:ext cx="1737360" cy="274320"/>
          </a:xfrm>
          <a:prstGeom prst="rect">
            <a:avLst/>
          </a:prstGeom>
          <a:noFill/>
        </p:spPr>
        <p:txBody>
          <a:bodyPr wrap="square" lIns="0" tIns="0" rIns="0" bIns="0" anchor="t">
            <a:spAutoFit/>
          </a:bodyPr>
          <a:lstStyle/>
          <a:p>
            <a:pPr algn="l"/>
            <a:r>
              <a:rPr sz="1050">
                <a:solidFill>
                  <a:srgbClr val="004F9F"/>
                </a:solidFill>
                <a:latin typeface="에이투지체 6 SemiBold"/>
              </a:rPr>
              <a:t>버티컬 · 바이럴</a:t>
            </a:r>
          </a:p>
        </p:txBody>
      </p:sp>
      <p:sp>
        <p:nvSpPr>
          <p:cNvPr id="26" name="TextBox 25"/>
          <p:cNvSpPr txBox="1"/>
          <p:nvPr/>
        </p:nvSpPr>
        <p:spPr>
          <a:xfrm>
            <a:off x="9710928" y="2651760"/>
            <a:ext cx="1737360" cy="457200"/>
          </a:xfrm>
          <a:prstGeom prst="rect">
            <a:avLst/>
          </a:prstGeom>
          <a:noFill/>
        </p:spPr>
        <p:txBody>
          <a:bodyPr wrap="square" lIns="0" tIns="0" rIns="0" bIns="0" anchor="t">
            <a:spAutoFit/>
          </a:bodyPr>
          <a:lstStyle/>
          <a:p>
            <a:pPr algn="l"/>
            <a:r>
              <a:rPr sz="2000">
                <a:solidFill>
                  <a:srgbClr val="222222"/>
                </a:solidFill>
                <a:latin typeface="에이투지체 8 ExtraBold"/>
              </a:rPr>
              <a:t>김재이</a:t>
            </a:r>
          </a:p>
        </p:txBody>
      </p:sp>
      <p:sp>
        <p:nvSpPr>
          <p:cNvPr id="27" name="TextBox 26"/>
          <p:cNvSpPr txBox="1"/>
          <p:nvPr/>
        </p:nvSpPr>
        <p:spPr>
          <a:xfrm>
            <a:off x="9710928" y="3429000"/>
            <a:ext cx="1783080" cy="1280160"/>
          </a:xfrm>
          <a:prstGeom prst="rect">
            <a:avLst/>
          </a:prstGeom>
          <a:noFill/>
        </p:spPr>
        <p:txBody>
          <a:bodyPr wrap="square" lIns="0" tIns="0" rIns="0" bIns="0" anchor="t">
            <a:spAutoFit/>
          </a:bodyPr>
          <a:lstStyle/>
          <a:p>
            <a:pPr algn="l">
              <a:lnSpc>
                <a:spcPct val="125000"/>
              </a:lnSpc>
            </a:pPr>
            <a:r>
              <a:rPr sz="1000">
                <a:solidFill>
                  <a:srgbClr val="5C5C5C"/>
                </a:solidFill>
                <a:latin typeface="에이투지체 4 Regular"/>
              </a:rPr>
              <a:t>버티컬 매체 운영</a:t>
            </a:r>
          </a:p>
          <a:p>
            <a:pPr algn="l">
              <a:lnSpc>
                <a:spcPct val="125000"/>
              </a:lnSpc>
            </a:pPr>
            <a:r>
              <a:rPr sz="1000">
                <a:solidFill>
                  <a:srgbClr val="5C5C5C"/>
                </a:solidFill>
                <a:latin typeface="에이투지체 4 Regular"/>
              </a:rPr>
              <a:t>라이브·행사 연계 기획</a:t>
            </a:r>
          </a:p>
        </p:txBody>
      </p:sp>
      <p:sp>
        <p:nvSpPr>
          <p:cNvPr id="28" name="Rectangle 27"/>
          <p:cNvSpPr/>
          <p:nvPr/>
        </p:nvSpPr>
        <p:spPr>
          <a:xfrm>
            <a:off x="548640" y="5074920"/>
            <a:ext cx="11064240" cy="731520"/>
          </a:xfrm>
          <a:prstGeom prst="rect">
            <a:avLst/>
          </a:prstGeom>
          <a:solidFill>
            <a:srgbClr val="EAF2FB"/>
          </a:solidFill>
          <a:ln w="9525">
            <a:solidFill>
              <a:srgbClr val="004F9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60" y="5212080"/>
            <a:ext cx="10515600" cy="457200"/>
          </a:xfrm>
          <a:prstGeom prst="rect">
            <a:avLst/>
          </a:prstGeom>
          <a:noFill/>
        </p:spPr>
        <p:txBody>
          <a:bodyPr wrap="square" lIns="0" tIns="0" rIns="0" bIns="0" anchor="ctr">
            <a:spAutoFit/>
          </a:bodyPr>
          <a:lstStyle/>
          <a:p>
            <a:pPr algn="l"/>
            <a:r>
              <a:rPr sz="1200">
                <a:solidFill>
                  <a:srgbClr val="004F9F"/>
                </a:solidFill>
                <a:latin typeface="에이투지체 5 Medium"/>
              </a:rPr>
              <a:t>공통 지원  전담 디자인 TF 6명과 개발 TF 5명이 소재 제작과 데이터 연동을 함께 수행합니다</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t">
            <a:spAutoFit/>
          </a:bodyPr>
          <a:lstStyle/>
          <a:p>
            <a:pPr algn="l"/>
            <a:r>
              <a:rPr sz="900">
                <a:solidFill>
                  <a:srgbClr val="004F9F"/>
                </a:solidFill>
                <a:latin typeface="에이투지체 6 SemiBold"/>
              </a:rPr>
              <a:t>PART 6 · 링크프라이스 강점</a:t>
            </a:r>
          </a:p>
        </p:txBody>
      </p:sp>
      <p:sp>
        <p:nvSpPr>
          <p:cNvPr id="3" name="TextBox 2"/>
          <p:cNvSpPr txBox="1"/>
          <p:nvPr/>
        </p:nvSpPr>
        <p:spPr>
          <a:xfrm>
            <a:off x="548640" y="658368"/>
            <a:ext cx="11064240" cy="868680"/>
          </a:xfrm>
          <a:prstGeom prst="rect">
            <a:avLst/>
          </a:prstGeom>
          <a:noFill/>
        </p:spPr>
        <p:txBody>
          <a:bodyPr wrap="square" lIns="0" tIns="0" rIns="0" bIns="0" anchor="t">
            <a:spAutoFit/>
          </a:bodyPr>
          <a:lstStyle/>
          <a:p>
            <a:pPr algn="l">
              <a:lnSpc>
                <a:spcPct val="110000"/>
              </a:lnSpc>
            </a:pPr>
            <a:r>
              <a:rPr sz="1900">
                <a:solidFill>
                  <a:srgbClr val="222222"/>
                </a:solidFill>
                <a:latin typeface="에이투지체 8 ExtraBold"/>
              </a:rPr>
              <a:t>매체 전담 디자이너 6명과 내재화된 개발 조직이</a:t>
            </a:r>
          </a:p>
          <a:p>
            <a:pPr algn="l">
              <a:lnSpc>
                <a:spcPct val="110000"/>
              </a:lnSpc>
            </a:pPr>
            <a:r>
              <a:rPr sz="1900">
                <a:solidFill>
                  <a:srgbClr val="222222"/>
                </a:solidFill>
                <a:latin typeface="에이투지체 8 ExtraBold"/>
              </a:rPr>
              <a:t>두드림B&amp;B의 소재 제작과 데이터 연동을 받칩니다</a:t>
            </a:r>
          </a:p>
        </p:txBody>
      </p:sp>
      <p:sp>
        <p:nvSpPr>
          <p:cNvPr id="4" name="TextBox 3"/>
          <p:cNvSpPr txBox="1"/>
          <p:nvPr/>
        </p:nvSpPr>
        <p:spPr>
          <a:xfrm>
            <a:off x="548640" y="1517904"/>
            <a:ext cx="11064240" cy="365760"/>
          </a:xfrm>
          <a:prstGeom prst="rect">
            <a:avLst/>
          </a:prstGeom>
          <a:noFill/>
        </p:spPr>
        <p:txBody>
          <a:bodyPr wrap="square" lIns="0" tIns="0" rIns="0" bIns="0" anchor="t">
            <a:spAutoFit/>
          </a:bodyPr>
          <a:lstStyle/>
          <a:p>
            <a:pPr algn="l"/>
            <a:r>
              <a:rPr sz="1100">
                <a:solidFill>
                  <a:srgbClr val="5C5C5C"/>
                </a:solidFill>
                <a:latin typeface="에이투지체 5 Medium"/>
              </a:rPr>
              <a:t>사전검토 자료 기준 구성입니다</a:t>
            </a:r>
          </a:p>
        </p:txBody>
      </p:sp>
      <p:sp>
        <p:nvSpPr>
          <p:cNvPr id="5" name="TextBox 4"/>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6" name="TextBox 5"/>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7" name="PGNO"/>
          <p:cNvSpPr txBox="1"/>
          <p:nvPr/>
        </p:nvSpPr>
        <p:spPr>
          <a:xfrm>
            <a:off x="11292840" y="6473952"/>
            <a:ext cx="365760" cy="123111"/>
          </a:xfrm>
          <a:prstGeom prst="rect">
            <a:avLst/>
          </a:prstGeom>
          <a:noFill/>
        </p:spPr>
        <p:txBody>
          <a:bodyPr wrap="square" lIns="0" tIns="0" rIns="0" bIns="0" anchor="t">
            <a:spAutoFit/>
          </a:bodyPr>
          <a:lstStyle/>
          <a:p>
            <a:pPr algn="r"/>
            <a:r>
              <a:rPr lang="en-US" sz="800" dirty="0">
                <a:solidFill>
                  <a:srgbClr val="222222"/>
                </a:solidFill>
                <a:latin typeface="에이투지체 6 SemiBold"/>
              </a:rPr>
              <a:t>79</a:t>
            </a:r>
            <a:endParaRPr sz="800" dirty="0">
              <a:solidFill>
                <a:srgbClr val="222222"/>
              </a:solidFill>
              <a:latin typeface="에이투지체 6 SemiBold"/>
            </a:endParaRPr>
          </a:p>
        </p:txBody>
      </p:sp>
      <p:sp>
        <p:nvSpPr>
          <p:cNvPr id="8" name="TextBox 7"/>
          <p:cNvSpPr txBox="1"/>
          <p:nvPr/>
        </p:nvSpPr>
        <p:spPr>
          <a:xfrm>
            <a:off x="548640" y="2011680"/>
            <a:ext cx="3657600" cy="274320"/>
          </a:xfrm>
          <a:prstGeom prst="rect">
            <a:avLst/>
          </a:prstGeom>
          <a:noFill/>
        </p:spPr>
        <p:txBody>
          <a:bodyPr wrap="square" lIns="0" tIns="0" rIns="0" bIns="0" anchor="t">
            <a:spAutoFit/>
          </a:bodyPr>
          <a:lstStyle/>
          <a:p>
            <a:pPr algn="l"/>
            <a:r>
              <a:rPr sz="1100">
                <a:solidFill>
                  <a:srgbClr val="004F9F"/>
                </a:solidFill>
                <a:latin typeface="에이투지체 6 SemiBold"/>
              </a:rPr>
              <a:t>디자인 TF  일 40건 이상 제작, 영상 PD 2명</a:t>
            </a:r>
          </a:p>
        </p:txBody>
      </p:sp>
      <p:sp>
        <p:nvSpPr>
          <p:cNvPr id="9" name="Rectangle 8"/>
          <p:cNvSpPr/>
          <p:nvPr/>
        </p:nvSpPr>
        <p:spPr>
          <a:xfrm>
            <a:off x="548640" y="2377440"/>
            <a:ext cx="1737360" cy="15544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5800" y="2487168"/>
            <a:ext cx="1508760" cy="274320"/>
          </a:xfrm>
          <a:prstGeom prst="rect">
            <a:avLst/>
          </a:prstGeom>
          <a:noFill/>
        </p:spPr>
        <p:txBody>
          <a:bodyPr wrap="square" lIns="0" tIns="0" rIns="0" bIns="0" anchor="t">
            <a:spAutoFit/>
          </a:bodyPr>
          <a:lstStyle/>
          <a:p>
            <a:pPr algn="l"/>
            <a:r>
              <a:rPr sz="850">
                <a:solidFill>
                  <a:srgbClr val="004F9F"/>
                </a:solidFill>
                <a:latin typeface="에이투지체 6 SemiBold"/>
              </a:rPr>
              <a:t>LEAD · CD</a:t>
            </a:r>
          </a:p>
        </p:txBody>
      </p:sp>
      <p:sp>
        <p:nvSpPr>
          <p:cNvPr id="11" name="TextBox 10"/>
          <p:cNvSpPr txBox="1"/>
          <p:nvPr/>
        </p:nvSpPr>
        <p:spPr>
          <a:xfrm>
            <a:off x="685800" y="2788920"/>
            <a:ext cx="1508760" cy="365760"/>
          </a:xfrm>
          <a:prstGeom prst="rect">
            <a:avLst/>
          </a:prstGeom>
          <a:noFill/>
        </p:spPr>
        <p:txBody>
          <a:bodyPr wrap="square" lIns="0" tIns="0" rIns="0" bIns="0" anchor="t">
            <a:spAutoFit/>
          </a:bodyPr>
          <a:lstStyle/>
          <a:p>
            <a:pPr algn="l"/>
            <a:r>
              <a:rPr sz="1300">
                <a:solidFill>
                  <a:srgbClr val="222222"/>
                </a:solidFill>
                <a:latin typeface="에이투지체 8 ExtraBold"/>
              </a:rPr>
              <a:t>유원희 팀장</a:t>
            </a:r>
          </a:p>
        </p:txBody>
      </p:sp>
      <p:sp>
        <p:nvSpPr>
          <p:cNvPr id="12" name="TextBox 11"/>
          <p:cNvSpPr txBox="1"/>
          <p:nvPr/>
        </p:nvSpPr>
        <p:spPr>
          <a:xfrm>
            <a:off x="685800" y="3246120"/>
            <a:ext cx="1508760" cy="640080"/>
          </a:xfrm>
          <a:prstGeom prst="rect">
            <a:avLst/>
          </a:prstGeom>
          <a:noFill/>
        </p:spPr>
        <p:txBody>
          <a:bodyPr wrap="square" lIns="0" tIns="0" rIns="0" bIns="0" anchor="t">
            <a:spAutoFit/>
          </a:bodyPr>
          <a:lstStyle/>
          <a:p>
            <a:pPr algn="l">
              <a:lnSpc>
                <a:spcPct val="115000"/>
              </a:lnSpc>
            </a:pPr>
            <a:r>
              <a:rPr sz="900">
                <a:solidFill>
                  <a:srgbClr val="5C5C5C"/>
                </a:solidFill>
                <a:latin typeface="에이투지체 4 Regular"/>
              </a:rPr>
              <a:t>디자인 총괄, 크리에이티브 디렉션</a:t>
            </a:r>
          </a:p>
        </p:txBody>
      </p:sp>
      <p:sp>
        <p:nvSpPr>
          <p:cNvPr id="13" name="Rectangle 12"/>
          <p:cNvSpPr/>
          <p:nvPr/>
        </p:nvSpPr>
        <p:spPr>
          <a:xfrm>
            <a:off x="2404872" y="2377440"/>
            <a:ext cx="1737360" cy="15544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542032" y="2487168"/>
            <a:ext cx="1508760" cy="274320"/>
          </a:xfrm>
          <a:prstGeom prst="rect">
            <a:avLst/>
          </a:prstGeom>
          <a:noFill/>
        </p:spPr>
        <p:txBody>
          <a:bodyPr wrap="square" lIns="0" tIns="0" rIns="0" bIns="0" anchor="t">
            <a:spAutoFit/>
          </a:bodyPr>
          <a:lstStyle/>
          <a:p>
            <a:pPr algn="l"/>
            <a:r>
              <a:rPr sz="850">
                <a:solidFill>
                  <a:srgbClr val="004F9F"/>
                </a:solidFill>
                <a:latin typeface="에이투지체 6 SemiBold"/>
              </a:rPr>
              <a:t>LEAD · AD</a:t>
            </a:r>
          </a:p>
        </p:txBody>
      </p:sp>
      <p:sp>
        <p:nvSpPr>
          <p:cNvPr id="15" name="TextBox 14"/>
          <p:cNvSpPr txBox="1"/>
          <p:nvPr/>
        </p:nvSpPr>
        <p:spPr>
          <a:xfrm>
            <a:off x="2542032" y="2788920"/>
            <a:ext cx="1508760" cy="365760"/>
          </a:xfrm>
          <a:prstGeom prst="rect">
            <a:avLst/>
          </a:prstGeom>
          <a:noFill/>
        </p:spPr>
        <p:txBody>
          <a:bodyPr wrap="square" lIns="0" tIns="0" rIns="0" bIns="0" anchor="t">
            <a:spAutoFit/>
          </a:bodyPr>
          <a:lstStyle/>
          <a:p>
            <a:pPr algn="l"/>
            <a:r>
              <a:rPr sz="1300">
                <a:solidFill>
                  <a:srgbClr val="222222"/>
                </a:solidFill>
                <a:latin typeface="에이투지체 8 ExtraBold"/>
              </a:rPr>
              <a:t>이지혜</a:t>
            </a:r>
          </a:p>
        </p:txBody>
      </p:sp>
      <p:sp>
        <p:nvSpPr>
          <p:cNvPr id="16" name="TextBox 15"/>
          <p:cNvSpPr txBox="1"/>
          <p:nvPr/>
        </p:nvSpPr>
        <p:spPr>
          <a:xfrm>
            <a:off x="2542032" y="3246120"/>
            <a:ext cx="1508760" cy="640080"/>
          </a:xfrm>
          <a:prstGeom prst="rect">
            <a:avLst/>
          </a:prstGeom>
          <a:noFill/>
        </p:spPr>
        <p:txBody>
          <a:bodyPr wrap="square" lIns="0" tIns="0" rIns="0" bIns="0" anchor="t">
            <a:spAutoFit/>
          </a:bodyPr>
          <a:lstStyle/>
          <a:p>
            <a:pPr algn="l">
              <a:lnSpc>
                <a:spcPct val="115000"/>
              </a:lnSpc>
            </a:pPr>
            <a:r>
              <a:rPr sz="900">
                <a:solidFill>
                  <a:srgbClr val="5C5C5C"/>
                </a:solidFill>
                <a:latin typeface="에이투지체 4 Regular"/>
              </a:rPr>
              <a:t>카카오 DA, 비즈보드, 프로모션형</a:t>
            </a:r>
          </a:p>
        </p:txBody>
      </p:sp>
      <p:sp>
        <p:nvSpPr>
          <p:cNvPr id="17" name="Rectangle 16"/>
          <p:cNvSpPr/>
          <p:nvPr/>
        </p:nvSpPr>
        <p:spPr>
          <a:xfrm>
            <a:off x="4261103" y="2377440"/>
            <a:ext cx="1737360" cy="15544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398264" y="2487168"/>
            <a:ext cx="1508760" cy="274320"/>
          </a:xfrm>
          <a:prstGeom prst="rect">
            <a:avLst/>
          </a:prstGeom>
          <a:noFill/>
        </p:spPr>
        <p:txBody>
          <a:bodyPr wrap="square" lIns="0" tIns="0" rIns="0" bIns="0" anchor="t">
            <a:spAutoFit/>
          </a:bodyPr>
          <a:lstStyle/>
          <a:p>
            <a:pPr algn="l"/>
            <a:r>
              <a:rPr sz="850">
                <a:solidFill>
                  <a:srgbClr val="004F9F"/>
                </a:solidFill>
                <a:latin typeface="에이투지체 6 SemiBold"/>
              </a:rPr>
              <a:t>META · YOUTUBE</a:t>
            </a:r>
          </a:p>
        </p:txBody>
      </p:sp>
      <p:sp>
        <p:nvSpPr>
          <p:cNvPr id="19" name="TextBox 18"/>
          <p:cNvSpPr txBox="1"/>
          <p:nvPr/>
        </p:nvSpPr>
        <p:spPr>
          <a:xfrm>
            <a:off x="4398264" y="2788920"/>
            <a:ext cx="1508760" cy="365760"/>
          </a:xfrm>
          <a:prstGeom prst="rect">
            <a:avLst/>
          </a:prstGeom>
          <a:noFill/>
        </p:spPr>
        <p:txBody>
          <a:bodyPr wrap="square" lIns="0" tIns="0" rIns="0" bIns="0" anchor="t">
            <a:spAutoFit/>
          </a:bodyPr>
          <a:lstStyle/>
          <a:p>
            <a:pPr algn="l"/>
            <a:r>
              <a:rPr sz="1300">
                <a:solidFill>
                  <a:srgbClr val="222222"/>
                </a:solidFill>
                <a:latin typeface="에이투지체 8 ExtraBold"/>
              </a:rPr>
              <a:t>김하린</a:t>
            </a:r>
          </a:p>
        </p:txBody>
      </p:sp>
      <p:sp>
        <p:nvSpPr>
          <p:cNvPr id="20" name="TextBox 19"/>
          <p:cNvSpPr txBox="1"/>
          <p:nvPr/>
        </p:nvSpPr>
        <p:spPr>
          <a:xfrm>
            <a:off x="4398264" y="3246120"/>
            <a:ext cx="1508760" cy="640080"/>
          </a:xfrm>
          <a:prstGeom prst="rect">
            <a:avLst/>
          </a:prstGeom>
          <a:noFill/>
        </p:spPr>
        <p:txBody>
          <a:bodyPr wrap="square" lIns="0" tIns="0" rIns="0" bIns="0" anchor="t">
            <a:spAutoFit/>
          </a:bodyPr>
          <a:lstStyle/>
          <a:p>
            <a:pPr algn="l">
              <a:lnSpc>
                <a:spcPct val="115000"/>
              </a:lnSpc>
            </a:pPr>
            <a:r>
              <a:rPr sz="900">
                <a:solidFill>
                  <a:srgbClr val="5C5C5C"/>
                </a:solidFill>
                <a:latin typeface="에이투지체 4 Regular"/>
              </a:rPr>
              <a:t>피드형 소재와 A/B 테스트</a:t>
            </a:r>
          </a:p>
        </p:txBody>
      </p:sp>
      <p:sp>
        <p:nvSpPr>
          <p:cNvPr id="21" name="Rectangle 20"/>
          <p:cNvSpPr/>
          <p:nvPr/>
        </p:nvSpPr>
        <p:spPr>
          <a:xfrm>
            <a:off x="6117336" y="2377440"/>
            <a:ext cx="1737360" cy="15544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54496" y="2487168"/>
            <a:ext cx="1508760" cy="274320"/>
          </a:xfrm>
          <a:prstGeom prst="rect">
            <a:avLst/>
          </a:prstGeom>
          <a:noFill/>
        </p:spPr>
        <p:txBody>
          <a:bodyPr wrap="square" lIns="0" tIns="0" rIns="0" bIns="0" anchor="t">
            <a:spAutoFit/>
          </a:bodyPr>
          <a:lstStyle/>
          <a:p>
            <a:pPr algn="l"/>
            <a:r>
              <a:rPr sz="850">
                <a:solidFill>
                  <a:srgbClr val="004F9F"/>
                </a:solidFill>
                <a:latin typeface="에이투지체 6 SemiBold"/>
              </a:rPr>
              <a:t>VERTICAL · NAVER</a:t>
            </a:r>
          </a:p>
        </p:txBody>
      </p:sp>
      <p:sp>
        <p:nvSpPr>
          <p:cNvPr id="23" name="TextBox 22"/>
          <p:cNvSpPr txBox="1"/>
          <p:nvPr/>
        </p:nvSpPr>
        <p:spPr>
          <a:xfrm>
            <a:off x="6254496" y="2788920"/>
            <a:ext cx="1508760" cy="365760"/>
          </a:xfrm>
          <a:prstGeom prst="rect">
            <a:avLst/>
          </a:prstGeom>
          <a:noFill/>
        </p:spPr>
        <p:txBody>
          <a:bodyPr wrap="square" lIns="0" tIns="0" rIns="0" bIns="0" anchor="t">
            <a:spAutoFit/>
          </a:bodyPr>
          <a:lstStyle/>
          <a:p>
            <a:pPr algn="l"/>
            <a:r>
              <a:rPr sz="1300">
                <a:solidFill>
                  <a:srgbClr val="222222"/>
                </a:solidFill>
                <a:latin typeface="에이투지체 8 ExtraBold"/>
              </a:rPr>
              <a:t>이유림</a:t>
            </a:r>
          </a:p>
        </p:txBody>
      </p:sp>
      <p:sp>
        <p:nvSpPr>
          <p:cNvPr id="24" name="TextBox 23"/>
          <p:cNvSpPr txBox="1"/>
          <p:nvPr/>
        </p:nvSpPr>
        <p:spPr>
          <a:xfrm>
            <a:off x="6254496" y="3246120"/>
            <a:ext cx="1508760" cy="640080"/>
          </a:xfrm>
          <a:prstGeom prst="rect">
            <a:avLst/>
          </a:prstGeom>
          <a:noFill/>
        </p:spPr>
        <p:txBody>
          <a:bodyPr wrap="square" lIns="0" tIns="0" rIns="0" bIns="0" anchor="t">
            <a:spAutoFit/>
          </a:bodyPr>
          <a:lstStyle/>
          <a:p>
            <a:pPr algn="l">
              <a:lnSpc>
                <a:spcPct val="115000"/>
              </a:lnSpc>
            </a:pPr>
            <a:r>
              <a:rPr sz="900">
                <a:solidFill>
                  <a:srgbClr val="5C5C5C"/>
                </a:solidFill>
                <a:latin typeface="에이투지체 4 Regular"/>
              </a:rPr>
              <a:t>GFA 성과형 배너, 리사이징</a:t>
            </a:r>
          </a:p>
        </p:txBody>
      </p:sp>
      <p:sp>
        <p:nvSpPr>
          <p:cNvPr id="25" name="Rectangle 24"/>
          <p:cNvSpPr/>
          <p:nvPr/>
        </p:nvSpPr>
        <p:spPr>
          <a:xfrm>
            <a:off x="7973567" y="2377440"/>
            <a:ext cx="1737360" cy="15544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110727" y="2487168"/>
            <a:ext cx="1508760" cy="274320"/>
          </a:xfrm>
          <a:prstGeom prst="rect">
            <a:avLst/>
          </a:prstGeom>
          <a:noFill/>
        </p:spPr>
        <p:txBody>
          <a:bodyPr wrap="square" lIns="0" tIns="0" rIns="0" bIns="0" anchor="t">
            <a:spAutoFit/>
          </a:bodyPr>
          <a:lstStyle/>
          <a:p>
            <a:pPr algn="l"/>
            <a:r>
              <a:rPr sz="850">
                <a:solidFill>
                  <a:srgbClr val="004F9F"/>
                </a:solidFill>
                <a:latin typeface="에이투지체 6 SemiBold"/>
              </a:rPr>
              <a:t>VIDEO</a:t>
            </a:r>
          </a:p>
        </p:txBody>
      </p:sp>
      <p:sp>
        <p:nvSpPr>
          <p:cNvPr id="27" name="TextBox 26"/>
          <p:cNvSpPr txBox="1"/>
          <p:nvPr/>
        </p:nvSpPr>
        <p:spPr>
          <a:xfrm>
            <a:off x="8110727" y="2788920"/>
            <a:ext cx="1508760" cy="365760"/>
          </a:xfrm>
          <a:prstGeom prst="rect">
            <a:avLst/>
          </a:prstGeom>
          <a:noFill/>
        </p:spPr>
        <p:txBody>
          <a:bodyPr wrap="square" lIns="0" tIns="0" rIns="0" bIns="0" anchor="t">
            <a:spAutoFit/>
          </a:bodyPr>
          <a:lstStyle/>
          <a:p>
            <a:pPr algn="l"/>
            <a:r>
              <a:rPr sz="1300">
                <a:solidFill>
                  <a:srgbClr val="222222"/>
                </a:solidFill>
                <a:latin typeface="에이투지체 8 ExtraBold"/>
              </a:rPr>
              <a:t>김요셉</a:t>
            </a:r>
          </a:p>
        </p:txBody>
      </p:sp>
      <p:sp>
        <p:nvSpPr>
          <p:cNvPr id="28" name="TextBox 27"/>
          <p:cNvSpPr txBox="1"/>
          <p:nvPr/>
        </p:nvSpPr>
        <p:spPr>
          <a:xfrm>
            <a:off x="8110727" y="3246120"/>
            <a:ext cx="1508760" cy="640080"/>
          </a:xfrm>
          <a:prstGeom prst="rect">
            <a:avLst/>
          </a:prstGeom>
          <a:noFill/>
        </p:spPr>
        <p:txBody>
          <a:bodyPr wrap="square" lIns="0" tIns="0" rIns="0" bIns="0" anchor="t">
            <a:spAutoFit/>
          </a:bodyPr>
          <a:lstStyle/>
          <a:p>
            <a:pPr algn="l">
              <a:lnSpc>
                <a:spcPct val="115000"/>
              </a:lnSpc>
            </a:pPr>
            <a:r>
              <a:rPr sz="900">
                <a:solidFill>
                  <a:srgbClr val="5C5C5C"/>
                </a:solidFill>
                <a:latin typeface="에이투지체 4 Regular"/>
              </a:rPr>
              <a:t>숏폼·릴스, AI 영상</a:t>
            </a:r>
          </a:p>
        </p:txBody>
      </p:sp>
      <p:sp>
        <p:nvSpPr>
          <p:cNvPr id="29" name="Rectangle 28"/>
          <p:cNvSpPr/>
          <p:nvPr/>
        </p:nvSpPr>
        <p:spPr>
          <a:xfrm>
            <a:off x="9829799" y="2377440"/>
            <a:ext cx="1737360" cy="1554480"/>
          </a:xfrm>
          <a:prstGeom prst="rect">
            <a:avLst/>
          </a:prstGeom>
          <a:solidFill>
            <a:srgbClr val="F5F5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966959" y="2487168"/>
            <a:ext cx="1508760" cy="274320"/>
          </a:xfrm>
          <a:prstGeom prst="rect">
            <a:avLst/>
          </a:prstGeom>
          <a:noFill/>
        </p:spPr>
        <p:txBody>
          <a:bodyPr wrap="square" lIns="0" tIns="0" rIns="0" bIns="0" anchor="t">
            <a:spAutoFit/>
          </a:bodyPr>
          <a:lstStyle/>
          <a:p>
            <a:pPr algn="l"/>
            <a:r>
              <a:rPr sz="850">
                <a:solidFill>
                  <a:srgbClr val="004F9F"/>
                </a:solidFill>
                <a:latin typeface="에이투지체 6 SemiBold"/>
              </a:rPr>
              <a:t>VIDEO</a:t>
            </a:r>
          </a:p>
        </p:txBody>
      </p:sp>
      <p:sp>
        <p:nvSpPr>
          <p:cNvPr id="31" name="TextBox 30"/>
          <p:cNvSpPr txBox="1"/>
          <p:nvPr/>
        </p:nvSpPr>
        <p:spPr>
          <a:xfrm>
            <a:off x="9966959" y="2788920"/>
            <a:ext cx="1508760" cy="365760"/>
          </a:xfrm>
          <a:prstGeom prst="rect">
            <a:avLst/>
          </a:prstGeom>
          <a:noFill/>
        </p:spPr>
        <p:txBody>
          <a:bodyPr wrap="square" lIns="0" tIns="0" rIns="0" bIns="0" anchor="t">
            <a:spAutoFit/>
          </a:bodyPr>
          <a:lstStyle/>
          <a:p>
            <a:pPr algn="l"/>
            <a:r>
              <a:rPr sz="1300">
                <a:solidFill>
                  <a:srgbClr val="222222"/>
                </a:solidFill>
                <a:latin typeface="에이투지체 8 ExtraBold"/>
              </a:rPr>
              <a:t>김유상</a:t>
            </a:r>
          </a:p>
        </p:txBody>
      </p:sp>
      <p:sp>
        <p:nvSpPr>
          <p:cNvPr id="32" name="TextBox 31"/>
          <p:cNvSpPr txBox="1"/>
          <p:nvPr/>
        </p:nvSpPr>
        <p:spPr>
          <a:xfrm>
            <a:off x="9966959" y="3246120"/>
            <a:ext cx="1508760" cy="640080"/>
          </a:xfrm>
          <a:prstGeom prst="rect">
            <a:avLst/>
          </a:prstGeom>
          <a:noFill/>
        </p:spPr>
        <p:txBody>
          <a:bodyPr wrap="square" lIns="0" tIns="0" rIns="0" bIns="0" anchor="t">
            <a:spAutoFit/>
          </a:bodyPr>
          <a:lstStyle/>
          <a:p>
            <a:pPr algn="l">
              <a:lnSpc>
                <a:spcPct val="115000"/>
              </a:lnSpc>
            </a:pPr>
            <a:r>
              <a:rPr sz="900">
                <a:solidFill>
                  <a:srgbClr val="5C5C5C"/>
                </a:solidFill>
                <a:latin typeface="에이투지체 4 Regular"/>
              </a:rPr>
              <a:t>촬영, 편집, 모션그래픽</a:t>
            </a:r>
          </a:p>
        </p:txBody>
      </p:sp>
      <p:sp>
        <p:nvSpPr>
          <p:cNvPr id="33" name="TextBox 32"/>
          <p:cNvSpPr txBox="1"/>
          <p:nvPr/>
        </p:nvSpPr>
        <p:spPr>
          <a:xfrm>
            <a:off x="548640" y="4160520"/>
            <a:ext cx="5486400" cy="274320"/>
          </a:xfrm>
          <a:prstGeom prst="rect">
            <a:avLst/>
          </a:prstGeom>
          <a:noFill/>
        </p:spPr>
        <p:txBody>
          <a:bodyPr wrap="square" lIns="0" tIns="0" rIns="0" bIns="0" anchor="t">
            <a:spAutoFit/>
          </a:bodyPr>
          <a:lstStyle/>
          <a:p>
            <a:pPr algn="l"/>
            <a:r>
              <a:rPr sz="1100">
                <a:solidFill>
                  <a:srgbClr val="004F9F"/>
                </a:solidFill>
                <a:latin typeface="에이투지체 6 SemiBold"/>
              </a:rPr>
              <a:t>개발 TF  GA4 연동, 상품 피드·매체 API 자동화 내재화</a:t>
            </a:r>
          </a:p>
        </p:txBody>
      </p:sp>
      <p:sp>
        <p:nvSpPr>
          <p:cNvPr id="34" name="Rectangle 33"/>
          <p:cNvSpPr/>
          <p:nvPr/>
        </p:nvSpPr>
        <p:spPr>
          <a:xfrm>
            <a:off x="548640" y="4526280"/>
            <a:ext cx="2103120" cy="137160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5800" y="4636008"/>
            <a:ext cx="1828800" cy="274320"/>
          </a:xfrm>
          <a:prstGeom prst="rect">
            <a:avLst/>
          </a:prstGeom>
          <a:noFill/>
        </p:spPr>
        <p:txBody>
          <a:bodyPr wrap="square" lIns="0" tIns="0" rIns="0" bIns="0" anchor="t">
            <a:spAutoFit/>
          </a:bodyPr>
          <a:lstStyle/>
          <a:p>
            <a:pPr algn="l"/>
            <a:r>
              <a:rPr sz="850">
                <a:solidFill>
                  <a:srgbClr val="004F9F"/>
                </a:solidFill>
                <a:latin typeface="에이투지체 6 SemiBold"/>
              </a:rPr>
              <a:t>LEAD</a:t>
            </a:r>
          </a:p>
        </p:txBody>
      </p:sp>
      <p:sp>
        <p:nvSpPr>
          <p:cNvPr id="36" name="TextBox 35"/>
          <p:cNvSpPr txBox="1"/>
          <p:nvPr/>
        </p:nvSpPr>
        <p:spPr>
          <a:xfrm>
            <a:off x="685800" y="4937760"/>
            <a:ext cx="1828800" cy="365760"/>
          </a:xfrm>
          <a:prstGeom prst="rect">
            <a:avLst/>
          </a:prstGeom>
          <a:noFill/>
        </p:spPr>
        <p:txBody>
          <a:bodyPr wrap="square" lIns="0" tIns="0" rIns="0" bIns="0" anchor="t">
            <a:spAutoFit/>
          </a:bodyPr>
          <a:lstStyle/>
          <a:p>
            <a:pPr algn="l"/>
            <a:r>
              <a:rPr sz="1300">
                <a:solidFill>
                  <a:srgbClr val="222222"/>
                </a:solidFill>
                <a:latin typeface="에이투지체 8 ExtraBold"/>
              </a:rPr>
              <a:t>이세영 팀장</a:t>
            </a:r>
          </a:p>
        </p:txBody>
      </p:sp>
      <p:sp>
        <p:nvSpPr>
          <p:cNvPr id="37" name="TextBox 36"/>
          <p:cNvSpPr txBox="1"/>
          <p:nvPr/>
        </p:nvSpPr>
        <p:spPr>
          <a:xfrm>
            <a:off x="685800" y="5349240"/>
            <a:ext cx="1828800" cy="457200"/>
          </a:xfrm>
          <a:prstGeom prst="rect">
            <a:avLst/>
          </a:prstGeom>
          <a:noFill/>
        </p:spPr>
        <p:txBody>
          <a:bodyPr wrap="square" lIns="0" tIns="0" rIns="0" bIns="0" anchor="t">
            <a:spAutoFit/>
          </a:bodyPr>
          <a:lstStyle/>
          <a:p>
            <a:pPr algn="l"/>
            <a:r>
              <a:rPr sz="900">
                <a:solidFill>
                  <a:srgbClr val="5C5C5C"/>
                </a:solidFill>
                <a:latin typeface="에이투지체 4 Regular"/>
              </a:rPr>
              <a:t>개발 총괄, 시스템 기획</a:t>
            </a:r>
          </a:p>
        </p:txBody>
      </p:sp>
      <p:sp>
        <p:nvSpPr>
          <p:cNvPr id="38" name="Rectangle 37"/>
          <p:cNvSpPr/>
          <p:nvPr/>
        </p:nvSpPr>
        <p:spPr>
          <a:xfrm>
            <a:off x="2779776" y="4526280"/>
            <a:ext cx="2103120" cy="137160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916936" y="4636008"/>
            <a:ext cx="1828800" cy="274320"/>
          </a:xfrm>
          <a:prstGeom prst="rect">
            <a:avLst/>
          </a:prstGeom>
          <a:noFill/>
        </p:spPr>
        <p:txBody>
          <a:bodyPr wrap="square" lIns="0" tIns="0" rIns="0" bIns="0" anchor="t">
            <a:spAutoFit/>
          </a:bodyPr>
          <a:lstStyle/>
          <a:p>
            <a:pPr algn="l"/>
            <a:r>
              <a:rPr sz="850">
                <a:solidFill>
                  <a:srgbClr val="004F9F"/>
                </a:solidFill>
                <a:latin typeface="에이투지체 6 SemiBold"/>
              </a:rPr>
              <a:t>PL</a:t>
            </a:r>
          </a:p>
        </p:txBody>
      </p:sp>
      <p:sp>
        <p:nvSpPr>
          <p:cNvPr id="40" name="TextBox 39"/>
          <p:cNvSpPr txBox="1"/>
          <p:nvPr/>
        </p:nvSpPr>
        <p:spPr>
          <a:xfrm>
            <a:off x="2916936" y="4937760"/>
            <a:ext cx="1828800" cy="365760"/>
          </a:xfrm>
          <a:prstGeom prst="rect">
            <a:avLst/>
          </a:prstGeom>
          <a:noFill/>
        </p:spPr>
        <p:txBody>
          <a:bodyPr wrap="square" lIns="0" tIns="0" rIns="0" bIns="0" anchor="t">
            <a:spAutoFit/>
          </a:bodyPr>
          <a:lstStyle/>
          <a:p>
            <a:pPr algn="l"/>
            <a:r>
              <a:rPr sz="1300">
                <a:solidFill>
                  <a:srgbClr val="222222"/>
                </a:solidFill>
                <a:latin typeface="에이투지체 8 ExtraBold"/>
              </a:rPr>
              <a:t>김성보</a:t>
            </a:r>
          </a:p>
        </p:txBody>
      </p:sp>
      <p:sp>
        <p:nvSpPr>
          <p:cNvPr id="41" name="TextBox 40"/>
          <p:cNvSpPr txBox="1"/>
          <p:nvPr/>
        </p:nvSpPr>
        <p:spPr>
          <a:xfrm>
            <a:off x="2916936" y="5349240"/>
            <a:ext cx="1828800" cy="457200"/>
          </a:xfrm>
          <a:prstGeom prst="rect">
            <a:avLst/>
          </a:prstGeom>
          <a:noFill/>
        </p:spPr>
        <p:txBody>
          <a:bodyPr wrap="square" lIns="0" tIns="0" rIns="0" bIns="0" anchor="t">
            <a:spAutoFit/>
          </a:bodyPr>
          <a:lstStyle/>
          <a:p>
            <a:pPr algn="l"/>
            <a:r>
              <a:rPr sz="900">
                <a:solidFill>
                  <a:srgbClr val="5C5C5C"/>
                </a:solidFill>
                <a:latin typeface="에이투지체 4 Regular"/>
              </a:rPr>
              <a:t>시스템·데이터 구조 설계</a:t>
            </a:r>
          </a:p>
        </p:txBody>
      </p:sp>
      <p:sp>
        <p:nvSpPr>
          <p:cNvPr id="42" name="Rectangle 41"/>
          <p:cNvSpPr/>
          <p:nvPr/>
        </p:nvSpPr>
        <p:spPr>
          <a:xfrm>
            <a:off x="5010912" y="4526280"/>
            <a:ext cx="2103120" cy="137160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148072" y="4636008"/>
            <a:ext cx="1828800" cy="274320"/>
          </a:xfrm>
          <a:prstGeom prst="rect">
            <a:avLst/>
          </a:prstGeom>
          <a:noFill/>
        </p:spPr>
        <p:txBody>
          <a:bodyPr wrap="square" lIns="0" tIns="0" rIns="0" bIns="0" anchor="t">
            <a:spAutoFit/>
          </a:bodyPr>
          <a:lstStyle/>
          <a:p>
            <a:pPr algn="l"/>
            <a:r>
              <a:rPr sz="850">
                <a:solidFill>
                  <a:srgbClr val="004F9F"/>
                </a:solidFill>
                <a:latin typeface="에이투지체 6 SemiBold"/>
              </a:rPr>
              <a:t>WEB</a:t>
            </a:r>
          </a:p>
        </p:txBody>
      </p:sp>
      <p:sp>
        <p:nvSpPr>
          <p:cNvPr id="44" name="TextBox 43"/>
          <p:cNvSpPr txBox="1"/>
          <p:nvPr/>
        </p:nvSpPr>
        <p:spPr>
          <a:xfrm>
            <a:off x="5148072" y="4937760"/>
            <a:ext cx="1828800" cy="365760"/>
          </a:xfrm>
          <a:prstGeom prst="rect">
            <a:avLst/>
          </a:prstGeom>
          <a:noFill/>
        </p:spPr>
        <p:txBody>
          <a:bodyPr wrap="square" lIns="0" tIns="0" rIns="0" bIns="0" anchor="t">
            <a:spAutoFit/>
          </a:bodyPr>
          <a:lstStyle/>
          <a:p>
            <a:pPr algn="l"/>
            <a:r>
              <a:rPr sz="1300">
                <a:solidFill>
                  <a:srgbClr val="222222"/>
                </a:solidFill>
                <a:latin typeface="에이투지체 8 ExtraBold"/>
              </a:rPr>
              <a:t>최보람</a:t>
            </a:r>
          </a:p>
        </p:txBody>
      </p:sp>
      <p:sp>
        <p:nvSpPr>
          <p:cNvPr id="45" name="TextBox 44"/>
          <p:cNvSpPr txBox="1"/>
          <p:nvPr/>
        </p:nvSpPr>
        <p:spPr>
          <a:xfrm>
            <a:off x="5148072" y="5349240"/>
            <a:ext cx="1828800" cy="457200"/>
          </a:xfrm>
          <a:prstGeom prst="rect">
            <a:avLst/>
          </a:prstGeom>
          <a:noFill/>
        </p:spPr>
        <p:txBody>
          <a:bodyPr wrap="square" lIns="0" tIns="0" rIns="0" bIns="0" anchor="t">
            <a:spAutoFit/>
          </a:bodyPr>
          <a:lstStyle/>
          <a:p>
            <a:pPr algn="l"/>
            <a:r>
              <a:rPr sz="900">
                <a:solidFill>
                  <a:srgbClr val="5C5C5C"/>
                </a:solidFill>
                <a:latin typeface="에이투지체 4 Regular"/>
              </a:rPr>
              <a:t>웹 서비스 개발</a:t>
            </a:r>
          </a:p>
        </p:txBody>
      </p:sp>
      <p:sp>
        <p:nvSpPr>
          <p:cNvPr id="46" name="Rectangle 45"/>
          <p:cNvSpPr/>
          <p:nvPr/>
        </p:nvSpPr>
        <p:spPr>
          <a:xfrm>
            <a:off x="7242048" y="4526280"/>
            <a:ext cx="2103120" cy="137160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7379208" y="4636008"/>
            <a:ext cx="1828800" cy="274320"/>
          </a:xfrm>
          <a:prstGeom prst="rect">
            <a:avLst/>
          </a:prstGeom>
          <a:noFill/>
        </p:spPr>
        <p:txBody>
          <a:bodyPr wrap="square" lIns="0" tIns="0" rIns="0" bIns="0" anchor="t">
            <a:spAutoFit/>
          </a:bodyPr>
          <a:lstStyle/>
          <a:p>
            <a:pPr algn="l"/>
            <a:r>
              <a:rPr sz="850">
                <a:solidFill>
                  <a:srgbClr val="004F9F"/>
                </a:solidFill>
                <a:latin typeface="에이투지체 6 SemiBold"/>
              </a:rPr>
              <a:t>DATA</a:t>
            </a:r>
          </a:p>
        </p:txBody>
      </p:sp>
      <p:sp>
        <p:nvSpPr>
          <p:cNvPr id="48" name="TextBox 47"/>
          <p:cNvSpPr txBox="1"/>
          <p:nvPr/>
        </p:nvSpPr>
        <p:spPr>
          <a:xfrm>
            <a:off x="7379208" y="4937760"/>
            <a:ext cx="1828800" cy="365760"/>
          </a:xfrm>
          <a:prstGeom prst="rect">
            <a:avLst/>
          </a:prstGeom>
          <a:noFill/>
        </p:spPr>
        <p:txBody>
          <a:bodyPr wrap="square" lIns="0" tIns="0" rIns="0" bIns="0" anchor="t">
            <a:spAutoFit/>
          </a:bodyPr>
          <a:lstStyle/>
          <a:p>
            <a:pPr algn="l"/>
            <a:r>
              <a:rPr sz="1300">
                <a:solidFill>
                  <a:srgbClr val="222222"/>
                </a:solidFill>
                <a:latin typeface="에이투지체 8 ExtraBold"/>
              </a:rPr>
              <a:t>백주현</a:t>
            </a:r>
          </a:p>
        </p:txBody>
      </p:sp>
      <p:sp>
        <p:nvSpPr>
          <p:cNvPr id="49" name="TextBox 48"/>
          <p:cNvSpPr txBox="1"/>
          <p:nvPr/>
        </p:nvSpPr>
        <p:spPr>
          <a:xfrm>
            <a:off x="7379208" y="5349240"/>
            <a:ext cx="1828800" cy="457200"/>
          </a:xfrm>
          <a:prstGeom prst="rect">
            <a:avLst/>
          </a:prstGeom>
          <a:noFill/>
        </p:spPr>
        <p:txBody>
          <a:bodyPr wrap="square" lIns="0" tIns="0" rIns="0" bIns="0" anchor="t">
            <a:spAutoFit/>
          </a:bodyPr>
          <a:lstStyle/>
          <a:p>
            <a:pPr algn="l"/>
            <a:r>
              <a:rPr sz="900">
                <a:solidFill>
                  <a:srgbClr val="5C5C5C"/>
                </a:solidFill>
                <a:latin typeface="에이투지체 4 Regular"/>
              </a:rPr>
              <a:t>매체 연동, 데이터 수집 API</a:t>
            </a:r>
          </a:p>
        </p:txBody>
      </p:sp>
      <p:sp>
        <p:nvSpPr>
          <p:cNvPr id="50" name="Rectangle 49"/>
          <p:cNvSpPr/>
          <p:nvPr/>
        </p:nvSpPr>
        <p:spPr>
          <a:xfrm>
            <a:off x="9473184" y="4526280"/>
            <a:ext cx="2103120" cy="1371600"/>
          </a:xfrm>
          <a:prstGeom prst="rect">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9610344" y="4636008"/>
            <a:ext cx="1828800" cy="274320"/>
          </a:xfrm>
          <a:prstGeom prst="rect">
            <a:avLst/>
          </a:prstGeom>
          <a:noFill/>
        </p:spPr>
        <p:txBody>
          <a:bodyPr wrap="square" lIns="0" tIns="0" rIns="0" bIns="0" anchor="t">
            <a:spAutoFit/>
          </a:bodyPr>
          <a:lstStyle/>
          <a:p>
            <a:pPr algn="l"/>
            <a:r>
              <a:rPr sz="850">
                <a:solidFill>
                  <a:srgbClr val="004F9F"/>
                </a:solidFill>
                <a:latin typeface="에이투지체 6 SemiBold"/>
              </a:rPr>
              <a:t>PLANNING</a:t>
            </a:r>
          </a:p>
        </p:txBody>
      </p:sp>
      <p:sp>
        <p:nvSpPr>
          <p:cNvPr id="52" name="TextBox 51"/>
          <p:cNvSpPr txBox="1"/>
          <p:nvPr/>
        </p:nvSpPr>
        <p:spPr>
          <a:xfrm>
            <a:off x="9610344" y="4937760"/>
            <a:ext cx="1828800" cy="365760"/>
          </a:xfrm>
          <a:prstGeom prst="rect">
            <a:avLst/>
          </a:prstGeom>
          <a:noFill/>
        </p:spPr>
        <p:txBody>
          <a:bodyPr wrap="square" lIns="0" tIns="0" rIns="0" bIns="0" anchor="t">
            <a:spAutoFit/>
          </a:bodyPr>
          <a:lstStyle/>
          <a:p>
            <a:pPr algn="l"/>
            <a:r>
              <a:rPr sz="1300">
                <a:solidFill>
                  <a:srgbClr val="222222"/>
                </a:solidFill>
                <a:latin typeface="에이투지체 8 ExtraBold"/>
              </a:rPr>
              <a:t>조영호</a:t>
            </a:r>
          </a:p>
        </p:txBody>
      </p:sp>
      <p:sp>
        <p:nvSpPr>
          <p:cNvPr id="53" name="TextBox 52"/>
          <p:cNvSpPr txBox="1"/>
          <p:nvPr/>
        </p:nvSpPr>
        <p:spPr>
          <a:xfrm>
            <a:off x="9610344" y="5349240"/>
            <a:ext cx="1828800" cy="457200"/>
          </a:xfrm>
          <a:prstGeom prst="rect">
            <a:avLst/>
          </a:prstGeom>
          <a:noFill/>
        </p:spPr>
        <p:txBody>
          <a:bodyPr wrap="square" lIns="0" tIns="0" rIns="0" bIns="0" anchor="t">
            <a:spAutoFit/>
          </a:bodyPr>
          <a:lstStyle/>
          <a:p>
            <a:pPr algn="l"/>
            <a:r>
              <a:rPr sz="900">
                <a:solidFill>
                  <a:srgbClr val="5C5C5C"/>
                </a:solidFill>
                <a:latin typeface="에이투지체 4 Regular"/>
              </a:rPr>
              <a:t>서비스 기획, 요구사항 정의</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6 · 링크프라이스 강점</a:t>
            </a:r>
            <a:endParaRPr lang="en-US" sz="9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시즌과 행사 물량을 소화하는 제작 체계를</a:t>
            </a:r>
            <a:endParaRPr lang="en-US" sz="1900" dirty="0"/>
          </a:p>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두드림B&amp;B에 동일하게 투입합니다</a:t>
            </a:r>
            <a:endParaRPr lang="en-US" sz="1900" dirty="0"/>
          </a:p>
        </p:txBody>
      </p:sp>
      <p:sp>
        <p:nvSpPr>
          <p:cNvPr id="4" name="Text 2"/>
          <p:cNvSpPr/>
          <p:nvPr/>
        </p:nvSpPr>
        <p:spPr>
          <a:xfrm>
            <a:off x="548640" y="1517904"/>
            <a:ext cx="11064240" cy="365760"/>
          </a:xfrm>
          <a:prstGeom prst="rect">
            <a:avLst/>
          </a:prstGeom>
          <a:noFill/>
          <a:ln/>
        </p:spPr>
        <p:txBody>
          <a:bodyPr wrap="square" lIns="0" tIns="0" rIns="0" bIns="0" rtlCol="0" anchor="ctr"/>
          <a:lstStyle/>
          <a:p>
            <a:pPr marL="0" indent="0">
              <a:buNone/>
            </a:pPr>
            <a:r>
              <a:rPr lang="en-US" sz="1100" dirty="0">
                <a:solidFill>
                  <a:srgbClr val="5C5C5C"/>
                </a:solidFill>
                <a:latin typeface="에이투지체 5 Medium" pitchFamily="34" charset="0"/>
                <a:ea typeface="에이투지체 5 Medium" pitchFamily="34" charset="-122"/>
                <a:cs typeface="에이투지체 5 Medium" pitchFamily="34" charset="-120"/>
              </a:rPr>
              <a:t>소재 제작 능력과 전문 인력, 기획부터 검수까지 하나의 제작 라인</a:t>
            </a:r>
            <a:endParaRPr lang="en-US" sz="1100" dirty="0"/>
          </a:p>
        </p:txBody>
      </p:sp>
      <p:sp>
        <p:nvSpPr>
          <p:cNvPr id="5" name="Text 3"/>
          <p:cNvSpPr/>
          <p:nvPr/>
        </p:nvSpPr>
        <p:spPr>
          <a:xfrm>
            <a:off x="548640" y="6473952"/>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6" name="Text 4"/>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7" name="Text 5"/>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t>80</a:t>
            </a:r>
          </a:p>
        </p:txBody>
      </p:sp>
      <p:sp>
        <p:nvSpPr>
          <p:cNvPr id="8" name="Shape 6"/>
          <p:cNvSpPr/>
          <p:nvPr/>
        </p:nvSpPr>
        <p:spPr>
          <a:xfrm>
            <a:off x="548640" y="2103120"/>
            <a:ext cx="5440680" cy="868680"/>
          </a:xfrm>
          <a:prstGeom prst="roundRect">
            <a:avLst>
              <a:gd name="adj" fmla="val 8421"/>
            </a:avLst>
          </a:prstGeom>
          <a:solidFill>
            <a:srgbClr val="EAF2FB"/>
          </a:solidFill>
          <a:ln w="12700">
            <a:solidFill>
              <a:srgbClr val="EAF2FB"/>
            </a:solidFill>
            <a:prstDash val="solid"/>
          </a:ln>
        </p:spPr>
        <p:txBody>
          <a:bodyPr/>
          <a:lstStyle/>
          <a:p>
            <a:endParaRPr/>
          </a:p>
        </p:txBody>
      </p:sp>
      <p:sp>
        <p:nvSpPr>
          <p:cNvPr id="9" name="Text 7"/>
          <p:cNvSpPr/>
          <p:nvPr/>
        </p:nvSpPr>
        <p:spPr>
          <a:xfrm>
            <a:off x="868680" y="2103120"/>
            <a:ext cx="2651760" cy="868680"/>
          </a:xfrm>
          <a:prstGeom prst="rect">
            <a:avLst/>
          </a:prstGeom>
          <a:noFill/>
          <a:ln/>
        </p:spPr>
        <p:txBody>
          <a:bodyPr wrap="square" lIns="0" tIns="0" rIns="0" bIns="0" rtlCol="0" anchor="ctr"/>
          <a:lstStyle/>
          <a:p>
            <a:pPr marL="0" indent="0">
              <a:buNone/>
            </a:pPr>
            <a:r>
              <a:rPr lang="en-US" sz="2000" dirty="0">
                <a:solidFill>
                  <a:srgbClr val="004F9F"/>
                </a:solidFill>
                <a:latin typeface="에이투지체 8 ExtraBold" pitchFamily="34" charset="0"/>
                <a:ea typeface="에이투지체 8 ExtraBold" pitchFamily="34" charset="-122"/>
                <a:cs typeface="에이투지체 8 ExtraBold" pitchFamily="34" charset="-120"/>
              </a:rPr>
              <a:t>일 40개 이상</a:t>
            </a:r>
            <a:endParaRPr lang="en-US" sz="2000" dirty="0"/>
          </a:p>
        </p:txBody>
      </p:sp>
      <p:sp>
        <p:nvSpPr>
          <p:cNvPr id="10" name="Text 8"/>
          <p:cNvSpPr/>
          <p:nvPr/>
        </p:nvSpPr>
        <p:spPr>
          <a:xfrm>
            <a:off x="3566160" y="2258568"/>
            <a:ext cx="2194560" cy="292608"/>
          </a:xfrm>
          <a:prstGeom prst="rect">
            <a:avLst/>
          </a:prstGeom>
          <a:noFill/>
          <a:ln/>
        </p:spPr>
        <p:txBody>
          <a:bodyPr wrap="square" lIns="0" tIns="0" rIns="0" bIns="0" rtlCol="0" anchor="ctr"/>
          <a:lstStyle/>
          <a:p>
            <a:pPr marL="0" indent="0">
              <a:buNone/>
            </a:pPr>
            <a:r>
              <a:rPr lang="en-US" sz="1150" dirty="0">
                <a:solidFill>
                  <a:srgbClr val="222222"/>
                </a:solidFill>
                <a:latin typeface="에이투지체 6 SemiBold" pitchFamily="34" charset="0"/>
                <a:ea typeface="에이투지체 6 SemiBold" pitchFamily="34" charset="-122"/>
                <a:cs typeface="에이투지체 6 SemiBold" pitchFamily="34" charset="-120"/>
              </a:rPr>
              <a:t>소재 제작</a:t>
            </a:r>
            <a:endParaRPr lang="en-US" sz="1150" dirty="0"/>
          </a:p>
        </p:txBody>
      </p:sp>
      <p:sp>
        <p:nvSpPr>
          <p:cNvPr id="11" name="Text 9"/>
          <p:cNvSpPr/>
          <p:nvPr/>
        </p:nvSpPr>
        <p:spPr>
          <a:xfrm>
            <a:off x="3566160" y="2560320"/>
            <a:ext cx="2286000" cy="274320"/>
          </a:xfrm>
          <a:prstGeom prst="rect">
            <a:avLst/>
          </a:prstGeom>
          <a:noFill/>
          <a:ln/>
        </p:spPr>
        <p:txBody>
          <a:bodyPr wrap="square" lIns="0" tIns="0" rIns="0" bIns="0" rtlCol="0" anchor="ctr"/>
          <a:lstStyle/>
          <a:p>
            <a:pPr marL="0" indent="0">
              <a:buNone/>
            </a:pPr>
            <a:r>
              <a:rPr lang="en-US" sz="900" dirty="0">
                <a:solidFill>
                  <a:srgbClr val="5C5C5C"/>
                </a:solidFill>
                <a:latin typeface="에이투지체 4 Regular" pitchFamily="34" charset="0"/>
                <a:ea typeface="에이투지체 4 Regular" pitchFamily="34" charset="-122"/>
                <a:cs typeface="에이투지체 4 Regular" pitchFamily="34" charset="-120"/>
              </a:rPr>
              <a:t>리사이징 포함 100건 이상</a:t>
            </a:r>
            <a:endParaRPr lang="en-US" sz="900" dirty="0"/>
          </a:p>
        </p:txBody>
      </p:sp>
      <p:sp>
        <p:nvSpPr>
          <p:cNvPr id="12" name="Shape 10"/>
          <p:cNvSpPr/>
          <p:nvPr/>
        </p:nvSpPr>
        <p:spPr>
          <a:xfrm>
            <a:off x="6172200" y="2103120"/>
            <a:ext cx="5440680" cy="868680"/>
          </a:xfrm>
          <a:prstGeom prst="roundRect">
            <a:avLst>
              <a:gd name="adj" fmla="val 8421"/>
            </a:avLst>
          </a:prstGeom>
          <a:solidFill>
            <a:srgbClr val="EAF2FB"/>
          </a:solidFill>
          <a:ln w="12700">
            <a:solidFill>
              <a:srgbClr val="EAF2FB"/>
            </a:solidFill>
            <a:prstDash val="solid"/>
          </a:ln>
        </p:spPr>
        <p:txBody>
          <a:bodyPr/>
          <a:lstStyle/>
          <a:p>
            <a:endParaRPr/>
          </a:p>
        </p:txBody>
      </p:sp>
      <p:sp>
        <p:nvSpPr>
          <p:cNvPr id="13" name="Text 11"/>
          <p:cNvSpPr/>
          <p:nvPr/>
        </p:nvSpPr>
        <p:spPr>
          <a:xfrm>
            <a:off x="6492240" y="2103120"/>
            <a:ext cx="2651760" cy="868680"/>
          </a:xfrm>
          <a:prstGeom prst="rect">
            <a:avLst/>
          </a:prstGeom>
          <a:noFill/>
          <a:ln/>
        </p:spPr>
        <p:txBody>
          <a:bodyPr wrap="square" lIns="0" tIns="0" rIns="0" bIns="0" rtlCol="0" anchor="ctr"/>
          <a:lstStyle/>
          <a:p>
            <a:pPr marL="0" indent="0">
              <a:buNone/>
            </a:pPr>
            <a:r>
              <a:rPr lang="en-US" sz="2000" dirty="0">
                <a:solidFill>
                  <a:srgbClr val="004F9F"/>
                </a:solidFill>
                <a:latin typeface="에이투지체 8 ExtraBold" pitchFamily="34" charset="0"/>
                <a:ea typeface="에이투지체 8 ExtraBold" pitchFamily="34" charset="-122"/>
                <a:cs typeface="에이투지체 8 ExtraBold" pitchFamily="34" charset="-120"/>
              </a:rPr>
              <a:t>주 1편 이상</a:t>
            </a:r>
            <a:endParaRPr lang="en-US" sz="2000" dirty="0"/>
          </a:p>
        </p:txBody>
      </p:sp>
      <p:sp>
        <p:nvSpPr>
          <p:cNvPr id="14" name="Text 12"/>
          <p:cNvSpPr/>
          <p:nvPr/>
        </p:nvSpPr>
        <p:spPr>
          <a:xfrm>
            <a:off x="9189720" y="2258568"/>
            <a:ext cx="2194560" cy="292608"/>
          </a:xfrm>
          <a:prstGeom prst="rect">
            <a:avLst/>
          </a:prstGeom>
          <a:noFill/>
          <a:ln/>
        </p:spPr>
        <p:txBody>
          <a:bodyPr wrap="square" lIns="0" tIns="0" rIns="0" bIns="0" rtlCol="0" anchor="ctr"/>
          <a:lstStyle/>
          <a:p>
            <a:pPr marL="0" indent="0">
              <a:buNone/>
            </a:pPr>
            <a:r>
              <a:rPr lang="en-US" sz="1150" dirty="0">
                <a:solidFill>
                  <a:srgbClr val="222222"/>
                </a:solidFill>
                <a:latin typeface="에이투지체 6 SemiBold" pitchFamily="34" charset="0"/>
                <a:ea typeface="에이투지체 6 SemiBold" pitchFamily="34" charset="-122"/>
                <a:cs typeface="에이투지체 6 SemiBold" pitchFamily="34" charset="-120"/>
              </a:rPr>
              <a:t>영상 제작</a:t>
            </a:r>
            <a:endParaRPr lang="en-US" sz="1150" dirty="0"/>
          </a:p>
        </p:txBody>
      </p:sp>
      <p:sp>
        <p:nvSpPr>
          <p:cNvPr id="15" name="Text 13"/>
          <p:cNvSpPr/>
          <p:nvPr/>
        </p:nvSpPr>
        <p:spPr>
          <a:xfrm>
            <a:off x="9189720" y="2560320"/>
            <a:ext cx="2286000" cy="274320"/>
          </a:xfrm>
          <a:prstGeom prst="rect">
            <a:avLst/>
          </a:prstGeom>
          <a:noFill/>
          <a:ln/>
        </p:spPr>
        <p:txBody>
          <a:bodyPr wrap="square" lIns="0" tIns="0" rIns="0" bIns="0" rtlCol="0" anchor="ctr"/>
          <a:lstStyle/>
          <a:p>
            <a:pPr marL="0" indent="0">
              <a:buNone/>
            </a:pPr>
            <a:r>
              <a:rPr lang="en-US" sz="900" dirty="0">
                <a:solidFill>
                  <a:srgbClr val="5C5C5C"/>
                </a:solidFill>
                <a:latin typeface="에이투지체 4 Regular" pitchFamily="34" charset="0"/>
                <a:ea typeface="에이투지체 4 Regular" pitchFamily="34" charset="-122"/>
                <a:cs typeface="에이투지체 4 Regular" pitchFamily="34" charset="-120"/>
              </a:rPr>
              <a:t>전문 PD 제작 지원</a:t>
            </a:r>
            <a:endParaRPr lang="en-US" sz="900" dirty="0"/>
          </a:p>
        </p:txBody>
      </p:sp>
      <p:sp>
        <p:nvSpPr>
          <p:cNvPr id="16" name="Shape 14"/>
          <p:cNvSpPr/>
          <p:nvPr/>
        </p:nvSpPr>
        <p:spPr>
          <a:xfrm>
            <a:off x="548640" y="3154680"/>
            <a:ext cx="5440680" cy="1051560"/>
          </a:xfrm>
          <a:prstGeom prst="roundRect">
            <a:avLst>
              <a:gd name="adj" fmla="val 6957"/>
            </a:avLst>
          </a:prstGeom>
          <a:solidFill>
            <a:srgbClr val="FFFFFF"/>
          </a:solidFill>
          <a:ln w="12700">
            <a:solidFill>
              <a:srgbClr val="D0D0D0"/>
            </a:solidFill>
            <a:prstDash val="solid"/>
          </a:ln>
        </p:spPr>
        <p:txBody>
          <a:bodyPr/>
          <a:lstStyle/>
          <a:p>
            <a:endParaRPr/>
          </a:p>
        </p:txBody>
      </p:sp>
      <p:sp>
        <p:nvSpPr>
          <p:cNvPr id="17" name="Shape 15"/>
          <p:cNvSpPr/>
          <p:nvPr/>
        </p:nvSpPr>
        <p:spPr>
          <a:xfrm>
            <a:off x="548640" y="3154680"/>
            <a:ext cx="54864" cy="1051560"/>
          </a:xfrm>
          <a:prstGeom prst="rect">
            <a:avLst/>
          </a:prstGeom>
          <a:solidFill>
            <a:srgbClr val="004F9F"/>
          </a:solidFill>
          <a:ln w="12700">
            <a:solidFill>
              <a:srgbClr val="004F9F"/>
            </a:solidFill>
            <a:prstDash val="solid"/>
          </a:ln>
        </p:spPr>
        <p:txBody>
          <a:bodyPr/>
          <a:lstStyle/>
          <a:p>
            <a:endParaRPr/>
          </a:p>
        </p:txBody>
      </p:sp>
      <p:sp>
        <p:nvSpPr>
          <p:cNvPr id="18" name="Text 16"/>
          <p:cNvSpPr/>
          <p:nvPr/>
        </p:nvSpPr>
        <p:spPr>
          <a:xfrm>
            <a:off x="822960" y="3310128"/>
            <a:ext cx="4937760" cy="292608"/>
          </a:xfrm>
          <a:prstGeom prst="rect">
            <a:avLst/>
          </a:prstGeom>
          <a:noFill/>
          <a:ln/>
        </p:spPr>
        <p:txBody>
          <a:bodyPr wrap="square" lIns="0" tIns="0" rIns="0" bIns="0" rtlCol="0" anchor="ctr"/>
          <a:lstStyle/>
          <a:p>
            <a:pPr marL="0" indent="0">
              <a:buNone/>
            </a:pPr>
            <a:r>
              <a:rPr lang="en-US" sz="1250" dirty="0">
                <a:solidFill>
                  <a:srgbClr val="222222"/>
                </a:solidFill>
                <a:latin typeface="에이투지체 8 ExtraBold" pitchFamily="34" charset="0"/>
                <a:ea typeface="에이투지체 8 ExtraBold" pitchFamily="34" charset="-122"/>
                <a:cs typeface="에이투지체 8 ExtraBold" pitchFamily="34" charset="-120"/>
              </a:rPr>
              <a:t>대량 소재 개발 능력 보유</a:t>
            </a:r>
            <a:endParaRPr lang="en-US" sz="1250" dirty="0"/>
          </a:p>
        </p:txBody>
      </p:sp>
      <p:sp>
        <p:nvSpPr>
          <p:cNvPr id="19" name="Text 17"/>
          <p:cNvSpPr/>
          <p:nvPr/>
        </p:nvSpPr>
        <p:spPr>
          <a:xfrm>
            <a:off x="822960" y="3639312"/>
            <a:ext cx="5029200" cy="502920"/>
          </a:xfrm>
          <a:prstGeom prst="rect">
            <a:avLst/>
          </a:prstGeom>
          <a:noFill/>
          <a:ln/>
        </p:spPr>
        <p:txBody>
          <a:bodyPr wrap="square" lIns="0" tIns="0" rIns="0" bIns="0" rtlCol="0" anchor="ctr"/>
          <a:lstStyle/>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두드림B&amp;B의 톤앤매너로 크리에이티브 소재를 기획, 제작하고</a:t>
            </a:r>
            <a:endParaRPr lang="en-US" sz="950" dirty="0"/>
          </a:p>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확정된 매체 규격에 맞춰 리사이징까지 대응합니다</a:t>
            </a:r>
            <a:endParaRPr lang="en-US" sz="950" dirty="0"/>
          </a:p>
        </p:txBody>
      </p:sp>
      <p:sp>
        <p:nvSpPr>
          <p:cNvPr id="20" name="Shape 18"/>
          <p:cNvSpPr/>
          <p:nvPr/>
        </p:nvSpPr>
        <p:spPr>
          <a:xfrm>
            <a:off x="6172200" y="3154680"/>
            <a:ext cx="5440680" cy="1051560"/>
          </a:xfrm>
          <a:prstGeom prst="roundRect">
            <a:avLst>
              <a:gd name="adj" fmla="val 6957"/>
            </a:avLst>
          </a:prstGeom>
          <a:solidFill>
            <a:srgbClr val="FFFFFF"/>
          </a:solidFill>
          <a:ln w="12700">
            <a:solidFill>
              <a:srgbClr val="D0D0D0"/>
            </a:solidFill>
            <a:prstDash val="solid"/>
          </a:ln>
        </p:spPr>
        <p:txBody>
          <a:bodyPr/>
          <a:lstStyle/>
          <a:p>
            <a:endParaRPr/>
          </a:p>
        </p:txBody>
      </p:sp>
      <p:sp>
        <p:nvSpPr>
          <p:cNvPr id="21" name="Shape 19"/>
          <p:cNvSpPr/>
          <p:nvPr/>
        </p:nvSpPr>
        <p:spPr>
          <a:xfrm>
            <a:off x="6172200" y="3154680"/>
            <a:ext cx="54864" cy="1051560"/>
          </a:xfrm>
          <a:prstGeom prst="rect">
            <a:avLst/>
          </a:prstGeom>
          <a:solidFill>
            <a:srgbClr val="004F9F"/>
          </a:solidFill>
          <a:ln w="12700">
            <a:solidFill>
              <a:srgbClr val="004F9F"/>
            </a:solidFill>
            <a:prstDash val="solid"/>
          </a:ln>
        </p:spPr>
        <p:txBody>
          <a:bodyPr/>
          <a:lstStyle/>
          <a:p>
            <a:endParaRPr/>
          </a:p>
        </p:txBody>
      </p:sp>
      <p:sp>
        <p:nvSpPr>
          <p:cNvPr id="22" name="Text 20"/>
          <p:cNvSpPr/>
          <p:nvPr/>
        </p:nvSpPr>
        <p:spPr>
          <a:xfrm>
            <a:off x="6446520" y="3310128"/>
            <a:ext cx="4937760" cy="292608"/>
          </a:xfrm>
          <a:prstGeom prst="rect">
            <a:avLst/>
          </a:prstGeom>
          <a:noFill/>
          <a:ln/>
        </p:spPr>
        <p:txBody>
          <a:bodyPr wrap="square" lIns="0" tIns="0" rIns="0" bIns="0" rtlCol="0" anchor="ctr"/>
          <a:lstStyle/>
          <a:p>
            <a:pPr marL="0" indent="0">
              <a:buNone/>
            </a:pPr>
            <a:r>
              <a:rPr lang="en-US" sz="1250" dirty="0">
                <a:solidFill>
                  <a:srgbClr val="222222"/>
                </a:solidFill>
                <a:latin typeface="에이투지체 8 ExtraBold" pitchFamily="34" charset="0"/>
                <a:ea typeface="에이투지체 8 ExtraBold" pitchFamily="34" charset="-122"/>
                <a:cs typeface="에이투지체 8 ExtraBold" pitchFamily="34" charset="-120"/>
              </a:rPr>
              <a:t>전문 제작 인력 보유</a:t>
            </a:r>
            <a:endParaRPr lang="en-US" sz="1250" dirty="0"/>
          </a:p>
        </p:txBody>
      </p:sp>
      <p:sp>
        <p:nvSpPr>
          <p:cNvPr id="23" name="Text 21"/>
          <p:cNvSpPr/>
          <p:nvPr/>
        </p:nvSpPr>
        <p:spPr>
          <a:xfrm>
            <a:off x="6446520" y="3639312"/>
            <a:ext cx="5029200" cy="502920"/>
          </a:xfrm>
          <a:prstGeom prst="rect">
            <a:avLst/>
          </a:prstGeom>
          <a:noFill/>
          <a:ln/>
        </p:spPr>
        <p:txBody>
          <a:bodyPr wrap="square" lIns="0" tIns="0" rIns="0" bIns="0" rtlCol="0" anchor="ctr"/>
          <a:lstStyle/>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빠른 제작과 높은 품질 유지를 위해 CD와 AD가 이벤트 기간에 즉시 대응하고</a:t>
            </a:r>
            <a:endParaRPr lang="en-US" sz="950" dirty="0"/>
          </a:p>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영상이 필요한 경우 전문 PD가 제작을 지원합니다</a:t>
            </a:r>
            <a:endParaRPr lang="en-US" sz="950" dirty="0"/>
          </a:p>
        </p:txBody>
      </p:sp>
      <p:sp>
        <p:nvSpPr>
          <p:cNvPr id="24" name="Text 22"/>
          <p:cNvSpPr/>
          <p:nvPr/>
        </p:nvSpPr>
        <p:spPr>
          <a:xfrm>
            <a:off x="548640" y="4434840"/>
            <a:ext cx="6400800" cy="274320"/>
          </a:xfrm>
          <a:prstGeom prst="rect">
            <a:avLst/>
          </a:prstGeom>
          <a:noFill/>
          <a:ln/>
        </p:spPr>
        <p:txBody>
          <a:bodyPr wrap="square" lIns="0" tIns="0" rIns="0" bIns="0" rtlCol="0" anchor="ctr"/>
          <a:lstStyle/>
          <a:p>
            <a:pPr marL="0" indent="0">
              <a:buNone/>
            </a:pPr>
            <a:r>
              <a:rPr lang="en-US" sz="1050" dirty="0">
                <a:solidFill>
                  <a:srgbClr val="004F9F"/>
                </a:solidFill>
                <a:latin typeface="에이투지체 6 SemiBold" pitchFamily="34" charset="0"/>
                <a:ea typeface="에이투지체 6 SemiBold" pitchFamily="34" charset="-122"/>
                <a:cs typeface="에이투지체 6 SemiBold" pitchFamily="34" charset="-120"/>
              </a:rPr>
              <a:t>제작 프로세스, 기획부터 검수까지 하나의 라인</a:t>
            </a:r>
            <a:endParaRPr lang="en-US" sz="1050" dirty="0"/>
          </a:p>
        </p:txBody>
      </p:sp>
      <p:sp>
        <p:nvSpPr>
          <p:cNvPr id="25" name="Shape 23"/>
          <p:cNvSpPr/>
          <p:nvPr/>
        </p:nvSpPr>
        <p:spPr>
          <a:xfrm>
            <a:off x="548640" y="4773168"/>
            <a:ext cx="2606040" cy="777240"/>
          </a:xfrm>
          <a:prstGeom prst="roundRect">
            <a:avLst>
              <a:gd name="adj" fmla="val 9412"/>
            </a:avLst>
          </a:prstGeom>
          <a:solidFill>
            <a:srgbClr val="F5F5F5"/>
          </a:solidFill>
          <a:ln w="12700">
            <a:solidFill>
              <a:srgbClr val="F5F5F5"/>
            </a:solidFill>
            <a:prstDash val="solid"/>
          </a:ln>
        </p:spPr>
        <p:txBody>
          <a:bodyPr/>
          <a:lstStyle/>
          <a:p>
            <a:endParaRPr/>
          </a:p>
        </p:txBody>
      </p:sp>
      <p:sp>
        <p:nvSpPr>
          <p:cNvPr id="26" name="Text 24"/>
          <p:cNvSpPr/>
          <p:nvPr/>
        </p:nvSpPr>
        <p:spPr>
          <a:xfrm>
            <a:off x="749808" y="4882896"/>
            <a:ext cx="2286000" cy="256032"/>
          </a:xfrm>
          <a:prstGeom prst="rect">
            <a:avLst/>
          </a:prstGeom>
          <a:noFill/>
          <a:ln/>
        </p:spPr>
        <p:txBody>
          <a:bodyPr wrap="square" lIns="0" tIns="0" rIns="0" bIns="0" rtlCol="0" anchor="ctr"/>
          <a:lstStyle/>
          <a:p>
            <a:pPr marL="0" indent="0">
              <a:buNone/>
            </a:pPr>
            <a:r>
              <a:rPr lang="en-US" sz="1100" dirty="0">
                <a:solidFill>
                  <a:srgbClr val="004F9F"/>
                </a:solidFill>
                <a:latin typeface="에이투지체 8 ExtraBold" pitchFamily="34" charset="0"/>
                <a:ea typeface="에이투지체 8 ExtraBold" pitchFamily="34" charset="-122"/>
                <a:cs typeface="에이투지체 8 ExtraBold" pitchFamily="34" charset="-120"/>
              </a:rPr>
              <a:t>01 기획</a:t>
            </a:r>
            <a:endParaRPr lang="en-US" sz="1100" dirty="0"/>
          </a:p>
        </p:txBody>
      </p:sp>
      <p:sp>
        <p:nvSpPr>
          <p:cNvPr id="27" name="Text 25"/>
          <p:cNvSpPr/>
          <p:nvPr/>
        </p:nvSpPr>
        <p:spPr>
          <a:xfrm>
            <a:off x="749808" y="5148072"/>
            <a:ext cx="2286000" cy="365760"/>
          </a:xfrm>
          <a:prstGeom prst="rect">
            <a:avLst/>
          </a:prstGeom>
          <a:noFill/>
          <a:ln/>
        </p:spPr>
        <p:txBody>
          <a:bodyPr wrap="square" lIns="0" tIns="0" rIns="0" bIns="0" rtlCol="0" anchor="ctr"/>
          <a:lstStyle/>
          <a:p>
            <a:pPr marL="0" indent="0">
              <a:lnSpc>
                <a:spcPts val="110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매체, 시즌, 행사 브리프 기반 소재 기획</a:t>
            </a:r>
            <a:endParaRPr lang="en-US" sz="850" dirty="0"/>
          </a:p>
        </p:txBody>
      </p:sp>
      <p:sp>
        <p:nvSpPr>
          <p:cNvPr id="28" name="Text 26"/>
          <p:cNvSpPr/>
          <p:nvPr/>
        </p:nvSpPr>
        <p:spPr>
          <a:xfrm>
            <a:off x="3154680" y="4974336"/>
            <a:ext cx="256032" cy="365760"/>
          </a:xfrm>
          <a:prstGeom prst="rect">
            <a:avLst/>
          </a:prstGeom>
          <a:noFill/>
          <a:ln/>
        </p:spPr>
        <p:txBody>
          <a:bodyPr wrap="square" lIns="0" tIns="0" rIns="0" bIns="0" rtlCol="0" anchor="ctr"/>
          <a:lstStyle/>
          <a:p>
            <a:pPr marL="0" indent="0" algn="ctr">
              <a:buNone/>
            </a:pPr>
            <a:r>
              <a:rPr lang="en-US" sz="1400" dirty="0">
                <a:solidFill>
                  <a:srgbClr val="1B74C8"/>
                </a:solidFill>
                <a:latin typeface="에이투지체 8 ExtraBold" pitchFamily="34" charset="0"/>
                <a:ea typeface="에이투지체 8 ExtraBold" pitchFamily="34" charset="-122"/>
                <a:cs typeface="에이투지체 8 ExtraBold" pitchFamily="34" charset="-120"/>
              </a:rPr>
              <a:t>›</a:t>
            </a:r>
            <a:endParaRPr lang="en-US" sz="1400" dirty="0"/>
          </a:p>
        </p:txBody>
      </p:sp>
      <p:sp>
        <p:nvSpPr>
          <p:cNvPr id="29" name="Shape 27"/>
          <p:cNvSpPr/>
          <p:nvPr/>
        </p:nvSpPr>
        <p:spPr>
          <a:xfrm>
            <a:off x="3410712" y="4773168"/>
            <a:ext cx="2606040" cy="777240"/>
          </a:xfrm>
          <a:prstGeom prst="roundRect">
            <a:avLst>
              <a:gd name="adj" fmla="val 9412"/>
            </a:avLst>
          </a:prstGeom>
          <a:solidFill>
            <a:srgbClr val="F5F5F5"/>
          </a:solidFill>
          <a:ln w="12700">
            <a:solidFill>
              <a:srgbClr val="F5F5F5"/>
            </a:solidFill>
            <a:prstDash val="solid"/>
          </a:ln>
        </p:spPr>
        <p:txBody>
          <a:bodyPr/>
          <a:lstStyle/>
          <a:p>
            <a:endParaRPr/>
          </a:p>
        </p:txBody>
      </p:sp>
      <p:sp>
        <p:nvSpPr>
          <p:cNvPr id="30" name="Text 28"/>
          <p:cNvSpPr/>
          <p:nvPr/>
        </p:nvSpPr>
        <p:spPr>
          <a:xfrm>
            <a:off x="3611880" y="4882896"/>
            <a:ext cx="2286000" cy="256032"/>
          </a:xfrm>
          <a:prstGeom prst="rect">
            <a:avLst/>
          </a:prstGeom>
          <a:noFill/>
          <a:ln/>
        </p:spPr>
        <p:txBody>
          <a:bodyPr wrap="square" lIns="0" tIns="0" rIns="0" bIns="0" rtlCol="0" anchor="ctr"/>
          <a:lstStyle/>
          <a:p>
            <a:pPr marL="0" indent="0">
              <a:buNone/>
            </a:pPr>
            <a:r>
              <a:rPr lang="en-US" sz="1100" dirty="0">
                <a:solidFill>
                  <a:srgbClr val="004F9F"/>
                </a:solidFill>
                <a:latin typeface="에이투지체 8 ExtraBold" pitchFamily="34" charset="0"/>
                <a:ea typeface="에이투지체 8 ExtraBold" pitchFamily="34" charset="-122"/>
                <a:cs typeface="에이투지체 8 ExtraBold" pitchFamily="34" charset="-120"/>
              </a:rPr>
              <a:t>02 디자인</a:t>
            </a:r>
            <a:endParaRPr lang="en-US" sz="1100" dirty="0"/>
          </a:p>
        </p:txBody>
      </p:sp>
      <p:sp>
        <p:nvSpPr>
          <p:cNvPr id="31" name="Text 29"/>
          <p:cNvSpPr/>
          <p:nvPr/>
        </p:nvSpPr>
        <p:spPr>
          <a:xfrm>
            <a:off x="3611880" y="5148072"/>
            <a:ext cx="2286000" cy="365760"/>
          </a:xfrm>
          <a:prstGeom prst="rect">
            <a:avLst/>
          </a:prstGeom>
          <a:noFill/>
          <a:ln/>
        </p:spPr>
        <p:txBody>
          <a:bodyPr wrap="square" lIns="0" tIns="0" rIns="0" bIns="0" rtlCol="0" anchor="ctr"/>
          <a:lstStyle/>
          <a:p>
            <a:pPr marL="0" indent="0">
              <a:lnSpc>
                <a:spcPts val="110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키비주얼 제작과 파생 변형 제작</a:t>
            </a:r>
            <a:endParaRPr lang="en-US" sz="850" dirty="0"/>
          </a:p>
        </p:txBody>
      </p:sp>
      <p:sp>
        <p:nvSpPr>
          <p:cNvPr id="32" name="Text 30"/>
          <p:cNvSpPr/>
          <p:nvPr/>
        </p:nvSpPr>
        <p:spPr>
          <a:xfrm>
            <a:off x="6016752" y="4974336"/>
            <a:ext cx="256032" cy="365760"/>
          </a:xfrm>
          <a:prstGeom prst="rect">
            <a:avLst/>
          </a:prstGeom>
          <a:noFill/>
          <a:ln/>
        </p:spPr>
        <p:txBody>
          <a:bodyPr wrap="square" lIns="0" tIns="0" rIns="0" bIns="0" rtlCol="0" anchor="ctr"/>
          <a:lstStyle/>
          <a:p>
            <a:pPr marL="0" indent="0" algn="ctr">
              <a:buNone/>
            </a:pPr>
            <a:r>
              <a:rPr lang="en-US" sz="1400" dirty="0">
                <a:solidFill>
                  <a:srgbClr val="1B74C8"/>
                </a:solidFill>
                <a:latin typeface="에이투지체 8 ExtraBold" pitchFamily="34" charset="0"/>
                <a:ea typeface="에이투지체 8 ExtraBold" pitchFamily="34" charset="-122"/>
                <a:cs typeface="에이투지체 8 ExtraBold" pitchFamily="34" charset="-120"/>
              </a:rPr>
              <a:t>›</a:t>
            </a:r>
            <a:endParaRPr lang="en-US" sz="1400" dirty="0"/>
          </a:p>
        </p:txBody>
      </p:sp>
      <p:sp>
        <p:nvSpPr>
          <p:cNvPr id="33" name="Shape 31"/>
          <p:cNvSpPr/>
          <p:nvPr/>
        </p:nvSpPr>
        <p:spPr>
          <a:xfrm>
            <a:off x="6272784" y="4773168"/>
            <a:ext cx="2606040" cy="777240"/>
          </a:xfrm>
          <a:prstGeom prst="roundRect">
            <a:avLst>
              <a:gd name="adj" fmla="val 9412"/>
            </a:avLst>
          </a:prstGeom>
          <a:solidFill>
            <a:srgbClr val="F5F5F5"/>
          </a:solidFill>
          <a:ln w="12700">
            <a:solidFill>
              <a:srgbClr val="F5F5F5"/>
            </a:solidFill>
            <a:prstDash val="solid"/>
          </a:ln>
        </p:spPr>
        <p:txBody>
          <a:bodyPr/>
          <a:lstStyle/>
          <a:p>
            <a:endParaRPr/>
          </a:p>
        </p:txBody>
      </p:sp>
      <p:sp>
        <p:nvSpPr>
          <p:cNvPr id="34" name="Text 32"/>
          <p:cNvSpPr/>
          <p:nvPr/>
        </p:nvSpPr>
        <p:spPr>
          <a:xfrm>
            <a:off x="6473952" y="4882896"/>
            <a:ext cx="2286000" cy="256032"/>
          </a:xfrm>
          <a:prstGeom prst="rect">
            <a:avLst/>
          </a:prstGeom>
          <a:noFill/>
          <a:ln/>
        </p:spPr>
        <p:txBody>
          <a:bodyPr wrap="square" lIns="0" tIns="0" rIns="0" bIns="0" rtlCol="0" anchor="ctr"/>
          <a:lstStyle/>
          <a:p>
            <a:pPr marL="0" indent="0">
              <a:buNone/>
            </a:pPr>
            <a:r>
              <a:rPr lang="en-US" sz="1100" dirty="0">
                <a:solidFill>
                  <a:srgbClr val="004F9F"/>
                </a:solidFill>
                <a:latin typeface="에이투지체 8 ExtraBold" pitchFamily="34" charset="0"/>
                <a:ea typeface="에이투지체 8 ExtraBold" pitchFamily="34" charset="-122"/>
                <a:cs typeface="에이투지체 8 ExtraBold" pitchFamily="34" charset="-120"/>
              </a:rPr>
              <a:t>03 리사이징</a:t>
            </a:r>
            <a:endParaRPr lang="en-US" sz="1100" dirty="0"/>
          </a:p>
        </p:txBody>
      </p:sp>
      <p:sp>
        <p:nvSpPr>
          <p:cNvPr id="35" name="Text 33"/>
          <p:cNvSpPr/>
          <p:nvPr/>
        </p:nvSpPr>
        <p:spPr>
          <a:xfrm>
            <a:off x="6473952" y="5148072"/>
            <a:ext cx="2286000" cy="365760"/>
          </a:xfrm>
          <a:prstGeom prst="rect">
            <a:avLst/>
          </a:prstGeom>
          <a:noFill/>
          <a:ln/>
        </p:spPr>
        <p:txBody>
          <a:bodyPr wrap="square" lIns="0" tIns="0" rIns="0" bIns="0" rtlCol="0" anchor="ctr"/>
          <a:lstStyle/>
          <a:p>
            <a:pPr marL="0" indent="0">
              <a:lnSpc>
                <a:spcPts val="110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매체별 규격 일괄 대응</a:t>
            </a:r>
            <a:endParaRPr lang="en-US" sz="850" dirty="0"/>
          </a:p>
        </p:txBody>
      </p:sp>
      <p:sp>
        <p:nvSpPr>
          <p:cNvPr id="36" name="Text 34"/>
          <p:cNvSpPr/>
          <p:nvPr/>
        </p:nvSpPr>
        <p:spPr>
          <a:xfrm>
            <a:off x="8878824" y="4974336"/>
            <a:ext cx="256032" cy="365760"/>
          </a:xfrm>
          <a:prstGeom prst="rect">
            <a:avLst/>
          </a:prstGeom>
          <a:noFill/>
          <a:ln/>
        </p:spPr>
        <p:txBody>
          <a:bodyPr wrap="square" lIns="0" tIns="0" rIns="0" bIns="0" rtlCol="0" anchor="ctr"/>
          <a:lstStyle/>
          <a:p>
            <a:pPr marL="0" indent="0" algn="ctr">
              <a:buNone/>
            </a:pPr>
            <a:r>
              <a:rPr lang="en-US" sz="1400" dirty="0">
                <a:solidFill>
                  <a:srgbClr val="1B74C8"/>
                </a:solidFill>
                <a:latin typeface="에이투지체 8 ExtraBold" pitchFamily="34" charset="0"/>
                <a:ea typeface="에이투지체 8 ExtraBold" pitchFamily="34" charset="-122"/>
                <a:cs typeface="에이투지체 8 ExtraBold" pitchFamily="34" charset="-120"/>
              </a:rPr>
              <a:t>›</a:t>
            </a:r>
            <a:endParaRPr lang="en-US" sz="1400" dirty="0"/>
          </a:p>
        </p:txBody>
      </p:sp>
      <p:sp>
        <p:nvSpPr>
          <p:cNvPr id="37" name="Shape 35"/>
          <p:cNvSpPr/>
          <p:nvPr/>
        </p:nvSpPr>
        <p:spPr>
          <a:xfrm>
            <a:off x="9134856" y="4773168"/>
            <a:ext cx="2606040" cy="777240"/>
          </a:xfrm>
          <a:prstGeom prst="roundRect">
            <a:avLst>
              <a:gd name="adj" fmla="val 9412"/>
            </a:avLst>
          </a:prstGeom>
          <a:solidFill>
            <a:srgbClr val="F5F5F5"/>
          </a:solidFill>
          <a:ln w="12700">
            <a:solidFill>
              <a:srgbClr val="F5F5F5"/>
            </a:solidFill>
            <a:prstDash val="solid"/>
          </a:ln>
        </p:spPr>
        <p:txBody>
          <a:bodyPr/>
          <a:lstStyle/>
          <a:p>
            <a:endParaRPr/>
          </a:p>
        </p:txBody>
      </p:sp>
      <p:sp>
        <p:nvSpPr>
          <p:cNvPr id="38" name="Text 36"/>
          <p:cNvSpPr/>
          <p:nvPr/>
        </p:nvSpPr>
        <p:spPr>
          <a:xfrm>
            <a:off x="9336024" y="4882896"/>
            <a:ext cx="2286000" cy="256032"/>
          </a:xfrm>
          <a:prstGeom prst="rect">
            <a:avLst/>
          </a:prstGeom>
          <a:noFill/>
          <a:ln/>
        </p:spPr>
        <p:txBody>
          <a:bodyPr wrap="square" lIns="0" tIns="0" rIns="0" bIns="0" rtlCol="0" anchor="ctr"/>
          <a:lstStyle/>
          <a:p>
            <a:pPr marL="0" indent="0">
              <a:buNone/>
            </a:pPr>
            <a:r>
              <a:rPr lang="en-US" sz="1100" dirty="0">
                <a:solidFill>
                  <a:srgbClr val="004F9F"/>
                </a:solidFill>
                <a:latin typeface="에이투지체 8 ExtraBold" pitchFamily="34" charset="0"/>
                <a:ea typeface="에이투지체 8 ExtraBold" pitchFamily="34" charset="-122"/>
                <a:cs typeface="에이투지체 8 ExtraBold" pitchFamily="34" charset="-120"/>
              </a:rPr>
              <a:t>04 검수</a:t>
            </a:r>
            <a:endParaRPr lang="en-US" sz="1100" dirty="0"/>
          </a:p>
        </p:txBody>
      </p:sp>
      <p:sp>
        <p:nvSpPr>
          <p:cNvPr id="39" name="Text 37"/>
          <p:cNvSpPr/>
          <p:nvPr/>
        </p:nvSpPr>
        <p:spPr>
          <a:xfrm>
            <a:off x="9336024" y="5148072"/>
            <a:ext cx="2286000" cy="365760"/>
          </a:xfrm>
          <a:prstGeom prst="rect">
            <a:avLst/>
          </a:prstGeom>
          <a:noFill/>
          <a:ln/>
        </p:spPr>
        <p:txBody>
          <a:bodyPr wrap="square" lIns="0" tIns="0" rIns="0" bIns="0" rtlCol="0" anchor="ctr"/>
          <a:lstStyle/>
          <a:p>
            <a:pPr marL="0" indent="0">
              <a:lnSpc>
                <a:spcPts val="110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가이드, 오탈자, 심의 체크 후 라이브</a:t>
            </a:r>
            <a:endParaRPr lang="en-US" sz="850" dirty="0"/>
          </a:p>
        </p:txBody>
      </p:sp>
      <p:sp>
        <p:nvSpPr>
          <p:cNvPr id="40" name="Shape 38"/>
          <p:cNvSpPr/>
          <p:nvPr/>
        </p:nvSpPr>
        <p:spPr>
          <a:xfrm>
            <a:off x="548640" y="5806440"/>
            <a:ext cx="11064240" cy="502920"/>
          </a:xfrm>
          <a:prstGeom prst="roundRect">
            <a:avLst>
              <a:gd name="adj" fmla="val 14545"/>
            </a:avLst>
          </a:prstGeom>
          <a:solidFill>
            <a:srgbClr val="EAF2FB"/>
          </a:solidFill>
          <a:ln w="9525">
            <a:solidFill>
              <a:srgbClr val="004F9F"/>
            </a:solidFill>
            <a:prstDash val="solid"/>
          </a:ln>
        </p:spPr>
        <p:txBody>
          <a:bodyPr/>
          <a:lstStyle/>
          <a:p>
            <a:endParaRPr/>
          </a:p>
        </p:txBody>
      </p:sp>
      <p:sp>
        <p:nvSpPr>
          <p:cNvPr id="41" name="Text 39"/>
          <p:cNvSpPr/>
          <p:nvPr/>
        </p:nvSpPr>
        <p:spPr>
          <a:xfrm>
            <a:off x="868680" y="5916168"/>
            <a:ext cx="10515600" cy="320040"/>
          </a:xfrm>
          <a:prstGeom prst="rect">
            <a:avLst/>
          </a:prstGeom>
          <a:noFill/>
          <a:ln/>
        </p:spPr>
        <p:txBody>
          <a:bodyPr wrap="square" lIns="0" tIns="0" rIns="0" bIns="0" rtlCol="0" anchor="ctr"/>
          <a:lstStyle/>
          <a:p>
            <a:pPr marL="0" indent="0">
              <a:buNone/>
            </a:pPr>
            <a:r>
              <a:rPr lang="en-US" sz="1100" dirty="0">
                <a:solidFill>
                  <a:srgbClr val="8FB8E8"/>
                </a:solidFill>
                <a:latin typeface="에이투지체 6 SemiBold" pitchFamily="34" charset="0"/>
                <a:ea typeface="에이투지체 6 SemiBold" pitchFamily="34" charset="-122"/>
                <a:cs typeface="에이투지체 6 SemiBold" pitchFamily="34" charset="-120"/>
              </a:rPr>
              <a:t>운영 포인트   </a:t>
            </a:r>
            <a:r>
              <a:rPr lang="en-US" sz="1100" dirty="0">
                <a:solidFill>
                  <a:srgbClr val="004F9F"/>
                </a:solidFill>
                <a:latin typeface="에이투지체 6 SemiBold" pitchFamily="34" charset="0"/>
                <a:ea typeface="에이투지체 6 SemiBold" pitchFamily="34" charset="-122"/>
                <a:cs typeface="에이투지체 6 SemiBold" pitchFamily="34" charset="-120"/>
              </a:rPr>
              <a:t>소재 볼륨이 성과를 결정하는 매체 환경에서, 전담 TF의 제작 캐파가 곧 운영 경쟁력입니다</a:t>
            </a:r>
            <a:endParaRPr lang="en-US" sz="11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6 · 링크프라이스 강점</a:t>
            </a:r>
            <a:endParaRPr lang="en-US" sz="9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소재 생성부터 운영, 분석, 입찰, 업로드까지</a:t>
            </a:r>
            <a:endParaRPr lang="en-US" sz="1900" dirty="0"/>
          </a:p>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자동화 체계로 운영 속도를 확보합니다</a:t>
            </a:r>
            <a:endParaRPr lang="en-US" sz="1900" dirty="0"/>
          </a:p>
        </p:txBody>
      </p:sp>
      <p:sp>
        <p:nvSpPr>
          <p:cNvPr id="4" name="Text 2"/>
          <p:cNvSpPr/>
          <p:nvPr/>
        </p:nvSpPr>
        <p:spPr>
          <a:xfrm>
            <a:off x="548640" y="1517904"/>
            <a:ext cx="11064240" cy="365760"/>
          </a:xfrm>
          <a:prstGeom prst="rect">
            <a:avLst/>
          </a:prstGeom>
          <a:noFill/>
          <a:ln/>
        </p:spPr>
        <p:txBody>
          <a:bodyPr wrap="square" lIns="0" tIns="0" rIns="0" bIns="0" rtlCol="0" anchor="ctr"/>
          <a:lstStyle/>
          <a:p>
            <a:pPr marL="0" indent="0">
              <a:buNone/>
            </a:pPr>
            <a:r>
              <a:rPr lang="en-US" sz="1100" dirty="0">
                <a:solidFill>
                  <a:srgbClr val="5C5C5C"/>
                </a:solidFill>
                <a:latin typeface="에이투지체 5 Medium" pitchFamily="34" charset="0"/>
                <a:ea typeface="에이투지체 5 Medium" pitchFamily="34" charset="-122"/>
                <a:cs typeface="에이투지체 5 Medium" pitchFamily="34" charset="-120"/>
              </a:rPr>
              <a:t>제작, 운영, 측정이 하나의 사이클로 연결됩니다</a:t>
            </a:r>
            <a:endParaRPr lang="en-US" sz="1100" dirty="0"/>
          </a:p>
        </p:txBody>
      </p:sp>
      <p:sp>
        <p:nvSpPr>
          <p:cNvPr id="5" name="Text 3"/>
          <p:cNvSpPr/>
          <p:nvPr/>
        </p:nvSpPr>
        <p:spPr>
          <a:xfrm>
            <a:off x="548640" y="6473952"/>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6" name="Text 4"/>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7" name="Text 5"/>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t>81</a:t>
            </a:r>
          </a:p>
        </p:txBody>
      </p:sp>
      <p:sp>
        <p:nvSpPr>
          <p:cNvPr id="8" name="Shape 6"/>
          <p:cNvSpPr/>
          <p:nvPr/>
        </p:nvSpPr>
        <p:spPr>
          <a:xfrm>
            <a:off x="1325880" y="2057400"/>
            <a:ext cx="548640" cy="548640"/>
          </a:xfrm>
          <a:prstGeom prst="ellipse">
            <a:avLst/>
          </a:prstGeom>
          <a:solidFill>
            <a:srgbClr val="004F9F"/>
          </a:solidFill>
          <a:ln w="12700">
            <a:solidFill>
              <a:srgbClr val="004F9F"/>
            </a:solidFill>
            <a:prstDash val="solid"/>
          </a:ln>
        </p:spPr>
        <p:txBody>
          <a:bodyPr/>
          <a:lstStyle/>
          <a:p>
            <a:endParaRPr/>
          </a:p>
        </p:txBody>
      </p:sp>
      <p:sp>
        <p:nvSpPr>
          <p:cNvPr id="9" name="Text 7"/>
          <p:cNvSpPr/>
          <p:nvPr/>
        </p:nvSpPr>
        <p:spPr>
          <a:xfrm>
            <a:off x="1325880" y="2057400"/>
            <a:ext cx="548640" cy="548640"/>
          </a:xfrm>
          <a:prstGeom prst="rect">
            <a:avLst/>
          </a:prstGeom>
          <a:noFill/>
          <a:ln/>
        </p:spPr>
        <p:txBody>
          <a:bodyPr wrap="square" lIns="0" tIns="0" rIns="0" bIns="0" rtlCol="0" anchor="ctr"/>
          <a:lstStyle/>
          <a:p>
            <a:pPr marL="0" indent="0" algn="ctr">
              <a:buNone/>
            </a:pPr>
            <a:r>
              <a:rPr lang="en-US" sz="1300" dirty="0">
                <a:solidFill>
                  <a:srgbClr val="FFFFFF"/>
                </a:solidFill>
                <a:latin typeface="에이투지체 8 ExtraBold" pitchFamily="34" charset="0"/>
                <a:ea typeface="에이투지체 8 ExtraBold" pitchFamily="34" charset="-122"/>
                <a:cs typeface="에이투지체 8 ExtraBold" pitchFamily="34" charset="-120"/>
              </a:rPr>
              <a:t>01</a:t>
            </a:r>
            <a:endParaRPr lang="en-US" sz="1300" dirty="0"/>
          </a:p>
        </p:txBody>
      </p:sp>
      <p:sp>
        <p:nvSpPr>
          <p:cNvPr id="10" name="Shape 8"/>
          <p:cNvSpPr/>
          <p:nvPr/>
        </p:nvSpPr>
        <p:spPr>
          <a:xfrm>
            <a:off x="1920240" y="2331720"/>
            <a:ext cx="1600200" cy="0"/>
          </a:xfrm>
          <a:prstGeom prst="line">
            <a:avLst/>
          </a:prstGeom>
          <a:noFill/>
          <a:ln w="19050">
            <a:solidFill>
              <a:srgbClr val="BBCFE6"/>
            </a:solidFill>
            <a:prstDash val="solid"/>
          </a:ln>
        </p:spPr>
        <p:txBody>
          <a:bodyPr/>
          <a:lstStyle/>
          <a:p>
            <a:endParaRPr/>
          </a:p>
        </p:txBody>
      </p:sp>
      <p:sp>
        <p:nvSpPr>
          <p:cNvPr id="11" name="Text 9"/>
          <p:cNvSpPr/>
          <p:nvPr/>
        </p:nvSpPr>
        <p:spPr>
          <a:xfrm>
            <a:off x="548640" y="2743200"/>
            <a:ext cx="2103120" cy="292608"/>
          </a:xfrm>
          <a:prstGeom prst="rect">
            <a:avLst/>
          </a:prstGeom>
          <a:noFill/>
          <a:ln/>
        </p:spPr>
        <p:txBody>
          <a:bodyPr wrap="square" lIns="0" tIns="0" rIns="0" bIns="0" rtlCol="0" anchor="ctr"/>
          <a:lstStyle/>
          <a:p>
            <a:pPr marL="0" indent="0" algn="ctr">
              <a:buNone/>
            </a:pPr>
            <a:r>
              <a:rPr lang="en-US" sz="1150" dirty="0">
                <a:solidFill>
                  <a:srgbClr val="222222"/>
                </a:solidFill>
                <a:latin typeface="에이투지체 8 ExtraBold" pitchFamily="34" charset="0"/>
                <a:ea typeface="에이투지체 8 ExtraBold" pitchFamily="34" charset="-122"/>
                <a:cs typeface="에이투지체 8 ExtraBold" pitchFamily="34" charset="-120"/>
              </a:rPr>
              <a:t>자동 소재 생성</a:t>
            </a:r>
            <a:endParaRPr lang="en-US" sz="1150" dirty="0"/>
          </a:p>
        </p:txBody>
      </p:sp>
      <p:sp>
        <p:nvSpPr>
          <p:cNvPr id="12" name="Text 10"/>
          <p:cNvSpPr/>
          <p:nvPr/>
        </p:nvSpPr>
        <p:spPr>
          <a:xfrm>
            <a:off x="493776" y="3072384"/>
            <a:ext cx="2212848" cy="548640"/>
          </a:xfrm>
          <a:prstGeom prst="rect">
            <a:avLst/>
          </a:prstGeom>
          <a:noFill/>
          <a:ln/>
        </p:spPr>
        <p:txBody>
          <a:bodyPr wrap="square" lIns="0" tIns="0" rIns="0" bIns="0" rtlCol="0" anchor="ctr"/>
          <a:lstStyle/>
          <a:p>
            <a:pPr marL="0" indent="0" algn="ctr">
              <a:lnSpc>
                <a:spcPts val="115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데이터 기반 다양한 변형 자동 생성</a:t>
            </a:r>
            <a:endParaRPr lang="en-US" sz="850" dirty="0"/>
          </a:p>
          <a:p>
            <a:pPr marL="0" indent="0" algn="ctr">
              <a:lnSpc>
                <a:spcPts val="115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A/B 테스트 운영 자동화</a:t>
            </a:r>
            <a:endParaRPr lang="en-US" sz="850" dirty="0"/>
          </a:p>
        </p:txBody>
      </p:sp>
      <p:sp>
        <p:nvSpPr>
          <p:cNvPr id="13" name="Shape 11"/>
          <p:cNvSpPr/>
          <p:nvPr/>
        </p:nvSpPr>
        <p:spPr>
          <a:xfrm>
            <a:off x="3566160" y="2057400"/>
            <a:ext cx="548640" cy="548640"/>
          </a:xfrm>
          <a:prstGeom prst="ellipse">
            <a:avLst/>
          </a:prstGeom>
          <a:solidFill>
            <a:srgbClr val="0E3A72"/>
          </a:solidFill>
          <a:ln w="12700">
            <a:solidFill>
              <a:srgbClr val="0E3A72"/>
            </a:solidFill>
            <a:prstDash val="solid"/>
          </a:ln>
        </p:spPr>
        <p:txBody>
          <a:bodyPr/>
          <a:lstStyle/>
          <a:p>
            <a:endParaRPr/>
          </a:p>
        </p:txBody>
      </p:sp>
      <p:sp>
        <p:nvSpPr>
          <p:cNvPr id="14" name="Text 12"/>
          <p:cNvSpPr/>
          <p:nvPr/>
        </p:nvSpPr>
        <p:spPr>
          <a:xfrm>
            <a:off x="3566160" y="2057400"/>
            <a:ext cx="548640" cy="548640"/>
          </a:xfrm>
          <a:prstGeom prst="rect">
            <a:avLst/>
          </a:prstGeom>
          <a:noFill/>
          <a:ln/>
        </p:spPr>
        <p:txBody>
          <a:bodyPr wrap="square" lIns="0" tIns="0" rIns="0" bIns="0" rtlCol="0" anchor="ctr"/>
          <a:lstStyle/>
          <a:p>
            <a:pPr marL="0" indent="0" algn="ctr">
              <a:buNone/>
            </a:pPr>
            <a:r>
              <a:rPr lang="en-US" sz="1300" dirty="0">
                <a:solidFill>
                  <a:srgbClr val="FFFFFF"/>
                </a:solidFill>
                <a:latin typeface="에이투지체 8 ExtraBold" pitchFamily="34" charset="0"/>
                <a:ea typeface="에이투지체 8 ExtraBold" pitchFamily="34" charset="-122"/>
                <a:cs typeface="에이투지체 8 ExtraBold" pitchFamily="34" charset="-120"/>
              </a:rPr>
              <a:t>02</a:t>
            </a:r>
            <a:endParaRPr lang="en-US" sz="1300" dirty="0"/>
          </a:p>
        </p:txBody>
      </p:sp>
      <p:sp>
        <p:nvSpPr>
          <p:cNvPr id="15" name="Shape 13"/>
          <p:cNvSpPr/>
          <p:nvPr/>
        </p:nvSpPr>
        <p:spPr>
          <a:xfrm>
            <a:off x="4160520" y="2331720"/>
            <a:ext cx="1600200" cy="0"/>
          </a:xfrm>
          <a:prstGeom prst="line">
            <a:avLst/>
          </a:prstGeom>
          <a:noFill/>
          <a:ln w="19050">
            <a:solidFill>
              <a:srgbClr val="BBCFE6"/>
            </a:solidFill>
            <a:prstDash val="solid"/>
          </a:ln>
        </p:spPr>
        <p:txBody>
          <a:bodyPr/>
          <a:lstStyle/>
          <a:p>
            <a:endParaRPr/>
          </a:p>
        </p:txBody>
      </p:sp>
      <p:sp>
        <p:nvSpPr>
          <p:cNvPr id="16" name="Text 14"/>
          <p:cNvSpPr/>
          <p:nvPr/>
        </p:nvSpPr>
        <p:spPr>
          <a:xfrm>
            <a:off x="2788920" y="2743200"/>
            <a:ext cx="2103120" cy="292608"/>
          </a:xfrm>
          <a:prstGeom prst="rect">
            <a:avLst/>
          </a:prstGeom>
          <a:noFill/>
          <a:ln/>
        </p:spPr>
        <p:txBody>
          <a:bodyPr wrap="square" lIns="0" tIns="0" rIns="0" bIns="0" rtlCol="0" anchor="ctr"/>
          <a:lstStyle/>
          <a:p>
            <a:pPr marL="0" indent="0" algn="ctr">
              <a:buNone/>
            </a:pPr>
            <a:r>
              <a:rPr lang="en-US" sz="1150" dirty="0">
                <a:solidFill>
                  <a:srgbClr val="222222"/>
                </a:solidFill>
                <a:latin typeface="에이투지체 8 ExtraBold" pitchFamily="34" charset="0"/>
                <a:ea typeface="에이투지체 8 ExtraBold" pitchFamily="34" charset="-122"/>
                <a:cs typeface="에이투지체 8 ExtraBold" pitchFamily="34" charset="-120"/>
              </a:rPr>
              <a:t>템플릿 기반 운영</a:t>
            </a:r>
            <a:endParaRPr lang="en-US" sz="1150" dirty="0"/>
          </a:p>
        </p:txBody>
      </p:sp>
      <p:sp>
        <p:nvSpPr>
          <p:cNvPr id="17" name="Text 15"/>
          <p:cNvSpPr/>
          <p:nvPr/>
        </p:nvSpPr>
        <p:spPr>
          <a:xfrm>
            <a:off x="2734056" y="3072384"/>
            <a:ext cx="2212848" cy="548640"/>
          </a:xfrm>
          <a:prstGeom prst="rect">
            <a:avLst/>
          </a:prstGeom>
          <a:noFill/>
          <a:ln/>
        </p:spPr>
        <p:txBody>
          <a:bodyPr wrap="square" lIns="0" tIns="0" rIns="0" bIns="0" rtlCol="0" anchor="ctr"/>
          <a:lstStyle/>
          <a:p>
            <a:pPr marL="0" indent="0" algn="ctr">
              <a:lnSpc>
                <a:spcPts val="115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검증된 템플릿 기반 빠른 변주</a:t>
            </a:r>
            <a:endParaRPr lang="en-US" sz="850" dirty="0"/>
          </a:p>
          <a:p>
            <a:pPr marL="0" indent="0" algn="ctr">
              <a:lnSpc>
                <a:spcPts val="115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효율 매체 자동 추천</a:t>
            </a:r>
            <a:endParaRPr lang="en-US" sz="850" dirty="0"/>
          </a:p>
        </p:txBody>
      </p:sp>
      <p:sp>
        <p:nvSpPr>
          <p:cNvPr id="18" name="Shape 16"/>
          <p:cNvSpPr/>
          <p:nvPr/>
        </p:nvSpPr>
        <p:spPr>
          <a:xfrm>
            <a:off x="5806440" y="2057400"/>
            <a:ext cx="548640" cy="548640"/>
          </a:xfrm>
          <a:prstGeom prst="ellipse">
            <a:avLst/>
          </a:prstGeom>
          <a:solidFill>
            <a:srgbClr val="0E3A72"/>
          </a:solidFill>
          <a:ln w="12700">
            <a:solidFill>
              <a:srgbClr val="0E3A72"/>
            </a:solidFill>
            <a:prstDash val="solid"/>
          </a:ln>
        </p:spPr>
        <p:txBody>
          <a:bodyPr/>
          <a:lstStyle/>
          <a:p>
            <a:endParaRPr/>
          </a:p>
        </p:txBody>
      </p:sp>
      <p:sp>
        <p:nvSpPr>
          <p:cNvPr id="19" name="Text 17"/>
          <p:cNvSpPr/>
          <p:nvPr/>
        </p:nvSpPr>
        <p:spPr>
          <a:xfrm>
            <a:off x="5806440" y="2057400"/>
            <a:ext cx="548640" cy="548640"/>
          </a:xfrm>
          <a:prstGeom prst="rect">
            <a:avLst/>
          </a:prstGeom>
          <a:noFill/>
          <a:ln/>
        </p:spPr>
        <p:txBody>
          <a:bodyPr wrap="square" lIns="0" tIns="0" rIns="0" bIns="0" rtlCol="0" anchor="ctr"/>
          <a:lstStyle/>
          <a:p>
            <a:pPr marL="0" indent="0" algn="ctr">
              <a:buNone/>
            </a:pPr>
            <a:r>
              <a:rPr lang="en-US" sz="1300" dirty="0">
                <a:solidFill>
                  <a:srgbClr val="FFFFFF"/>
                </a:solidFill>
                <a:latin typeface="에이투지체 8 ExtraBold" pitchFamily="34" charset="0"/>
                <a:ea typeface="에이투지체 8 ExtraBold" pitchFamily="34" charset="-122"/>
                <a:cs typeface="에이투지체 8 ExtraBold" pitchFamily="34" charset="-120"/>
              </a:rPr>
              <a:t>03</a:t>
            </a:r>
            <a:endParaRPr lang="en-US" sz="1300" dirty="0"/>
          </a:p>
        </p:txBody>
      </p:sp>
      <p:sp>
        <p:nvSpPr>
          <p:cNvPr id="20" name="Shape 18"/>
          <p:cNvSpPr/>
          <p:nvPr/>
        </p:nvSpPr>
        <p:spPr>
          <a:xfrm>
            <a:off x="6400800" y="2331720"/>
            <a:ext cx="1600200" cy="0"/>
          </a:xfrm>
          <a:prstGeom prst="line">
            <a:avLst/>
          </a:prstGeom>
          <a:noFill/>
          <a:ln w="19050">
            <a:solidFill>
              <a:srgbClr val="BBCFE6"/>
            </a:solidFill>
            <a:prstDash val="solid"/>
          </a:ln>
        </p:spPr>
        <p:txBody>
          <a:bodyPr/>
          <a:lstStyle/>
          <a:p>
            <a:endParaRPr/>
          </a:p>
        </p:txBody>
      </p:sp>
      <p:sp>
        <p:nvSpPr>
          <p:cNvPr id="21" name="Text 19"/>
          <p:cNvSpPr/>
          <p:nvPr/>
        </p:nvSpPr>
        <p:spPr>
          <a:xfrm>
            <a:off x="5029200" y="2743200"/>
            <a:ext cx="2103120" cy="292608"/>
          </a:xfrm>
          <a:prstGeom prst="rect">
            <a:avLst/>
          </a:prstGeom>
          <a:noFill/>
          <a:ln/>
        </p:spPr>
        <p:txBody>
          <a:bodyPr wrap="square" lIns="0" tIns="0" rIns="0" bIns="0" rtlCol="0" anchor="ctr"/>
          <a:lstStyle/>
          <a:p>
            <a:pPr marL="0" indent="0" algn="ctr">
              <a:buNone/>
            </a:pPr>
            <a:r>
              <a:rPr lang="en-US" sz="1150" dirty="0">
                <a:solidFill>
                  <a:srgbClr val="222222"/>
                </a:solidFill>
                <a:latin typeface="에이투지체 8 ExtraBold" pitchFamily="34" charset="0"/>
                <a:ea typeface="에이투지체 8 ExtraBold" pitchFamily="34" charset="-122"/>
                <a:cs typeface="에이투지체 8 ExtraBold" pitchFamily="34" charset="-120"/>
              </a:rPr>
              <a:t>실시간 성과 분석</a:t>
            </a:r>
            <a:endParaRPr lang="en-US" sz="1150" dirty="0"/>
          </a:p>
        </p:txBody>
      </p:sp>
      <p:sp>
        <p:nvSpPr>
          <p:cNvPr id="22" name="Text 20"/>
          <p:cNvSpPr/>
          <p:nvPr/>
        </p:nvSpPr>
        <p:spPr>
          <a:xfrm>
            <a:off x="4974336" y="3072384"/>
            <a:ext cx="2212848" cy="548640"/>
          </a:xfrm>
          <a:prstGeom prst="rect">
            <a:avLst/>
          </a:prstGeom>
          <a:noFill/>
          <a:ln/>
        </p:spPr>
        <p:txBody>
          <a:bodyPr wrap="square" lIns="0" tIns="0" rIns="0" bIns="0" rtlCol="0" anchor="ctr"/>
          <a:lstStyle/>
          <a:p>
            <a:pPr marL="0" indent="0" algn="ctr">
              <a:lnSpc>
                <a:spcPts val="115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매체별 성과 실시간 대시보드</a:t>
            </a:r>
            <a:endParaRPr lang="en-US" sz="850" dirty="0"/>
          </a:p>
          <a:p>
            <a:pPr marL="0" indent="0" algn="ctr">
              <a:lnSpc>
                <a:spcPts val="115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자동 알림</a:t>
            </a:r>
            <a:endParaRPr lang="en-US" sz="850" dirty="0"/>
          </a:p>
        </p:txBody>
      </p:sp>
      <p:sp>
        <p:nvSpPr>
          <p:cNvPr id="23" name="Shape 21"/>
          <p:cNvSpPr/>
          <p:nvPr/>
        </p:nvSpPr>
        <p:spPr>
          <a:xfrm>
            <a:off x="8046720" y="2057400"/>
            <a:ext cx="548640" cy="548640"/>
          </a:xfrm>
          <a:prstGeom prst="ellipse">
            <a:avLst/>
          </a:prstGeom>
          <a:solidFill>
            <a:srgbClr val="0E3A72"/>
          </a:solidFill>
          <a:ln w="12700">
            <a:solidFill>
              <a:srgbClr val="0E3A72"/>
            </a:solidFill>
            <a:prstDash val="solid"/>
          </a:ln>
        </p:spPr>
        <p:txBody>
          <a:bodyPr/>
          <a:lstStyle/>
          <a:p>
            <a:endParaRPr/>
          </a:p>
        </p:txBody>
      </p:sp>
      <p:sp>
        <p:nvSpPr>
          <p:cNvPr id="24" name="Text 22"/>
          <p:cNvSpPr/>
          <p:nvPr/>
        </p:nvSpPr>
        <p:spPr>
          <a:xfrm>
            <a:off x="8046720" y="2057400"/>
            <a:ext cx="548640" cy="548640"/>
          </a:xfrm>
          <a:prstGeom prst="rect">
            <a:avLst/>
          </a:prstGeom>
          <a:noFill/>
          <a:ln/>
        </p:spPr>
        <p:txBody>
          <a:bodyPr wrap="square" lIns="0" tIns="0" rIns="0" bIns="0" rtlCol="0" anchor="ctr"/>
          <a:lstStyle/>
          <a:p>
            <a:pPr marL="0" indent="0" algn="ctr">
              <a:buNone/>
            </a:pPr>
            <a:r>
              <a:rPr lang="en-US" sz="1300" dirty="0">
                <a:solidFill>
                  <a:srgbClr val="FFFFFF"/>
                </a:solidFill>
                <a:latin typeface="에이투지체 8 ExtraBold" pitchFamily="34" charset="0"/>
                <a:ea typeface="에이투지체 8 ExtraBold" pitchFamily="34" charset="-122"/>
                <a:cs typeface="에이투지체 8 ExtraBold" pitchFamily="34" charset="-120"/>
              </a:rPr>
              <a:t>04</a:t>
            </a:r>
            <a:endParaRPr lang="en-US" sz="1300" dirty="0"/>
          </a:p>
        </p:txBody>
      </p:sp>
      <p:sp>
        <p:nvSpPr>
          <p:cNvPr id="25" name="Shape 23"/>
          <p:cNvSpPr/>
          <p:nvPr/>
        </p:nvSpPr>
        <p:spPr>
          <a:xfrm>
            <a:off x="8641080" y="2331720"/>
            <a:ext cx="1600200" cy="0"/>
          </a:xfrm>
          <a:prstGeom prst="line">
            <a:avLst/>
          </a:prstGeom>
          <a:noFill/>
          <a:ln w="19050">
            <a:solidFill>
              <a:srgbClr val="BBCFE6"/>
            </a:solidFill>
            <a:prstDash val="solid"/>
          </a:ln>
        </p:spPr>
        <p:txBody>
          <a:bodyPr/>
          <a:lstStyle/>
          <a:p>
            <a:endParaRPr/>
          </a:p>
        </p:txBody>
      </p:sp>
      <p:sp>
        <p:nvSpPr>
          <p:cNvPr id="26" name="Text 24"/>
          <p:cNvSpPr/>
          <p:nvPr/>
        </p:nvSpPr>
        <p:spPr>
          <a:xfrm>
            <a:off x="7269480" y="2743200"/>
            <a:ext cx="2103120" cy="292608"/>
          </a:xfrm>
          <a:prstGeom prst="rect">
            <a:avLst/>
          </a:prstGeom>
          <a:noFill/>
          <a:ln/>
        </p:spPr>
        <p:txBody>
          <a:bodyPr wrap="square" lIns="0" tIns="0" rIns="0" bIns="0" rtlCol="0" anchor="ctr"/>
          <a:lstStyle/>
          <a:p>
            <a:pPr marL="0" indent="0" algn="ctr">
              <a:buNone/>
            </a:pPr>
            <a:r>
              <a:rPr lang="en-US" sz="1150" dirty="0">
                <a:solidFill>
                  <a:srgbClr val="222222"/>
                </a:solidFill>
                <a:latin typeface="에이투지체 8 ExtraBold" pitchFamily="34" charset="0"/>
                <a:ea typeface="에이투지체 8 ExtraBold" pitchFamily="34" charset="-122"/>
                <a:cs typeface="에이투지체 8 ExtraBold" pitchFamily="34" charset="-120"/>
              </a:rPr>
              <a:t>자동 입찰 조정</a:t>
            </a:r>
            <a:endParaRPr lang="en-US" sz="1150" dirty="0"/>
          </a:p>
        </p:txBody>
      </p:sp>
      <p:sp>
        <p:nvSpPr>
          <p:cNvPr id="27" name="Text 25"/>
          <p:cNvSpPr/>
          <p:nvPr/>
        </p:nvSpPr>
        <p:spPr>
          <a:xfrm>
            <a:off x="7214616" y="3072384"/>
            <a:ext cx="2212848" cy="548640"/>
          </a:xfrm>
          <a:prstGeom prst="rect">
            <a:avLst/>
          </a:prstGeom>
          <a:noFill/>
          <a:ln/>
        </p:spPr>
        <p:txBody>
          <a:bodyPr wrap="square" lIns="0" tIns="0" rIns="0" bIns="0" rtlCol="0" anchor="ctr"/>
          <a:lstStyle/>
          <a:p>
            <a:pPr marL="0" indent="0" algn="ctr">
              <a:lnSpc>
                <a:spcPts val="115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성과 기반 자동 입찰 조정</a:t>
            </a:r>
            <a:endParaRPr lang="en-US" sz="850" dirty="0"/>
          </a:p>
          <a:p>
            <a:pPr marL="0" indent="0" algn="ctr">
              <a:lnSpc>
                <a:spcPts val="115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비효율 캠페인 일시정지</a:t>
            </a:r>
            <a:endParaRPr lang="en-US" sz="850" dirty="0"/>
          </a:p>
        </p:txBody>
      </p:sp>
      <p:sp>
        <p:nvSpPr>
          <p:cNvPr id="28" name="Shape 26"/>
          <p:cNvSpPr/>
          <p:nvPr/>
        </p:nvSpPr>
        <p:spPr>
          <a:xfrm>
            <a:off x="10287000" y="2057400"/>
            <a:ext cx="548640" cy="548640"/>
          </a:xfrm>
          <a:prstGeom prst="ellipse">
            <a:avLst/>
          </a:prstGeom>
          <a:solidFill>
            <a:srgbClr val="0E3A72"/>
          </a:solidFill>
          <a:ln w="12700">
            <a:solidFill>
              <a:srgbClr val="0E3A72"/>
            </a:solidFill>
            <a:prstDash val="solid"/>
          </a:ln>
        </p:spPr>
        <p:txBody>
          <a:bodyPr/>
          <a:lstStyle/>
          <a:p>
            <a:endParaRPr/>
          </a:p>
        </p:txBody>
      </p:sp>
      <p:sp>
        <p:nvSpPr>
          <p:cNvPr id="29" name="Text 27"/>
          <p:cNvSpPr/>
          <p:nvPr/>
        </p:nvSpPr>
        <p:spPr>
          <a:xfrm>
            <a:off x="10287000" y="2057400"/>
            <a:ext cx="548640" cy="548640"/>
          </a:xfrm>
          <a:prstGeom prst="rect">
            <a:avLst/>
          </a:prstGeom>
          <a:noFill/>
          <a:ln/>
        </p:spPr>
        <p:txBody>
          <a:bodyPr wrap="square" lIns="0" tIns="0" rIns="0" bIns="0" rtlCol="0" anchor="ctr"/>
          <a:lstStyle/>
          <a:p>
            <a:pPr marL="0" indent="0" algn="ctr">
              <a:buNone/>
            </a:pPr>
            <a:r>
              <a:rPr lang="en-US" sz="1300" dirty="0">
                <a:solidFill>
                  <a:srgbClr val="FFFFFF"/>
                </a:solidFill>
                <a:latin typeface="에이투지체 8 ExtraBold" pitchFamily="34" charset="0"/>
                <a:ea typeface="에이투지체 8 ExtraBold" pitchFamily="34" charset="-122"/>
                <a:cs typeface="에이투지체 8 ExtraBold" pitchFamily="34" charset="-120"/>
              </a:rPr>
              <a:t>05</a:t>
            </a:r>
            <a:endParaRPr lang="en-US" sz="1300" dirty="0"/>
          </a:p>
        </p:txBody>
      </p:sp>
      <p:sp>
        <p:nvSpPr>
          <p:cNvPr id="30" name="Text 28"/>
          <p:cNvSpPr/>
          <p:nvPr/>
        </p:nvSpPr>
        <p:spPr>
          <a:xfrm>
            <a:off x="9509760" y="2743200"/>
            <a:ext cx="2103120" cy="292608"/>
          </a:xfrm>
          <a:prstGeom prst="rect">
            <a:avLst/>
          </a:prstGeom>
          <a:noFill/>
          <a:ln/>
        </p:spPr>
        <p:txBody>
          <a:bodyPr wrap="square" lIns="0" tIns="0" rIns="0" bIns="0" rtlCol="0" anchor="ctr"/>
          <a:lstStyle/>
          <a:p>
            <a:pPr marL="0" indent="0" algn="ctr">
              <a:buNone/>
            </a:pPr>
            <a:r>
              <a:rPr lang="en-US" sz="1150" dirty="0">
                <a:solidFill>
                  <a:srgbClr val="222222"/>
                </a:solidFill>
                <a:latin typeface="에이투지체 8 ExtraBold" pitchFamily="34" charset="0"/>
                <a:ea typeface="에이투지체 8 ExtraBold" pitchFamily="34" charset="-122"/>
                <a:cs typeface="에이투지체 8 ExtraBold" pitchFamily="34" charset="-120"/>
              </a:rPr>
              <a:t>소재 자동 업로드</a:t>
            </a:r>
            <a:endParaRPr lang="en-US" sz="1150" dirty="0"/>
          </a:p>
        </p:txBody>
      </p:sp>
      <p:sp>
        <p:nvSpPr>
          <p:cNvPr id="31" name="Text 29"/>
          <p:cNvSpPr/>
          <p:nvPr/>
        </p:nvSpPr>
        <p:spPr>
          <a:xfrm>
            <a:off x="9454896" y="3072384"/>
            <a:ext cx="2212848" cy="548640"/>
          </a:xfrm>
          <a:prstGeom prst="rect">
            <a:avLst/>
          </a:prstGeom>
          <a:noFill/>
          <a:ln/>
        </p:spPr>
        <p:txBody>
          <a:bodyPr wrap="square" lIns="0" tIns="0" rIns="0" bIns="0" rtlCol="0" anchor="ctr"/>
          <a:lstStyle/>
          <a:p>
            <a:pPr marL="0" indent="0" algn="ctr">
              <a:lnSpc>
                <a:spcPts val="115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광고관리 시스템 자동 업로드</a:t>
            </a:r>
            <a:endParaRPr lang="en-US" sz="850" dirty="0"/>
          </a:p>
          <a:p>
            <a:pPr marL="0" indent="0" algn="ctr">
              <a:lnSpc>
                <a:spcPts val="1150"/>
              </a:lnSpc>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셋업 시간 단축</a:t>
            </a:r>
            <a:endParaRPr lang="en-US" sz="850" dirty="0"/>
          </a:p>
        </p:txBody>
      </p:sp>
      <p:sp>
        <p:nvSpPr>
          <p:cNvPr id="32" name="Shape 30"/>
          <p:cNvSpPr/>
          <p:nvPr/>
        </p:nvSpPr>
        <p:spPr>
          <a:xfrm>
            <a:off x="548640" y="3886200"/>
            <a:ext cx="11064240" cy="457200"/>
          </a:xfrm>
          <a:prstGeom prst="roundRect">
            <a:avLst>
              <a:gd name="adj" fmla="val 16000"/>
            </a:avLst>
          </a:prstGeom>
          <a:solidFill>
            <a:srgbClr val="EAF2FB"/>
          </a:solidFill>
          <a:ln w="12700">
            <a:solidFill>
              <a:srgbClr val="EAF2FB"/>
            </a:solidFill>
            <a:prstDash val="solid"/>
          </a:ln>
        </p:spPr>
        <p:txBody>
          <a:bodyPr/>
          <a:lstStyle/>
          <a:p>
            <a:endParaRPr/>
          </a:p>
        </p:txBody>
      </p:sp>
      <p:sp>
        <p:nvSpPr>
          <p:cNvPr id="33" name="Text 31"/>
          <p:cNvSpPr/>
          <p:nvPr/>
        </p:nvSpPr>
        <p:spPr>
          <a:xfrm>
            <a:off x="548640" y="3886200"/>
            <a:ext cx="11064240" cy="457200"/>
          </a:xfrm>
          <a:prstGeom prst="rect">
            <a:avLst/>
          </a:prstGeom>
          <a:noFill/>
          <a:ln/>
        </p:spPr>
        <p:txBody>
          <a:bodyPr wrap="square" lIns="0" tIns="0" rIns="0" bIns="0" rtlCol="0" anchor="ctr"/>
          <a:lstStyle/>
          <a:p>
            <a:pPr marL="0" indent="0" algn="ctr">
              <a:buNone/>
            </a:pPr>
            <a:r>
              <a:rPr lang="en-US" sz="1050" dirty="0">
                <a:solidFill>
                  <a:srgbClr val="004F9F"/>
                </a:solidFill>
                <a:latin typeface="에이투지체 6 SemiBold" pitchFamily="34" charset="0"/>
                <a:ea typeface="에이투지체 6 SemiBold" pitchFamily="34" charset="-122"/>
                <a:cs typeface="에이투지체 6 SemiBold" pitchFamily="34" charset="-120"/>
              </a:rPr>
              <a:t>성과 데이터가 다시 소재 생성으로 이어집니다. 제작 → 운영 → 측정 순환 구조</a:t>
            </a:r>
            <a:endParaRPr lang="en-US" sz="1050" dirty="0"/>
          </a:p>
        </p:txBody>
      </p:sp>
      <p:sp>
        <p:nvSpPr>
          <p:cNvPr id="34" name="Shape 32"/>
          <p:cNvSpPr/>
          <p:nvPr/>
        </p:nvSpPr>
        <p:spPr>
          <a:xfrm>
            <a:off x="548640" y="4617720"/>
            <a:ext cx="3566160" cy="1463040"/>
          </a:xfrm>
          <a:prstGeom prst="roundRect">
            <a:avLst>
              <a:gd name="adj" fmla="val 5000"/>
            </a:avLst>
          </a:prstGeom>
          <a:solidFill>
            <a:srgbClr val="EAF2FB"/>
          </a:solidFill>
          <a:ln w="12700">
            <a:solidFill>
              <a:srgbClr val="EAF2FB"/>
            </a:solidFill>
            <a:prstDash val="solid"/>
          </a:ln>
        </p:spPr>
        <p:txBody>
          <a:bodyPr/>
          <a:lstStyle/>
          <a:p>
            <a:endParaRPr/>
          </a:p>
        </p:txBody>
      </p:sp>
      <p:sp>
        <p:nvSpPr>
          <p:cNvPr id="35" name="Text 33"/>
          <p:cNvSpPr/>
          <p:nvPr/>
        </p:nvSpPr>
        <p:spPr>
          <a:xfrm>
            <a:off x="804672" y="4800600"/>
            <a:ext cx="3017520" cy="292608"/>
          </a:xfrm>
          <a:prstGeom prst="rect">
            <a:avLst/>
          </a:prstGeom>
          <a:noFill/>
          <a:ln/>
        </p:spPr>
        <p:txBody>
          <a:bodyPr wrap="square" lIns="0" tIns="0" rIns="0" bIns="0" rtlCol="0" anchor="ctr"/>
          <a:lstStyle/>
          <a:p>
            <a:pPr marL="0" indent="0">
              <a:buNone/>
            </a:pPr>
            <a:r>
              <a:rPr lang="en-US" sz="1200" dirty="0">
                <a:solidFill>
                  <a:srgbClr val="004F9F"/>
                </a:solidFill>
                <a:latin typeface="에이투지체 8 ExtraBold" pitchFamily="34" charset="0"/>
                <a:ea typeface="에이투지체 8 ExtraBold" pitchFamily="34" charset="-122"/>
                <a:cs typeface="에이투지체 8 ExtraBold" pitchFamily="34" charset="-120"/>
              </a:rPr>
              <a:t>소재 생성</a:t>
            </a:r>
            <a:endParaRPr lang="en-US" sz="1200" dirty="0"/>
          </a:p>
        </p:txBody>
      </p:sp>
      <p:sp>
        <p:nvSpPr>
          <p:cNvPr id="36" name="Text 34"/>
          <p:cNvSpPr/>
          <p:nvPr/>
        </p:nvSpPr>
        <p:spPr>
          <a:xfrm>
            <a:off x="804672" y="5138928"/>
            <a:ext cx="3063240" cy="777240"/>
          </a:xfrm>
          <a:prstGeom prst="rect">
            <a:avLst/>
          </a:prstGeom>
          <a:noFill/>
          <a:ln/>
        </p:spPr>
        <p:txBody>
          <a:bodyPr wrap="square" lIns="0" tIns="0" rIns="0" bIns="0" rtlCol="0" anchor="ctr"/>
          <a:lstStyle/>
          <a:p>
            <a:pPr marL="0" indent="0">
              <a:lnSpc>
                <a:spcPts val="135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주요 4대 매체의 DA 광고별, 상품별 사이즈 선택으로 빠르게 이미지 생성</a:t>
            </a:r>
            <a:endParaRPr lang="en-US" sz="950" dirty="0"/>
          </a:p>
        </p:txBody>
      </p:sp>
      <p:sp>
        <p:nvSpPr>
          <p:cNvPr id="37" name="Shape 35"/>
          <p:cNvSpPr/>
          <p:nvPr/>
        </p:nvSpPr>
        <p:spPr>
          <a:xfrm>
            <a:off x="4343400" y="4617720"/>
            <a:ext cx="3566160" cy="1463040"/>
          </a:xfrm>
          <a:prstGeom prst="roundRect">
            <a:avLst>
              <a:gd name="adj" fmla="val 5000"/>
            </a:avLst>
          </a:prstGeom>
          <a:solidFill>
            <a:srgbClr val="F5F5F5"/>
          </a:solidFill>
          <a:ln w="12700">
            <a:solidFill>
              <a:srgbClr val="F5F5F5"/>
            </a:solidFill>
            <a:prstDash val="solid"/>
          </a:ln>
        </p:spPr>
        <p:txBody>
          <a:bodyPr/>
          <a:lstStyle/>
          <a:p>
            <a:endParaRPr/>
          </a:p>
        </p:txBody>
      </p:sp>
      <p:sp>
        <p:nvSpPr>
          <p:cNvPr id="38" name="Text 36"/>
          <p:cNvSpPr/>
          <p:nvPr/>
        </p:nvSpPr>
        <p:spPr>
          <a:xfrm>
            <a:off x="4599432" y="4800600"/>
            <a:ext cx="3017520" cy="292608"/>
          </a:xfrm>
          <a:prstGeom prst="rect">
            <a:avLst/>
          </a:prstGeom>
          <a:noFill/>
          <a:ln/>
        </p:spPr>
        <p:txBody>
          <a:bodyPr wrap="square" lIns="0" tIns="0" rIns="0" bIns="0" rtlCol="0" anchor="ctr"/>
          <a:lstStyle/>
          <a:p>
            <a:pPr marL="0" indent="0">
              <a:buNone/>
            </a:pPr>
            <a:r>
              <a:rPr lang="en-US" sz="1200" dirty="0">
                <a:solidFill>
                  <a:srgbClr val="222222"/>
                </a:solidFill>
                <a:latin typeface="에이투지체 8 ExtraBold" pitchFamily="34" charset="0"/>
                <a:ea typeface="에이투지체 8 ExtraBold" pitchFamily="34" charset="-122"/>
                <a:cs typeface="에이투지체 8 ExtraBold" pitchFamily="34" charset="-120"/>
              </a:rPr>
              <a:t>템플릿 기반 운영</a:t>
            </a:r>
            <a:endParaRPr lang="en-US" sz="1200" dirty="0"/>
          </a:p>
        </p:txBody>
      </p:sp>
      <p:sp>
        <p:nvSpPr>
          <p:cNvPr id="39" name="Text 37"/>
          <p:cNvSpPr/>
          <p:nvPr/>
        </p:nvSpPr>
        <p:spPr>
          <a:xfrm>
            <a:off x="4599432" y="5138928"/>
            <a:ext cx="3063240" cy="777240"/>
          </a:xfrm>
          <a:prstGeom prst="rect">
            <a:avLst/>
          </a:prstGeom>
          <a:noFill/>
          <a:ln/>
        </p:spPr>
        <p:txBody>
          <a:bodyPr wrap="square" lIns="0" tIns="0" rIns="0" bIns="0" rtlCol="0" anchor="ctr"/>
          <a:lstStyle/>
          <a:p>
            <a:pPr marL="0" indent="0">
              <a:lnSpc>
                <a:spcPts val="135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매체사 가이드 템플릿을 선택해 원하는 형태로 빠르게 이미지 생성</a:t>
            </a:r>
            <a:endParaRPr lang="en-US" sz="950" dirty="0"/>
          </a:p>
        </p:txBody>
      </p:sp>
      <p:sp>
        <p:nvSpPr>
          <p:cNvPr id="40" name="Shape 38"/>
          <p:cNvSpPr/>
          <p:nvPr/>
        </p:nvSpPr>
        <p:spPr>
          <a:xfrm>
            <a:off x="8138160" y="4617720"/>
            <a:ext cx="3566160" cy="1463040"/>
          </a:xfrm>
          <a:prstGeom prst="roundRect">
            <a:avLst>
              <a:gd name="adj" fmla="val 5000"/>
            </a:avLst>
          </a:prstGeom>
          <a:solidFill>
            <a:srgbClr val="F5F5F5"/>
          </a:solidFill>
          <a:ln w="12700">
            <a:solidFill>
              <a:srgbClr val="F5F5F5"/>
            </a:solidFill>
            <a:prstDash val="solid"/>
          </a:ln>
        </p:spPr>
        <p:txBody>
          <a:bodyPr/>
          <a:lstStyle/>
          <a:p>
            <a:endParaRPr/>
          </a:p>
        </p:txBody>
      </p:sp>
      <p:sp>
        <p:nvSpPr>
          <p:cNvPr id="41" name="Text 39"/>
          <p:cNvSpPr/>
          <p:nvPr/>
        </p:nvSpPr>
        <p:spPr>
          <a:xfrm>
            <a:off x="8394192" y="4800600"/>
            <a:ext cx="3017520" cy="292608"/>
          </a:xfrm>
          <a:prstGeom prst="rect">
            <a:avLst/>
          </a:prstGeom>
          <a:noFill/>
          <a:ln/>
        </p:spPr>
        <p:txBody>
          <a:bodyPr wrap="square" lIns="0" tIns="0" rIns="0" bIns="0" rtlCol="0" anchor="ctr"/>
          <a:lstStyle/>
          <a:p>
            <a:pPr marL="0" indent="0">
              <a:buNone/>
            </a:pPr>
            <a:r>
              <a:rPr lang="en-US" sz="1200" dirty="0">
                <a:solidFill>
                  <a:srgbClr val="222222"/>
                </a:solidFill>
                <a:latin typeface="에이투지체 8 ExtraBold" pitchFamily="34" charset="0"/>
                <a:ea typeface="에이투지체 8 ExtraBold" pitchFamily="34" charset="-122"/>
                <a:cs typeface="에이투지체 8 ExtraBold" pitchFamily="34" charset="-120"/>
              </a:rPr>
              <a:t>자동 저장 · 분석</a:t>
            </a:r>
            <a:endParaRPr lang="en-US" sz="1200" dirty="0"/>
          </a:p>
        </p:txBody>
      </p:sp>
      <p:sp>
        <p:nvSpPr>
          <p:cNvPr id="42" name="Text 40"/>
          <p:cNvSpPr/>
          <p:nvPr/>
        </p:nvSpPr>
        <p:spPr>
          <a:xfrm>
            <a:off x="8394192" y="5138928"/>
            <a:ext cx="3063240" cy="777240"/>
          </a:xfrm>
          <a:prstGeom prst="rect">
            <a:avLst/>
          </a:prstGeom>
          <a:noFill/>
          <a:ln/>
        </p:spPr>
        <p:txBody>
          <a:bodyPr wrap="square" lIns="0" tIns="0" rIns="0" bIns="0" rtlCol="0" anchor="ctr"/>
          <a:lstStyle/>
          <a:p>
            <a:pPr marL="0" indent="0">
              <a:lnSpc>
                <a:spcPts val="135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매체별, 카테고리별 자동 저장 폴더로 과거 집행 소재 히스토리를 빠르게 분석</a:t>
            </a:r>
            <a:endParaRPr lang="en-US" sz="9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6 · 링크프라이스 강점</a:t>
            </a:r>
            <a:endParaRPr lang="en-US" sz="9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운영 현황을 한 화면에서 모니터링해</a:t>
            </a:r>
            <a:endParaRPr lang="en-US" sz="1900" dirty="0"/>
          </a:p>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이슈를 즉시 감지하고 데이터로 의사결정합니다</a:t>
            </a:r>
            <a:endParaRPr lang="en-US" sz="1900" dirty="0"/>
          </a:p>
        </p:txBody>
      </p:sp>
      <p:sp>
        <p:nvSpPr>
          <p:cNvPr id="4" name="Text 2"/>
          <p:cNvSpPr/>
          <p:nvPr/>
        </p:nvSpPr>
        <p:spPr>
          <a:xfrm>
            <a:off x="548640" y="1517904"/>
            <a:ext cx="11064240" cy="365760"/>
          </a:xfrm>
          <a:prstGeom prst="rect">
            <a:avLst/>
          </a:prstGeom>
          <a:noFill/>
          <a:ln/>
        </p:spPr>
        <p:txBody>
          <a:bodyPr wrap="square" lIns="0" tIns="0" rIns="0" bIns="0" rtlCol="0" anchor="ctr"/>
          <a:lstStyle/>
          <a:p>
            <a:pPr marL="0" indent="0">
              <a:buNone/>
            </a:pPr>
            <a:r>
              <a:rPr lang="en-US" sz="1100" dirty="0">
                <a:solidFill>
                  <a:srgbClr val="5C5C5C"/>
                </a:solidFill>
                <a:latin typeface="에이투지체 5 Medium" pitchFamily="34" charset="0"/>
                <a:ea typeface="에이투지체 5 Medium" pitchFamily="34" charset="-122"/>
                <a:cs typeface="에이투지체 5 Medium" pitchFamily="34" charset="-120"/>
              </a:rPr>
              <a:t>자체 운영 대시보드 AD Operations Suite</a:t>
            </a:r>
            <a:endParaRPr lang="en-US" sz="1100" dirty="0"/>
          </a:p>
        </p:txBody>
      </p:sp>
      <p:sp>
        <p:nvSpPr>
          <p:cNvPr id="5" name="Text 3"/>
          <p:cNvSpPr/>
          <p:nvPr/>
        </p:nvSpPr>
        <p:spPr>
          <a:xfrm>
            <a:off x="548640" y="6473952"/>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6" name="Text 4"/>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7" name="Text 5"/>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t>82</a:t>
            </a:r>
          </a:p>
        </p:txBody>
      </p:sp>
      <p:sp>
        <p:nvSpPr>
          <p:cNvPr id="8" name="Shape 6"/>
          <p:cNvSpPr/>
          <p:nvPr/>
        </p:nvSpPr>
        <p:spPr>
          <a:xfrm>
            <a:off x="548640" y="2011680"/>
            <a:ext cx="4983480" cy="1143000"/>
          </a:xfrm>
          <a:prstGeom prst="roundRect">
            <a:avLst>
              <a:gd name="adj" fmla="val 6400"/>
            </a:avLst>
          </a:prstGeom>
          <a:solidFill>
            <a:srgbClr val="FFFFFF"/>
          </a:solidFill>
          <a:ln w="12700">
            <a:solidFill>
              <a:srgbClr val="D0D0D0"/>
            </a:solidFill>
            <a:prstDash val="solid"/>
          </a:ln>
        </p:spPr>
        <p:txBody>
          <a:bodyPr/>
          <a:lstStyle/>
          <a:p>
            <a:endParaRPr/>
          </a:p>
        </p:txBody>
      </p:sp>
      <p:sp>
        <p:nvSpPr>
          <p:cNvPr id="9" name="Shape 7"/>
          <p:cNvSpPr/>
          <p:nvPr/>
        </p:nvSpPr>
        <p:spPr>
          <a:xfrm>
            <a:off x="548640" y="2011680"/>
            <a:ext cx="54864" cy="1143000"/>
          </a:xfrm>
          <a:prstGeom prst="rect">
            <a:avLst/>
          </a:prstGeom>
          <a:solidFill>
            <a:srgbClr val="004F9F"/>
          </a:solidFill>
          <a:ln w="12700">
            <a:solidFill>
              <a:srgbClr val="004F9F"/>
            </a:solidFill>
            <a:prstDash val="solid"/>
          </a:ln>
        </p:spPr>
        <p:txBody>
          <a:bodyPr/>
          <a:lstStyle/>
          <a:p>
            <a:endParaRPr/>
          </a:p>
        </p:txBody>
      </p:sp>
      <p:sp>
        <p:nvSpPr>
          <p:cNvPr id="10" name="Text 8"/>
          <p:cNvSpPr/>
          <p:nvPr/>
        </p:nvSpPr>
        <p:spPr>
          <a:xfrm>
            <a:off x="822960" y="2167128"/>
            <a:ext cx="4480560" cy="292608"/>
          </a:xfrm>
          <a:prstGeom prst="rect">
            <a:avLst/>
          </a:prstGeom>
          <a:noFill/>
          <a:ln/>
        </p:spPr>
        <p:txBody>
          <a:bodyPr wrap="square" lIns="0" tIns="0" rIns="0" bIns="0" rtlCol="0" anchor="ctr"/>
          <a:lstStyle/>
          <a:p>
            <a:pPr marL="0" indent="0">
              <a:buNone/>
            </a:pPr>
            <a:r>
              <a:rPr lang="en-US" sz="1250" dirty="0">
                <a:solidFill>
                  <a:srgbClr val="222222"/>
                </a:solidFill>
                <a:latin typeface="에이투지체 8 ExtraBold" pitchFamily="34" charset="0"/>
                <a:ea typeface="에이투지체 8 ExtraBold" pitchFamily="34" charset="-122"/>
                <a:cs typeface="에이투지체 8 ExtraBold" pitchFamily="34" charset="-120"/>
              </a:rPr>
              <a:t>한눈에 파악하는 핵심 현황</a:t>
            </a:r>
            <a:endParaRPr lang="en-US" sz="1250" dirty="0"/>
          </a:p>
        </p:txBody>
      </p:sp>
      <p:sp>
        <p:nvSpPr>
          <p:cNvPr id="11" name="Text 9"/>
          <p:cNvSpPr/>
          <p:nvPr/>
        </p:nvSpPr>
        <p:spPr>
          <a:xfrm>
            <a:off x="822960" y="2496312"/>
            <a:ext cx="4572000" cy="548640"/>
          </a:xfrm>
          <a:prstGeom prst="rect">
            <a:avLst/>
          </a:prstGeom>
          <a:noFill/>
          <a:ln/>
        </p:spPr>
        <p:txBody>
          <a:bodyPr wrap="square" lIns="0" tIns="0" rIns="0" bIns="0" rtlCol="0" anchor="ctr"/>
          <a:lstStyle/>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DA 운영 캠페인 현황, 전략 점검, 소재 진단, 검수 오류 등</a:t>
            </a:r>
            <a:endParaRPr lang="en-US" sz="950" dirty="0"/>
          </a:p>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데일리 조치 사항을 한 화면에서 확인</a:t>
            </a:r>
            <a:endParaRPr lang="en-US" sz="950" dirty="0"/>
          </a:p>
        </p:txBody>
      </p:sp>
      <p:sp>
        <p:nvSpPr>
          <p:cNvPr id="12" name="Shape 10"/>
          <p:cNvSpPr/>
          <p:nvPr/>
        </p:nvSpPr>
        <p:spPr>
          <a:xfrm>
            <a:off x="548640" y="3310128"/>
            <a:ext cx="4983480" cy="1143000"/>
          </a:xfrm>
          <a:prstGeom prst="roundRect">
            <a:avLst>
              <a:gd name="adj" fmla="val 6400"/>
            </a:avLst>
          </a:prstGeom>
          <a:solidFill>
            <a:srgbClr val="FFFFFF"/>
          </a:solidFill>
          <a:ln w="12700">
            <a:solidFill>
              <a:srgbClr val="D0D0D0"/>
            </a:solidFill>
            <a:prstDash val="solid"/>
          </a:ln>
        </p:spPr>
        <p:txBody>
          <a:bodyPr/>
          <a:lstStyle/>
          <a:p>
            <a:endParaRPr/>
          </a:p>
        </p:txBody>
      </p:sp>
      <p:sp>
        <p:nvSpPr>
          <p:cNvPr id="13" name="Shape 11"/>
          <p:cNvSpPr/>
          <p:nvPr/>
        </p:nvSpPr>
        <p:spPr>
          <a:xfrm>
            <a:off x="548640" y="3310128"/>
            <a:ext cx="54864" cy="1143000"/>
          </a:xfrm>
          <a:prstGeom prst="rect">
            <a:avLst/>
          </a:prstGeom>
          <a:solidFill>
            <a:srgbClr val="004F9F"/>
          </a:solidFill>
          <a:ln w="12700">
            <a:solidFill>
              <a:srgbClr val="004F9F"/>
            </a:solidFill>
            <a:prstDash val="solid"/>
          </a:ln>
        </p:spPr>
        <p:txBody>
          <a:bodyPr/>
          <a:lstStyle/>
          <a:p>
            <a:endParaRPr/>
          </a:p>
        </p:txBody>
      </p:sp>
      <p:sp>
        <p:nvSpPr>
          <p:cNvPr id="14" name="Text 12"/>
          <p:cNvSpPr/>
          <p:nvPr/>
        </p:nvSpPr>
        <p:spPr>
          <a:xfrm>
            <a:off x="822960" y="3465576"/>
            <a:ext cx="4480560" cy="292608"/>
          </a:xfrm>
          <a:prstGeom prst="rect">
            <a:avLst/>
          </a:prstGeom>
          <a:noFill/>
          <a:ln/>
        </p:spPr>
        <p:txBody>
          <a:bodyPr wrap="square" lIns="0" tIns="0" rIns="0" bIns="0" rtlCol="0" anchor="ctr"/>
          <a:lstStyle/>
          <a:p>
            <a:pPr marL="0" indent="0">
              <a:buNone/>
            </a:pPr>
            <a:r>
              <a:rPr lang="en-US" sz="1250" dirty="0">
                <a:solidFill>
                  <a:srgbClr val="222222"/>
                </a:solidFill>
                <a:latin typeface="에이투지체 8 ExtraBold" pitchFamily="34" charset="0"/>
                <a:ea typeface="에이투지체 8 ExtraBold" pitchFamily="34" charset="-122"/>
                <a:cs typeface="에이투지체 8 ExtraBold" pitchFamily="34" charset="-120"/>
              </a:rPr>
              <a:t>소재 현황 세부 모니터링</a:t>
            </a:r>
            <a:endParaRPr lang="en-US" sz="1250" dirty="0"/>
          </a:p>
        </p:txBody>
      </p:sp>
      <p:sp>
        <p:nvSpPr>
          <p:cNvPr id="15" name="Text 13"/>
          <p:cNvSpPr/>
          <p:nvPr/>
        </p:nvSpPr>
        <p:spPr>
          <a:xfrm>
            <a:off x="822960" y="3794760"/>
            <a:ext cx="4572000" cy="548640"/>
          </a:xfrm>
          <a:prstGeom prst="rect">
            <a:avLst/>
          </a:prstGeom>
          <a:noFill/>
          <a:ln/>
        </p:spPr>
        <p:txBody>
          <a:bodyPr wrap="square" lIns="0" tIns="0" rIns="0" bIns="0" rtlCol="0" anchor="ctr"/>
          <a:lstStyle/>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매체별 소재 현황과 CTR, ROAS, 소재 부족 현황을</a:t>
            </a:r>
            <a:endParaRPr lang="en-US" sz="950" dirty="0"/>
          </a:p>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세부 단위로 확인</a:t>
            </a:r>
            <a:endParaRPr lang="en-US" sz="950" dirty="0"/>
          </a:p>
        </p:txBody>
      </p:sp>
      <p:sp>
        <p:nvSpPr>
          <p:cNvPr id="16" name="Shape 14"/>
          <p:cNvSpPr/>
          <p:nvPr/>
        </p:nvSpPr>
        <p:spPr>
          <a:xfrm>
            <a:off x="548640" y="4608576"/>
            <a:ext cx="4983480" cy="1143000"/>
          </a:xfrm>
          <a:prstGeom prst="roundRect">
            <a:avLst>
              <a:gd name="adj" fmla="val 6400"/>
            </a:avLst>
          </a:prstGeom>
          <a:solidFill>
            <a:srgbClr val="FFFFFF"/>
          </a:solidFill>
          <a:ln w="12700">
            <a:solidFill>
              <a:srgbClr val="D0D0D0"/>
            </a:solidFill>
            <a:prstDash val="solid"/>
          </a:ln>
        </p:spPr>
        <p:txBody>
          <a:bodyPr/>
          <a:lstStyle/>
          <a:p>
            <a:endParaRPr/>
          </a:p>
        </p:txBody>
      </p:sp>
      <p:sp>
        <p:nvSpPr>
          <p:cNvPr id="17" name="Shape 15"/>
          <p:cNvSpPr/>
          <p:nvPr/>
        </p:nvSpPr>
        <p:spPr>
          <a:xfrm>
            <a:off x="548640" y="4608576"/>
            <a:ext cx="54864" cy="1143000"/>
          </a:xfrm>
          <a:prstGeom prst="rect">
            <a:avLst/>
          </a:prstGeom>
          <a:solidFill>
            <a:srgbClr val="004F9F"/>
          </a:solidFill>
          <a:ln w="12700">
            <a:solidFill>
              <a:srgbClr val="004F9F"/>
            </a:solidFill>
            <a:prstDash val="solid"/>
          </a:ln>
        </p:spPr>
        <p:txBody>
          <a:bodyPr/>
          <a:lstStyle/>
          <a:p>
            <a:endParaRPr/>
          </a:p>
        </p:txBody>
      </p:sp>
      <p:sp>
        <p:nvSpPr>
          <p:cNvPr id="18" name="Text 16"/>
          <p:cNvSpPr/>
          <p:nvPr/>
        </p:nvSpPr>
        <p:spPr>
          <a:xfrm>
            <a:off x="822960" y="4764024"/>
            <a:ext cx="4480560" cy="292608"/>
          </a:xfrm>
          <a:prstGeom prst="rect">
            <a:avLst/>
          </a:prstGeom>
          <a:noFill/>
          <a:ln/>
        </p:spPr>
        <p:txBody>
          <a:bodyPr wrap="square" lIns="0" tIns="0" rIns="0" bIns="0" rtlCol="0" anchor="ctr"/>
          <a:lstStyle/>
          <a:p>
            <a:pPr marL="0" indent="0">
              <a:buNone/>
            </a:pPr>
            <a:r>
              <a:rPr lang="en-US" sz="1250" dirty="0">
                <a:solidFill>
                  <a:srgbClr val="222222"/>
                </a:solidFill>
                <a:latin typeface="에이투지체 8 ExtraBold" pitchFamily="34" charset="0"/>
                <a:ea typeface="에이투지체 8 ExtraBold" pitchFamily="34" charset="-122"/>
                <a:cs typeface="에이투지체 8 ExtraBold" pitchFamily="34" charset="-120"/>
              </a:rPr>
              <a:t>라이브 매체별 이슈 체크</a:t>
            </a:r>
            <a:endParaRPr lang="en-US" sz="1250" dirty="0"/>
          </a:p>
        </p:txBody>
      </p:sp>
      <p:sp>
        <p:nvSpPr>
          <p:cNvPr id="19" name="Text 17"/>
          <p:cNvSpPr/>
          <p:nvPr/>
        </p:nvSpPr>
        <p:spPr>
          <a:xfrm>
            <a:off x="822960" y="5093208"/>
            <a:ext cx="4572000" cy="548640"/>
          </a:xfrm>
          <a:prstGeom prst="rect">
            <a:avLst/>
          </a:prstGeom>
          <a:noFill/>
          <a:ln/>
        </p:spPr>
        <p:txBody>
          <a:bodyPr wrap="square" lIns="0" tIns="0" rIns="0" bIns="0" rtlCol="0" anchor="ctr"/>
          <a:lstStyle/>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라이브 중인 매체 리스트로 매체별 현황과</a:t>
            </a:r>
            <a:endParaRPr lang="en-US" sz="950" dirty="0"/>
          </a:p>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주요 이슈를 빠르게 확인</a:t>
            </a:r>
            <a:endParaRPr lang="en-US" sz="950" dirty="0"/>
          </a:p>
        </p:txBody>
      </p:sp>
      <p:sp>
        <p:nvSpPr>
          <p:cNvPr id="20" name="Shape 18"/>
          <p:cNvSpPr/>
          <p:nvPr/>
        </p:nvSpPr>
        <p:spPr>
          <a:xfrm>
            <a:off x="5806440" y="2011680"/>
            <a:ext cx="5806440" cy="3886200"/>
          </a:xfrm>
          <a:prstGeom prst="roundRect">
            <a:avLst>
              <a:gd name="adj" fmla="val 1882"/>
            </a:avLst>
          </a:prstGeom>
          <a:solidFill>
            <a:srgbClr val="0A2F5C"/>
          </a:solidFill>
          <a:ln w="12700">
            <a:solidFill>
              <a:srgbClr val="0A2F5C"/>
            </a:solidFill>
            <a:prstDash val="solid"/>
          </a:ln>
        </p:spPr>
        <p:txBody>
          <a:bodyPr/>
          <a:lstStyle/>
          <a:p>
            <a:endParaRPr/>
          </a:p>
        </p:txBody>
      </p:sp>
      <p:sp>
        <p:nvSpPr>
          <p:cNvPr id="21" name="Text 19"/>
          <p:cNvSpPr/>
          <p:nvPr/>
        </p:nvSpPr>
        <p:spPr>
          <a:xfrm>
            <a:off x="6080760" y="2157984"/>
            <a:ext cx="3108960" cy="274320"/>
          </a:xfrm>
          <a:prstGeom prst="rect">
            <a:avLst/>
          </a:prstGeom>
          <a:noFill/>
          <a:ln/>
        </p:spPr>
        <p:txBody>
          <a:bodyPr wrap="square" lIns="0" tIns="0" rIns="0" bIns="0" rtlCol="0" anchor="ctr"/>
          <a:lstStyle/>
          <a:p>
            <a:pPr marL="0" indent="0">
              <a:buNone/>
            </a:pPr>
            <a:r>
              <a:rPr lang="en-US" sz="1200" dirty="0">
                <a:solidFill>
                  <a:srgbClr val="FFFFFF"/>
                </a:solidFill>
                <a:latin typeface="에이투지체 8 ExtraBold" pitchFamily="34" charset="0"/>
                <a:ea typeface="에이투지체 8 ExtraBold" pitchFamily="34" charset="-122"/>
                <a:cs typeface="에이투지체 8 ExtraBold" pitchFamily="34" charset="-120"/>
              </a:rPr>
              <a:t>AD Operations Suite</a:t>
            </a:r>
            <a:endParaRPr lang="en-US" sz="1200" dirty="0"/>
          </a:p>
        </p:txBody>
      </p:sp>
      <p:sp>
        <p:nvSpPr>
          <p:cNvPr id="22" name="Text 20"/>
          <p:cNvSpPr/>
          <p:nvPr/>
        </p:nvSpPr>
        <p:spPr>
          <a:xfrm>
            <a:off x="9235440" y="2194560"/>
            <a:ext cx="2103120" cy="237744"/>
          </a:xfrm>
          <a:prstGeom prst="rect">
            <a:avLst/>
          </a:prstGeom>
          <a:noFill/>
          <a:ln/>
        </p:spPr>
        <p:txBody>
          <a:bodyPr wrap="square" lIns="0" tIns="0" rIns="0" bIns="0" rtlCol="0" anchor="ctr"/>
          <a:lstStyle/>
          <a:p>
            <a:pPr marL="0" indent="0" algn="r">
              <a:buNone/>
            </a:pPr>
            <a:r>
              <a:rPr lang="en-US" sz="850" dirty="0">
                <a:solidFill>
                  <a:srgbClr val="8FB8E8"/>
                </a:solidFill>
                <a:latin typeface="에이투지체 4 Regular" pitchFamily="34" charset="0"/>
                <a:ea typeface="에이투지체 4 Regular" pitchFamily="34" charset="-122"/>
                <a:cs typeface="에이투지체 4 Regular" pitchFamily="34" charset="-120"/>
              </a:rPr>
              <a:t>실시간, 매일 06:00 갱신</a:t>
            </a:r>
            <a:endParaRPr lang="en-US" sz="850" dirty="0"/>
          </a:p>
        </p:txBody>
      </p:sp>
      <p:sp>
        <p:nvSpPr>
          <p:cNvPr id="23" name="Shape 21"/>
          <p:cNvSpPr/>
          <p:nvPr/>
        </p:nvSpPr>
        <p:spPr>
          <a:xfrm>
            <a:off x="6080760" y="2542032"/>
            <a:ext cx="1645920" cy="713232"/>
          </a:xfrm>
          <a:prstGeom prst="roundRect">
            <a:avLst>
              <a:gd name="adj" fmla="val 10256"/>
            </a:avLst>
          </a:prstGeom>
          <a:solidFill>
            <a:srgbClr val="0E3A72"/>
          </a:solidFill>
          <a:ln w="12700">
            <a:solidFill>
              <a:srgbClr val="0E3A72"/>
            </a:solidFill>
            <a:prstDash val="solid"/>
          </a:ln>
        </p:spPr>
        <p:txBody>
          <a:bodyPr/>
          <a:lstStyle/>
          <a:p>
            <a:endParaRPr/>
          </a:p>
        </p:txBody>
      </p:sp>
      <p:sp>
        <p:nvSpPr>
          <p:cNvPr id="24" name="Text 22"/>
          <p:cNvSpPr/>
          <p:nvPr/>
        </p:nvSpPr>
        <p:spPr>
          <a:xfrm>
            <a:off x="6227064" y="2615184"/>
            <a:ext cx="1371600" cy="201168"/>
          </a:xfrm>
          <a:prstGeom prst="rect">
            <a:avLst/>
          </a:prstGeom>
          <a:noFill/>
          <a:ln/>
        </p:spPr>
        <p:txBody>
          <a:bodyPr wrap="square" lIns="0" tIns="0" rIns="0" bIns="0" rtlCol="0" anchor="ctr"/>
          <a:lstStyle/>
          <a:p>
            <a:pPr marL="0" indent="0">
              <a:buNone/>
            </a:pPr>
            <a:r>
              <a:rPr lang="en-US" sz="750" dirty="0">
                <a:solidFill>
                  <a:srgbClr val="8FB8E8"/>
                </a:solidFill>
                <a:latin typeface="에이투지체 4 Regular" pitchFamily="34" charset="0"/>
                <a:ea typeface="에이투지체 4 Regular" pitchFamily="34" charset="-122"/>
                <a:cs typeface="에이투지체 4 Regular" pitchFamily="34" charset="-120"/>
              </a:rPr>
              <a:t>운영 캠페인</a:t>
            </a:r>
            <a:endParaRPr lang="en-US" sz="750" dirty="0"/>
          </a:p>
        </p:txBody>
      </p:sp>
      <p:sp>
        <p:nvSpPr>
          <p:cNvPr id="25" name="Text 23"/>
          <p:cNvSpPr/>
          <p:nvPr/>
        </p:nvSpPr>
        <p:spPr>
          <a:xfrm>
            <a:off x="6227064" y="2816352"/>
            <a:ext cx="1371600" cy="365760"/>
          </a:xfrm>
          <a:prstGeom prst="rect">
            <a:avLst/>
          </a:prstGeom>
          <a:noFill/>
          <a:ln/>
        </p:spPr>
        <p:txBody>
          <a:bodyPr wrap="square" lIns="0" tIns="0" rIns="0" bIns="0" rtlCol="0" anchor="ctr"/>
          <a:lstStyle/>
          <a:p>
            <a:pPr marL="0" indent="0">
              <a:buNone/>
            </a:pPr>
            <a:r>
              <a:rPr lang="en-US" sz="1600" dirty="0">
                <a:solidFill>
                  <a:srgbClr val="FFFFFF"/>
                </a:solidFill>
                <a:latin typeface="에이투지체 8 ExtraBold" pitchFamily="34" charset="0"/>
                <a:ea typeface="에이투지체 8 ExtraBold" pitchFamily="34" charset="-122"/>
                <a:cs typeface="에이투지체 8 ExtraBold" pitchFamily="34" charset="-120"/>
              </a:rPr>
              <a:t>48</a:t>
            </a:r>
            <a:endParaRPr lang="en-US" sz="1600" dirty="0"/>
          </a:p>
        </p:txBody>
      </p:sp>
      <p:sp>
        <p:nvSpPr>
          <p:cNvPr id="26" name="Shape 24"/>
          <p:cNvSpPr/>
          <p:nvPr/>
        </p:nvSpPr>
        <p:spPr>
          <a:xfrm>
            <a:off x="7863840" y="2542032"/>
            <a:ext cx="1645920" cy="713232"/>
          </a:xfrm>
          <a:prstGeom prst="roundRect">
            <a:avLst>
              <a:gd name="adj" fmla="val 10256"/>
            </a:avLst>
          </a:prstGeom>
          <a:solidFill>
            <a:srgbClr val="0E3A72"/>
          </a:solidFill>
          <a:ln w="12700">
            <a:solidFill>
              <a:srgbClr val="0E3A72"/>
            </a:solidFill>
            <a:prstDash val="solid"/>
          </a:ln>
        </p:spPr>
        <p:txBody>
          <a:bodyPr/>
          <a:lstStyle/>
          <a:p>
            <a:endParaRPr/>
          </a:p>
        </p:txBody>
      </p:sp>
      <p:sp>
        <p:nvSpPr>
          <p:cNvPr id="27" name="Text 25"/>
          <p:cNvSpPr/>
          <p:nvPr/>
        </p:nvSpPr>
        <p:spPr>
          <a:xfrm>
            <a:off x="8010144" y="2615184"/>
            <a:ext cx="1371600" cy="201168"/>
          </a:xfrm>
          <a:prstGeom prst="rect">
            <a:avLst/>
          </a:prstGeom>
          <a:noFill/>
          <a:ln/>
        </p:spPr>
        <p:txBody>
          <a:bodyPr wrap="square" lIns="0" tIns="0" rIns="0" bIns="0" rtlCol="0" anchor="ctr"/>
          <a:lstStyle/>
          <a:p>
            <a:pPr marL="0" indent="0">
              <a:buNone/>
            </a:pPr>
            <a:r>
              <a:rPr lang="en-US" sz="750" dirty="0">
                <a:solidFill>
                  <a:srgbClr val="8FB8E8"/>
                </a:solidFill>
                <a:latin typeface="에이투지체 4 Regular" pitchFamily="34" charset="0"/>
                <a:ea typeface="에이투지체 4 Regular" pitchFamily="34" charset="-122"/>
                <a:cs typeface="에이투지체 4 Regular" pitchFamily="34" charset="-120"/>
              </a:rPr>
              <a:t>운영 그룹</a:t>
            </a:r>
            <a:endParaRPr lang="en-US" sz="750" dirty="0"/>
          </a:p>
        </p:txBody>
      </p:sp>
      <p:sp>
        <p:nvSpPr>
          <p:cNvPr id="28" name="Text 26"/>
          <p:cNvSpPr/>
          <p:nvPr/>
        </p:nvSpPr>
        <p:spPr>
          <a:xfrm>
            <a:off x="8010144" y="2816352"/>
            <a:ext cx="1371600" cy="365760"/>
          </a:xfrm>
          <a:prstGeom prst="rect">
            <a:avLst/>
          </a:prstGeom>
          <a:noFill/>
          <a:ln/>
        </p:spPr>
        <p:txBody>
          <a:bodyPr wrap="square" lIns="0" tIns="0" rIns="0" bIns="0" rtlCol="0" anchor="ctr"/>
          <a:lstStyle/>
          <a:p>
            <a:pPr marL="0" indent="0">
              <a:buNone/>
            </a:pPr>
            <a:r>
              <a:rPr lang="en-US" sz="1600" dirty="0">
                <a:solidFill>
                  <a:srgbClr val="FFFFFF"/>
                </a:solidFill>
                <a:latin typeface="에이투지체 8 ExtraBold" pitchFamily="34" charset="0"/>
                <a:ea typeface="에이투지체 8 ExtraBold" pitchFamily="34" charset="-122"/>
                <a:cs typeface="에이투지체 8 ExtraBold" pitchFamily="34" charset="-120"/>
              </a:rPr>
              <a:t>41</a:t>
            </a:r>
            <a:endParaRPr lang="en-US" sz="1600" dirty="0"/>
          </a:p>
        </p:txBody>
      </p:sp>
      <p:sp>
        <p:nvSpPr>
          <p:cNvPr id="29" name="Shape 27"/>
          <p:cNvSpPr/>
          <p:nvPr/>
        </p:nvSpPr>
        <p:spPr>
          <a:xfrm>
            <a:off x="9646920" y="2542032"/>
            <a:ext cx="1645920" cy="713232"/>
          </a:xfrm>
          <a:prstGeom prst="roundRect">
            <a:avLst>
              <a:gd name="adj" fmla="val 10256"/>
            </a:avLst>
          </a:prstGeom>
          <a:solidFill>
            <a:srgbClr val="0E3A72"/>
          </a:solidFill>
          <a:ln w="12700">
            <a:solidFill>
              <a:srgbClr val="0E3A72"/>
            </a:solidFill>
            <a:prstDash val="solid"/>
          </a:ln>
        </p:spPr>
        <p:txBody>
          <a:bodyPr/>
          <a:lstStyle/>
          <a:p>
            <a:endParaRPr/>
          </a:p>
        </p:txBody>
      </p:sp>
      <p:sp>
        <p:nvSpPr>
          <p:cNvPr id="30" name="Text 28"/>
          <p:cNvSpPr/>
          <p:nvPr/>
        </p:nvSpPr>
        <p:spPr>
          <a:xfrm>
            <a:off x="9793224" y="2615184"/>
            <a:ext cx="1371600" cy="201168"/>
          </a:xfrm>
          <a:prstGeom prst="rect">
            <a:avLst/>
          </a:prstGeom>
          <a:noFill/>
          <a:ln/>
        </p:spPr>
        <p:txBody>
          <a:bodyPr wrap="square" lIns="0" tIns="0" rIns="0" bIns="0" rtlCol="0" anchor="ctr"/>
          <a:lstStyle/>
          <a:p>
            <a:pPr marL="0" indent="0">
              <a:buNone/>
            </a:pPr>
            <a:r>
              <a:rPr lang="en-US" sz="750" dirty="0">
                <a:solidFill>
                  <a:srgbClr val="8FB8E8"/>
                </a:solidFill>
                <a:latin typeface="에이투지체 4 Regular" pitchFamily="34" charset="0"/>
                <a:ea typeface="에이투지체 4 Regular" pitchFamily="34" charset="-122"/>
                <a:cs typeface="에이투지체 4 Regular" pitchFamily="34" charset="-120"/>
              </a:rPr>
              <a:t>운영 소재</a:t>
            </a:r>
            <a:endParaRPr lang="en-US" sz="750" dirty="0"/>
          </a:p>
        </p:txBody>
      </p:sp>
      <p:sp>
        <p:nvSpPr>
          <p:cNvPr id="31" name="Text 29"/>
          <p:cNvSpPr/>
          <p:nvPr/>
        </p:nvSpPr>
        <p:spPr>
          <a:xfrm>
            <a:off x="9793224" y="2816352"/>
            <a:ext cx="1371600" cy="365760"/>
          </a:xfrm>
          <a:prstGeom prst="rect">
            <a:avLst/>
          </a:prstGeom>
          <a:noFill/>
          <a:ln/>
        </p:spPr>
        <p:txBody>
          <a:bodyPr wrap="square" lIns="0" tIns="0" rIns="0" bIns="0" rtlCol="0" anchor="ctr"/>
          <a:lstStyle/>
          <a:p>
            <a:pPr marL="0" indent="0">
              <a:buNone/>
            </a:pPr>
            <a:r>
              <a:rPr lang="en-US" sz="1600" dirty="0">
                <a:solidFill>
                  <a:srgbClr val="FFFFFF"/>
                </a:solidFill>
                <a:latin typeface="에이투지체 8 ExtraBold" pitchFamily="34" charset="0"/>
                <a:ea typeface="에이투지체 8 ExtraBold" pitchFamily="34" charset="-122"/>
                <a:cs typeface="에이투지체 8 ExtraBold" pitchFamily="34" charset="-120"/>
              </a:rPr>
              <a:t>1,248</a:t>
            </a:r>
            <a:endParaRPr lang="en-US" sz="1600" dirty="0"/>
          </a:p>
        </p:txBody>
      </p:sp>
      <p:sp>
        <p:nvSpPr>
          <p:cNvPr id="32" name="Text 30"/>
          <p:cNvSpPr/>
          <p:nvPr/>
        </p:nvSpPr>
        <p:spPr>
          <a:xfrm>
            <a:off x="6135624" y="3401568"/>
            <a:ext cx="2377440" cy="219456"/>
          </a:xfrm>
          <a:prstGeom prst="rect">
            <a:avLst/>
          </a:prstGeom>
          <a:noFill/>
          <a:ln/>
        </p:spPr>
        <p:txBody>
          <a:bodyPr wrap="square" lIns="0" tIns="0" rIns="0" bIns="0" rtlCol="0" anchor="ctr"/>
          <a:lstStyle/>
          <a:p>
            <a:pPr marL="0" indent="0">
              <a:buNone/>
            </a:pPr>
            <a:r>
              <a:rPr lang="en-US" sz="750" dirty="0">
                <a:solidFill>
                  <a:srgbClr val="8FB8E8"/>
                </a:solidFill>
                <a:latin typeface="에이투지체 4 Regular" pitchFamily="34" charset="0"/>
                <a:ea typeface="에이투지체 4 Regular" pitchFamily="34" charset="-122"/>
                <a:cs typeface="에이투지체 4 Regular" pitchFamily="34" charset="-120"/>
              </a:rPr>
              <a:t>소재명</a:t>
            </a:r>
            <a:endParaRPr lang="en-US" sz="750" dirty="0"/>
          </a:p>
        </p:txBody>
      </p:sp>
      <p:sp>
        <p:nvSpPr>
          <p:cNvPr id="33" name="Text 31"/>
          <p:cNvSpPr/>
          <p:nvPr/>
        </p:nvSpPr>
        <p:spPr>
          <a:xfrm>
            <a:off x="8823960" y="3401568"/>
            <a:ext cx="731520" cy="219456"/>
          </a:xfrm>
          <a:prstGeom prst="rect">
            <a:avLst/>
          </a:prstGeom>
          <a:noFill/>
          <a:ln/>
        </p:spPr>
        <p:txBody>
          <a:bodyPr wrap="square" lIns="0" tIns="0" rIns="0" bIns="0" rtlCol="0" anchor="ctr"/>
          <a:lstStyle/>
          <a:p>
            <a:pPr marL="0" indent="0" algn="r">
              <a:buNone/>
            </a:pPr>
            <a:r>
              <a:rPr lang="en-US" sz="750" dirty="0">
                <a:solidFill>
                  <a:srgbClr val="8FB8E8"/>
                </a:solidFill>
                <a:latin typeface="에이투지체 4 Regular" pitchFamily="34" charset="0"/>
                <a:ea typeface="에이투지체 4 Regular" pitchFamily="34" charset="-122"/>
                <a:cs typeface="에이투지체 4 Regular" pitchFamily="34" charset="-120"/>
              </a:rPr>
              <a:t>CTR</a:t>
            </a:r>
            <a:endParaRPr lang="en-US" sz="750" dirty="0"/>
          </a:p>
        </p:txBody>
      </p:sp>
      <p:sp>
        <p:nvSpPr>
          <p:cNvPr id="34" name="Text 32"/>
          <p:cNvSpPr/>
          <p:nvPr/>
        </p:nvSpPr>
        <p:spPr>
          <a:xfrm>
            <a:off x="9646920" y="3401568"/>
            <a:ext cx="822960" cy="219456"/>
          </a:xfrm>
          <a:prstGeom prst="rect">
            <a:avLst/>
          </a:prstGeom>
          <a:noFill/>
          <a:ln/>
        </p:spPr>
        <p:txBody>
          <a:bodyPr wrap="square" lIns="0" tIns="0" rIns="0" bIns="0" rtlCol="0" anchor="ctr"/>
          <a:lstStyle/>
          <a:p>
            <a:pPr marL="0" indent="0" algn="r">
              <a:buNone/>
            </a:pPr>
            <a:r>
              <a:rPr lang="en-US" sz="750" dirty="0">
                <a:solidFill>
                  <a:srgbClr val="8FB8E8"/>
                </a:solidFill>
                <a:latin typeface="에이투지체 4 Regular" pitchFamily="34" charset="0"/>
                <a:ea typeface="에이투지체 4 Regular" pitchFamily="34" charset="-122"/>
                <a:cs typeface="에이투지체 4 Regular" pitchFamily="34" charset="-120"/>
              </a:rPr>
              <a:t>CPM</a:t>
            </a:r>
            <a:endParaRPr lang="en-US" sz="750" dirty="0"/>
          </a:p>
        </p:txBody>
      </p:sp>
      <p:sp>
        <p:nvSpPr>
          <p:cNvPr id="35" name="Text 33"/>
          <p:cNvSpPr/>
          <p:nvPr/>
        </p:nvSpPr>
        <p:spPr>
          <a:xfrm>
            <a:off x="10561320" y="3401568"/>
            <a:ext cx="731520" cy="219456"/>
          </a:xfrm>
          <a:prstGeom prst="rect">
            <a:avLst/>
          </a:prstGeom>
          <a:noFill/>
          <a:ln/>
        </p:spPr>
        <p:txBody>
          <a:bodyPr wrap="square" lIns="0" tIns="0" rIns="0" bIns="0" rtlCol="0" anchor="ctr"/>
          <a:lstStyle/>
          <a:p>
            <a:pPr marL="0" indent="0" algn="r">
              <a:buNone/>
            </a:pPr>
            <a:r>
              <a:rPr lang="en-US" sz="750" dirty="0">
                <a:solidFill>
                  <a:srgbClr val="8FB8E8"/>
                </a:solidFill>
                <a:latin typeface="에이투지체 4 Regular" pitchFamily="34" charset="0"/>
                <a:ea typeface="에이투지체 4 Regular" pitchFamily="34" charset="-122"/>
                <a:cs typeface="에이투지체 4 Regular" pitchFamily="34" charset="-120"/>
              </a:rPr>
              <a:t>ROAS</a:t>
            </a:r>
            <a:endParaRPr lang="en-US" sz="750" dirty="0"/>
          </a:p>
        </p:txBody>
      </p:sp>
      <p:sp>
        <p:nvSpPr>
          <p:cNvPr id="36" name="Shape 34"/>
          <p:cNvSpPr/>
          <p:nvPr/>
        </p:nvSpPr>
        <p:spPr>
          <a:xfrm>
            <a:off x="6080760" y="3675888"/>
            <a:ext cx="5257800" cy="402336"/>
          </a:xfrm>
          <a:prstGeom prst="roundRect">
            <a:avLst>
              <a:gd name="adj" fmla="val 18182"/>
            </a:avLst>
          </a:prstGeom>
          <a:solidFill>
            <a:srgbClr val="0E3A72"/>
          </a:solidFill>
          <a:ln w="12700">
            <a:solidFill>
              <a:srgbClr val="0E3A72"/>
            </a:solidFill>
            <a:prstDash val="solid"/>
          </a:ln>
        </p:spPr>
        <p:txBody>
          <a:bodyPr/>
          <a:lstStyle/>
          <a:p>
            <a:endParaRPr/>
          </a:p>
        </p:txBody>
      </p:sp>
      <p:sp>
        <p:nvSpPr>
          <p:cNvPr id="37" name="Shape 35"/>
          <p:cNvSpPr/>
          <p:nvPr/>
        </p:nvSpPr>
        <p:spPr>
          <a:xfrm>
            <a:off x="6190488" y="3767328"/>
            <a:ext cx="219456" cy="219456"/>
          </a:xfrm>
          <a:prstGeom prst="ellipse">
            <a:avLst/>
          </a:prstGeom>
          <a:solidFill>
            <a:srgbClr val="03C75A"/>
          </a:solidFill>
          <a:ln w="12700">
            <a:solidFill>
              <a:srgbClr val="03C75A"/>
            </a:solidFill>
            <a:prstDash val="solid"/>
          </a:ln>
        </p:spPr>
        <p:txBody>
          <a:bodyPr/>
          <a:lstStyle/>
          <a:p>
            <a:endParaRPr/>
          </a:p>
        </p:txBody>
      </p:sp>
      <p:sp>
        <p:nvSpPr>
          <p:cNvPr id="38" name="Text 36"/>
          <p:cNvSpPr/>
          <p:nvPr/>
        </p:nvSpPr>
        <p:spPr>
          <a:xfrm>
            <a:off x="6190488" y="3767328"/>
            <a:ext cx="219456" cy="219456"/>
          </a:xfrm>
          <a:prstGeom prst="rect">
            <a:avLst/>
          </a:prstGeom>
          <a:noFill/>
          <a:ln/>
        </p:spPr>
        <p:txBody>
          <a:bodyPr wrap="square" lIns="0" tIns="0" rIns="0" bIns="0" rtlCol="0" anchor="ctr"/>
          <a:lstStyle/>
          <a:p>
            <a:pPr marL="0" indent="0" algn="ctr">
              <a:buNone/>
            </a:pPr>
            <a:r>
              <a:rPr lang="en-US" sz="750" dirty="0">
                <a:solidFill>
                  <a:srgbClr val="FFFFFF"/>
                </a:solidFill>
                <a:latin typeface="에이투지체 8 ExtraBold" pitchFamily="34" charset="0"/>
                <a:ea typeface="에이투지체 8 ExtraBold" pitchFamily="34" charset="-122"/>
                <a:cs typeface="에이투지체 8 ExtraBold" pitchFamily="34" charset="-120"/>
              </a:rPr>
              <a:t>N</a:t>
            </a:r>
            <a:endParaRPr lang="en-US" sz="750" dirty="0"/>
          </a:p>
        </p:txBody>
      </p:sp>
      <p:sp>
        <p:nvSpPr>
          <p:cNvPr id="39" name="Text 37"/>
          <p:cNvSpPr/>
          <p:nvPr/>
        </p:nvSpPr>
        <p:spPr>
          <a:xfrm>
            <a:off x="6519672" y="3675888"/>
            <a:ext cx="2377440" cy="402336"/>
          </a:xfrm>
          <a:prstGeom prst="rect">
            <a:avLst/>
          </a:prstGeom>
          <a:noFill/>
          <a:ln/>
        </p:spPr>
        <p:txBody>
          <a:bodyPr wrap="square" lIns="0" tIns="0" rIns="0" bIns="0" rtlCol="0" anchor="ctr"/>
          <a:lstStyle/>
          <a:p>
            <a:pPr marL="0" indent="0">
              <a:buNone/>
            </a:pPr>
            <a:r>
              <a:rPr lang="en-US" sz="900" dirty="0">
                <a:solidFill>
                  <a:srgbClr val="FFFFFF"/>
                </a:solidFill>
                <a:latin typeface="에이투지체 5 Medium" pitchFamily="34" charset="0"/>
                <a:ea typeface="에이투지체 5 Medium" pitchFamily="34" charset="-122"/>
                <a:cs typeface="에이투지체 5 Medium" pitchFamily="34" charset="-120"/>
              </a:rPr>
              <a:t>신상품 컬렉션 배너 A</a:t>
            </a:r>
            <a:endParaRPr lang="en-US" sz="900" dirty="0"/>
          </a:p>
        </p:txBody>
      </p:sp>
      <p:sp>
        <p:nvSpPr>
          <p:cNvPr id="40" name="Text 38"/>
          <p:cNvSpPr/>
          <p:nvPr/>
        </p:nvSpPr>
        <p:spPr>
          <a:xfrm>
            <a:off x="8823960" y="3675888"/>
            <a:ext cx="731520" cy="402336"/>
          </a:xfrm>
          <a:prstGeom prst="rect">
            <a:avLst/>
          </a:prstGeom>
          <a:noFill/>
          <a:ln/>
        </p:spPr>
        <p:txBody>
          <a:bodyPr wrap="square" lIns="0" tIns="0" rIns="0" bIns="0" rtlCol="0" anchor="ctr"/>
          <a:lstStyle/>
          <a:p>
            <a:pPr marL="0" indent="0" algn="r">
              <a:buNone/>
            </a:pPr>
            <a:r>
              <a:rPr lang="en-US" sz="900" dirty="0">
                <a:solidFill>
                  <a:srgbClr val="C9DBF0"/>
                </a:solidFill>
                <a:latin typeface="에이투지체 4 Regular" pitchFamily="34" charset="0"/>
                <a:ea typeface="에이투지체 4 Regular" pitchFamily="34" charset="-122"/>
                <a:cs typeface="에이투지체 4 Regular" pitchFamily="34" charset="-120"/>
              </a:rPr>
              <a:t>0.85%</a:t>
            </a:r>
            <a:endParaRPr lang="en-US" sz="900" dirty="0"/>
          </a:p>
        </p:txBody>
      </p:sp>
      <p:sp>
        <p:nvSpPr>
          <p:cNvPr id="41" name="Text 39"/>
          <p:cNvSpPr/>
          <p:nvPr/>
        </p:nvSpPr>
        <p:spPr>
          <a:xfrm>
            <a:off x="9646920" y="3675888"/>
            <a:ext cx="822960" cy="402336"/>
          </a:xfrm>
          <a:prstGeom prst="rect">
            <a:avLst/>
          </a:prstGeom>
          <a:noFill/>
          <a:ln/>
        </p:spPr>
        <p:txBody>
          <a:bodyPr wrap="square" lIns="0" tIns="0" rIns="0" bIns="0" rtlCol="0" anchor="ctr"/>
          <a:lstStyle/>
          <a:p>
            <a:pPr marL="0" indent="0" algn="r">
              <a:buNone/>
            </a:pPr>
            <a:r>
              <a:rPr lang="en-US" sz="900" dirty="0">
                <a:solidFill>
                  <a:srgbClr val="C9DBF0"/>
                </a:solidFill>
                <a:latin typeface="에이투지체 4 Regular" pitchFamily="34" charset="0"/>
                <a:ea typeface="에이투지체 4 Regular" pitchFamily="34" charset="-122"/>
                <a:cs typeface="에이투지체 4 Regular" pitchFamily="34" charset="-120"/>
              </a:rPr>
              <a:t>3,570원</a:t>
            </a:r>
            <a:endParaRPr lang="en-US" sz="900" dirty="0"/>
          </a:p>
        </p:txBody>
      </p:sp>
      <p:sp>
        <p:nvSpPr>
          <p:cNvPr id="42" name="Text 40"/>
          <p:cNvSpPr/>
          <p:nvPr/>
        </p:nvSpPr>
        <p:spPr>
          <a:xfrm>
            <a:off x="10561320" y="3675888"/>
            <a:ext cx="731520" cy="402336"/>
          </a:xfrm>
          <a:prstGeom prst="rect">
            <a:avLst/>
          </a:prstGeom>
          <a:noFill/>
          <a:ln/>
        </p:spPr>
        <p:txBody>
          <a:bodyPr wrap="square" lIns="0" tIns="0" rIns="0" bIns="0" rtlCol="0" anchor="ctr"/>
          <a:lstStyle/>
          <a:p>
            <a:pPr marL="0" indent="0" algn="r">
              <a:buNone/>
            </a:pPr>
            <a:r>
              <a:rPr lang="en-US" sz="950" dirty="0">
                <a:solidFill>
                  <a:srgbClr val="6FB0E8"/>
                </a:solidFill>
                <a:latin typeface="에이투지체 8 ExtraBold" pitchFamily="34" charset="0"/>
                <a:ea typeface="에이투지체 8 ExtraBold" pitchFamily="34" charset="-122"/>
                <a:cs typeface="에이투지체 8 ExtraBold" pitchFamily="34" charset="-120"/>
              </a:rPr>
              <a:t>280%</a:t>
            </a:r>
            <a:endParaRPr lang="en-US" sz="950" dirty="0"/>
          </a:p>
        </p:txBody>
      </p:sp>
      <p:sp>
        <p:nvSpPr>
          <p:cNvPr id="43" name="Shape 41"/>
          <p:cNvSpPr/>
          <p:nvPr/>
        </p:nvSpPr>
        <p:spPr>
          <a:xfrm>
            <a:off x="6080760" y="4151376"/>
            <a:ext cx="5257800" cy="402336"/>
          </a:xfrm>
          <a:prstGeom prst="roundRect">
            <a:avLst>
              <a:gd name="adj" fmla="val 18182"/>
            </a:avLst>
          </a:prstGeom>
          <a:solidFill>
            <a:srgbClr val="0E3A72"/>
          </a:solidFill>
          <a:ln w="12700">
            <a:solidFill>
              <a:srgbClr val="0E3A72"/>
            </a:solidFill>
            <a:prstDash val="solid"/>
          </a:ln>
        </p:spPr>
        <p:txBody>
          <a:bodyPr/>
          <a:lstStyle/>
          <a:p>
            <a:endParaRPr/>
          </a:p>
        </p:txBody>
      </p:sp>
      <p:sp>
        <p:nvSpPr>
          <p:cNvPr id="44" name="Shape 42"/>
          <p:cNvSpPr/>
          <p:nvPr/>
        </p:nvSpPr>
        <p:spPr>
          <a:xfrm>
            <a:off x="6190488" y="4242816"/>
            <a:ext cx="219456" cy="219456"/>
          </a:xfrm>
          <a:prstGeom prst="ellipse">
            <a:avLst/>
          </a:prstGeom>
          <a:solidFill>
            <a:srgbClr val="FEE500"/>
          </a:solidFill>
          <a:ln w="12700">
            <a:solidFill>
              <a:srgbClr val="FEE500"/>
            </a:solidFill>
            <a:prstDash val="solid"/>
          </a:ln>
        </p:spPr>
        <p:txBody>
          <a:bodyPr/>
          <a:lstStyle/>
          <a:p>
            <a:endParaRPr/>
          </a:p>
        </p:txBody>
      </p:sp>
      <p:sp>
        <p:nvSpPr>
          <p:cNvPr id="45" name="Text 43"/>
          <p:cNvSpPr/>
          <p:nvPr/>
        </p:nvSpPr>
        <p:spPr>
          <a:xfrm>
            <a:off x="6190488" y="4242816"/>
            <a:ext cx="219456" cy="219456"/>
          </a:xfrm>
          <a:prstGeom prst="rect">
            <a:avLst/>
          </a:prstGeom>
          <a:noFill/>
          <a:ln/>
        </p:spPr>
        <p:txBody>
          <a:bodyPr wrap="square" lIns="0" tIns="0" rIns="0" bIns="0" rtlCol="0" anchor="ctr"/>
          <a:lstStyle/>
          <a:p>
            <a:pPr marL="0" indent="0" algn="ctr">
              <a:buNone/>
            </a:pPr>
            <a:r>
              <a:rPr lang="en-US" sz="750" dirty="0">
                <a:solidFill>
                  <a:srgbClr val="3C1E1E"/>
                </a:solidFill>
                <a:latin typeface="에이투지체 8 ExtraBold" pitchFamily="34" charset="0"/>
                <a:ea typeface="에이투지체 8 ExtraBold" pitchFamily="34" charset="-122"/>
                <a:cs typeface="에이투지체 8 ExtraBold" pitchFamily="34" charset="-120"/>
              </a:rPr>
              <a:t>K</a:t>
            </a:r>
            <a:endParaRPr lang="en-US" sz="750" dirty="0"/>
          </a:p>
        </p:txBody>
      </p:sp>
      <p:sp>
        <p:nvSpPr>
          <p:cNvPr id="46" name="Text 44"/>
          <p:cNvSpPr/>
          <p:nvPr/>
        </p:nvSpPr>
        <p:spPr>
          <a:xfrm>
            <a:off x="6519672" y="4151376"/>
            <a:ext cx="2377440" cy="402336"/>
          </a:xfrm>
          <a:prstGeom prst="rect">
            <a:avLst/>
          </a:prstGeom>
          <a:noFill/>
          <a:ln/>
        </p:spPr>
        <p:txBody>
          <a:bodyPr wrap="square" lIns="0" tIns="0" rIns="0" bIns="0" rtlCol="0" anchor="ctr"/>
          <a:lstStyle/>
          <a:p>
            <a:pPr marL="0" indent="0">
              <a:buNone/>
            </a:pPr>
            <a:r>
              <a:rPr lang="en-US" sz="900" dirty="0">
                <a:solidFill>
                  <a:srgbClr val="FFFFFF"/>
                </a:solidFill>
                <a:latin typeface="에이투지체 5 Medium" pitchFamily="34" charset="0"/>
                <a:ea typeface="에이투지체 5 Medium" pitchFamily="34" charset="-122"/>
                <a:cs typeface="에이투지체 5 Medium" pitchFamily="34" charset="-120"/>
              </a:rPr>
              <a:t>할인 프로모션 썸네일</a:t>
            </a:r>
            <a:endParaRPr lang="en-US" sz="900" dirty="0"/>
          </a:p>
        </p:txBody>
      </p:sp>
      <p:sp>
        <p:nvSpPr>
          <p:cNvPr id="47" name="Text 45"/>
          <p:cNvSpPr/>
          <p:nvPr/>
        </p:nvSpPr>
        <p:spPr>
          <a:xfrm>
            <a:off x="8823960" y="4151376"/>
            <a:ext cx="731520" cy="402336"/>
          </a:xfrm>
          <a:prstGeom prst="rect">
            <a:avLst/>
          </a:prstGeom>
          <a:noFill/>
          <a:ln/>
        </p:spPr>
        <p:txBody>
          <a:bodyPr wrap="square" lIns="0" tIns="0" rIns="0" bIns="0" rtlCol="0" anchor="ctr"/>
          <a:lstStyle/>
          <a:p>
            <a:pPr marL="0" indent="0" algn="r">
              <a:buNone/>
            </a:pPr>
            <a:r>
              <a:rPr lang="en-US" sz="900" dirty="0">
                <a:solidFill>
                  <a:srgbClr val="C9DBF0"/>
                </a:solidFill>
                <a:latin typeface="에이투지체 4 Regular" pitchFamily="34" charset="0"/>
                <a:ea typeface="에이투지체 4 Regular" pitchFamily="34" charset="-122"/>
                <a:cs typeface="에이투지체 4 Regular" pitchFamily="34" charset="-120"/>
              </a:rPr>
              <a:t>0.78%</a:t>
            </a:r>
            <a:endParaRPr lang="en-US" sz="900" dirty="0"/>
          </a:p>
        </p:txBody>
      </p:sp>
      <p:sp>
        <p:nvSpPr>
          <p:cNvPr id="48" name="Text 46"/>
          <p:cNvSpPr/>
          <p:nvPr/>
        </p:nvSpPr>
        <p:spPr>
          <a:xfrm>
            <a:off x="9646920" y="4151376"/>
            <a:ext cx="822960" cy="402336"/>
          </a:xfrm>
          <a:prstGeom prst="rect">
            <a:avLst/>
          </a:prstGeom>
          <a:noFill/>
          <a:ln/>
        </p:spPr>
        <p:txBody>
          <a:bodyPr wrap="square" lIns="0" tIns="0" rIns="0" bIns="0" rtlCol="0" anchor="ctr"/>
          <a:lstStyle/>
          <a:p>
            <a:pPr marL="0" indent="0" algn="r">
              <a:buNone/>
            </a:pPr>
            <a:r>
              <a:rPr lang="en-US" sz="900" dirty="0">
                <a:solidFill>
                  <a:srgbClr val="C9DBF0"/>
                </a:solidFill>
                <a:latin typeface="에이투지체 4 Regular" pitchFamily="34" charset="0"/>
                <a:ea typeface="에이투지체 4 Regular" pitchFamily="34" charset="-122"/>
                <a:cs typeface="에이투지체 4 Regular" pitchFamily="34" charset="-120"/>
              </a:rPr>
              <a:t>3,159원</a:t>
            </a:r>
            <a:endParaRPr lang="en-US" sz="900" dirty="0"/>
          </a:p>
        </p:txBody>
      </p:sp>
      <p:sp>
        <p:nvSpPr>
          <p:cNvPr id="49" name="Text 47"/>
          <p:cNvSpPr/>
          <p:nvPr/>
        </p:nvSpPr>
        <p:spPr>
          <a:xfrm>
            <a:off x="10561320" y="4151376"/>
            <a:ext cx="731520" cy="402336"/>
          </a:xfrm>
          <a:prstGeom prst="rect">
            <a:avLst/>
          </a:prstGeom>
          <a:noFill/>
          <a:ln/>
        </p:spPr>
        <p:txBody>
          <a:bodyPr wrap="square" lIns="0" tIns="0" rIns="0" bIns="0" rtlCol="0" anchor="ctr"/>
          <a:lstStyle/>
          <a:p>
            <a:pPr marL="0" indent="0" algn="r">
              <a:buNone/>
            </a:pPr>
            <a:r>
              <a:rPr lang="en-US" sz="950" dirty="0">
                <a:solidFill>
                  <a:srgbClr val="6FB0E8"/>
                </a:solidFill>
                <a:latin typeface="에이투지체 8 ExtraBold" pitchFamily="34" charset="0"/>
                <a:ea typeface="에이투지체 8 ExtraBold" pitchFamily="34" charset="-122"/>
                <a:cs typeface="에이투지체 8 ExtraBold" pitchFamily="34" charset="-120"/>
              </a:rPr>
              <a:t>280%</a:t>
            </a:r>
            <a:endParaRPr lang="en-US" sz="950" dirty="0"/>
          </a:p>
        </p:txBody>
      </p:sp>
      <p:sp>
        <p:nvSpPr>
          <p:cNvPr id="50" name="Shape 48"/>
          <p:cNvSpPr/>
          <p:nvPr/>
        </p:nvSpPr>
        <p:spPr>
          <a:xfrm>
            <a:off x="6080760" y="4626864"/>
            <a:ext cx="5257800" cy="402336"/>
          </a:xfrm>
          <a:prstGeom prst="roundRect">
            <a:avLst>
              <a:gd name="adj" fmla="val 18182"/>
            </a:avLst>
          </a:prstGeom>
          <a:solidFill>
            <a:srgbClr val="0E3A72"/>
          </a:solidFill>
          <a:ln w="12700">
            <a:solidFill>
              <a:srgbClr val="0E3A72"/>
            </a:solidFill>
            <a:prstDash val="solid"/>
          </a:ln>
        </p:spPr>
        <p:txBody>
          <a:bodyPr/>
          <a:lstStyle/>
          <a:p>
            <a:endParaRPr/>
          </a:p>
        </p:txBody>
      </p:sp>
      <p:sp>
        <p:nvSpPr>
          <p:cNvPr id="51" name="Shape 49"/>
          <p:cNvSpPr/>
          <p:nvPr/>
        </p:nvSpPr>
        <p:spPr>
          <a:xfrm>
            <a:off x="6190488" y="4718304"/>
            <a:ext cx="219456" cy="219456"/>
          </a:xfrm>
          <a:prstGeom prst="ellipse">
            <a:avLst/>
          </a:prstGeom>
          <a:solidFill>
            <a:srgbClr val="FEE500"/>
          </a:solidFill>
          <a:ln w="12700">
            <a:solidFill>
              <a:srgbClr val="FEE500"/>
            </a:solidFill>
            <a:prstDash val="solid"/>
          </a:ln>
        </p:spPr>
        <p:txBody>
          <a:bodyPr/>
          <a:lstStyle/>
          <a:p>
            <a:endParaRPr/>
          </a:p>
        </p:txBody>
      </p:sp>
      <p:sp>
        <p:nvSpPr>
          <p:cNvPr id="52" name="Text 50"/>
          <p:cNvSpPr/>
          <p:nvPr/>
        </p:nvSpPr>
        <p:spPr>
          <a:xfrm>
            <a:off x="6190488" y="4718304"/>
            <a:ext cx="219456" cy="219456"/>
          </a:xfrm>
          <a:prstGeom prst="rect">
            <a:avLst/>
          </a:prstGeom>
          <a:noFill/>
          <a:ln/>
        </p:spPr>
        <p:txBody>
          <a:bodyPr wrap="square" lIns="0" tIns="0" rIns="0" bIns="0" rtlCol="0" anchor="ctr"/>
          <a:lstStyle/>
          <a:p>
            <a:pPr marL="0" indent="0" algn="ctr">
              <a:buNone/>
            </a:pPr>
            <a:r>
              <a:rPr lang="en-US" sz="750" dirty="0">
                <a:solidFill>
                  <a:srgbClr val="3C1E1E"/>
                </a:solidFill>
                <a:latin typeface="에이투지체 8 ExtraBold" pitchFamily="34" charset="0"/>
                <a:ea typeface="에이투지체 8 ExtraBold" pitchFamily="34" charset="-122"/>
                <a:cs typeface="에이투지체 8 ExtraBold" pitchFamily="34" charset="-120"/>
              </a:rPr>
              <a:t>K</a:t>
            </a:r>
            <a:endParaRPr lang="en-US" sz="750" dirty="0"/>
          </a:p>
        </p:txBody>
      </p:sp>
      <p:sp>
        <p:nvSpPr>
          <p:cNvPr id="53" name="Text 51"/>
          <p:cNvSpPr/>
          <p:nvPr/>
        </p:nvSpPr>
        <p:spPr>
          <a:xfrm>
            <a:off x="6519672" y="4626864"/>
            <a:ext cx="2377440" cy="402336"/>
          </a:xfrm>
          <a:prstGeom prst="rect">
            <a:avLst/>
          </a:prstGeom>
          <a:noFill/>
          <a:ln/>
        </p:spPr>
        <p:txBody>
          <a:bodyPr wrap="square" lIns="0" tIns="0" rIns="0" bIns="0" rtlCol="0" anchor="ctr"/>
          <a:lstStyle/>
          <a:p>
            <a:pPr marL="0" indent="0">
              <a:buNone/>
            </a:pPr>
            <a:r>
              <a:rPr lang="en-US" sz="900" dirty="0">
                <a:solidFill>
                  <a:srgbClr val="FFFFFF"/>
                </a:solidFill>
                <a:latin typeface="에이투지체 5 Medium" pitchFamily="34" charset="0"/>
                <a:ea typeface="에이투지체 5 Medium" pitchFamily="34" charset="-122"/>
                <a:cs typeface="에이투지체 5 Medium" pitchFamily="34" charset="-120"/>
              </a:rPr>
              <a:t>브랜드 메시지 카드형 배너</a:t>
            </a:r>
            <a:endParaRPr lang="en-US" sz="900" dirty="0"/>
          </a:p>
        </p:txBody>
      </p:sp>
      <p:sp>
        <p:nvSpPr>
          <p:cNvPr id="54" name="Text 52"/>
          <p:cNvSpPr/>
          <p:nvPr/>
        </p:nvSpPr>
        <p:spPr>
          <a:xfrm>
            <a:off x="8823960" y="4626864"/>
            <a:ext cx="731520" cy="402336"/>
          </a:xfrm>
          <a:prstGeom prst="rect">
            <a:avLst/>
          </a:prstGeom>
          <a:noFill/>
          <a:ln/>
        </p:spPr>
        <p:txBody>
          <a:bodyPr wrap="square" lIns="0" tIns="0" rIns="0" bIns="0" rtlCol="0" anchor="ctr"/>
          <a:lstStyle/>
          <a:p>
            <a:pPr marL="0" indent="0" algn="r">
              <a:buNone/>
            </a:pPr>
            <a:r>
              <a:rPr lang="en-US" sz="900" dirty="0">
                <a:solidFill>
                  <a:srgbClr val="C9DBF0"/>
                </a:solidFill>
                <a:latin typeface="에이투지체 4 Regular" pitchFamily="34" charset="0"/>
                <a:ea typeface="에이투지체 4 Regular" pitchFamily="34" charset="-122"/>
                <a:cs typeface="에이투지체 4 Regular" pitchFamily="34" charset="-120"/>
              </a:rPr>
              <a:t>0.93%</a:t>
            </a:r>
            <a:endParaRPr lang="en-US" sz="900" dirty="0"/>
          </a:p>
        </p:txBody>
      </p:sp>
      <p:sp>
        <p:nvSpPr>
          <p:cNvPr id="55" name="Text 53"/>
          <p:cNvSpPr/>
          <p:nvPr/>
        </p:nvSpPr>
        <p:spPr>
          <a:xfrm>
            <a:off x="9646920" y="4626864"/>
            <a:ext cx="822960" cy="402336"/>
          </a:xfrm>
          <a:prstGeom prst="rect">
            <a:avLst/>
          </a:prstGeom>
          <a:noFill/>
          <a:ln/>
        </p:spPr>
        <p:txBody>
          <a:bodyPr wrap="square" lIns="0" tIns="0" rIns="0" bIns="0" rtlCol="0" anchor="ctr"/>
          <a:lstStyle/>
          <a:p>
            <a:pPr marL="0" indent="0" algn="r">
              <a:buNone/>
            </a:pPr>
            <a:r>
              <a:rPr lang="en-US" sz="900" dirty="0">
                <a:solidFill>
                  <a:srgbClr val="C9DBF0"/>
                </a:solidFill>
                <a:latin typeface="에이투지체 4 Regular" pitchFamily="34" charset="0"/>
                <a:ea typeface="에이투지체 4 Regular" pitchFamily="34" charset="-122"/>
                <a:cs typeface="에이투지체 4 Regular" pitchFamily="34" charset="-120"/>
              </a:rPr>
              <a:t>3,701원</a:t>
            </a:r>
            <a:endParaRPr lang="en-US" sz="900" dirty="0"/>
          </a:p>
        </p:txBody>
      </p:sp>
      <p:sp>
        <p:nvSpPr>
          <p:cNvPr id="56" name="Text 54"/>
          <p:cNvSpPr/>
          <p:nvPr/>
        </p:nvSpPr>
        <p:spPr>
          <a:xfrm>
            <a:off x="10561320" y="4626864"/>
            <a:ext cx="731520" cy="402336"/>
          </a:xfrm>
          <a:prstGeom prst="rect">
            <a:avLst/>
          </a:prstGeom>
          <a:noFill/>
          <a:ln/>
        </p:spPr>
        <p:txBody>
          <a:bodyPr wrap="square" lIns="0" tIns="0" rIns="0" bIns="0" rtlCol="0" anchor="ctr"/>
          <a:lstStyle/>
          <a:p>
            <a:pPr marL="0" indent="0" algn="r">
              <a:buNone/>
            </a:pPr>
            <a:r>
              <a:rPr lang="en-US" sz="950" dirty="0">
                <a:solidFill>
                  <a:srgbClr val="6FB0E8"/>
                </a:solidFill>
                <a:latin typeface="에이투지체 8 ExtraBold" pitchFamily="34" charset="0"/>
                <a:ea typeface="에이투지체 8 ExtraBold" pitchFamily="34" charset="-122"/>
                <a:cs typeface="에이투지체 8 ExtraBold" pitchFamily="34" charset="-120"/>
              </a:rPr>
              <a:t>272%</a:t>
            </a:r>
            <a:endParaRPr lang="en-US" sz="950" dirty="0"/>
          </a:p>
        </p:txBody>
      </p:sp>
      <p:sp>
        <p:nvSpPr>
          <p:cNvPr id="57" name="Shape 55"/>
          <p:cNvSpPr/>
          <p:nvPr/>
        </p:nvSpPr>
        <p:spPr>
          <a:xfrm>
            <a:off x="6080760" y="5138928"/>
            <a:ext cx="5257800" cy="365760"/>
          </a:xfrm>
          <a:prstGeom prst="roundRect">
            <a:avLst>
              <a:gd name="adj" fmla="val 20000"/>
            </a:avLst>
          </a:prstGeom>
          <a:solidFill>
            <a:srgbClr val="123A6B"/>
          </a:solidFill>
          <a:ln w="12700">
            <a:solidFill>
              <a:srgbClr val="123A6B"/>
            </a:solidFill>
            <a:prstDash val="solid"/>
          </a:ln>
        </p:spPr>
        <p:txBody>
          <a:bodyPr/>
          <a:lstStyle/>
          <a:p>
            <a:endParaRPr/>
          </a:p>
        </p:txBody>
      </p:sp>
      <p:sp>
        <p:nvSpPr>
          <p:cNvPr id="58" name="Text 56"/>
          <p:cNvSpPr/>
          <p:nvPr/>
        </p:nvSpPr>
        <p:spPr>
          <a:xfrm>
            <a:off x="6245352" y="5138928"/>
            <a:ext cx="4983480" cy="365760"/>
          </a:xfrm>
          <a:prstGeom prst="rect">
            <a:avLst/>
          </a:prstGeom>
          <a:noFill/>
          <a:ln/>
        </p:spPr>
        <p:txBody>
          <a:bodyPr wrap="square" lIns="0" tIns="0" rIns="0" bIns="0" rtlCol="0" anchor="ctr"/>
          <a:lstStyle/>
          <a:p>
            <a:pPr marL="0" indent="0">
              <a:buNone/>
            </a:pPr>
            <a:r>
              <a:rPr lang="en-US" sz="850" dirty="0">
                <a:solidFill>
                  <a:srgbClr val="8FD0FF"/>
                </a:solidFill>
                <a:latin typeface="에이투지체 6 SemiBold" pitchFamily="34" charset="0"/>
                <a:ea typeface="에이투지체 6 SemiBold" pitchFamily="34" charset="-122"/>
                <a:cs typeface="에이투지체 6 SemiBold" pitchFamily="34" charset="-120"/>
              </a:rPr>
              <a:t>이슈 자동 감지, 검수 오류와 소재 반려, 소재 부족 발생 시 즉시 알림</a:t>
            </a:r>
            <a:endParaRPr lang="en-US" sz="850" dirty="0"/>
          </a:p>
        </p:txBody>
      </p:sp>
      <p:sp>
        <p:nvSpPr>
          <p:cNvPr id="59" name="Shape 57"/>
          <p:cNvSpPr/>
          <p:nvPr/>
        </p:nvSpPr>
        <p:spPr>
          <a:xfrm>
            <a:off x="548640" y="6035040"/>
            <a:ext cx="1645920" cy="347472"/>
          </a:xfrm>
          <a:prstGeom prst="roundRect">
            <a:avLst>
              <a:gd name="adj" fmla="val 50000"/>
            </a:avLst>
          </a:prstGeom>
          <a:solidFill>
            <a:srgbClr val="FFFFFF"/>
          </a:solidFill>
          <a:ln w="12700">
            <a:solidFill>
              <a:srgbClr val="004F9F"/>
            </a:solidFill>
            <a:prstDash val="solid"/>
          </a:ln>
        </p:spPr>
        <p:txBody>
          <a:bodyPr/>
          <a:lstStyle/>
          <a:p>
            <a:endParaRPr/>
          </a:p>
        </p:txBody>
      </p:sp>
      <p:sp>
        <p:nvSpPr>
          <p:cNvPr id="60" name="Text 58"/>
          <p:cNvSpPr/>
          <p:nvPr/>
        </p:nvSpPr>
        <p:spPr>
          <a:xfrm>
            <a:off x="548640" y="6035040"/>
            <a:ext cx="1645920" cy="347472"/>
          </a:xfrm>
          <a:prstGeom prst="rect">
            <a:avLst/>
          </a:prstGeom>
          <a:noFill/>
          <a:ln/>
        </p:spPr>
        <p:txBody>
          <a:bodyPr wrap="square" lIns="0" tIns="0" rIns="0" bIns="0" rtlCol="0" anchor="ctr"/>
          <a:lstStyle/>
          <a:p>
            <a:pPr marL="0" indent="0" algn="ctr">
              <a:buNone/>
            </a:pPr>
            <a:r>
              <a:rPr lang="en-US" sz="850" dirty="0">
                <a:solidFill>
                  <a:srgbClr val="004F9F"/>
                </a:solidFill>
                <a:latin typeface="에이투지체 6 SemiBold" pitchFamily="34" charset="0"/>
                <a:ea typeface="에이투지체 6 SemiBold" pitchFamily="34" charset="-122"/>
                <a:cs typeface="에이투지체 6 SemiBold" pitchFamily="34" charset="-120"/>
              </a:rPr>
              <a:t>실시간 성과 모니터링</a:t>
            </a:r>
            <a:endParaRPr lang="en-US" sz="850" dirty="0"/>
          </a:p>
        </p:txBody>
      </p:sp>
      <p:sp>
        <p:nvSpPr>
          <p:cNvPr id="61" name="Shape 59"/>
          <p:cNvSpPr/>
          <p:nvPr/>
        </p:nvSpPr>
        <p:spPr>
          <a:xfrm>
            <a:off x="2331720" y="6035040"/>
            <a:ext cx="1645920" cy="347472"/>
          </a:xfrm>
          <a:prstGeom prst="roundRect">
            <a:avLst>
              <a:gd name="adj" fmla="val 50000"/>
            </a:avLst>
          </a:prstGeom>
          <a:solidFill>
            <a:srgbClr val="FFFFFF"/>
          </a:solidFill>
          <a:ln w="12700">
            <a:solidFill>
              <a:srgbClr val="004F9F"/>
            </a:solidFill>
            <a:prstDash val="solid"/>
          </a:ln>
        </p:spPr>
        <p:txBody>
          <a:bodyPr/>
          <a:lstStyle/>
          <a:p>
            <a:endParaRPr/>
          </a:p>
        </p:txBody>
      </p:sp>
      <p:sp>
        <p:nvSpPr>
          <p:cNvPr id="62" name="Text 60"/>
          <p:cNvSpPr/>
          <p:nvPr/>
        </p:nvSpPr>
        <p:spPr>
          <a:xfrm>
            <a:off x="2331720" y="6035040"/>
            <a:ext cx="1645920" cy="347472"/>
          </a:xfrm>
          <a:prstGeom prst="rect">
            <a:avLst/>
          </a:prstGeom>
          <a:noFill/>
          <a:ln/>
        </p:spPr>
        <p:txBody>
          <a:bodyPr wrap="square" lIns="0" tIns="0" rIns="0" bIns="0" rtlCol="0" anchor="ctr"/>
          <a:lstStyle/>
          <a:p>
            <a:pPr marL="0" indent="0" algn="ctr">
              <a:buNone/>
            </a:pPr>
            <a:r>
              <a:rPr lang="en-US" sz="850" dirty="0">
                <a:solidFill>
                  <a:srgbClr val="004F9F"/>
                </a:solidFill>
                <a:latin typeface="에이투지체 6 SemiBold" pitchFamily="34" charset="0"/>
                <a:ea typeface="에이투지체 6 SemiBold" pitchFamily="34" charset="-122"/>
                <a:cs typeface="에이투지체 6 SemiBold" pitchFamily="34" charset="-120"/>
              </a:rPr>
              <a:t>이슈 자동 감지</a:t>
            </a:r>
            <a:endParaRPr lang="en-US" sz="850" dirty="0"/>
          </a:p>
        </p:txBody>
      </p:sp>
      <p:sp>
        <p:nvSpPr>
          <p:cNvPr id="63" name="Shape 61"/>
          <p:cNvSpPr/>
          <p:nvPr/>
        </p:nvSpPr>
        <p:spPr>
          <a:xfrm>
            <a:off x="4114800" y="6035040"/>
            <a:ext cx="1645920" cy="347472"/>
          </a:xfrm>
          <a:prstGeom prst="roundRect">
            <a:avLst>
              <a:gd name="adj" fmla="val 50000"/>
            </a:avLst>
          </a:prstGeom>
          <a:solidFill>
            <a:srgbClr val="FFFFFF"/>
          </a:solidFill>
          <a:ln w="12700">
            <a:solidFill>
              <a:srgbClr val="004F9F"/>
            </a:solidFill>
            <a:prstDash val="solid"/>
          </a:ln>
        </p:spPr>
        <p:txBody>
          <a:bodyPr/>
          <a:lstStyle/>
          <a:p>
            <a:endParaRPr/>
          </a:p>
        </p:txBody>
      </p:sp>
      <p:sp>
        <p:nvSpPr>
          <p:cNvPr id="64" name="Text 62"/>
          <p:cNvSpPr/>
          <p:nvPr/>
        </p:nvSpPr>
        <p:spPr>
          <a:xfrm>
            <a:off x="4114800" y="6035040"/>
            <a:ext cx="1645920" cy="347472"/>
          </a:xfrm>
          <a:prstGeom prst="rect">
            <a:avLst/>
          </a:prstGeom>
          <a:noFill/>
          <a:ln/>
        </p:spPr>
        <p:txBody>
          <a:bodyPr wrap="square" lIns="0" tIns="0" rIns="0" bIns="0" rtlCol="0" anchor="ctr"/>
          <a:lstStyle/>
          <a:p>
            <a:pPr marL="0" indent="0" algn="ctr">
              <a:buNone/>
            </a:pPr>
            <a:r>
              <a:rPr lang="en-US" sz="850" dirty="0">
                <a:solidFill>
                  <a:srgbClr val="004F9F"/>
                </a:solidFill>
                <a:latin typeface="에이투지체 6 SemiBold" pitchFamily="34" charset="0"/>
                <a:ea typeface="에이투지체 6 SemiBold" pitchFamily="34" charset="-122"/>
                <a:cs typeface="에이투지체 6 SemiBold" pitchFamily="34" charset="-120"/>
              </a:rPr>
              <a:t>데이터 기반 의사결정</a:t>
            </a:r>
            <a:endParaRPr lang="en-US" sz="850" dirty="0"/>
          </a:p>
        </p:txBody>
      </p:sp>
      <p:sp>
        <p:nvSpPr>
          <p:cNvPr id="65" name="Text 63"/>
          <p:cNvSpPr/>
          <p:nvPr/>
        </p:nvSpPr>
        <p:spPr>
          <a:xfrm>
            <a:off x="5806440" y="6089904"/>
            <a:ext cx="5806440" cy="237744"/>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4 Regular" pitchFamily="34" charset="0"/>
                <a:ea typeface="에이투지체 4 Regular" pitchFamily="34" charset="-122"/>
                <a:cs typeface="에이투지체 4 Regular" pitchFamily="34" charset="-120"/>
              </a:rPr>
              <a:t>화면은 이해를 돕기 위한 예시 목업으로, 실제 운영 화면을 기반으로 재구성했습니다</a:t>
            </a:r>
            <a:endParaRPr lang="en-US" sz="8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6 · 링크프라이스 강점</a:t>
            </a:r>
            <a:endParaRPr lang="en-US" sz="9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자체 솔루션 LPS로 제품 피드를 직접 생성하고</a:t>
            </a:r>
            <a:endParaRPr lang="en-US" sz="1900" dirty="0"/>
          </a:p>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조건별 피드 세트로 메타 연동을 최적화합니다</a:t>
            </a:r>
            <a:endParaRPr lang="en-US" sz="1900" dirty="0"/>
          </a:p>
        </p:txBody>
      </p:sp>
      <p:sp>
        <p:nvSpPr>
          <p:cNvPr id="4" name="Text 2"/>
          <p:cNvSpPr/>
          <p:nvPr/>
        </p:nvSpPr>
        <p:spPr>
          <a:xfrm>
            <a:off x="548640" y="1517904"/>
            <a:ext cx="11064240" cy="365760"/>
          </a:xfrm>
          <a:prstGeom prst="rect">
            <a:avLst/>
          </a:prstGeom>
          <a:noFill/>
          <a:ln/>
        </p:spPr>
        <p:txBody>
          <a:bodyPr wrap="square" lIns="0" tIns="0" rIns="0" bIns="0" rtlCol="0" anchor="ctr"/>
          <a:lstStyle/>
          <a:p>
            <a:pPr marL="0" indent="0">
              <a:buNone/>
            </a:pPr>
            <a:r>
              <a:rPr lang="en-US" sz="1100" dirty="0">
                <a:solidFill>
                  <a:srgbClr val="5C5C5C"/>
                </a:solidFill>
                <a:latin typeface="에이투지체 5 Medium" pitchFamily="34" charset="0"/>
                <a:ea typeface="에이투지체 5 Medium" pitchFamily="34" charset="-122"/>
                <a:cs typeface="에이투지체 5 Medium" pitchFamily="34" charset="-120"/>
              </a:rPr>
              <a:t>메타 제품 피드 요청부터 템플릿, 조건 기반 생성과 관리까지</a:t>
            </a:r>
            <a:endParaRPr lang="en-US" sz="1100" dirty="0"/>
          </a:p>
        </p:txBody>
      </p:sp>
      <p:sp>
        <p:nvSpPr>
          <p:cNvPr id="5" name="Text 3"/>
          <p:cNvSpPr/>
          <p:nvPr/>
        </p:nvSpPr>
        <p:spPr>
          <a:xfrm>
            <a:off x="548640" y="6473952"/>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6" name="Text 4"/>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7" name="Text 5"/>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t>83</a:t>
            </a:r>
          </a:p>
        </p:txBody>
      </p:sp>
      <p:sp>
        <p:nvSpPr>
          <p:cNvPr id="8" name="Shape 6"/>
          <p:cNvSpPr/>
          <p:nvPr/>
        </p:nvSpPr>
        <p:spPr>
          <a:xfrm>
            <a:off x="548640" y="1965960"/>
            <a:ext cx="3611880" cy="384048"/>
          </a:xfrm>
          <a:prstGeom prst="roundRect">
            <a:avLst>
              <a:gd name="adj" fmla="val 19048"/>
            </a:avLst>
          </a:prstGeom>
          <a:solidFill>
            <a:srgbClr val="0E3A72"/>
          </a:solidFill>
          <a:ln w="12700">
            <a:solidFill>
              <a:srgbClr val="0E3A72"/>
            </a:solidFill>
            <a:prstDash val="solid"/>
          </a:ln>
        </p:spPr>
        <p:txBody>
          <a:bodyPr/>
          <a:lstStyle/>
          <a:p>
            <a:endParaRPr/>
          </a:p>
        </p:txBody>
      </p:sp>
      <p:sp>
        <p:nvSpPr>
          <p:cNvPr id="9" name="Text 7"/>
          <p:cNvSpPr/>
          <p:nvPr/>
        </p:nvSpPr>
        <p:spPr>
          <a:xfrm>
            <a:off x="731520" y="1965960"/>
            <a:ext cx="3291840" cy="384048"/>
          </a:xfrm>
          <a:prstGeom prst="rect">
            <a:avLst/>
          </a:prstGeom>
          <a:noFill/>
          <a:ln/>
        </p:spPr>
        <p:txBody>
          <a:bodyPr wrap="square" lIns="0" tIns="0" rIns="0" bIns="0" rtlCol="0" anchor="ctr"/>
          <a:lstStyle/>
          <a:p>
            <a:pPr marL="0" indent="0">
              <a:buNone/>
            </a:pPr>
            <a:r>
              <a:rPr lang="en-US" sz="950" dirty="0">
                <a:solidFill>
                  <a:srgbClr val="FFFFFF"/>
                </a:solidFill>
                <a:latin typeface="에이투지체 6 SemiBold" pitchFamily="34" charset="0"/>
                <a:ea typeface="에이투지체 6 SemiBold" pitchFamily="34" charset="-122"/>
                <a:cs typeface="에이투지체 6 SemiBold" pitchFamily="34" charset="-120"/>
              </a:rPr>
              <a:t>SECTION 01   메타 제품 피드 요청</a:t>
            </a:r>
            <a:endParaRPr lang="en-US" sz="950" dirty="0"/>
          </a:p>
        </p:txBody>
      </p:sp>
      <p:sp>
        <p:nvSpPr>
          <p:cNvPr id="10" name="Shape 8"/>
          <p:cNvSpPr/>
          <p:nvPr/>
        </p:nvSpPr>
        <p:spPr>
          <a:xfrm>
            <a:off x="548640" y="2487168"/>
            <a:ext cx="2103120" cy="310896"/>
          </a:xfrm>
          <a:prstGeom prst="roundRect">
            <a:avLst>
              <a:gd name="adj" fmla="val 50000"/>
            </a:avLst>
          </a:prstGeom>
          <a:solidFill>
            <a:srgbClr val="FFFFFF"/>
          </a:solidFill>
          <a:ln w="12700">
            <a:solidFill>
              <a:srgbClr val="004F9F"/>
            </a:solidFill>
            <a:prstDash val="solid"/>
          </a:ln>
        </p:spPr>
        <p:txBody>
          <a:bodyPr/>
          <a:lstStyle/>
          <a:p>
            <a:endParaRPr/>
          </a:p>
        </p:txBody>
      </p:sp>
      <p:sp>
        <p:nvSpPr>
          <p:cNvPr id="11" name="Text 9"/>
          <p:cNvSpPr/>
          <p:nvPr/>
        </p:nvSpPr>
        <p:spPr>
          <a:xfrm>
            <a:off x="548640" y="2487168"/>
            <a:ext cx="2103120" cy="310896"/>
          </a:xfrm>
          <a:prstGeom prst="rect">
            <a:avLst/>
          </a:prstGeom>
          <a:noFill/>
          <a:ln/>
        </p:spPr>
        <p:txBody>
          <a:bodyPr wrap="square" lIns="0" tIns="0" rIns="0" bIns="0" rtlCol="0" anchor="ctr"/>
          <a:lstStyle/>
          <a:p>
            <a:pPr marL="0" indent="0" algn="ctr">
              <a:buNone/>
            </a:pPr>
            <a:r>
              <a:rPr lang="en-US" sz="850" dirty="0">
                <a:solidFill>
                  <a:srgbClr val="004F9F"/>
                </a:solidFill>
                <a:latin typeface="에이투지체 6 SemiBold" pitchFamily="34" charset="0"/>
                <a:ea typeface="에이투지체 6 SemiBold" pitchFamily="34" charset="-122"/>
                <a:cs typeface="에이투지체 6 SemiBold" pitchFamily="34" charset="-120"/>
              </a:rPr>
              <a:t>자사 솔루션 LPS</a:t>
            </a:r>
            <a:endParaRPr lang="en-US" sz="850" dirty="0"/>
          </a:p>
        </p:txBody>
      </p:sp>
      <p:sp>
        <p:nvSpPr>
          <p:cNvPr id="12" name="Text 10"/>
          <p:cNvSpPr/>
          <p:nvPr/>
        </p:nvSpPr>
        <p:spPr>
          <a:xfrm>
            <a:off x="548640" y="2926080"/>
            <a:ext cx="3611880" cy="502920"/>
          </a:xfrm>
          <a:prstGeom prst="rect">
            <a:avLst/>
          </a:prstGeom>
          <a:noFill/>
          <a:ln/>
        </p:spPr>
        <p:txBody>
          <a:bodyPr wrap="square" lIns="0" tIns="0" rIns="0" bIns="0" rtlCol="0" anchor="ctr"/>
          <a:lstStyle/>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링크프라이스 자체 솔루션 LPS를 통해</a:t>
            </a:r>
            <a:endParaRPr lang="en-US" sz="950" dirty="0"/>
          </a:p>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제품 피드를 요청합니다</a:t>
            </a:r>
            <a:endParaRPr lang="en-US" sz="950" dirty="0"/>
          </a:p>
        </p:txBody>
      </p:sp>
      <p:sp>
        <p:nvSpPr>
          <p:cNvPr id="13" name="Text 11"/>
          <p:cNvSpPr/>
          <p:nvPr/>
        </p:nvSpPr>
        <p:spPr>
          <a:xfrm>
            <a:off x="4133088" y="4297680"/>
            <a:ext cx="274320" cy="457200"/>
          </a:xfrm>
          <a:prstGeom prst="rect">
            <a:avLst/>
          </a:prstGeom>
          <a:noFill/>
          <a:ln/>
        </p:spPr>
        <p:txBody>
          <a:bodyPr wrap="square" lIns="0" tIns="0" rIns="0" bIns="0" rtlCol="0" anchor="ctr"/>
          <a:lstStyle/>
          <a:p>
            <a:pPr marL="0" indent="0" algn="ctr">
              <a:buNone/>
            </a:pPr>
            <a:r>
              <a:rPr lang="en-US" sz="1800" dirty="0">
                <a:solidFill>
                  <a:srgbClr val="1B74C8"/>
                </a:solidFill>
                <a:latin typeface="에이투지체 8 ExtraBold" pitchFamily="34" charset="0"/>
                <a:ea typeface="에이투지체 8 ExtraBold" pitchFamily="34" charset="-122"/>
                <a:cs typeface="에이투지체 8 ExtraBold" pitchFamily="34" charset="-120"/>
              </a:rPr>
              <a:t>›</a:t>
            </a:r>
            <a:endParaRPr lang="en-US" sz="1800" dirty="0"/>
          </a:p>
        </p:txBody>
      </p:sp>
      <p:sp>
        <p:nvSpPr>
          <p:cNvPr id="14" name="Shape 12"/>
          <p:cNvSpPr/>
          <p:nvPr/>
        </p:nvSpPr>
        <p:spPr>
          <a:xfrm>
            <a:off x="4361688" y="1965960"/>
            <a:ext cx="3611880" cy="384048"/>
          </a:xfrm>
          <a:prstGeom prst="roundRect">
            <a:avLst>
              <a:gd name="adj" fmla="val 19048"/>
            </a:avLst>
          </a:prstGeom>
          <a:solidFill>
            <a:srgbClr val="0E3A72"/>
          </a:solidFill>
          <a:ln w="12700">
            <a:solidFill>
              <a:srgbClr val="0E3A72"/>
            </a:solidFill>
            <a:prstDash val="solid"/>
          </a:ln>
        </p:spPr>
        <p:txBody>
          <a:bodyPr/>
          <a:lstStyle/>
          <a:p>
            <a:endParaRPr/>
          </a:p>
        </p:txBody>
      </p:sp>
      <p:sp>
        <p:nvSpPr>
          <p:cNvPr id="15" name="Text 13"/>
          <p:cNvSpPr/>
          <p:nvPr/>
        </p:nvSpPr>
        <p:spPr>
          <a:xfrm>
            <a:off x="4544568" y="1965960"/>
            <a:ext cx="3291840" cy="384048"/>
          </a:xfrm>
          <a:prstGeom prst="rect">
            <a:avLst/>
          </a:prstGeom>
          <a:noFill/>
          <a:ln/>
        </p:spPr>
        <p:txBody>
          <a:bodyPr wrap="square" lIns="0" tIns="0" rIns="0" bIns="0" rtlCol="0" anchor="ctr"/>
          <a:lstStyle/>
          <a:p>
            <a:pPr marL="0" indent="0">
              <a:buNone/>
            </a:pPr>
            <a:r>
              <a:rPr lang="en-US" sz="950" dirty="0">
                <a:solidFill>
                  <a:srgbClr val="FFFFFF"/>
                </a:solidFill>
                <a:latin typeface="에이투지체 6 SemiBold" pitchFamily="34" charset="0"/>
                <a:ea typeface="에이투지체 6 SemiBold" pitchFamily="34" charset="-122"/>
                <a:cs typeface="에이투지체 6 SemiBold" pitchFamily="34" charset="-120"/>
              </a:rPr>
              <a:t>SECTION 02   메타 연동 피드 생성, 템플릿</a:t>
            </a:r>
            <a:endParaRPr lang="en-US" sz="950" dirty="0"/>
          </a:p>
        </p:txBody>
      </p:sp>
      <p:sp>
        <p:nvSpPr>
          <p:cNvPr id="16" name="Shape 14"/>
          <p:cNvSpPr/>
          <p:nvPr/>
        </p:nvSpPr>
        <p:spPr>
          <a:xfrm>
            <a:off x="4361688" y="2487168"/>
            <a:ext cx="2103120" cy="310896"/>
          </a:xfrm>
          <a:prstGeom prst="roundRect">
            <a:avLst>
              <a:gd name="adj" fmla="val 50000"/>
            </a:avLst>
          </a:prstGeom>
          <a:solidFill>
            <a:srgbClr val="FFFFFF"/>
          </a:solidFill>
          <a:ln w="12700">
            <a:solidFill>
              <a:srgbClr val="004F9F"/>
            </a:solidFill>
            <a:prstDash val="solid"/>
          </a:ln>
        </p:spPr>
        <p:txBody>
          <a:bodyPr/>
          <a:lstStyle/>
          <a:p>
            <a:endParaRPr/>
          </a:p>
        </p:txBody>
      </p:sp>
      <p:sp>
        <p:nvSpPr>
          <p:cNvPr id="17" name="Text 15"/>
          <p:cNvSpPr/>
          <p:nvPr/>
        </p:nvSpPr>
        <p:spPr>
          <a:xfrm>
            <a:off x="4361688" y="2487168"/>
            <a:ext cx="2103120" cy="310896"/>
          </a:xfrm>
          <a:prstGeom prst="rect">
            <a:avLst/>
          </a:prstGeom>
          <a:noFill/>
          <a:ln/>
        </p:spPr>
        <p:txBody>
          <a:bodyPr wrap="square" lIns="0" tIns="0" rIns="0" bIns="0" rtlCol="0" anchor="ctr"/>
          <a:lstStyle/>
          <a:p>
            <a:pPr marL="0" indent="0" algn="ctr">
              <a:buNone/>
            </a:pPr>
            <a:r>
              <a:rPr lang="en-US" sz="850" dirty="0">
                <a:solidFill>
                  <a:srgbClr val="004F9F"/>
                </a:solidFill>
                <a:latin typeface="에이투지체 6 SemiBold" pitchFamily="34" charset="0"/>
                <a:ea typeface="에이투지체 6 SemiBold" pitchFamily="34" charset="-122"/>
                <a:cs typeface="에이투지체 6 SemiBold" pitchFamily="34" charset="-120"/>
              </a:rPr>
              <a:t>템플릿 / 조건 조합 자동 생성</a:t>
            </a:r>
            <a:endParaRPr lang="en-US" sz="850" dirty="0"/>
          </a:p>
        </p:txBody>
      </p:sp>
      <p:sp>
        <p:nvSpPr>
          <p:cNvPr id="18" name="Text 16"/>
          <p:cNvSpPr/>
          <p:nvPr/>
        </p:nvSpPr>
        <p:spPr>
          <a:xfrm>
            <a:off x="4361688" y="2926080"/>
            <a:ext cx="3611880" cy="502920"/>
          </a:xfrm>
          <a:prstGeom prst="rect">
            <a:avLst/>
          </a:prstGeom>
          <a:noFill/>
          <a:ln/>
        </p:spPr>
        <p:txBody>
          <a:bodyPr wrap="square" lIns="0" tIns="0" rIns="0" bIns="0" rtlCol="0" anchor="ctr"/>
          <a:lstStyle/>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다양한 조건 조합으로 목적에 맞는</a:t>
            </a:r>
            <a:endParaRPr lang="en-US" sz="950" dirty="0"/>
          </a:p>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피드 세트를 자동 생성합니다</a:t>
            </a:r>
            <a:endParaRPr lang="en-US" sz="950" dirty="0"/>
          </a:p>
        </p:txBody>
      </p:sp>
      <p:sp>
        <p:nvSpPr>
          <p:cNvPr id="19" name="Text 17"/>
          <p:cNvSpPr/>
          <p:nvPr/>
        </p:nvSpPr>
        <p:spPr>
          <a:xfrm>
            <a:off x="7946136" y="4297680"/>
            <a:ext cx="274320" cy="457200"/>
          </a:xfrm>
          <a:prstGeom prst="rect">
            <a:avLst/>
          </a:prstGeom>
          <a:noFill/>
          <a:ln/>
        </p:spPr>
        <p:txBody>
          <a:bodyPr wrap="square" lIns="0" tIns="0" rIns="0" bIns="0" rtlCol="0" anchor="ctr"/>
          <a:lstStyle/>
          <a:p>
            <a:pPr marL="0" indent="0" algn="ctr">
              <a:buNone/>
            </a:pPr>
            <a:r>
              <a:rPr lang="en-US" sz="1800" dirty="0">
                <a:solidFill>
                  <a:srgbClr val="1B74C8"/>
                </a:solidFill>
                <a:latin typeface="에이투지체 8 ExtraBold" pitchFamily="34" charset="0"/>
                <a:ea typeface="에이투지체 8 ExtraBold" pitchFamily="34" charset="-122"/>
                <a:cs typeface="에이투지체 8 ExtraBold" pitchFamily="34" charset="-120"/>
              </a:rPr>
              <a:t>›</a:t>
            </a:r>
            <a:endParaRPr lang="en-US" sz="1800" dirty="0"/>
          </a:p>
        </p:txBody>
      </p:sp>
      <p:sp>
        <p:nvSpPr>
          <p:cNvPr id="20" name="Shape 18"/>
          <p:cNvSpPr/>
          <p:nvPr/>
        </p:nvSpPr>
        <p:spPr>
          <a:xfrm>
            <a:off x="8174736" y="1965960"/>
            <a:ext cx="3611880" cy="384048"/>
          </a:xfrm>
          <a:prstGeom prst="roundRect">
            <a:avLst>
              <a:gd name="adj" fmla="val 19048"/>
            </a:avLst>
          </a:prstGeom>
          <a:solidFill>
            <a:srgbClr val="0E3A72"/>
          </a:solidFill>
          <a:ln w="12700">
            <a:solidFill>
              <a:srgbClr val="0E3A72"/>
            </a:solidFill>
            <a:prstDash val="solid"/>
          </a:ln>
        </p:spPr>
        <p:txBody>
          <a:bodyPr/>
          <a:lstStyle/>
          <a:p>
            <a:endParaRPr/>
          </a:p>
        </p:txBody>
      </p:sp>
      <p:sp>
        <p:nvSpPr>
          <p:cNvPr id="21" name="Text 19"/>
          <p:cNvSpPr/>
          <p:nvPr/>
        </p:nvSpPr>
        <p:spPr>
          <a:xfrm>
            <a:off x="8357616" y="1965960"/>
            <a:ext cx="3291840" cy="384048"/>
          </a:xfrm>
          <a:prstGeom prst="rect">
            <a:avLst/>
          </a:prstGeom>
          <a:noFill/>
          <a:ln/>
        </p:spPr>
        <p:txBody>
          <a:bodyPr wrap="square" lIns="0" tIns="0" rIns="0" bIns="0" rtlCol="0" anchor="ctr"/>
          <a:lstStyle/>
          <a:p>
            <a:pPr marL="0" indent="0">
              <a:buNone/>
            </a:pPr>
            <a:r>
              <a:rPr lang="en-US" sz="950" dirty="0">
                <a:solidFill>
                  <a:srgbClr val="FFFFFF"/>
                </a:solidFill>
                <a:latin typeface="에이투지체 6 SemiBold" pitchFamily="34" charset="0"/>
                <a:ea typeface="에이투지체 6 SemiBold" pitchFamily="34" charset="-122"/>
                <a:cs typeface="에이투지체 6 SemiBold" pitchFamily="34" charset="-120"/>
              </a:rPr>
              <a:t>SECTION 03   메타 연동 피드 생성, 조건</a:t>
            </a:r>
            <a:endParaRPr lang="en-US" sz="950" dirty="0"/>
          </a:p>
        </p:txBody>
      </p:sp>
      <p:sp>
        <p:nvSpPr>
          <p:cNvPr id="22" name="Shape 20"/>
          <p:cNvSpPr/>
          <p:nvPr/>
        </p:nvSpPr>
        <p:spPr>
          <a:xfrm>
            <a:off x="8174736" y="2487168"/>
            <a:ext cx="2103120" cy="310896"/>
          </a:xfrm>
          <a:prstGeom prst="roundRect">
            <a:avLst>
              <a:gd name="adj" fmla="val 50000"/>
            </a:avLst>
          </a:prstGeom>
          <a:solidFill>
            <a:srgbClr val="FFFFFF"/>
          </a:solidFill>
          <a:ln w="12700">
            <a:solidFill>
              <a:srgbClr val="004F9F"/>
            </a:solidFill>
            <a:prstDash val="solid"/>
          </a:ln>
        </p:spPr>
        <p:txBody>
          <a:bodyPr/>
          <a:lstStyle/>
          <a:p>
            <a:endParaRPr/>
          </a:p>
        </p:txBody>
      </p:sp>
      <p:sp>
        <p:nvSpPr>
          <p:cNvPr id="23" name="Text 21"/>
          <p:cNvSpPr/>
          <p:nvPr/>
        </p:nvSpPr>
        <p:spPr>
          <a:xfrm>
            <a:off x="8174736" y="2487168"/>
            <a:ext cx="2103120" cy="310896"/>
          </a:xfrm>
          <a:prstGeom prst="rect">
            <a:avLst/>
          </a:prstGeom>
          <a:noFill/>
          <a:ln/>
        </p:spPr>
        <p:txBody>
          <a:bodyPr wrap="square" lIns="0" tIns="0" rIns="0" bIns="0" rtlCol="0" anchor="ctr"/>
          <a:lstStyle/>
          <a:p>
            <a:pPr marL="0" indent="0" algn="ctr">
              <a:buNone/>
            </a:pPr>
            <a:r>
              <a:rPr lang="en-US" sz="850" dirty="0">
                <a:solidFill>
                  <a:srgbClr val="004F9F"/>
                </a:solidFill>
                <a:latin typeface="에이투지체 6 SemiBold" pitchFamily="34" charset="0"/>
                <a:ea typeface="에이투지체 6 SemiBold" pitchFamily="34" charset="-122"/>
                <a:cs typeface="에이투지체 6 SemiBold" pitchFamily="34" charset="-120"/>
              </a:rPr>
              <a:t>조건 기반 피드 세트 관리</a:t>
            </a:r>
            <a:endParaRPr lang="en-US" sz="850" dirty="0"/>
          </a:p>
        </p:txBody>
      </p:sp>
      <p:sp>
        <p:nvSpPr>
          <p:cNvPr id="24" name="Text 22"/>
          <p:cNvSpPr/>
          <p:nvPr/>
        </p:nvSpPr>
        <p:spPr>
          <a:xfrm>
            <a:off x="8174736" y="2926080"/>
            <a:ext cx="3611880" cy="502920"/>
          </a:xfrm>
          <a:prstGeom prst="rect">
            <a:avLst/>
          </a:prstGeom>
          <a:noFill/>
          <a:ln/>
        </p:spPr>
        <p:txBody>
          <a:bodyPr wrap="square" lIns="0" tIns="0" rIns="0" bIns="0" rtlCol="0" anchor="ctr"/>
          <a:lstStyle/>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카테고리, 상품정보, 장바구니 등</a:t>
            </a:r>
            <a:endParaRPr lang="en-US" sz="950" dirty="0"/>
          </a:p>
          <a:p>
            <a:pPr marL="0" indent="0">
              <a:lnSpc>
                <a:spcPts val="1300"/>
              </a:lnSpc>
              <a:buNone/>
            </a:pPr>
            <a:r>
              <a:rPr lang="en-US" sz="950" dirty="0">
                <a:solidFill>
                  <a:srgbClr val="5C5C5C"/>
                </a:solidFill>
                <a:latin typeface="에이투지체 4 Regular" pitchFamily="34" charset="0"/>
                <a:ea typeface="에이투지체 4 Regular" pitchFamily="34" charset="-122"/>
                <a:cs typeface="에이투지체 4 Regular" pitchFamily="34" charset="-120"/>
              </a:rPr>
              <a:t>조건별 피드 관리로 최적화 운영합니다</a:t>
            </a:r>
            <a:endParaRPr lang="en-US" sz="950" dirty="0"/>
          </a:p>
        </p:txBody>
      </p:sp>
      <p:sp>
        <p:nvSpPr>
          <p:cNvPr id="25" name="Shape 23"/>
          <p:cNvSpPr/>
          <p:nvPr/>
        </p:nvSpPr>
        <p:spPr>
          <a:xfrm>
            <a:off x="548640" y="3566160"/>
            <a:ext cx="3611880" cy="2697480"/>
          </a:xfrm>
          <a:prstGeom prst="roundRect">
            <a:avLst>
              <a:gd name="adj" fmla="val 2712"/>
            </a:avLst>
          </a:prstGeom>
          <a:solidFill>
            <a:srgbClr val="F5F5F5"/>
          </a:solidFill>
          <a:ln w="12700">
            <a:solidFill>
              <a:srgbClr val="F5F5F5"/>
            </a:solidFill>
            <a:prstDash val="solid"/>
          </a:ln>
        </p:spPr>
        <p:txBody>
          <a:bodyPr/>
          <a:lstStyle/>
          <a:p>
            <a:endParaRPr/>
          </a:p>
        </p:txBody>
      </p:sp>
      <p:pic>
        <p:nvPicPr>
          <p:cNvPr id="26" name="Image 0" descr="ext/s19_01.png"/>
          <p:cNvPicPr>
            <a:picLocks noChangeAspect="1"/>
          </p:cNvPicPr>
          <p:nvPr/>
        </p:nvPicPr>
        <p:blipFill>
          <a:blip r:embed="rId2"/>
          <a:stretch>
            <a:fillRect/>
          </a:stretch>
        </p:blipFill>
        <p:spPr>
          <a:xfrm>
            <a:off x="713232" y="3730752"/>
            <a:ext cx="2651760" cy="1773936"/>
          </a:xfrm>
          <a:prstGeom prst="rect">
            <a:avLst/>
          </a:prstGeom>
        </p:spPr>
      </p:pic>
      <p:pic>
        <p:nvPicPr>
          <p:cNvPr id="27" name="Image 1" descr="ext/s19_02.png"/>
          <p:cNvPicPr>
            <a:picLocks noChangeAspect="1"/>
          </p:cNvPicPr>
          <p:nvPr/>
        </p:nvPicPr>
        <p:blipFill>
          <a:blip r:embed="rId3"/>
          <a:stretch>
            <a:fillRect/>
          </a:stretch>
        </p:blipFill>
        <p:spPr>
          <a:xfrm>
            <a:off x="1371600" y="4663440"/>
            <a:ext cx="2651760" cy="1453896"/>
          </a:xfrm>
          <a:prstGeom prst="rect">
            <a:avLst/>
          </a:prstGeom>
        </p:spPr>
      </p:pic>
      <p:sp>
        <p:nvSpPr>
          <p:cNvPr id="28" name="Shape 24"/>
          <p:cNvSpPr/>
          <p:nvPr/>
        </p:nvSpPr>
        <p:spPr>
          <a:xfrm>
            <a:off x="4361688" y="3566160"/>
            <a:ext cx="3611880" cy="2697480"/>
          </a:xfrm>
          <a:prstGeom prst="roundRect">
            <a:avLst>
              <a:gd name="adj" fmla="val 2712"/>
            </a:avLst>
          </a:prstGeom>
          <a:solidFill>
            <a:srgbClr val="F5F5F5"/>
          </a:solidFill>
          <a:ln w="12700">
            <a:solidFill>
              <a:srgbClr val="F5F5F5"/>
            </a:solidFill>
            <a:prstDash val="solid"/>
          </a:ln>
        </p:spPr>
        <p:txBody>
          <a:bodyPr/>
          <a:lstStyle/>
          <a:p>
            <a:endParaRPr/>
          </a:p>
        </p:txBody>
      </p:sp>
      <p:pic>
        <p:nvPicPr>
          <p:cNvPr id="29" name="Image 2" descr="ext/s19_03.png"/>
          <p:cNvPicPr>
            <a:picLocks noChangeAspect="1"/>
          </p:cNvPicPr>
          <p:nvPr/>
        </p:nvPicPr>
        <p:blipFill>
          <a:blip r:embed="rId4"/>
          <a:stretch>
            <a:fillRect/>
          </a:stretch>
        </p:blipFill>
        <p:spPr>
          <a:xfrm>
            <a:off x="4864608" y="3703320"/>
            <a:ext cx="2606040" cy="2478024"/>
          </a:xfrm>
          <a:prstGeom prst="rect">
            <a:avLst/>
          </a:prstGeom>
        </p:spPr>
      </p:pic>
      <p:sp>
        <p:nvSpPr>
          <p:cNvPr id="30" name="Shape 25"/>
          <p:cNvSpPr/>
          <p:nvPr/>
        </p:nvSpPr>
        <p:spPr>
          <a:xfrm>
            <a:off x="8174736" y="3566160"/>
            <a:ext cx="3611880" cy="2697480"/>
          </a:xfrm>
          <a:prstGeom prst="roundRect">
            <a:avLst>
              <a:gd name="adj" fmla="val 2712"/>
            </a:avLst>
          </a:prstGeom>
          <a:solidFill>
            <a:srgbClr val="F5F5F5"/>
          </a:solidFill>
          <a:ln w="12700">
            <a:solidFill>
              <a:srgbClr val="F5F5F5"/>
            </a:solidFill>
            <a:prstDash val="solid"/>
          </a:ln>
        </p:spPr>
        <p:txBody>
          <a:bodyPr/>
          <a:lstStyle/>
          <a:p>
            <a:endParaRPr/>
          </a:p>
        </p:txBody>
      </p:sp>
      <p:pic>
        <p:nvPicPr>
          <p:cNvPr id="31" name="Image 3" descr="ext/s19_04.png"/>
          <p:cNvPicPr>
            <a:picLocks noChangeAspect="1"/>
          </p:cNvPicPr>
          <p:nvPr/>
        </p:nvPicPr>
        <p:blipFill>
          <a:blip r:embed="rId5"/>
          <a:stretch>
            <a:fillRect/>
          </a:stretch>
        </p:blipFill>
        <p:spPr>
          <a:xfrm>
            <a:off x="8494776" y="3767328"/>
            <a:ext cx="2971800" cy="2368296"/>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47472"/>
            <a:ext cx="8229600" cy="274320"/>
          </a:xfrm>
          <a:prstGeom prst="rect">
            <a:avLst/>
          </a:prstGeom>
          <a:noFill/>
          <a:ln/>
        </p:spPr>
        <p:txBody>
          <a:bodyPr wrap="square" lIns="0" tIns="0" rIns="0" bIns="0" rtlCol="0" anchor="ctr"/>
          <a:lstStyle/>
          <a:p>
            <a:pPr marL="0" indent="0">
              <a:buNone/>
            </a:pPr>
            <a:r>
              <a:rPr lang="en-US" sz="900" kern="0" spc="100" dirty="0">
                <a:solidFill>
                  <a:srgbClr val="004F9F"/>
                </a:solidFill>
                <a:latin typeface="에이투지체 6 SemiBold" pitchFamily="34" charset="0"/>
                <a:ea typeface="에이투지체 6 SemiBold" pitchFamily="34" charset="-122"/>
                <a:cs typeface="에이투지체 6 SemiBold" pitchFamily="34" charset="-120"/>
              </a:rPr>
              <a:t>PART 6 · 링크프라이스 강점</a:t>
            </a:r>
            <a:endParaRPr lang="en-US" sz="900" dirty="0"/>
          </a:p>
        </p:txBody>
      </p:sp>
      <p:sp>
        <p:nvSpPr>
          <p:cNvPr id="3" name="Text 1"/>
          <p:cNvSpPr/>
          <p:nvPr/>
        </p:nvSpPr>
        <p:spPr>
          <a:xfrm>
            <a:off x="548640" y="658368"/>
            <a:ext cx="11064240" cy="868680"/>
          </a:xfrm>
          <a:prstGeom prst="rect">
            <a:avLst/>
          </a:prstGeom>
          <a:noFill/>
          <a:ln/>
        </p:spPr>
        <p:txBody>
          <a:bodyPr wrap="square" lIns="0" tIns="0" rIns="0" bIns="0" rtlCol="0" anchor="ctr"/>
          <a:lstStyle/>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그룹사 커머스 데이터로 수요 상승 시점을 포착해</a:t>
            </a:r>
            <a:endParaRPr lang="en-US" sz="1900" dirty="0"/>
          </a:p>
          <a:p>
            <a:pPr marL="0" indent="0">
              <a:lnSpc>
                <a:spcPts val="2600"/>
              </a:lnSpc>
              <a:buNone/>
            </a:pPr>
            <a:r>
              <a:rPr lang="en-US" sz="1900" dirty="0">
                <a:solidFill>
                  <a:srgbClr val="222222"/>
                </a:solidFill>
                <a:latin typeface="에이투지체 8 ExtraBold" pitchFamily="34" charset="0"/>
                <a:ea typeface="에이투지체 8 ExtraBold" pitchFamily="34" charset="-122"/>
                <a:cs typeface="에이투지체 8 ExtraBold" pitchFamily="34" charset="-120"/>
              </a:rPr>
              <a:t>광고 집행과 소재 제안으로 연결합니다</a:t>
            </a:r>
            <a:endParaRPr lang="en-US" sz="1900" dirty="0"/>
          </a:p>
        </p:txBody>
      </p:sp>
      <p:sp>
        <p:nvSpPr>
          <p:cNvPr id="4" name="Text 2"/>
          <p:cNvSpPr/>
          <p:nvPr/>
        </p:nvSpPr>
        <p:spPr>
          <a:xfrm>
            <a:off x="548640" y="1517904"/>
            <a:ext cx="11064240" cy="365760"/>
          </a:xfrm>
          <a:prstGeom prst="rect">
            <a:avLst/>
          </a:prstGeom>
          <a:noFill/>
          <a:ln/>
        </p:spPr>
        <p:txBody>
          <a:bodyPr wrap="square" lIns="0" tIns="0" rIns="0" bIns="0" rtlCol="0" anchor="ctr"/>
          <a:lstStyle/>
          <a:p>
            <a:pPr marL="0" indent="0">
              <a:buNone/>
            </a:pPr>
            <a:r>
              <a:rPr lang="en-US" sz="1100" dirty="0">
                <a:solidFill>
                  <a:srgbClr val="5C5C5C"/>
                </a:solidFill>
                <a:latin typeface="에이투지체 5 Medium" pitchFamily="34" charset="0"/>
                <a:ea typeface="에이투지체 5 Medium" pitchFamily="34" charset="-122"/>
                <a:cs typeface="에이투지체 5 Medium" pitchFamily="34" charset="-120"/>
              </a:rPr>
              <a:t>상품, 가격, 비교, 거래, 운영 신호를 교차 분석해 카테고리별 수요 상승 시점과 고객 관심의 선행 변화를 선제적으로 포착합니다</a:t>
            </a:r>
            <a:endParaRPr lang="en-US" sz="1100" dirty="0"/>
          </a:p>
        </p:txBody>
      </p:sp>
      <p:sp>
        <p:nvSpPr>
          <p:cNvPr id="5" name="Text 3"/>
          <p:cNvSpPr/>
          <p:nvPr/>
        </p:nvSpPr>
        <p:spPr>
          <a:xfrm>
            <a:off x="548640" y="6473952"/>
            <a:ext cx="4206240" cy="274320"/>
          </a:xfrm>
          <a:prstGeom prst="rect">
            <a:avLst/>
          </a:prstGeom>
          <a:noFill/>
          <a:ln/>
        </p:spPr>
        <p:txBody>
          <a:bodyPr wrap="square" lIns="0" tIns="0" rIns="0" bIns="0" rtlCol="0" anchor="ctr"/>
          <a:lstStyle/>
          <a:p>
            <a:pPr marL="0" indent="0">
              <a:buNone/>
            </a:pPr>
            <a:r>
              <a:rPr lang="en-US" sz="800" dirty="0">
                <a:solidFill>
                  <a:srgbClr val="919191"/>
                </a:solidFill>
                <a:latin typeface="에이투지체 3 Light" pitchFamily="34" charset="0"/>
                <a:ea typeface="에이투지체 3 Light" pitchFamily="34" charset="-122"/>
                <a:cs typeface="에이투지체 3 Light" pitchFamily="34" charset="-120"/>
              </a:rPr>
              <a:t>DODREAM B&amp;B AD PROPOSAL · 2026</a:t>
            </a:r>
            <a:endParaRPr lang="en-US" sz="800" dirty="0"/>
          </a:p>
        </p:txBody>
      </p:sp>
      <p:sp>
        <p:nvSpPr>
          <p:cNvPr id="6" name="Text 4"/>
          <p:cNvSpPr/>
          <p:nvPr/>
        </p:nvSpPr>
        <p:spPr>
          <a:xfrm>
            <a:off x="8138160" y="6473952"/>
            <a:ext cx="3017520" cy="274320"/>
          </a:xfrm>
          <a:prstGeom prst="rect">
            <a:avLst/>
          </a:prstGeom>
          <a:noFill/>
          <a:ln/>
        </p:spPr>
        <p:txBody>
          <a:bodyPr wrap="square" lIns="0" tIns="0" rIns="0" bIns="0" rtlCol="0" anchor="ctr"/>
          <a:lstStyle/>
          <a:p>
            <a:pPr marL="0" indent="0" algn="r">
              <a:buNone/>
            </a:pPr>
            <a:r>
              <a:rPr lang="en-US" sz="800" dirty="0">
                <a:solidFill>
                  <a:srgbClr val="919191"/>
                </a:solidFill>
                <a:latin typeface="에이투지체 3 Light" pitchFamily="34" charset="0"/>
                <a:ea typeface="에이투지체 3 Light" pitchFamily="34" charset="-122"/>
                <a:cs typeface="에이투지체 3 Light" pitchFamily="34" charset="-120"/>
              </a:rPr>
              <a:t>LINKPRICE · BRAND AD CENTER</a:t>
            </a:r>
            <a:endParaRPr lang="en-US" sz="800" dirty="0"/>
          </a:p>
        </p:txBody>
      </p:sp>
      <p:sp>
        <p:nvSpPr>
          <p:cNvPr id="7" name="Text 5"/>
          <p:cNvSpPr/>
          <p:nvPr/>
        </p:nvSpPr>
        <p:spPr>
          <a:xfrm>
            <a:off x="11292840" y="6473952"/>
            <a:ext cx="365760" cy="274320"/>
          </a:xfrm>
          <a:prstGeom prst="rect">
            <a:avLst/>
          </a:prstGeom>
          <a:noFill/>
          <a:ln/>
        </p:spPr>
        <p:txBody>
          <a:bodyPr wrap="square" lIns="0" tIns="0" rIns="0" bIns="0" rtlCol="0" anchor="ctr"/>
          <a:lstStyle/>
          <a:p>
            <a:pPr marL="0" indent="0" algn="r">
              <a:buNone/>
            </a:pPr>
            <a:r>
              <a:rPr lang="en-US" sz="800" dirty="0">
                <a:solidFill>
                  <a:srgbClr val="222222"/>
                </a:solidFill>
                <a:latin typeface="에이투지체 6 SemiBold" pitchFamily="34" charset="0"/>
                <a:ea typeface="에이투지체 6 SemiBold" pitchFamily="34" charset="-122"/>
                <a:cs typeface="에이투지체 6 SemiBold" pitchFamily="34" charset="-120"/>
              </a:rPr>
              <a:t>84</a:t>
            </a:r>
            <a:endParaRPr lang="en-US" sz="800" dirty="0"/>
          </a:p>
        </p:txBody>
      </p:sp>
      <p:sp>
        <p:nvSpPr>
          <p:cNvPr id="8" name="Text 6"/>
          <p:cNvSpPr/>
          <p:nvPr/>
        </p:nvSpPr>
        <p:spPr>
          <a:xfrm>
            <a:off x="548640" y="1993392"/>
            <a:ext cx="4206240" cy="274320"/>
          </a:xfrm>
          <a:prstGeom prst="rect">
            <a:avLst/>
          </a:prstGeom>
          <a:noFill/>
          <a:ln/>
        </p:spPr>
        <p:txBody>
          <a:bodyPr wrap="square" lIns="0" tIns="0" rIns="0" bIns="0" rtlCol="0" anchor="ctr"/>
          <a:lstStyle/>
          <a:p>
            <a:pPr marL="0" indent="0">
              <a:buNone/>
            </a:pPr>
            <a:r>
              <a:rPr lang="en-US" sz="1000" kern="0" spc="100" dirty="0">
                <a:solidFill>
                  <a:srgbClr val="004F9F"/>
                </a:solidFill>
                <a:latin typeface="에이투지체 6 SemiBold" pitchFamily="34" charset="0"/>
                <a:ea typeface="에이투지체 6 SemiBold" pitchFamily="34" charset="-122"/>
                <a:cs typeface="에이투지체 6 SemiBold" pitchFamily="34" charset="-120"/>
              </a:rPr>
              <a:t>01  E-COMMERCE DATA SYSTEM</a:t>
            </a:r>
            <a:endParaRPr lang="en-US" sz="1000" dirty="0"/>
          </a:p>
        </p:txBody>
      </p:sp>
      <p:pic>
        <p:nvPicPr>
          <p:cNvPr id="12" name="Image 2" descr="ext/makeshop_logo.png"/>
          <p:cNvPicPr>
            <a:picLocks noChangeAspect="1"/>
          </p:cNvPicPr>
          <p:nvPr/>
        </p:nvPicPr>
        <p:blipFill>
          <a:blip r:embed="rId2"/>
          <a:stretch>
            <a:fillRect/>
          </a:stretch>
        </p:blipFill>
        <p:spPr>
          <a:xfrm>
            <a:off x="378422" y="2809820"/>
            <a:ext cx="3175075" cy="1037191"/>
          </a:xfrm>
          <a:prstGeom prst="rect">
            <a:avLst/>
          </a:prstGeom>
        </p:spPr>
      </p:pic>
      <p:sp>
        <p:nvSpPr>
          <p:cNvPr id="13" name="Shape 8"/>
          <p:cNvSpPr/>
          <p:nvPr/>
        </p:nvSpPr>
        <p:spPr>
          <a:xfrm>
            <a:off x="672084" y="4325112"/>
            <a:ext cx="2834640" cy="640080"/>
          </a:xfrm>
          <a:prstGeom prst="roundRect">
            <a:avLst>
              <a:gd name="adj" fmla="val 11429"/>
            </a:avLst>
          </a:prstGeom>
          <a:solidFill>
            <a:srgbClr val="EAF2FB"/>
          </a:solidFill>
          <a:ln w="12700">
            <a:solidFill>
              <a:srgbClr val="EAF2FB"/>
            </a:solidFill>
            <a:prstDash val="solid"/>
          </a:ln>
        </p:spPr>
        <p:txBody>
          <a:bodyPr/>
          <a:lstStyle/>
          <a:p>
            <a:endParaRPr/>
          </a:p>
        </p:txBody>
      </p:sp>
      <p:sp>
        <p:nvSpPr>
          <p:cNvPr id="14" name="Text 9"/>
          <p:cNvSpPr/>
          <p:nvPr/>
        </p:nvSpPr>
        <p:spPr>
          <a:xfrm>
            <a:off x="900684" y="4325112"/>
            <a:ext cx="1463040" cy="640080"/>
          </a:xfrm>
          <a:prstGeom prst="rect">
            <a:avLst/>
          </a:prstGeom>
          <a:noFill/>
          <a:ln/>
        </p:spPr>
        <p:txBody>
          <a:bodyPr wrap="square" lIns="0" tIns="0" rIns="0" bIns="0" rtlCol="0" anchor="ctr"/>
          <a:lstStyle/>
          <a:p>
            <a:pPr marL="0" indent="0">
              <a:buNone/>
            </a:pPr>
            <a:r>
              <a:rPr lang="en-US" sz="1500" dirty="0">
                <a:solidFill>
                  <a:srgbClr val="004F9F"/>
                </a:solidFill>
                <a:latin typeface="에이투지체 8 ExtraBold" pitchFamily="34" charset="0"/>
                <a:ea typeface="에이투지체 8 ExtraBold" pitchFamily="34" charset="-122"/>
                <a:cs typeface="에이투지체 8 ExtraBold" pitchFamily="34" charset="-120"/>
              </a:rPr>
              <a:t>14억 개</a:t>
            </a:r>
            <a:endParaRPr lang="en-US" sz="1500" dirty="0"/>
          </a:p>
        </p:txBody>
      </p:sp>
      <p:sp>
        <p:nvSpPr>
          <p:cNvPr id="15" name="Text 10"/>
          <p:cNvSpPr/>
          <p:nvPr/>
        </p:nvSpPr>
        <p:spPr>
          <a:xfrm>
            <a:off x="2363724" y="4325112"/>
            <a:ext cx="1097280" cy="640080"/>
          </a:xfrm>
          <a:prstGeom prst="rect">
            <a:avLst/>
          </a:prstGeom>
          <a:noFill/>
          <a:ln/>
        </p:spPr>
        <p:txBody>
          <a:bodyPr wrap="square" lIns="0" tIns="0" rIns="0" bIns="0" rtlCol="0" anchor="ctr"/>
          <a:lstStyle/>
          <a:p>
            <a:pPr marL="0" indent="0">
              <a:buNone/>
            </a:pPr>
            <a:r>
              <a:rPr lang="en-US" sz="950" dirty="0">
                <a:solidFill>
                  <a:srgbClr val="5C5C5C"/>
                </a:solidFill>
                <a:latin typeface="에이투지체 5 Medium" pitchFamily="34" charset="0"/>
                <a:ea typeface="에이투지체 5 Medium" pitchFamily="34" charset="-122"/>
                <a:cs typeface="에이투지체 5 Medium" pitchFamily="34" charset="-120"/>
              </a:rPr>
              <a:t>상품 DB</a:t>
            </a:r>
            <a:endParaRPr lang="en-US" sz="950" dirty="0"/>
          </a:p>
        </p:txBody>
      </p:sp>
      <p:sp>
        <p:nvSpPr>
          <p:cNvPr id="16" name="Shape 11"/>
          <p:cNvSpPr/>
          <p:nvPr/>
        </p:nvSpPr>
        <p:spPr>
          <a:xfrm>
            <a:off x="672084" y="5074920"/>
            <a:ext cx="2834640" cy="640080"/>
          </a:xfrm>
          <a:prstGeom prst="roundRect">
            <a:avLst>
              <a:gd name="adj" fmla="val 11429"/>
            </a:avLst>
          </a:prstGeom>
          <a:solidFill>
            <a:srgbClr val="EAF2FB"/>
          </a:solidFill>
          <a:ln w="12700">
            <a:solidFill>
              <a:srgbClr val="EAF2FB"/>
            </a:solidFill>
            <a:prstDash val="solid"/>
          </a:ln>
        </p:spPr>
        <p:txBody>
          <a:bodyPr/>
          <a:lstStyle/>
          <a:p>
            <a:endParaRPr/>
          </a:p>
        </p:txBody>
      </p:sp>
      <p:sp>
        <p:nvSpPr>
          <p:cNvPr id="17" name="Text 12"/>
          <p:cNvSpPr/>
          <p:nvPr/>
        </p:nvSpPr>
        <p:spPr>
          <a:xfrm>
            <a:off x="900684" y="5074920"/>
            <a:ext cx="1463040" cy="640080"/>
          </a:xfrm>
          <a:prstGeom prst="rect">
            <a:avLst/>
          </a:prstGeom>
          <a:noFill/>
          <a:ln/>
        </p:spPr>
        <p:txBody>
          <a:bodyPr wrap="square" lIns="0" tIns="0" rIns="0" bIns="0" rtlCol="0" anchor="ctr"/>
          <a:lstStyle/>
          <a:p>
            <a:pPr marL="0" indent="0">
              <a:buNone/>
            </a:pPr>
            <a:r>
              <a:rPr lang="en-US" sz="1500" dirty="0">
                <a:solidFill>
                  <a:srgbClr val="004F9F"/>
                </a:solidFill>
                <a:latin typeface="에이투지체 8 ExtraBold" pitchFamily="34" charset="0"/>
                <a:ea typeface="에이투지체 8 ExtraBold" pitchFamily="34" charset="-122"/>
                <a:cs typeface="에이투지체 8 ExtraBold" pitchFamily="34" charset="-120"/>
              </a:rPr>
              <a:t>2.5조원</a:t>
            </a:r>
            <a:endParaRPr lang="en-US" sz="1500" dirty="0"/>
          </a:p>
        </p:txBody>
      </p:sp>
      <p:sp>
        <p:nvSpPr>
          <p:cNvPr id="18" name="Text 13"/>
          <p:cNvSpPr/>
          <p:nvPr/>
        </p:nvSpPr>
        <p:spPr>
          <a:xfrm>
            <a:off x="2363724" y="5074920"/>
            <a:ext cx="1097280" cy="640080"/>
          </a:xfrm>
          <a:prstGeom prst="rect">
            <a:avLst/>
          </a:prstGeom>
          <a:noFill/>
          <a:ln/>
        </p:spPr>
        <p:txBody>
          <a:bodyPr wrap="square" lIns="0" tIns="0" rIns="0" bIns="0" rtlCol="0" anchor="ctr"/>
          <a:lstStyle/>
          <a:p>
            <a:pPr marL="0" indent="0">
              <a:buNone/>
            </a:pPr>
            <a:r>
              <a:rPr lang="en-US" sz="950" dirty="0">
                <a:solidFill>
                  <a:srgbClr val="5C5C5C"/>
                </a:solidFill>
                <a:latin typeface="에이투지체 5 Medium" pitchFamily="34" charset="0"/>
                <a:ea typeface="에이투지체 5 Medium" pitchFamily="34" charset="-122"/>
                <a:cs typeface="에이투지체 5 Medium" pitchFamily="34" charset="-120"/>
              </a:rPr>
              <a:t>연간 거래액</a:t>
            </a:r>
            <a:endParaRPr lang="en-US" sz="950" dirty="0"/>
          </a:p>
        </p:txBody>
      </p:sp>
      <p:sp>
        <p:nvSpPr>
          <p:cNvPr id="19" name="Text 14"/>
          <p:cNvSpPr/>
          <p:nvPr/>
        </p:nvSpPr>
        <p:spPr>
          <a:xfrm>
            <a:off x="3886200" y="1993392"/>
            <a:ext cx="4206240" cy="274320"/>
          </a:xfrm>
          <a:prstGeom prst="rect">
            <a:avLst/>
          </a:prstGeom>
          <a:noFill/>
          <a:ln/>
        </p:spPr>
        <p:txBody>
          <a:bodyPr wrap="square" lIns="0" tIns="0" rIns="0" bIns="0" rtlCol="0" anchor="ctr"/>
          <a:lstStyle/>
          <a:p>
            <a:pPr marL="0" indent="0">
              <a:buNone/>
            </a:pPr>
            <a:r>
              <a:rPr lang="en-US" sz="1000" kern="0" spc="100" dirty="0">
                <a:solidFill>
                  <a:srgbClr val="004F9F"/>
                </a:solidFill>
                <a:latin typeface="에이투지체 6 SemiBold" pitchFamily="34" charset="0"/>
                <a:ea typeface="에이투지체 6 SemiBold" pitchFamily="34" charset="-122"/>
                <a:cs typeface="에이투지체 6 SemiBold" pitchFamily="34" charset="-120"/>
              </a:rPr>
              <a:t>02  DEEP COMMERCE MINING</a:t>
            </a:r>
            <a:endParaRPr lang="en-US" sz="1000" dirty="0"/>
          </a:p>
        </p:txBody>
      </p:sp>
      <p:sp>
        <p:nvSpPr>
          <p:cNvPr id="20" name="Shape 15"/>
          <p:cNvSpPr/>
          <p:nvPr/>
        </p:nvSpPr>
        <p:spPr>
          <a:xfrm>
            <a:off x="3886200" y="2340864"/>
            <a:ext cx="4206240" cy="1572768"/>
          </a:xfrm>
          <a:prstGeom prst="roundRect">
            <a:avLst>
              <a:gd name="adj" fmla="val 4651"/>
            </a:avLst>
          </a:prstGeom>
          <a:solidFill>
            <a:srgbClr val="0A2F5C"/>
          </a:solidFill>
          <a:ln w="12700">
            <a:solidFill>
              <a:srgbClr val="0A2F5C"/>
            </a:solidFill>
            <a:prstDash val="solid"/>
          </a:ln>
        </p:spPr>
        <p:txBody>
          <a:bodyPr/>
          <a:lstStyle/>
          <a:p>
            <a:endParaRPr/>
          </a:p>
        </p:txBody>
      </p:sp>
      <p:sp>
        <p:nvSpPr>
          <p:cNvPr id="21" name="Text 16"/>
          <p:cNvSpPr/>
          <p:nvPr/>
        </p:nvSpPr>
        <p:spPr>
          <a:xfrm>
            <a:off x="4114800" y="2505456"/>
            <a:ext cx="3749040" cy="292608"/>
          </a:xfrm>
          <a:prstGeom prst="rect">
            <a:avLst/>
          </a:prstGeom>
          <a:noFill/>
          <a:ln/>
        </p:spPr>
        <p:txBody>
          <a:bodyPr wrap="square" lIns="0" tIns="0" rIns="0" bIns="0" rtlCol="0" anchor="ctr"/>
          <a:lstStyle/>
          <a:p>
            <a:pPr marL="0" indent="0">
              <a:buNone/>
            </a:pPr>
            <a:r>
              <a:rPr lang="en-US" sz="1350" dirty="0">
                <a:solidFill>
                  <a:srgbClr val="FFFFFF"/>
                </a:solidFill>
                <a:latin typeface="에이투지체 8 ExtraBold" pitchFamily="34" charset="0"/>
                <a:ea typeface="에이투지체 8 ExtraBold" pitchFamily="34" charset="-122"/>
                <a:cs typeface="에이투지체 8 ExtraBold" pitchFamily="34" charset="-120"/>
              </a:rPr>
              <a:t>DEEP COMMERCE MINING</a:t>
            </a:r>
            <a:endParaRPr lang="en-US" sz="1350" dirty="0"/>
          </a:p>
        </p:txBody>
      </p:sp>
      <p:sp>
        <p:nvSpPr>
          <p:cNvPr id="22" name="Text 17"/>
          <p:cNvSpPr/>
          <p:nvPr/>
        </p:nvSpPr>
        <p:spPr>
          <a:xfrm>
            <a:off x="4114800" y="2852928"/>
            <a:ext cx="3794760" cy="914400"/>
          </a:xfrm>
          <a:prstGeom prst="rect">
            <a:avLst/>
          </a:prstGeom>
          <a:noFill/>
          <a:ln/>
        </p:spPr>
        <p:txBody>
          <a:bodyPr wrap="square" lIns="0" tIns="0" rIns="0" bIns="0" rtlCol="0" anchor="ctr"/>
          <a:lstStyle/>
          <a:p>
            <a:pPr marL="0" indent="0">
              <a:lnSpc>
                <a:spcPts val="1300"/>
              </a:lnSpc>
              <a:buNone/>
            </a:pPr>
            <a:r>
              <a:rPr lang="en-US" sz="900" dirty="0">
                <a:solidFill>
                  <a:srgbClr val="C9DBF0"/>
                </a:solidFill>
                <a:latin typeface="에이투지체 4 Regular" pitchFamily="34" charset="0"/>
                <a:ea typeface="에이투지체 4 Regular" pitchFamily="34" charset="-122"/>
                <a:cs typeface="에이투지체 4 Regular" pitchFamily="34" charset="-120"/>
              </a:rPr>
              <a:t>그룹사 커머스 데이터에서 수요의 선행 신호를 발굴하고</a:t>
            </a:r>
            <a:endParaRPr lang="en-US" sz="900" dirty="0"/>
          </a:p>
          <a:p>
            <a:pPr marL="0" indent="0">
              <a:lnSpc>
                <a:spcPts val="1300"/>
              </a:lnSpc>
              <a:buNone/>
            </a:pPr>
            <a:r>
              <a:rPr lang="en-US" sz="900" dirty="0">
                <a:solidFill>
                  <a:srgbClr val="C9DBF0"/>
                </a:solidFill>
                <a:latin typeface="에이투지체 4 Regular" pitchFamily="34" charset="0"/>
                <a:ea typeface="에이투지체 4 Regular" pitchFamily="34" charset="-122"/>
                <a:cs typeface="에이투지체 4 Regular" pitchFamily="34" charset="-120"/>
              </a:rPr>
              <a:t>언제 어떤 카테고리, 어떤 니즈가 상승하는지 분석하는</a:t>
            </a:r>
            <a:endParaRPr lang="en-US" sz="900" dirty="0"/>
          </a:p>
          <a:p>
            <a:pPr marL="0" indent="0">
              <a:lnSpc>
                <a:spcPts val="1300"/>
              </a:lnSpc>
              <a:buNone/>
            </a:pPr>
            <a:r>
              <a:rPr lang="en-US" sz="900" dirty="0">
                <a:solidFill>
                  <a:srgbClr val="C9DBF0"/>
                </a:solidFill>
                <a:latin typeface="에이투지체 4 Regular" pitchFamily="34" charset="0"/>
                <a:ea typeface="에이투지체 4 Regular" pitchFamily="34" charset="-122"/>
                <a:cs typeface="에이투지체 4 Regular" pitchFamily="34" charset="-120"/>
              </a:rPr>
              <a:t>링크프라이스의 분석 체계</a:t>
            </a:r>
            <a:endParaRPr lang="en-US" sz="900" dirty="0"/>
          </a:p>
        </p:txBody>
      </p:sp>
      <p:sp>
        <p:nvSpPr>
          <p:cNvPr id="23" name="Shape 18"/>
          <p:cNvSpPr/>
          <p:nvPr/>
        </p:nvSpPr>
        <p:spPr>
          <a:xfrm>
            <a:off x="3886200" y="4096512"/>
            <a:ext cx="2048256" cy="960120"/>
          </a:xfrm>
          <a:prstGeom prst="roundRect">
            <a:avLst>
              <a:gd name="adj" fmla="val 7619"/>
            </a:avLst>
          </a:prstGeom>
          <a:solidFill>
            <a:srgbClr val="F5F5F5"/>
          </a:solidFill>
          <a:ln w="12700">
            <a:solidFill>
              <a:srgbClr val="F5F5F5"/>
            </a:solidFill>
            <a:prstDash val="solid"/>
          </a:ln>
        </p:spPr>
        <p:txBody>
          <a:bodyPr/>
          <a:lstStyle/>
          <a:p>
            <a:endParaRPr/>
          </a:p>
        </p:txBody>
      </p:sp>
      <p:sp>
        <p:nvSpPr>
          <p:cNvPr id="24" name="Text 19"/>
          <p:cNvSpPr/>
          <p:nvPr/>
        </p:nvSpPr>
        <p:spPr>
          <a:xfrm>
            <a:off x="4050792" y="4233672"/>
            <a:ext cx="1828800" cy="365760"/>
          </a:xfrm>
          <a:prstGeom prst="rect">
            <a:avLst/>
          </a:prstGeom>
          <a:noFill/>
          <a:ln/>
        </p:spPr>
        <p:txBody>
          <a:bodyPr wrap="square" lIns="0" tIns="0" rIns="0" bIns="0" rtlCol="0" anchor="ctr"/>
          <a:lstStyle/>
          <a:p>
            <a:pPr marL="0" indent="0">
              <a:lnSpc>
                <a:spcPts val="1050"/>
              </a:lnSpc>
              <a:buNone/>
            </a:pPr>
            <a:r>
              <a:rPr lang="en-US" sz="850" dirty="0">
                <a:solidFill>
                  <a:srgbClr val="004F9F"/>
                </a:solidFill>
                <a:latin typeface="에이투지체 8 ExtraBold" pitchFamily="34" charset="0"/>
                <a:ea typeface="에이투지체 8 ExtraBold" pitchFamily="34" charset="-122"/>
                <a:cs typeface="에이투지체 8 ExtraBold" pitchFamily="34" charset="-120"/>
              </a:rPr>
              <a:t>QUERY UPLIFT</a:t>
            </a:r>
            <a:endParaRPr lang="en-US" sz="850" dirty="0"/>
          </a:p>
        </p:txBody>
      </p:sp>
      <p:sp>
        <p:nvSpPr>
          <p:cNvPr id="25" name="Text 20"/>
          <p:cNvSpPr/>
          <p:nvPr/>
        </p:nvSpPr>
        <p:spPr>
          <a:xfrm>
            <a:off x="4050792" y="4645152"/>
            <a:ext cx="1783080" cy="320040"/>
          </a:xfrm>
          <a:prstGeom prst="rect">
            <a:avLst/>
          </a:prstGeom>
          <a:noFill/>
          <a:ln/>
        </p:spPr>
        <p:txBody>
          <a:bodyPr wrap="square" lIns="0" tIns="0" rIns="0" bIns="0" rtlCol="0" anchor="ctr"/>
          <a:lstStyle/>
          <a:p>
            <a:pPr marL="0" indent="0">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관심, 검색 신호 상승 포착</a:t>
            </a:r>
            <a:endParaRPr lang="en-US" sz="850" dirty="0"/>
          </a:p>
        </p:txBody>
      </p:sp>
      <p:sp>
        <p:nvSpPr>
          <p:cNvPr id="26" name="Shape 21"/>
          <p:cNvSpPr/>
          <p:nvPr/>
        </p:nvSpPr>
        <p:spPr>
          <a:xfrm>
            <a:off x="6044184" y="4096512"/>
            <a:ext cx="2048256" cy="960120"/>
          </a:xfrm>
          <a:prstGeom prst="roundRect">
            <a:avLst>
              <a:gd name="adj" fmla="val 7619"/>
            </a:avLst>
          </a:prstGeom>
          <a:solidFill>
            <a:srgbClr val="F5F5F5"/>
          </a:solidFill>
          <a:ln w="12700">
            <a:solidFill>
              <a:srgbClr val="F5F5F5"/>
            </a:solidFill>
            <a:prstDash val="solid"/>
          </a:ln>
        </p:spPr>
        <p:txBody>
          <a:bodyPr/>
          <a:lstStyle/>
          <a:p>
            <a:endParaRPr/>
          </a:p>
        </p:txBody>
      </p:sp>
      <p:sp>
        <p:nvSpPr>
          <p:cNvPr id="27" name="Text 22"/>
          <p:cNvSpPr/>
          <p:nvPr/>
        </p:nvSpPr>
        <p:spPr>
          <a:xfrm>
            <a:off x="6208776" y="4233672"/>
            <a:ext cx="1828800" cy="365760"/>
          </a:xfrm>
          <a:prstGeom prst="rect">
            <a:avLst/>
          </a:prstGeom>
          <a:noFill/>
          <a:ln/>
        </p:spPr>
        <p:txBody>
          <a:bodyPr wrap="square" lIns="0" tIns="0" rIns="0" bIns="0" rtlCol="0" anchor="ctr"/>
          <a:lstStyle/>
          <a:p>
            <a:pPr marL="0" indent="0">
              <a:lnSpc>
                <a:spcPts val="1050"/>
              </a:lnSpc>
              <a:buNone/>
            </a:pPr>
            <a:r>
              <a:rPr lang="en-US" sz="850" dirty="0">
                <a:solidFill>
                  <a:srgbClr val="004F9F"/>
                </a:solidFill>
                <a:latin typeface="에이투지체 8 ExtraBold" pitchFamily="34" charset="0"/>
                <a:ea typeface="에이투지체 8 ExtraBold" pitchFamily="34" charset="-122"/>
                <a:cs typeface="에이투지체 8 ExtraBold" pitchFamily="34" charset="-120"/>
              </a:rPr>
              <a:t>CATEGORY SIGNAL</a:t>
            </a:r>
            <a:endParaRPr lang="en-US" sz="850" dirty="0"/>
          </a:p>
        </p:txBody>
      </p:sp>
      <p:sp>
        <p:nvSpPr>
          <p:cNvPr id="28" name="Text 23"/>
          <p:cNvSpPr/>
          <p:nvPr/>
        </p:nvSpPr>
        <p:spPr>
          <a:xfrm>
            <a:off x="6208776" y="4645152"/>
            <a:ext cx="1783080" cy="320040"/>
          </a:xfrm>
          <a:prstGeom prst="rect">
            <a:avLst/>
          </a:prstGeom>
          <a:noFill/>
          <a:ln/>
        </p:spPr>
        <p:txBody>
          <a:bodyPr wrap="square" lIns="0" tIns="0" rIns="0" bIns="0" rtlCol="0" anchor="ctr"/>
          <a:lstStyle/>
          <a:p>
            <a:pPr marL="0" indent="0">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카테고리 수요 변화 감지</a:t>
            </a:r>
            <a:endParaRPr lang="en-US" sz="850" dirty="0"/>
          </a:p>
        </p:txBody>
      </p:sp>
      <p:sp>
        <p:nvSpPr>
          <p:cNvPr id="29" name="Shape 24"/>
          <p:cNvSpPr/>
          <p:nvPr/>
        </p:nvSpPr>
        <p:spPr>
          <a:xfrm>
            <a:off x="3886200" y="5175504"/>
            <a:ext cx="2048256" cy="960120"/>
          </a:xfrm>
          <a:prstGeom prst="roundRect">
            <a:avLst>
              <a:gd name="adj" fmla="val 7619"/>
            </a:avLst>
          </a:prstGeom>
          <a:solidFill>
            <a:srgbClr val="F5F5F5"/>
          </a:solidFill>
          <a:ln w="12700">
            <a:solidFill>
              <a:srgbClr val="F5F5F5"/>
            </a:solidFill>
            <a:prstDash val="solid"/>
          </a:ln>
        </p:spPr>
        <p:txBody>
          <a:bodyPr/>
          <a:lstStyle/>
          <a:p>
            <a:endParaRPr/>
          </a:p>
        </p:txBody>
      </p:sp>
      <p:sp>
        <p:nvSpPr>
          <p:cNvPr id="30" name="Text 25"/>
          <p:cNvSpPr/>
          <p:nvPr/>
        </p:nvSpPr>
        <p:spPr>
          <a:xfrm>
            <a:off x="4050792" y="5312664"/>
            <a:ext cx="1828800" cy="365760"/>
          </a:xfrm>
          <a:prstGeom prst="rect">
            <a:avLst/>
          </a:prstGeom>
          <a:noFill/>
          <a:ln/>
        </p:spPr>
        <p:txBody>
          <a:bodyPr wrap="square" lIns="0" tIns="0" rIns="0" bIns="0" rtlCol="0" anchor="ctr"/>
          <a:lstStyle/>
          <a:p>
            <a:pPr marL="0" indent="0">
              <a:lnSpc>
                <a:spcPts val="1050"/>
              </a:lnSpc>
              <a:buNone/>
            </a:pPr>
            <a:r>
              <a:rPr lang="en-US" sz="850" dirty="0">
                <a:solidFill>
                  <a:srgbClr val="004F9F"/>
                </a:solidFill>
                <a:latin typeface="에이투지체 8 ExtraBold" pitchFamily="34" charset="0"/>
                <a:ea typeface="에이투지체 8 ExtraBold" pitchFamily="34" charset="-122"/>
                <a:cs typeface="에이투지체 8 ExtraBold" pitchFamily="34" charset="-120"/>
              </a:rPr>
              <a:t>PRICE &amp; COMPARISON</a:t>
            </a:r>
            <a:endParaRPr lang="en-US" sz="850" dirty="0"/>
          </a:p>
        </p:txBody>
      </p:sp>
      <p:sp>
        <p:nvSpPr>
          <p:cNvPr id="31" name="Text 26"/>
          <p:cNvSpPr/>
          <p:nvPr/>
        </p:nvSpPr>
        <p:spPr>
          <a:xfrm>
            <a:off x="4050792" y="5724144"/>
            <a:ext cx="1783080" cy="320040"/>
          </a:xfrm>
          <a:prstGeom prst="rect">
            <a:avLst/>
          </a:prstGeom>
          <a:noFill/>
          <a:ln/>
        </p:spPr>
        <p:txBody>
          <a:bodyPr wrap="square" lIns="0" tIns="0" rIns="0" bIns="0" rtlCol="0" anchor="ctr"/>
          <a:lstStyle/>
          <a:p>
            <a:pPr marL="0" indent="0">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가격, 비교 신호 변화 분석</a:t>
            </a:r>
            <a:endParaRPr lang="en-US" sz="850" dirty="0"/>
          </a:p>
        </p:txBody>
      </p:sp>
      <p:sp>
        <p:nvSpPr>
          <p:cNvPr id="32" name="Shape 27"/>
          <p:cNvSpPr/>
          <p:nvPr/>
        </p:nvSpPr>
        <p:spPr>
          <a:xfrm>
            <a:off x="6044184" y="5175504"/>
            <a:ext cx="2048256" cy="960120"/>
          </a:xfrm>
          <a:prstGeom prst="roundRect">
            <a:avLst>
              <a:gd name="adj" fmla="val 7619"/>
            </a:avLst>
          </a:prstGeom>
          <a:solidFill>
            <a:srgbClr val="F5F5F5"/>
          </a:solidFill>
          <a:ln w="12700">
            <a:solidFill>
              <a:srgbClr val="F5F5F5"/>
            </a:solidFill>
            <a:prstDash val="solid"/>
          </a:ln>
        </p:spPr>
        <p:txBody>
          <a:bodyPr/>
          <a:lstStyle/>
          <a:p>
            <a:endParaRPr/>
          </a:p>
        </p:txBody>
      </p:sp>
      <p:sp>
        <p:nvSpPr>
          <p:cNvPr id="33" name="Text 28"/>
          <p:cNvSpPr/>
          <p:nvPr/>
        </p:nvSpPr>
        <p:spPr>
          <a:xfrm>
            <a:off x="6208776" y="5312664"/>
            <a:ext cx="1828800" cy="365760"/>
          </a:xfrm>
          <a:prstGeom prst="rect">
            <a:avLst/>
          </a:prstGeom>
          <a:noFill/>
          <a:ln/>
        </p:spPr>
        <p:txBody>
          <a:bodyPr wrap="square" lIns="0" tIns="0" rIns="0" bIns="0" rtlCol="0" anchor="ctr"/>
          <a:lstStyle/>
          <a:p>
            <a:pPr marL="0" indent="0">
              <a:lnSpc>
                <a:spcPts val="1050"/>
              </a:lnSpc>
              <a:buNone/>
            </a:pPr>
            <a:r>
              <a:rPr lang="en-US" sz="850" dirty="0">
                <a:solidFill>
                  <a:srgbClr val="004F9F"/>
                </a:solidFill>
                <a:latin typeface="에이투지체 8 ExtraBold" pitchFamily="34" charset="0"/>
                <a:ea typeface="에이투지체 8 ExtraBold" pitchFamily="34" charset="-122"/>
                <a:cs typeface="에이투지체 8 ExtraBold" pitchFamily="34" charset="-120"/>
              </a:rPr>
              <a:t>TRANSACTION MOMENTUM</a:t>
            </a:r>
            <a:endParaRPr lang="en-US" sz="850" dirty="0"/>
          </a:p>
        </p:txBody>
      </p:sp>
      <p:sp>
        <p:nvSpPr>
          <p:cNvPr id="34" name="Text 29"/>
          <p:cNvSpPr/>
          <p:nvPr/>
        </p:nvSpPr>
        <p:spPr>
          <a:xfrm>
            <a:off x="6208776" y="5724144"/>
            <a:ext cx="1783080" cy="320040"/>
          </a:xfrm>
          <a:prstGeom prst="rect">
            <a:avLst/>
          </a:prstGeom>
          <a:noFill/>
          <a:ln/>
        </p:spPr>
        <p:txBody>
          <a:bodyPr wrap="square" lIns="0" tIns="0" rIns="0" bIns="0" rtlCol="0" anchor="ctr"/>
          <a:lstStyle/>
          <a:p>
            <a:pPr marL="0" indent="0">
              <a:buNone/>
            </a:pPr>
            <a:r>
              <a:rPr lang="en-US" sz="850" dirty="0">
                <a:solidFill>
                  <a:srgbClr val="5C5C5C"/>
                </a:solidFill>
                <a:latin typeface="에이투지체 4 Regular" pitchFamily="34" charset="0"/>
                <a:ea typeface="에이투지체 4 Regular" pitchFamily="34" charset="-122"/>
                <a:cs typeface="에이투지체 4 Regular" pitchFamily="34" charset="-120"/>
              </a:rPr>
              <a:t>거래 확대 조짐 분석</a:t>
            </a:r>
            <a:endParaRPr lang="en-US" sz="850" dirty="0"/>
          </a:p>
        </p:txBody>
      </p:sp>
      <p:sp>
        <p:nvSpPr>
          <p:cNvPr id="35" name="Text 30"/>
          <p:cNvSpPr/>
          <p:nvPr/>
        </p:nvSpPr>
        <p:spPr>
          <a:xfrm>
            <a:off x="8503920" y="1993392"/>
            <a:ext cx="4206240" cy="274320"/>
          </a:xfrm>
          <a:prstGeom prst="rect">
            <a:avLst/>
          </a:prstGeom>
          <a:noFill/>
          <a:ln/>
        </p:spPr>
        <p:txBody>
          <a:bodyPr wrap="square" lIns="0" tIns="0" rIns="0" bIns="0" rtlCol="0" anchor="ctr"/>
          <a:lstStyle/>
          <a:p>
            <a:pPr marL="0" indent="0">
              <a:buNone/>
            </a:pPr>
            <a:r>
              <a:rPr lang="en-US" sz="1000" kern="0" spc="100" dirty="0">
                <a:solidFill>
                  <a:srgbClr val="004F9F"/>
                </a:solidFill>
                <a:latin typeface="에이투지체 6 SemiBold" pitchFamily="34" charset="0"/>
                <a:ea typeface="에이투지체 6 SemiBold" pitchFamily="34" charset="-122"/>
                <a:cs typeface="에이투지체 6 SemiBold" pitchFamily="34" charset="-120"/>
              </a:rPr>
              <a:t>03  PREDICTIVE ACTION</a:t>
            </a:r>
            <a:endParaRPr lang="en-US" sz="1000" dirty="0"/>
          </a:p>
        </p:txBody>
      </p:sp>
      <p:sp>
        <p:nvSpPr>
          <p:cNvPr id="36" name="Shape 31"/>
          <p:cNvSpPr/>
          <p:nvPr/>
        </p:nvSpPr>
        <p:spPr>
          <a:xfrm>
            <a:off x="8503920" y="2340864"/>
            <a:ext cx="3108960" cy="1188720"/>
          </a:xfrm>
          <a:prstGeom prst="roundRect">
            <a:avLst>
              <a:gd name="adj" fmla="val 6154"/>
            </a:avLst>
          </a:prstGeom>
          <a:solidFill>
            <a:srgbClr val="EAF2FB"/>
          </a:solidFill>
          <a:ln w="12700">
            <a:solidFill>
              <a:srgbClr val="EAF2FB"/>
            </a:solidFill>
            <a:prstDash val="solid"/>
          </a:ln>
        </p:spPr>
        <p:txBody>
          <a:bodyPr/>
          <a:lstStyle/>
          <a:p>
            <a:endParaRPr/>
          </a:p>
        </p:txBody>
      </p:sp>
      <p:sp>
        <p:nvSpPr>
          <p:cNvPr id="37" name="Text 32"/>
          <p:cNvSpPr/>
          <p:nvPr/>
        </p:nvSpPr>
        <p:spPr>
          <a:xfrm>
            <a:off x="8732520" y="2340864"/>
            <a:ext cx="2697480" cy="1188720"/>
          </a:xfrm>
          <a:prstGeom prst="rect">
            <a:avLst/>
          </a:prstGeom>
          <a:noFill/>
          <a:ln/>
        </p:spPr>
        <p:txBody>
          <a:bodyPr wrap="square" lIns="0" tIns="0" rIns="0" bIns="0" rtlCol="0" anchor="ctr"/>
          <a:lstStyle/>
          <a:p>
            <a:pPr marL="0" indent="0">
              <a:lnSpc>
                <a:spcPts val="1500"/>
              </a:lnSpc>
              <a:buNone/>
            </a:pPr>
            <a:r>
              <a:rPr lang="en-US" sz="1100" dirty="0">
                <a:solidFill>
                  <a:srgbClr val="004F9F"/>
                </a:solidFill>
                <a:latin typeface="에이투지체 6 SemiBold" pitchFamily="34" charset="0"/>
                <a:ea typeface="에이투지체 6 SemiBold" pitchFamily="34" charset="-122"/>
                <a:cs typeface="에이투지체 6 SemiBold" pitchFamily="34" charset="-120"/>
              </a:rPr>
              <a:t>수요 상승 전</a:t>
            </a:r>
            <a:endParaRPr lang="en-US" sz="1100" dirty="0"/>
          </a:p>
          <a:p>
            <a:pPr marL="0" indent="0">
              <a:lnSpc>
                <a:spcPts val="1500"/>
              </a:lnSpc>
              <a:buNone/>
            </a:pPr>
            <a:r>
              <a:rPr lang="en-US" sz="1100" dirty="0">
                <a:solidFill>
                  <a:srgbClr val="004F9F"/>
                </a:solidFill>
                <a:latin typeface="에이투지체 6 SemiBold" pitchFamily="34" charset="0"/>
                <a:ea typeface="에이투지체 6 SemiBold" pitchFamily="34" charset="-122"/>
                <a:cs typeface="에이투지체 6 SemiBold" pitchFamily="34" charset="-120"/>
              </a:rPr>
              <a:t>광고 집행 시점 조정</a:t>
            </a:r>
            <a:endParaRPr lang="en-US" sz="1100" dirty="0"/>
          </a:p>
        </p:txBody>
      </p:sp>
      <p:sp>
        <p:nvSpPr>
          <p:cNvPr id="38" name="Shape 33"/>
          <p:cNvSpPr/>
          <p:nvPr/>
        </p:nvSpPr>
        <p:spPr>
          <a:xfrm>
            <a:off x="8503920" y="3675888"/>
            <a:ext cx="3108960" cy="1188720"/>
          </a:xfrm>
          <a:prstGeom prst="roundRect">
            <a:avLst>
              <a:gd name="adj" fmla="val 6154"/>
            </a:avLst>
          </a:prstGeom>
          <a:solidFill>
            <a:srgbClr val="F5F5F5"/>
          </a:solidFill>
          <a:ln w="12700">
            <a:solidFill>
              <a:srgbClr val="F5F5F5"/>
            </a:solidFill>
            <a:prstDash val="solid"/>
          </a:ln>
        </p:spPr>
        <p:txBody>
          <a:bodyPr/>
          <a:lstStyle/>
          <a:p>
            <a:endParaRPr/>
          </a:p>
        </p:txBody>
      </p:sp>
      <p:sp>
        <p:nvSpPr>
          <p:cNvPr id="39" name="Text 34"/>
          <p:cNvSpPr/>
          <p:nvPr/>
        </p:nvSpPr>
        <p:spPr>
          <a:xfrm>
            <a:off x="8732520" y="3675888"/>
            <a:ext cx="2697480" cy="1188720"/>
          </a:xfrm>
          <a:prstGeom prst="rect">
            <a:avLst/>
          </a:prstGeom>
          <a:noFill/>
          <a:ln/>
        </p:spPr>
        <p:txBody>
          <a:bodyPr wrap="square" lIns="0" tIns="0" rIns="0" bIns="0" rtlCol="0" anchor="ctr"/>
          <a:lstStyle/>
          <a:p>
            <a:pPr marL="0" indent="0">
              <a:lnSpc>
                <a:spcPts val="1500"/>
              </a:lnSpc>
              <a:buNone/>
            </a:pPr>
            <a:r>
              <a:rPr lang="en-US" sz="1100" dirty="0">
                <a:solidFill>
                  <a:srgbClr val="222222"/>
                </a:solidFill>
                <a:latin typeface="에이투지체 6 SemiBold" pitchFamily="34" charset="0"/>
                <a:ea typeface="에이투지체 6 SemiBold" pitchFamily="34" charset="-122"/>
                <a:cs typeface="에이투지체 6 SemiBold" pitchFamily="34" charset="-120"/>
              </a:rPr>
              <a:t>상황별 콘텐츠</a:t>
            </a:r>
            <a:endParaRPr lang="en-US" sz="1100" dirty="0"/>
          </a:p>
          <a:p>
            <a:pPr marL="0" indent="0">
              <a:lnSpc>
                <a:spcPts val="1500"/>
              </a:lnSpc>
              <a:buNone/>
            </a:pPr>
            <a:r>
              <a:rPr lang="en-US" sz="1100" dirty="0">
                <a:solidFill>
                  <a:srgbClr val="222222"/>
                </a:solidFill>
                <a:latin typeface="에이투지체 6 SemiBold" pitchFamily="34" charset="0"/>
                <a:ea typeface="에이투지체 6 SemiBold" pitchFamily="34" charset="-122"/>
                <a:cs typeface="에이투지체 6 SemiBold" pitchFamily="34" charset="-120"/>
              </a:rPr>
              <a:t>메시지 선제 기획</a:t>
            </a:r>
            <a:endParaRPr lang="en-US" sz="1100" dirty="0"/>
          </a:p>
        </p:txBody>
      </p:sp>
      <p:sp>
        <p:nvSpPr>
          <p:cNvPr id="40" name="Shape 35"/>
          <p:cNvSpPr/>
          <p:nvPr/>
        </p:nvSpPr>
        <p:spPr>
          <a:xfrm>
            <a:off x="8503920" y="5010912"/>
            <a:ext cx="3108960" cy="1188720"/>
          </a:xfrm>
          <a:prstGeom prst="roundRect">
            <a:avLst>
              <a:gd name="adj" fmla="val 6154"/>
            </a:avLst>
          </a:prstGeom>
          <a:solidFill>
            <a:srgbClr val="F5F5F5"/>
          </a:solidFill>
          <a:ln w="12700">
            <a:solidFill>
              <a:srgbClr val="F5F5F5"/>
            </a:solidFill>
            <a:prstDash val="solid"/>
          </a:ln>
        </p:spPr>
        <p:txBody>
          <a:bodyPr/>
          <a:lstStyle/>
          <a:p>
            <a:endParaRPr/>
          </a:p>
        </p:txBody>
      </p:sp>
      <p:sp>
        <p:nvSpPr>
          <p:cNvPr id="41" name="Text 36"/>
          <p:cNvSpPr/>
          <p:nvPr/>
        </p:nvSpPr>
        <p:spPr>
          <a:xfrm>
            <a:off x="8732520" y="5010912"/>
            <a:ext cx="2697480" cy="1188720"/>
          </a:xfrm>
          <a:prstGeom prst="rect">
            <a:avLst/>
          </a:prstGeom>
          <a:noFill/>
          <a:ln/>
        </p:spPr>
        <p:txBody>
          <a:bodyPr wrap="square" lIns="0" tIns="0" rIns="0" bIns="0" rtlCol="0" anchor="ctr"/>
          <a:lstStyle/>
          <a:p>
            <a:pPr marL="0" indent="0">
              <a:lnSpc>
                <a:spcPts val="1500"/>
              </a:lnSpc>
              <a:buNone/>
            </a:pPr>
            <a:r>
              <a:rPr lang="en-US" sz="1100" dirty="0">
                <a:solidFill>
                  <a:srgbClr val="222222"/>
                </a:solidFill>
                <a:latin typeface="에이투지체 6 SemiBold" pitchFamily="34" charset="0"/>
                <a:ea typeface="에이투지체 6 SemiBold" pitchFamily="34" charset="-122"/>
                <a:cs typeface="에이투지체 6 SemiBold" pitchFamily="34" charset="-120"/>
              </a:rPr>
              <a:t>상승 카테고리</a:t>
            </a:r>
            <a:endParaRPr lang="en-US" sz="1100" dirty="0"/>
          </a:p>
          <a:p>
            <a:pPr marL="0" indent="0">
              <a:lnSpc>
                <a:spcPts val="1500"/>
              </a:lnSpc>
              <a:buNone/>
            </a:pPr>
            <a:r>
              <a:rPr lang="en-US" sz="1100" dirty="0">
                <a:solidFill>
                  <a:srgbClr val="222222"/>
                </a:solidFill>
                <a:latin typeface="에이투지체 6 SemiBold" pitchFamily="34" charset="0"/>
                <a:ea typeface="에이투지체 6 SemiBold" pitchFamily="34" charset="-122"/>
                <a:cs typeface="에이투지체 6 SemiBold" pitchFamily="34" charset="-120"/>
              </a:rPr>
              <a:t>상품 우선 제안</a:t>
            </a:r>
            <a:endParaRPr lang="en-US" sz="1100" dirty="0"/>
          </a:p>
        </p:txBody>
      </p:sp>
      <p:sp>
        <p:nvSpPr>
          <p:cNvPr id="42" name="Text 37"/>
          <p:cNvSpPr/>
          <p:nvPr/>
        </p:nvSpPr>
        <p:spPr>
          <a:xfrm>
            <a:off x="3438144" y="3749040"/>
            <a:ext cx="365760" cy="457200"/>
          </a:xfrm>
          <a:prstGeom prst="rect">
            <a:avLst/>
          </a:prstGeom>
          <a:noFill/>
          <a:ln/>
        </p:spPr>
        <p:txBody>
          <a:bodyPr wrap="square" lIns="0" tIns="0" rIns="0" bIns="0" rtlCol="0" anchor="ctr"/>
          <a:lstStyle/>
          <a:p>
            <a:pPr marL="0" indent="0" algn="ctr">
              <a:buNone/>
            </a:pPr>
            <a:r>
              <a:rPr lang="en-US" sz="2000" dirty="0">
                <a:solidFill>
                  <a:srgbClr val="1B74C8"/>
                </a:solidFill>
                <a:latin typeface="에이투지체 8 ExtraBold" pitchFamily="34" charset="0"/>
                <a:ea typeface="에이투지체 8 ExtraBold" pitchFamily="34" charset="-122"/>
                <a:cs typeface="에이투지체 8 ExtraBold" pitchFamily="34" charset="-120"/>
              </a:rPr>
              <a:t>›</a:t>
            </a:r>
            <a:endParaRPr lang="en-US" sz="2000" dirty="0"/>
          </a:p>
        </p:txBody>
      </p:sp>
      <p:sp>
        <p:nvSpPr>
          <p:cNvPr id="43" name="Text 38"/>
          <p:cNvSpPr/>
          <p:nvPr/>
        </p:nvSpPr>
        <p:spPr>
          <a:xfrm>
            <a:off x="8119872" y="3749040"/>
            <a:ext cx="365760" cy="457200"/>
          </a:xfrm>
          <a:prstGeom prst="rect">
            <a:avLst/>
          </a:prstGeom>
          <a:noFill/>
          <a:ln/>
        </p:spPr>
        <p:txBody>
          <a:bodyPr wrap="square" lIns="0" tIns="0" rIns="0" bIns="0" rtlCol="0" anchor="ctr"/>
          <a:lstStyle/>
          <a:p>
            <a:pPr marL="0" indent="0" algn="ctr">
              <a:buNone/>
            </a:pPr>
            <a:r>
              <a:rPr lang="en-US" sz="2000" dirty="0">
                <a:solidFill>
                  <a:srgbClr val="1B74C8"/>
                </a:solidFill>
                <a:latin typeface="에이투지체 8 ExtraBold" pitchFamily="34" charset="0"/>
                <a:ea typeface="에이투지체 8 ExtraBold" pitchFamily="34" charset="-122"/>
                <a:cs typeface="에이투지체 8 ExtraBold" pitchFamily="34" charset="-120"/>
              </a:rPr>
              <a:t>›</a:t>
            </a:r>
            <a:endParaRPr lang="en-US" sz="20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6 · 링크프라이스 강점</a:t>
            </a:r>
            <a:endParaRPr lang="ko-KR" sz="900" dirty="0"/>
          </a:p>
        </p:txBody>
      </p:sp>
      <p:sp>
        <p:nvSpPr>
          <p:cNvPr id="3" name="TextBox 2"/>
          <p:cNvSpPr txBox="1"/>
          <p:nvPr/>
        </p:nvSpPr>
        <p:spPr>
          <a:xfrm>
            <a:off x="548640" y="658368"/>
            <a:ext cx="11064240" cy="868680"/>
          </a:xfrm>
          <a:prstGeom prst="rect">
            <a:avLst/>
          </a:prstGeom>
          <a:noFill/>
        </p:spPr>
        <p:txBody>
          <a:bodyPr wrap="square" lIns="0" tIns="0" rIns="0" bIns="0" anchor="ct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건기식 · 뷰티 레퍼런스</a:t>
            </a:r>
            <a:endParaRPr lang="ko-KR" sz="1900" dirty="0"/>
          </a:p>
        </p:txBody>
      </p:sp>
      <p:sp>
        <p:nvSpPr>
          <p:cNvPr id="5" name="TextBox 4"/>
          <p:cNvSpPr txBox="1"/>
          <p:nvPr/>
        </p:nvSpPr>
        <p:spPr>
          <a:xfrm>
            <a:off x="2103120" y="2011680"/>
            <a:ext cx="7955279" cy="3200400"/>
          </a:xfrm>
          <a:prstGeom prst="rect">
            <a:avLst/>
          </a:prstGeom>
          <a:noFill/>
        </p:spPr>
        <p:txBody>
          <a:bodyPr wrap="square" lIns="0" tIns="0" rIns="0" bIns="0" anchor="ctr">
            <a:spAutoFit/>
          </a:bodyPr>
          <a:lstStyle/>
          <a:p>
            <a:pPr algn="ctr">
              <a:lnSpc>
                <a:spcPct val="135000"/>
              </a:lnSpc>
            </a:pPr>
            <a:r>
              <a:rPr sz="1400">
                <a:solidFill>
                  <a:srgbClr val="FFFFFF"/>
                </a:solidFill>
                <a:latin typeface="에이투지체 5 Medium"/>
              </a:rPr>
              <a:t>고혼진, 시드몰, 셀트리온, 호관원, 관절보궁</a:t>
            </a:r>
          </a:p>
          <a:p>
            <a:pPr algn="ctr">
              <a:lnSpc>
                <a:spcPct val="135000"/>
              </a:lnSpc>
            </a:pPr>
            <a:r>
              <a:rPr sz="1400">
                <a:solidFill>
                  <a:srgbClr val="FFFFFF"/>
                </a:solidFill>
                <a:latin typeface="에이투지체 5 Medium"/>
              </a:rPr>
              <a:t>대형 광고주 레퍼런스</a:t>
            </a: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0" name="PGNO"/>
          <p:cNvSpPr txBox="1"/>
          <p:nvPr/>
        </p:nvSpPr>
        <p:spPr>
          <a:xfrm>
            <a:off x="11292840" y="6473952"/>
            <a:ext cx="365760" cy="123111"/>
          </a:xfrm>
          <a:prstGeom prst="rect">
            <a:avLst/>
          </a:prstGeom>
          <a:noFill/>
        </p:spPr>
        <p:txBody>
          <a:bodyPr wrap="square" lIns="0" tIns="0" rIns="0" bIns="0" anchor="t">
            <a:spAutoFit/>
          </a:bodyPr>
          <a:lstStyle/>
          <a:p>
            <a:pPr algn="r"/>
            <a:r>
              <a:rPr lang="en-US" sz="800" dirty="0">
                <a:solidFill>
                  <a:srgbClr val="222222"/>
                </a:solidFill>
                <a:latin typeface="에이투지체 6 SemiBold"/>
              </a:rPr>
              <a:t>85</a:t>
            </a:r>
            <a:endParaRPr sz="800" dirty="0">
              <a:solidFill>
                <a:srgbClr val="222222"/>
              </a:solidFill>
              <a:latin typeface="에이투지체 6 SemiBold"/>
            </a:endParaRPr>
          </a:p>
        </p:txBody>
      </p:sp>
      <p:pic>
        <p:nvPicPr>
          <p:cNvPr id="12" name="그림 11">
            <a:extLst>
              <a:ext uri="{FF2B5EF4-FFF2-40B4-BE49-F238E27FC236}">
                <a16:creationId xmlns:a16="http://schemas.microsoft.com/office/drawing/2014/main" id="{FEBC1AF2-8C39-CB65-7F43-160FE31E7FBA}"/>
              </a:ext>
            </a:extLst>
          </p:cNvPr>
          <p:cNvPicPr>
            <a:picLocks noChangeAspect="1"/>
          </p:cNvPicPr>
          <p:nvPr/>
        </p:nvPicPr>
        <p:blipFill>
          <a:blip r:embed="rId2"/>
          <a:stretch/>
        </p:blipFill>
        <p:spPr>
          <a:xfrm>
            <a:off x="2571750" y="3836010"/>
            <a:ext cx="2288286" cy="2288286"/>
          </a:xfrm>
          <a:prstGeom prst="rect">
            <a:avLst/>
          </a:prstGeom>
        </p:spPr>
      </p:pic>
      <p:pic>
        <p:nvPicPr>
          <p:cNvPr id="14" name="그림 13">
            <a:extLst>
              <a:ext uri="{FF2B5EF4-FFF2-40B4-BE49-F238E27FC236}">
                <a16:creationId xmlns:a16="http://schemas.microsoft.com/office/drawing/2014/main" id="{4ACB4FFA-6BAD-84CD-A9A2-A17B5910BFFD}"/>
              </a:ext>
            </a:extLst>
          </p:cNvPr>
          <p:cNvPicPr>
            <a:picLocks noChangeAspect="1"/>
          </p:cNvPicPr>
          <p:nvPr/>
        </p:nvPicPr>
        <p:blipFill>
          <a:blip r:embed="rId3"/>
          <a:stretch/>
        </p:blipFill>
        <p:spPr>
          <a:xfrm>
            <a:off x="196494" y="3836010"/>
            <a:ext cx="2288286" cy="2288286"/>
          </a:xfrm>
          <a:prstGeom prst="rect">
            <a:avLst/>
          </a:prstGeom>
        </p:spPr>
      </p:pic>
      <p:pic>
        <p:nvPicPr>
          <p:cNvPr id="16" name="그림 15">
            <a:extLst>
              <a:ext uri="{FF2B5EF4-FFF2-40B4-BE49-F238E27FC236}">
                <a16:creationId xmlns:a16="http://schemas.microsoft.com/office/drawing/2014/main" id="{C3886C39-CFA0-D2E6-442B-30FF043E36FE}"/>
              </a:ext>
            </a:extLst>
          </p:cNvPr>
          <p:cNvPicPr>
            <a:picLocks noChangeAspect="1"/>
          </p:cNvPicPr>
          <p:nvPr/>
        </p:nvPicPr>
        <p:blipFill>
          <a:blip r:embed="rId4"/>
          <a:stretch/>
        </p:blipFill>
        <p:spPr>
          <a:xfrm>
            <a:off x="196494" y="1473835"/>
            <a:ext cx="2285365" cy="2285365"/>
          </a:xfrm>
          <a:prstGeom prst="rect">
            <a:avLst/>
          </a:prstGeom>
        </p:spPr>
      </p:pic>
      <p:pic>
        <p:nvPicPr>
          <p:cNvPr id="18" name="그림 17">
            <a:extLst>
              <a:ext uri="{FF2B5EF4-FFF2-40B4-BE49-F238E27FC236}">
                <a16:creationId xmlns:a16="http://schemas.microsoft.com/office/drawing/2014/main" id="{42C84CE0-1352-C606-E98B-12F74F025FBC}"/>
              </a:ext>
            </a:extLst>
          </p:cNvPr>
          <p:cNvPicPr>
            <a:picLocks noChangeAspect="1"/>
          </p:cNvPicPr>
          <p:nvPr/>
        </p:nvPicPr>
        <p:blipFill>
          <a:blip r:embed="rId5"/>
          <a:stretch/>
        </p:blipFill>
        <p:spPr>
          <a:xfrm>
            <a:off x="2571750" y="1471803"/>
            <a:ext cx="2285365" cy="2285365"/>
          </a:xfrm>
          <a:prstGeom prst="rect">
            <a:avLst/>
          </a:prstGeom>
        </p:spPr>
      </p:pic>
      <p:pic>
        <p:nvPicPr>
          <p:cNvPr id="20" name="그림 19">
            <a:extLst>
              <a:ext uri="{FF2B5EF4-FFF2-40B4-BE49-F238E27FC236}">
                <a16:creationId xmlns:a16="http://schemas.microsoft.com/office/drawing/2014/main" id="{F1E93EEA-BA4A-7A17-9AAC-EEA420F5D8D4}"/>
              </a:ext>
            </a:extLst>
          </p:cNvPr>
          <p:cNvPicPr>
            <a:picLocks noChangeAspect="1"/>
          </p:cNvPicPr>
          <p:nvPr/>
        </p:nvPicPr>
        <p:blipFill>
          <a:blip r:embed="rId6"/>
          <a:stretch/>
        </p:blipFill>
        <p:spPr>
          <a:xfrm>
            <a:off x="4944237" y="3835959"/>
            <a:ext cx="2312289" cy="2312289"/>
          </a:xfrm>
          <a:prstGeom prst="rect">
            <a:avLst/>
          </a:prstGeom>
        </p:spPr>
      </p:pic>
      <p:pic>
        <p:nvPicPr>
          <p:cNvPr id="22" name="그림 21">
            <a:extLst>
              <a:ext uri="{FF2B5EF4-FFF2-40B4-BE49-F238E27FC236}">
                <a16:creationId xmlns:a16="http://schemas.microsoft.com/office/drawing/2014/main" id="{FCA0C9E8-8F4F-95EA-91BE-C269449DFEA4}"/>
              </a:ext>
            </a:extLst>
          </p:cNvPr>
          <p:cNvPicPr>
            <a:picLocks noChangeAspect="1"/>
          </p:cNvPicPr>
          <p:nvPr/>
        </p:nvPicPr>
        <p:blipFill>
          <a:blip r:embed="rId7"/>
          <a:stretch/>
        </p:blipFill>
        <p:spPr>
          <a:xfrm>
            <a:off x="7322058" y="1473835"/>
            <a:ext cx="2285365" cy="2285365"/>
          </a:xfrm>
          <a:prstGeom prst="rect">
            <a:avLst/>
          </a:prstGeom>
        </p:spPr>
      </p:pic>
      <p:pic>
        <p:nvPicPr>
          <p:cNvPr id="24" name="그림 23">
            <a:extLst>
              <a:ext uri="{FF2B5EF4-FFF2-40B4-BE49-F238E27FC236}">
                <a16:creationId xmlns:a16="http://schemas.microsoft.com/office/drawing/2014/main" id="{75BB79FB-BF9B-F0B5-9545-0628B1020413}"/>
              </a:ext>
            </a:extLst>
          </p:cNvPr>
          <p:cNvPicPr>
            <a:picLocks noChangeAspect="1"/>
          </p:cNvPicPr>
          <p:nvPr/>
        </p:nvPicPr>
        <p:blipFill>
          <a:blip r:embed="rId8"/>
          <a:stretch/>
        </p:blipFill>
        <p:spPr>
          <a:xfrm>
            <a:off x="7340874" y="3835959"/>
            <a:ext cx="2284816" cy="2312289"/>
          </a:xfrm>
          <a:prstGeom prst="rect">
            <a:avLst/>
          </a:prstGeom>
        </p:spPr>
      </p:pic>
      <p:pic>
        <p:nvPicPr>
          <p:cNvPr id="26" name="그림 25">
            <a:extLst>
              <a:ext uri="{FF2B5EF4-FFF2-40B4-BE49-F238E27FC236}">
                <a16:creationId xmlns:a16="http://schemas.microsoft.com/office/drawing/2014/main" id="{BE786C72-3476-7ACC-73EE-8BD2F77BC8D3}"/>
              </a:ext>
            </a:extLst>
          </p:cNvPr>
          <p:cNvPicPr>
            <a:picLocks noChangeAspect="1"/>
          </p:cNvPicPr>
          <p:nvPr/>
        </p:nvPicPr>
        <p:blipFill>
          <a:blip r:embed="rId9"/>
          <a:stretch/>
        </p:blipFill>
        <p:spPr>
          <a:xfrm>
            <a:off x="9710039" y="3836060"/>
            <a:ext cx="2285365" cy="2285365"/>
          </a:xfrm>
          <a:prstGeom prst="rect">
            <a:avLst/>
          </a:prstGeom>
        </p:spPr>
      </p:pic>
      <p:pic>
        <p:nvPicPr>
          <p:cNvPr id="28" name="그림 27">
            <a:extLst>
              <a:ext uri="{FF2B5EF4-FFF2-40B4-BE49-F238E27FC236}">
                <a16:creationId xmlns:a16="http://schemas.microsoft.com/office/drawing/2014/main" id="{82B61E7B-A4CF-10B4-8328-44E85D9DAD98}"/>
              </a:ext>
            </a:extLst>
          </p:cNvPr>
          <p:cNvPicPr>
            <a:picLocks noChangeAspect="1"/>
          </p:cNvPicPr>
          <p:nvPr/>
        </p:nvPicPr>
        <p:blipFill>
          <a:blip r:embed="rId10"/>
          <a:stretch/>
        </p:blipFill>
        <p:spPr>
          <a:xfrm>
            <a:off x="4920996" y="1471803"/>
            <a:ext cx="2275967" cy="2275967"/>
          </a:xfrm>
          <a:prstGeom prst="rect">
            <a:avLst/>
          </a:prstGeom>
        </p:spPr>
      </p:pic>
      <p:pic>
        <p:nvPicPr>
          <p:cNvPr id="30" name="그림 29">
            <a:extLst>
              <a:ext uri="{FF2B5EF4-FFF2-40B4-BE49-F238E27FC236}">
                <a16:creationId xmlns:a16="http://schemas.microsoft.com/office/drawing/2014/main" id="{8A966AA4-60BE-ECDD-DFF3-2916628E48EF}"/>
              </a:ext>
            </a:extLst>
          </p:cNvPr>
          <p:cNvPicPr>
            <a:picLocks noChangeAspect="1"/>
          </p:cNvPicPr>
          <p:nvPr/>
        </p:nvPicPr>
        <p:blipFill>
          <a:blip r:embed="rId11"/>
          <a:stretch/>
        </p:blipFill>
        <p:spPr>
          <a:xfrm>
            <a:off x="9707245" y="1473835"/>
            <a:ext cx="2275967" cy="2275967"/>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6 · 링크프라이스 강점</a:t>
            </a:r>
            <a:endParaRPr lang="ko-KR" sz="900" dirty="0"/>
          </a:p>
        </p:txBody>
      </p:sp>
      <p:sp>
        <p:nvSpPr>
          <p:cNvPr id="3" name="TextBox 2"/>
          <p:cNvSpPr txBox="1"/>
          <p:nvPr/>
        </p:nvSpPr>
        <p:spPr>
          <a:xfrm>
            <a:off x="548640" y="658368"/>
            <a:ext cx="11064240" cy="868680"/>
          </a:xfrm>
          <a:prstGeom prst="rect">
            <a:avLst/>
          </a:prstGeom>
          <a:noFill/>
        </p:spPr>
        <p:txBody>
          <a:bodyPr wrap="square" lIns="0" tIns="0" rIns="0" bIns="0" anchor="ctr"/>
          <a:lstStyle/>
          <a:p>
            <a:pPr>
              <a:lnSpc>
                <a:spcPts val="2600"/>
              </a:lnSpc>
            </a:pPr>
            <a:r>
              <a:rPr lang="ko-KR" altLang="ko-KR" sz="1900" dirty="0" err="1">
                <a:solidFill>
                  <a:schemeClr val="bg1"/>
                </a:solidFill>
                <a:highlight>
                  <a:srgbClr val="0000FF"/>
                </a:highlight>
                <a:latin typeface="에이투지체 8 ExtraBold"/>
                <a:ea typeface="에이투지체 8 ExtraBold"/>
                <a:cs typeface="에이투지체 8 ExtraBold"/>
              </a:rPr>
              <a:t>건기식</a:t>
            </a:r>
            <a:r>
              <a:rPr lang="ko-KR" altLang="ko-KR" sz="1900" dirty="0">
                <a:solidFill>
                  <a:schemeClr val="bg1"/>
                </a:solidFill>
                <a:highlight>
                  <a:srgbClr val="0000FF"/>
                </a:highlight>
                <a:latin typeface="에이투지체 8 ExtraBold"/>
                <a:ea typeface="에이투지체 8 ExtraBold"/>
                <a:cs typeface="에이투지체 8 ExtraBold"/>
              </a:rPr>
              <a:t> · 뷰티 레퍼런스</a:t>
            </a:r>
            <a:endParaRPr lang="ko-KR" altLang="ko-KR" sz="1900" dirty="0">
              <a:highlight>
                <a:srgbClr val="0000FF"/>
              </a:highlight>
            </a:endParaRPr>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0" name="PGNO"/>
          <p:cNvSpPr txBox="1"/>
          <p:nvPr/>
        </p:nvSpPr>
        <p:spPr>
          <a:xfrm>
            <a:off x="11292840" y="6473952"/>
            <a:ext cx="365760" cy="123111"/>
          </a:xfrm>
          <a:prstGeom prst="rect">
            <a:avLst/>
          </a:prstGeom>
          <a:noFill/>
        </p:spPr>
        <p:txBody>
          <a:bodyPr wrap="square" lIns="0" tIns="0" rIns="0" bIns="0" anchor="t">
            <a:spAutoFit/>
          </a:bodyPr>
          <a:lstStyle/>
          <a:p>
            <a:pPr algn="r"/>
            <a:r>
              <a:rPr lang="en-US" sz="800" dirty="0">
                <a:solidFill>
                  <a:srgbClr val="222222"/>
                </a:solidFill>
                <a:latin typeface="에이투지체 6 SemiBold"/>
              </a:rPr>
              <a:t>86</a:t>
            </a:r>
            <a:endParaRPr sz="800" dirty="0">
              <a:solidFill>
                <a:srgbClr val="222222"/>
              </a:solidFill>
              <a:latin typeface="에이투지체 6 SemiBold"/>
            </a:endParaRPr>
          </a:p>
        </p:txBody>
      </p:sp>
      <p:pic>
        <p:nvPicPr>
          <p:cNvPr id="12" name="그림 11">
            <a:extLst>
              <a:ext uri="{FF2B5EF4-FFF2-40B4-BE49-F238E27FC236}">
                <a16:creationId xmlns:a16="http://schemas.microsoft.com/office/drawing/2014/main" id="{6077671D-9F54-0450-2679-2CBF60943E59}"/>
              </a:ext>
            </a:extLst>
          </p:cNvPr>
          <p:cNvPicPr>
            <a:picLocks noChangeAspect="1"/>
          </p:cNvPicPr>
          <p:nvPr/>
        </p:nvPicPr>
        <p:blipFill>
          <a:blip r:embed="rId2"/>
          <a:stretch/>
        </p:blipFill>
        <p:spPr>
          <a:xfrm>
            <a:off x="237338" y="1527048"/>
            <a:ext cx="2280158" cy="2280158"/>
          </a:xfrm>
          <a:prstGeom prst="rect">
            <a:avLst/>
          </a:prstGeom>
        </p:spPr>
      </p:pic>
      <p:pic>
        <p:nvPicPr>
          <p:cNvPr id="14" name="그림 13">
            <a:extLst>
              <a:ext uri="{FF2B5EF4-FFF2-40B4-BE49-F238E27FC236}">
                <a16:creationId xmlns:a16="http://schemas.microsoft.com/office/drawing/2014/main" id="{7A6019FC-2FB0-85E9-7066-38F1B526D9D4}"/>
              </a:ext>
            </a:extLst>
          </p:cNvPr>
          <p:cNvPicPr>
            <a:picLocks noChangeAspect="1"/>
          </p:cNvPicPr>
          <p:nvPr/>
        </p:nvPicPr>
        <p:blipFill>
          <a:blip r:embed="rId3"/>
          <a:stretch/>
        </p:blipFill>
        <p:spPr>
          <a:xfrm>
            <a:off x="7335139" y="1527048"/>
            <a:ext cx="2280158" cy="2280158"/>
          </a:xfrm>
          <a:prstGeom prst="rect">
            <a:avLst/>
          </a:prstGeom>
        </p:spPr>
      </p:pic>
      <p:pic>
        <p:nvPicPr>
          <p:cNvPr id="16" name="그림 15">
            <a:extLst>
              <a:ext uri="{FF2B5EF4-FFF2-40B4-BE49-F238E27FC236}">
                <a16:creationId xmlns:a16="http://schemas.microsoft.com/office/drawing/2014/main" id="{7C17D376-4AED-9965-473E-5335B3023CC9}"/>
              </a:ext>
            </a:extLst>
          </p:cNvPr>
          <p:cNvPicPr>
            <a:picLocks noChangeAspect="1"/>
          </p:cNvPicPr>
          <p:nvPr/>
        </p:nvPicPr>
        <p:blipFill>
          <a:blip r:embed="rId4"/>
          <a:stretch/>
        </p:blipFill>
        <p:spPr>
          <a:xfrm>
            <a:off x="9699625" y="1527048"/>
            <a:ext cx="2280158" cy="2280158"/>
          </a:xfrm>
          <a:prstGeom prst="rect">
            <a:avLst/>
          </a:prstGeom>
        </p:spPr>
      </p:pic>
      <p:pic>
        <p:nvPicPr>
          <p:cNvPr id="18" name="그림 17">
            <a:extLst>
              <a:ext uri="{FF2B5EF4-FFF2-40B4-BE49-F238E27FC236}">
                <a16:creationId xmlns:a16="http://schemas.microsoft.com/office/drawing/2014/main" id="{812964A2-7D92-B1E6-E6A3-29E9B9770582}"/>
              </a:ext>
            </a:extLst>
          </p:cNvPr>
          <p:cNvPicPr>
            <a:picLocks noChangeAspect="1"/>
          </p:cNvPicPr>
          <p:nvPr/>
        </p:nvPicPr>
        <p:blipFill>
          <a:blip r:embed="rId5"/>
          <a:stretch/>
        </p:blipFill>
        <p:spPr>
          <a:xfrm>
            <a:off x="7335139" y="3911486"/>
            <a:ext cx="2266569" cy="2266569"/>
          </a:xfrm>
          <a:prstGeom prst="rect">
            <a:avLst/>
          </a:prstGeom>
        </p:spPr>
      </p:pic>
      <p:pic>
        <p:nvPicPr>
          <p:cNvPr id="20" name="그림 19">
            <a:extLst>
              <a:ext uri="{FF2B5EF4-FFF2-40B4-BE49-F238E27FC236}">
                <a16:creationId xmlns:a16="http://schemas.microsoft.com/office/drawing/2014/main" id="{E79F339B-100C-77B3-D484-2270954AEA80}"/>
              </a:ext>
            </a:extLst>
          </p:cNvPr>
          <p:cNvPicPr>
            <a:picLocks noChangeAspect="1"/>
          </p:cNvPicPr>
          <p:nvPr/>
        </p:nvPicPr>
        <p:blipFill>
          <a:blip r:embed="rId6"/>
          <a:stretch/>
        </p:blipFill>
        <p:spPr>
          <a:xfrm>
            <a:off x="9704324" y="3900208"/>
            <a:ext cx="2266569" cy="2266569"/>
          </a:xfrm>
          <a:prstGeom prst="rect">
            <a:avLst/>
          </a:prstGeom>
        </p:spPr>
      </p:pic>
      <p:pic>
        <p:nvPicPr>
          <p:cNvPr id="22" name="그림 21">
            <a:extLst>
              <a:ext uri="{FF2B5EF4-FFF2-40B4-BE49-F238E27FC236}">
                <a16:creationId xmlns:a16="http://schemas.microsoft.com/office/drawing/2014/main" id="{560DBCA9-F466-97E6-8AA3-4434239FC40A}"/>
              </a:ext>
            </a:extLst>
          </p:cNvPr>
          <p:cNvPicPr>
            <a:picLocks noChangeAspect="1"/>
          </p:cNvPicPr>
          <p:nvPr/>
        </p:nvPicPr>
        <p:blipFill>
          <a:blip r:embed="rId7"/>
          <a:stretch/>
        </p:blipFill>
        <p:spPr>
          <a:xfrm>
            <a:off x="2604643" y="3900208"/>
            <a:ext cx="2266569" cy="2266569"/>
          </a:xfrm>
          <a:prstGeom prst="rect">
            <a:avLst/>
          </a:prstGeom>
        </p:spPr>
      </p:pic>
      <p:pic>
        <p:nvPicPr>
          <p:cNvPr id="24" name="그림 23">
            <a:extLst>
              <a:ext uri="{FF2B5EF4-FFF2-40B4-BE49-F238E27FC236}">
                <a16:creationId xmlns:a16="http://schemas.microsoft.com/office/drawing/2014/main" id="{CF581209-A455-7E8F-8933-375FE8D8949F}"/>
              </a:ext>
            </a:extLst>
          </p:cNvPr>
          <p:cNvPicPr>
            <a:picLocks noChangeAspect="1"/>
          </p:cNvPicPr>
          <p:nvPr/>
        </p:nvPicPr>
        <p:blipFill>
          <a:blip r:embed="rId8"/>
          <a:stretch/>
        </p:blipFill>
        <p:spPr>
          <a:xfrm>
            <a:off x="237338" y="3900208"/>
            <a:ext cx="2266569" cy="2266569"/>
          </a:xfrm>
          <a:prstGeom prst="rect">
            <a:avLst/>
          </a:prstGeom>
        </p:spPr>
      </p:pic>
      <p:pic>
        <p:nvPicPr>
          <p:cNvPr id="26" name="그림 25">
            <a:extLst>
              <a:ext uri="{FF2B5EF4-FFF2-40B4-BE49-F238E27FC236}">
                <a16:creationId xmlns:a16="http://schemas.microsoft.com/office/drawing/2014/main" id="{4AE23F4F-7032-849D-8F0F-EF19475B0F63}"/>
              </a:ext>
            </a:extLst>
          </p:cNvPr>
          <p:cNvPicPr>
            <a:picLocks noChangeAspect="1"/>
          </p:cNvPicPr>
          <p:nvPr/>
        </p:nvPicPr>
        <p:blipFill>
          <a:blip r:embed="rId9"/>
          <a:stretch/>
        </p:blipFill>
        <p:spPr>
          <a:xfrm>
            <a:off x="4972177" y="3900208"/>
            <a:ext cx="2266569" cy="2266569"/>
          </a:xfrm>
          <a:prstGeom prst="rect">
            <a:avLst/>
          </a:prstGeom>
        </p:spPr>
      </p:pic>
      <p:pic>
        <p:nvPicPr>
          <p:cNvPr id="28" name="그림 27">
            <a:extLst>
              <a:ext uri="{FF2B5EF4-FFF2-40B4-BE49-F238E27FC236}">
                <a16:creationId xmlns:a16="http://schemas.microsoft.com/office/drawing/2014/main" id="{ECD6F65F-F411-8545-6F44-CA612C74B8BA}"/>
              </a:ext>
            </a:extLst>
          </p:cNvPr>
          <p:cNvPicPr>
            <a:picLocks noChangeAspect="1"/>
          </p:cNvPicPr>
          <p:nvPr/>
        </p:nvPicPr>
        <p:blipFill>
          <a:blip r:embed="rId10"/>
          <a:stretch/>
        </p:blipFill>
        <p:spPr>
          <a:xfrm>
            <a:off x="4981321" y="1527662"/>
            <a:ext cx="2233168" cy="2278930"/>
          </a:xfrm>
          <a:prstGeom prst="rect">
            <a:avLst/>
          </a:prstGeom>
        </p:spPr>
      </p:pic>
      <p:pic>
        <p:nvPicPr>
          <p:cNvPr id="30" name="그림 29">
            <a:extLst>
              <a:ext uri="{FF2B5EF4-FFF2-40B4-BE49-F238E27FC236}">
                <a16:creationId xmlns:a16="http://schemas.microsoft.com/office/drawing/2014/main" id="{A3486FF9-4C92-1807-3402-5A440F481CF1}"/>
              </a:ext>
            </a:extLst>
          </p:cNvPr>
          <p:cNvPicPr>
            <a:picLocks noChangeAspect="1"/>
          </p:cNvPicPr>
          <p:nvPr/>
        </p:nvPicPr>
        <p:blipFill>
          <a:blip r:embed="rId11"/>
          <a:stretch/>
        </p:blipFill>
        <p:spPr>
          <a:xfrm>
            <a:off x="2638044" y="1527732"/>
            <a:ext cx="2233168" cy="2265201"/>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6 · 링크프라이스 강점</a:t>
            </a:r>
            <a:endParaRPr lang="ko-KR" sz="900" dirty="0"/>
          </a:p>
        </p:txBody>
      </p:sp>
      <p:sp>
        <p:nvSpPr>
          <p:cNvPr id="3" name="TextBox 2"/>
          <p:cNvSpPr txBox="1"/>
          <p:nvPr/>
        </p:nvSpPr>
        <p:spPr>
          <a:xfrm>
            <a:off x="548640" y="658368"/>
            <a:ext cx="11064240" cy="868680"/>
          </a:xfrm>
          <a:prstGeom prst="rect">
            <a:avLst/>
          </a:prstGeom>
          <a:noFill/>
        </p:spPr>
        <p:txBody>
          <a:bodyPr wrap="square" lIns="0" tIns="0" rIns="0" bIns="0" anchor="ct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커뮤니케이션</a:t>
            </a:r>
            <a:endParaRPr lang="ko-KR" sz="1900" dirty="0"/>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0" name="PGNO"/>
          <p:cNvSpPr txBox="1"/>
          <p:nvPr/>
        </p:nvSpPr>
        <p:spPr>
          <a:xfrm>
            <a:off x="11292840" y="6473952"/>
            <a:ext cx="365760" cy="123111"/>
          </a:xfrm>
          <a:prstGeom prst="rect">
            <a:avLst/>
          </a:prstGeom>
          <a:noFill/>
        </p:spPr>
        <p:txBody>
          <a:bodyPr wrap="square" lIns="0" tIns="0" rIns="0" bIns="0" anchor="t">
            <a:spAutoFit/>
          </a:bodyPr>
          <a:lstStyle/>
          <a:p>
            <a:pPr algn="r"/>
            <a:r>
              <a:rPr lang="en-US" sz="800" dirty="0">
                <a:solidFill>
                  <a:srgbClr val="222222"/>
                </a:solidFill>
                <a:latin typeface="에이투지체 6 SemiBold"/>
              </a:rPr>
              <a:t>87</a:t>
            </a:r>
            <a:endParaRPr sz="800" dirty="0">
              <a:solidFill>
                <a:srgbClr val="222222"/>
              </a:solidFill>
              <a:latin typeface="에이투지체 6 SemiBold"/>
            </a:endParaRPr>
          </a:p>
        </p:txBody>
      </p:sp>
      <p:sp>
        <p:nvSpPr>
          <p:cNvPr id="12" name="slide-title">
            <a:extLst>
              <a:ext uri="{FF2B5EF4-FFF2-40B4-BE49-F238E27FC236}">
                <a16:creationId xmlns:a16="http://schemas.microsoft.com/office/drawing/2014/main" id="{4E674EA8-5364-653B-4C6F-72324DB0D9F9}"/>
              </a:ext>
            </a:extLst>
          </p:cNvPr>
          <p:cNvSpPr>
            <a:spLocks noGrp="1"/>
          </p:cNvSpPr>
          <p:nvPr/>
        </p:nvSpPr>
        <p:spPr>
          <a:xfrm>
            <a:off x="563880" y="1422400"/>
            <a:ext cx="4983480" cy="647700"/>
          </a:xfrm>
          <a:prstGeom prst="rect">
            <a:avLst/>
          </a:prstGeom>
          <a:noFill/>
          <a:ln w="0">
            <a:noFill/>
            <a:prstDash val="solid"/>
          </a:ln>
        </p:spPr>
        <p:txBody>
          <a:bodyPr wrap="square" lIns="0" tIns="0" rIns="0" bIns="0" anchor="ctr">
            <a:noAutofit/>
          </a:bodyPr>
          <a:lstStyle>
            <a:defPPr>
              <a:defRPr sz="1896" b="1">
                <a:solidFill>
                  <a:srgbClr val="222222"/>
                </a:solidFill>
                <a:latin typeface="Calibri"/>
                <a:ea typeface="Calibri"/>
                <a:cs typeface="Calibri"/>
              </a:defRPr>
            </a:defPPr>
          </a:lstStyle>
          <a:p>
            <a:pPr>
              <a:defRPr sz="1896" b="1">
                <a:solidFill>
                  <a:srgbClr val="222222"/>
                </a:solidFill>
                <a:latin typeface="Calibri"/>
                <a:ea typeface="Calibri"/>
                <a:cs typeface="Calibri"/>
              </a:defRPr>
            </a:pPr>
            <a:r>
              <a:rPr sz="1896" b="1" dirty="0" err="1">
                <a:solidFill>
                  <a:srgbClr val="222222"/>
                </a:solidFill>
                <a:latin typeface="에이투지체 8 ExtraBold" pitchFamily="50" charset="-127"/>
                <a:ea typeface="에이투지체 8 ExtraBold" pitchFamily="50" charset="-127"/>
                <a:cs typeface="Calibri"/>
              </a:rPr>
              <a:t>일간</a:t>
            </a:r>
            <a:r>
              <a:rPr sz="1896" b="1" dirty="0">
                <a:solidFill>
                  <a:srgbClr val="222222"/>
                </a:solidFill>
                <a:latin typeface="에이투지체 8 ExtraBold" pitchFamily="50" charset="-127"/>
                <a:ea typeface="에이투지체 8 ExtraBold" pitchFamily="50" charset="-127"/>
                <a:cs typeface="Calibri"/>
              </a:rPr>
              <a:t> </a:t>
            </a:r>
            <a:r>
              <a:rPr lang="ko-KR" altLang="en-US" sz="1896" b="1" dirty="0">
                <a:solidFill>
                  <a:srgbClr val="222222"/>
                </a:solidFill>
                <a:latin typeface="에이투지체 8 ExtraBold" pitchFamily="50" charset="-127"/>
                <a:ea typeface="에이투지체 8 ExtraBold" pitchFamily="50" charset="-127"/>
                <a:cs typeface="Calibri"/>
              </a:rPr>
              <a:t>성과 보고</a:t>
            </a:r>
            <a:r>
              <a:rPr sz="1896" b="1" dirty="0" err="1">
                <a:solidFill>
                  <a:srgbClr val="222222"/>
                </a:solidFill>
                <a:latin typeface="에이투지체 8 ExtraBold" pitchFamily="50" charset="-127"/>
                <a:ea typeface="에이투지체 8 ExtraBold" pitchFamily="50" charset="-127"/>
                <a:cs typeface="Calibri"/>
              </a:rPr>
              <a:t>부터</a:t>
            </a:r>
            <a:r>
              <a:rPr sz="1896" b="1" dirty="0">
                <a:solidFill>
                  <a:srgbClr val="222222"/>
                </a:solidFill>
                <a:latin typeface="에이투지체 8 ExtraBold" pitchFamily="50" charset="-127"/>
                <a:ea typeface="에이투지체 8 ExtraBold" pitchFamily="50" charset="-127"/>
                <a:cs typeface="Calibri"/>
              </a:rPr>
              <a:t> </a:t>
            </a:r>
            <a:r>
              <a:rPr sz="1896" b="1" dirty="0" err="1">
                <a:solidFill>
                  <a:srgbClr val="222222"/>
                </a:solidFill>
                <a:latin typeface="에이투지체 8 ExtraBold" pitchFamily="50" charset="-127"/>
                <a:ea typeface="에이투지체 8 ExtraBold" pitchFamily="50" charset="-127"/>
                <a:cs typeface="Calibri"/>
              </a:rPr>
              <a:t>연간</a:t>
            </a:r>
            <a:r>
              <a:rPr sz="1896" b="1" dirty="0">
                <a:solidFill>
                  <a:srgbClr val="222222"/>
                </a:solidFill>
                <a:latin typeface="에이투지체 8 ExtraBold" pitchFamily="50" charset="-127"/>
                <a:ea typeface="에이투지체 8 ExtraBold" pitchFamily="50" charset="-127"/>
                <a:cs typeface="Calibri"/>
              </a:rPr>
              <a:t> </a:t>
            </a:r>
            <a:r>
              <a:rPr sz="1896" b="1" dirty="0" err="1">
                <a:solidFill>
                  <a:srgbClr val="222222"/>
                </a:solidFill>
                <a:latin typeface="에이투지체 8 ExtraBold" pitchFamily="50" charset="-127"/>
                <a:ea typeface="에이투지체 8 ExtraBold" pitchFamily="50" charset="-127"/>
                <a:cs typeface="Calibri"/>
              </a:rPr>
              <a:t>결산</a:t>
            </a:r>
            <a:r>
              <a:rPr lang="en-US" sz="1896" b="1" dirty="0">
                <a:solidFill>
                  <a:srgbClr val="222222"/>
                </a:solidFill>
                <a:latin typeface="에이투지체 8 ExtraBold" pitchFamily="50" charset="-127"/>
                <a:ea typeface="에이투지체 8 ExtraBold" pitchFamily="50" charset="-127"/>
                <a:cs typeface="Calibri"/>
              </a:rPr>
              <a:t> </a:t>
            </a:r>
            <a:r>
              <a:rPr lang="ko-KR" altLang="en-US" sz="1896" b="1" dirty="0">
                <a:solidFill>
                  <a:srgbClr val="222222"/>
                </a:solidFill>
                <a:latin typeface="에이투지체 8 ExtraBold" pitchFamily="50" charset="-127"/>
                <a:ea typeface="에이투지체 8 ExtraBold" pitchFamily="50" charset="-127"/>
                <a:cs typeface="Calibri"/>
              </a:rPr>
              <a:t>리뷰</a:t>
            </a:r>
            <a:r>
              <a:rPr sz="1896" b="1" dirty="0" err="1">
                <a:solidFill>
                  <a:srgbClr val="222222"/>
                </a:solidFill>
                <a:latin typeface="에이투지체 8 ExtraBold" pitchFamily="50" charset="-127"/>
                <a:ea typeface="에이투지체 8 ExtraBold" pitchFamily="50" charset="-127"/>
                <a:cs typeface="Calibri"/>
              </a:rPr>
              <a:t>까지</a:t>
            </a:r>
            <a:endParaRPr sz="1896" b="1" dirty="0">
              <a:solidFill>
                <a:srgbClr val="222222"/>
              </a:solidFill>
              <a:latin typeface="에이투지체 8 ExtraBold" pitchFamily="50" charset="-127"/>
              <a:ea typeface="에이투지체 8 ExtraBold" pitchFamily="50" charset="-127"/>
              <a:cs typeface="Calibri"/>
            </a:endParaRPr>
          </a:p>
          <a:p>
            <a:pPr>
              <a:defRPr sz="1896" b="1">
                <a:solidFill>
                  <a:srgbClr val="222222"/>
                </a:solidFill>
                <a:latin typeface="Calibri"/>
                <a:ea typeface="Calibri"/>
                <a:cs typeface="Calibri"/>
              </a:defRPr>
            </a:pPr>
            <a:r>
              <a:rPr sz="1896" b="1" dirty="0">
                <a:solidFill>
                  <a:srgbClr val="222222"/>
                </a:solidFill>
                <a:latin typeface="에이투지체 8 ExtraBold" pitchFamily="50" charset="-127"/>
                <a:ea typeface="에이투지체 8 ExtraBold" pitchFamily="50" charset="-127"/>
                <a:cs typeface="Calibri"/>
              </a:rPr>
              <a:t>5단계 </a:t>
            </a:r>
            <a:r>
              <a:rPr sz="1896" b="1" dirty="0" err="1">
                <a:solidFill>
                  <a:srgbClr val="222222"/>
                </a:solidFill>
                <a:latin typeface="에이투지체 8 ExtraBold" pitchFamily="50" charset="-127"/>
                <a:ea typeface="에이투지체 8 ExtraBold" pitchFamily="50" charset="-127"/>
                <a:cs typeface="Calibri"/>
              </a:rPr>
              <a:t>보고</a:t>
            </a:r>
            <a:r>
              <a:rPr sz="1896" b="1" dirty="0">
                <a:solidFill>
                  <a:srgbClr val="222222"/>
                </a:solidFill>
                <a:latin typeface="에이투지체 8 ExtraBold" pitchFamily="50" charset="-127"/>
                <a:ea typeface="에이투지체 8 ExtraBold" pitchFamily="50" charset="-127"/>
                <a:cs typeface="Calibri"/>
              </a:rPr>
              <a:t> </a:t>
            </a:r>
            <a:r>
              <a:rPr sz="1896" b="1" dirty="0" err="1">
                <a:solidFill>
                  <a:srgbClr val="222222"/>
                </a:solidFill>
                <a:latin typeface="에이투지체 8 ExtraBold" pitchFamily="50" charset="-127"/>
                <a:ea typeface="에이투지체 8 ExtraBold" pitchFamily="50" charset="-127"/>
                <a:cs typeface="Calibri"/>
              </a:rPr>
              <a:t>체계로</a:t>
            </a:r>
            <a:r>
              <a:rPr sz="1896" b="1" dirty="0">
                <a:solidFill>
                  <a:srgbClr val="222222"/>
                </a:solidFill>
                <a:latin typeface="에이투지체 8 ExtraBold" pitchFamily="50" charset="-127"/>
                <a:ea typeface="에이투지체 8 ExtraBold" pitchFamily="50" charset="-127"/>
                <a:cs typeface="Calibri"/>
              </a:rPr>
              <a:t> </a:t>
            </a:r>
            <a:r>
              <a:rPr lang="ko-KR" altLang="en-US" sz="1896" b="1" dirty="0">
                <a:solidFill>
                  <a:srgbClr val="222222"/>
                </a:solidFill>
                <a:latin typeface="에이투지체 8 ExtraBold" pitchFamily="50" charset="-127"/>
                <a:ea typeface="에이투지체 8 ExtraBold" pitchFamily="50" charset="-127"/>
                <a:cs typeface="Calibri"/>
              </a:rPr>
              <a:t>커뮤니케이션 </a:t>
            </a:r>
            <a:r>
              <a:rPr sz="1896" b="1" dirty="0" err="1">
                <a:solidFill>
                  <a:srgbClr val="222222"/>
                </a:solidFill>
                <a:latin typeface="에이투지체 8 ExtraBold" pitchFamily="50" charset="-127"/>
                <a:ea typeface="에이투지체 8 ExtraBold" pitchFamily="50" charset="-127"/>
                <a:cs typeface="Calibri"/>
              </a:rPr>
              <a:t>하겠습니다</a:t>
            </a:r>
            <a:endParaRPr sz="1896" b="1" dirty="0">
              <a:solidFill>
                <a:srgbClr val="222222"/>
              </a:solidFill>
              <a:latin typeface="에이투지체 8 ExtraBold" pitchFamily="50" charset="-127"/>
              <a:ea typeface="에이투지체 8 ExtraBold" pitchFamily="50" charset="-127"/>
              <a:cs typeface="Calibri"/>
            </a:endParaRPr>
          </a:p>
        </p:txBody>
      </p:sp>
      <p:graphicFrame>
        <p:nvGraphicFramePr>
          <p:cNvPr id="14" name="표 13">
            <a:extLst>
              <a:ext uri="{FF2B5EF4-FFF2-40B4-BE49-F238E27FC236}">
                <a16:creationId xmlns:a16="http://schemas.microsoft.com/office/drawing/2014/main" id="{9F4EEDB6-1481-D106-3A92-5CC93E6945F0}"/>
              </a:ext>
            </a:extLst>
          </p:cNvPr>
          <p:cNvGraphicFramePr/>
          <p:nvPr>
            <p:extLst>
              <p:ext uri="{D42A27DB-BD31-4B8C-83A1-F6EECF244321}">
                <p14:modId xmlns:p14="http://schemas.microsoft.com/office/powerpoint/2010/main" val="681130857"/>
              </p:ext>
            </p:extLst>
          </p:nvPr>
        </p:nvGraphicFramePr>
        <p:xfrm>
          <a:off x="563880" y="2183384"/>
          <a:ext cx="11094720" cy="2865120"/>
        </p:xfrm>
        <a:graphic>
          <a:graphicData uri="http://schemas.openxmlformats.org/drawingml/2006/table">
            <a:tbl>
              <a:tblPr/>
              <a:tblGrid>
                <a:gridCol w="118872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7162800">
                  <a:extLst>
                    <a:ext uri="{9D8B030D-6E8A-4147-A177-3AD203B41FA5}">
                      <a16:colId xmlns:a16="http://schemas.microsoft.com/office/drawing/2014/main" val="20002"/>
                    </a:ext>
                  </a:extLst>
                </a:gridCol>
              </a:tblGrid>
              <a:tr h="477520">
                <a:tc>
                  <a:txBody>
                    <a:bodyPr/>
                    <a:lstStyle/>
                    <a:p>
                      <a:pPr algn="l"/>
                      <a:r>
                        <a:rPr sz="996" b="1">
                          <a:solidFill>
                            <a:srgbClr val="FFFFFF"/>
                          </a:solidFill>
                          <a:latin typeface="에이투지체 5 Medium" pitchFamily="50" charset="-127"/>
                          <a:ea typeface="에이투지체 5 Medium" pitchFamily="50" charset="-127"/>
                          <a:cs typeface="Calibri"/>
                        </a:rPr>
                        <a:t>주기</a:t>
                      </a:r>
                    </a:p>
                  </a:txBody>
                  <a:tcPr marL="57150" marR="57150" marT="28575" marB="28575" anchor="ctr">
                    <a:lnL w="6191">
                      <a:solidFill>
                        <a:srgbClr val="CDCDCD"/>
                      </a:solidFill>
                      <a:prstDash val="solid"/>
                    </a:lnL>
                    <a:lnR w="6191">
                      <a:solidFill>
                        <a:srgbClr val="CDCDCD"/>
                      </a:solidFill>
                      <a:prstDash val="solid"/>
                    </a:lnR>
                    <a:lnT w="6191">
                      <a:solidFill>
                        <a:srgbClr val="CDCDCD"/>
                      </a:solidFill>
                      <a:prstDash val="solid"/>
                    </a:lnT>
                    <a:lnB w="6191">
                      <a:solidFill>
                        <a:srgbClr val="CDCDCD"/>
                      </a:solidFill>
                      <a:prstDash val="solid"/>
                    </a:lnB>
                    <a:solidFill>
                      <a:srgbClr val="202020"/>
                    </a:solidFill>
                  </a:tcPr>
                </a:tc>
                <a:tc>
                  <a:txBody>
                    <a:bodyPr/>
                    <a:lstStyle/>
                    <a:p>
                      <a:pPr algn="l"/>
                      <a:r>
                        <a:rPr sz="996" b="1">
                          <a:solidFill>
                            <a:srgbClr val="FFFFFF"/>
                          </a:solidFill>
                          <a:latin typeface="에이투지체 5 Medium" pitchFamily="50" charset="-127"/>
                          <a:ea typeface="에이투지체 5 Medium" pitchFamily="50" charset="-127"/>
                          <a:cs typeface="Calibri"/>
                        </a:rPr>
                        <a:t>담당 · 시점</a:t>
                      </a:r>
                    </a:p>
                  </a:txBody>
                  <a:tcPr marL="57150" marR="57150" marT="28575" marB="28575" anchor="ctr">
                    <a:lnL w="6191" cap="flat" cmpd="sng" algn="ctr">
                      <a:solidFill>
                        <a:srgbClr val="CDCDCD"/>
                      </a:solidFill>
                      <a:prstDash val="solid"/>
                      <a:round/>
                      <a:headEnd type="none" w="med" len="med"/>
                      <a:tailEnd type="none" w="med" len="med"/>
                    </a:lnL>
                    <a:lnR w="6191">
                      <a:solidFill>
                        <a:srgbClr val="CDCDCD"/>
                      </a:solidFill>
                      <a:prstDash val="solid"/>
                    </a:lnR>
                    <a:lnT w="6191">
                      <a:solidFill>
                        <a:srgbClr val="CDCDCD"/>
                      </a:solidFill>
                      <a:prstDash val="solid"/>
                    </a:lnT>
                    <a:lnB w="6191">
                      <a:solidFill>
                        <a:srgbClr val="CDCDCD"/>
                      </a:solidFill>
                      <a:prstDash val="solid"/>
                    </a:lnB>
                    <a:solidFill>
                      <a:srgbClr val="202020"/>
                    </a:solidFill>
                  </a:tcPr>
                </a:tc>
                <a:tc>
                  <a:txBody>
                    <a:bodyPr/>
                    <a:lstStyle/>
                    <a:p>
                      <a:pPr algn="l"/>
                      <a:r>
                        <a:rPr sz="996" b="1">
                          <a:solidFill>
                            <a:srgbClr val="FFFFFF"/>
                          </a:solidFill>
                          <a:latin typeface="에이투지체 5 Medium" pitchFamily="50" charset="-127"/>
                          <a:ea typeface="에이투지체 5 Medium" pitchFamily="50" charset="-127"/>
                          <a:cs typeface="Calibri"/>
                        </a:rPr>
                        <a:t>보고 내용</a:t>
                      </a:r>
                    </a:p>
                  </a:txBody>
                  <a:tcPr marL="57150" marR="57150" marT="28575" marB="28575" anchor="ctr">
                    <a:lnL w="6191" cap="flat" cmpd="sng" algn="ctr">
                      <a:solidFill>
                        <a:srgbClr val="CDCDCD"/>
                      </a:solidFill>
                      <a:prstDash val="solid"/>
                      <a:round/>
                      <a:headEnd type="none" w="med" len="med"/>
                      <a:tailEnd type="none" w="med" len="med"/>
                    </a:lnL>
                    <a:lnR w="6191">
                      <a:solidFill>
                        <a:srgbClr val="CDCDCD"/>
                      </a:solidFill>
                      <a:prstDash val="solid"/>
                    </a:lnR>
                    <a:lnT w="6191">
                      <a:solidFill>
                        <a:srgbClr val="CDCDCD"/>
                      </a:solidFill>
                      <a:prstDash val="solid"/>
                    </a:lnT>
                    <a:lnB w="6191">
                      <a:solidFill>
                        <a:srgbClr val="CDCDCD"/>
                      </a:solidFill>
                      <a:prstDash val="solid"/>
                    </a:lnB>
                    <a:solidFill>
                      <a:srgbClr val="202020"/>
                    </a:solidFill>
                  </a:tcPr>
                </a:tc>
                <a:extLst>
                  <a:ext uri="{0D108BD9-81ED-4DB2-BD59-A6C34878D82A}">
                    <a16:rowId xmlns:a16="http://schemas.microsoft.com/office/drawing/2014/main" val="10000"/>
                  </a:ext>
                </a:extLst>
              </a:tr>
              <a:tr h="477520">
                <a:tc>
                  <a:txBody>
                    <a:bodyPr/>
                    <a:lstStyle/>
                    <a:p>
                      <a:pPr algn="l"/>
                      <a:r>
                        <a:rPr sz="996" b="0">
                          <a:solidFill>
                            <a:srgbClr val="222222"/>
                          </a:solidFill>
                          <a:latin typeface="에이투지체 5 Medium" pitchFamily="50" charset="-127"/>
                          <a:ea typeface="에이투지체 5 Medium" pitchFamily="50" charset="-127"/>
                          <a:cs typeface="Calibri"/>
                        </a:rPr>
                        <a:t>일간</a:t>
                      </a:r>
                    </a:p>
                  </a:txBody>
                  <a:tcPr marL="57150" marR="57150" marT="28575" marB="28575" anchor="ctr">
                    <a:lnL w="6191">
                      <a:solidFill>
                        <a:srgbClr val="CDCDCD"/>
                      </a:solidFill>
                      <a:prstDash val="solid"/>
                    </a:lnL>
                    <a:lnR w="6191">
                      <a:solidFill>
                        <a:srgbClr val="CDCDCD"/>
                      </a:solidFill>
                      <a:prstDash val="solid"/>
                    </a:lnR>
                    <a:lnT w="6191" cap="flat" cmpd="sng" algn="ctr">
                      <a:solidFill>
                        <a:srgbClr val="CDCDCD"/>
                      </a:solidFill>
                      <a:prstDash val="solid"/>
                      <a:round/>
                      <a:headEnd type="none" w="med" len="med"/>
                      <a:tailEnd type="none" w="med" len="med"/>
                    </a:lnT>
                    <a:lnB w="6191">
                      <a:solidFill>
                        <a:srgbClr val="CDCDCD"/>
                      </a:solidFill>
                      <a:prstDash val="solid"/>
                    </a:lnB>
                    <a:solidFill>
                      <a:srgbClr val="FAFAFA"/>
                    </a:solidFill>
                  </a:tcPr>
                </a:tc>
                <a:tc>
                  <a:txBody>
                    <a:bodyPr/>
                    <a:lstStyle/>
                    <a:p>
                      <a:pPr algn="l"/>
                      <a:r>
                        <a:rPr sz="996" b="0">
                          <a:solidFill>
                            <a:srgbClr val="222222"/>
                          </a:solidFill>
                          <a:latin typeface="에이투지체 5 Medium" pitchFamily="50" charset="-127"/>
                          <a:ea typeface="에이투지체 5 Medium" pitchFamily="50" charset="-127"/>
                          <a:cs typeface="Calibri"/>
                        </a:rPr>
                        <a:t>실무 PM · 매일</a:t>
                      </a:r>
                    </a:p>
                  </a:txBody>
                  <a:tcPr marL="57150" marR="57150" marT="28575" marB="28575" anchor="ctr">
                    <a:lnL w="6191" cap="flat" cmpd="sng" algn="ctr">
                      <a:solidFill>
                        <a:srgbClr val="CDCDCD"/>
                      </a:solidFill>
                      <a:prstDash val="solid"/>
                      <a:round/>
                      <a:headEnd type="none" w="med" len="med"/>
                      <a:tailEnd type="none" w="med" len="med"/>
                    </a:lnL>
                    <a:lnR w="6191">
                      <a:solidFill>
                        <a:srgbClr val="CDCDCD"/>
                      </a:solidFill>
                      <a:prstDash val="solid"/>
                    </a:lnR>
                    <a:lnT w="6191" cap="flat" cmpd="sng" algn="ctr">
                      <a:solidFill>
                        <a:srgbClr val="CDCDCD"/>
                      </a:solidFill>
                      <a:prstDash val="solid"/>
                      <a:round/>
                      <a:headEnd type="none" w="med" len="med"/>
                      <a:tailEnd type="none" w="med" len="med"/>
                    </a:lnT>
                    <a:lnB w="6191">
                      <a:solidFill>
                        <a:srgbClr val="CDCDCD"/>
                      </a:solidFill>
                      <a:prstDash val="solid"/>
                    </a:lnB>
                    <a:solidFill>
                      <a:srgbClr val="FAFAFA"/>
                    </a:solidFill>
                  </a:tcPr>
                </a:tc>
                <a:tc>
                  <a:txBody>
                    <a:bodyPr/>
                    <a:lstStyle/>
                    <a:p>
                      <a:pPr algn="l"/>
                      <a:r>
                        <a:rPr sz="996" b="0">
                          <a:solidFill>
                            <a:srgbClr val="222222"/>
                          </a:solidFill>
                          <a:latin typeface="에이투지체 5 Medium" pitchFamily="50" charset="-127"/>
                          <a:ea typeface="에이투지체 5 Medium" pitchFamily="50" charset="-127"/>
                          <a:cs typeface="Calibri"/>
                        </a:rPr>
                        <a:t>전일 매체별 성과 모니터링, 이슈 발생 시 즉시 공유 및 대응</a:t>
                      </a:r>
                    </a:p>
                  </a:txBody>
                  <a:tcPr marL="57150" marR="57150" marT="28575" marB="28575" anchor="ctr">
                    <a:lnL w="6191" cap="flat" cmpd="sng" algn="ctr">
                      <a:solidFill>
                        <a:srgbClr val="CDCDCD"/>
                      </a:solidFill>
                      <a:prstDash val="solid"/>
                      <a:round/>
                      <a:headEnd type="none" w="med" len="med"/>
                      <a:tailEnd type="none" w="med" len="med"/>
                    </a:lnL>
                    <a:lnR w="6191">
                      <a:solidFill>
                        <a:srgbClr val="CDCDCD"/>
                      </a:solidFill>
                      <a:prstDash val="solid"/>
                    </a:lnR>
                    <a:lnT w="6191" cap="flat" cmpd="sng" algn="ctr">
                      <a:solidFill>
                        <a:srgbClr val="CDCDCD"/>
                      </a:solidFill>
                      <a:prstDash val="solid"/>
                      <a:round/>
                      <a:headEnd type="none" w="med" len="med"/>
                      <a:tailEnd type="none" w="med" len="med"/>
                    </a:lnT>
                    <a:lnB w="6191">
                      <a:solidFill>
                        <a:srgbClr val="CDCDCD"/>
                      </a:solidFill>
                      <a:prstDash val="solid"/>
                    </a:lnB>
                    <a:solidFill>
                      <a:srgbClr val="FAFAFA"/>
                    </a:solidFill>
                  </a:tcPr>
                </a:tc>
                <a:extLst>
                  <a:ext uri="{0D108BD9-81ED-4DB2-BD59-A6C34878D82A}">
                    <a16:rowId xmlns:a16="http://schemas.microsoft.com/office/drawing/2014/main" val="10001"/>
                  </a:ext>
                </a:extLst>
              </a:tr>
              <a:tr h="477520">
                <a:tc>
                  <a:txBody>
                    <a:bodyPr/>
                    <a:lstStyle/>
                    <a:p>
                      <a:pPr algn="l"/>
                      <a:r>
                        <a:rPr sz="996" b="0">
                          <a:solidFill>
                            <a:srgbClr val="222222"/>
                          </a:solidFill>
                          <a:latin typeface="에이투지체 5 Medium" pitchFamily="50" charset="-127"/>
                          <a:ea typeface="에이투지체 5 Medium" pitchFamily="50" charset="-127"/>
                          <a:cs typeface="Calibri"/>
                        </a:rPr>
                        <a:t>주간</a:t>
                      </a:r>
                    </a:p>
                  </a:txBody>
                  <a:tcPr marL="57150" marR="57150" marT="28575" marB="28575" anchor="ctr">
                    <a:lnL w="6191">
                      <a:solidFill>
                        <a:srgbClr val="CDCDCD"/>
                      </a:solidFill>
                      <a:prstDash val="solid"/>
                    </a:lnL>
                    <a:lnR w="6191">
                      <a:solidFill>
                        <a:srgbClr val="CDCDCD"/>
                      </a:solidFill>
                      <a:prstDash val="solid"/>
                    </a:lnR>
                    <a:lnT w="6191" cap="flat" cmpd="sng" algn="ctr">
                      <a:solidFill>
                        <a:srgbClr val="CDCDCD"/>
                      </a:solidFill>
                      <a:prstDash val="solid"/>
                      <a:round/>
                      <a:headEnd type="none" w="med" len="med"/>
                      <a:tailEnd type="none" w="med" len="med"/>
                    </a:lnT>
                    <a:lnB w="6191">
                      <a:solidFill>
                        <a:srgbClr val="CDCDCD"/>
                      </a:solidFill>
                      <a:prstDash val="solid"/>
                    </a:lnB>
                    <a:solidFill>
                      <a:srgbClr val="FAFAFA"/>
                    </a:solidFill>
                  </a:tcPr>
                </a:tc>
                <a:tc>
                  <a:txBody>
                    <a:bodyPr/>
                    <a:lstStyle/>
                    <a:p>
                      <a:pPr algn="l"/>
                      <a:r>
                        <a:rPr sz="996" b="0">
                          <a:solidFill>
                            <a:srgbClr val="222222"/>
                          </a:solidFill>
                          <a:latin typeface="에이투지체 5 Medium" pitchFamily="50" charset="-127"/>
                          <a:ea typeface="에이투지체 5 Medium" pitchFamily="50" charset="-127"/>
                          <a:cs typeface="Calibri"/>
                        </a:rPr>
                        <a:t>실무 PM · 매주 화요일</a:t>
                      </a:r>
                    </a:p>
                  </a:txBody>
                  <a:tcPr marL="57150" marR="57150" marT="28575" marB="28575" anchor="ctr">
                    <a:lnL w="6191" cap="flat" cmpd="sng" algn="ctr">
                      <a:solidFill>
                        <a:srgbClr val="CDCDCD"/>
                      </a:solidFill>
                      <a:prstDash val="solid"/>
                      <a:round/>
                      <a:headEnd type="none" w="med" len="med"/>
                      <a:tailEnd type="none" w="med" len="med"/>
                    </a:lnL>
                    <a:lnR w="6191">
                      <a:solidFill>
                        <a:srgbClr val="CDCDCD"/>
                      </a:solidFill>
                      <a:prstDash val="solid"/>
                    </a:lnR>
                    <a:lnT w="6191" cap="flat" cmpd="sng" algn="ctr">
                      <a:solidFill>
                        <a:srgbClr val="CDCDCD"/>
                      </a:solidFill>
                      <a:prstDash val="solid"/>
                      <a:round/>
                      <a:headEnd type="none" w="med" len="med"/>
                      <a:tailEnd type="none" w="med" len="med"/>
                    </a:lnT>
                    <a:lnB w="6191">
                      <a:solidFill>
                        <a:srgbClr val="CDCDCD"/>
                      </a:solidFill>
                      <a:prstDash val="solid"/>
                    </a:lnB>
                    <a:solidFill>
                      <a:srgbClr val="FAFAFA"/>
                    </a:solidFill>
                  </a:tcPr>
                </a:tc>
                <a:tc>
                  <a:txBody>
                    <a:bodyPr/>
                    <a:lstStyle/>
                    <a:p>
                      <a:pPr algn="l"/>
                      <a:r>
                        <a:rPr sz="996" b="0">
                          <a:solidFill>
                            <a:srgbClr val="222222"/>
                          </a:solidFill>
                          <a:latin typeface="에이투지체 5 Medium" pitchFamily="50" charset="-127"/>
                          <a:ea typeface="에이투지체 5 Medium" pitchFamily="50" charset="-127"/>
                          <a:cs typeface="Calibri"/>
                        </a:rPr>
                        <a:t>전주 매체별 성과와 금주 운영 계획, 매체 업데이트 공유</a:t>
                      </a:r>
                    </a:p>
                  </a:txBody>
                  <a:tcPr marL="57150" marR="57150" marT="28575" marB="28575" anchor="ctr">
                    <a:lnL w="6191" cap="flat" cmpd="sng" algn="ctr">
                      <a:solidFill>
                        <a:srgbClr val="CDCDCD"/>
                      </a:solidFill>
                      <a:prstDash val="solid"/>
                      <a:round/>
                      <a:headEnd type="none" w="med" len="med"/>
                      <a:tailEnd type="none" w="med" len="med"/>
                    </a:lnL>
                    <a:lnR w="6191">
                      <a:solidFill>
                        <a:srgbClr val="CDCDCD"/>
                      </a:solidFill>
                      <a:prstDash val="solid"/>
                    </a:lnR>
                    <a:lnT w="6191" cap="flat" cmpd="sng" algn="ctr">
                      <a:solidFill>
                        <a:srgbClr val="CDCDCD"/>
                      </a:solidFill>
                      <a:prstDash val="solid"/>
                      <a:round/>
                      <a:headEnd type="none" w="med" len="med"/>
                      <a:tailEnd type="none" w="med" len="med"/>
                    </a:lnT>
                    <a:lnB w="6191">
                      <a:solidFill>
                        <a:srgbClr val="CDCDCD"/>
                      </a:solidFill>
                      <a:prstDash val="solid"/>
                    </a:lnB>
                    <a:solidFill>
                      <a:srgbClr val="FAFAFA"/>
                    </a:solidFill>
                  </a:tcPr>
                </a:tc>
                <a:extLst>
                  <a:ext uri="{0D108BD9-81ED-4DB2-BD59-A6C34878D82A}">
                    <a16:rowId xmlns:a16="http://schemas.microsoft.com/office/drawing/2014/main" val="10002"/>
                  </a:ext>
                </a:extLst>
              </a:tr>
              <a:tr h="477520">
                <a:tc>
                  <a:txBody>
                    <a:bodyPr/>
                    <a:lstStyle/>
                    <a:p>
                      <a:pPr algn="l"/>
                      <a:r>
                        <a:rPr sz="996" b="0">
                          <a:solidFill>
                            <a:srgbClr val="222222"/>
                          </a:solidFill>
                          <a:latin typeface="에이투지체 5 Medium" pitchFamily="50" charset="-127"/>
                          <a:ea typeface="에이투지체 5 Medium" pitchFamily="50" charset="-127"/>
                          <a:cs typeface="Calibri"/>
                        </a:rPr>
                        <a:t>월간</a:t>
                      </a:r>
                    </a:p>
                  </a:txBody>
                  <a:tcPr marL="57150" marR="57150" marT="28575" marB="28575" anchor="ctr">
                    <a:lnL w="6191">
                      <a:solidFill>
                        <a:srgbClr val="CDCDCD"/>
                      </a:solidFill>
                      <a:prstDash val="solid"/>
                    </a:lnL>
                    <a:lnR w="6191">
                      <a:solidFill>
                        <a:srgbClr val="CDCDCD"/>
                      </a:solidFill>
                      <a:prstDash val="solid"/>
                    </a:lnR>
                    <a:lnT w="6191" cap="flat" cmpd="sng" algn="ctr">
                      <a:solidFill>
                        <a:srgbClr val="CDCDCD"/>
                      </a:solidFill>
                      <a:prstDash val="solid"/>
                      <a:round/>
                      <a:headEnd type="none" w="med" len="med"/>
                      <a:tailEnd type="none" w="med" len="med"/>
                    </a:lnT>
                    <a:lnB w="6191">
                      <a:solidFill>
                        <a:srgbClr val="CDCDCD"/>
                      </a:solidFill>
                      <a:prstDash val="solid"/>
                    </a:lnB>
                    <a:solidFill>
                      <a:srgbClr val="FAFAFA"/>
                    </a:solidFill>
                  </a:tcPr>
                </a:tc>
                <a:tc>
                  <a:txBody>
                    <a:bodyPr/>
                    <a:lstStyle/>
                    <a:p>
                      <a:pPr algn="l"/>
                      <a:r>
                        <a:rPr sz="996" b="0">
                          <a:solidFill>
                            <a:srgbClr val="222222"/>
                          </a:solidFill>
                          <a:latin typeface="에이투지체 5 Medium" pitchFamily="50" charset="-127"/>
                          <a:ea typeface="에이투지체 5 Medium" pitchFamily="50" charset="-127"/>
                          <a:cs typeface="Calibri"/>
                        </a:rPr>
                        <a:t>총괄·실무 PM · 매월 14일 이내</a:t>
                      </a:r>
                    </a:p>
                  </a:txBody>
                  <a:tcPr marL="57150" marR="57150" marT="28575" marB="28575" anchor="ctr">
                    <a:lnL w="6191" cap="flat" cmpd="sng" algn="ctr">
                      <a:solidFill>
                        <a:srgbClr val="CDCDCD"/>
                      </a:solidFill>
                      <a:prstDash val="solid"/>
                      <a:round/>
                      <a:headEnd type="none" w="med" len="med"/>
                      <a:tailEnd type="none" w="med" len="med"/>
                    </a:lnL>
                    <a:lnR w="6191">
                      <a:solidFill>
                        <a:srgbClr val="CDCDCD"/>
                      </a:solidFill>
                      <a:prstDash val="solid"/>
                    </a:lnR>
                    <a:lnT w="6191" cap="flat" cmpd="sng" algn="ctr">
                      <a:solidFill>
                        <a:srgbClr val="CDCDCD"/>
                      </a:solidFill>
                      <a:prstDash val="solid"/>
                      <a:round/>
                      <a:headEnd type="none" w="med" len="med"/>
                      <a:tailEnd type="none" w="med" len="med"/>
                    </a:lnT>
                    <a:lnB w="6191">
                      <a:solidFill>
                        <a:srgbClr val="CDCDCD"/>
                      </a:solidFill>
                      <a:prstDash val="solid"/>
                    </a:lnB>
                    <a:solidFill>
                      <a:srgbClr val="FAFAFA"/>
                    </a:solidFill>
                  </a:tcPr>
                </a:tc>
                <a:tc>
                  <a:txBody>
                    <a:bodyPr/>
                    <a:lstStyle/>
                    <a:p>
                      <a:pPr algn="l"/>
                      <a:r>
                        <a:rPr sz="996" b="0">
                          <a:solidFill>
                            <a:srgbClr val="222222"/>
                          </a:solidFill>
                          <a:latin typeface="에이투지체 5 Medium" pitchFamily="50" charset="-127"/>
                          <a:ea typeface="에이투지체 5 Medium" pitchFamily="50" charset="-127"/>
                          <a:cs typeface="Calibri"/>
                        </a:rPr>
                        <a:t>전월 성과와 당월 운영 계획, 경쟁사 이슈와 트렌드 보고</a:t>
                      </a:r>
                    </a:p>
                  </a:txBody>
                  <a:tcPr marL="57150" marR="57150" marT="28575" marB="28575" anchor="ctr">
                    <a:lnL w="6191" cap="flat" cmpd="sng" algn="ctr">
                      <a:solidFill>
                        <a:srgbClr val="CDCDCD"/>
                      </a:solidFill>
                      <a:prstDash val="solid"/>
                      <a:round/>
                      <a:headEnd type="none" w="med" len="med"/>
                      <a:tailEnd type="none" w="med" len="med"/>
                    </a:lnL>
                    <a:lnR w="6191">
                      <a:solidFill>
                        <a:srgbClr val="CDCDCD"/>
                      </a:solidFill>
                      <a:prstDash val="solid"/>
                    </a:lnR>
                    <a:lnT w="6191" cap="flat" cmpd="sng" algn="ctr">
                      <a:solidFill>
                        <a:srgbClr val="CDCDCD"/>
                      </a:solidFill>
                      <a:prstDash val="solid"/>
                      <a:round/>
                      <a:headEnd type="none" w="med" len="med"/>
                      <a:tailEnd type="none" w="med" len="med"/>
                    </a:lnT>
                    <a:lnB w="6191">
                      <a:solidFill>
                        <a:srgbClr val="CDCDCD"/>
                      </a:solidFill>
                      <a:prstDash val="solid"/>
                    </a:lnB>
                    <a:solidFill>
                      <a:srgbClr val="FAFAFA"/>
                    </a:solidFill>
                  </a:tcPr>
                </a:tc>
                <a:extLst>
                  <a:ext uri="{0D108BD9-81ED-4DB2-BD59-A6C34878D82A}">
                    <a16:rowId xmlns:a16="http://schemas.microsoft.com/office/drawing/2014/main" val="10003"/>
                  </a:ext>
                </a:extLst>
              </a:tr>
              <a:tr h="477520">
                <a:tc>
                  <a:txBody>
                    <a:bodyPr/>
                    <a:lstStyle/>
                    <a:p>
                      <a:pPr algn="l"/>
                      <a:r>
                        <a:rPr sz="996" b="0">
                          <a:solidFill>
                            <a:srgbClr val="222222"/>
                          </a:solidFill>
                          <a:latin typeface="에이투지체 5 Medium" pitchFamily="50" charset="-127"/>
                          <a:ea typeface="에이투지체 5 Medium" pitchFamily="50" charset="-127"/>
                          <a:cs typeface="Calibri"/>
                        </a:rPr>
                        <a:t>분기</a:t>
                      </a:r>
                    </a:p>
                  </a:txBody>
                  <a:tcPr marL="57150" marR="57150" marT="28575" marB="28575" anchor="ctr">
                    <a:lnL w="6191">
                      <a:solidFill>
                        <a:srgbClr val="CDCDCD"/>
                      </a:solidFill>
                      <a:prstDash val="solid"/>
                    </a:lnL>
                    <a:lnR w="6191">
                      <a:solidFill>
                        <a:srgbClr val="CDCDCD"/>
                      </a:solidFill>
                      <a:prstDash val="solid"/>
                    </a:lnR>
                    <a:lnT w="6191" cap="flat" cmpd="sng" algn="ctr">
                      <a:solidFill>
                        <a:srgbClr val="CDCDCD"/>
                      </a:solidFill>
                      <a:prstDash val="solid"/>
                      <a:round/>
                      <a:headEnd type="none" w="med" len="med"/>
                      <a:tailEnd type="none" w="med" len="med"/>
                    </a:lnT>
                    <a:lnB w="6191">
                      <a:solidFill>
                        <a:srgbClr val="CDCDCD"/>
                      </a:solidFill>
                      <a:prstDash val="solid"/>
                    </a:lnB>
                    <a:solidFill>
                      <a:srgbClr val="FAFAFA"/>
                    </a:solidFill>
                  </a:tcPr>
                </a:tc>
                <a:tc>
                  <a:txBody>
                    <a:bodyPr/>
                    <a:lstStyle/>
                    <a:p>
                      <a:pPr algn="l"/>
                      <a:r>
                        <a:rPr sz="996" b="0">
                          <a:solidFill>
                            <a:srgbClr val="222222"/>
                          </a:solidFill>
                          <a:latin typeface="에이투지체 5 Medium" pitchFamily="50" charset="-127"/>
                          <a:ea typeface="에이투지체 5 Medium" pitchFamily="50" charset="-127"/>
                          <a:cs typeface="Calibri"/>
                        </a:rPr>
                        <a:t>총괄·실무 PM · 분기별</a:t>
                      </a:r>
                    </a:p>
                  </a:txBody>
                  <a:tcPr marL="57150" marR="57150" marT="28575" marB="28575" anchor="ctr">
                    <a:lnL w="6191" cap="flat" cmpd="sng" algn="ctr">
                      <a:solidFill>
                        <a:srgbClr val="CDCDCD"/>
                      </a:solidFill>
                      <a:prstDash val="solid"/>
                      <a:round/>
                      <a:headEnd type="none" w="med" len="med"/>
                      <a:tailEnd type="none" w="med" len="med"/>
                    </a:lnL>
                    <a:lnR w="6191">
                      <a:solidFill>
                        <a:srgbClr val="CDCDCD"/>
                      </a:solidFill>
                      <a:prstDash val="solid"/>
                    </a:lnR>
                    <a:lnT w="6191" cap="flat" cmpd="sng" algn="ctr">
                      <a:solidFill>
                        <a:srgbClr val="CDCDCD"/>
                      </a:solidFill>
                      <a:prstDash val="solid"/>
                      <a:round/>
                      <a:headEnd type="none" w="med" len="med"/>
                      <a:tailEnd type="none" w="med" len="med"/>
                    </a:lnT>
                    <a:lnB w="6191">
                      <a:solidFill>
                        <a:srgbClr val="CDCDCD"/>
                      </a:solidFill>
                      <a:prstDash val="solid"/>
                    </a:lnB>
                    <a:solidFill>
                      <a:srgbClr val="FAFAFA"/>
                    </a:solidFill>
                  </a:tcPr>
                </a:tc>
                <a:tc>
                  <a:txBody>
                    <a:bodyPr/>
                    <a:lstStyle/>
                    <a:p>
                      <a:pPr algn="l"/>
                      <a:r>
                        <a:rPr sz="996" b="0">
                          <a:solidFill>
                            <a:srgbClr val="222222"/>
                          </a:solidFill>
                          <a:latin typeface="에이투지체 5 Medium" pitchFamily="50" charset="-127"/>
                          <a:ea typeface="에이투지체 5 Medium" pitchFamily="50" charset="-127"/>
                          <a:cs typeface="Calibri"/>
                        </a:rPr>
                        <a:t>지난 분기 성과와 향후 운영 계획, 내·외부 이슈 검토</a:t>
                      </a:r>
                    </a:p>
                  </a:txBody>
                  <a:tcPr marL="57150" marR="57150" marT="28575" marB="28575" anchor="ctr">
                    <a:lnL w="6191" cap="flat" cmpd="sng" algn="ctr">
                      <a:solidFill>
                        <a:srgbClr val="CDCDCD"/>
                      </a:solidFill>
                      <a:prstDash val="solid"/>
                      <a:round/>
                      <a:headEnd type="none" w="med" len="med"/>
                      <a:tailEnd type="none" w="med" len="med"/>
                    </a:lnL>
                    <a:lnR w="6191">
                      <a:solidFill>
                        <a:srgbClr val="CDCDCD"/>
                      </a:solidFill>
                      <a:prstDash val="solid"/>
                    </a:lnR>
                    <a:lnT w="6191" cap="flat" cmpd="sng" algn="ctr">
                      <a:solidFill>
                        <a:srgbClr val="CDCDCD"/>
                      </a:solidFill>
                      <a:prstDash val="solid"/>
                      <a:round/>
                      <a:headEnd type="none" w="med" len="med"/>
                      <a:tailEnd type="none" w="med" len="med"/>
                    </a:lnT>
                    <a:lnB w="6191">
                      <a:solidFill>
                        <a:srgbClr val="CDCDCD"/>
                      </a:solidFill>
                      <a:prstDash val="solid"/>
                    </a:lnB>
                    <a:solidFill>
                      <a:srgbClr val="FAFAFA"/>
                    </a:solidFill>
                  </a:tcPr>
                </a:tc>
                <a:extLst>
                  <a:ext uri="{0D108BD9-81ED-4DB2-BD59-A6C34878D82A}">
                    <a16:rowId xmlns:a16="http://schemas.microsoft.com/office/drawing/2014/main" val="10004"/>
                  </a:ext>
                </a:extLst>
              </a:tr>
              <a:tr h="477520">
                <a:tc>
                  <a:txBody>
                    <a:bodyPr/>
                    <a:lstStyle/>
                    <a:p>
                      <a:pPr algn="l"/>
                      <a:r>
                        <a:rPr sz="996" b="0">
                          <a:solidFill>
                            <a:srgbClr val="222222"/>
                          </a:solidFill>
                          <a:latin typeface="에이투지체 5 Medium" pitchFamily="50" charset="-127"/>
                          <a:ea typeface="에이투지체 5 Medium" pitchFamily="50" charset="-127"/>
                          <a:cs typeface="Calibri"/>
                        </a:rPr>
                        <a:t>연간</a:t>
                      </a:r>
                    </a:p>
                  </a:txBody>
                  <a:tcPr marL="57150" marR="57150" marT="28575" marB="28575" anchor="ctr">
                    <a:lnL w="6191">
                      <a:solidFill>
                        <a:srgbClr val="CDCDCD"/>
                      </a:solidFill>
                      <a:prstDash val="solid"/>
                    </a:lnL>
                    <a:lnR w="6191">
                      <a:solidFill>
                        <a:srgbClr val="CDCDCD"/>
                      </a:solidFill>
                      <a:prstDash val="solid"/>
                    </a:lnR>
                    <a:lnT w="6191" cap="flat" cmpd="sng" algn="ctr">
                      <a:solidFill>
                        <a:srgbClr val="CDCDCD"/>
                      </a:solidFill>
                      <a:prstDash val="solid"/>
                      <a:round/>
                      <a:headEnd type="none" w="med" len="med"/>
                      <a:tailEnd type="none" w="med" len="med"/>
                    </a:lnT>
                    <a:lnB w="6191">
                      <a:solidFill>
                        <a:srgbClr val="CDCDCD"/>
                      </a:solidFill>
                      <a:prstDash val="solid"/>
                    </a:lnB>
                    <a:solidFill>
                      <a:srgbClr val="FAFAFA"/>
                    </a:solidFill>
                  </a:tcPr>
                </a:tc>
                <a:tc>
                  <a:txBody>
                    <a:bodyPr/>
                    <a:lstStyle/>
                    <a:p>
                      <a:pPr algn="l"/>
                      <a:r>
                        <a:rPr sz="996" b="0">
                          <a:solidFill>
                            <a:srgbClr val="222222"/>
                          </a:solidFill>
                          <a:latin typeface="에이투지체 5 Medium" pitchFamily="50" charset="-127"/>
                          <a:ea typeface="에이투지체 5 Medium" pitchFamily="50" charset="-127"/>
                          <a:cs typeface="Calibri"/>
                        </a:rPr>
                        <a:t>총괄·실무 PM · 과업 종료 1주 내</a:t>
                      </a:r>
                    </a:p>
                  </a:txBody>
                  <a:tcPr marL="57150" marR="57150" marT="28575" marB="28575" anchor="ctr">
                    <a:lnL w="6191" cap="flat" cmpd="sng" algn="ctr">
                      <a:solidFill>
                        <a:srgbClr val="CDCDCD"/>
                      </a:solidFill>
                      <a:prstDash val="solid"/>
                      <a:round/>
                      <a:headEnd type="none" w="med" len="med"/>
                      <a:tailEnd type="none" w="med" len="med"/>
                    </a:lnL>
                    <a:lnR w="6191">
                      <a:solidFill>
                        <a:srgbClr val="CDCDCD"/>
                      </a:solidFill>
                      <a:prstDash val="solid"/>
                    </a:lnR>
                    <a:lnT w="6191" cap="flat" cmpd="sng" algn="ctr">
                      <a:solidFill>
                        <a:srgbClr val="CDCDCD"/>
                      </a:solidFill>
                      <a:prstDash val="solid"/>
                      <a:round/>
                      <a:headEnd type="none" w="med" len="med"/>
                      <a:tailEnd type="none" w="med" len="med"/>
                    </a:lnT>
                    <a:lnB w="6191">
                      <a:solidFill>
                        <a:srgbClr val="CDCDCD"/>
                      </a:solidFill>
                      <a:prstDash val="solid"/>
                    </a:lnB>
                    <a:solidFill>
                      <a:srgbClr val="FAFAFA"/>
                    </a:solidFill>
                  </a:tcPr>
                </a:tc>
                <a:tc>
                  <a:txBody>
                    <a:bodyPr/>
                    <a:lstStyle/>
                    <a:p>
                      <a:pPr algn="l"/>
                      <a:r>
                        <a:rPr sz="996" b="0" dirty="0" err="1">
                          <a:solidFill>
                            <a:srgbClr val="222222"/>
                          </a:solidFill>
                          <a:latin typeface="에이투지체 5 Medium" pitchFamily="50" charset="-127"/>
                          <a:ea typeface="에이투지체 5 Medium" pitchFamily="50" charset="-127"/>
                          <a:cs typeface="Calibri"/>
                        </a:rPr>
                        <a:t>과업</a:t>
                      </a:r>
                      <a:r>
                        <a:rPr sz="996" b="0" dirty="0">
                          <a:solidFill>
                            <a:srgbClr val="222222"/>
                          </a:solidFill>
                          <a:latin typeface="에이투지체 5 Medium" pitchFamily="50" charset="-127"/>
                          <a:ea typeface="에이투지체 5 Medium" pitchFamily="50" charset="-127"/>
                          <a:cs typeface="Calibri"/>
                        </a:rPr>
                        <a:t> </a:t>
                      </a:r>
                      <a:r>
                        <a:rPr sz="996" b="0" dirty="0" err="1">
                          <a:solidFill>
                            <a:srgbClr val="222222"/>
                          </a:solidFill>
                          <a:latin typeface="에이투지체 5 Medium" pitchFamily="50" charset="-127"/>
                          <a:ea typeface="에이투지체 5 Medium" pitchFamily="50" charset="-127"/>
                          <a:cs typeface="Calibri"/>
                        </a:rPr>
                        <a:t>수행에</a:t>
                      </a:r>
                      <a:r>
                        <a:rPr sz="996" b="0" dirty="0">
                          <a:solidFill>
                            <a:srgbClr val="222222"/>
                          </a:solidFill>
                          <a:latin typeface="에이투지체 5 Medium" pitchFamily="50" charset="-127"/>
                          <a:ea typeface="에이투지체 5 Medium" pitchFamily="50" charset="-127"/>
                          <a:cs typeface="Calibri"/>
                        </a:rPr>
                        <a:t> </a:t>
                      </a:r>
                      <a:r>
                        <a:rPr sz="996" b="0" dirty="0" err="1">
                          <a:solidFill>
                            <a:srgbClr val="222222"/>
                          </a:solidFill>
                          <a:latin typeface="에이투지체 5 Medium" pitchFamily="50" charset="-127"/>
                          <a:ea typeface="에이투지체 5 Medium" pitchFamily="50" charset="-127"/>
                          <a:cs typeface="Calibri"/>
                        </a:rPr>
                        <a:t>대한</a:t>
                      </a:r>
                      <a:r>
                        <a:rPr sz="996" b="0" dirty="0">
                          <a:solidFill>
                            <a:srgbClr val="222222"/>
                          </a:solidFill>
                          <a:latin typeface="에이투지체 5 Medium" pitchFamily="50" charset="-127"/>
                          <a:ea typeface="에이투지체 5 Medium" pitchFamily="50" charset="-127"/>
                          <a:cs typeface="Calibri"/>
                        </a:rPr>
                        <a:t> </a:t>
                      </a:r>
                      <a:r>
                        <a:rPr sz="996" b="0" dirty="0" err="1">
                          <a:solidFill>
                            <a:srgbClr val="222222"/>
                          </a:solidFill>
                          <a:latin typeface="에이투지체 5 Medium" pitchFamily="50" charset="-127"/>
                          <a:ea typeface="에이투지체 5 Medium" pitchFamily="50" charset="-127"/>
                          <a:cs typeface="Calibri"/>
                        </a:rPr>
                        <a:t>최종</a:t>
                      </a:r>
                      <a:r>
                        <a:rPr sz="996" b="0" dirty="0">
                          <a:solidFill>
                            <a:srgbClr val="222222"/>
                          </a:solidFill>
                          <a:latin typeface="에이투지체 5 Medium" pitchFamily="50" charset="-127"/>
                          <a:ea typeface="에이투지체 5 Medium" pitchFamily="50" charset="-127"/>
                          <a:cs typeface="Calibri"/>
                        </a:rPr>
                        <a:t> </a:t>
                      </a:r>
                      <a:r>
                        <a:rPr sz="996" b="0" dirty="0" err="1">
                          <a:solidFill>
                            <a:srgbClr val="222222"/>
                          </a:solidFill>
                          <a:latin typeface="에이투지체 5 Medium" pitchFamily="50" charset="-127"/>
                          <a:ea typeface="에이투지체 5 Medium" pitchFamily="50" charset="-127"/>
                          <a:cs typeface="Calibri"/>
                        </a:rPr>
                        <a:t>정리</a:t>
                      </a:r>
                      <a:r>
                        <a:rPr sz="996" b="0" dirty="0">
                          <a:solidFill>
                            <a:srgbClr val="222222"/>
                          </a:solidFill>
                          <a:latin typeface="에이투지체 5 Medium" pitchFamily="50" charset="-127"/>
                          <a:ea typeface="에이투지체 5 Medium" pitchFamily="50" charset="-127"/>
                          <a:cs typeface="Calibri"/>
                        </a:rPr>
                        <a:t> </a:t>
                      </a:r>
                      <a:r>
                        <a:rPr sz="996" b="0" dirty="0" err="1">
                          <a:solidFill>
                            <a:srgbClr val="222222"/>
                          </a:solidFill>
                          <a:latin typeface="에이투지체 5 Medium" pitchFamily="50" charset="-127"/>
                          <a:ea typeface="에이투지체 5 Medium" pitchFamily="50" charset="-127"/>
                          <a:cs typeface="Calibri"/>
                        </a:rPr>
                        <a:t>보고</a:t>
                      </a:r>
                      <a:endParaRPr sz="996" b="0" dirty="0">
                        <a:solidFill>
                          <a:srgbClr val="222222"/>
                        </a:solidFill>
                        <a:latin typeface="에이투지체 5 Medium" pitchFamily="50" charset="-127"/>
                        <a:ea typeface="에이투지체 5 Medium" pitchFamily="50" charset="-127"/>
                        <a:cs typeface="Calibri"/>
                      </a:endParaRPr>
                    </a:p>
                  </a:txBody>
                  <a:tcPr marL="57150" marR="57150" marT="28575" marB="28575" anchor="ctr">
                    <a:lnL w="6191" cap="flat" cmpd="sng" algn="ctr">
                      <a:solidFill>
                        <a:srgbClr val="CDCDCD"/>
                      </a:solidFill>
                      <a:prstDash val="solid"/>
                      <a:round/>
                      <a:headEnd type="none" w="med" len="med"/>
                      <a:tailEnd type="none" w="med" len="med"/>
                    </a:lnL>
                    <a:lnR w="6191">
                      <a:solidFill>
                        <a:srgbClr val="CDCDCD"/>
                      </a:solidFill>
                      <a:prstDash val="solid"/>
                    </a:lnR>
                    <a:lnT w="6191" cap="flat" cmpd="sng" algn="ctr">
                      <a:solidFill>
                        <a:srgbClr val="CDCDCD"/>
                      </a:solidFill>
                      <a:prstDash val="solid"/>
                      <a:round/>
                      <a:headEnd type="none" w="med" len="med"/>
                      <a:tailEnd type="none" w="med" len="med"/>
                    </a:lnT>
                    <a:lnB w="6191">
                      <a:solidFill>
                        <a:srgbClr val="CDCDCD"/>
                      </a:solidFill>
                      <a:prstDash val="solid"/>
                    </a:lnB>
                    <a:solidFill>
                      <a:srgbClr val="FAFAFA"/>
                    </a:solidFill>
                  </a:tcPr>
                </a:tc>
                <a:extLst>
                  <a:ext uri="{0D108BD9-81ED-4DB2-BD59-A6C34878D82A}">
                    <a16:rowId xmlns:a16="http://schemas.microsoft.com/office/drawing/2014/main" val="10005"/>
                  </a:ext>
                </a:extLst>
              </a:tr>
            </a:tbl>
          </a:graphicData>
        </a:graphic>
      </p:graphicFrame>
      <p:sp>
        <p:nvSpPr>
          <p:cNvPr id="16" name="직사각형 15">
            <a:extLst>
              <a:ext uri="{FF2B5EF4-FFF2-40B4-BE49-F238E27FC236}">
                <a16:creationId xmlns:a16="http://schemas.microsoft.com/office/drawing/2014/main" id="{93DBC274-E5DE-8E5D-F1E4-32C606EAEA71}"/>
              </a:ext>
            </a:extLst>
          </p:cNvPr>
          <p:cNvSpPr>
            <a:spLocks noGrp="1"/>
          </p:cNvSpPr>
          <p:nvPr/>
        </p:nvSpPr>
        <p:spPr>
          <a:xfrm>
            <a:off x="762000" y="5372100"/>
            <a:ext cx="5207000" cy="317500"/>
          </a:xfrm>
          <a:prstGeom prst="rect">
            <a:avLst/>
          </a:prstGeom>
          <a:noFill/>
          <a:ln w="0">
            <a:noFill/>
            <a:prstDash val="solid"/>
          </a:ln>
        </p:spPr>
        <p:txBody>
          <a:bodyPr wrap="square" lIns="0" tIns="0" rIns="0" bIns="0" anchor="ctr">
            <a:noAutofit/>
          </a:bodyPr>
          <a:lstStyle>
            <a:defPPr>
              <a:defRPr sz="1596" b="1">
                <a:solidFill>
                  <a:srgbClr val="222222"/>
                </a:solidFill>
                <a:latin typeface="Calibri"/>
                <a:ea typeface="Calibri"/>
                <a:cs typeface="Calibri"/>
              </a:defRPr>
            </a:defPPr>
          </a:lstStyle>
          <a:p>
            <a:pPr>
              <a:defRPr sz="1596" b="1">
                <a:solidFill>
                  <a:srgbClr val="222222"/>
                </a:solidFill>
                <a:latin typeface="Calibri"/>
                <a:ea typeface="Calibri"/>
                <a:cs typeface="Calibri"/>
              </a:defRPr>
            </a:pPr>
            <a:r>
              <a:rPr sz="1596" b="1" dirty="0" err="1">
                <a:solidFill>
                  <a:srgbClr val="222222"/>
                </a:solidFill>
                <a:latin typeface="에이투지체 8 ExtraBold" pitchFamily="50" charset="-127"/>
                <a:ea typeface="에이투지체 8 ExtraBold" pitchFamily="50" charset="-127"/>
                <a:cs typeface="Calibri"/>
              </a:rPr>
              <a:t>커뮤니케이션</a:t>
            </a:r>
            <a:r>
              <a:rPr sz="1596" b="1" dirty="0">
                <a:solidFill>
                  <a:srgbClr val="222222"/>
                </a:solidFill>
                <a:latin typeface="에이투지체 8 ExtraBold" pitchFamily="50" charset="-127"/>
                <a:ea typeface="에이투지체 8 ExtraBold" pitchFamily="50" charset="-127"/>
                <a:cs typeface="Calibri"/>
              </a:rPr>
              <a:t> </a:t>
            </a:r>
            <a:r>
              <a:rPr sz="1596" b="1" dirty="0" err="1">
                <a:solidFill>
                  <a:srgbClr val="222222"/>
                </a:solidFill>
                <a:latin typeface="에이투지체 8 ExtraBold" pitchFamily="50" charset="-127"/>
                <a:ea typeface="에이투지체 8 ExtraBold" pitchFamily="50" charset="-127"/>
                <a:cs typeface="Calibri"/>
              </a:rPr>
              <a:t>채널</a:t>
            </a:r>
            <a:endParaRPr sz="1596" b="1" dirty="0">
              <a:solidFill>
                <a:srgbClr val="222222"/>
              </a:solidFill>
              <a:latin typeface="에이투지체 8 ExtraBold" pitchFamily="50" charset="-127"/>
              <a:ea typeface="에이투지체 8 ExtraBold" pitchFamily="50" charset="-127"/>
              <a:cs typeface="Calibri"/>
            </a:endParaRPr>
          </a:p>
        </p:txBody>
      </p:sp>
      <p:sp>
        <p:nvSpPr>
          <p:cNvPr id="18" name="직사각형 17">
            <a:extLst>
              <a:ext uri="{FF2B5EF4-FFF2-40B4-BE49-F238E27FC236}">
                <a16:creationId xmlns:a16="http://schemas.microsoft.com/office/drawing/2014/main" id="{43027C03-9407-5203-212D-2E8382BEE580}"/>
              </a:ext>
            </a:extLst>
          </p:cNvPr>
          <p:cNvSpPr>
            <a:spLocks noGrp="1"/>
          </p:cNvSpPr>
          <p:nvPr/>
        </p:nvSpPr>
        <p:spPr>
          <a:xfrm>
            <a:off x="762000" y="5740400"/>
            <a:ext cx="5461000" cy="292100"/>
          </a:xfrm>
          <a:prstGeom prst="rect">
            <a:avLst/>
          </a:prstGeom>
          <a:noFill/>
          <a:ln w="0">
            <a:noFill/>
            <a:prstDash val="solid"/>
          </a:ln>
        </p:spPr>
        <p:txBody>
          <a:bodyPr wrap="square" lIns="0" tIns="0" rIns="0" bIns="0" anchor="ctr">
            <a:noAutofit/>
          </a:bodyPr>
          <a:lstStyle>
            <a:defPPr>
              <a:defRPr sz="1104" b="0">
                <a:solidFill>
                  <a:srgbClr val="5C5C5C"/>
                </a:solidFill>
                <a:latin typeface="Calibri"/>
                <a:ea typeface="Calibri"/>
                <a:cs typeface="Calibri"/>
              </a:defRPr>
            </a:defPPr>
          </a:lstStyle>
          <a:p>
            <a:pPr>
              <a:defRPr sz="1104" b="0">
                <a:solidFill>
                  <a:srgbClr val="5C5C5C"/>
                </a:solidFill>
                <a:latin typeface="Calibri"/>
                <a:ea typeface="Calibri"/>
                <a:cs typeface="Calibri"/>
              </a:defRPr>
            </a:pPr>
            <a:r>
              <a:rPr sz="1104" b="0" dirty="0" err="1">
                <a:solidFill>
                  <a:srgbClr val="5C5C5C"/>
                </a:solidFill>
                <a:latin typeface="에이투지체 5 Medium" pitchFamily="50" charset="-127"/>
                <a:ea typeface="에이투지체 5 Medium" pitchFamily="50" charset="-127"/>
                <a:cs typeface="Calibri"/>
              </a:rPr>
              <a:t>전용</a:t>
            </a:r>
            <a:r>
              <a:rPr sz="1104" b="0" dirty="0">
                <a:solidFill>
                  <a:srgbClr val="5C5C5C"/>
                </a:solidFill>
                <a:latin typeface="에이투지체 5 Medium" pitchFamily="50" charset="-127"/>
                <a:ea typeface="에이투지체 5 Medium" pitchFamily="50" charset="-127"/>
                <a:cs typeface="Calibri"/>
              </a:rPr>
              <a:t> </a:t>
            </a:r>
            <a:r>
              <a:rPr sz="1104" b="0" dirty="0" err="1">
                <a:solidFill>
                  <a:srgbClr val="5C5C5C"/>
                </a:solidFill>
                <a:latin typeface="에이투지체 5 Medium" pitchFamily="50" charset="-127"/>
                <a:ea typeface="에이투지체 5 Medium" pitchFamily="50" charset="-127"/>
                <a:cs typeface="Calibri"/>
              </a:rPr>
              <a:t>협업</a:t>
            </a:r>
            <a:r>
              <a:rPr sz="1104" b="0" dirty="0">
                <a:solidFill>
                  <a:srgbClr val="5C5C5C"/>
                </a:solidFill>
                <a:latin typeface="에이투지체 5 Medium" pitchFamily="50" charset="-127"/>
                <a:ea typeface="에이투지체 5 Medium" pitchFamily="50" charset="-127"/>
                <a:cs typeface="Calibri"/>
              </a:rPr>
              <a:t> </a:t>
            </a:r>
            <a:r>
              <a:rPr sz="1104" b="0" dirty="0" err="1">
                <a:solidFill>
                  <a:srgbClr val="5C5C5C"/>
                </a:solidFill>
                <a:latin typeface="에이투지체 5 Medium" pitchFamily="50" charset="-127"/>
                <a:ea typeface="에이투지체 5 Medium" pitchFamily="50" charset="-127"/>
                <a:cs typeface="Calibri"/>
              </a:rPr>
              <a:t>채널</a:t>
            </a:r>
            <a:r>
              <a:rPr sz="1104" b="0" dirty="0">
                <a:solidFill>
                  <a:srgbClr val="5C5C5C"/>
                </a:solidFill>
                <a:latin typeface="에이투지체 5 Medium" pitchFamily="50" charset="-127"/>
                <a:ea typeface="에이투지체 5 Medium" pitchFamily="50" charset="-127"/>
                <a:cs typeface="Calibri"/>
              </a:rPr>
              <a:t>(</a:t>
            </a:r>
            <a:r>
              <a:rPr sz="1104" b="0" dirty="0" err="1">
                <a:solidFill>
                  <a:srgbClr val="5C5C5C"/>
                </a:solidFill>
                <a:latin typeface="에이투지체 5 Medium" pitchFamily="50" charset="-127"/>
                <a:ea typeface="에이투지체 5 Medium" pitchFamily="50" charset="-127"/>
                <a:cs typeface="Calibri"/>
              </a:rPr>
              <a:t>카카오워크·슬랙</a:t>
            </a:r>
            <a:r>
              <a:rPr sz="1104" b="0" dirty="0">
                <a:solidFill>
                  <a:srgbClr val="5C5C5C"/>
                </a:solidFill>
                <a:latin typeface="에이투지체 5 Medium" pitchFamily="50" charset="-127"/>
                <a:ea typeface="에이투지체 5 Medium" pitchFamily="50" charset="-127"/>
                <a:cs typeface="Calibri"/>
              </a:rPr>
              <a:t> 등 </a:t>
            </a:r>
            <a:r>
              <a:rPr sz="1104" b="0" dirty="0" err="1">
                <a:solidFill>
                  <a:srgbClr val="5C5C5C"/>
                </a:solidFill>
                <a:latin typeface="에이투지체 5 Medium" pitchFamily="50" charset="-127"/>
                <a:ea typeface="에이투지체 5 Medium" pitchFamily="50" charset="-127"/>
                <a:cs typeface="Calibri"/>
              </a:rPr>
              <a:t>광고주</a:t>
            </a:r>
            <a:r>
              <a:rPr sz="1104" b="0" dirty="0">
                <a:solidFill>
                  <a:srgbClr val="5C5C5C"/>
                </a:solidFill>
                <a:latin typeface="에이투지체 5 Medium" pitchFamily="50" charset="-127"/>
                <a:ea typeface="에이투지체 5 Medium" pitchFamily="50" charset="-127"/>
                <a:cs typeface="Calibri"/>
              </a:rPr>
              <a:t> </a:t>
            </a:r>
            <a:r>
              <a:rPr sz="1104" b="0" dirty="0" err="1">
                <a:solidFill>
                  <a:srgbClr val="5C5C5C"/>
                </a:solidFill>
                <a:latin typeface="에이투지체 5 Medium" pitchFamily="50" charset="-127"/>
                <a:ea typeface="에이투지체 5 Medium" pitchFamily="50" charset="-127"/>
                <a:cs typeface="Calibri"/>
              </a:rPr>
              <a:t>선호</a:t>
            </a:r>
            <a:r>
              <a:rPr sz="1104" b="0" dirty="0">
                <a:solidFill>
                  <a:srgbClr val="5C5C5C"/>
                </a:solidFill>
                <a:latin typeface="에이투지체 5 Medium" pitchFamily="50" charset="-127"/>
                <a:ea typeface="에이투지체 5 Medium" pitchFamily="50" charset="-127"/>
                <a:cs typeface="Calibri"/>
              </a:rPr>
              <a:t> </a:t>
            </a:r>
            <a:r>
              <a:rPr sz="1104" b="0" dirty="0" err="1">
                <a:solidFill>
                  <a:srgbClr val="5C5C5C"/>
                </a:solidFill>
                <a:latin typeface="에이투지체 5 Medium" pitchFamily="50" charset="-127"/>
                <a:ea typeface="에이투지체 5 Medium" pitchFamily="50" charset="-127"/>
                <a:cs typeface="Calibri"/>
              </a:rPr>
              <a:t>채널</a:t>
            </a:r>
            <a:r>
              <a:rPr sz="1104" b="0" dirty="0">
                <a:solidFill>
                  <a:srgbClr val="5C5C5C"/>
                </a:solidFill>
                <a:latin typeface="에이투지체 5 Medium" pitchFamily="50" charset="-127"/>
                <a:ea typeface="에이투지체 5 Medium" pitchFamily="50" charset="-127"/>
                <a:cs typeface="Calibri"/>
              </a:rPr>
              <a:t>) + </a:t>
            </a:r>
            <a:r>
              <a:rPr sz="1104" b="0" dirty="0" err="1">
                <a:solidFill>
                  <a:srgbClr val="5C5C5C"/>
                </a:solidFill>
                <a:latin typeface="에이투지체 5 Medium" pitchFamily="50" charset="-127"/>
                <a:ea typeface="에이투지체 5 Medium" pitchFamily="50" charset="-127"/>
                <a:cs typeface="Calibri"/>
              </a:rPr>
              <a:t>정기</a:t>
            </a:r>
            <a:r>
              <a:rPr sz="1104" b="0" dirty="0">
                <a:solidFill>
                  <a:srgbClr val="5C5C5C"/>
                </a:solidFill>
                <a:latin typeface="에이투지체 5 Medium" pitchFamily="50" charset="-127"/>
                <a:ea typeface="에이투지체 5 Medium" pitchFamily="50" charset="-127"/>
                <a:cs typeface="Calibri"/>
              </a:rPr>
              <a:t> </a:t>
            </a:r>
            <a:r>
              <a:rPr sz="1104" b="0" dirty="0" err="1">
                <a:solidFill>
                  <a:srgbClr val="5C5C5C"/>
                </a:solidFill>
                <a:latin typeface="에이투지체 5 Medium" pitchFamily="50" charset="-127"/>
                <a:ea typeface="에이투지체 5 Medium" pitchFamily="50" charset="-127"/>
                <a:cs typeface="Calibri"/>
              </a:rPr>
              <a:t>미팅</a:t>
            </a:r>
            <a:endParaRPr sz="1104" b="0" dirty="0">
              <a:solidFill>
                <a:srgbClr val="5C5C5C"/>
              </a:solidFill>
              <a:latin typeface="에이투지체 5 Medium" pitchFamily="50" charset="-127"/>
              <a:ea typeface="에이투지체 5 Medium" pitchFamily="50" charset="-127"/>
              <a:cs typeface="Calibri"/>
            </a:endParaRPr>
          </a:p>
        </p:txBody>
      </p:sp>
      <p:sp>
        <p:nvSpPr>
          <p:cNvPr id="20" name="직사각형 19">
            <a:extLst>
              <a:ext uri="{FF2B5EF4-FFF2-40B4-BE49-F238E27FC236}">
                <a16:creationId xmlns:a16="http://schemas.microsoft.com/office/drawing/2014/main" id="{46C162EA-13FB-8A12-5201-D77538DD5279}"/>
              </a:ext>
            </a:extLst>
          </p:cNvPr>
          <p:cNvSpPr>
            <a:spLocks noGrp="1"/>
          </p:cNvSpPr>
          <p:nvPr/>
        </p:nvSpPr>
        <p:spPr>
          <a:xfrm>
            <a:off x="6426200" y="5372100"/>
            <a:ext cx="5207000" cy="317500"/>
          </a:xfrm>
          <a:prstGeom prst="rect">
            <a:avLst/>
          </a:prstGeom>
          <a:noFill/>
          <a:ln w="0">
            <a:noFill/>
            <a:prstDash val="solid"/>
          </a:ln>
        </p:spPr>
        <p:txBody>
          <a:bodyPr wrap="square" lIns="0" tIns="0" rIns="0" bIns="0" anchor="ctr">
            <a:noAutofit/>
          </a:bodyPr>
          <a:lstStyle>
            <a:defPPr>
              <a:defRPr sz="1596" b="1">
                <a:solidFill>
                  <a:srgbClr val="222222"/>
                </a:solidFill>
                <a:latin typeface="Calibri"/>
                <a:ea typeface="Calibri"/>
                <a:cs typeface="Calibri"/>
              </a:defRPr>
            </a:defPPr>
          </a:lstStyle>
          <a:p>
            <a:pPr>
              <a:defRPr sz="1596" b="1">
                <a:solidFill>
                  <a:srgbClr val="222222"/>
                </a:solidFill>
                <a:latin typeface="Calibri"/>
                <a:ea typeface="Calibri"/>
                <a:cs typeface="Calibri"/>
              </a:defRPr>
            </a:pPr>
            <a:r>
              <a:rPr sz="1596" b="1">
                <a:solidFill>
                  <a:srgbClr val="222222"/>
                </a:solidFill>
                <a:latin typeface="에이투지체 8 ExtraBold" pitchFamily="50" charset="-127"/>
                <a:ea typeface="에이투지체 8 ExtraBold" pitchFamily="50" charset="-127"/>
                <a:cs typeface="Calibri"/>
              </a:rPr>
              <a:t>상시 지원 체계</a:t>
            </a:r>
          </a:p>
        </p:txBody>
      </p:sp>
      <p:sp>
        <p:nvSpPr>
          <p:cNvPr id="22" name="직사각형 21">
            <a:extLst>
              <a:ext uri="{FF2B5EF4-FFF2-40B4-BE49-F238E27FC236}">
                <a16:creationId xmlns:a16="http://schemas.microsoft.com/office/drawing/2014/main" id="{E8777AE0-C2F0-4752-6A84-8CBDC29B1217}"/>
              </a:ext>
            </a:extLst>
          </p:cNvPr>
          <p:cNvSpPr>
            <a:spLocks noGrp="1"/>
          </p:cNvSpPr>
          <p:nvPr/>
        </p:nvSpPr>
        <p:spPr>
          <a:xfrm>
            <a:off x="6426200" y="5740400"/>
            <a:ext cx="5207000" cy="292100"/>
          </a:xfrm>
          <a:prstGeom prst="rect">
            <a:avLst/>
          </a:prstGeom>
          <a:noFill/>
          <a:ln w="0">
            <a:noFill/>
            <a:prstDash val="solid"/>
          </a:ln>
        </p:spPr>
        <p:txBody>
          <a:bodyPr wrap="square" lIns="0" tIns="0" rIns="0" bIns="0" anchor="ctr">
            <a:noAutofit/>
          </a:bodyPr>
          <a:lstStyle>
            <a:defPPr>
              <a:defRPr sz="1104" b="0">
                <a:solidFill>
                  <a:srgbClr val="5C5C5C"/>
                </a:solidFill>
                <a:latin typeface="Calibri"/>
                <a:ea typeface="Calibri"/>
                <a:cs typeface="Calibri"/>
              </a:defRPr>
            </a:defPPr>
          </a:lstStyle>
          <a:p>
            <a:pPr>
              <a:defRPr sz="1104" b="0">
                <a:solidFill>
                  <a:srgbClr val="5C5C5C"/>
                </a:solidFill>
                <a:latin typeface="Calibri"/>
                <a:ea typeface="Calibri"/>
                <a:cs typeface="Calibri"/>
              </a:defRPr>
            </a:pPr>
            <a:r>
              <a:rPr sz="1104" b="0" dirty="0" err="1">
                <a:solidFill>
                  <a:srgbClr val="5C5C5C"/>
                </a:solidFill>
                <a:latin typeface="에이투지체 5 Medium" pitchFamily="50" charset="-127"/>
                <a:ea typeface="에이투지체 5 Medium" pitchFamily="50" charset="-127"/>
                <a:cs typeface="Calibri"/>
              </a:rPr>
              <a:t>매체사</a:t>
            </a:r>
            <a:r>
              <a:rPr sz="1104" b="0" dirty="0">
                <a:solidFill>
                  <a:srgbClr val="5C5C5C"/>
                </a:solidFill>
                <a:latin typeface="에이투지체 5 Medium" pitchFamily="50" charset="-127"/>
                <a:ea typeface="에이투지체 5 Medium" pitchFamily="50" charset="-127"/>
                <a:cs typeface="Calibri"/>
              </a:rPr>
              <a:t> </a:t>
            </a:r>
            <a:r>
              <a:rPr sz="1104" b="0" dirty="0" err="1">
                <a:solidFill>
                  <a:srgbClr val="5C5C5C"/>
                </a:solidFill>
                <a:latin typeface="에이투지체 5 Medium" pitchFamily="50" charset="-127"/>
                <a:ea typeface="에이투지체 5 Medium" pitchFamily="50" charset="-127"/>
                <a:cs typeface="Calibri"/>
              </a:rPr>
              <a:t>전담</a:t>
            </a:r>
            <a:r>
              <a:rPr sz="1104" b="0" dirty="0">
                <a:solidFill>
                  <a:srgbClr val="5C5C5C"/>
                </a:solidFill>
                <a:latin typeface="에이투지체 5 Medium" pitchFamily="50" charset="-127"/>
                <a:ea typeface="에이투지체 5 Medium" pitchFamily="50" charset="-127"/>
                <a:cs typeface="Calibri"/>
              </a:rPr>
              <a:t> </a:t>
            </a:r>
            <a:r>
              <a:rPr sz="1104" b="0" dirty="0" err="1">
                <a:solidFill>
                  <a:srgbClr val="5C5C5C"/>
                </a:solidFill>
                <a:latin typeface="에이투지체 5 Medium" pitchFamily="50" charset="-127"/>
                <a:ea typeface="에이투지체 5 Medium" pitchFamily="50" charset="-127"/>
                <a:cs typeface="Calibri"/>
              </a:rPr>
              <a:t>인력</a:t>
            </a:r>
            <a:r>
              <a:rPr sz="1104" b="0" dirty="0">
                <a:solidFill>
                  <a:srgbClr val="5C5C5C"/>
                </a:solidFill>
                <a:latin typeface="에이투지체 5 Medium" pitchFamily="50" charset="-127"/>
                <a:ea typeface="에이투지체 5 Medium" pitchFamily="50" charset="-127"/>
                <a:cs typeface="Calibri"/>
              </a:rPr>
              <a:t> </a:t>
            </a:r>
            <a:r>
              <a:rPr sz="1104" b="0" dirty="0" err="1">
                <a:solidFill>
                  <a:srgbClr val="5C5C5C"/>
                </a:solidFill>
                <a:latin typeface="에이투지체 5 Medium" pitchFamily="50" charset="-127"/>
                <a:ea typeface="에이투지체 5 Medium" pitchFamily="50" charset="-127"/>
                <a:cs typeface="Calibri"/>
              </a:rPr>
              <a:t>자문</a:t>
            </a:r>
            <a:r>
              <a:rPr sz="1104" b="0" dirty="0">
                <a:solidFill>
                  <a:srgbClr val="5C5C5C"/>
                </a:solidFill>
                <a:latin typeface="에이투지체 5 Medium" pitchFamily="50" charset="-127"/>
                <a:ea typeface="에이투지체 5 Medium" pitchFamily="50" charset="-127"/>
                <a:cs typeface="Calibri"/>
              </a:rPr>
              <a:t> </a:t>
            </a:r>
            <a:r>
              <a:rPr sz="1104" b="0" dirty="0" err="1">
                <a:solidFill>
                  <a:srgbClr val="5C5C5C"/>
                </a:solidFill>
                <a:latin typeface="에이투지체 5 Medium" pitchFamily="50" charset="-127"/>
                <a:ea typeface="에이투지체 5 Medium" pitchFamily="50" charset="-127"/>
                <a:cs typeface="Calibri"/>
              </a:rPr>
              <a:t>라인</a:t>
            </a:r>
            <a:r>
              <a:rPr sz="1104" b="0" dirty="0">
                <a:solidFill>
                  <a:srgbClr val="5C5C5C"/>
                </a:solidFill>
                <a:latin typeface="에이투지체 5 Medium" pitchFamily="50" charset="-127"/>
                <a:ea typeface="에이투지체 5 Medium" pitchFamily="50" charset="-127"/>
                <a:cs typeface="Calibri"/>
              </a:rPr>
              <a:t> </a:t>
            </a:r>
            <a:r>
              <a:rPr sz="1104" b="0" dirty="0" err="1">
                <a:solidFill>
                  <a:srgbClr val="5C5C5C"/>
                </a:solidFill>
                <a:latin typeface="에이투지체 5 Medium" pitchFamily="50" charset="-127"/>
                <a:ea typeface="에이투지체 5 Medium" pitchFamily="50" charset="-127"/>
                <a:cs typeface="Calibri"/>
              </a:rPr>
              <a:t>가동</a:t>
            </a:r>
            <a:r>
              <a:rPr sz="1104" b="0" dirty="0">
                <a:solidFill>
                  <a:srgbClr val="5C5C5C"/>
                </a:solidFill>
                <a:latin typeface="에이투지체 5 Medium" pitchFamily="50" charset="-127"/>
                <a:ea typeface="에이투지체 5 Medium" pitchFamily="50" charset="-127"/>
                <a:cs typeface="Calibri"/>
              </a:rPr>
              <a:t>, </a:t>
            </a:r>
            <a:r>
              <a:rPr sz="1104" b="0" dirty="0" err="1">
                <a:solidFill>
                  <a:srgbClr val="5C5C5C"/>
                </a:solidFill>
                <a:latin typeface="에이투지체 5 Medium" pitchFamily="50" charset="-127"/>
                <a:ea typeface="에이투지체 5 Medium" pitchFamily="50" charset="-127"/>
                <a:cs typeface="Calibri"/>
              </a:rPr>
              <a:t>이슈</a:t>
            </a:r>
            <a:r>
              <a:rPr sz="1104" b="0" dirty="0">
                <a:solidFill>
                  <a:srgbClr val="5C5C5C"/>
                </a:solidFill>
                <a:latin typeface="에이투지체 5 Medium" pitchFamily="50" charset="-127"/>
                <a:ea typeface="에이투지체 5 Medium" pitchFamily="50" charset="-127"/>
                <a:cs typeface="Calibri"/>
              </a:rPr>
              <a:t> </a:t>
            </a:r>
            <a:r>
              <a:rPr sz="1104" b="0" dirty="0" err="1">
                <a:solidFill>
                  <a:srgbClr val="5C5C5C"/>
                </a:solidFill>
                <a:latin typeface="에이투지체 5 Medium" pitchFamily="50" charset="-127"/>
                <a:ea typeface="에이투지체 5 Medium" pitchFamily="50" charset="-127"/>
                <a:cs typeface="Calibri"/>
              </a:rPr>
              <a:t>발생</a:t>
            </a:r>
            <a:r>
              <a:rPr sz="1104" b="0" dirty="0">
                <a:solidFill>
                  <a:srgbClr val="5C5C5C"/>
                </a:solidFill>
                <a:latin typeface="에이투지체 5 Medium" pitchFamily="50" charset="-127"/>
                <a:ea typeface="에이투지체 5 Medium" pitchFamily="50" charset="-127"/>
                <a:cs typeface="Calibri"/>
              </a:rPr>
              <a:t> 시 </a:t>
            </a:r>
            <a:r>
              <a:rPr sz="1104" b="0" dirty="0" err="1">
                <a:solidFill>
                  <a:srgbClr val="5C5C5C"/>
                </a:solidFill>
                <a:latin typeface="에이투지체 5 Medium" pitchFamily="50" charset="-127"/>
                <a:ea typeface="에이투지체 5 Medium" pitchFamily="50" charset="-127"/>
                <a:cs typeface="Calibri"/>
              </a:rPr>
              <a:t>당일</a:t>
            </a:r>
            <a:r>
              <a:rPr sz="1104" b="0" dirty="0">
                <a:solidFill>
                  <a:srgbClr val="5C5C5C"/>
                </a:solidFill>
                <a:latin typeface="에이투지체 5 Medium" pitchFamily="50" charset="-127"/>
                <a:ea typeface="에이투지체 5 Medium" pitchFamily="50" charset="-127"/>
                <a:cs typeface="Calibri"/>
              </a:rPr>
              <a:t> </a:t>
            </a:r>
            <a:r>
              <a:rPr sz="1104" b="0" dirty="0" err="1">
                <a:solidFill>
                  <a:srgbClr val="5C5C5C"/>
                </a:solidFill>
                <a:latin typeface="에이투지체 5 Medium" pitchFamily="50" charset="-127"/>
                <a:ea typeface="에이투지체 5 Medium" pitchFamily="50" charset="-127"/>
                <a:cs typeface="Calibri"/>
              </a:rPr>
              <a:t>대응</a:t>
            </a:r>
            <a:r>
              <a:rPr sz="1104" b="0" dirty="0">
                <a:solidFill>
                  <a:srgbClr val="5C5C5C"/>
                </a:solidFill>
                <a:latin typeface="에이투지체 5 Medium" pitchFamily="50" charset="-127"/>
                <a:ea typeface="에이투지체 5 Medium" pitchFamily="50" charset="-127"/>
                <a:cs typeface="Calibri"/>
              </a:rPr>
              <a:t> </a:t>
            </a:r>
            <a:r>
              <a:rPr sz="1104" b="0" dirty="0" err="1">
                <a:solidFill>
                  <a:srgbClr val="5C5C5C"/>
                </a:solidFill>
                <a:latin typeface="에이투지체 5 Medium" pitchFamily="50" charset="-127"/>
                <a:ea typeface="에이투지체 5 Medium" pitchFamily="50" charset="-127"/>
                <a:cs typeface="Calibri"/>
              </a:rPr>
              <a:t>원칙</a:t>
            </a:r>
            <a:endParaRPr sz="1104" b="0" dirty="0">
              <a:solidFill>
                <a:srgbClr val="5C5C5C"/>
              </a:solidFill>
              <a:latin typeface="에이투지체 5 Medium" pitchFamily="50" charset="-127"/>
              <a:ea typeface="에이투지체 5 Medium" pitchFamily="50" charset="-127"/>
              <a:cs typeface="Calibri"/>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ADE42-33B0-F8A4-D35A-3FB86D57BFF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88B8B7D-DBBA-D530-2358-B69EFCE5F261}"/>
              </a:ext>
            </a:extLst>
          </p:cNvPr>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6 · 링크프라이스 강점</a:t>
            </a:r>
            <a:endParaRPr lang="ko-KR" sz="900" dirty="0"/>
          </a:p>
        </p:txBody>
      </p:sp>
      <p:sp>
        <p:nvSpPr>
          <p:cNvPr id="3" name="TextBox 2">
            <a:extLst>
              <a:ext uri="{FF2B5EF4-FFF2-40B4-BE49-F238E27FC236}">
                <a16:creationId xmlns:a16="http://schemas.microsoft.com/office/drawing/2014/main" id="{490F9D22-2A15-A1BB-F5BB-182C0494AC20}"/>
              </a:ext>
            </a:extLst>
          </p:cNvPr>
          <p:cNvSpPr txBox="1"/>
          <p:nvPr/>
        </p:nvSpPr>
        <p:spPr>
          <a:xfrm>
            <a:off x="548640" y="658368"/>
            <a:ext cx="11064240" cy="868680"/>
          </a:xfrm>
          <a:prstGeom prst="rect">
            <a:avLst/>
          </a:prstGeom>
          <a:noFill/>
        </p:spPr>
        <p:txBody>
          <a:bodyPr wrap="square" lIns="0" tIns="0" rIns="0" bIns="0" anchor="ctr"/>
          <a:lstStyle/>
          <a:p>
            <a:pPr marL="0" indent="0">
              <a:lnSpc>
                <a:spcPts val="2600"/>
              </a:lnSpc>
              <a:buNone/>
            </a:pPr>
            <a:r>
              <a:rPr lang="ko-KR" altLang="en-US" sz="1900" dirty="0">
                <a:solidFill>
                  <a:schemeClr val="bg1"/>
                </a:solidFill>
                <a:highlight>
                  <a:srgbClr val="0000FF"/>
                </a:highlight>
                <a:latin typeface="에이투지체 8 ExtraBold"/>
                <a:ea typeface="에이투지체 8 ExtraBold"/>
                <a:cs typeface="에이투지체 8 ExtraBold"/>
              </a:rPr>
              <a:t>일간</a:t>
            </a:r>
            <a:r>
              <a:rPr lang="en-US" altLang="ko-KR" sz="1900" dirty="0">
                <a:solidFill>
                  <a:schemeClr val="bg1"/>
                </a:solidFill>
                <a:highlight>
                  <a:srgbClr val="0000FF"/>
                </a:highlight>
                <a:latin typeface="에이투지체 8 ExtraBold"/>
                <a:ea typeface="에이투지체 8 ExtraBold"/>
                <a:cs typeface="에이투지체 8 ExtraBold"/>
              </a:rPr>
              <a:t>, </a:t>
            </a:r>
            <a:r>
              <a:rPr lang="ko-KR" altLang="en-US" sz="1900" dirty="0">
                <a:solidFill>
                  <a:schemeClr val="bg1"/>
                </a:solidFill>
                <a:highlight>
                  <a:srgbClr val="0000FF"/>
                </a:highlight>
                <a:latin typeface="에이투지체 8 ExtraBold"/>
                <a:ea typeface="에이투지체 8 ExtraBold"/>
                <a:cs typeface="에이투지체 8 ExtraBold"/>
              </a:rPr>
              <a:t>월간 리포트</a:t>
            </a:r>
            <a:endParaRPr lang="ko-KR" sz="1900" dirty="0"/>
          </a:p>
        </p:txBody>
      </p:sp>
      <p:sp>
        <p:nvSpPr>
          <p:cNvPr id="8" name="TextBox 7">
            <a:extLst>
              <a:ext uri="{FF2B5EF4-FFF2-40B4-BE49-F238E27FC236}">
                <a16:creationId xmlns:a16="http://schemas.microsoft.com/office/drawing/2014/main" id="{864EB904-C209-935E-F2E1-63654C4C6064}"/>
              </a:ext>
            </a:extLst>
          </p:cNvPr>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9" name="TextBox 8">
            <a:extLst>
              <a:ext uri="{FF2B5EF4-FFF2-40B4-BE49-F238E27FC236}">
                <a16:creationId xmlns:a16="http://schemas.microsoft.com/office/drawing/2014/main" id="{A1AAC51F-EC17-D1FF-AEB4-FD9C717F1ECB}"/>
              </a:ext>
            </a:extLst>
          </p:cNvPr>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0" name="PGNO">
            <a:extLst>
              <a:ext uri="{FF2B5EF4-FFF2-40B4-BE49-F238E27FC236}">
                <a16:creationId xmlns:a16="http://schemas.microsoft.com/office/drawing/2014/main" id="{4DF64FB4-7C7F-9BDC-143D-678EA2331D8C}"/>
              </a:ext>
            </a:extLst>
          </p:cNvPr>
          <p:cNvSpPr txBox="1"/>
          <p:nvPr/>
        </p:nvSpPr>
        <p:spPr>
          <a:xfrm>
            <a:off x="11292840" y="6473952"/>
            <a:ext cx="365760" cy="123111"/>
          </a:xfrm>
          <a:prstGeom prst="rect">
            <a:avLst/>
          </a:prstGeom>
          <a:noFill/>
        </p:spPr>
        <p:txBody>
          <a:bodyPr wrap="square" lIns="0" tIns="0" rIns="0" bIns="0" anchor="t">
            <a:spAutoFit/>
          </a:bodyPr>
          <a:lstStyle/>
          <a:p>
            <a:pPr algn="r"/>
            <a:r>
              <a:rPr lang="en-US" sz="800" dirty="0">
                <a:solidFill>
                  <a:srgbClr val="222222"/>
                </a:solidFill>
                <a:latin typeface="에이투지체 6 SemiBold"/>
              </a:rPr>
              <a:t>87</a:t>
            </a:r>
            <a:endParaRPr sz="800" dirty="0">
              <a:solidFill>
                <a:srgbClr val="222222"/>
              </a:solidFill>
              <a:latin typeface="에이투지체 6 SemiBold"/>
            </a:endParaRPr>
          </a:p>
        </p:txBody>
      </p:sp>
      <p:sp>
        <p:nvSpPr>
          <p:cNvPr id="12" name="직사각형 11">
            <a:extLst>
              <a:ext uri="{FF2B5EF4-FFF2-40B4-BE49-F238E27FC236}">
                <a16:creationId xmlns:a16="http://schemas.microsoft.com/office/drawing/2014/main" id="{F2863AFC-0793-A667-9E46-16ECF88524D7}"/>
              </a:ext>
            </a:extLst>
          </p:cNvPr>
          <p:cNvSpPr>
            <a:spLocks noGrp="1"/>
          </p:cNvSpPr>
          <p:nvPr/>
        </p:nvSpPr>
        <p:spPr>
          <a:xfrm>
            <a:off x="548640" y="1358900"/>
            <a:ext cx="11094720" cy="254000"/>
          </a:xfrm>
          <a:prstGeom prst="rect">
            <a:avLst/>
          </a:prstGeom>
          <a:noFill/>
          <a:ln w="0">
            <a:noFill/>
            <a:prstDash val="solid"/>
          </a:ln>
        </p:spPr>
        <p:txBody>
          <a:bodyPr wrap="square" lIns="0" tIns="0" rIns="0" bIns="0" anchor="ctr">
            <a:noAutofit/>
          </a:bodyPr>
          <a:lstStyle>
            <a:defPPr>
              <a:defRPr sz="1104" b="0">
                <a:solidFill>
                  <a:srgbClr val="5C5C5C"/>
                </a:solidFill>
                <a:latin typeface="Calibri"/>
                <a:ea typeface="Calibri"/>
                <a:cs typeface="Calibri"/>
              </a:defRPr>
            </a:defPPr>
          </a:lstStyle>
          <a:p>
            <a:pPr>
              <a:defRPr sz="1104" b="0">
                <a:solidFill>
                  <a:srgbClr val="5C5C5C"/>
                </a:solidFill>
                <a:latin typeface="Calibri"/>
                <a:ea typeface="Calibri"/>
                <a:cs typeface="Calibri"/>
              </a:defRPr>
            </a:pPr>
            <a:r>
              <a:rPr sz="1104" b="0" dirty="0" err="1">
                <a:solidFill>
                  <a:srgbClr val="5C5C5C"/>
                </a:solidFill>
                <a:latin typeface="Calibri"/>
                <a:ea typeface="Calibri"/>
                <a:cs typeface="Calibri"/>
              </a:rPr>
              <a:t>실제</a:t>
            </a:r>
            <a:r>
              <a:rPr sz="1104" b="0" dirty="0">
                <a:solidFill>
                  <a:srgbClr val="5C5C5C"/>
                </a:solidFill>
                <a:latin typeface="Calibri"/>
                <a:ea typeface="Calibri"/>
                <a:cs typeface="Calibri"/>
              </a:rPr>
              <a:t> </a:t>
            </a:r>
            <a:r>
              <a:rPr sz="1104" b="0" dirty="0" err="1">
                <a:solidFill>
                  <a:srgbClr val="5C5C5C"/>
                </a:solidFill>
                <a:latin typeface="Calibri"/>
                <a:ea typeface="Calibri"/>
                <a:cs typeface="Calibri"/>
              </a:rPr>
              <a:t>제공</a:t>
            </a:r>
            <a:r>
              <a:rPr sz="1104" b="0" dirty="0">
                <a:solidFill>
                  <a:srgbClr val="5C5C5C"/>
                </a:solidFill>
                <a:latin typeface="Calibri"/>
                <a:ea typeface="Calibri"/>
                <a:cs typeface="Calibri"/>
              </a:rPr>
              <a:t> </a:t>
            </a:r>
            <a:r>
              <a:rPr sz="1104" b="0" dirty="0" err="1">
                <a:solidFill>
                  <a:srgbClr val="5C5C5C"/>
                </a:solidFill>
                <a:latin typeface="Calibri"/>
                <a:ea typeface="Calibri"/>
                <a:cs typeface="Calibri"/>
              </a:rPr>
              <a:t>중인</a:t>
            </a:r>
            <a:r>
              <a:rPr sz="1104" b="0" dirty="0">
                <a:solidFill>
                  <a:srgbClr val="5C5C5C"/>
                </a:solidFill>
                <a:latin typeface="Calibri"/>
                <a:ea typeface="Calibri"/>
                <a:cs typeface="Calibri"/>
              </a:rPr>
              <a:t> </a:t>
            </a:r>
            <a:r>
              <a:rPr sz="1104" b="0" dirty="0" err="1">
                <a:solidFill>
                  <a:srgbClr val="5C5C5C"/>
                </a:solidFill>
                <a:latin typeface="Calibri"/>
                <a:ea typeface="Calibri"/>
                <a:cs typeface="Calibri"/>
              </a:rPr>
              <a:t>리포트</a:t>
            </a:r>
            <a:r>
              <a:rPr sz="1104" b="0" dirty="0">
                <a:solidFill>
                  <a:srgbClr val="5C5C5C"/>
                </a:solidFill>
                <a:latin typeface="Calibri"/>
                <a:ea typeface="Calibri"/>
                <a:cs typeface="Calibri"/>
              </a:rPr>
              <a:t> </a:t>
            </a:r>
            <a:r>
              <a:rPr sz="1104" b="0" dirty="0" err="1">
                <a:solidFill>
                  <a:srgbClr val="5C5C5C"/>
                </a:solidFill>
                <a:latin typeface="Calibri"/>
                <a:ea typeface="Calibri"/>
                <a:cs typeface="Calibri"/>
              </a:rPr>
              <a:t>양식이며</a:t>
            </a:r>
            <a:r>
              <a:rPr sz="1104" b="0" dirty="0">
                <a:solidFill>
                  <a:srgbClr val="5C5C5C"/>
                </a:solidFill>
                <a:latin typeface="Calibri"/>
                <a:ea typeface="Calibri"/>
                <a:cs typeface="Calibri"/>
              </a:rPr>
              <a:t>, </a:t>
            </a:r>
            <a:r>
              <a:rPr sz="1104" b="0" dirty="0" err="1">
                <a:solidFill>
                  <a:srgbClr val="5C5C5C"/>
                </a:solidFill>
                <a:latin typeface="Calibri"/>
                <a:ea typeface="Calibri"/>
                <a:cs typeface="Calibri"/>
              </a:rPr>
              <a:t>수치와</a:t>
            </a:r>
            <a:r>
              <a:rPr sz="1104" b="0" dirty="0">
                <a:solidFill>
                  <a:srgbClr val="5C5C5C"/>
                </a:solidFill>
                <a:latin typeface="Calibri"/>
                <a:ea typeface="Calibri"/>
                <a:cs typeface="Calibri"/>
              </a:rPr>
              <a:t> </a:t>
            </a:r>
            <a:r>
              <a:rPr sz="1104" b="0" dirty="0" err="1">
                <a:solidFill>
                  <a:srgbClr val="5C5C5C"/>
                </a:solidFill>
                <a:latin typeface="Calibri"/>
                <a:ea typeface="Calibri"/>
                <a:cs typeface="Calibri"/>
              </a:rPr>
              <a:t>브랜드명은</a:t>
            </a:r>
            <a:r>
              <a:rPr sz="1104" b="0" dirty="0">
                <a:solidFill>
                  <a:srgbClr val="5C5C5C"/>
                </a:solidFill>
                <a:latin typeface="Calibri"/>
                <a:ea typeface="Calibri"/>
                <a:cs typeface="Calibri"/>
              </a:rPr>
              <a:t> </a:t>
            </a:r>
            <a:r>
              <a:rPr sz="1104" b="0" dirty="0" err="1">
                <a:solidFill>
                  <a:srgbClr val="5C5C5C"/>
                </a:solidFill>
                <a:latin typeface="Calibri"/>
                <a:ea typeface="Calibri"/>
                <a:cs typeface="Calibri"/>
              </a:rPr>
              <a:t>비식별</a:t>
            </a:r>
            <a:r>
              <a:rPr sz="1104" b="0" dirty="0">
                <a:solidFill>
                  <a:srgbClr val="5C5C5C"/>
                </a:solidFill>
                <a:latin typeface="Calibri"/>
                <a:ea typeface="Calibri"/>
                <a:cs typeface="Calibri"/>
              </a:rPr>
              <a:t> </a:t>
            </a:r>
            <a:r>
              <a:rPr sz="1104" b="0" dirty="0" err="1">
                <a:solidFill>
                  <a:srgbClr val="5C5C5C"/>
                </a:solidFill>
                <a:latin typeface="Calibri"/>
                <a:ea typeface="Calibri"/>
                <a:cs typeface="Calibri"/>
              </a:rPr>
              <a:t>처리한</a:t>
            </a:r>
            <a:r>
              <a:rPr sz="1104" b="0" dirty="0">
                <a:solidFill>
                  <a:srgbClr val="5C5C5C"/>
                </a:solidFill>
                <a:latin typeface="Calibri"/>
                <a:ea typeface="Calibri"/>
                <a:cs typeface="Calibri"/>
              </a:rPr>
              <a:t> </a:t>
            </a:r>
            <a:r>
              <a:rPr sz="1104" b="0" dirty="0" err="1">
                <a:solidFill>
                  <a:srgbClr val="5C5C5C"/>
                </a:solidFill>
                <a:latin typeface="Calibri"/>
                <a:ea typeface="Calibri"/>
                <a:cs typeface="Calibri"/>
              </a:rPr>
              <a:t>예시</a:t>
            </a:r>
            <a:r>
              <a:rPr sz="1104" b="0" dirty="0">
                <a:solidFill>
                  <a:srgbClr val="5C5C5C"/>
                </a:solidFill>
                <a:latin typeface="Calibri"/>
                <a:ea typeface="Calibri"/>
                <a:cs typeface="Calibri"/>
              </a:rPr>
              <a:t> </a:t>
            </a:r>
            <a:r>
              <a:rPr sz="1104" b="0" dirty="0" err="1">
                <a:solidFill>
                  <a:srgbClr val="5C5C5C"/>
                </a:solidFill>
                <a:latin typeface="Calibri"/>
                <a:ea typeface="Calibri"/>
                <a:cs typeface="Calibri"/>
              </a:rPr>
              <a:t>데이터입니다</a:t>
            </a:r>
            <a:endParaRPr sz="1104" b="0" dirty="0">
              <a:solidFill>
                <a:srgbClr val="5C5C5C"/>
              </a:solidFill>
              <a:latin typeface="Calibri"/>
              <a:ea typeface="Calibri"/>
              <a:cs typeface="Calibri"/>
            </a:endParaRPr>
          </a:p>
        </p:txBody>
      </p:sp>
      <p:sp>
        <p:nvSpPr>
          <p:cNvPr id="14" name="직사각형 13">
            <a:extLst>
              <a:ext uri="{FF2B5EF4-FFF2-40B4-BE49-F238E27FC236}">
                <a16:creationId xmlns:a16="http://schemas.microsoft.com/office/drawing/2014/main" id="{01F46328-2C1D-57E9-E1EE-B8BD91D12774}"/>
              </a:ext>
            </a:extLst>
          </p:cNvPr>
          <p:cNvSpPr>
            <a:spLocks noGrp="1"/>
          </p:cNvSpPr>
          <p:nvPr/>
        </p:nvSpPr>
        <p:spPr>
          <a:xfrm>
            <a:off x="548640" y="1917700"/>
            <a:ext cx="444500" cy="266700"/>
          </a:xfrm>
          <a:prstGeom prst="rect">
            <a:avLst/>
          </a:prstGeom>
          <a:noFill/>
          <a:ln w="0">
            <a:noFill/>
            <a:prstDash val="solid"/>
          </a:ln>
        </p:spPr>
        <p:txBody>
          <a:bodyPr wrap="square" lIns="0" tIns="0" rIns="0" bIns="0" anchor="ctr">
            <a:noAutofit/>
          </a:bodyPr>
          <a:lstStyle>
            <a:defPPr>
              <a:defRPr sz="1200" b="1">
                <a:solidFill>
                  <a:srgbClr val="FF0024"/>
                </a:solidFill>
                <a:latin typeface="Calibri"/>
                <a:ea typeface="Calibri"/>
                <a:cs typeface="Calibri"/>
              </a:defRPr>
            </a:defPPr>
          </a:lstStyle>
          <a:p>
            <a:pPr>
              <a:defRPr sz="1200" b="1">
                <a:solidFill>
                  <a:srgbClr val="FF0024"/>
                </a:solidFill>
                <a:latin typeface="Calibri"/>
                <a:ea typeface="Calibri"/>
                <a:cs typeface="Calibri"/>
              </a:defRPr>
            </a:pPr>
            <a:r>
              <a:rPr sz="1200" b="1" dirty="0" err="1">
                <a:solidFill>
                  <a:srgbClr val="FF0024"/>
                </a:solidFill>
                <a:latin typeface="Calibri"/>
                <a:ea typeface="Calibri"/>
                <a:cs typeface="Calibri"/>
              </a:rPr>
              <a:t>일간</a:t>
            </a:r>
            <a:endParaRPr sz="1200" b="1" dirty="0">
              <a:solidFill>
                <a:srgbClr val="FF0024"/>
              </a:solidFill>
              <a:latin typeface="Calibri"/>
              <a:ea typeface="Calibri"/>
              <a:cs typeface="Calibri"/>
            </a:endParaRPr>
          </a:p>
        </p:txBody>
      </p:sp>
      <p:sp>
        <p:nvSpPr>
          <p:cNvPr id="16" name="직사각형 15">
            <a:extLst>
              <a:ext uri="{FF2B5EF4-FFF2-40B4-BE49-F238E27FC236}">
                <a16:creationId xmlns:a16="http://schemas.microsoft.com/office/drawing/2014/main" id="{3D61A8F7-CB2B-E4AA-2D8E-024956A9A34C}"/>
              </a:ext>
            </a:extLst>
          </p:cNvPr>
          <p:cNvSpPr>
            <a:spLocks noGrp="1"/>
          </p:cNvSpPr>
          <p:nvPr/>
        </p:nvSpPr>
        <p:spPr>
          <a:xfrm>
            <a:off x="967740" y="1943100"/>
            <a:ext cx="2453640" cy="228600"/>
          </a:xfrm>
          <a:prstGeom prst="rect">
            <a:avLst/>
          </a:prstGeom>
          <a:noFill/>
          <a:ln w="0">
            <a:noFill/>
            <a:prstDash val="solid"/>
          </a:ln>
        </p:spPr>
        <p:txBody>
          <a:bodyPr wrap="square" lIns="0" tIns="0" rIns="0" bIns="0" anchor="ctr">
            <a:noAutofit/>
          </a:bodyPr>
          <a:lstStyle>
            <a:defPPr>
              <a:defRPr sz="852" b="0">
                <a:solidFill>
                  <a:srgbClr val="5C5C5C"/>
                </a:solidFill>
                <a:latin typeface="Calibri"/>
                <a:ea typeface="Calibri"/>
                <a:cs typeface="Calibri"/>
              </a:defRPr>
            </a:defPPr>
          </a:lstStyle>
          <a:p>
            <a:pPr>
              <a:defRPr sz="852" b="0">
                <a:solidFill>
                  <a:srgbClr val="5C5C5C"/>
                </a:solidFill>
                <a:latin typeface="Calibri"/>
                <a:ea typeface="Calibri"/>
                <a:cs typeface="Calibri"/>
              </a:defRPr>
            </a:pPr>
            <a:r>
              <a:rPr sz="852" b="0" dirty="0" err="1">
                <a:solidFill>
                  <a:srgbClr val="5C5C5C"/>
                </a:solidFill>
                <a:latin typeface="Calibri"/>
                <a:ea typeface="Calibri"/>
                <a:cs typeface="Calibri"/>
              </a:rPr>
              <a:t>데일리</a:t>
            </a:r>
            <a:r>
              <a:rPr sz="852" b="0" dirty="0">
                <a:solidFill>
                  <a:srgbClr val="5C5C5C"/>
                </a:solidFill>
                <a:latin typeface="Calibri"/>
                <a:ea typeface="Calibri"/>
                <a:cs typeface="Calibri"/>
              </a:rPr>
              <a:t> </a:t>
            </a:r>
            <a:r>
              <a:rPr sz="852" b="0" dirty="0" err="1">
                <a:solidFill>
                  <a:srgbClr val="5C5C5C"/>
                </a:solidFill>
                <a:latin typeface="Calibri"/>
                <a:ea typeface="Calibri"/>
                <a:cs typeface="Calibri"/>
              </a:rPr>
              <a:t>리포트</a:t>
            </a:r>
            <a:r>
              <a:rPr sz="852" b="0" dirty="0">
                <a:solidFill>
                  <a:srgbClr val="5C5C5C"/>
                </a:solidFill>
                <a:latin typeface="Calibri"/>
                <a:ea typeface="Calibri"/>
                <a:cs typeface="Calibri"/>
              </a:rPr>
              <a:t> · </a:t>
            </a:r>
            <a:r>
              <a:rPr sz="852" b="0" dirty="0" err="1">
                <a:solidFill>
                  <a:srgbClr val="5C5C5C"/>
                </a:solidFill>
                <a:latin typeface="Calibri"/>
                <a:ea typeface="Calibri"/>
                <a:cs typeface="Calibri"/>
              </a:rPr>
              <a:t>일별</a:t>
            </a:r>
            <a:r>
              <a:rPr sz="852" b="0" dirty="0">
                <a:solidFill>
                  <a:srgbClr val="5C5C5C"/>
                </a:solidFill>
                <a:latin typeface="Calibri"/>
                <a:ea typeface="Calibri"/>
                <a:cs typeface="Calibri"/>
              </a:rPr>
              <a:t> </a:t>
            </a:r>
            <a:r>
              <a:rPr sz="852" b="0" dirty="0" err="1">
                <a:solidFill>
                  <a:srgbClr val="5C5C5C"/>
                </a:solidFill>
                <a:latin typeface="Calibri"/>
                <a:ea typeface="Calibri"/>
                <a:cs typeface="Calibri"/>
              </a:rPr>
              <a:t>성과와</a:t>
            </a:r>
            <a:r>
              <a:rPr sz="852" b="0" dirty="0">
                <a:solidFill>
                  <a:srgbClr val="5C5C5C"/>
                </a:solidFill>
                <a:latin typeface="Calibri"/>
                <a:ea typeface="Calibri"/>
                <a:cs typeface="Calibri"/>
              </a:rPr>
              <a:t> 월 </a:t>
            </a:r>
            <a:r>
              <a:rPr sz="852" b="0" dirty="0" err="1">
                <a:solidFill>
                  <a:srgbClr val="5C5C5C"/>
                </a:solidFill>
                <a:latin typeface="Calibri"/>
                <a:ea typeface="Calibri"/>
                <a:cs typeface="Calibri"/>
              </a:rPr>
              <a:t>누적</a:t>
            </a:r>
            <a:r>
              <a:rPr sz="852" b="0" dirty="0">
                <a:solidFill>
                  <a:srgbClr val="5C5C5C"/>
                </a:solidFill>
                <a:latin typeface="Calibri"/>
                <a:ea typeface="Calibri"/>
                <a:cs typeface="Calibri"/>
              </a:rPr>
              <a:t> </a:t>
            </a:r>
            <a:r>
              <a:rPr sz="852" b="0" dirty="0" err="1">
                <a:solidFill>
                  <a:srgbClr val="5C5C5C"/>
                </a:solidFill>
                <a:latin typeface="Calibri"/>
                <a:ea typeface="Calibri"/>
                <a:cs typeface="Calibri"/>
              </a:rPr>
              <a:t>관리</a:t>
            </a:r>
            <a:endParaRPr sz="852" b="0" dirty="0">
              <a:solidFill>
                <a:srgbClr val="5C5C5C"/>
              </a:solidFill>
              <a:latin typeface="Calibri"/>
              <a:ea typeface="Calibri"/>
              <a:cs typeface="Calibri"/>
            </a:endParaRPr>
          </a:p>
        </p:txBody>
      </p:sp>
      <p:sp>
        <p:nvSpPr>
          <p:cNvPr id="18" name="직사각형 17">
            <a:extLst>
              <a:ext uri="{FF2B5EF4-FFF2-40B4-BE49-F238E27FC236}">
                <a16:creationId xmlns:a16="http://schemas.microsoft.com/office/drawing/2014/main" id="{406B37C3-8733-0BE2-18BB-DC9953EBB60E}"/>
              </a:ext>
            </a:extLst>
          </p:cNvPr>
          <p:cNvSpPr>
            <a:spLocks noGrp="1"/>
          </p:cNvSpPr>
          <p:nvPr/>
        </p:nvSpPr>
        <p:spPr>
          <a:xfrm>
            <a:off x="3611880" y="1917700"/>
            <a:ext cx="444500" cy="266700"/>
          </a:xfrm>
          <a:prstGeom prst="rect">
            <a:avLst/>
          </a:prstGeom>
          <a:noFill/>
          <a:ln w="0">
            <a:noFill/>
            <a:prstDash val="solid"/>
          </a:ln>
        </p:spPr>
        <p:txBody>
          <a:bodyPr wrap="square" lIns="0" tIns="0" rIns="0" bIns="0" anchor="ctr">
            <a:noAutofit/>
          </a:bodyPr>
          <a:lstStyle>
            <a:defPPr>
              <a:defRPr sz="1200" b="1">
                <a:solidFill>
                  <a:srgbClr val="222222"/>
                </a:solidFill>
                <a:latin typeface="Calibri"/>
                <a:ea typeface="Calibri"/>
                <a:cs typeface="Calibri"/>
              </a:defRPr>
            </a:defPPr>
          </a:lstStyle>
          <a:p>
            <a:pPr>
              <a:defRPr sz="1200" b="1">
                <a:solidFill>
                  <a:srgbClr val="222222"/>
                </a:solidFill>
                <a:latin typeface="Calibri"/>
                <a:ea typeface="Calibri"/>
                <a:cs typeface="Calibri"/>
              </a:defRPr>
            </a:pPr>
            <a:r>
              <a:rPr sz="1200" b="1" dirty="0" err="1">
                <a:solidFill>
                  <a:srgbClr val="222222"/>
                </a:solidFill>
                <a:latin typeface="Calibri"/>
                <a:ea typeface="Calibri"/>
                <a:cs typeface="Calibri"/>
              </a:rPr>
              <a:t>주간</a:t>
            </a:r>
            <a:endParaRPr sz="1200" b="1" dirty="0">
              <a:solidFill>
                <a:srgbClr val="222222"/>
              </a:solidFill>
              <a:latin typeface="Calibri"/>
              <a:ea typeface="Calibri"/>
              <a:cs typeface="Calibri"/>
            </a:endParaRPr>
          </a:p>
        </p:txBody>
      </p:sp>
      <p:sp>
        <p:nvSpPr>
          <p:cNvPr id="20" name="직사각형 19">
            <a:extLst>
              <a:ext uri="{FF2B5EF4-FFF2-40B4-BE49-F238E27FC236}">
                <a16:creationId xmlns:a16="http://schemas.microsoft.com/office/drawing/2014/main" id="{E6008944-365D-A22F-9CDC-E7ACD67D9288}"/>
              </a:ext>
            </a:extLst>
          </p:cNvPr>
          <p:cNvSpPr>
            <a:spLocks noGrp="1"/>
          </p:cNvSpPr>
          <p:nvPr/>
        </p:nvSpPr>
        <p:spPr>
          <a:xfrm>
            <a:off x="4030980" y="1943100"/>
            <a:ext cx="3560064" cy="228600"/>
          </a:xfrm>
          <a:prstGeom prst="rect">
            <a:avLst/>
          </a:prstGeom>
          <a:noFill/>
          <a:ln w="0">
            <a:noFill/>
            <a:prstDash val="solid"/>
          </a:ln>
        </p:spPr>
        <p:txBody>
          <a:bodyPr wrap="square" lIns="0" tIns="0" rIns="0" bIns="0" anchor="ctr">
            <a:noAutofit/>
          </a:bodyPr>
          <a:lstStyle>
            <a:defPPr>
              <a:defRPr sz="852" b="0">
                <a:solidFill>
                  <a:srgbClr val="5C5C5C"/>
                </a:solidFill>
                <a:latin typeface="Calibri"/>
                <a:ea typeface="Calibri"/>
                <a:cs typeface="Calibri"/>
              </a:defRPr>
            </a:defPPr>
          </a:lstStyle>
          <a:p>
            <a:pPr>
              <a:defRPr sz="852" b="0">
                <a:solidFill>
                  <a:srgbClr val="5C5C5C"/>
                </a:solidFill>
                <a:latin typeface="Calibri"/>
                <a:ea typeface="Calibri"/>
                <a:cs typeface="Calibri"/>
              </a:defRPr>
            </a:pPr>
            <a:r>
              <a:rPr sz="852" b="0">
                <a:solidFill>
                  <a:srgbClr val="5C5C5C"/>
                </a:solidFill>
                <a:latin typeface="Calibri"/>
                <a:ea typeface="Calibri"/>
                <a:cs typeface="Calibri"/>
              </a:rPr>
              <a:t>주간 운영 리포트 · 핵심 KPI와 광고, 몰 기여도, 소재 분석</a:t>
            </a:r>
          </a:p>
        </p:txBody>
      </p:sp>
      <p:sp>
        <p:nvSpPr>
          <p:cNvPr id="22" name="직사각형 21">
            <a:extLst>
              <a:ext uri="{FF2B5EF4-FFF2-40B4-BE49-F238E27FC236}">
                <a16:creationId xmlns:a16="http://schemas.microsoft.com/office/drawing/2014/main" id="{DC389A79-9D86-9822-69D5-74597C5EF9C7}"/>
              </a:ext>
            </a:extLst>
          </p:cNvPr>
          <p:cNvSpPr>
            <a:spLocks noGrp="1"/>
          </p:cNvSpPr>
          <p:nvPr/>
        </p:nvSpPr>
        <p:spPr>
          <a:xfrm>
            <a:off x="7781544" y="1917700"/>
            <a:ext cx="444500" cy="266700"/>
          </a:xfrm>
          <a:prstGeom prst="rect">
            <a:avLst/>
          </a:prstGeom>
          <a:noFill/>
          <a:ln w="0">
            <a:noFill/>
            <a:prstDash val="solid"/>
          </a:ln>
        </p:spPr>
        <p:txBody>
          <a:bodyPr wrap="square" lIns="0" tIns="0" rIns="0" bIns="0" anchor="ctr">
            <a:noAutofit/>
          </a:bodyPr>
          <a:lstStyle>
            <a:defPPr>
              <a:defRPr sz="1200" b="1">
                <a:solidFill>
                  <a:srgbClr val="222222"/>
                </a:solidFill>
                <a:latin typeface="Calibri"/>
                <a:ea typeface="Calibri"/>
                <a:cs typeface="Calibri"/>
              </a:defRPr>
            </a:defPPr>
          </a:lstStyle>
          <a:p>
            <a:pPr>
              <a:defRPr sz="1200" b="1">
                <a:solidFill>
                  <a:srgbClr val="222222"/>
                </a:solidFill>
                <a:latin typeface="Calibri"/>
                <a:ea typeface="Calibri"/>
                <a:cs typeface="Calibri"/>
              </a:defRPr>
            </a:pPr>
            <a:r>
              <a:rPr sz="1200" b="1" dirty="0" err="1">
                <a:solidFill>
                  <a:srgbClr val="222222"/>
                </a:solidFill>
                <a:latin typeface="Calibri"/>
                <a:ea typeface="Calibri"/>
                <a:cs typeface="Calibri"/>
              </a:rPr>
              <a:t>월간</a:t>
            </a:r>
            <a:endParaRPr sz="1200" b="1" dirty="0">
              <a:solidFill>
                <a:srgbClr val="222222"/>
              </a:solidFill>
              <a:latin typeface="Calibri"/>
              <a:ea typeface="Calibri"/>
              <a:cs typeface="Calibri"/>
            </a:endParaRPr>
          </a:p>
        </p:txBody>
      </p:sp>
      <p:sp>
        <p:nvSpPr>
          <p:cNvPr id="24" name="직사각형 23">
            <a:extLst>
              <a:ext uri="{FF2B5EF4-FFF2-40B4-BE49-F238E27FC236}">
                <a16:creationId xmlns:a16="http://schemas.microsoft.com/office/drawing/2014/main" id="{AA8F9BE2-CAC7-1E05-4071-76B0A8EFC112}"/>
              </a:ext>
            </a:extLst>
          </p:cNvPr>
          <p:cNvSpPr>
            <a:spLocks noGrp="1"/>
          </p:cNvSpPr>
          <p:nvPr/>
        </p:nvSpPr>
        <p:spPr>
          <a:xfrm>
            <a:off x="8200644" y="1943100"/>
            <a:ext cx="3477768" cy="228600"/>
          </a:xfrm>
          <a:prstGeom prst="rect">
            <a:avLst/>
          </a:prstGeom>
          <a:noFill/>
          <a:ln w="0">
            <a:noFill/>
            <a:prstDash val="solid"/>
          </a:ln>
        </p:spPr>
        <p:txBody>
          <a:bodyPr wrap="square" lIns="0" tIns="0" rIns="0" bIns="0" anchor="ctr">
            <a:noAutofit/>
          </a:bodyPr>
          <a:lstStyle>
            <a:defPPr>
              <a:defRPr sz="852" b="0">
                <a:solidFill>
                  <a:srgbClr val="5C5C5C"/>
                </a:solidFill>
                <a:latin typeface="Calibri"/>
                <a:ea typeface="Calibri"/>
                <a:cs typeface="Calibri"/>
              </a:defRPr>
            </a:defPPr>
          </a:lstStyle>
          <a:p>
            <a:pPr>
              <a:defRPr sz="852" b="0">
                <a:solidFill>
                  <a:srgbClr val="5C5C5C"/>
                </a:solidFill>
                <a:latin typeface="Calibri"/>
                <a:ea typeface="Calibri"/>
                <a:cs typeface="Calibri"/>
              </a:defRPr>
            </a:pPr>
            <a:r>
              <a:rPr sz="852" b="0">
                <a:solidFill>
                  <a:srgbClr val="5C5C5C"/>
                </a:solidFill>
                <a:latin typeface="Calibri"/>
                <a:ea typeface="Calibri"/>
                <a:cs typeface="Calibri"/>
              </a:rPr>
              <a:t>월간 리뷰 · 합계 성과와 연간 추이 그래프, 차월 운영 방향</a:t>
            </a:r>
          </a:p>
        </p:txBody>
      </p:sp>
      <p:pic>
        <p:nvPicPr>
          <p:cNvPr id="26" name="그림 25">
            <a:extLst>
              <a:ext uri="{FF2B5EF4-FFF2-40B4-BE49-F238E27FC236}">
                <a16:creationId xmlns:a16="http://schemas.microsoft.com/office/drawing/2014/main" id="{0B07B3BD-B6EE-B0F5-548B-228E72683206}"/>
              </a:ext>
            </a:extLst>
          </p:cNvPr>
          <p:cNvPicPr>
            <a:picLocks noChangeAspect="1"/>
          </p:cNvPicPr>
          <p:nvPr/>
        </p:nvPicPr>
        <p:blipFill>
          <a:blip r:embed="rId2"/>
          <a:srcRect r="32509"/>
          <a:stretch>
            <a:fillRect/>
          </a:stretch>
        </p:blipFill>
        <p:spPr>
          <a:xfrm>
            <a:off x="443875" y="2400844"/>
            <a:ext cx="2760879" cy="3285163"/>
          </a:xfrm>
          <a:prstGeom prst="rect">
            <a:avLst/>
          </a:prstGeom>
        </p:spPr>
      </p:pic>
      <p:pic>
        <p:nvPicPr>
          <p:cNvPr id="28" name="그림 27">
            <a:extLst>
              <a:ext uri="{FF2B5EF4-FFF2-40B4-BE49-F238E27FC236}">
                <a16:creationId xmlns:a16="http://schemas.microsoft.com/office/drawing/2014/main" id="{99BAE6DF-F7BC-698C-4E77-978067FDA250}"/>
              </a:ext>
            </a:extLst>
          </p:cNvPr>
          <p:cNvPicPr>
            <a:picLocks noChangeAspect="1"/>
          </p:cNvPicPr>
          <p:nvPr/>
        </p:nvPicPr>
        <p:blipFill>
          <a:blip r:embed="rId3"/>
          <a:stretch/>
        </p:blipFill>
        <p:spPr>
          <a:xfrm>
            <a:off x="3611880" y="2407375"/>
            <a:ext cx="3941064" cy="3554840"/>
          </a:xfrm>
          <a:prstGeom prst="rect">
            <a:avLst/>
          </a:prstGeom>
        </p:spPr>
      </p:pic>
      <p:pic>
        <p:nvPicPr>
          <p:cNvPr id="30" name="그림 29">
            <a:extLst>
              <a:ext uri="{FF2B5EF4-FFF2-40B4-BE49-F238E27FC236}">
                <a16:creationId xmlns:a16="http://schemas.microsoft.com/office/drawing/2014/main" id="{CE7DA6CE-2B49-E8AE-E198-EE7400994514}"/>
              </a:ext>
            </a:extLst>
          </p:cNvPr>
          <p:cNvPicPr>
            <a:picLocks noChangeAspect="1"/>
          </p:cNvPicPr>
          <p:nvPr/>
        </p:nvPicPr>
        <p:blipFill>
          <a:blip r:embed="rId4"/>
          <a:stretch/>
        </p:blipFill>
        <p:spPr>
          <a:xfrm>
            <a:off x="7800052" y="2356699"/>
            <a:ext cx="3355628" cy="3634146"/>
          </a:xfrm>
          <a:prstGeom prst="rect">
            <a:avLst/>
          </a:prstGeom>
        </p:spPr>
      </p:pic>
    </p:spTree>
    <p:extLst>
      <p:ext uri="{BB962C8B-B14F-4D97-AF65-F5344CB8AC3E}">
        <p14:creationId xmlns:p14="http://schemas.microsoft.com/office/powerpoint/2010/main" val="122679430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47472"/>
            <a:ext cx="8229600" cy="274320"/>
          </a:xfrm>
          <a:prstGeom prst="rect">
            <a:avLst/>
          </a:prstGeom>
          <a:noFill/>
        </p:spPr>
        <p:txBody>
          <a:bodyPr wrap="square" lIns="0" tIns="0" rIns="0" bIns="0" anchor="ctr"/>
          <a:lstStyle/>
          <a:p>
            <a:pPr marL="0" indent="0">
              <a:buNone/>
            </a:pPr>
            <a:r>
              <a:rPr lang="ko-KR" sz="900" spc="100" dirty="0">
                <a:solidFill>
                  <a:srgbClr val="004F9F"/>
                </a:solidFill>
                <a:latin typeface="에이투지체 6 SemiBold"/>
                <a:ea typeface="에이투지체 6 SemiBold"/>
                <a:cs typeface="에이투지체 6 SemiBold"/>
              </a:rPr>
              <a:t>PART 6 · 링크프라이스 강점</a:t>
            </a:r>
            <a:endParaRPr lang="ko-KR" sz="900" dirty="0"/>
          </a:p>
        </p:txBody>
      </p:sp>
      <p:sp>
        <p:nvSpPr>
          <p:cNvPr id="3" name="TextBox 2"/>
          <p:cNvSpPr txBox="1"/>
          <p:nvPr/>
        </p:nvSpPr>
        <p:spPr>
          <a:xfrm>
            <a:off x="548640" y="658368"/>
            <a:ext cx="11064240" cy="868680"/>
          </a:xfrm>
          <a:prstGeom prst="rect">
            <a:avLst/>
          </a:prstGeom>
          <a:noFill/>
        </p:spPr>
        <p:txBody>
          <a:bodyPr wrap="square" lIns="0" tIns="0" rIns="0" bIns="0" anchor="ctr"/>
          <a:lstStyle/>
          <a:p>
            <a:pPr marL="0" indent="0">
              <a:lnSpc>
                <a:spcPts val="2600"/>
              </a:lnSpc>
              <a:buNone/>
            </a:pPr>
            <a:r>
              <a:rPr lang="ko-KR" sz="1900" dirty="0">
                <a:solidFill>
                  <a:schemeClr val="bg1"/>
                </a:solidFill>
                <a:highlight>
                  <a:srgbClr val="0000FF"/>
                </a:highlight>
                <a:latin typeface="에이투지체 8 ExtraBold"/>
                <a:ea typeface="에이투지체 8 ExtraBold"/>
                <a:cs typeface="에이투지체 8 ExtraBold"/>
              </a:rPr>
              <a:t>대행 수수료 구조</a:t>
            </a:r>
            <a:endParaRPr lang="ko-KR" sz="1900" dirty="0"/>
          </a:p>
        </p:txBody>
      </p:sp>
      <p:sp>
        <p:nvSpPr>
          <p:cNvPr id="8" name="TextBox 7"/>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19191"/>
                </a:solidFill>
                <a:latin typeface="에이투지체 3 Light"/>
              </a:rPr>
              <a:t>DODREAM B&amp;B AD PROPOSAL · 2026</a:t>
            </a:r>
          </a:p>
        </p:txBody>
      </p:sp>
      <p:sp>
        <p:nvSpPr>
          <p:cNvPr id="9" name="TextBox 8"/>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19191"/>
                </a:solidFill>
                <a:latin typeface="에이투지체 3 Light"/>
              </a:rPr>
              <a:t>LINKPRICE · BRAND AD CENTER</a:t>
            </a:r>
          </a:p>
        </p:txBody>
      </p:sp>
      <p:sp>
        <p:nvSpPr>
          <p:cNvPr id="10" name="PGNO"/>
          <p:cNvSpPr txBox="1"/>
          <p:nvPr/>
        </p:nvSpPr>
        <p:spPr>
          <a:xfrm>
            <a:off x="11292840" y="6473952"/>
            <a:ext cx="365760" cy="123111"/>
          </a:xfrm>
          <a:prstGeom prst="rect">
            <a:avLst/>
          </a:prstGeom>
          <a:noFill/>
        </p:spPr>
        <p:txBody>
          <a:bodyPr wrap="square" lIns="0" tIns="0" rIns="0" bIns="0" anchor="t">
            <a:spAutoFit/>
          </a:bodyPr>
          <a:lstStyle/>
          <a:p>
            <a:pPr algn="r"/>
            <a:r>
              <a:rPr lang="en-US" sz="800" dirty="0">
                <a:solidFill>
                  <a:srgbClr val="222222"/>
                </a:solidFill>
                <a:latin typeface="에이투지체 6 SemiBold"/>
              </a:rPr>
              <a:t>88</a:t>
            </a:r>
            <a:endParaRPr sz="800" dirty="0">
              <a:solidFill>
                <a:srgbClr val="222222"/>
              </a:solidFill>
              <a:latin typeface="에이투지체 6 SemiBold"/>
            </a:endParaRPr>
          </a:p>
        </p:txBody>
      </p:sp>
      <p:sp>
        <p:nvSpPr>
          <p:cNvPr id="7" name="slide-title">
            <a:extLst>
              <a:ext uri="{FF2B5EF4-FFF2-40B4-BE49-F238E27FC236}">
                <a16:creationId xmlns:a16="http://schemas.microsoft.com/office/drawing/2014/main" id="{9299EF55-4511-4FDD-68B1-07416E5C6336}"/>
              </a:ext>
            </a:extLst>
          </p:cNvPr>
          <p:cNvSpPr>
            <a:spLocks noGrp="1"/>
          </p:cNvSpPr>
          <p:nvPr/>
        </p:nvSpPr>
        <p:spPr>
          <a:xfrm>
            <a:off x="533400" y="1448671"/>
            <a:ext cx="11094720" cy="647700"/>
          </a:xfrm>
          <a:prstGeom prst="rect">
            <a:avLst/>
          </a:prstGeom>
          <a:noFill/>
          <a:ln w="0">
            <a:noFill/>
            <a:prstDash val="solid"/>
          </a:ln>
        </p:spPr>
        <p:txBody>
          <a:bodyPr wrap="square" lIns="0" tIns="0" rIns="0" bIns="0" anchor="ctr">
            <a:noAutofit/>
          </a:bodyPr>
          <a:lstStyle>
            <a:defPPr>
              <a:defRPr sz="1896" b="1">
                <a:solidFill>
                  <a:srgbClr val="222222"/>
                </a:solidFill>
                <a:latin typeface="Calibri"/>
                <a:ea typeface="Calibri"/>
                <a:cs typeface="Calibri"/>
              </a:defRPr>
            </a:defPPr>
          </a:lstStyle>
          <a:p>
            <a:pPr>
              <a:defRPr sz="1896" b="1">
                <a:solidFill>
                  <a:srgbClr val="222222"/>
                </a:solidFill>
                <a:latin typeface="Calibri"/>
                <a:ea typeface="Calibri"/>
                <a:cs typeface="Calibri"/>
              </a:defRPr>
            </a:pPr>
            <a:r>
              <a:rPr sz="1896" b="1" dirty="0" err="1">
                <a:solidFill>
                  <a:srgbClr val="222222"/>
                </a:solidFill>
                <a:latin typeface="에이투지체 8 ExtraBold" pitchFamily="50" charset="-127"/>
                <a:ea typeface="에이투지체 8 ExtraBold" pitchFamily="50" charset="-127"/>
                <a:cs typeface="Calibri"/>
              </a:rPr>
              <a:t>국내</a:t>
            </a:r>
            <a:r>
              <a:rPr sz="1896" b="1" dirty="0">
                <a:solidFill>
                  <a:srgbClr val="222222"/>
                </a:solidFill>
                <a:latin typeface="에이투지체 8 ExtraBold" pitchFamily="50" charset="-127"/>
                <a:ea typeface="에이투지체 8 ExtraBold" pitchFamily="50" charset="-127"/>
                <a:cs typeface="Calibri"/>
              </a:rPr>
              <a:t> </a:t>
            </a:r>
            <a:r>
              <a:rPr sz="1896" b="1" dirty="0" err="1">
                <a:solidFill>
                  <a:srgbClr val="222222"/>
                </a:solidFill>
                <a:latin typeface="에이투지체 8 ExtraBold" pitchFamily="50" charset="-127"/>
                <a:ea typeface="에이투지체 8 ExtraBold" pitchFamily="50" charset="-127"/>
                <a:cs typeface="Calibri"/>
              </a:rPr>
              <a:t>매체는</a:t>
            </a:r>
            <a:r>
              <a:rPr sz="1896" b="1" dirty="0">
                <a:solidFill>
                  <a:srgbClr val="222222"/>
                </a:solidFill>
                <a:latin typeface="에이투지체 8 ExtraBold" pitchFamily="50" charset="-127"/>
                <a:ea typeface="에이투지체 8 ExtraBold" pitchFamily="50" charset="-127"/>
                <a:cs typeface="Calibri"/>
              </a:rPr>
              <a:t> </a:t>
            </a:r>
            <a:r>
              <a:rPr sz="1896" b="1" dirty="0" err="1">
                <a:solidFill>
                  <a:srgbClr val="222222"/>
                </a:solidFill>
                <a:latin typeface="에이투지체 8 ExtraBold" pitchFamily="50" charset="-127"/>
                <a:ea typeface="에이투지체 8 ExtraBold" pitchFamily="50" charset="-127"/>
                <a:cs typeface="Calibri"/>
              </a:rPr>
              <a:t>대행</a:t>
            </a:r>
            <a:r>
              <a:rPr sz="1896" b="1" dirty="0">
                <a:solidFill>
                  <a:srgbClr val="222222"/>
                </a:solidFill>
                <a:latin typeface="에이투지체 8 ExtraBold" pitchFamily="50" charset="-127"/>
                <a:ea typeface="에이투지체 8 ExtraBold" pitchFamily="50" charset="-127"/>
                <a:cs typeface="Calibri"/>
              </a:rPr>
              <a:t> </a:t>
            </a:r>
            <a:r>
              <a:rPr sz="1896" b="1" dirty="0" err="1">
                <a:solidFill>
                  <a:srgbClr val="222222"/>
                </a:solidFill>
                <a:latin typeface="에이투지체 8 ExtraBold" pitchFamily="50" charset="-127"/>
                <a:ea typeface="에이투지체 8 ExtraBold" pitchFamily="50" charset="-127"/>
                <a:cs typeface="Calibri"/>
              </a:rPr>
              <a:t>수수료</a:t>
            </a:r>
            <a:r>
              <a:rPr sz="1896" b="1" dirty="0">
                <a:solidFill>
                  <a:srgbClr val="222222"/>
                </a:solidFill>
                <a:latin typeface="에이투지체 8 ExtraBold" pitchFamily="50" charset="-127"/>
                <a:ea typeface="에이투지체 8 ExtraBold" pitchFamily="50" charset="-127"/>
                <a:cs typeface="Calibri"/>
              </a:rPr>
              <a:t> </a:t>
            </a:r>
            <a:r>
              <a:rPr sz="1896" b="1" dirty="0" err="1">
                <a:solidFill>
                  <a:srgbClr val="222222"/>
                </a:solidFill>
                <a:latin typeface="에이투지체 8 ExtraBold" pitchFamily="50" charset="-127"/>
                <a:ea typeface="에이투지체 8 ExtraBold" pitchFamily="50" charset="-127"/>
                <a:cs typeface="Calibri"/>
              </a:rPr>
              <a:t>없이</a:t>
            </a:r>
            <a:r>
              <a:rPr sz="1896" b="1" dirty="0">
                <a:solidFill>
                  <a:srgbClr val="222222"/>
                </a:solidFill>
                <a:latin typeface="에이투지체 8 ExtraBold" pitchFamily="50" charset="-127"/>
                <a:ea typeface="에이투지체 8 ExtraBold" pitchFamily="50" charset="-127"/>
                <a:cs typeface="Calibri"/>
              </a:rPr>
              <a:t> </a:t>
            </a:r>
            <a:r>
              <a:rPr sz="1896" b="1" dirty="0" err="1">
                <a:solidFill>
                  <a:srgbClr val="222222"/>
                </a:solidFill>
                <a:latin typeface="에이투지체 8 ExtraBold" pitchFamily="50" charset="-127"/>
                <a:ea typeface="에이투지체 8 ExtraBold" pitchFamily="50" charset="-127"/>
                <a:cs typeface="Calibri"/>
              </a:rPr>
              <a:t>운영하고</a:t>
            </a:r>
            <a:endParaRPr sz="1896" b="1" dirty="0">
              <a:solidFill>
                <a:srgbClr val="222222"/>
              </a:solidFill>
              <a:latin typeface="에이투지체 8 ExtraBold" pitchFamily="50" charset="-127"/>
              <a:ea typeface="에이투지체 8 ExtraBold" pitchFamily="50" charset="-127"/>
              <a:cs typeface="Calibri"/>
            </a:endParaRPr>
          </a:p>
          <a:p>
            <a:pPr>
              <a:defRPr sz="1896" b="1">
                <a:solidFill>
                  <a:srgbClr val="222222"/>
                </a:solidFill>
                <a:latin typeface="Calibri"/>
                <a:ea typeface="Calibri"/>
                <a:cs typeface="Calibri"/>
              </a:defRPr>
            </a:pPr>
            <a:r>
              <a:rPr sz="1896" b="1" dirty="0" err="1">
                <a:solidFill>
                  <a:srgbClr val="222222"/>
                </a:solidFill>
                <a:latin typeface="에이투지체 8 ExtraBold" pitchFamily="50" charset="-127"/>
                <a:ea typeface="에이투지체 8 ExtraBold" pitchFamily="50" charset="-127"/>
                <a:cs typeface="Calibri"/>
              </a:rPr>
              <a:t>오픈마켓과</a:t>
            </a:r>
            <a:r>
              <a:rPr sz="1896" b="1" dirty="0">
                <a:solidFill>
                  <a:srgbClr val="222222"/>
                </a:solidFill>
                <a:latin typeface="에이투지체 8 ExtraBold" pitchFamily="50" charset="-127"/>
                <a:ea typeface="에이투지체 8 ExtraBold" pitchFamily="50" charset="-127"/>
                <a:cs typeface="Calibri"/>
              </a:rPr>
              <a:t> </a:t>
            </a:r>
            <a:r>
              <a:rPr sz="1896" b="1" dirty="0" err="1">
                <a:solidFill>
                  <a:srgbClr val="222222"/>
                </a:solidFill>
                <a:latin typeface="에이투지체 8 ExtraBold" pitchFamily="50" charset="-127"/>
                <a:ea typeface="에이투지체 8 ExtraBold" pitchFamily="50" charset="-127"/>
                <a:cs typeface="Calibri"/>
              </a:rPr>
              <a:t>해외</a:t>
            </a:r>
            <a:r>
              <a:rPr sz="1896" b="1" dirty="0">
                <a:solidFill>
                  <a:srgbClr val="222222"/>
                </a:solidFill>
                <a:latin typeface="에이투지체 8 ExtraBold" pitchFamily="50" charset="-127"/>
                <a:ea typeface="에이투지체 8 ExtraBold" pitchFamily="50" charset="-127"/>
                <a:cs typeface="Calibri"/>
              </a:rPr>
              <a:t> </a:t>
            </a:r>
            <a:r>
              <a:rPr sz="1896" b="1" dirty="0" err="1">
                <a:solidFill>
                  <a:srgbClr val="222222"/>
                </a:solidFill>
                <a:latin typeface="에이투지체 8 ExtraBold" pitchFamily="50" charset="-127"/>
                <a:ea typeface="에이투지체 8 ExtraBold" pitchFamily="50" charset="-127"/>
                <a:cs typeface="Calibri"/>
              </a:rPr>
              <a:t>매체만</a:t>
            </a:r>
            <a:r>
              <a:rPr sz="1896" b="1" dirty="0">
                <a:solidFill>
                  <a:srgbClr val="222222"/>
                </a:solidFill>
                <a:latin typeface="에이투지체 8 ExtraBold" pitchFamily="50" charset="-127"/>
                <a:ea typeface="에이투지체 8 ExtraBold" pitchFamily="50" charset="-127"/>
                <a:cs typeface="Calibri"/>
              </a:rPr>
              <a:t> </a:t>
            </a:r>
            <a:r>
              <a:rPr sz="1896" b="1" dirty="0" err="1">
                <a:solidFill>
                  <a:srgbClr val="222222"/>
                </a:solidFill>
                <a:latin typeface="에이투지체 8 ExtraBold" pitchFamily="50" charset="-127"/>
                <a:ea typeface="에이투지체 8 ExtraBold" pitchFamily="50" charset="-127"/>
                <a:cs typeface="Calibri"/>
              </a:rPr>
              <a:t>최소</a:t>
            </a:r>
            <a:r>
              <a:rPr sz="1896" b="1" dirty="0">
                <a:solidFill>
                  <a:srgbClr val="222222"/>
                </a:solidFill>
                <a:latin typeface="에이투지체 8 ExtraBold" pitchFamily="50" charset="-127"/>
                <a:ea typeface="에이투지체 8 ExtraBold" pitchFamily="50" charset="-127"/>
                <a:cs typeface="Calibri"/>
              </a:rPr>
              <a:t> </a:t>
            </a:r>
            <a:r>
              <a:rPr sz="1896" b="1" dirty="0" err="1">
                <a:solidFill>
                  <a:srgbClr val="222222"/>
                </a:solidFill>
                <a:latin typeface="에이투지체 8 ExtraBold" pitchFamily="50" charset="-127"/>
                <a:ea typeface="에이투지체 8 ExtraBold" pitchFamily="50" charset="-127"/>
                <a:cs typeface="Calibri"/>
              </a:rPr>
              <a:t>요율을</a:t>
            </a:r>
            <a:r>
              <a:rPr sz="1896" b="1" dirty="0">
                <a:solidFill>
                  <a:srgbClr val="222222"/>
                </a:solidFill>
                <a:latin typeface="에이투지체 8 ExtraBold" pitchFamily="50" charset="-127"/>
                <a:ea typeface="에이투지체 8 ExtraBold" pitchFamily="50" charset="-127"/>
                <a:cs typeface="Calibri"/>
              </a:rPr>
              <a:t> </a:t>
            </a:r>
            <a:r>
              <a:rPr sz="1896" b="1" dirty="0" err="1">
                <a:solidFill>
                  <a:srgbClr val="222222"/>
                </a:solidFill>
                <a:latin typeface="에이투지체 8 ExtraBold" pitchFamily="50" charset="-127"/>
                <a:ea typeface="에이투지체 8 ExtraBold" pitchFamily="50" charset="-127"/>
                <a:cs typeface="Calibri"/>
              </a:rPr>
              <a:t>적용합니다</a:t>
            </a:r>
            <a:endParaRPr sz="1896" b="1" dirty="0">
              <a:solidFill>
                <a:srgbClr val="222222"/>
              </a:solidFill>
              <a:latin typeface="에이투지체 8 ExtraBold" pitchFamily="50" charset="-127"/>
              <a:ea typeface="에이투지체 8 ExtraBold" pitchFamily="50" charset="-127"/>
              <a:cs typeface="Calibri"/>
            </a:endParaRPr>
          </a:p>
        </p:txBody>
      </p:sp>
      <p:graphicFrame>
        <p:nvGraphicFramePr>
          <p:cNvPr id="12" name="표 11">
            <a:extLst>
              <a:ext uri="{FF2B5EF4-FFF2-40B4-BE49-F238E27FC236}">
                <a16:creationId xmlns:a16="http://schemas.microsoft.com/office/drawing/2014/main" id="{CD43CA55-DFA8-8FD5-4C9F-D3F2C419C713}"/>
              </a:ext>
            </a:extLst>
          </p:cNvPr>
          <p:cNvGraphicFramePr/>
          <p:nvPr>
            <p:extLst>
              <p:ext uri="{D42A27DB-BD31-4B8C-83A1-F6EECF244321}">
                <p14:modId xmlns:p14="http://schemas.microsoft.com/office/powerpoint/2010/main" val="1449670833"/>
              </p:ext>
            </p:extLst>
          </p:nvPr>
        </p:nvGraphicFramePr>
        <p:xfrm>
          <a:off x="548640" y="2201744"/>
          <a:ext cx="11064240" cy="2834640"/>
        </p:xfrm>
        <a:graphic>
          <a:graphicData uri="http://schemas.openxmlformats.org/drawingml/2006/table">
            <a:tbl>
              <a:tblPr/>
              <a:tblGrid>
                <a:gridCol w="1828800">
                  <a:extLst>
                    <a:ext uri="{9D8B030D-6E8A-4147-A177-3AD203B41FA5}">
                      <a16:colId xmlns:a16="http://schemas.microsoft.com/office/drawing/2014/main" val="20000"/>
                    </a:ext>
                  </a:extLst>
                </a:gridCol>
                <a:gridCol w="64922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566928">
                <a:tc>
                  <a:txBody>
                    <a:bodyPr/>
                    <a:lstStyle/>
                    <a:p>
                      <a:pPr algn="l"/>
                      <a:r>
                        <a:rPr sz="1104" b="1">
                          <a:solidFill>
                            <a:srgbClr val="FFFFFF"/>
                          </a:solidFill>
                          <a:latin typeface="에이투지체 5 Medium" pitchFamily="50" charset="-127"/>
                          <a:ea typeface="에이투지체 5 Medium" pitchFamily="50" charset="-127"/>
                          <a:cs typeface="Calibri"/>
                        </a:rPr>
                        <a:t>구분</a:t>
                      </a:r>
                    </a:p>
                  </a:txBody>
                  <a:tcPr marL="57150" marR="57150" marT="28575" marB="28575" anchor="ctr">
                    <a:lnL w="6191">
                      <a:solidFill>
                        <a:srgbClr val="CDCDCD"/>
                      </a:solidFill>
                      <a:prstDash val="solid"/>
                    </a:lnL>
                    <a:lnR w="6191">
                      <a:solidFill>
                        <a:srgbClr val="CDCDCD"/>
                      </a:solidFill>
                      <a:prstDash val="solid"/>
                    </a:lnR>
                    <a:lnT w="6191">
                      <a:solidFill>
                        <a:srgbClr val="CDCDCD"/>
                      </a:solidFill>
                      <a:prstDash val="solid"/>
                    </a:lnT>
                    <a:lnB w="6191">
                      <a:solidFill>
                        <a:srgbClr val="CDCDCD"/>
                      </a:solidFill>
                      <a:prstDash val="solid"/>
                    </a:lnB>
                    <a:solidFill>
                      <a:srgbClr val="202020"/>
                    </a:solidFill>
                  </a:tcPr>
                </a:tc>
                <a:tc>
                  <a:txBody>
                    <a:bodyPr/>
                    <a:lstStyle/>
                    <a:p>
                      <a:pPr algn="l"/>
                      <a:r>
                        <a:rPr sz="1104" b="1">
                          <a:solidFill>
                            <a:srgbClr val="FFFFFF"/>
                          </a:solidFill>
                          <a:latin typeface="에이투지체 5 Medium" pitchFamily="50" charset="-127"/>
                          <a:ea typeface="에이투지체 5 Medium" pitchFamily="50" charset="-127"/>
                          <a:cs typeface="Calibri"/>
                        </a:rPr>
                        <a:t>매체</a:t>
                      </a:r>
                    </a:p>
                  </a:txBody>
                  <a:tcPr marL="57150" marR="57150" marT="28575" marB="28575" anchor="ctr">
                    <a:lnL w="6191" cap="flat" cmpd="sng" algn="ctr">
                      <a:solidFill>
                        <a:srgbClr val="CDCDCD"/>
                      </a:solidFill>
                      <a:prstDash val="solid"/>
                      <a:round/>
                      <a:headEnd type="none" w="med" len="med"/>
                      <a:tailEnd type="none" w="med" len="med"/>
                    </a:lnL>
                    <a:lnR w="6191">
                      <a:solidFill>
                        <a:srgbClr val="CDCDCD"/>
                      </a:solidFill>
                      <a:prstDash val="solid"/>
                    </a:lnR>
                    <a:lnT w="6191">
                      <a:solidFill>
                        <a:srgbClr val="CDCDCD"/>
                      </a:solidFill>
                      <a:prstDash val="solid"/>
                    </a:lnT>
                    <a:lnB w="6191">
                      <a:solidFill>
                        <a:srgbClr val="CDCDCD"/>
                      </a:solidFill>
                      <a:prstDash val="solid"/>
                    </a:lnB>
                    <a:solidFill>
                      <a:srgbClr val="202020"/>
                    </a:solidFill>
                  </a:tcPr>
                </a:tc>
                <a:tc>
                  <a:txBody>
                    <a:bodyPr/>
                    <a:lstStyle/>
                    <a:p>
                      <a:pPr algn="ctr"/>
                      <a:r>
                        <a:rPr sz="1104" b="1">
                          <a:solidFill>
                            <a:srgbClr val="FFFFFF"/>
                          </a:solidFill>
                          <a:latin typeface="에이투지체 5 Medium" pitchFamily="50" charset="-127"/>
                          <a:ea typeface="에이투지체 5 Medium" pitchFamily="50" charset="-127"/>
                          <a:cs typeface="Calibri"/>
                        </a:rPr>
                        <a:t>대행 수수료</a:t>
                      </a:r>
                    </a:p>
                  </a:txBody>
                  <a:tcPr marL="57150" marR="57150" marT="28575" marB="28575" anchor="ctr">
                    <a:lnL w="6191" cap="flat" cmpd="sng" algn="ctr">
                      <a:solidFill>
                        <a:srgbClr val="CDCDCD"/>
                      </a:solidFill>
                      <a:prstDash val="solid"/>
                      <a:round/>
                      <a:headEnd type="none" w="med" len="med"/>
                      <a:tailEnd type="none" w="med" len="med"/>
                    </a:lnL>
                    <a:lnR w="6191">
                      <a:solidFill>
                        <a:srgbClr val="CDCDCD"/>
                      </a:solidFill>
                      <a:prstDash val="solid"/>
                    </a:lnR>
                    <a:lnT w="6191">
                      <a:solidFill>
                        <a:srgbClr val="CDCDCD"/>
                      </a:solidFill>
                      <a:prstDash val="solid"/>
                    </a:lnT>
                    <a:lnB w="6191">
                      <a:solidFill>
                        <a:srgbClr val="CDCDCD"/>
                      </a:solidFill>
                      <a:prstDash val="solid"/>
                    </a:lnB>
                    <a:solidFill>
                      <a:srgbClr val="202020"/>
                    </a:solidFill>
                  </a:tcPr>
                </a:tc>
                <a:extLst>
                  <a:ext uri="{0D108BD9-81ED-4DB2-BD59-A6C34878D82A}">
                    <a16:rowId xmlns:a16="http://schemas.microsoft.com/office/drawing/2014/main" val="10000"/>
                  </a:ext>
                </a:extLst>
              </a:tr>
              <a:tr h="566928">
                <a:tc>
                  <a:txBody>
                    <a:bodyPr/>
                    <a:lstStyle/>
                    <a:p>
                      <a:pPr algn="l"/>
                      <a:r>
                        <a:rPr sz="1104" b="0">
                          <a:solidFill>
                            <a:srgbClr val="222222"/>
                          </a:solidFill>
                          <a:latin typeface="에이투지체 5 Medium" pitchFamily="50" charset="-127"/>
                          <a:ea typeface="에이투지체 5 Medium" pitchFamily="50" charset="-127"/>
                          <a:cs typeface="Calibri"/>
                        </a:rPr>
                        <a:t>국내 매체</a:t>
                      </a:r>
                    </a:p>
                  </a:txBody>
                  <a:tcPr marL="57150" marR="57150" marT="28575" marB="28575" anchor="ctr">
                    <a:lnL w="6191">
                      <a:solidFill>
                        <a:srgbClr val="CDCDCD"/>
                      </a:solidFill>
                      <a:prstDash val="solid"/>
                    </a:lnL>
                    <a:lnR w="6191">
                      <a:solidFill>
                        <a:srgbClr val="CDCDCD"/>
                      </a:solidFill>
                      <a:prstDash val="solid"/>
                    </a:lnR>
                    <a:lnT w="6191" cap="flat" cmpd="sng" algn="ctr">
                      <a:solidFill>
                        <a:srgbClr val="CDCDCD"/>
                      </a:solidFill>
                      <a:prstDash val="solid"/>
                      <a:round/>
                      <a:headEnd type="none" w="med" len="med"/>
                      <a:tailEnd type="none" w="med" len="med"/>
                    </a:lnT>
                    <a:lnB w="6191">
                      <a:solidFill>
                        <a:srgbClr val="CDCDCD"/>
                      </a:solidFill>
                      <a:prstDash val="solid"/>
                    </a:lnB>
                    <a:solidFill>
                      <a:srgbClr val="FAFAFA"/>
                    </a:solidFill>
                  </a:tcPr>
                </a:tc>
                <a:tc>
                  <a:txBody>
                    <a:bodyPr/>
                    <a:lstStyle/>
                    <a:p>
                      <a:pPr algn="l"/>
                      <a:r>
                        <a:rPr sz="1104" b="0">
                          <a:solidFill>
                            <a:srgbClr val="222222"/>
                          </a:solidFill>
                          <a:latin typeface="에이투지체 5 Medium" pitchFamily="50" charset="-127"/>
                          <a:ea typeface="에이투지체 5 Medium" pitchFamily="50" charset="-127"/>
                          <a:cs typeface="Calibri"/>
                        </a:rPr>
                        <a:t>네이버 SA · GFA, 카카오, 크리테오, 모비온 등 전체</a:t>
                      </a:r>
                    </a:p>
                  </a:txBody>
                  <a:tcPr marL="57150" marR="57150" marT="28575" marB="28575" anchor="ctr">
                    <a:lnL w="6191" cap="flat" cmpd="sng" algn="ctr">
                      <a:solidFill>
                        <a:srgbClr val="CDCDCD"/>
                      </a:solidFill>
                      <a:prstDash val="solid"/>
                      <a:round/>
                      <a:headEnd type="none" w="med" len="med"/>
                      <a:tailEnd type="none" w="med" len="med"/>
                    </a:lnL>
                    <a:lnR w="6191">
                      <a:solidFill>
                        <a:srgbClr val="CDCDCD"/>
                      </a:solidFill>
                      <a:prstDash val="solid"/>
                    </a:lnR>
                    <a:lnT w="6191" cap="flat" cmpd="sng" algn="ctr">
                      <a:solidFill>
                        <a:srgbClr val="CDCDCD"/>
                      </a:solidFill>
                      <a:prstDash val="solid"/>
                      <a:round/>
                      <a:headEnd type="none" w="med" len="med"/>
                      <a:tailEnd type="none" w="med" len="med"/>
                    </a:lnT>
                    <a:lnB w="6191">
                      <a:solidFill>
                        <a:srgbClr val="CDCDCD"/>
                      </a:solidFill>
                      <a:prstDash val="solid"/>
                    </a:lnB>
                    <a:solidFill>
                      <a:srgbClr val="FAFAFA"/>
                    </a:solidFill>
                  </a:tcPr>
                </a:tc>
                <a:tc>
                  <a:txBody>
                    <a:bodyPr/>
                    <a:lstStyle/>
                    <a:p>
                      <a:pPr algn="ctr"/>
                      <a:r>
                        <a:rPr sz="1596" b="1">
                          <a:solidFill>
                            <a:srgbClr val="FF0024"/>
                          </a:solidFill>
                          <a:latin typeface="에이투지체 5 Medium" pitchFamily="50" charset="-127"/>
                          <a:ea typeface="에이투지체 5 Medium" pitchFamily="50" charset="-127"/>
                          <a:cs typeface="Calibri"/>
                        </a:rPr>
                        <a:t>수수료 없음</a:t>
                      </a:r>
                    </a:p>
                  </a:txBody>
                  <a:tcPr marL="57150" marR="57150" marT="28575" marB="28575" anchor="ctr">
                    <a:lnL w="6191" cap="flat" cmpd="sng" algn="ctr">
                      <a:solidFill>
                        <a:srgbClr val="CDCDCD"/>
                      </a:solidFill>
                      <a:prstDash val="solid"/>
                      <a:round/>
                      <a:headEnd type="none" w="med" len="med"/>
                      <a:tailEnd type="none" w="med" len="med"/>
                    </a:lnL>
                    <a:lnR w="6191">
                      <a:solidFill>
                        <a:srgbClr val="CDCDCD"/>
                      </a:solidFill>
                      <a:prstDash val="solid"/>
                    </a:lnR>
                    <a:lnT w="6191" cap="flat" cmpd="sng" algn="ctr">
                      <a:solidFill>
                        <a:srgbClr val="CDCDCD"/>
                      </a:solidFill>
                      <a:prstDash val="solid"/>
                      <a:round/>
                      <a:headEnd type="none" w="med" len="med"/>
                      <a:tailEnd type="none" w="med" len="med"/>
                    </a:lnT>
                    <a:lnB w="6191">
                      <a:solidFill>
                        <a:srgbClr val="CDCDCD"/>
                      </a:solidFill>
                      <a:prstDash val="solid"/>
                    </a:lnB>
                    <a:solidFill>
                      <a:srgbClr val="FAFAFA"/>
                    </a:solidFill>
                  </a:tcPr>
                </a:tc>
                <a:extLst>
                  <a:ext uri="{0D108BD9-81ED-4DB2-BD59-A6C34878D82A}">
                    <a16:rowId xmlns:a16="http://schemas.microsoft.com/office/drawing/2014/main" val="10001"/>
                  </a:ext>
                </a:extLst>
              </a:tr>
              <a:tr h="566928">
                <a:tc>
                  <a:txBody>
                    <a:bodyPr/>
                    <a:lstStyle/>
                    <a:p>
                      <a:pPr algn="l"/>
                      <a:r>
                        <a:rPr sz="1104" b="0">
                          <a:solidFill>
                            <a:srgbClr val="222222"/>
                          </a:solidFill>
                          <a:latin typeface="에이투지체 5 Medium" pitchFamily="50" charset="-127"/>
                          <a:ea typeface="에이투지체 5 Medium" pitchFamily="50" charset="-127"/>
                          <a:cs typeface="Calibri"/>
                        </a:rPr>
                        <a:t>오픈마켓</a:t>
                      </a:r>
                    </a:p>
                  </a:txBody>
                  <a:tcPr marL="57150" marR="57150" marT="28575" marB="28575" anchor="ctr">
                    <a:lnL w="6191">
                      <a:solidFill>
                        <a:srgbClr val="CDCDCD"/>
                      </a:solidFill>
                      <a:prstDash val="solid"/>
                    </a:lnL>
                    <a:lnR w="6191">
                      <a:solidFill>
                        <a:srgbClr val="CDCDCD"/>
                      </a:solidFill>
                      <a:prstDash val="solid"/>
                    </a:lnR>
                    <a:lnT w="6191" cap="flat" cmpd="sng" algn="ctr">
                      <a:solidFill>
                        <a:srgbClr val="CDCDCD"/>
                      </a:solidFill>
                      <a:prstDash val="solid"/>
                      <a:round/>
                      <a:headEnd type="none" w="med" len="med"/>
                      <a:tailEnd type="none" w="med" len="med"/>
                    </a:lnT>
                    <a:lnB w="6191">
                      <a:solidFill>
                        <a:srgbClr val="CDCDCD"/>
                      </a:solidFill>
                      <a:prstDash val="solid"/>
                    </a:lnB>
                    <a:solidFill>
                      <a:srgbClr val="FAFAFA"/>
                    </a:solidFill>
                  </a:tcPr>
                </a:tc>
                <a:tc>
                  <a:txBody>
                    <a:bodyPr/>
                    <a:lstStyle/>
                    <a:p>
                      <a:pPr algn="l"/>
                      <a:r>
                        <a:rPr sz="1104" b="0">
                          <a:solidFill>
                            <a:srgbClr val="222222"/>
                          </a:solidFill>
                          <a:latin typeface="에이투지체 5 Medium" pitchFamily="50" charset="-127"/>
                          <a:ea typeface="에이투지체 5 Medium" pitchFamily="50" charset="-127"/>
                          <a:cs typeface="Calibri"/>
                        </a:rPr>
                        <a:t>쿠팡</a:t>
                      </a:r>
                    </a:p>
                  </a:txBody>
                  <a:tcPr marL="57150" marR="57150" marT="28575" marB="28575" anchor="ctr">
                    <a:lnL w="6191" cap="flat" cmpd="sng" algn="ctr">
                      <a:solidFill>
                        <a:srgbClr val="CDCDCD"/>
                      </a:solidFill>
                      <a:prstDash val="solid"/>
                      <a:round/>
                      <a:headEnd type="none" w="med" len="med"/>
                      <a:tailEnd type="none" w="med" len="med"/>
                    </a:lnL>
                    <a:lnR w="6191">
                      <a:solidFill>
                        <a:srgbClr val="CDCDCD"/>
                      </a:solidFill>
                      <a:prstDash val="solid"/>
                    </a:lnR>
                    <a:lnT w="6191" cap="flat" cmpd="sng" algn="ctr">
                      <a:solidFill>
                        <a:srgbClr val="CDCDCD"/>
                      </a:solidFill>
                      <a:prstDash val="solid"/>
                      <a:round/>
                      <a:headEnd type="none" w="med" len="med"/>
                      <a:tailEnd type="none" w="med" len="med"/>
                    </a:lnT>
                    <a:lnB w="6191">
                      <a:solidFill>
                        <a:srgbClr val="CDCDCD"/>
                      </a:solidFill>
                      <a:prstDash val="solid"/>
                    </a:lnB>
                    <a:solidFill>
                      <a:srgbClr val="FAFAFA"/>
                    </a:solidFill>
                  </a:tcPr>
                </a:tc>
                <a:tc>
                  <a:txBody>
                    <a:bodyPr/>
                    <a:lstStyle/>
                    <a:p>
                      <a:pPr algn="ctr"/>
                      <a:r>
                        <a:rPr sz="1596" b="1">
                          <a:solidFill>
                            <a:srgbClr val="FF0024"/>
                          </a:solidFill>
                          <a:latin typeface="에이투지체 5 Medium" pitchFamily="50" charset="-127"/>
                          <a:ea typeface="에이투지체 5 Medium" pitchFamily="50" charset="-127"/>
                          <a:cs typeface="Calibri"/>
                        </a:rPr>
                        <a:t>10%</a:t>
                      </a:r>
                    </a:p>
                  </a:txBody>
                  <a:tcPr marL="57150" marR="57150" marT="28575" marB="28575" anchor="ctr">
                    <a:lnL w="6191" cap="flat" cmpd="sng" algn="ctr">
                      <a:solidFill>
                        <a:srgbClr val="CDCDCD"/>
                      </a:solidFill>
                      <a:prstDash val="solid"/>
                      <a:round/>
                      <a:headEnd type="none" w="med" len="med"/>
                      <a:tailEnd type="none" w="med" len="med"/>
                    </a:lnL>
                    <a:lnR w="6191">
                      <a:solidFill>
                        <a:srgbClr val="CDCDCD"/>
                      </a:solidFill>
                      <a:prstDash val="solid"/>
                    </a:lnR>
                    <a:lnT w="6191" cap="flat" cmpd="sng" algn="ctr">
                      <a:solidFill>
                        <a:srgbClr val="CDCDCD"/>
                      </a:solidFill>
                      <a:prstDash val="solid"/>
                      <a:round/>
                      <a:headEnd type="none" w="med" len="med"/>
                      <a:tailEnd type="none" w="med" len="med"/>
                    </a:lnT>
                    <a:lnB w="6191">
                      <a:solidFill>
                        <a:srgbClr val="CDCDCD"/>
                      </a:solidFill>
                      <a:prstDash val="solid"/>
                    </a:lnB>
                    <a:solidFill>
                      <a:srgbClr val="FAFAFA"/>
                    </a:solidFill>
                  </a:tcPr>
                </a:tc>
                <a:extLst>
                  <a:ext uri="{0D108BD9-81ED-4DB2-BD59-A6C34878D82A}">
                    <a16:rowId xmlns:a16="http://schemas.microsoft.com/office/drawing/2014/main" val="10002"/>
                  </a:ext>
                </a:extLst>
              </a:tr>
              <a:tr h="566928">
                <a:tc>
                  <a:txBody>
                    <a:bodyPr/>
                    <a:lstStyle/>
                    <a:p>
                      <a:pPr algn="l"/>
                      <a:r>
                        <a:rPr sz="1104" b="0">
                          <a:solidFill>
                            <a:srgbClr val="222222"/>
                          </a:solidFill>
                          <a:latin typeface="에이투지체 5 Medium" pitchFamily="50" charset="-127"/>
                          <a:ea typeface="에이투지체 5 Medium" pitchFamily="50" charset="-127"/>
                          <a:cs typeface="Calibri"/>
                        </a:rPr>
                        <a:t>오픈마켓</a:t>
                      </a:r>
                    </a:p>
                  </a:txBody>
                  <a:tcPr marL="57150" marR="57150" marT="28575" marB="28575" anchor="ctr">
                    <a:lnL w="6191">
                      <a:solidFill>
                        <a:srgbClr val="CDCDCD"/>
                      </a:solidFill>
                      <a:prstDash val="solid"/>
                    </a:lnL>
                    <a:lnR w="6191">
                      <a:solidFill>
                        <a:srgbClr val="CDCDCD"/>
                      </a:solidFill>
                      <a:prstDash val="solid"/>
                    </a:lnR>
                    <a:lnT w="6191" cap="flat" cmpd="sng" algn="ctr">
                      <a:solidFill>
                        <a:srgbClr val="CDCDCD"/>
                      </a:solidFill>
                      <a:prstDash val="solid"/>
                      <a:round/>
                      <a:headEnd type="none" w="med" len="med"/>
                      <a:tailEnd type="none" w="med" len="med"/>
                    </a:lnT>
                    <a:lnB w="6191">
                      <a:solidFill>
                        <a:srgbClr val="CDCDCD"/>
                      </a:solidFill>
                      <a:prstDash val="solid"/>
                    </a:lnB>
                    <a:solidFill>
                      <a:srgbClr val="FAFAFA"/>
                    </a:solidFill>
                  </a:tcPr>
                </a:tc>
                <a:tc>
                  <a:txBody>
                    <a:bodyPr/>
                    <a:lstStyle/>
                    <a:p>
                      <a:pPr algn="l"/>
                      <a:r>
                        <a:rPr sz="1104" b="0">
                          <a:solidFill>
                            <a:srgbClr val="222222"/>
                          </a:solidFill>
                          <a:latin typeface="에이투지체 5 Medium" pitchFamily="50" charset="-127"/>
                          <a:ea typeface="에이투지체 5 Medium" pitchFamily="50" charset="-127"/>
                          <a:cs typeface="Calibri"/>
                        </a:rPr>
                        <a:t>지마켓</a:t>
                      </a:r>
                    </a:p>
                  </a:txBody>
                  <a:tcPr marL="57150" marR="57150" marT="28575" marB="28575" anchor="ctr">
                    <a:lnL w="6191" cap="flat" cmpd="sng" algn="ctr">
                      <a:solidFill>
                        <a:srgbClr val="CDCDCD"/>
                      </a:solidFill>
                      <a:prstDash val="solid"/>
                      <a:round/>
                      <a:headEnd type="none" w="med" len="med"/>
                      <a:tailEnd type="none" w="med" len="med"/>
                    </a:lnL>
                    <a:lnR w="6191">
                      <a:solidFill>
                        <a:srgbClr val="CDCDCD"/>
                      </a:solidFill>
                      <a:prstDash val="solid"/>
                    </a:lnR>
                    <a:lnT w="6191" cap="flat" cmpd="sng" algn="ctr">
                      <a:solidFill>
                        <a:srgbClr val="CDCDCD"/>
                      </a:solidFill>
                      <a:prstDash val="solid"/>
                      <a:round/>
                      <a:headEnd type="none" w="med" len="med"/>
                      <a:tailEnd type="none" w="med" len="med"/>
                    </a:lnT>
                    <a:lnB w="6191">
                      <a:solidFill>
                        <a:srgbClr val="CDCDCD"/>
                      </a:solidFill>
                      <a:prstDash val="solid"/>
                    </a:lnB>
                    <a:solidFill>
                      <a:srgbClr val="FAFAFA"/>
                    </a:solidFill>
                  </a:tcPr>
                </a:tc>
                <a:tc>
                  <a:txBody>
                    <a:bodyPr/>
                    <a:lstStyle/>
                    <a:p>
                      <a:pPr algn="ctr"/>
                      <a:r>
                        <a:rPr sz="1596" b="1">
                          <a:solidFill>
                            <a:srgbClr val="FF0024"/>
                          </a:solidFill>
                          <a:latin typeface="에이투지체 5 Medium" pitchFamily="50" charset="-127"/>
                          <a:ea typeface="에이투지체 5 Medium" pitchFamily="50" charset="-127"/>
                          <a:cs typeface="Calibri"/>
                        </a:rPr>
                        <a:t>수수료 없음</a:t>
                      </a:r>
                    </a:p>
                  </a:txBody>
                  <a:tcPr marL="57150" marR="57150" marT="28575" marB="28575" anchor="ctr">
                    <a:lnL w="6191" cap="flat" cmpd="sng" algn="ctr">
                      <a:solidFill>
                        <a:srgbClr val="CDCDCD"/>
                      </a:solidFill>
                      <a:prstDash val="solid"/>
                      <a:round/>
                      <a:headEnd type="none" w="med" len="med"/>
                      <a:tailEnd type="none" w="med" len="med"/>
                    </a:lnL>
                    <a:lnR w="6191">
                      <a:solidFill>
                        <a:srgbClr val="CDCDCD"/>
                      </a:solidFill>
                      <a:prstDash val="solid"/>
                    </a:lnR>
                    <a:lnT w="6191" cap="flat" cmpd="sng" algn="ctr">
                      <a:solidFill>
                        <a:srgbClr val="CDCDCD"/>
                      </a:solidFill>
                      <a:prstDash val="solid"/>
                      <a:round/>
                      <a:headEnd type="none" w="med" len="med"/>
                      <a:tailEnd type="none" w="med" len="med"/>
                    </a:lnT>
                    <a:lnB w="6191">
                      <a:solidFill>
                        <a:srgbClr val="CDCDCD"/>
                      </a:solidFill>
                      <a:prstDash val="solid"/>
                    </a:lnB>
                    <a:solidFill>
                      <a:srgbClr val="FAFAFA"/>
                    </a:solidFill>
                  </a:tcPr>
                </a:tc>
                <a:extLst>
                  <a:ext uri="{0D108BD9-81ED-4DB2-BD59-A6C34878D82A}">
                    <a16:rowId xmlns:a16="http://schemas.microsoft.com/office/drawing/2014/main" val="10003"/>
                  </a:ext>
                </a:extLst>
              </a:tr>
              <a:tr h="566928">
                <a:tc>
                  <a:txBody>
                    <a:bodyPr/>
                    <a:lstStyle/>
                    <a:p>
                      <a:pPr algn="l"/>
                      <a:r>
                        <a:rPr sz="1104" b="0">
                          <a:solidFill>
                            <a:srgbClr val="222222"/>
                          </a:solidFill>
                          <a:latin typeface="에이투지체 5 Medium" pitchFamily="50" charset="-127"/>
                          <a:ea typeface="에이투지체 5 Medium" pitchFamily="50" charset="-127"/>
                          <a:cs typeface="Calibri"/>
                        </a:rPr>
                        <a:t>해외 매체</a:t>
                      </a:r>
                    </a:p>
                  </a:txBody>
                  <a:tcPr marL="57150" marR="57150" marT="28575" marB="28575" anchor="ctr">
                    <a:lnL w="6191">
                      <a:solidFill>
                        <a:srgbClr val="CDCDCD"/>
                      </a:solidFill>
                      <a:prstDash val="solid"/>
                    </a:lnL>
                    <a:lnR w="6191">
                      <a:solidFill>
                        <a:srgbClr val="CDCDCD"/>
                      </a:solidFill>
                      <a:prstDash val="solid"/>
                    </a:lnR>
                    <a:lnT w="6191" cap="flat" cmpd="sng" algn="ctr">
                      <a:solidFill>
                        <a:srgbClr val="CDCDCD"/>
                      </a:solidFill>
                      <a:prstDash val="solid"/>
                      <a:round/>
                      <a:headEnd type="none" w="med" len="med"/>
                      <a:tailEnd type="none" w="med" len="med"/>
                    </a:lnT>
                    <a:lnB w="6191">
                      <a:solidFill>
                        <a:srgbClr val="CDCDCD"/>
                      </a:solidFill>
                      <a:prstDash val="solid"/>
                    </a:lnB>
                    <a:solidFill>
                      <a:srgbClr val="FAFAFA"/>
                    </a:solidFill>
                  </a:tcPr>
                </a:tc>
                <a:tc>
                  <a:txBody>
                    <a:bodyPr/>
                    <a:lstStyle/>
                    <a:p>
                      <a:pPr algn="l"/>
                      <a:r>
                        <a:rPr sz="1104" b="0">
                          <a:solidFill>
                            <a:srgbClr val="222222"/>
                          </a:solidFill>
                          <a:latin typeface="에이투지체 5 Medium" pitchFamily="50" charset="-127"/>
                          <a:ea typeface="에이투지체 5 Medium" pitchFamily="50" charset="-127"/>
                          <a:cs typeface="Calibri"/>
                        </a:rPr>
                        <a:t>메타, 구글</a:t>
                      </a:r>
                    </a:p>
                  </a:txBody>
                  <a:tcPr marL="57150" marR="57150" marT="28575" marB="28575" anchor="ctr">
                    <a:lnL w="6191" cap="flat" cmpd="sng" algn="ctr">
                      <a:solidFill>
                        <a:srgbClr val="CDCDCD"/>
                      </a:solidFill>
                      <a:prstDash val="solid"/>
                      <a:round/>
                      <a:headEnd type="none" w="med" len="med"/>
                      <a:tailEnd type="none" w="med" len="med"/>
                    </a:lnL>
                    <a:lnR w="6191">
                      <a:solidFill>
                        <a:srgbClr val="CDCDCD"/>
                      </a:solidFill>
                      <a:prstDash val="solid"/>
                    </a:lnR>
                    <a:lnT w="6191" cap="flat" cmpd="sng" algn="ctr">
                      <a:solidFill>
                        <a:srgbClr val="CDCDCD"/>
                      </a:solidFill>
                      <a:prstDash val="solid"/>
                      <a:round/>
                      <a:headEnd type="none" w="med" len="med"/>
                      <a:tailEnd type="none" w="med" len="med"/>
                    </a:lnT>
                    <a:lnB w="6191">
                      <a:solidFill>
                        <a:srgbClr val="CDCDCD"/>
                      </a:solidFill>
                      <a:prstDash val="solid"/>
                    </a:lnB>
                    <a:solidFill>
                      <a:srgbClr val="FAFAFA"/>
                    </a:solidFill>
                  </a:tcPr>
                </a:tc>
                <a:tc>
                  <a:txBody>
                    <a:bodyPr/>
                    <a:lstStyle/>
                    <a:p>
                      <a:pPr algn="ctr"/>
                      <a:r>
                        <a:rPr sz="1596" b="1" dirty="0" err="1">
                          <a:solidFill>
                            <a:srgbClr val="FF0024"/>
                          </a:solidFill>
                          <a:latin typeface="에이투지체 5 Medium" pitchFamily="50" charset="-127"/>
                          <a:ea typeface="에이투지체 5 Medium" pitchFamily="50" charset="-127"/>
                          <a:cs typeface="Calibri"/>
                        </a:rPr>
                        <a:t>마크업</a:t>
                      </a:r>
                      <a:r>
                        <a:rPr sz="1596" b="1" dirty="0">
                          <a:solidFill>
                            <a:srgbClr val="FF0024"/>
                          </a:solidFill>
                          <a:latin typeface="에이투지체 5 Medium" pitchFamily="50" charset="-127"/>
                          <a:ea typeface="에이투지체 5 Medium" pitchFamily="50" charset="-127"/>
                          <a:cs typeface="Calibri"/>
                        </a:rPr>
                        <a:t> 10%</a:t>
                      </a:r>
                    </a:p>
                  </a:txBody>
                  <a:tcPr marL="57150" marR="57150" marT="28575" marB="28575" anchor="ctr">
                    <a:lnL w="6191" cap="flat" cmpd="sng" algn="ctr">
                      <a:solidFill>
                        <a:srgbClr val="CDCDCD"/>
                      </a:solidFill>
                      <a:prstDash val="solid"/>
                      <a:round/>
                      <a:headEnd type="none" w="med" len="med"/>
                      <a:tailEnd type="none" w="med" len="med"/>
                    </a:lnL>
                    <a:lnR w="6191">
                      <a:solidFill>
                        <a:srgbClr val="CDCDCD"/>
                      </a:solidFill>
                      <a:prstDash val="solid"/>
                    </a:lnR>
                    <a:lnT w="6191" cap="flat" cmpd="sng" algn="ctr">
                      <a:solidFill>
                        <a:srgbClr val="CDCDCD"/>
                      </a:solidFill>
                      <a:prstDash val="solid"/>
                      <a:round/>
                      <a:headEnd type="none" w="med" len="med"/>
                      <a:tailEnd type="none" w="med" len="med"/>
                    </a:lnT>
                    <a:lnB w="6191">
                      <a:solidFill>
                        <a:srgbClr val="CDCDCD"/>
                      </a:solidFill>
                      <a:prstDash val="solid"/>
                    </a:lnB>
                    <a:solidFill>
                      <a:srgbClr val="FAFAFA"/>
                    </a:solidFill>
                  </a:tcPr>
                </a:tc>
                <a:extLst>
                  <a:ext uri="{0D108BD9-81ED-4DB2-BD59-A6C34878D82A}">
                    <a16:rowId xmlns:a16="http://schemas.microsoft.com/office/drawing/2014/main" val="10004"/>
                  </a:ext>
                </a:extLst>
              </a:tr>
            </a:tbl>
          </a:graphicData>
        </a:graphic>
      </p:graphicFrame>
      <p:sp>
        <p:nvSpPr>
          <p:cNvPr id="14" name="직사각형 13">
            <a:extLst>
              <a:ext uri="{FF2B5EF4-FFF2-40B4-BE49-F238E27FC236}">
                <a16:creationId xmlns:a16="http://schemas.microsoft.com/office/drawing/2014/main" id="{82EFD0D6-A178-930E-2C31-6C0460CF19CF}"/>
              </a:ext>
            </a:extLst>
          </p:cNvPr>
          <p:cNvSpPr>
            <a:spLocks noGrp="1"/>
          </p:cNvSpPr>
          <p:nvPr/>
        </p:nvSpPr>
        <p:spPr>
          <a:xfrm>
            <a:off x="533400" y="5263279"/>
            <a:ext cx="10807700" cy="292100"/>
          </a:xfrm>
          <a:prstGeom prst="rect">
            <a:avLst/>
          </a:prstGeom>
          <a:noFill/>
          <a:ln w="0">
            <a:noFill/>
            <a:prstDash val="solid"/>
          </a:ln>
        </p:spPr>
        <p:txBody>
          <a:bodyPr wrap="square" lIns="0" tIns="0" rIns="0" bIns="0" anchor="ctr">
            <a:noAutofit/>
          </a:bodyPr>
          <a:lstStyle>
            <a:defPPr>
              <a:defRPr sz="1104" b="0">
                <a:solidFill>
                  <a:srgbClr val="5C5C5C"/>
                </a:solidFill>
                <a:latin typeface="Calibri"/>
                <a:ea typeface="Calibri"/>
                <a:cs typeface="Calibri"/>
              </a:defRPr>
            </a:defPPr>
          </a:lstStyle>
          <a:p>
            <a:pPr>
              <a:defRPr sz="1104" b="0">
                <a:solidFill>
                  <a:srgbClr val="5C5C5C"/>
                </a:solidFill>
                <a:latin typeface="Calibri"/>
                <a:ea typeface="Calibri"/>
                <a:cs typeface="Calibri"/>
              </a:defRPr>
            </a:pPr>
            <a:r>
              <a:rPr sz="1104" b="0" dirty="0" err="1">
                <a:solidFill>
                  <a:srgbClr val="5C5C5C"/>
                </a:solidFill>
                <a:latin typeface="Calibri"/>
                <a:ea typeface="Calibri"/>
                <a:cs typeface="Calibri"/>
              </a:rPr>
              <a:t>국내</a:t>
            </a:r>
            <a:r>
              <a:rPr sz="1104" b="0" dirty="0">
                <a:solidFill>
                  <a:srgbClr val="5C5C5C"/>
                </a:solidFill>
                <a:latin typeface="Calibri"/>
                <a:ea typeface="Calibri"/>
                <a:cs typeface="Calibri"/>
              </a:rPr>
              <a:t> </a:t>
            </a:r>
            <a:r>
              <a:rPr sz="1104" b="0" dirty="0" err="1">
                <a:solidFill>
                  <a:srgbClr val="5C5C5C"/>
                </a:solidFill>
                <a:latin typeface="Calibri"/>
                <a:ea typeface="Calibri"/>
                <a:cs typeface="Calibri"/>
              </a:rPr>
              <a:t>매체는</a:t>
            </a:r>
            <a:r>
              <a:rPr sz="1104" b="0" dirty="0">
                <a:solidFill>
                  <a:srgbClr val="5C5C5C"/>
                </a:solidFill>
                <a:latin typeface="Calibri"/>
                <a:ea typeface="Calibri"/>
                <a:cs typeface="Calibri"/>
              </a:rPr>
              <a:t> </a:t>
            </a:r>
            <a:r>
              <a:rPr sz="1104" b="0" dirty="0" err="1">
                <a:solidFill>
                  <a:srgbClr val="5C5C5C"/>
                </a:solidFill>
                <a:latin typeface="Calibri"/>
                <a:ea typeface="Calibri"/>
                <a:cs typeface="Calibri"/>
              </a:rPr>
              <a:t>매체비</a:t>
            </a:r>
            <a:r>
              <a:rPr sz="1104" b="0" dirty="0">
                <a:solidFill>
                  <a:srgbClr val="5C5C5C"/>
                </a:solidFill>
                <a:latin typeface="Calibri"/>
                <a:ea typeface="Calibri"/>
                <a:cs typeface="Calibri"/>
              </a:rPr>
              <a:t> </a:t>
            </a:r>
            <a:r>
              <a:rPr sz="1104" b="0" dirty="0" err="1">
                <a:solidFill>
                  <a:srgbClr val="5C5C5C"/>
                </a:solidFill>
                <a:latin typeface="Calibri"/>
                <a:ea typeface="Calibri"/>
                <a:cs typeface="Calibri"/>
              </a:rPr>
              <a:t>실비</a:t>
            </a:r>
            <a:r>
              <a:rPr sz="1104" b="0" dirty="0">
                <a:solidFill>
                  <a:srgbClr val="5C5C5C"/>
                </a:solidFill>
                <a:latin typeface="Calibri"/>
                <a:ea typeface="Calibri"/>
                <a:cs typeface="Calibri"/>
              </a:rPr>
              <a:t> </a:t>
            </a:r>
            <a:r>
              <a:rPr sz="1104" b="0" dirty="0" err="1">
                <a:solidFill>
                  <a:srgbClr val="5C5C5C"/>
                </a:solidFill>
                <a:latin typeface="Calibri"/>
                <a:ea typeface="Calibri"/>
                <a:cs typeface="Calibri"/>
              </a:rPr>
              <a:t>집행</a:t>
            </a:r>
            <a:r>
              <a:rPr sz="1104" b="0" dirty="0">
                <a:solidFill>
                  <a:srgbClr val="5C5C5C"/>
                </a:solidFill>
                <a:latin typeface="Calibri"/>
                <a:ea typeface="Calibri"/>
                <a:cs typeface="Calibri"/>
              </a:rPr>
              <a:t> </a:t>
            </a:r>
            <a:r>
              <a:rPr sz="1104" b="0" dirty="0" err="1">
                <a:solidFill>
                  <a:srgbClr val="5C5C5C"/>
                </a:solidFill>
                <a:latin typeface="Calibri"/>
                <a:ea typeface="Calibri"/>
                <a:cs typeface="Calibri"/>
              </a:rPr>
              <a:t>기준이며</a:t>
            </a:r>
            <a:r>
              <a:rPr sz="1104" b="0" dirty="0">
                <a:solidFill>
                  <a:srgbClr val="5C5C5C"/>
                </a:solidFill>
                <a:latin typeface="Calibri"/>
                <a:ea typeface="Calibri"/>
                <a:cs typeface="Calibri"/>
              </a:rPr>
              <a:t>, </a:t>
            </a:r>
            <a:r>
              <a:rPr sz="1104" b="0" dirty="0" err="1">
                <a:solidFill>
                  <a:srgbClr val="5C5C5C"/>
                </a:solidFill>
                <a:latin typeface="Calibri"/>
                <a:ea typeface="Calibri"/>
                <a:cs typeface="Calibri"/>
              </a:rPr>
              <a:t>크리에이티브</a:t>
            </a:r>
            <a:r>
              <a:rPr sz="1104" b="0" dirty="0">
                <a:solidFill>
                  <a:srgbClr val="5C5C5C"/>
                </a:solidFill>
                <a:latin typeface="Calibri"/>
                <a:ea typeface="Calibri"/>
                <a:cs typeface="Calibri"/>
              </a:rPr>
              <a:t> </a:t>
            </a:r>
            <a:r>
              <a:rPr sz="1104" b="0" dirty="0" err="1">
                <a:solidFill>
                  <a:srgbClr val="5C5C5C"/>
                </a:solidFill>
                <a:latin typeface="Calibri"/>
                <a:ea typeface="Calibri"/>
                <a:cs typeface="Calibri"/>
              </a:rPr>
              <a:t>제작은</a:t>
            </a:r>
            <a:r>
              <a:rPr sz="1104" b="0" dirty="0">
                <a:solidFill>
                  <a:srgbClr val="5C5C5C"/>
                </a:solidFill>
                <a:latin typeface="Calibri"/>
                <a:ea typeface="Calibri"/>
                <a:cs typeface="Calibri"/>
              </a:rPr>
              <a:t> </a:t>
            </a:r>
            <a:r>
              <a:rPr sz="1104" b="0" dirty="0" err="1">
                <a:solidFill>
                  <a:srgbClr val="5C5C5C"/>
                </a:solidFill>
                <a:latin typeface="Calibri"/>
                <a:ea typeface="Calibri"/>
                <a:cs typeface="Calibri"/>
              </a:rPr>
              <a:t>운영</a:t>
            </a:r>
            <a:r>
              <a:rPr sz="1104" b="0" dirty="0">
                <a:solidFill>
                  <a:srgbClr val="5C5C5C"/>
                </a:solidFill>
                <a:latin typeface="Calibri"/>
                <a:ea typeface="Calibri"/>
                <a:cs typeface="Calibri"/>
              </a:rPr>
              <a:t> </a:t>
            </a:r>
            <a:r>
              <a:rPr sz="1104" b="0" dirty="0" err="1">
                <a:solidFill>
                  <a:srgbClr val="5C5C5C"/>
                </a:solidFill>
                <a:latin typeface="Calibri"/>
                <a:ea typeface="Calibri"/>
                <a:cs typeface="Calibri"/>
              </a:rPr>
              <a:t>범위</a:t>
            </a:r>
            <a:r>
              <a:rPr sz="1104" b="0" dirty="0">
                <a:solidFill>
                  <a:srgbClr val="5C5C5C"/>
                </a:solidFill>
                <a:latin typeface="Calibri"/>
                <a:ea typeface="Calibri"/>
                <a:cs typeface="Calibri"/>
              </a:rPr>
              <a:t> 내 </a:t>
            </a:r>
            <a:r>
              <a:rPr sz="1104" b="0" dirty="0" err="1">
                <a:solidFill>
                  <a:srgbClr val="5C5C5C"/>
                </a:solidFill>
                <a:latin typeface="Calibri"/>
                <a:ea typeface="Calibri"/>
                <a:cs typeface="Calibri"/>
              </a:rPr>
              <a:t>기본</a:t>
            </a:r>
            <a:r>
              <a:rPr sz="1104" b="0" dirty="0">
                <a:solidFill>
                  <a:srgbClr val="5C5C5C"/>
                </a:solidFill>
                <a:latin typeface="Calibri"/>
                <a:ea typeface="Calibri"/>
                <a:cs typeface="Calibri"/>
              </a:rPr>
              <a:t> </a:t>
            </a:r>
            <a:r>
              <a:rPr sz="1104" b="0" dirty="0" err="1">
                <a:solidFill>
                  <a:srgbClr val="5C5C5C"/>
                </a:solidFill>
                <a:latin typeface="Calibri"/>
                <a:ea typeface="Calibri"/>
                <a:cs typeface="Calibri"/>
              </a:rPr>
              <a:t>제공을</a:t>
            </a:r>
            <a:r>
              <a:rPr sz="1104" b="0" dirty="0">
                <a:solidFill>
                  <a:srgbClr val="5C5C5C"/>
                </a:solidFill>
                <a:latin typeface="Calibri"/>
                <a:ea typeface="Calibri"/>
                <a:cs typeface="Calibri"/>
              </a:rPr>
              <a:t> </a:t>
            </a:r>
            <a:r>
              <a:rPr sz="1104" b="0" dirty="0" err="1">
                <a:solidFill>
                  <a:srgbClr val="5C5C5C"/>
                </a:solidFill>
                <a:latin typeface="Calibri"/>
                <a:ea typeface="Calibri"/>
                <a:cs typeface="Calibri"/>
              </a:rPr>
              <a:t>원칙으로</a:t>
            </a:r>
            <a:r>
              <a:rPr lang="en-US" sz="1104" b="0" dirty="0">
                <a:solidFill>
                  <a:srgbClr val="5C5C5C"/>
                </a:solidFill>
                <a:latin typeface="Calibri"/>
                <a:ea typeface="Calibri"/>
                <a:cs typeface="Calibri"/>
              </a:rPr>
              <a:t> </a:t>
            </a:r>
            <a:r>
              <a:rPr lang="ko-KR" altLang="en-US" sz="1104" b="0" dirty="0">
                <a:solidFill>
                  <a:srgbClr val="5C5C5C"/>
                </a:solidFill>
                <a:latin typeface="Calibri"/>
                <a:ea typeface="Calibri"/>
                <a:cs typeface="Calibri"/>
              </a:rPr>
              <a:t>하며</a:t>
            </a:r>
            <a:r>
              <a:rPr sz="1104" b="0" dirty="0">
                <a:solidFill>
                  <a:srgbClr val="5C5C5C"/>
                </a:solidFill>
                <a:latin typeface="Calibri"/>
                <a:ea typeface="Calibri"/>
                <a:cs typeface="Calibri"/>
              </a:rPr>
              <a:t> </a:t>
            </a:r>
            <a:r>
              <a:rPr sz="1104" b="0" dirty="0" err="1">
                <a:solidFill>
                  <a:srgbClr val="5C5C5C"/>
                </a:solidFill>
                <a:latin typeface="Calibri"/>
                <a:ea typeface="Calibri"/>
                <a:cs typeface="Calibri"/>
              </a:rPr>
              <a:t>별도</a:t>
            </a:r>
            <a:r>
              <a:rPr sz="1104" b="0" dirty="0">
                <a:solidFill>
                  <a:srgbClr val="5C5C5C"/>
                </a:solidFill>
                <a:latin typeface="Calibri"/>
                <a:ea typeface="Calibri"/>
                <a:cs typeface="Calibri"/>
              </a:rPr>
              <a:t> </a:t>
            </a:r>
            <a:r>
              <a:rPr sz="1104" b="0" dirty="0" err="1">
                <a:solidFill>
                  <a:srgbClr val="5C5C5C"/>
                </a:solidFill>
                <a:latin typeface="Calibri"/>
                <a:ea typeface="Calibri"/>
                <a:cs typeface="Calibri"/>
              </a:rPr>
              <a:t>대량</a:t>
            </a:r>
            <a:r>
              <a:rPr sz="1104" b="0" dirty="0">
                <a:solidFill>
                  <a:srgbClr val="5C5C5C"/>
                </a:solidFill>
                <a:latin typeface="Calibri"/>
                <a:ea typeface="Calibri"/>
                <a:cs typeface="Calibri"/>
              </a:rPr>
              <a:t> </a:t>
            </a:r>
            <a:r>
              <a:rPr sz="1104" b="0" dirty="0" err="1">
                <a:solidFill>
                  <a:srgbClr val="5C5C5C"/>
                </a:solidFill>
                <a:latin typeface="Calibri"/>
                <a:ea typeface="Calibri"/>
                <a:cs typeface="Calibri"/>
              </a:rPr>
              <a:t>제작</a:t>
            </a:r>
            <a:r>
              <a:rPr sz="1104" b="0" dirty="0">
                <a:solidFill>
                  <a:srgbClr val="5C5C5C"/>
                </a:solidFill>
                <a:latin typeface="Calibri"/>
                <a:ea typeface="Calibri"/>
                <a:cs typeface="Calibri"/>
              </a:rPr>
              <a:t> 시 </a:t>
            </a:r>
            <a:r>
              <a:rPr sz="1104" b="0" dirty="0" err="1">
                <a:solidFill>
                  <a:srgbClr val="5C5C5C"/>
                </a:solidFill>
                <a:latin typeface="Calibri"/>
                <a:ea typeface="Calibri"/>
                <a:cs typeface="Calibri"/>
              </a:rPr>
              <a:t>협의합니다</a:t>
            </a:r>
            <a:endParaRPr sz="1104" b="0" dirty="0">
              <a:solidFill>
                <a:srgbClr val="5C5C5C"/>
              </a:solidFill>
              <a:latin typeface="Calibri"/>
              <a:ea typeface="Calibri"/>
              <a:cs typeface="Calibri"/>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0A2F5C"/>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B74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377440"/>
            <a:ext cx="10972800" cy="914400"/>
          </a:xfrm>
          <a:prstGeom prst="rect">
            <a:avLst/>
          </a:prstGeom>
          <a:noFill/>
        </p:spPr>
        <p:txBody>
          <a:bodyPr wrap="square" lIns="0" tIns="0" rIns="0" bIns="0" anchor="t">
            <a:spAutoFit/>
          </a:bodyPr>
          <a:lstStyle/>
          <a:p>
            <a:pPr algn="l"/>
            <a:r>
              <a:rPr sz="4000">
                <a:solidFill>
                  <a:srgbClr val="FFFFFF"/>
                </a:solidFill>
                <a:latin typeface="에이투지체 8 ExtraBold"/>
              </a:rPr>
              <a:t>감사합니다</a:t>
            </a:r>
          </a:p>
        </p:txBody>
      </p:sp>
      <p:sp>
        <p:nvSpPr>
          <p:cNvPr id="4" name="TextBox 3"/>
          <p:cNvSpPr txBox="1"/>
          <p:nvPr/>
        </p:nvSpPr>
        <p:spPr>
          <a:xfrm>
            <a:off x="548640" y="3429000"/>
            <a:ext cx="10972800" cy="457200"/>
          </a:xfrm>
          <a:prstGeom prst="rect">
            <a:avLst/>
          </a:prstGeom>
          <a:noFill/>
        </p:spPr>
        <p:txBody>
          <a:bodyPr wrap="square" lIns="0" tIns="0" rIns="0" bIns="0" anchor="t">
            <a:spAutoFit/>
          </a:bodyPr>
          <a:lstStyle/>
          <a:p>
            <a:pPr algn="l"/>
            <a:r>
              <a:rPr sz="1500">
                <a:solidFill>
                  <a:srgbClr val="DCE8F6"/>
                </a:solidFill>
                <a:latin typeface="에이투지체 5 Medium"/>
              </a:rPr>
              <a:t>두드림B&amp;B의 다음 히어로 상품을 브랜드스토어에서 함께 만들겠습니다</a:t>
            </a:r>
          </a:p>
        </p:txBody>
      </p:sp>
      <p:sp>
        <p:nvSpPr>
          <p:cNvPr id="5" name="TextBox 4"/>
          <p:cNvSpPr txBox="1"/>
          <p:nvPr/>
        </p:nvSpPr>
        <p:spPr>
          <a:xfrm>
            <a:off x="548640" y="4023360"/>
            <a:ext cx="10972800" cy="365760"/>
          </a:xfrm>
          <a:prstGeom prst="rect">
            <a:avLst/>
          </a:prstGeom>
          <a:noFill/>
        </p:spPr>
        <p:txBody>
          <a:bodyPr wrap="square" lIns="0" tIns="0" rIns="0" bIns="0" anchor="t">
            <a:spAutoFit/>
          </a:bodyPr>
          <a:lstStyle/>
          <a:p>
            <a:pPr algn="l"/>
            <a:r>
              <a:rPr sz="1100">
                <a:solidFill>
                  <a:srgbClr val="9FBBDD"/>
                </a:solidFill>
                <a:latin typeface="에이투지체 5 Medium"/>
              </a:rPr>
              <a:t>LINKPRICE · BRAND AD CENTER  |  링크프라이스 브랜드2본부</a:t>
            </a:r>
          </a:p>
        </p:txBody>
      </p:sp>
      <p:sp>
        <p:nvSpPr>
          <p:cNvPr id="6" name="TextBox 5"/>
          <p:cNvSpPr txBox="1"/>
          <p:nvPr/>
        </p:nvSpPr>
        <p:spPr>
          <a:xfrm>
            <a:off x="548640" y="6473952"/>
            <a:ext cx="4206240" cy="274320"/>
          </a:xfrm>
          <a:prstGeom prst="rect">
            <a:avLst/>
          </a:prstGeom>
          <a:noFill/>
        </p:spPr>
        <p:txBody>
          <a:bodyPr wrap="square" lIns="0" tIns="0" rIns="0" bIns="0" anchor="t">
            <a:spAutoFit/>
          </a:bodyPr>
          <a:lstStyle/>
          <a:p>
            <a:pPr algn="l"/>
            <a:r>
              <a:rPr sz="800">
                <a:solidFill>
                  <a:srgbClr val="9FBBDD"/>
                </a:solidFill>
                <a:latin typeface="에이투지체 3 Light"/>
              </a:rPr>
              <a:t>DODREAM B&amp;B AD PROPOSAL · 2026</a:t>
            </a:r>
          </a:p>
        </p:txBody>
      </p:sp>
      <p:sp>
        <p:nvSpPr>
          <p:cNvPr id="7" name="TextBox 6"/>
          <p:cNvSpPr txBox="1"/>
          <p:nvPr/>
        </p:nvSpPr>
        <p:spPr>
          <a:xfrm>
            <a:off x="8138160" y="6473952"/>
            <a:ext cx="3017520" cy="274320"/>
          </a:xfrm>
          <a:prstGeom prst="rect">
            <a:avLst/>
          </a:prstGeom>
          <a:noFill/>
        </p:spPr>
        <p:txBody>
          <a:bodyPr wrap="square" lIns="0" tIns="0" rIns="0" bIns="0" anchor="t">
            <a:spAutoFit/>
          </a:bodyPr>
          <a:lstStyle/>
          <a:p>
            <a:pPr algn="r"/>
            <a:r>
              <a:rPr sz="800">
                <a:solidFill>
                  <a:srgbClr val="9FBBDD"/>
                </a:solidFill>
                <a:latin typeface="에이투지체 3 Light"/>
              </a:rPr>
              <a:t>LINKPRICE · BRAND AD CENTER</a:t>
            </a:r>
          </a:p>
        </p:txBody>
      </p:sp>
      <p:sp>
        <p:nvSpPr>
          <p:cNvPr id="8" name="PGNO"/>
          <p:cNvSpPr txBox="1"/>
          <p:nvPr/>
        </p:nvSpPr>
        <p:spPr>
          <a:xfrm>
            <a:off x="11292840" y="6473952"/>
            <a:ext cx="365760" cy="274320"/>
          </a:xfrm>
          <a:prstGeom prst="rect">
            <a:avLst/>
          </a:prstGeom>
          <a:noFill/>
        </p:spPr>
        <p:txBody>
          <a:bodyPr wrap="square" lIns="0" tIns="0" rIns="0" bIns="0" anchor="t">
            <a:spAutoFit/>
          </a:bodyPr>
          <a:lstStyle/>
          <a:p>
            <a:pPr algn="r"/>
            <a:r>
              <a:rPr sz="800">
                <a:solidFill>
                  <a:srgbClr val="FFFFFF"/>
                </a:solidFill>
                <a:latin typeface="에이투지체 6 SemiBold"/>
              </a:rPr>
              <a:t>73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596</TotalTime>
  <Words>13887</Words>
  <Application>Microsoft Office PowerPoint</Application>
  <PresentationFormat>와이드스크린</PresentationFormat>
  <Paragraphs>2441</Paragraphs>
  <Slides>91</Slides>
  <Notes>40</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91</vt:i4>
      </vt:variant>
    </vt:vector>
  </HeadingPairs>
  <TitlesOfParts>
    <vt:vector size="101" baseType="lpstr">
      <vt:lpstr>맑은 고딕</vt:lpstr>
      <vt:lpstr>에스코어 드림 6 Bold</vt:lpstr>
      <vt:lpstr>에이투지체 3 Light</vt:lpstr>
      <vt:lpstr>에이투지체 4 Regular</vt:lpstr>
      <vt:lpstr>에이투지체 5 Medium</vt:lpstr>
      <vt:lpstr>에이투지체 6 SemiBold</vt:lpstr>
      <vt:lpstr>에이투지체 8 ExtraBold</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LINKPRICE USER084</cp:lastModifiedBy>
  <cp:revision>148</cp:revision>
  <dcterms:created xsi:type="dcterms:W3CDTF">2026-10-07T09:08:19Z</dcterms:created>
  <dcterms:modified xsi:type="dcterms:W3CDTF">2026-10-13T10:08:05Z</dcterms:modified>
</cp:coreProperties>
</file>